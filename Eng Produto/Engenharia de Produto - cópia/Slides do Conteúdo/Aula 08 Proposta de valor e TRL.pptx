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275" r:id="rId5"/>
    <p:sldId id="263" r:id="rId6"/>
    <p:sldId id="262" r:id="rId7"/>
    <p:sldId id="261" r:id="rId8"/>
    <p:sldId id="260" r:id="rId9"/>
    <p:sldId id="256" r:id="rId10"/>
    <p:sldId id="265" r:id="rId11"/>
    <p:sldId id="259" r:id="rId12"/>
    <p:sldId id="268" r:id="rId13"/>
    <p:sldId id="274" r:id="rId14"/>
    <p:sldId id="273" r:id="rId15"/>
    <p:sldId id="276" r:id="rId16"/>
    <p:sldId id="297" r:id="rId17"/>
    <p:sldId id="301" r:id="rId18"/>
    <p:sldId id="302" r:id="rId19"/>
    <p:sldId id="305" r:id="rId20"/>
    <p:sldId id="300" r:id="rId21"/>
    <p:sldId id="315" r:id="rId22"/>
    <p:sldId id="316" r:id="rId23"/>
    <p:sldId id="317" r:id="rId24"/>
    <p:sldId id="318" r:id="rId25"/>
    <p:sldId id="314" r:id="rId26"/>
    <p:sldId id="313" r:id="rId27"/>
    <p:sldId id="312" r:id="rId28"/>
    <p:sldId id="319" r:id="rId29"/>
    <p:sldId id="320" r:id="rId30"/>
    <p:sldId id="321" r:id="rId3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10CBCE-B26C-9C43-BF7E-885AA5D66AAE}" v="2" dt="2024-04-20T14:27:44.3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9"/>
    <p:restoredTop sz="92628"/>
  </p:normalViewPr>
  <p:slideViewPr>
    <p:cSldViewPr>
      <p:cViewPr varScale="1">
        <p:scale>
          <a:sx n="83" d="100"/>
          <a:sy n="83" d="100"/>
        </p:scale>
        <p:origin x="132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c1f965dc-8845-4afc-9e32-8f70830fffd6" providerId="ADAL" clId="{B510CBCE-B26C-9C43-BF7E-885AA5D66AAE}"/>
    <pc:docChg chg="custSel addSld modSld">
      <pc:chgData name="Andrea Cristina Dos Santos" userId="c1f965dc-8845-4afc-9e32-8f70830fffd6" providerId="ADAL" clId="{B510CBCE-B26C-9C43-BF7E-885AA5D66AAE}" dt="2024-04-20T14:33:10.207" v="288" actId="1076"/>
      <pc:docMkLst>
        <pc:docMk/>
      </pc:docMkLst>
      <pc:sldChg chg="modSp mod">
        <pc:chgData name="Andrea Cristina Dos Santos" userId="c1f965dc-8845-4afc-9e32-8f70830fffd6" providerId="ADAL" clId="{B510CBCE-B26C-9C43-BF7E-885AA5D66AAE}" dt="2024-04-20T14:30:37.383" v="227" actId="20577"/>
        <pc:sldMkLst>
          <pc:docMk/>
          <pc:sldMk cId="3438068931" sldId="275"/>
        </pc:sldMkLst>
        <pc:spChg chg="mod">
          <ac:chgData name="Andrea Cristina Dos Santos" userId="c1f965dc-8845-4afc-9e32-8f70830fffd6" providerId="ADAL" clId="{B510CBCE-B26C-9C43-BF7E-885AA5D66AAE}" dt="2024-04-20T14:30:37.383" v="227" actId="20577"/>
          <ac:spMkLst>
            <pc:docMk/>
            <pc:sldMk cId="3438068931" sldId="275"/>
            <ac:spMk id="4" creationId="{35E2DA06-C147-6242-8D2F-79A71607BF86}"/>
          </ac:spMkLst>
        </pc:spChg>
      </pc:sldChg>
      <pc:sldChg chg="modSp mod">
        <pc:chgData name="Andrea Cristina Dos Santos" userId="c1f965dc-8845-4afc-9e32-8f70830fffd6" providerId="ADAL" clId="{B510CBCE-B26C-9C43-BF7E-885AA5D66AAE}" dt="2024-04-20T14:31:23.375" v="244" actId="20577"/>
        <pc:sldMkLst>
          <pc:docMk/>
          <pc:sldMk cId="4178792162" sldId="276"/>
        </pc:sldMkLst>
        <pc:spChg chg="mod">
          <ac:chgData name="Andrea Cristina Dos Santos" userId="c1f965dc-8845-4afc-9e32-8f70830fffd6" providerId="ADAL" clId="{B510CBCE-B26C-9C43-BF7E-885AA5D66AAE}" dt="2024-04-20T14:31:23.375" v="244" actId="20577"/>
          <ac:spMkLst>
            <pc:docMk/>
            <pc:sldMk cId="4178792162" sldId="276"/>
            <ac:spMk id="10" creationId="{00000000-0000-0000-0000-000000000000}"/>
          </ac:spMkLst>
        </pc:spChg>
      </pc:sldChg>
      <pc:sldChg chg="modSp mod">
        <pc:chgData name="Andrea Cristina Dos Santos" userId="c1f965dc-8845-4afc-9e32-8f70830fffd6" providerId="ADAL" clId="{B510CBCE-B26C-9C43-BF7E-885AA5D66AAE}" dt="2024-04-20T14:33:10.207" v="288" actId="1076"/>
        <pc:sldMkLst>
          <pc:docMk/>
          <pc:sldMk cId="1222308561" sldId="297"/>
        </pc:sldMkLst>
        <pc:spChg chg="mod">
          <ac:chgData name="Andrea Cristina Dos Santos" userId="c1f965dc-8845-4afc-9e32-8f70830fffd6" providerId="ADAL" clId="{B510CBCE-B26C-9C43-BF7E-885AA5D66AAE}" dt="2024-04-20T14:33:10.207" v="288" actId="1076"/>
          <ac:spMkLst>
            <pc:docMk/>
            <pc:sldMk cId="1222308561" sldId="297"/>
            <ac:spMk id="3" creationId="{00000000-0000-0000-0000-000000000000}"/>
          </ac:spMkLst>
        </pc:spChg>
        <pc:picChg chg="mod">
          <ac:chgData name="Andrea Cristina Dos Santos" userId="c1f965dc-8845-4afc-9e32-8f70830fffd6" providerId="ADAL" clId="{B510CBCE-B26C-9C43-BF7E-885AA5D66AAE}" dt="2024-04-20T14:02:19.127" v="84" actId="14100"/>
          <ac:picMkLst>
            <pc:docMk/>
            <pc:sldMk cId="1222308561" sldId="297"/>
            <ac:picMk id="5" creationId="{00000000-0000-0000-0000-000000000000}"/>
          </ac:picMkLst>
        </pc:picChg>
      </pc:sldChg>
      <pc:sldChg chg="addSp delSp modSp new mod setBg">
        <pc:chgData name="Andrea Cristina Dos Santos" userId="c1f965dc-8845-4afc-9e32-8f70830fffd6" providerId="ADAL" clId="{B510CBCE-B26C-9C43-BF7E-885AA5D66AAE}" dt="2024-04-20T14:30:00.790" v="215" actId="20577"/>
        <pc:sldMkLst>
          <pc:docMk/>
          <pc:sldMk cId="2563013705" sldId="319"/>
        </pc:sldMkLst>
        <pc:spChg chg="mod">
          <ac:chgData name="Andrea Cristina Dos Santos" userId="c1f965dc-8845-4afc-9e32-8f70830fffd6" providerId="ADAL" clId="{B510CBCE-B26C-9C43-BF7E-885AA5D66AAE}" dt="2024-04-20T14:30:00.790" v="215" actId="20577"/>
          <ac:spMkLst>
            <pc:docMk/>
            <pc:sldMk cId="2563013705" sldId="319"/>
            <ac:spMk id="2" creationId="{30A5F220-025E-A0DA-484B-5FBE7DF6B123}"/>
          </ac:spMkLst>
        </pc:spChg>
        <pc:spChg chg="del">
          <ac:chgData name="Andrea Cristina Dos Santos" userId="c1f965dc-8845-4afc-9e32-8f70830fffd6" providerId="ADAL" clId="{B510CBCE-B26C-9C43-BF7E-885AA5D66AAE}" dt="2024-04-20T14:06:25.893" v="114" actId="478"/>
          <ac:spMkLst>
            <pc:docMk/>
            <pc:sldMk cId="2563013705" sldId="319"/>
            <ac:spMk id="3" creationId="{1E5B59E4-53D3-16A0-0330-D35FC23F3553}"/>
          </ac:spMkLst>
        </pc:spChg>
        <pc:spChg chg="add">
          <ac:chgData name="Andrea Cristina Dos Santos" userId="c1f965dc-8845-4afc-9e32-8f70830fffd6" providerId="ADAL" clId="{B510CBCE-B26C-9C43-BF7E-885AA5D66AAE}" dt="2024-04-20T14:06:31.242" v="116" actId="26606"/>
          <ac:spMkLst>
            <pc:docMk/>
            <pc:sldMk cId="2563013705" sldId="319"/>
            <ac:spMk id="1031" creationId="{A4AC5506-6312-4701-8D3C-40187889A947}"/>
          </ac:spMkLst>
        </pc:spChg>
        <pc:picChg chg="add mod">
          <ac:chgData name="Andrea Cristina Dos Santos" userId="c1f965dc-8845-4afc-9e32-8f70830fffd6" providerId="ADAL" clId="{B510CBCE-B26C-9C43-BF7E-885AA5D66AAE}" dt="2024-04-20T14:06:31.242" v="116" actId="26606"/>
          <ac:picMkLst>
            <pc:docMk/>
            <pc:sldMk cId="2563013705" sldId="319"/>
            <ac:picMk id="1026" creationId="{54168F29-8B7D-B778-EF7D-30E0DAF13F9F}"/>
          </ac:picMkLst>
        </pc:picChg>
      </pc:sldChg>
      <pc:sldChg chg="addSp delSp modSp new mod">
        <pc:chgData name="Andrea Cristina Dos Santos" userId="c1f965dc-8845-4afc-9e32-8f70830fffd6" providerId="ADAL" clId="{B510CBCE-B26C-9C43-BF7E-885AA5D66AAE}" dt="2024-04-20T14:28:03.899" v="124" actId="1076"/>
        <pc:sldMkLst>
          <pc:docMk/>
          <pc:sldMk cId="2195987841" sldId="320"/>
        </pc:sldMkLst>
        <pc:spChg chg="del">
          <ac:chgData name="Andrea Cristina Dos Santos" userId="c1f965dc-8845-4afc-9e32-8f70830fffd6" providerId="ADAL" clId="{B510CBCE-B26C-9C43-BF7E-885AA5D66AAE}" dt="2024-04-20T14:27:34.442" v="118" actId="478"/>
          <ac:spMkLst>
            <pc:docMk/>
            <pc:sldMk cId="2195987841" sldId="320"/>
            <ac:spMk id="2" creationId="{E0D0EA06-1154-873A-4ED2-BCB0309A62A3}"/>
          </ac:spMkLst>
        </pc:spChg>
        <pc:spChg chg="del">
          <ac:chgData name="Andrea Cristina Dos Santos" userId="c1f965dc-8845-4afc-9e32-8f70830fffd6" providerId="ADAL" clId="{B510CBCE-B26C-9C43-BF7E-885AA5D66AAE}" dt="2024-04-20T14:27:36.463" v="119" actId="478"/>
          <ac:spMkLst>
            <pc:docMk/>
            <pc:sldMk cId="2195987841" sldId="320"/>
            <ac:spMk id="3" creationId="{0E1A1D3C-A8DF-D48B-456A-DE3DC6425E00}"/>
          </ac:spMkLst>
        </pc:spChg>
        <pc:spChg chg="add mod">
          <ac:chgData name="Andrea Cristina Dos Santos" userId="c1f965dc-8845-4afc-9e32-8f70830fffd6" providerId="ADAL" clId="{B510CBCE-B26C-9C43-BF7E-885AA5D66AAE}" dt="2024-04-20T14:28:03.899" v="124" actId="1076"/>
          <ac:spMkLst>
            <pc:docMk/>
            <pc:sldMk cId="2195987841" sldId="320"/>
            <ac:spMk id="5" creationId="{97414240-548F-F455-1F1D-ACCE48C51DF1}"/>
          </ac:spMkLst>
        </pc:spChg>
      </pc:sldChg>
      <pc:sldChg chg="addSp delSp modSp new mod">
        <pc:chgData name="Andrea Cristina Dos Santos" userId="c1f965dc-8845-4afc-9e32-8f70830fffd6" providerId="ADAL" clId="{B510CBCE-B26C-9C43-BF7E-885AA5D66AAE}" dt="2024-04-20T14:29:26.620" v="142" actId="115"/>
        <pc:sldMkLst>
          <pc:docMk/>
          <pc:sldMk cId="1039442768" sldId="321"/>
        </pc:sldMkLst>
        <pc:spChg chg="del">
          <ac:chgData name="Andrea Cristina Dos Santos" userId="c1f965dc-8845-4afc-9e32-8f70830fffd6" providerId="ADAL" clId="{B510CBCE-B26C-9C43-BF7E-885AA5D66AAE}" dt="2024-04-20T14:28:39.865" v="126" actId="478"/>
          <ac:spMkLst>
            <pc:docMk/>
            <pc:sldMk cId="1039442768" sldId="321"/>
            <ac:spMk id="2" creationId="{8998BCCC-3A7F-0C7E-E06C-9396A3097181}"/>
          </ac:spMkLst>
        </pc:spChg>
        <pc:spChg chg="del">
          <ac:chgData name="Andrea Cristina Dos Santos" userId="c1f965dc-8845-4afc-9e32-8f70830fffd6" providerId="ADAL" clId="{B510CBCE-B26C-9C43-BF7E-885AA5D66AAE}" dt="2024-04-20T14:28:42.588" v="127" actId="478"/>
          <ac:spMkLst>
            <pc:docMk/>
            <pc:sldMk cId="1039442768" sldId="321"/>
            <ac:spMk id="3" creationId="{9801D3DA-ABD1-B260-7731-0D7ADFBDCE62}"/>
          </ac:spMkLst>
        </pc:spChg>
        <pc:spChg chg="add mod">
          <ac:chgData name="Andrea Cristina Dos Santos" userId="c1f965dc-8845-4afc-9e32-8f70830fffd6" providerId="ADAL" clId="{B510CBCE-B26C-9C43-BF7E-885AA5D66AAE}" dt="2024-04-20T14:29:26.620" v="142" actId="115"/>
          <ac:spMkLst>
            <pc:docMk/>
            <pc:sldMk cId="1039442768" sldId="321"/>
            <ac:spMk id="5" creationId="{19395DAE-7768-213E-4E9B-8377B244C3A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4C39B-E9AF-4913-83A6-2022DD995353}" type="datetimeFigureOut">
              <a:rPr lang="pt-BR" smtClean="0"/>
              <a:t>20/04/2024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942C2-0DB3-4252-8136-207FE1163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201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Ciclo espiral</a:t>
            </a:r>
            <a:r>
              <a:rPr lang="pt-BR" baseline="0" dirty="0"/>
              <a:t> – mapear requisito 100% ideal mas longe do real</a:t>
            </a:r>
          </a:p>
          <a:p>
            <a:endParaRPr lang="pt-BR" baseline="0" dirty="0"/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Isso é um requisito ou uma necessidade?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Esse requisito é obrigatório ou desejável?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Todos esses requisitos são viáveis?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Essa é uma descrição do problema ou uma descrição da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solução?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 Essa é uma meta do sistema ou um restrição contratual?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6. Quem são os principais </a:t>
            </a:r>
            <a:r>
              <a:rPr lang="pt-BR" sz="1200" b="1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stakeholders</a:t>
            </a:r>
            <a:r>
              <a:rPr lang="pt-BR" sz="1200" b="1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 sistema?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7. Quem são os indivíduos que serão afetados pelo sistema e</a:t>
            </a:r>
          </a:p>
          <a:p>
            <a:r>
              <a:rPr lang="pt-B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poderão se opor à ele?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942C2-0DB3-4252-8136-207FE11636F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082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CORE OF</a:t>
            </a:r>
            <a:r>
              <a:rPr lang="pt-BR" baseline="0" dirty="0"/>
              <a:t> THE LEAN STARTUP MODEL</a:t>
            </a:r>
          </a:p>
          <a:p>
            <a:r>
              <a:rPr lang="pt-BR" dirty="0"/>
              <a:t>https://newentrepreneurship.nl/lean-startup-method/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942C2-0DB3-4252-8136-207FE11636F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953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http://nortegubisian.com.br/biblioteca/modelo-canvas-de-negocio/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942C2-0DB3-4252-8136-207FE11636FC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42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90F965-D2C9-4640-ABA8-6C754C4D5D4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2682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CORE OF</a:t>
            </a:r>
            <a:r>
              <a:rPr lang="pt-BR" baseline="0" dirty="0"/>
              <a:t> THE LEAN STARTUP MODEL</a:t>
            </a:r>
          </a:p>
          <a:p>
            <a:r>
              <a:rPr lang="pt-BR" dirty="0"/>
              <a:t>https://newentrepreneurship.nl/lean-startup-method/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942C2-0DB3-4252-8136-207FE11636FC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2422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942C2-0DB3-4252-8136-207FE11636FC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9478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942C2-0DB3-4252-8136-207FE11636FC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0082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20/04/2024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20/04/2024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20/04/2024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20/04/2024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20/04/2024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20/04/2024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20/04/2024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20/04/2024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20/04/2024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20/04/2024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257D9-8B84-40BE-B5B4-1DC709511265}" type="datetimeFigureOut">
              <a:rPr lang="pt-BR" smtClean="0"/>
              <a:t>20/04/2024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257D9-8B84-40BE-B5B4-1DC709511265}" type="datetimeFigureOut">
              <a:rPr lang="pt-BR" smtClean="0"/>
              <a:t>20/04/2024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2E3A1-A58D-4867-904F-735848A133B4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eanstartup.pbworks.com/w/page/65946049/Intro%20to%20Lean%20Startup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tiff"/><Relationship Id="rId4" Type="http://schemas.openxmlformats.org/officeDocument/2006/relationships/image" Target="../media/image17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leanstartup.pbworks.com/w/page/65946049/Intro%20to%20Lean%20Startup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5E2DA06-C147-6242-8D2F-79A71607B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692696"/>
            <a:ext cx="8352928" cy="5186613"/>
          </a:xfrm>
          <a:solidFill>
            <a:schemeClr val="accent1">
              <a:lumMod val="60000"/>
              <a:lumOff val="4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dirty="0"/>
              <a:t>Universidade de </a:t>
            </a:r>
            <a:r>
              <a:rPr lang="pt-BR" sz="2400" dirty="0" err="1"/>
              <a:t>Bras</a:t>
            </a:r>
            <a:r>
              <a:rPr lang="en-US" sz="2400" dirty="0" err="1"/>
              <a:t>ília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Faculdade</a:t>
            </a:r>
            <a:r>
              <a:rPr lang="en-US" sz="2400" dirty="0"/>
              <a:t> de </a:t>
            </a:r>
            <a:r>
              <a:rPr lang="en-US" sz="2400" dirty="0" err="1"/>
              <a:t>Tecnologia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Departamento</a:t>
            </a:r>
            <a:r>
              <a:rPr lang="en-US" sz="2400" dirty="0"/>
              <a:t> de </a:t>
            </a:r>
            <a:r>
              <a:rPr lang="en-US" sz="2400" dirty="0" err="1"/>
              <a:t>Engenharia</a:t>
            </a:r>
            <a:r>
              <a:rPr lang="en-US" sz="2400" dirty="0"/>
              <a:t> de </a:t>
            </a:r>
            <a:r>
              <a:rPr lang="en-US" sz="2400" dirty="0" err="1"/>
              <a:t>Produção</a:t>
            </a:r>
            <a:br>
              <a:rPr lang="en-US" sz="2400" dirty="0"/>
            </a:br>
            <a:r>
              <a:rPr lang="en-US" sz="2400" dirty="0" err="1"/>
              <a:t>Disciplina</a:t>
            </a:r>
            <a:r>
              <a:rPr lang="en-US" sz="2400" dirty="0"/>
              <a:t>: </a:t>
            </a:r>
            <a:r>
              <a:rPr lang="en-US" sz="2400" dirty="0" err="1"/>
              <a:t>Engenharia</a:t>
            </a:r>
            <a:r>
              <a:rPr lang="en-US" sz="2400" dirty="0"/>
              <a:t> de </a:t>
            </a:r>
            <a:r>
              <a:rPr lang="en-US" sz="2400" dirty="0" err="1"/>
              <a:t>Produto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AULA 8 – PROPOSTA DE VALOR</a:t>
            </a:r>
            <a:br>
              <a:rPr lang="en-US" sz="2400" b="1" dirty="0"/>
            </a:br>
            <a:r>
              <a:rPr lang="en-US" sz="2400" b="1" dirty="0"/>
              <a:t>E PRONTIDÃO TECNOLÓGICA (TRL)</a:t>
            </a:r>
            <a:br>
              <a:rPr lang="en-US" sz="3200" b="1" dirty="0"/>
            </a:br>
            <a:r>
              <a:rPr lang="en-US" sz="2400" dirty="0" err="1"/>
              <a:t>Prof</a:t>
            </a:r>
            <a:r>
              <a:rPr lang="en-US" sz="2400" cap="none" dirty="0" err="1"/>
              <a:t>a</a:t>
            </a:r>
            <a:r>
              <a:rPr lang="en-US" sz="2400" dirty="0"/>
              <a:t>. </a:t>
            </a:r>
            <a:r>
              <a:rPr lang="en-US" sz="2400" cap="none" dirty="0"/>
              <a:t>Andréa Santos</a:t>
            </a:r>
            <a:br>
              <a:rPr lang="en-US" sz="2400" cap="none" dirty="0"/>
            </a:b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43806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Resultado de imagem para gestao inovado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461057"/>
            <a:ext cx="9144000" cy="7319081"/>
          </a:xfrm>
          <a:prstGeom prst="rect">
            <a:avLst/>
          </a:prstGeom>
          <a:noFill/>
        </p:spPr>
      </p:pic>
      <p:sp>
        <p:nvSpPr>
          <p:cNvPr id="9" name="Retângulo 8"/>
          <p:cNvSpPr/>
          <p:nvPr/>
        </p:nvSpPr>
        <p:spPr>
          <a:xfrm>
            <a:off x="0" y="-500090"/>
            <a:ext cx="9144000" cy="7358114"/>
          </a:xfrm>
          <a:prstGeom prst="rect">
            <a:avLst/>
          </a:prstGeom>
          <a:solidFill>
            <a:schemeClr val="bg1">
              <a:lumMod val="85000"/>
              <a:alpha val="66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" name="Grupo 9"/>
          <p:cNvGrpSpPr/>
          <p:nvPr/>
        </p:nvGrpSpPr>
        <p:grpSpPr>
          <a:xfrm>
            <a:off x="1428760" y="5143512"/>
            <a:ext cx="6643702" cy="954107"/>
            <a:chOff x="1357290" y="5689603"/>
            <a:chExt cx="6643702" cy="954107"/>
          </a:xfrm>
        </p:grpSpPr>
        <p:sp>
          <p:nvSpPr>
            <p:cNvPr id="5" name="Seta para a esquerda e para a direita 4"/>
            <p:cNvSpPr/>
            <p:nvPr/>
          </p:nvSpPr>
          <p:spPr>
            <a:xfrm>
              <a:off x="3357554" y="5715016"/>
              <a:ext cx="2071702" cy="857280"/>
            </a:xfrm>
            <a:prstGeom prst="leftRightArrow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1357290" y="5906176"/>
              <a:ext cx="24288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latin typeface="Arial Black" pitchFamily="34" charset="0"/>
                </a:rPr>
                <a:t>CANVAS</a:t>
              </a:r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5572132" y="5689603"/>
              <a:ext cx="242886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latin typeface="Arial Black" pitchFamily="34" charset="0"/>
                </a:rPr>
                <a:t>Design </a:t>
              </a:r>
            </a:p>
            <a:p>
              <a:r>
                <a:rPr lang="pt-BR" sz="2800" dirty="0" err="1">
                  <a:latin typeface="Arial Black" pitchFamily="34" charset="0"/>
                </a:rPr>
                <a:t>Thinking</a:t>
              </a:r>
              <a:endParaRPr lang="pt-BR" sz="2800" dirty="0">
                <a:latin typeface="Arial Black" pitchFamily="34" charset="0"/>
              </a:endParaRPr>
            </a:p>
          </p:txBody>
        </p:sp>
      </p:grpSp>
      <p:sp>
        <p:nvSpPr>
          <p:cNvPr id="11" name="Retângulo 10"/>
          <p:cNvSpPr/>
          <p:nvPr/>
        </p:nvSpPr>
        <p:spPr>
          <a:xfrm>
            <a:off x="0" y="4143380"/>
            <a:ext cx="9144000" cy="78581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>
                <a:latin typeface="Arial Black" pitchFamily="34" charset="0"/>
              </a:rPr>
              <a:t>Processo de Desenvolvimento de Produtos | PDP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3275856" y="6120277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1785926"/>
            <a:ext cx="8229600" cy="34004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400" dirty="0"/>
              <a:t>PDP é o </a:t>
            </a:r>
            <a:r>
              <a:rPr lang="pt-BR" sz="2400" b="1" dirty="0"/>
              <a:t>processo de negócio </a:t>
            </a:r>
            <a:r>
              <a:rPr lang="pt-BR" sz="2400" dirty="0"/>
              <a:t>que:</a:t>
            </a:r>
          </a:p>
          <a:p>
            <a:pPr>
              <a:buNone/>
            </a:pPr>
            <a:r>
              <a:rPr lang="pt-BR" sz="2400" dirty="0"/>
              <a:t>• Busca as </a:t>
            </a:r>
            <a:r>
              <a:rPr lang="pt-BR" sz="2400" b="1" dirty="0"/>
              <a:t>especificações</a:t>
            </a:r>
            <a:r>
              <a:rPr lang="pt-BR" sz="2400" dirty="0"/>
              <a:t> de projeto do produto e do seu processo de produção </a:t>
            </a:r>
          </a:p>
          <a:p>
            <a:pPr>
              <a:buNone/>
            </a:pPr>
            <a:r>
              <a:rPr lang="pt-BR" sz="2400" dirty="0"/>
              <a:t>• Considera as </a:t>
            </a:r>
            <a:r>
              <a:rPr lang="pt-BR" sz="2400" b="1" dirty="0"/>
              <a:t>necessidades de mercado</a:t>
            </a:r>
            <a:r>
              <a:rPr lang="pt-BR" sz="2400" dirty="0"/>
              <a:t>, as possibilidades tecnológicas e as estratégias da empresa </a:t>
            </a:r>
          </a:p>
          <a:p>
            <a:pPr>
              <a:buNone/>
            </a:pPr>
            <a:r>
              <a:rPr lang="pt-BR" sz="2400" dirty="0"/>
              <a:t>• Prepara a manufatura, para iniciar a produção </a:t>
            </a:r>
          </a:p>
          <a:p>
            <a:pPr>
              <a:buNone/>
            </a:pPr>
            <a:r>
              <a:rPr lang="pt-BR" sz="2400" dirty="0"/>
              <a:t>• Acompanha o produto </a:t>
            </a:r>
            <a:r>
              <a:rPr lang="pt-BR" sz="2400" b="1" dirty="0"/>
              <a:t>pós-lançamento</a:t>
            </a:r>
            <a:r>
              <a:rPr lang="pt-BR" sz="2400" dirty="0"/>
              <a:t> (das melhorias à descontinuidade)</a:t>
            </a:r>
          </a:p>
        </p:txBody>
      </p:sp>
      <p:sp>
        <p:nvSpPr>
          <p:cNvPr id="4" name="Retângulo 3"/>
          <p:cNvSpPr/>
          <p:nvPr/>
        </p:nvSpPr>
        <p:spPr>
          <a:xfrm>
            <a:off x="0" y="357166"/>
            <a:ext cx="7929586" cy="85725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214282" y="357166"/>
            <a:ext cx="607762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pt-BR" sz="4400" dirty="0"/>
              <a:t>Produto|</a:t>
            </a:r>
            <a:r>
              <a:rPr lang="pt-BR" dirty="0"/>
              <a:t> Ciclo de vida, </a:t>
            </a:r>
            <a:r>
              <a:rPr lang="pt-BR" i="1" dirty="0" err="1"/>
              <a:t>Stakeholders</a:t>
            </a:r>
            <a:r>
              <a:rPr lang="pt-BR" dirty="0"/>
              <a:t>, Requisitos</a:t>
            </a:r>
          </a:p>
        </p:txBody>
      </p:sp>
      <p:sp>
        <p:nvSpPr>
          <p:cNvPr id="13" name="Elipse 12"/>
          <p:cNvSpPr/>
          <p:nvPr/>
        </p:nvSpPr>
        <p:spPr>
          <a:xfrm>
            <a:off x="1785918" y="2285992"/>
            <a:ext cx="1857388" cy="35719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/>
          <p:cNvSpPr/>
          <p:nvPr/>
        </p:nvSpPr>
        <p:spPr>
          <a:xfrm>
            <a:off x="2285984" y="3000372"/>
            <a:ext cx="3286148" cy="500066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2500298" y="5231327"/>
            <a:ext cx="46434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>
                    <a:lumMod val="75000"/>
                  </a:schemeClr>
                </a:solidFill>
                <a:latin typeface="Arial Black" pitchFamily="34" charset="0"/>
              </a:rPr>
              <a:t>REQUISITOS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658324-ACEB-6946-8571-988E5F67F29B}"/>
              </a:ext>
            </a:extLst>
          </p:cNvPr>
          <p:cNvSpPr txBox="1"/>
          <p:nvPr/>
        </p:nvSpPr>
        <p:spPr>
          <a:xfrm>
            <a:off x="3275856" y="6120277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357166"/>
            <a:ext cx="7929586" cy="85725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434" name="Picture 2" descr="https://newentrepreneurship.files.wordpress.com/2012/11/build-measure-learn.png?w=398&amp;h=34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1428736"/>
            <a:ext cx="5786478" cy="4943224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14282" y="357166"/>
            <a:ext cx="709258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pt-BR" sz="4400" dirty="0" err="1"/>
              <a:t>FeedBack</a:t>
            </a:r>
            <a:r>
              <a:rPr lang="pt-BR" sz="4400" dirty="0"/>
              <a:t> Loop |</a:t>
            </a:r>
            <a:r>
              <a:rPr lang="pt-BR" dirty="0"/>
              <a:t> Construir  –  Medir  –  Aprender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F8EF74-0697-2D4A-89D2-7A202B4C5F7F}"/>
              </a:ext>
            </a:extLst>
          </p:cNvPr>
          <p:cNvSpPr txBox="1"/>
          <p:nvPr/>
        </p:nvSpPr>
        <p:spPr>
          <a:xfrm>
            <a:off x="3275856" y="6120277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7410" name="Picture 2" descr="Resultado de imagem para build measure learn loo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56"/>
            <a:ext cx="9177239" cy="5214974"/>
          </a:xfrm>
          <a:prstGeom prst="rect">
            <a:avLst/>
          </a:prstGeom>
          <a:noFill/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4282" y="5786454"/>
            <a:ext cx="2428860" cy="85725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buNone/>
            </a:pPr>
            <a:r>
              <a:rPr lang="pt-BR" sz="2000" dirty="0"/>
              <a:t>Quer saber mais?</a:t>
            </a:r>
            <a:endParaRPr lang="pt-BR" sz="2000" dirty="0">
              <a:hlinkClick r:id="rId3" invalidUrl="http://leanstartup.pbworks.com/w/page/65946049/Intro to Lean Startup"/>
            </a:endParaRPr>
          </a:p>
          <a:p>
            <a:pPr algn="ctr">
              <a:buNone/>
            </a:pPr>
            <a:r>
              <a:rPr lang="pt-BR" sz="2000" dirty="0" err="1">
                <a:hlinkClick r:id="rId3" invalidUrl="http://leanstartup.pbworks.com/w/page/65946049/Intro to Lean Startup"/>
              </a:rPr>
              <a:t>Lean</a:t>
            </a:r>
            <a:r>
              <a:rPr lang="pt-BR" sz="2000" dirty="0">
                <a:hlinkClick r:id="rId3" invalidUrl="http://leanstartup.pbworks.com/w/page/65946049/Intro to Lean Startup"/>
              </a:rPr>
              <a:t> Startup </a:t>
            </a:r>
            <a:r>
              <a:rPr lang="pt-BR" sz="2000" dirty="0" err="1">
                <a:hlinkClick r:id="rId3" invalidUrl="http://leanstartup.pbworks.com/w/page/65946049/Intro to Lean Startup"/>
              </a:rPr>
              <a:t>Wiki</a:t>
            </a:r>
            <a:r>
              <a:rPr lang="pt-BR" sz="2000" dirty="0">
                <a:hlinkClick r:id="rId3" invalidUrl="http://leanstartup.pbworks.com/w/page/65946049/Intro to Lean Startup"/>
              </a:rPr>
              <a:t> </a:t>
            </a:r>
            <a:endParaRPr lang="pt-BR" sz="2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2089C9-8998-5E4A-BE5A-A4E37EF13A1A}"/>
              </a:ext>
            </a:extLst>
          </p:cNvPr>
          <p:cNvSpPr txBox="1"/>
          <p:nvPr/>
        </p:nvSpPr>
        <p:spPr>
          <a:xfrm>
            <a:off x="3275856" y="6120277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l="26719" t="9166" r="14247" b="9583"/>
          <a:stretch>
            <a:fillRect/>
          </a:stretch>
        </p:blipFill>
        <p:spPr bwMode="auto">
          <a:xfrm>
            <a:off x="285720" y="0"/>
            <a:ext cx="885828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CaixaDeTexto 7"/>
          <p:cNvSpPr txBox="1"/>
          <p:nvPr/>
        </p:nvSpPr>
        <p:spPr>
          <a:xfrm>
            <a:off x="214282" y="357166"/>
            <a:ext cx="51698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CANVAS |</a:t>
            </a:r>
            <a:r>
              <a:rPr lang="pt-BR" dirty="0"/>
              <a:t> Descrever,  Analisar, Projetar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5209B94-422B-D24E-ACC5-D59B83C34851}"/>
              </a:ext>
            </a:extLst>
          </p:cNvPr>
          <p:cNvSpPr txBox="1"/>
          <p:nvPr/>
        </p:nvSpPr>
        <p:spPr>
          <a:xfrm>
            <a:off x="2339752" y="6319297"/>
            <a:ext cx="392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Por Lorena </a:t>
            </a:r>
            <a:r>
              <a:rPr lang="pt-BR" sz="1400" i="1" dirty="0" err="1">
                <a:latin typeface="Arial" pitchFamily="34" charset="0"/>
                <a:cs typeface="Arial" pitchFamily="34" charset="0"/>
              </a:rPr>
              <a:t>Tameirão</a:t>
            </a:r>
            <a:r>
              <a:rPr lang="pt-BR" sz="1400" i="1" dirty="0">
                <a:latin typeface="Arial" pitchFamily="34" charset="0"/>
                <a:cs typeface="Arial" pitchFamily="34" charset="0"/>
              </a:rPr>
              <a:t> @2017</a:t>
            </a:r>
          </a:p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0" y="357166"/>
            <a:ext cx="7929586" cy="85725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214282" y="357166"/>
            <a:ext cx="7756290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pt-BR" sz="4400" dirty="0" err="1"/>
              <a:t>Canvas</a:t>
            </a:r>
            <a:r>
              <a:rPr lang="pt-BR" sz="4400" dirty="0"/>
              <a:t> de Negócio| </a:t>
            </a:r>
            <a:r>
              <a:rPr lang="pt-BR" dirty="0"/>
              <a:t>Compreendido intuitivamente </a:t>
            </a:r>
          </a:p>
        </p:txBody>
      </p:sp>
      <p:pic>
        <p:nvPicPr>
          <p:cNvPr id="25604" name="Picture 4" descr="Resultado de imagem para bm canva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241056"/>
            <a:ext cx="7215178" cy="5331216"/>
          </a:xfrm>
          <a:prstGeom prst="rect">
            <a:avLst/>
          </a:prstGeom>
          <a:noFill/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957D0BA-C489-BB4C-9691-1E48A7245FE0}"/>
              </a:ext>
            </a:extLst>
          </p:cNvPr>
          <p:cNvSpPr txBox="1"/>
          <p:nvPr/>
        </p:nvSpPr>
        <p:spPr>
          <a:xfrm>
            <a:off x="2643144" y="6337296"/>
            <a:ext cx="392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Por Lorena </a:t>
            </a:r>
            <a:r>
              <a:rPr lang="pt-BR" sz="1400" i="1" dirty="0" err="1">
                <a:latin typeface="Arial" pitchFamily="34" charset="0"/>
                <a:cs typeface="Arial" pitchFamily="34" charset="0"/>
              </a:rPr>
              <a:t>Tameirão</a:t>
            </a:r>
            <a:r>
              <a:rPr lang="pt-BR" sz="1400" i="1" dirty="0">
                <a:latin typeface="Arial" pitchFamily="34" charset="0"/>
                <a:cs typeface="Arial" pitchFamily="34" charset="0"/>
              </a:rPr>
              <a:t> @2017</a:t>
            </a:r>
          </a:p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 descr="Resultado de imagem para definicao de canva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71414"/>
            <a:ext cx="8214538" cy="6143669"/>
          </a:xfrm>
          <a:prstGeom prst="rect">
            <a:avLst/>
          </a:prstGeom>
          <a:noFill/>
        </p:spPr>
      </p:pic>
      <p:sp>
        <p:nvSpPr>
          <p:cNvPr id="6" name="CaixaDeTexto 5"/>
          <p:cNvSpPr txBox="1"/>
          <p:nvPr/>
        </p:nvSpPr>
        <p:spPr>
          <a:xfrm>
            <a:off x="571472" y="6143644"/>
            <a:ext cx="8929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Fonte: </a:t>
            </a:r>
            <a:r>
              <a:rPr lang="pt-BR" sz="1400" i="1" dirty="0" err="1">
                <a:latin typeface="Arial" pitchFamily="34" charset="0"/>
                <a:cs typeface="Arial" pitchFamily="34" charset="0"/>
              </a:rPr>
              <a:t>Nortegubisian</a:t>
            </a:r>
            <a:r>
              <a:rPr lang="pt-BR" sz="1400" i="1" dirty="0">
                <a:latin typeface="Arial" pitchFamily="34" charset="0"/>
                <a:cs typeface="Arial" pitchFamily="34" charset="0"/>
              </a:rPr>
              <a:t> ( </a:t>
            </a:r>
            <a:r>
              <a:rPr lang="pt-BR" sz="1400" dirty="0"/>
              <a:t>http://nortegubisian.com.br/biblioteca/modelo-canvas-de-negocio/ </a:t>
            </a:r>
            <a:r>
              <a:rPr lang="pt-BR" sz="1400" i="1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CDE07CC-81A7-D147-9D50-9D2A5EE32220}"/>
              </a:ext>
            </a:extLst>
          </p:cNvPr>
          <p:cNvSpPr txBox="1"/>
          <p:nvPr/>
        </p:nvSpPr>
        <p:spPr>
          <a:xfrm>
            <a:off x="3275856" y="6397645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0" y="357166"/>
            <a:ext cx="7929586" cy="85725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214282" y="357166"/>
            <a:ext cx="6613542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pt-BR" sz="4400" dirty="0" err="1"/>
              <a:t>Canvas</a:t>
            </a:r>
            <a:r>
              <a:rPr lang="pt-BR" sz="4400" dirty="0"/>
              <a:t> de Valor|</a:t>
            </a:r>
            <a:r>
              <a:rPr lang="pt-BR" dirty="0"/>
              <a:t> Qual a dor do seu cliente? </a:t>
            </a:r>
          </a:p>
        </p:txBody>
      </p:sp>
      <p:pic>
        <p:nvPicPr>
          <p:cNvPr id="29698" name="Picture 2" descr="Resultado de imagem para the value proposition canva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785926"/>
            <a:ext cx="7500990" cy="4125546"/>
          </a:xfrm>
          <a:prstGeom prst="rect">
            <a:avLst/>
          </a:prstGeom>
          <a:noFill/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E09BE02-6BEE-6F42-97E7-5300A6AEF697}"/>
              </a:ext>
            </a:extLst>
          </p:cNvPr>
          <p:cNvSpPr txBox="1"/>
          <p:nvPr/>
        </p:nvSpPr>
        <p:spPr>
          <a:xfrm>
            <a:off x="3275856" y="6120277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anvas de Proposta de Valor: passo a passo para criar o seu">
            <a:extLst>
              <a:ext uri="{FF2B5EF4-FFF2-40B4-BE49-F238E27FC236}">
                <a16:creationId xmlns:a16="http://schemas.microsoft.com/office/drawing/2014/main" id="{9055D203-8A89-5B4C-AB9D-B9E9E901E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124744"/>
            <a:ext cx="8964488" cy="497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888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Proposta de valor: o que faz seus clientes escolherem a sua empresa?">
            <a:extLst>
              <a:ext uri="{FF2B5EF4-FFF2-40B4-BE49-F238E27FC236}">
                <a16:creationId xmlns:a16="http://schemas.microsoft.com/office/drawing/2014/main" id="{3D800A10-EB70-6944-99C8-58DCDE779F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4"/>
          <a:stretch/>
        </p:blipFill>
        <p:spPr bwMode="auto">
          <a:xfrm>
            <a:off x="20" y="1282"/>
            <a:ext cx="9143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589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143508" y="548680"/>
            <a:ext cx="8856984" cy="309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pt-BR" sz="5400" b="1" i="1" dirty="0">
                <a:solidFill>
                  <a:srgbClr val="002060"/>
                </a:solidFill>
                <a:latin typeface="Tw Cen MT" pitchFamily="34" charset="0"/>
              </a:rPr>
              <a:t>TRL:</a:t>
            </a:r>
          </a:p>
          <a:p>
            <a:pPr algn="ctr">
              <a:lnSpc>
                <a:spcPts val="6000"/>
              </a:lnSpc>
            </a:pPr>
            <a:r>
              <a:rPr lang="pt-BR" sz="4800" i="1" dirty="0">
                <a:solidFill>
                  <a:srgbClr val="002060"/>
                </a:solidFill>
                <a:latin typeface="Tw Cen MT" pitchFamily="34" charset="0"/>
              </a:rPr>
              <a:t>Nível de Prontidão da tecnológica</a:t>
            </a:r>
          </a:p>
          <a:p>
            <a:pPr algn="ctr">
              <a:lnSpc>
                <a:spcPts val="6000"/>
              </a:lnSpc>
            </a:pPr>
            <a:r>
              <a:rPr lang="pt-BR" sz="3600" i="1" dirty="0">
                <a:solidFill>
                  <a:srgbClr val="002060"/>
                </a:solidFill>
                <a:latin typeface="Tw Cen MT" pitchFamily="34" charset="0"/>
              </a:rPr>
              <a:t>Etapas para avaliar o nível de Prontidão da Tecnologia </a:t>
            </a:r>
          </a:p>
        </p:txBody>
      </p:sp>
    </p:spTree>
    <p:extLst>
      <p:ext uri="{BB962C8B-B14F-4D97-AF65-F5344CB8AC3E}">
        <p14:creationId xmlns:p14="http://schemas.microsoft.com/office/powerpoint/2010/main" val="4178792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59024" y="4859510"/>
            <a:ext cx="8784976" cy="1291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pt-BR" sz="2400" b="1" i="1" dirty="0">
                <a:solidFill>
                  <a:srgbClr val="00B050"/>
                </a:solidFill>
                <a:latin typeface="Tw Cen MT" pitchFamily="34" charset="0"/>
              </a:rPr>
              <a:t>Mas como verificar se a medida da confiabilidade </a:t>
            </a:r>
            <a:r>
              <a:rPr lang="pt-BR" sz="24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 uma dada tecnologia </a:t>
            </a:r>
            <a:r>
              <a:rPr lang="pt-BR" sz="2400" b="1" i="1" dirty="0">
                <a:solidFill>
                  <a:srgbClr val="00B050"/>
                </a:solidFill>
                <a:latin typeface="Tw Cen MT" pitchFamily="34" charset="0"/>
              </a:rPr>
              <a:t>para ser embarcada no produto isso?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0331" y="188640"/>
            <a:ext cx="87849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pt-BR" sz="3600" b="1" i="1" dirty="0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A forma mais usada para isso:</a:t>
            </a:r>
          </a:p>
          <a:p>
            <a:pPr algn="ctr">
              <a:lnSpc>
                <a:spcPts val="4500"/>
              </a:lnSpc>
            </a:pPr>
            <a:r>
              <a:rPr lang="pt-BR" sz="4800" b="1" i="1" dirty="0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Technology </a:t>
            </a:r>
            <a:r>
              <a:rPr lang="pt-BR" sz="4800" b="1" i="1" dirty="0" err="1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Readiness</a:t>
            </a:r>
            <a:r>
              <a:rPr lang="pt-BR" sz="4800" b="1" i="1" dirty="0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 </a:t>
            </a:r>
            <a:r>
              <a:rPr lang="pt-BR" sz="4800" b="1" i="1" dirty="0" err="1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Level</a:t>
            </a:r>
            <a:endParaRPr lang="pt-BR" sz="4800" b="1" i="1" dirty="0">
              <a:solidFill>
                <a:srgbClr val="002060"/>
              </a:solidFill>
              <a:latin typeface="Tw Cen MT" pitchFamily="34" charset="0"/>
              <a:sym typeface="Wingdings" pitchFamily="2" charset="2"/>
            </a:endParaRPr>
          </a:p>
          <a:p>
            <a:pPr algn="ctr">
              <a:lnSpc>
                <a:spcPts val="4500"/>
              </a:lnSpc>
            </a:pPr>
            <a:r>
              <a:rPr lang="pt-BR" sz="4800" b="1" i="1" dirty="0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TRL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l="37782" t="39510" r="9991" b="29196"/>
          <a:stretch/>
        </p:blipFill>
        <p:spPr>
          <a:xfrm>
            <a:off x="0" y="1859206"/>
            <a:ext cx="8784976" cy="296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0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4153"/>
          <a:stretch/>
        </p:blipFill>
        <p:spPr>
          <a:xfrm>
            <a:off x="2123728" y="116632"/>
            <a:ext cx="4788024" cy="2663552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7112" t="13184" r="1995" b="22608"/>
          <a:stretch/>
        </p:blipFill>
        <p:spPr>
          <a:xfrm>
            <a:off x="859988" y="2780928"/>
            <a:ext cx="7528436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776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36004"/>
            <a:ext cx="9036496" cy="677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89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16224" t="20482" r="11898" b="12048"/>
          <a:stretch/>
        </p:blipFill>
        <p:spPr>
          <a:xfrm>
            <a:off x="31334" y="332656"/>
            <a:ext cx="9001000" cy="612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03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4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A38E6FC-F57B-7D4C-BA01-F6406CDBBC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8403"/>
          <a:stretch/>
        </p:blipFill>
        <p:spPr bwMode="auto">
          <a:xfrm>
            <a:off x="287812" y="980728"/>
            <a:ext cx="8568375" cy="4395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238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516BE9E-B09E-5741-880B-1DDB5FC99B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8403"/>
          <a:stretch/>
        </p:blipFill>
        <p:spPr bwMode="auto">
          <a:xfrm>
            <a:off x="474632" y="1145381"/>
            <a:ext cx="8281810" cy="4278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3B997B6-B6A6-CC4D-95AA-4AD41BEBD92F}"/>
              </a:ext>
            </a:extLst>
          </p:cNvPr>
          <p:cNvSpPr/>
          <p:nvPr/>
        </p:nvSpPr>
        <p:spPr>
          <a:xfrm>
            <a:off x="5820224" y="5066992"/>
            <a:ext cx="2072640" cy="1118857"/>
          </a:xfrm>
          <a:prstGeom prst="ellipse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Texto 5">
            <a:extLst>
              <a:ext uri="{FF2B5EF4-FFF2-40B4-BE49-F238E27FC236}">
                <a16:creationId xmlns:a16="http://schemas.microsoft.com/office/drawing/2014/main" id="{67006A66-93BE-5845-B343-D1E0770B3D22}"/>
              </a:ext>
            </a:extLst>
          </p:cNvPr>
          <p:cNvSpPr txBox="1">
            <a:spLocks/>
          </p:cNvSpPr>
          <p:nvPr/>
        </p:nvSpPr>
        <p:spPr>
          <a:xfrm>
            <a:off x="2840340" y="5325617"/>
            <a:ext cx="5157787" cy="823912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/>
              <a:t>MVP e PROTÓTIPO</a:t>
            </a:r>
          </a:p>
        </p:txBody>
      </p:sp>
      <p:sp>
        <p:nvSpPr>
          <p:cNvPr id="5" name="Espaço Reservado para Texto 5">
            <a:extLst>
              <a:ext uri="{FF2B5EF4-FFF2-40B4-BE49-F238E27FC236}">
                <a16:creationId xmlns:a16="http://schemas.microsoft.com/office/drawing/2014/main" id="{AD20259A-0BF4-6A4E-9075-BE739625E761}"/>
              </a:ext>
            </a:extLst>
          </p:cNvPr>
          <p:cNvSpPr txBox="1">
            <a:spLocks/>
          </p:cNvSpPr>
          <p:nvPr/>
        </p:nvSpPr>
        <p:spPr>
          <a:xfrm>
            <a:off x="5970342" y="5341062"/>
            <a:ext cx="2409721" cy="8239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/>
              <a:t>PRODUTO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E67D634-FBE6-3449-A39F-74AE9B962B29}"/>
              </a:ext>
            </a:extLst>
          </p:cNvPr>
          <p:cNvSpPr/>
          <p:nvPr/>
        </p:nvSpPr>
        <p:spPr>
          <a:xfrm rot="18986342">
            <a:off x="6626693" y="3956740"/>
            <a:ext cx="3034129" cy="379036"/>
          </a:xfrm>
          <a:prstGeom prst="rect">
            <a:avLst/>
          </a:prstGeom>
          <a:solidFill>
            <a:srgbClr val="FFC000"/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OPORTUNIDADE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F741DDE-8BA3-F54E-8136-6827F3AAD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686" y="5737573"/>
            <a:ext cx="1003240" cy="75437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94295C6-33D9-CE4A-B0C5-E910D04E2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493" y="5835920"/>
            <a:ext cx="942091" cy="44503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FBC508F-50A1-FD49-A4CF-A7351E43B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584" y="5823562"/>
            <a:ext cx="1306640" cy="682825"/>
          </a:xfrm>
          <a:prstGeom prst="rect">
            <a:avLst/>
          </a:prstGeom>
        </p:spPr>
      </p:pic>
      <p:sp>
        <p:nvSpPr>
          <p:cNvPr id="10" name="Seta para a Direita 9">
            <a:extLst>
              <a:ext uri="{FF2B5EF4-FFF2-40B4-BE49-F238E27FC236}">
                <a16:creationId xmlns:a16="http://schemas.microsoft.com/office/drawing/2014/main" id="{E880F391-B472-9C4C-BAC1-CF6E922D34F1}"/>
              </a:ext>
            </a:extLst>
          </p:cNvPr>
          <p:cNvSpPr/>
          <p:nvPr/>
        </p:nvSpPr>
        <p:spPr>
          <a:xfrm>
            <a:off x="1399781" y="149372"/>
            <a:ext cx="6598346" cy="9596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DESENVOLVIMENTO DE PRODUTOS ?</a:t>
            </a:r>
          </a:p>
        </p:txBody>
      </p:sp>
    </p:spTree>
    <p:extLst>
      <p:ext uri="{BB962C8B-B14F-4D97-AF65-F5344CB8AC3E}">
        <p14:creationId xmlns:p14="http://schemas.microsoft.com/office/powerpoint/2010/main" val="1042778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357166"/>
            <a:ext cx="7929586" cy="85725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434" name="Picture 2" descr="https://newentrepreneurship.files.wordpress.com/2012/11/build-measure-learn.png?w=398&amp;h=34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1428736"/>
            <a:ext cx="5786478" cy="4943224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14282" y="357166"/>
            <a:ext cx="7092583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pt-BR" sz="4400" dirty="0" err="1"/>
              <a:t>FeedBack</a:t>
            </a:r>
            <a:r>
              <a:rPr lang="pt-BR" sz="4400" dirty="0"/>
              <a:t> Loop |</a:t>
            </a:r>
            <a:r>
              <a:rPr lang="pt-BR" dirty="0"/>
              <a:t> Construir  –  Medir  –  Aprender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F8EF74-0697-2D4A-89D2-7A202B4C5F7F}"/>
              </a:ext>
            </a:extLst>
          </p:cNvPr>
          <p:cNvSpPr txBox="1"/>
          <p:nvPr/>
        </p:nvSpPr>
        <p:spPr>
          <a:xfrm>
            <a:off x="3275856" y="6120277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  <p:extLst>
      <p:ext uri="{BB962C8B-B14F-4D97-AF65-F5344CB8AC3E}">
        <p14:creationId xmlns:p14="http://schemas.microsoft.com/office/powerpoint/2010/main" val="2582578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7410" name="Picture 2" descr="Resultado de imagem para build measure learn loo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56"/>
            <a:ext cx="9177239" cy="5214974"/>
          </a:xfrm>
          <a:prstGeom prst="rect">
            <a:avLst/>
          </a:prstGeom>
          <a:noFill/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4282" y="5786454"/>
            <a:ext cx="2428860" cy="85725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buNone/>
            </a:pPr>
            <a:r>
              <a:rPr lang="pt-BR" sz="2000" dirty="0"/>
              <a:t>Quer saber mais?</a:t>
            </a:r>
            <a:endParaRPr lang="pt-BR" sz="2000" dirty="0">
              <a:hlinkClick r:id="rId3" invalidUrl="http://leanstartup.pbworks.com/w/page/65946049/Intro to Lean Startup"/>
            </a:endParaRPr>
          </a:p>
          <a:p>
            <a:pPr algn="ctr">
              <a:buNone/>
            </a:pPr>
            <a:r>
              <a:rPr lang="pt-BR" sz="2000" dirty="0" err="1">
                <a:hlinkClick r:id="rId3" invalidUrl="http://leanstartup.pbworks.com/w/page/65946049/Intro to Lean Startup"/>
              </a:rPr>
              <a:t>Lean</a:t>
            </a:r>
            <a:r>
              <a:rPr lang="pt-BR" sz="2000" dirty="0">
                <a:hlinkClick r:id="rId3" invalidUrl="http://leanstartup.pbworks.com/w/page/65946049/Intro to Lean Startup"/>
              </a:rPr>
              <a:t> Startup </a:t>
            </a:r>
            <a:r>
              <a:rPr lang="pt-BR" sz="2000" dirty="0" err="1">
                <a:hlinkClick r:id="rId3" invalidUrl="http://leanstartup.pbworks.com/w/page/65946049/Intro to Lean Startup"/>
              </a:rPr>
              <a:t>Wiki</a:t>
            </a:r>
            <a:r>
              <a:rPr lang="pt-BR" sz="2000" dirty="0">
                <a:hlinkClick r:id="rId3" invalidUrl="http://leanstartup.pbworks.com/w/page/65946049/Intro to Lean Startup"/>
              </a:rPr>
              <a:t> </a:t>
            </a:r>
            <a:endParaRPr lang="pt-BR" sz="2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2089C9-8998-5E4A-BE5A-A4E37EF13A1A}"/>
              </a:ext>
            </a:extLst>
          </p:cNvPr>
          <p:cNvSpPr txBox="1"/>
          <p:nvPr/>
        </p:nvSpPr>
        <p:spPr>
          <a:xfrm>
            <a:off x="3275856" y="6120277"/>
            <a:ext cx="3929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latin typeface="Arial" pitchFamily="34" charset="0"/>
                <a:cs typeface="Arial" pitchFamily="34" charset="0"/>
              </a:rPr>
              <a:t>Profa. Andréa Santos</a:t>
            </a:r>
          </a:p>
        </p:txBody>
      </p:sp>
    </p:spTree>
    <p:extLst>
      <p:ext uri="{BB962C8B-B14F-4D97-AF65-F5344CB8AC3E}">
        <p14:creationId xmlns:p14="http://schemas.microsoft.com/office/powerpoint/2010/main" val="3883383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CFD44ED7-C545-FA4B-A07C-954DC1D86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60" y="247159"/>
            <a:ext cx="8892480" cy="636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5689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New venture financing cycle | Download Scientific Diagram">
            <a:extLst>
              <a:ext uri="{FF2B5EF4-FFF2-40B4-BE49-F238E27FC236}">
                <a16:creationId xmlns:a16="http://schemas.microsoft.com/office/drawing/2014/main" id="{F621B124-CB27-2C4E-8941-3443B4ADD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8150"/>
            <a:ext cx="9144000" cy="598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3894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iGenix, from IP to IPO Leuven 20 November 2008 Gil Beyen Co-founder &amp;amp; CEO  TiGenix NV Michael van Eeno Director ING Corporate Finance. - ppt download">
            <a:extLst>
              <a:ext uri="{FF2B5EF4-FFF2-40B4-BE49-F238E27FC236}">
                <a16:creationId xmlns:a16="http://schemas.microsoft.com/office/drawing/2014/main" id="{9CF0F865-6249-F344-A57B-93CB85C6A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7169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A5F220-025E-A0DA-484B-5FBE7DF6B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 err="1">
                <a:solidFill>
                  <a:schemeClr val="bg1"/>
                </a:solidFill>
              </a:rPr>
              <a:t>Conceitos</a:t>
            </a:r>
            <a:r>
              <a:rPr lang="en-US" sz="2800" dirty="0">
                <a:solidFill>
                  <a:schemeClr val="bg1"/>
                </a:solidFill>
              </a:rPr>
              <a:t> que se </a:t>
            </a:r>
            <a:r>
              <a:rPr lang="en-US" sz="2800" dirty="0" err="1">
                <a:solidFill>
                  <a:schemeClr val="bg1"/>
                </a:solidFill>
              </a:rPr>
              <a:t>integram</a:t>
            </a:r>
            <a:r>
              <a:rPr lang="en-US" sz="2800" dirty="0">
                <a:solidFill>
                  <a:schemeClr val="bg1"/>
                </a:solidFill>
              </a:rPr>
              <a:t> e </a:t>
            </a:r>
            <a:r>
              <a:rPr lang="en-US" sz="2800" dirty="0" err="1">
                <a:solidFill>
                  <a:schemeClr val="bg1"/>
                </a:solidFill>
              </a:rPr>
              <a:t>geram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confusão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Pré-visualização da imagem">
            <a:extLst>
              <a:ext uri="{FF2B5EF4-FFF2-40B4-BE49-F238E27FC236}">
                <a16:creationId xmlns:a16="http://schemas.microsoft.com/office/drawing/2014/main" id="{54168F29-8B7D-B778-EF7D-30E0DAF13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600" y="1683991"/>
            <a:ext cx="8178799" cy="437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3013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7414240-548F-F455-1F1D-ACCE48C51DF1}"/>
              </a:ext>
            </a:extLst>
          </p:cNvPr>
          <p:cNvSpPr txBox="1"/>
          <p:nvPr/>
        </p:nvSpPr>
        <p:spPr>
          <a:xfrm>
            <a:off x="377788" y="474345"/>
            <a:ext cx="838842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u="sng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VALE DA MORTE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8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primeiro ponto é que o termo “vale da morte” foi cunhado pelo Geoffrey Moore e está relacionado ao desafio de conseguir escalar uma startup: não tem relação com tecnologias. 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800" kern="100" dirty="0"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br>
              <a:rPr lang="pt-BR" sz="1800" kern="100" dirty="0">
                <a:effectLst/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u="sng" kern="100" dirty="0">
                <a:effectLst/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DESENVOLVIMENTO DE PRODUTOS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br>
              <a:rPr lang="pt-BR" sz="1800" kern="100" dirty="0">
                <a:effectLst/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segundo ponto é que existe uma sequência de atividades no eixo do tempo da figura, mostrando que o desenvolvimento de produto acontece como uma sequência depois de: pesquisa básica, pesquisa aplicada e desenvolvimento da tecnologia. 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800" i="1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Não é bem assim no mundo real.  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800" kern="100" dirty="0"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800" i="1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Essa linha sequencial é uma simplificação do fluxo real de informações: as 4 coisas acontecem, mas podem existir grandes intervalos de tempo entre elas; por outro lado, a pesquisa aplicada pode ter uma superposição com o desenvolvimento da tecnologia; e assim vai.</a:t>
            </a:r>
            <a:r>
              <a:rPr lang="pt-BR" sz="1800" i="1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Pode ser que na academia faça sentido falar nessas atividades de forma sequencial, mas se alguém tentar associar esse modelo à realidade obrigatoriamente fará um adaptação para sua realidade.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987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9395DAE-7768-213E-4E9B-8377B244C3AC}"/>
              </a:ext>
            </a:extLst>
          </p:cNvPr>
          <p:cNvSpPr txBox="1"/>
          <p:nvPr/>
        </p:nvSpPr>
        <p:spPr>
          <a:xfrm>
            <a:off x="332656" y="476672"/>
            <a:ext cx="8478688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1" u="sng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TRL</a:t>
            </a:r>
          </a:p>
          <a:p>
            <a:pPr algn="just"/>
            <a:r>
              <a:rPr lang="pt-BR" sz="18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TRL é uma medida de confiabilidade de uma dada tecnologia, não tem a ver com produto e suas fases. Mais do que isso, </a:t>
            </a:r>
            <a:r>
              <a:rPr lang="pt-BR" sz="1800" b="1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 confiabilidade do ponto de vista da empresa saber usá-la:</a:t>
            </a:r>
            <a:r>
              <a:rPr lang="pt-BR" sz="18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pt-BR" sz="18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readiness</a:t>
            </a:r>
            <a:r>
              <a:rPr lang="pt-BR" sz="18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 precisa ser traduzida como “prontidão”, e não “maturidade”. Ou seja, os níveis avaliam quanto uma empresa está pronta para usar determinada tecnologia. Desta forma, a mesma tecnologia pode estar em TRL 3 para uma empresa, e em TRL 7 para outra. Indo além, é preciso entender que normalmente existe mais de uma tecnologia relevante incorporada a um produto. Isso no fundo quer dizer que não faz sentido avaliar </a:t>
            </a:r>
            <a:r>
              <a:rPr lang="pt-BR" sz="18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TRLs</a:t>
            </a:r>
            <a:r>
              <a:rPr lang="pt-BR" sz="18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dentro do desenvolvimento do produto; o seu uso deve ser feito apenas para escolher as tecnologias críticas que serão usadas, nunca aceitando TRL inferior a 6.</a:t>
            </a:r>
            <a:br>
              <a:rPr lang="pt-BR" sz="1800" kern="100" dirty="0">
                <a:effectLst/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pt-BR" sz="1800" kern="100" dirty="0">
                <a:effectLst/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u="sng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Produto para viabilizar um negócio:</a:t>
            </a:r>
            <a:r>
              <a:rPr lang="pt-BR" sz="1800" b="1" u="sng" kern="100" dirty="0">
                <a:effectLst/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pt-BR" b="1" u="sng" kern="100" dirty="0">
              <a:solidFill>
                <a:srgbClr val="000000"/>
              </a:solidFill>
              <a:highlight>
                <a:srgbClr val="FFFFFF"/>
              </a:highlight>
              <a:latin typeface="Segoe UI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Um produto nasce para viabilizar um negócio: é assim que o mercado funciona; uma empresa só terá sucesso se souber definir um produto a partir das necessidades dos clientes. 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kern="100" dirty="0"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 ponto de vista das startups, existe o modelo do “</a:t>
            </a:r>
            <a:r>
              <a:rPr lang="pt-BR" sz="18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Customer</a:t>
            </a:r>
            <a:r>
              <a:rPr lang="pt-BR" sz="18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8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Development</a:t>
            </a:r>
            <a:r>
              <a:rPr lang="pt-BR" sz="18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 criado pelo Steve </a:t>
            </a:r>
            <a:r>
              <a:rPr lang="pt-BR" sz="18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Blank</a:t>
            </a:r>
            <a:r>
              <a:rPr lang="pt-BR" sz="18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justamente para explicar por que tanta falha de startup mesmo com produtos teoricamente de alto desempenho e bem desenvolvidos: o que importa é o cliente, e o negócio que existe em torno de satisfazer suas dores.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kern="100" dirty="0">
                <a:effectLst/>
                <a:highlight>
                  <a:srgbClr val="FFFFFF"/>
                </a:highlight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br>
              <a:rPr lang="pt-BR" sz="1800" b="1" u="sng" kern="100" dirty="0">
                <a:effectLst/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4427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983572-4712-4738-B96A-B32C6497FD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50BECC-989D-4B80-BFC5-F592B1915F54}">
  <ds:schemaRefs>
    <ds:schemaRef ds:uri="http://schemas.openxmlformats.org/package/2006/metadata/core-properties"/>
    <ds:schemaRef ds:uri="0616edac-8b85-431d-b1bb-a5cc9cdccc91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68BCB3C-EDFB-43F8-9DAA-A815C288E86C}"/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548</TotalTime>
  <Words>869</Words>
  <Application>Microsoft Macintosh PowerPoint</Application>
  <PresentationFormat>Apresentação na tela (4:3)</PresentationFormat>
  <Paragraphs>86</Paragraphs>
  <Slides>27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4" baseType="lpstr">
      <vt:lpstr>Aptos</vt:lpstr>
      <vt:lpstr>Arial</vt:lpstr>
      <vt:lpstr>Arial Black</vt:lpstr>
      <vt:lpstr>Calibri</vt:lpstr>
      <vt:lpstr>Segoe UI</vt:lpstr>
      <vt:lpstr>Tw Cen MT</vt:lpstr>
      <vt:lpstr>Tema do Office</vt:lpstr>
      <vt:lpstr>Universidade de Brasília  Faculdade de Tecnologia  Departamento de Engenharia de Produção Disciplina: Engenharia de Produto  AULA 8 – PROPOSTA DE VALOR E PRONTIDÃO TECNOLÓGICA (TRL) Profa. Andréa Santos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Conceitos que se integram e geram confusão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canvas</dc:title>
  <dc:creator>Lorena</dc:creator>
  <cp:lastModifiedBy>Andrea Cristina dos Santos</cp:lastModifiedBy>
  <cp:revision>53</cp:revision>
  <dcterms:created xsi:type="dcterms:W3CDTF">2017-03-22T12:44:58Z</dcterms:created>
  <dcterms:modified xsi:type="dcterms:W3CDTF">2024-04-20T14:33:17Z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