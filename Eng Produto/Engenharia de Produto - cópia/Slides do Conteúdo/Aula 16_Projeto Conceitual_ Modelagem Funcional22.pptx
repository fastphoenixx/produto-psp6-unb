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7"/>
  </p:notesMasterIdLst>
  <p:handoutMasterIdLst>
    <p:handoutMasterId r:id="rId48"/>
  </p:handoutMasterIdLst>
  <p:sldIdLst>
    <p:sldId id="833" r:id="rId5"/>
    <p:sldId id="835" r:id="rId6"/>
    <p:sldId id="840" r:id="rId7"/>
    <p:sldId id="849" r:id="rId8"/>
    <p:sldId id="850" r:id="rId9"/>
    <p:sldId id="841" r:id="rId10"/>
    <p:sldId id="843" r:id="rId11"/>
    <p:sldId id="844" r:id="rId12"/>
    <p:sldId id="971" r:id="rId13"/>
    <p:sldId id="972" r:id="rId14"/>
    <p:sldId id="973" r:id="rId15"/>
    <p:sldId id="983" r:id="rId16"/>
    <p:sldId id="986" r:id="rId17"/>
    <p:sldId id="984" r:id="rId18"/>
    <p:sldId id="994" r:id="rId19"/>
    <p:sldId id="985" r:id="rId20"/>
    <p:sldId id="987" r:id="rId21"/>
    <p:sldId id="988" r:id="rId22"/>
    <p:sldId id="990" r:id="rId23"/>
    <p:sldId id="989" r:id="rId24"/>
    <p:sldId id="993" r:id="rId25"/>
    <p:sldId id="991" r:id="rId26"/>
    <p:sldId id="811" r:id="rId27"/>
    <p:sldId id="814" r:id="rId28"/>
    <p:sldId id="815" r:id="rId29"/>
    <p:sldId id="817" r:id="rId30"/>
    <p:sldId id="818" r:id="rId31"/>
    <p:sldId id="845" r:id="rId32"/>
    <p:sldId id="846" r:id="rId33"/>
    <p:sldId id="819" r:id="rId34"/>
    <p:sldId id="820" r:id="rId35"/>
    <p:sldId id="821" r:id="rId36"/>
    <p:sldId id="975" r:id="rId37"/>
    <p:sldId id="978" r:id="rId38"/>
    <p:sldId id="981" r:id="rId39"/>
    <p:sldId id="979" r:id="rId40"/>
    <p:sldId id="982" r:id="rId41"/>
    <p:sldId id="995" r:id="rId42"/>
    <p:sldId id="996" r:id="rId43"/>
    <p:sldId id="997" r:id="rId44"/>
    <p:sldId id="998" r:id="rId45"/>
    <p:sldId id="999" r:id="rId46"/>
  </p:sldIdLst>
  <p:sldSz cx="9144000" cy="6858000" type="screen4x3"/>
  <p:notesSz cx="7099300" cy="10234613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7"/>
    <p:restoredTop sz="94501"/>
  </p:normalViewPr>
  <p:slideViewPr>
    <p:cSldViewPr snapToGrid="0">
      <p:cViewPr>
        <p:scale>
          <a:sx n="118" d="100"/>
          <a:sy n="118" d="100"/>
        </p:scale>
        <p:origin x="1488" y="-16"/>
      </p:cViewPr>
      <p:guideLst>
        <p:guide orient="horz" pos="216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EE7828AA-0121-0F4B-98A3-753450DE21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lnSpc>
                <a:spcPct val="80000"/>
              </a:lnSpc>
              <a:defRPr sz="13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BA91E46-38C1-BC45-9AD2-BCFE9AE2DE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80000"/>
              </a:lnSpc>
              <a:defRPr sz="13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C9F3C73F-2B9C-654F-B281-F3F700B3010F}" type="datetimeFigureOut">
              <a:rPr lang="pt-BR" altLang="pt-BR"/>
              <a:pPr>
                <a:defRPr/>
              </a:pPr>
              <a:t>26/05/2025</a:t>
            </a:fld>
            <a:endParaRPr lang="pt-BR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2BFCC7D-0970-0343-A172-6B99F555B6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lnSpc>
                <a:spcPct val="80000"/>
              </a:lnSpc>
              <a:defRPr sz="13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5B59125-D402-754D-B176-1997182FA44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80000"/>
              </a:lnSpc>
              <a:defRPr sz="1300" smtClean="0"/>
            </a:lvl1pPr>
          </a:lstStyle>
          <a:p>
            <a:pPr>
              <a:defRPr/>
            </a:pPr>
            <a:fld id="{86E88DDE-AA6A-5146-8194-15A0F05DB2BD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4076B43F-1CEC-4C40-B286-B85BBB53CE4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defRPr sz="13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EC938586-214D-8445-8D46-DA171B4EDEB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defRPr sz="13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DCC63E3C-B52B-E546-B37C-8676728B911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BAF5EA93-C6EA-374A-9E56-D9DD6E4129F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noProof="0"/>
              <a:t>Clique para editar os estilos do texto mestre</a:t>
            </a:r>
          </a:p>
          <a:p>
            <a:pPr lvl="1"/>
            <a:r>
              <a:rPr lang="pt-BR" altLang="pt-BR" noProof="0"/>
              <a:t>Segundo nível</a:t>
            </a:r>
          </a:p>
          <a:p>
            <a:pPr lvl="2"/>
            <a:r>
              <a:rPr lang="pt-BR" altLang="pt-BR" noProof="0"/>
              <a:t>Terceiro nível</a:t>
            </a:r>
          </a:p>
          <a:p>
            <a:pPr lvl="3"/>
            <a:r>
              <a:rPr lang="pt-BR" altLang="pt-BR" noProof="0"/>
              <a:t>Quarto nível</a:t>
            </a:r>
          </a:p>
          <a:p>
            <a:pPr lvl="4"/>
            <a:r>
              <a:rPr lang="pt-BR" altLang="pt-BR" noProof="0"/>
              <a:t>Quinto nível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FADB581F-8904-424D-B1A0-DE434E5B3A0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defRPr sz="13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id="{18526430-648D-254B-9894-A392E8F9EB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/>
            </a:lvl1pPr>
          </a:lstStyle>
          <a:p>
            <a:pPr>
              <a:defRPr/>
            </a:pPr>
            <a:fld id="{021EBDD7-747D-4745-BC9D-745D17A225AF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21EBDD7-747D-4745-BC9D-745D17A225AF}" type="slidenum">
              <a:rPr lang="pt-BR" altLang="pt-BR" smtClean="0"/>
              <a:pPr>
                <a:defRPr/>
              </a:pPr>
              <a:t>12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747083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562E338-5135-BA47-9F5F-FBBAA7A313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0EA4FD6-EB8E-894B-90B5-47B0475D2E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138A2E0-1C6C-9144-935C-0F396C504A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53FB93-AD23-874F-A536-4928158A2244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729820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146122A-4116-954A-99A1-E956F99261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479B654-812B-0C49-88FD-6BB33F2AB1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ECC7924-0137-4D4B-84AD-E0B933DB6F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37517D-E7D3-1145-B4C7-D8F169D4A5C2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527887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73DC4C1-EA3F-0B45-87A8-30866C8F2B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9B379CE-069B-2747-8D50-66A7CC2B60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0498805-576A-D44B-9B9E-1C167156EC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3251EF-94FC-BF4A-8294-0D5BB909F9A2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833385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12713" y="887413"/>
            <a:ext cx="4210050" cy="5238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475163" y="887413"/>
            <a:ext cx="4211637" cy="5238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7F5C2F-8200-6A42-A72B-9925BE939C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78CF0F-EF6C-3B4C-AC9B-FC901F642D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071570-2332-344B-930C-EDBE471F77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6B04EB-429E-6C43-90E7-50E4C2C701A7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58145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118E83E-EEC0-1B4E-8C55-73B2671FFD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B279FE9-9C0C-6049-84AD-DB04768BD5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04962B7-1B4D-1241-8A33-3E36DDF25B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8CA671-23D3-6B46-9DFE-C23F9C90DABC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729623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D4B8441-6A0F-AB41-8F2F-BCFCFC4FBC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7883775-73EB-F34E-8F45-97B43E4F5C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33032B5-E1A1-3740-A29A-B04BE668C6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D63453-D8C2-014A-BEDE-40710AA44D76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935412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7C67D16-FC4B-6447-8630-64CBF18FF2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29CC78B-777B-2041-8ADF-629D413A00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877A77C-BFA0-5746-B19F-1A7A6A70D6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17DEED-F1D1-4248-8D78-3D120F48908E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325211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173BC4-3C78-CA43-9274-39FEAE64BB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793598-7258-0C4B-ABBC-3A271F49E9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68C59A-85FB-5A41-8521-EFE4DA99C7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C46D08-F4A2-8C43-9F0E-190E6199B2A7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083058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4A7E9B-5066-0A46-8BEF-B8854FBBBE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6A44C0-FA4D-8748-B464-C0A26A44FB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4C8D1D-A062-D24D-8174-E6FB75D42E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A75261-3A33-7645-A843-F3157191B740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654314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048D9B3-A8B9-4B42-B667-B366E25B79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0AF682C-B1D1-0048-B03B-D5B7BE6EEB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D1A9E33-5B98-CE44-B582-24BEB6E0DB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66BF83-33E6-BB47-BDC1-E16F35056577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705721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15100" y="0"/>
            <a:ext cx="2171700" cy="6126163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62700" cy="6126163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B03EC6A-F7E1-2344-A045-4B0D0D1ED2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E71D6B6-4AF9-A640-AEC1-4B8E8A39ABC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7C9AE1-FB78-A148-9017-8F7C27473D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082BD0-64E7-264D-B59D-47017F5C306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0657632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ítulo, text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7388225" cy="706438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112713" y="887413"/>
            <a:ext cx="4210050" cy="523875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Gráfico 3"/>
          <p:cNvSpPr>
            <a:spLocks noGrp="1"/>
          </p:cNvSpPr>
          <p:nvPr>
            <p:ph type="chart" sz="half" idx="2"/>
          </p:nvPr>
        </p:nvSpPr>
        <p:spPr>
          <a:xfrm>
            <a:off x="4475163" y="887413"/>
            <a:ext cx="4211637" cy="5238750"/>
          </a:xfrm>
        </p:spPr>
        <p:txBody>
          <a:bodyPr/>
          <a:lstStyle/>
          <a:p>
            <a:pPr lvl="0"/>
            <a:endParaRPr lang="pt-BR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01260D-57C3-4544-A4D8-B7C2FB6183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6112BC-6F69-9E48-A095-81D2340AEE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B73F0C-90F2-F747-9602-C2943ADE36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E7FB74-2AA2-4844-A84A-FA13EE19627E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62981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6D3DBCD-93F1-7044-9D54-3C4149A7D5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7388225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8535EB6-B50D-FA41-8EE5-043B7C1D9D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2713" y="887413"/>
            <a:ext cx="8574087" cy="523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9C249D0-F31A-7540-BB18-1BD35A25B6E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defRPr sz="14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17B4800-F30D-464E-9D19-65949A388AD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00000"/>
              </a:lnSpc>
              <a:defRPr sz="14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CCA6ADE-A950-A146-9EEB-CF19FE5DB1A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6FBF893F-590C-274E-94A9-F0912AD98C00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  <p:sp>
        <p:nvSpPr>
          <p:cNvPr id="1031" name="Rectangle 8">
            <a:extLst>
              <a:ext uri="{FF2B5EF4-FFF2-40B4-BE49-F238E27FC236}">
                <a16:creationId xmlns:a16="http://schemas.microsoft.com/office/drawing/2014/main" id="{318CF63E-BEE3-1F4B-B638-A60590A648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25413" y="808038"/>
            <a:ext cx="7861300" cy="47625"/>
          </a:xfrm>
          <a:prstGeom prst="rect">
            <a:avLst/>
          </a:prstGeom>
          <a:gradFill rotWithShape="0">
            <a:gsLst>
              <a:gs pos="0">
                <a:srgbClr val="6464BF"/>
              </a:gs>
              <a:gs pos="100000">
                <a:srgbClr val="000096"/>
              </a:gs>
            </a:gsLst>
            <a:lin ang="0" scaled="1"/>
          </a:gradFill>
          <a:ln>
            <a:noFill/>
          </a:ln>
        </p:spPr>
        <p:txBody>
          <a:bodyPr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>
              <a:lnSpc>
                <a:spcPct val="80000"/>
              </a:lnSpc>
              <a:defRPr/>
            </a:pPr>
            <a:endParaRPr lang="pt-BR" altLang="pt-BR"/>
          </a:p>
        </p:txBody>
      </p:sp>
      <p:pic>
        <p:nvPicPr>
          <p:cNvPr id="1032" name="Picture 9">
            <a:extLst>
              <a:ext uri="{FF2B5EF4-FFF2-40B4-BE49-F238E27FC236}">
                <a16:creationId xmlns:a16="http://schemas.microsoft.com/office/drawing/2014/main" id="{27B5A668-33E0-144C-A004-9AFEB5E998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3863" y="0"/>
            <a:ext cx="1100137" cy="85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+mj-lt"/>
          <a:ea typeface="ＭＳ Ｐゴシック" charset="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  <a:ea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  <a:ea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  <a:ea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  <a:ea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6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6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ítulo 1">
            <a:extLst>
              <a:ext uri="{FF2B5EF4-FFF2-40B4-BE49-F238E27FC236}">
                <a16:creationId xmlns:a16="http://schemas.microsoft.com/office/drawing/2014/main" id="{EA921A49-C1E9-6B45-911B-69DB379231E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55650" y="1700213"/>
            <a:ext cx="8624888" cy="1470025"/>
          </a:xfrm>
        </p:spPr>
        <p:txBody>
          <a:bodyPr/>
          <a:lstStyle/>
          <a:p>
            <a:r>
              <a:rPr lang="pt-BR" altLang="pt-BR" sz="3200">
                <a:ea typeface="ＭＳ Ｐゴシック" panose="020B0600070205080204" pitchFamily="34" charset="-128"/>
              </a:rPr>
              <a:t>Universidade de Brasília</a:t>
            </a:r>
            <a:br>
              <a:rPr lang="pt-BR" altLang="pt-BR" sz="3200">
                <a:ea typeface="ＭＳ Ｐゴシック" panose="020B0600070205080204" pitchFamily="34" charset="-128"/>
              </a:rPr>
            </a:br>
            <a:r>
              <a:rPr lang="pt-BR" altLang="pt-BR" sz="3200">
                <a:ea typeface="ＭＳ Ｐゴシック" panose="020B0600070205080204" pitchFamily="34" charset="-128"/>
              </a:rPr>
              <a:t>Departamento de Engenharia de Produção</a:t>
            </a:r>
            <a:br>
              <a:rPr lang="pt-BR" altLang="pt-BR" sz="3200">
                <a:ea typeface="ＭＳ Ｐゴシック" panose="020B0600070205080204" pitchFamily="34" charset="-128"/>
              </a:rPr>
            </a:br>
            <a:r>
              <a:rPr lang="pt-BR" altLang="pt-BR" sz="3200">
                <a:ea typeface="ＭＳ Ｐゴシック" panose="020B0600070205080204" pitchFamily="34" charset="-128"/>
              </a:rPr>
              <a:t>Disciplina: Engenharia de Produto</a:t>
            </a:r>
            <a:br>
              <a:rPr lang="pt-BR" altLang="pt-BR" sz="3200">
                <a:ea typeface="ＭＳ Ｐゴシック" panose="020B0600070205080204" pitchFamily="34" charset="-128"/>
              </a:rPr>
            </a:br>
            <a:r>
              <a:rPr lang="pt-BR" altLang="pt-BR" sz="3200">
                <a:ea typeface="ＭＳ Ｐゴシック" panose="020B0600070205080204" pitchFamily="34" charset="-128"/>
              </a:rPr>
              <a:t>  </a:t>
            </a:r>
            <a:br>
              <a:rPr lang="pt-BR" altLang="pt-BR" sz="3200">
                <a:ea typeface="ＭＳ Ｐゴシック" panose="020B0600070205080204" pitchFamily="34" charset="-128"/>
              </a:rPr>
            </a:br>
            <a:endParaRPr lang="pt-BR" altLang="pt-BR" sz="3200">
              <a:ea typeface="ＭＳ Ｐゴシック" panose="020B0600070205080204" pitchFamily="34" charset="-128"/>
            </a:endParaRPr>
          </a:p>
        </p:txBody>
      </p:sp>
      <p:sp>
        <p:nvSpPr>
          <p:cNvPr id="16386" name="Subtítulo 2">
            <a:extLst>
              <a:ext uri="{FF2B5EF4-FFF2-40B4-BE49-F238E27FC236}">
                <a16:creationId xmlns:a16="http://schemas.microsoft.com/office/drawing/2014/main" id="{8B271400-5992-254B-86D6-879EA439F45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3068638"/>
            <a:ext cx="8421688" cy="1752600"/>
          </a:xfrm>
        </p:spPr>
        <p:txBody>
          <a:bodyPr/>
          <a:lstStyle/>
          <a:p>
            <a:r>
              <a:rPr lang="pt-BR" altLang="pt-BR" dirty="0">
                <a:ea typeface="ＭＳ Ｐゴシック" panose="020B0600070205080204" pitchFamily="34" charset="-128"/>
              </a:rPr>
              <a:t>Aula 16  – Projeto Conceitual: </a:t>
            </a:r>
          </a:p>
          <a:p>
            <a:r>
              <a:rPr lang="pt-BR" altLang="pt-BR" dirty="0">
                <a:ea typeface="ＭＳ Ｐゴシック" panose="020B0600070205080204" pitchFamily="34" charset="-128"/>
              </a:rPr>
              <a:t>Síntese Funcional</a:t>
            </a:r>
          </a:p>
          <a:p>
            <a:r>
              <a:rPr lang="pt-BR" altLang="pt-BR" dirty="0">
                <a:ea typeface="ＭＳ Ｐゴシック" panose="020B0600070205080204" pitchFamily="34" charset="-128"/>
              </a:rPr>
              <a:t>Profa. Andréa Santos</a:t>
            </a:r>
          </a:p>
          <a:p>
            <a:endParaRPr lang="pt-BR" altLang="pt-BR" dirty="0">
              <a:ea typeface="ＭＳ Ｐゴシック" panose="020B0600070205080204" pitchFamily="34" charset="-128"/>
            </a:endParaRPr>
          </a:p>
        </p:txBody>
      </p:sp>
      <p:sp>
        <p:nvSpPr>
          <p:cNvPr id="16387" name="CaixaDeTexto 3">
            <a:extLst>
              <a:ext uri="{FF2B5EF4-FFF2-40B4-BE49-F238E27FC236}">
                <a16:creationId xmlns:a16="http://schemas.microsoft.com/office/drawing/2014/main" id="{FB7BE2D4-5CAA-494D-94D0-D001873F61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772025"/>
            <a:ext cx="7056438" cy="197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Fonte: Capítulo 7  -Rozenfeld et al (2006)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               Capítulo  6 – Back  et al (2008)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000" b="1"/>
              <a:t>Capítulo 7 – Baxter (2003) 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EE8BB961-D14C-3B41-9493-34D9C20162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7363" y="0"/>
            <a:ext cx="7388225" cy="706438"/>
          </a:xfrm>
        </p:spPr>
        <p:txBody>
          <a:bodyPr/>
          <a:lstStyle/>
          <a:p>
            <a:r>
              <a:rPr lang="en-US" altLang="pt-BR" b="1">
                <a:ea typeface="ＭＳ Ｐゴシック" panose="020B0600070205080204" pitchFamily="34" charset="-128"/>
              </a:rPr>
              <a:t>PROJETO CONCEITUAL</a:t>
            </a:r>
          </a:p>
        </p:txBody>
      </p:sp>
      <p:pic>
        <p:nvPicPr>
          <p:cNvPr id="17410" name="Content Placeholder 3">
            <a:extLst>
              <a:ext uri="{FF2B5EF4-FFF2-40B4-BE49-F238E27FC236}">
                <a16:creationId xmlns:a16="http://schemas.microsoft.com/office/drawing/2014/main" id="{487C31E3-B548-274E-8887-45B019C7261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66" b="2666"/>
          <a:stretch>
            <a:fillRect/>
          </a:stretch>
        </p:blipFill>
        <p:spPr/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7" name="Picture 1">
            <a:extLst>
              <a:ext uri="{FF2B5EF4-FFF2-40B4-BE49-F238E27FC236}">
                <a16:creationId xmlns:a16="http://schemas.microsoft.com/office/drawing/2014/main" id="{E834D22F-5491-904D-9187-397350B98C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57238"/>
            <a:ext cx="9144000" cy="627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8" name="TextBox 2">
            <a:extLst>
              <a:ext uri="{FF2B5EF4-FFF2-40B4-BE49-F238E27FC236}">
                <a16:creationId xmlns:a16="http://schemas.microsoft.com/office/drawing/2014/main" id="{E474839D-D2DD-F24A-B0D1-F7606EBBE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38" y="254000"/>
            <a:ext cx="73882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pt-BR" b="1"/>
              <a:t>MÉTODOS DE CRIATIVIDADE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1" name="Group 32">
            <a:extLst>
              <a:ext uri="{FF2B5EF4-FFF2-40B4-BE49-F238E27FC236}">
                <a16:creationId xmlns:a16="http://schemas.microsoft.com/office/drawing/2014/main" id="{7FC3D936-09EA-AF48-8636-62ED5AA36240}"/>
              </a:ext>
            </a:extLst>
          </p:cNvPr>
          <p:cNvGrpSpPr>
            <a:grpSpLocks/>
          </p:cNvGrpSpPr>
          <p:nvPr/>
        </p:nvGrpSpPr>
        <p:grpSpPr bwMode="auto">
          <a:xfrm>
            <a:off x="528638" y="1277938"/>
            <a:ext cx="7494587" cy="5059362"/>
            <a:chOff x="663" y="851"/>
            <a:chExt cx="4483" cy="2976"/>
          </a:xfrm>
        </p:grpSpPr>
        <p:sp>
          <p:nvSpPr>
            <p:cNvPr id="20483" name="Rectangle 4">
              <a:extLst>
                <a:ext uri="{FF2B5EF4-FFF2-40B4-BE49-F238E27FC236}">
                  <a16:creationId xmlns:a16="http://schemas.microsoft.com/office/drawing/2014/main" id="{EB46A800-AB50-994B-9D57-070C07BC3E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9" y="1274"/>
              <a:ext cx="2736" cy="216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484" name="Line 6">
              <a:extLst>
                <a:ext uri="{FF2B5EF4-FFF2-40B4-BE49-F238E27FC236}">
                  <a16:creationId xmlns:a16="http://schemas.microsoft.com/office/drawing/2014/main" id="{9A9F682B-2C5D-8F45-A4BF-D26F55EFD9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851"/>
              <a:ext cx="0" cy="2976"/>
            </a:xfrm>
            <a:prstGeom prst="line">
              <a:avLst/>
            </a:prstGeom>
            <a:noFill/>
            <a:ln w="76200">
              <a:solidFill>
                <a:srgbClr val="333399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0485" name="Text Box 7">
              <a:extLst>
                <a:ext uri="{FF2B5EF4-FFF2-40B4-BE49-F238E27FC236}">
                  <a16:creationId xmlns:a16="http://schemas.microsoft.com/office/drawing/2014/main" id="{8B710D98-E999-D84B-9A69-F8FA2B2D18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8" y="909"/>
              <a:ext cx="868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complexo</a:t>
              </a:r>
            </a:p>
          </p:txBody>
        </p:sp>
        <p:sp>
          <p:nvSpPr>
            <p:cNvPr id="20486" name="Text Box 8">
              <a:extLst>
                <a:ext uri="{FF2B5EF4-FFF2-40B4-BE49-F238E27FC236}">
                  <a16:creationId xmlns:a16="http://schemas.microsoft.com/office/drawing/2014/main" id="{26940073-FF07-4748-AA01-6C20442B3F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1" y="3546"/>
              <a:ext cx="868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simples</a:t>
              </a:r>
            </a:p>
          </p:txBody>
        </p:sp>
        <p:sp>
          <p:nvSpPr>
            <p:cNvPr id="20487" name="Line 10">
              <a:extLst>
                <a:ext uri="{FF2B5EF4-FFF2-40B4-BE49-F238E27FC236}">
                  <a16:creationId xmlns:a16="http://schemas.microsoft.com/office/drawing/2014/main" id="{C4320432-33C9-A544-9FB6-C69D47DF03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360"/>
              <a:ext cx="4272" cy="0"/>
            </a:xfrm>
            <a:prstGeom prst="line">
              <a:avLst/>
            </a:prstGeom>
            <a:noFill/>
            <a:ln w="76200">
              <a:solidFill>
                <a:srgbClr val="000080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0488" name="Text Box 11">
              <a:extLst>
                <a:ext uri="{FF2B5EF4-FFF2-40B4-BE49-F238E27FC236}">
                  <a16:creationId xmlns:a16="http://schemas.microsoft.com/office/drawing/2014/main" id="{52695CF0-A36E-0349-B063-7E659A979A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3" y="2004"/>
              <a:ext cx="713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abstrato</a:t>
              </a:r>
            </a:p>
          </p:txBody>
        </p:sp>
        <p:sp>
          <p:nvSpPr>
            <p:cNvPr id="20489" name="Text Box 12">
              <a:extLst>
                <a:ext uri="{FF2B5EF4-FFF2-40B4-BE49-F238E27FC236}">
                  <a16:creationId xmlns:a16="http://schemas.microsoft.com/office/drawing/2014/main" id="{A25B40FD-2C54-F545-A0EC-944672B522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1" y="2020"/>
              <a:ext cx="795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concreto</a:t>
              </a:r>
            </a:p>
          </p:txBody>
        </p:sp>
        <p:sp>
          <p:nvSpPr>
            <p:cNvPr id="20490" name="Text Box 13">
              <a:extLst>
                <a:ext uri="{FF2B5EF4-FFF2-40B4-BE49-F238E27FC236}">
                  <a16:creationId xmlns:a16="http://schemas.microsoft.com/office/drawing/2014/main" id="{524E7B31-63E8-D64A-B864-2E0BEEADF2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4" y="890"/>
              <a:ext cx="1025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50000"/>
                </a:spcAft>
                <a:buFontTx/>
                <a:buNone/>
              </a:pPr>
              <a:r>
                <a:rPr lang="pt-BR" altLang="pt-BR" sz="2000" b="1"/>
                <a:t>Projeto Conceitual</a:t>
              </a:r>
            </a:p>
          </p:txBody>
        </p:sp>
        <p:sp>
          <p:nvSpPr>
            <p:cNvPr id="20491" name="AutoShape 15">
              <a:extLst>
                <a:ext uri="{FF2B5EF4-FFF2-40B4-BE49-F238E27FC236}">
                  <a16:creationId xmlns:a16="http://schemas.microsoft.com/office/drawing/2014/main" id="{669D24C5-EF47-DC4F-8E00-321C39B6E94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614" y="2131"/>
              <a:ext cx="1005" cy="419"/>
            </a:xfrm>
            <a:prstGeom prst="rightArrow">
              <a:avLst>
                <a:gd name="adj1" fmla="val 58713"/>
                <a:gd name="adj2" fmla="val 60320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492" name="Text Box 16">
              <a:extLst>
                <a:ext uri="{FF2B5EF4-FFF2-40B4-BE49-F238E27FC236}">
                  <a16:creationId xmlns:a16="http://schemas.microsoft.com/office/drawing/2014/main" id="{3F3AA5A7-EA13-6C4C-9C6B-6D05DFBB8C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682" y="2205"/>
              <a:ext cx="869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400"/>
                <a:t>decomposição</a:t>
              </a:r>
            </a:p>
          </p:txBody>
        </p:sp>
        <p:sp>
          <p:nvSpPr>
            <p:cNvPr id="20493" name="Text Box 17">
              <a:extLst>
                <a:ext uri="{FF2B5EF4-FFF2-40B4-BE49-F238E27FC236}">
                  <a16:creationId xmlns:a16="http://schemas.microsoft.com/office/drawing/2014/main" id="{7B0DE3CE-4174-2E40-982B-B9A6C6E681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7" y="1568"/>
              <a:ext cx="859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800" b="1"/>
                <a:t>Problema</a:t>
              </a:r>
            </a:p>
          </p:txBody>
        </p:sp>
        <p:sp>
          <p:nvSpPr>
            <p:cNvPr id="20494" name="Text Box 18">
              <a:extLst>
                <a:ext uri="{FF2B5EF4-FFF2-40B4-BE49-F238E27FC236}">
                  <a16:creationId xmlns:a16="http://schemas.microsoft.com/office/drawing/2014/main" id="{312304A7-25CA-DC4D-B566-F5020CFEE2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6" y="2861"/>
              <a:ext cx="986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800" b="1"/>
                <a:t>Sub-Problemas</a:t>
              </a:r>
            </a:p>
          </p:txBody>
        </p:sp>
        <p:sp>
          <p:nvSpPr>
            <p:cNvPr id="20495" name="Text Box 19">
              <a:extLst>
                <a:ext uri="{FF2B5EF4-FFF2-40B4-BE49-F238E27FC236}">
                  <a16:creationId xmlns:a16="http://schemas.microsoft.com/office/drawing/2014/main" id="{C93FB543-8B0D-3944-A0B3-83FE6C94D4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8" y="3281"/>
              <a:ext cx="1206" cy="1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200"/>
                <a:t>(Campo dos problemas)</a:t>
              </a:r>
            </a:p>
          </p:txBody>
        </p:sp>
        <p:sp>
          <p:nvSpPr>
            <p:cNvPr id="20496" name="Text Box 20">
              <a:extLst>
                <a:ext uri="{FF2B5EF4-FFF2-40B4-BE49-F238E27FC236}">
                  <a16:creationId xmlns:a16="http://schemas.microsoft.com/office/drawing/2014/main" id="{CCE6A077-7830-6F4A-8128-D2FE3A8935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1" y="3257"/>
              <a:ext cx="1123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200"/>
                <a:t>(Campo das soluções)</a:t>
              </a:r>
            </a:p>
          </p:txBody>
        </p:sp>
        <p:sp>
          <p:nvSpPr>
            <p:cNvPr id="20497" name="AutoShape 21">
              <a:extLst>
                <a:ext uri="{FF2B5EF4-FFF2-40B4-BE49-F238E27FC236}">
                  <a16:creationId xmlns:a16="http://schemas.microsoft.com/office/drawing/2014/main" id="{260C8F00-F634-9E41-A20C-EC11ED751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8" y="1499"/>
              <a:ext cx="384" cy="402"/>
            </a:xfrm>
            <a:prstGeom prst="rightArrow">
              <a:avLst>
                <a:gd name="adj1" fmla="val 58546"/>
                <a:gd name="adj2" fmla="val 31435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498" name="AutoShape 23">
              <a:extLst>
                <a:ext uri="{FF2B5EF4-FFF2-40B4-BE49-F238E27FC236}">
                  <a16:creationId xmlns:a16="http://schemas.microsoft.com/office/drawing/2014/main" id="{DF92ADB6-02A4-7649-AFA6-1D85E8093E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4" y="2838"/>
              <a:ext cx="585" cy="402"/>
            </a:xfrm>
            <a:prstGeom prst="rightArrow">
              <a:avLst>
                <a:gd name="adj1" fmla="val 58704"/>
                <a:gd name="adj2" fmla="val 38031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499" name="Text Box 24">
              <a:extLst>
                <a:ext uri="{FF2B5EF4-FFF2-40B4-BE49-F238E27FC236}">
                  <a16:creationId xmlns:a16="http://schemas.microsoft.com/office/drawing/2014/main" id="{8A430931-E8DB-8945-9A70-5190C34237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7" y="2948"/>
              <a:ext cx="613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400"/>
                <a:t>resolução</a:t>
              </a:r>
            </a:p>
          </p:txBody>
        </p:sp>
        <p:sp>
          <p:nvSpPr>
            <p:cNvPr id="20500" name="Text Box 25">
              <a:extLst>
                <a:ext uri="{FF2B5EF4-FFF2-40B4-BE49-F238E27FC236}">
                  <a16:creationId xmlns:a16="http://schemas.microsoft.com/office/drawing/2014/main" id="{61DDD332-C788-F945-AEA2-CFAE0F9544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9" y="2847"/>
              <a:ext cx="876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800" b="1"/>
                <a:t>Sub-Soluções</a:t>
              </a:r>
            </a:p>
          </p:txBody>
        </p:sp>
        <p:sp>
          <p:nvSpPr>
            <p:cNvPr id="20501" name="AutoShape 27">
              <a:extLst>
                <a:ext uri="{FF2B5EF4-FFF2-40B4-BE49-F238E27FC236}">
                  <a16:creationId xmlns:a16="http://schemas.microsoft.com/office/drawing/2014/main" id="{D135A984-8116-6C44-A5C4-40ACE66C9F6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3213" y="2113"/>
              <a:ext cx="887" cy="419"/>
            </a:xfrm>
            <a:prstGeom prst="rightArrow">
              <a:avLst>
                <a:gd name="adj1" fmla="val 58713"/>
                <a:gd name="adj2" fmla="val 53237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502" name="Text Box 28">
              <a:extLst>
                <a:ext uri="{FF2B5EF4-FFF2-40B4-BE49-F238E27FC236}">
                  <a16:creationId xmlns:a16="http://schemas.microsoft.com/office/drawing/2014/main" id="{228D9D2B-F20B-0544-AC3F-7CF464D530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 flipV="1">
              <a:off x="3237" y="2234"/>
              <a:ext cx="838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400"/>
                <a:t>composição</a:t>
              </a:r>
            </a:p>
          </p:txBody>
        </p:sp>
        <p:sp>
          <p:nvSpPr>
            <p:cNvPr id="20503" name="Text Box 29">
              <a:extLst>
                <a:ext uri="{FF2B5EF4-FFF2-40B4-BE49-F238E27FC236}">
                  <a16:creationId xmlns:a16="http://schemas.microsoft.com/office/drawing/2014/main" id="{FBD38786-AB5B-5847-87FA-C1F7C27DDE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2" y="1574"/>
              <a:ext cx="758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800" b="1"/>
                <a:t>Solução</a:t>
              </a:r>
            </a:p>
          </p:txBody>
        </p:sp>
        <p:sp>
          <p:nvSpPr>
            <p:cNvPr id="20504" name="Text Box 30">
              <a:extLst>
                <a:ext uri="{FF2B5EF4-FFF2-40B4-BE49-F238E27FC236}">
                  <a16:creationId xmlns:a16="http://schemas.microsoft.com/office/drawing/2014/main" id="{D2423EBA-21FE-F147-87EA-90AB6405D3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2447" y="1727"/>
              <a:ext cx="850" cy="205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400"/>
                <a:t>complexidade</a:t>
              </a:r>
            </a:p>
          </p:txBody>
        </p:sp>
        <p:sp>
          <p:nvSpPr>
            <p:cNvPr id="20505" name="AutoShape 31">
              <a:extLst>
                <a:ext uri="{FF2B5EF4-FFF2-40B4-BE49-F238E27FC236}">
                  <a16:creationId xmlns:a16="http://schemas.microsoft.com/office/drawing/2014/main" id="{ABBD14D6-F5F8-1A48-93C9-1437726970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1503"/>
              <a:ext cx="384" cy="402"/>
            </a:xfrm>
            <a:prstGeom prst="rightArrow">
              <a:avLst>
                <a:gd name="adj1" fmla="val 58546"/>
                <a:gd name="adj2" fmla="val 31435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</p:grpSp>
      <p:sp>
        <p:nvSpPr>
          <p:cNvPr id="26" name="Rectangle 33">
            <a:extLst>
              <a:ext uri="{FF2B5EF4-FFF2-40B4-BE49-F238E27FC236}">
                <a16:creationId xmlns:a16="http://schemas.microsoft.com/office/drawing/2014/main" id="{479BC340-B5D0-2843-A989-5D5F1F5415A7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220663"/>
            <a:ext cx="7388225" cy="7064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pt-BR" sz="2400" kern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O problema de projeto na fase de projeto conceitual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AA174922-89A4-EF4A-AB03-C3070D9AD9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7388225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400">
                <a:solidFill>
                  <a:srgbClr val="000096"/>
                </a:solidFill>
              </a:rPr>
              <a:t>Conceitos básicos para entendimento da fase de projeto conceitual</a:t>
            </a:r>
          </a:p>
        </p:txBody>
      </p:sp>
      <p:sp>
        <p:nvSpPr>
          <p:cNvPr id="21506" name="Text Box 4">
            <a:extLst>
              <a:ext uri="{FF2B5EF4-FFF2-40B4-BE49-F238E27FC236}">
                <a16:creationId xmlns:a16="http://schemas.microsoft.com/office/drawing/2014/main" id="{88A3A695-A1D4-F549-9172-F45614FECB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600" y="901700"/>
            <a:ext cx="8509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2000"/>
              <a:t>Relação entre os principais conceitos na fase de projeto conceitual e sua relação com a fase de projeto informacional</a:t>
            </a:r>
          </a:p>
        </p:txBody>
      </p:sp>
      <p:grpSp>
        <p:nvGrpSpPr>
          <p:cNvPr id="21507" name="Group 4">
            <a:extLst>
              <a:ext uri="{FF2B5EF4-FFF2-40B4-BE49-F238E27FC236}">
                <a16:creationId xmlns:a16="http://schemas.microsoft.com/office/drawing/2014/main" id="{FF3A4022-A8FA-DD42-B9E5-9E913721B39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0013" y="1949450"/>
            <a:ext cx="8915400" cy="4124325"/>
            <a:chOff x="63" y="1228"/>
            <a:chExt cx="5616" cy="2598"/>
          </a:xfrm>
        </p:grpSpPr>
        <p:sp>
          <p:nvSpPr>
            <p:cNvPr id="21508" name="AutoShape 3">
              <a:extLst>
                <a:ext uri="{FF2B5EF4-FFF2-40B4-BE49-F238E27FC236}">
                  <a16:creationId xmlns:a16="http://schemas.microsoft.com/office/drawing/2014/main" id="{A446D674-14DE-9744-9986-B382ED74DBFA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63" y="1228"/>
              <a:ext cx="5616" cy="2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1509" name="Freeform 5">
              <a:extLst>
                <a:ext uri="{FF2B5EF4-FFF2-40B4-BE49-F238E27FC236}">
                  <a16:creationId xmlns:a16="http://schemas.microsoft.com/office/drawing/2014/main" id="{C7B5F2F0-06D8-0C44-9C8A-8775276562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" y="1518"/>
              <a:ext cx="4963" cy="2299"/>
            </a:xfrm>
            <a:custGeom>
              <a:avLst/>
              <a:gdLst>
                <a:gd name="T0" fmla="*/ 1 w 9926"/>
                <a:gd name="T1" fmla="*/ 1 h 4597"/>
                <a:gd name="T2" fmla="*/ 1 w 9926"/>
                <a:gd name="T3" fmla="*/ 0 h 4597"/>
                <a:gd name="T4" fmla="*/ 1 w 9926"/>
                <a:gd name="T5" fmla="*/ 0 h 4597"/>
                <a:gd name="T6" fmla="*/ 1 w 9926"/>
                <a:gd name="T7" fmla="*/ 1 h 4597"/>
                <a:gd name="T8" fmla="*/ 1 w 9926"/>
                <a:gd name="T9" fmla="*/ 1 h 4597"/>
                <a:gd name="T10" fmla="*/ 1 w 9926"/>
                <a:gd name="T11" fmla="*/ 1 h 4597"/>
                <a:gd name="T12" fmla="*/ 0 w 9926"/>
                <a:gd name="T13" fmla="*/ 1 h 4597"/>
                <a:gd name="T14" fmla="*/ 0 w 9926"/>
                <a:gd name="T15" fmla="*/ 1 h 4597"/>
                <a:gd name="T16" fmla="*/ 1 w 9926"/>
                <a:gd name="T17" fmla="*/ 1 h 459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9926"/>
                <a:gd name="T28" fmla="*/ 0 h 4597"/>
                <a:gd name="T29" fmla="*/ 9926 w 9926"/>
                <a:gd name="T30" fmla="*/ 4597 h 459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9926" h="4597">
                  <a:moveTo>
                    <a:pt x="9926" y="4597"/>
                  </a:moveTo>
                  <a:lnTo>
                    <a:pt x="9926" y="0"/>
                  </a:lnTo>
                  <a:lnTo>
                    <a:pt x="5154" y="0"/>
                  </a:lnTo>
                  <a:lnTo>
                    <a:pt x="3532" y="862"/>
                  </a:lnTo>
                  <a:lnTo>
                    <a:pt x="3532" y="1915"/>
                  </a:lnTo>
                  <a:lnTo>
                    <a:pt x="573" y="1915"/>
                  </a:lnTo>
                  <a:lnTo>
                    <a:pt x="0" y="2969"/>
                  </a:lnTo>
                  <a:lnTo>
                    <a:pt x="0" y="4597"/>
                  </a:lnTo>
                  <a:lnTo>
                    <a:pt x="9926" y="4597"/>
                  </a:lnTo>
                  <a:close/>
                </a:path>
              </a:pathLst>
            </a:custGeom>
            <a:solidFill>
              <a:srgbClr val="FF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21510" name="Group 157">
              <a:extLst>
                <a:ext uri="{FF2B5EF4-FFF2-40B4-BE49-F238E27FC236}">
                  <a16:creationId xmlns:a16="http://schemas.microsoft.com/office/drawing/2014/main" id="{E858EC80-E070-BF4E-91D3-D626B8520D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" y="1231"/>
              <a:ext cx="5535" cy="2460"/>
              <a:chOff x="87" y="1231"/>
              <a:chExt cx="5535" cy="2460"/>
            </a:xfrm>
          </p:grpSpPr>
          <p:sp>
            <p:nvSpPr>
              <p:cNvPr id="21931" name="Freeform 6">
                <a:extLst>
                  <a:ext uri="{FF2B5EF4-FFF2-40B4-BE49-F238E27FC236}">
                    <a16:creationId xmlns:a16="http://schemas.microsoft.com/office/drawing/2014/main" id="{DAF9DAAB-48B7-1944-9D17-241DC28A6A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3" y="1618"/>
                <a:ext cx="4809" cy="1973"/>
              </a:xfrm>
              <a:custGeom>
                <a:avLst/>
                <a:gdLst>
                  <a:gd name="T0" fmla="*/ 0 w 9620"/>
                  <a:gd name="T1" fmla="*/ 1 h 3945"/>
                  <a:gd name="T2" fmla="*/ 0 w 9620"/>
                  <a:gd name="T3" fmla="*/ 1 h 3945"/>
                  <a:gd name="T4" fmla="*/ 0 w 9620"/>
                  <a:gd name="T5" fmla="*/ 0 h 3945"/>
                  <a:gd name="T6" fmla="*/ 0 w 9620"/>
                  <a:gd name="T7" fmla="*/ 0 h 3945"/>
                  <a:gd name="T8" fmla="*/ 0 w 9620"/>
                  <a:gd name="T9" fmla="*/ 1 h 3945"/>
                  <a:gd name="T10" fmla="*/ 0 w 9620"/>
                  <a:gd name="T11" fmla="*/ 1 h 3945"/>
                  <a:gd name="T12" fmla="*/ 0 w 9620"/>
                  <a:gd name="T13" fmla="*/ 1 h 3945"/>
                  <a:gd name="T14" fmla="*/ 0 w 9620"/>
                  <a:gd name="T15" fmla="*/ 1 h 394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9620"/>
                  <a:gd name="T25" fmla="*/ 0 h 3945"/>
                  <a:gd name="T26" fmla="*/ 9620 w 9620"/>
                  <a:gd name="T27" fmla="*/ 3945 h 3945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9620" h="3945">
                    <a:moveTo>
                      <a:pt x="0" y="2602"/>
                    </a:moveTo>
                    <a:lnTo>
                      <a:pt x="5325" y="1341"/>
                    </a:lnTo>
                    <a:lnTo>
                      <a:pt x="5325" y="0"/>
                    </a:lnTo>
                    <a:lnTo>
                      <a:pt x="9620" y="0"/>
                    </a:lnTo>
                    <a:lnTo>
                      <a:pt x="9620" y="3927"/>
                    </a:lnTo>
                    <a:lnTo>
                      <a:pt x="0" y="3945"/>
                    </a:lnTo>
                    <a:lnTo>
                      <a:pt x="14" y="3319"/>
                    </a:lnTo>
                    <a:lnTo>
                      <a:pt x="0" y="2602"/>
                    </a:lnTo>
                    <a:close/>
                  </a:path>
                </a:pathLst>
              </a:custGeom>
              <a:solidFill>
                <a:srgbClr val="FFE1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932" name="Freeform 7">
                <a:extLst>
                  <a:ext uri="{FF2B5EF4-FFF2-40B4-BE49-F238E27FC236}">
                    <a16:creationId xmlns:a16="http://schemas.microsoft.com/office/drawing/2014/main" id="{2210C3E1-11DF-A14C-8227-36D169EEC4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6" y="3007"/>
                <a:ext cx="1193" cy="431"/>
              </a:xfrm>
              <a:custGeom>
                <a:avLst/>
                <a:gdLst>
                  <a:gd name="T0" fmla="*/ 1 w 2386"/>
                  <a:gd name="T1" fmla="*/ 0 h 862"/>
                  <a:gd name="T2" fmla="*/ 1 w 2386"/>
                  <a:gd name="T3" fmla="*/ 1 h 862"/>
                  <a:gd name="T4" fmla="*/ 1 w 2386"/>
                  <a:gd name="T5" fmla="*/ 1 h 862"/>
                  <a:gd name="T6" fmla="*/ 1 w 2386"/>
                  <a:gd name="T7" fmla="*/ 1 h 862"/>
                  <a:gd name="T8" fmla="*/ 1 w 2386"/>
                  <a:gd name="T9" fmla="*/ 1 h 862"/>
                  <a:gd name="T10" fmla="*/ 1 w 2386"/>
                  <a:gd name="T11" fmla="*/ 1 h 862"/>
                  <a:gd name="T12" fmla="*/ 1 w 2386"/>
                  <a:gd name="T13" fmla="*/ 1 h 862"/>
                  <a:gd name="T14" fmla="*/ 1 w 2386"/>
                  <a:gd name="T15" fmla="*/ 1 h 862"/>
                  <a:gd name="T16" fmla="*/ 0 w 2386"/>
                  <a:gd name="T17" fmla="*/ 1 h 862"/>
                  <a:gd name="T18" fmla="*/ 0 w 2386"/>
                  <a:gd name="T19" fmla="*/ 1 h 862"/>
                  <a:gd name="T20" fmla="*/ 1 w 2386"/>
                  <a:gd name="T21" fmla="*/ 1 h 862"/>
                  <a:gd name="T22" fmla="*/ 1 w 2386"/>
                  <a:gd name="T23" fmla="*/ 1 h 862"/>
                  <a:gd name="T24" fmla="*/ 1 w 2386"/>
                  <a:gd name="T25" fmla="*/ 1 h 862"/>
                  <a:gd name="T26" fmla="*/ 1 w 2386"/>
                  <a:gd name="T27" fmla="*/ 1 h 862"/>
                  <a:gd name="T28" fmla="*/ 1 w 2386"/>
                  <a:gd name="T29" fmla="*/ 1 h 862"/>
                  <a:gd name="T30" fmla="*/ 1 w 2386"/>
                  <a:gd name="T31" fmla="*/ 1 h 862"/>
                  <a:gd name="T32" fmla="*/ 1 w 2386"/>
                  <a:gd name="T33" fmla="*/ 1 h 862"/>
                  <a:gd name="T34" fmla="*/ 1 w 2386"/>
                  <a:gd name="T35" fmla="*/ 1 h 862"/>
                  <a:gd name="T36" fmla="*/ 1 w 2386"/>
                  <a:gd name="T37" fmla="*/ 1 h 862"/>
                  <a:gd name="T38" fmla="*/ 1 w 2386"/>
                  <a:gd name="T39" fmla="*/ 1 h 862"/>
                  <a:gd name="T40" fmla="*/ 1 w 2386"/>
                  <a:gd name="T41" fmla="*/ 1 h 862"/>
                  <a:gd name="T42" fmla="*/ 1 w 2386"/>
                  <a:gd name="T43" fmla="*/ 1 h 862"/>
                  <a:gd name="T44" fmla="*/ 1 w 2386"/>
                  <a:gd name="T45" fmla="*/ 1 h 862"/>
                  <a:gd name="T46" fmla="*/ 1 w 2386"/>
                  <a:gd name="T47" fmla="*/ 1 h 862"/>
                  <a:gd name="T48" fmla="*/ 1 w 2386"/>
                  <a:gd name="T49" fmla="*/ 1 h 862"/>
                  <a:gd name="T50" fmla="*/ 1 w 2386"/>
                  <a:gd name="T51" fmla="*/ 1 h 862"/>
                  <a:gd name="T52" fmla="*/ 1 w 2386"/>
                  <a:gd name="T53" fmla="*/ 1 h 862"/>
                  <a:gd name="T54" fmla="*/ 1 w 2386"/>
                  <a:gd name="T55" fmla="*/ 1 h 862"/>
                  <a:gd name="T56" fmla="*/ 1 w 2386"/>
                  <a:gd name="T57" fmla="*/ 1 h 862"/>
                  <a:gd name="T58" fmla="*/ 1 w 2386"/>
                  <a:gd name="T59" fmla="*/ 1 h 862"/>
                  <a:gd name="T60" fmla="*/ 1 w 2386"/>
                  <a:gd name="T61" fmla="*/ 1 h 862"/>
                  <a:gd name="T62" fmla="*/ 1 w 2386"/>
                  <a:gd name="T63" fmla="*/ 1 h 862"/>
                  <a:gd name="T64" fmla="*/ 1 w 2386"/>
                  <a:gd name="T65" fmla="*/ 1 h 862"/>
                  <a:gd name="T66" fmla="*/ 1 w 2386"/>
                  <a:gd name="T67" fmla="*/ 1 h 862"/>
                  <a:gd name="T68" fmla="*/ 1 w 2386"/>
                  <a:gd name="T69" fmla="*/ 1 h 862"/>
                  <a:gd name="T70" fmla="*/ 1 w 2386"/>
                  <a:gd name="T71" fmla="*/ 0 h 862"/>
                  <a:gd name="T72" fmla="*/ 1 w 2386"/>
                  <a:gd name="T73" fmla="*/ 0 h 862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2386"/>
                  <a:gd name="T112" fmla="*/ 0 h 862"/>
                  <a:gd name="T113" fmla="*/ 2386 w 2386"/>
                  <a:gd name="T114" fmla="*/ 862 h 862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2386" h="862">
                    <a:moveTo>
                      <a:pt x="143" y="0"/>
                    </a:moveTo>
                    <a:lnTo>
                      <a:pt x="113" y="2"/>
                    </a:lnTo>
                    <a:lnTo>
                      <a:pt x="87" y="12"/>
                    </a:lnTo>
                    <a:lnTo>
                      <a:pt x="64" y="24"/>
                    </a:lnTo>
                    <a:lnTo>
                      <a:pt x="42" y="42"/>
                    </a:lnTo>
                    <a:lnTo>
                      <a:pt x="24" y="64"/>
                    </a:lnTo>
                    <a:lnTo>
                      <a:pt x="12" y="88"/>
                    </a:lnTo>
                    <a:lnTo>
                      <a:pt x="2" y="114"/>
                    </a:lnTo>
                    <a:lnTo>
                      <a:pt x="0" y="143"/>
                    </a:lnTo>
                    <a:lnTo>
                      <a:pt x="0" y="718"/>
                    </a:lnTo>
                    <a:lnTo>
                      <a:pt x="2" y="748"/>
                    </a:lnTo>
                    <a:lnTo>
                      <a:pt x="12" y="774"/>
                    </a:lnTo>
                    <a:lnTo>
                      <a:pt x="24" y="798"/>
                    </a:lnTo>
                    <a:lnTo>
                      <a:pt x="42" y="820"/>
                    </a:lnTo>
                    <a:lnTo>
                      <a:pt x="64" y="838"/>
                    </a:lnTo>
                    <a:lnTo>
                      <a:pt x="87" y="850"/>
                    </a:lnTo>
                    <a:lnTo>
                      <a:pt x="113" y="860"/>
                    </a:lnTo>
                    <a:lnTo>
                      <a:pt x="143" y="862"/>
                    </a:lnTo>
                    <a:lnTo>
                      <a:pt x="2243" y="862"/>
                    </a:lnTo>
                    <a:lnTo>
                      <a:pt x="2273" y="860"/>
                    </a:lnTo>
                    <a:lnTo>
                      <a:pt x="2298" y="850"/>
                    </a:lnTo>
                    <a:lnTo>
                      <a:pt x="2322" y="838"/>
                    </a:lnTo>
                    <a:lnTo>
                      <a:pt x="2344" y="820"/>
                    </a:lnTo>
                    <a:lnTo>
                      <a:pt x="2362" y="798"/>
                    </a:lnTo>
                    <a:lnTo>
                      <a:pt x="2374" y="774"/>
                    </a:lnTo>
                    <a:lnTo>
                      <a:pt x="2384" y="748"/>
                    </a:lnTo>
                    <a:lnTo>
                      <a:pt x="2386" y="718"/>
                    </a:lnTo>
                    <a:lnTo>
                      <a:pt x="2386" y="143"/>
                    </a:lnTo>
                    <a:lnTo>
                      <a:pt x="2384" y="114"/>
                    </a:lnTo>
                    <a:lnTo>
                      <a:pt x="2374" y="88"/>
                    </a:lnTo>
                    <a:lnTo>
                      <a:pt x="2362" y="64"/>
                    </a:lnTo>
                    <a:lnTo>
                      <a:pt x="2344" y="42"/>
                    </a:lnTo>
                    <a:lnTo>
                      <a:pt x="2322" y="24"/>
                    </a:lnTo>
                    <a:lnTo>
                      <a:pt x="2298" y="12"/>
                    </a:lnTo>
                    <a:lnTo>
                      <a:pt x="2273" y="2"/>
                    </a:lnTo>
                    <a:lnTo>
                      <a:pt x="2243" y="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rgbClr val="EAEAEA"/>
              </a:solidFill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933" name="Rectangle 8">
                <a:extLst>
                  <a:ext uri="{FF2B5EF4-FFF2-40B4-BE49-F238E27FC236}">
                    <a16:creationId xmlns:a16="http://schemas.microsoft.com/office/drawing/2014/main" id="{3679C62F-C368-4A43-A16C-5C2AA2089C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" y="2572"/>
                <a:ext cx="669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934" name="Rectangle 9">
                <a:extLst>
                  <a:ext uri="{FF2B5EF4-FFF2-40B4-BE49-F238E27FC236}">
                    <a16:creationId xmlns:a16="http://schemas.microsoft.com/office/drawing/2014/main" id="{37E7A90E-CF5A-E04E-9D8C-2526E61FCD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6" y="2583"/>
                <a:ext cx="66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Necessidades </a:t>
                </a:r>
                <a:endParaRPr lang="pt-BR" altLang="pt-BR" sz="2000"/>
              </a:p>
            </p:txBody>
          </p:sp>
          <p:sp>
            <p:nvSpPr>
              <p:cNvPr id="21935" name="Rectangle 10">
                <a:extLst>
                  <a:ext uri="{FF2B5EF4-FFF2-40B4-BE49-F238E27FC236}">
                    <a16:creationId xmlns:a16="http://schemas.microsoft.com/office/drawing/2014/main" id="{696E9A49-81A5-6746-A466-289E9B58DE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" y="2697"/>
                <a:ext cx="57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dos clientes </a:t>
                </a:r>
                <a:endParaRPr lang="pt-BR" altLang="pt-BR" sz="2000"/>
              </a:p>
            </p:txBody>
          </p:sp>
          <p:sp>
            <p:nvSpPr>
              <p:cNvPr id="21936" name="Rectangle 11">
                <a:extLst>
                  <a:ext uri="{FF2B5EF4-FFF2-40B4-BE49-F238E27FC236}">
                    <a16:creationId xmlns:a16="http://schemas.microsoft.com/office/drawing/2014/main" id="{4FCD0D41-09CF-1846-B696-70445160EF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9" y="2001"/>
                <a:ext cx="531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937" name="Rectangle 12">
                <a:extLst>
                  <a:ext uri="{FF2B5EF4-FFF2-40B4-BE49-F238E27FC236}">
                    <a16:creationId xmlns:a16="http://schemas.microsoft.com/office/drawing/2014/main" id="{1A6D9C1E-02E5-8740-859F-140CAAFF3D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" y="2012"/>
                <a:ext cx="51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Requisitos </a:t>
                </a:r>
                <a:endParaRPr lang="pt-BR" altLang="pt-BR" sz="2000"/>
              </a:p>
            </p:txBody>
          </p:sp>
          <p:sp>
            <p:nvSpPr>
              <p:cNvPr id="21938" name="Rectangle 13">
                <a:extLst>
                  <a:ext uri="{FF2B5EF4-FFF2-40B4-BE49-F238E27FC236}">
                    <a16:creationId xmlns:a16="http://schemas.microsoft.com/office/drawing/2014/main" id="{2D9C24DC-C20C-504E-A885-607F9BE079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" y="2127"/>
                <a:ext cx="22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dos </a:t>
                </a:r>
                <a:endParaRPr lang="pt-BR" altLang="pt-BR" sz="2000"/>
              </a:p>
            </p:txBody>
          </p:sp>
          <p:sp>
            <p:nvSpPr>
              <p:cNvPr id="21939" name="Rectangle 14">
                <a:extLst>
                  <a:ext uri="{FF2B5EF4-FFF2-40B4-BE49-F238E27FC236}">
                    <a16:creationId xmlns:a16="http://schemas.microsoft.com/office/drawing/2014/main" id="{63097A31-8ACA-5C49-8CBD-B3B4378B1D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" y="2241"/>
                <a:ext cx="36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clientes</a:t>
                </a:r>
                <a:endParaRPr lang="pt-BR" altLang="pt-BR" sz="2000"/>
              </a:p>
            </p:txBody>
          </p:sp>
          <p:sp>
            <p:nvSpPr>
              <p:cNvPr id="21940" name="Rectangle 15">
                <a:extLst>
                  <a:ext uri="{FF2B5EF4-FFF2-40B4-BE49-F238E27FC236}">
                    <a16:creationId xmlns:a16="http://schemas.microsoft.com/office/drawing/2014/main" id="{C6914EE5-AC44-CD46-99E3-E8CA37815E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39" y="1970"/>
                <a:ext cx="682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941" name="Rectangle 16">
                <a:extLst>
                  <a:ext uri="{FF2B5EF4-FFF2-40B4-BE49-F238E27FC236}">
                    <a16:creationId xmlns:a16="http://schemas.microsoft.com/office/drawing/2014/main" id="{64B34E73-DEBC-594A-B3A2-E078A19176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6" y="1981"/>
                <a:ext cx="45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Estrutura </a:t>
                </a:r>
                <a:endParaRPr lang="pt-BR" altLang="pt-BR" sz="2000"/>
              </a:p>
            </p:txBody>
          </p:sp>
          <p:sp>
            <p:nvSpPr>
              <p:cNvPr id="21942" name="Rectangle 17">
                <a:extLst>
                  <a:ext uri="{FF2B5EF4-FFF2-40B4-BE49-F238E27FC236}">
                    <a16:creationId xmlns:a16="http://schemas.microsoft.com/office/drawing/2014/main" id="{E36812EB-F7CF-A646-915C-EEDC71EFAC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22" y="2096"/>
                <a:ext cx="58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funcional do </a:t>
                </a:r>
                <a:endParaRPr lang="pt-BR" altLang="pt-BR" sz="2000"/>
              </a:p>
            </p:txBody>
          </p:sp>
          <p:sp>
            <p:nvSpPr>
              <p:cNvPr id="21943" name="Rectangle 18">
                <a:extLst>
                  <a:ext uri="{FF2B5EF4-FFF2-40B4-BE49-F238E27FC236}">
                    <a16:creationId xmlns:a16="http://schemas.microsoft.com/office/drawing/2014/main" id="{8A731702-7EE9-8D48-BC34-9A4441096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8" y="2211"/>
                <a:ext cx="36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produto</a:t>
                </a:r>
                <a:endParaRPr lang="pt-BR" altLang="pt-BR" sz="2000"/>
              </a:p>
            </p:txBody>
          </p:sp>
          <p:sp>
            <p:nvSpPr>
              <p:cNvPr id="21944" name="Rectangle 19">
                <a:extLst>
                  <a:ext uri="{FF2B5EF4-FFF2-40B4-BE49-F238E27FC236}">
                    <a16:creationId xmlns:a16="http://schemas.microsoft.com/office/drawing/2014/main" id="{71A63246-8066-A14F-94C4-6C30D34261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6" y="2585"/>
                <a:ext cx="717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945" name="Rectangle 20">
                <a:extLst>
                  <a:ext uri="{FF2B5EF4-FFF2-40B4-BE49-F238E27FC236}">
                    <a16:creationId xmlns:a16="http://schemas.microsoft.com/office/drawing/2014/main" id="{EB8EB70A-6ACC-BF45-AF90-59020D2C05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8" y="2596"/>
                <a:ext cx="423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Lista dos</a:t>
                </a:r>
                <a:endParaRPr lang="pt-BR" altLang="pt-BR" sz="2000"/>
              </a:p>
            </p:txBody>
          </p:sp>
          <p:sp>
            <p:nvSpPr>
              <p:cNvPr id="21946" name="Rectangle 21">
                <a:extLst>
                  <a:ext uri="{FF2B5EF4-FFF2-40B4-BE49-F238E27FC236}">
                    <a16:creationId xmlns:a16="http://schemas.microsoft.com/office/drawing/2014/main" id="{BCEA337B-72F0-104F-BCD4-98F87A3495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55" y="2596"/>
                <a:ext cx="28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SSCs</a:t>
                </a:r>
                <a:endParaRPr lang="pt-BR" altLang="pt-BR" sz="2000"/>
              </a:p>
            </p:txBody>
          </p:sp>
          <p:sp>
            <p:nvSpPr>
              <p:cNvPr id="21947" name="Rectangle 22">
                <a:extLst>
                  <a:ext uri="{FF2B5EF4-FFF2-40B4-BE49-F238E27FC236}">
                    <a16:creationId xmlns:a16="http://schemas.microsoft.com/office/drawing/2014/main" id="{AD715422-E53F-EC4C-A3CF-F5C183F30E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3" y="2710"/>
                <a:ext cx="44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principais</a:t>
                </a:r>
                <a:endParaRPr lang="pt-BR" altLang="pt-BR" sz="2000"/>
              </a:p>
            </p:txBody>
          </p:sp>
          <p:sp>
            <p:nvSpPr>
              <p:cNvPr id="21948" name="Rectangle 23">
                <a:extLst>
                  <a:ext uri="{FF2B5EF4-FFF2-40B4-BE49-F238E27FC236}">
                    <a16:creationId xmlns:a16="http://schemas.microsoft.com/office/drawing/2014/main" id="{00B028F0-559E-EA40-8E8E-38FCE9FC2F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1" y="3390"/>
                <a:ext cx="1004" cy="122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949" name="Rectangle 24">
                <a:extLst>
                  <a:ext uri="{FF2B5EF4-FFF2-40B4-BE49-F238E27FC236}">
                    <a16:creationId xmlns:a16="http://schemas.microsoft.com/office/drawing/2014/main" id="{8E23A171-682C-1648-BC86-DF73E41251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9" y="3401"/>
                <a:ext cx="98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Arquitetura do produto</a:t>
                </a:r>
                <a:endParaRPr lang="pt-BR" altLang="pt-BR" sz="2000"/>
              </a:p>
            </p:txBody>
          </p:sp>
          <p:sp>
            <p:nvSpPr>
              <p:cNvPr id="21950" name="Rectangle 25">
                <a:extLst>
                  <a:ext uri="{FF2B5EF4-FFF2-40B4-BE49-F238E27FC236}">
                    <a16:creationId xmlns:a16="http://schemas.microsoft.com/office/drawing/2014/main" id="{5EFA2ABD-4022-9140-A69E-493BB140FC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1" y="3059"/>
                <a:ext cx="526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951" name="Rectangle 26">
                <a:extLst>
                  <a:ext uri="{FF2B5EF4-FFF2-40B4-BE49-F238E27FC236}">
                    <a16:creationId xmlns:a16="http://schemas.microsoft.com/office/drawing/2014/main" id="{094F6F90-D989-9143-9BA1-2AFC661CF9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2" y="3070"/>
                <a:ext cx="51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Modelo do </a:t>
                </a:r>
                <a:endParaRPr lang="pt-BR" altLang="pt-BR" sz="2000"/>
              </a:p>
            </p:txBody>
          </p:sp>
          <p:sp>
            <p:nvSpPr>
              <p:cNvPr id="21952" name="Rectangle 27">
                <a:extLst>
                  <a:ext uri="{FF2B5EF4-FFF2-40B4-BE49-F238E27FC236}">
                    <a16:creationId xmlns:a16="http://schemas.microsoft.com/office/drawing/2014/main" id="{E7A27138-BC7C-C54C-A1DD-A66BEF74C7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3" y="3184"/>
                <a:ext cx="36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produto</a:t>
                </a:r>
                <a:endParaRPr lang="pt-BR" altLang="pt-BR" sz="2000"/>
              </a:p>
            </p:txBody>
          </p:sp>
          <p:sp>
            <p:nvSpPr>
              <p:cNvPr id="21953" name="Rectangle 28">
                <a:extLst>
                  <a:ext uri="{FF2B5EF4-FFF2-40B4-BE49-F238E27FC236}">
                    <a16:creationId xmlns:a16="http://schemas.microsoft.com/office/drawing/2014/main" id="{DED640B9-0C41-9944-BD7B-AB11BF9517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3" y="3438"/>
                <a:ext cx="717" cy="236"/>
              </a:xfrm>
              <a:prstGeom prst="rect">
                <a:avLst/>
              </a:prstGeom>
              <a:solidFill>
                <a:srgbClr val="FFCC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954" name="Rectangle 29">
                <a:extLst>
                  <a:ext uri="{FF2B5EF4-FFF2-40B4-BE49-F238E27FC236}">
                    <a16:creationId xmlns:a16="http://schemas.microsoft.com/office/drawing/2014/main" id="{A89CA34B-CAED-184D-9460-B2AABEAFC8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5" y="3449"/>
                <a:ext cx="68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Concepção do </a:t>
                </a:r>
                <a:endParaRPr lang="pt-BR" altLang="pt-BR" sz="2000"/>
              </a:p>
            </p:txBody>
          </p:sp>
          <p:sp>
            <p:nvSpPr>
              <p:cNvPr id="21955" name="Rectangle 30">
                <a:extLst>
                  <a:ext uri="{FF2B5EF4-FFF2-40B4-BE49-F238E27FC236}">
                    <a16:creationId xmlns:a16="http://schemas.microsoft.com/office/drawing/2014/main" id="{0FF5CBAA-2965-6044-AC54-3C0B525799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40" y="3563"/>
                <a:ext cx="41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produto  </a:t>
                </a:r>
                <a:endParaRPr lang="pt-BR" altLang="pt-BR" sz="2000"/>
              </a:p>
            </p:txBody>
          </p:sp>
          <p:sp>
            <p:nvSpPr>
              <p:cNvPr id="21956" name="Rectangle 31">
                <a:extLst>
                  <a:ext uri="{FF2B5EF4-FFF2-40B4-BE49-F238E27FC236}">
                    <a16:creationId xmlns:a16="http://schemas.microsoft.com/office/drawing/2014/main" id="{9FFC4079-63A7-514F-89EF-42746A35B2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0" y="3059"/>
                <a:ext cx="382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957" name="Rectangle 32">
                <a:extLst>
                  <a:ext uri="{FF2B5EF4-FFF2-40B4-BE49-F238E27FC236}">
                    <a16:creationId xmlns:a16="http://schemas.microsoft.com/office/drawing/2014/main" id="{ED34DA32-3B68-2740-BFEB-A3EA7B1AF1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62" y="3070"/>
                <a:ext cx="28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BOM </a:t>
                </a:r>
                <a:endParaRPr lang="pt-BR" altLang="pt-BR" sz="2000"/>
              </a:p>
            </p:txBody>
          </p:sp>
          <p:sp>
            <p:nvSpPr>
              <p:cNvPr id="21958" name="Rectangle 33">
                <a:extLst>
                  <a:ext uri="{FF2B5EF4-FFF2-40B4-BE49-F238E27FC236}">
                    <a16:creationId xmlns:a16="http://schemas.microsoft.com/office/drawing/2014/main" id="{D91CF10F-B6C7-254B-AF3A-D23E0C27B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2" y="3184"/>
                <a:ext cx="30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inicial </a:t>
                </a:r>
                <a:endParaRPr lang="pt-BR" altLang="pt-BR" sz="2000"/>
              </a:p>
            </p:txBody>
          </p:sp>
          <p:sp>
            <p:nvSpPr>
              <p:cNvPr id="21959" name="Rectangle 34">
                <a:extLst>
                  <a:ext uri="{FF2B5EF4-FFF2-40B4-BE49-F238E27FC236}">
                    <a16:creationId xmlns:a16="http://schemas.microsoft.com/office/drawing/2014/main" id="{1BB82A4C-73AA-9143-913D-48E807938E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7" y="3059"/>
                <a:ext cx="499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960" name="Rectangle 35">
                <a:extLst>
                  <a:ext uri="{FF2B5EF4-FFF2-40B4-BE49-F238E27FC236}">
                    <a16:creationId xmlns:a16="http://schemas.microsoft.com/office/drawing/2014/main" id="{998449B9-1195-CE4D-B94A-EA84ABCC18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2" y="3070"/>
                <a:ext cx="49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Desenhos </a:t>
                </a:r>
                <a:endParaRPr lang="pt-BR" altLang="pt-BR" sz="2000"/>
              </a:p>
            </p:txBody>
          </p:sp>
          <p:sp>
            <p:nvSpPr>
              <p:cNvPr id="21961" name="Rectangle 36">
                <a:extLst>
                  <a:ext uri="{FF2B5EF4-FFF2-40B4-BE49-F238E27FC236}">
                    <a16:creationId xmlns:a16="http://schemas.microsoft.com/office/drawing/2014/main" id="{49CDE020-D2A5-B94F-A33C-380A342297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33" y="3184"/>
                <a:ext cx="32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iniciais</a:t>
                </a:r>
                <a:endParaRPr lang="pt-BR" altLang="pt-BR" sz="2000"/>
              </a:p>
            </p:txBody>
          </p:sp>
          <p:grpSp>
            <p:nvGrpSpPr>
              <p:cNvPr id="21962" name="Group 76">
                <a:extLst>
                  <a:ext uri="{FF2B5EF4-FFF2-40B4-BE49-F238E27FC236}">
                    <a16:creationId xmlns:a16="http://schemas.microsoft.com/office/drawing/2014/main" id="{2EBB4460-66A1-FD4D-99AE-E6811866492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70" y="1810"/>
                <a:ext cx="2005" cy="1144"/>
                <a:chOff x="3570" y="1810"/>
                <a:chExt cx="2005" cy="1144"/>
              </a:xfrm>
            </p:grpSpPr>
            <p:sp>
              <p:nvSpPr>
                <p:cNvPr id="22043" name="Freeform 37">
                  <a:extLst>
                    <a:ext uri="{FF2B5EF4-FFF2-40B4-BE49-F238E27FC236}">
                      <a16:creationId xmlns:a16="http://schemas.microsoft.com/office/drawing/2014/main" id="{A27FB208-D53C-4C42-979C-70E087029D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70" y="1810"/>
                  <a:ext cx="2005" cy="1053"/>
                </a:xfrm>
                <a:custGeom>
                  <a:avLst/>
                  <a:gdLst>
                    <a:gd name="T0" fmla="*/ 1 w 4008"/>
                    <a:gd name="T1" fmla="*/ 0 h 2107"/>
                    <a:gd name="T2" fmla="*/ 1 w 4008"/>
                    <a:gd name="T3" fmla="*/ 0 h 2107"/>
                    <a:gd name="T4" fmla="*/ 1 w 4008"/>
                    <a:gd name="T5" fmla="*/ 0 h 2107"/>
                    <a:gd name="T6" fmla="*/ 1 w 4008"/>
                    <a:gd name="T7" fmla="*/ 0 h 2107"/>
                    <a:gd name="T8" fmla="*/ 1 w 4008"/>
                    <a:gd name="T9" fmla="*/ 0 h 2107"/>
                    <a:gd name="T10" fmla="*/ 1 w 4008"/>
                    <a:gd name="T11" fmla="*/ 0 h 2107"/>
                    <a:gd name="T12" fmla="*/ 1 w 4008"/>
                    <a:gd name="T13" fmla="*/ 0 h 2107"/>
                    <a:gd name="T14" fmla="*/ 1 w 4008"/>
                    <a:gd name="T15" fmla="*/ 0 h 2107"/>
                    <a:gd name="T16" fmla="*/ 0 w 4008"/>
                    <a:gd name="T17" fmla="*/ 0 h 2107"/>
                    <a:gd name="T18" fmla="*/ 1 w 4008"/>
                    <a:gd name="T19" fmla="*/ 0 h 2107"/>
                    <a:gd name="T20" fmla="*/ 1 w 4008"/>
                    <a:gd name="T21" fmla="*/ 0 h 2107"/>
                    <a:gd name="T22" fmla="*/ 1 w 4008"/>
                    <a:gd name="T23" fmla="*/ 0 h 2107"/>
                    <a:gd name="T24" fmla="*/ 1 w 4008"/>
                    <a:gd name="T25" fmla="*/ 0 h 2107"/>
                    <a:gd name="T26" fmla="*/ 1 w 4008"/>
                    <a:gd name="T27" fmla="*/ 0 h 2107"/>
                    <a:gd name="T28" fmla="*/ 1 w 4008"/>
                    <a:gd name="T29" fmla="*/ 0 h 2107"/>
                    <a:gd name="T30" fmla="*/ 1 w 4008"/>
                    <a:gd name="T31" fmla="*/ 0 h 2107"/>
                    <a:gd name="T32" fmla="*/ 1 w 4008"/>
                    <a:gd name="T33" fmla="*/ 0 h 2107"/>
                    <a:gd name="T34" fmla="*/ 1 w 4008"/>
                    <a:gd name="T35" fmla="*/ 0 h 2107"/>
                    <a:gd name="T36" fmla="*/ 1 w 4008"/>
                    <a:gd name="T37" fmla="*/ 0 h 2107"/>
                    <a:gd name="T38" fmla="*/ 1 w 4008"/>
                    <a:gd name="T39" fmla="*/ 0 h 2107"/>
                    <a:gd name="T40" fmla="*/ 1 w 4008"/>
                    <a:gd name="T41" fmla="*/ 0 h 2107"/>
                    <a:gd name="T42" fmla="*/ 1 w 4008"/>
                    <a:gd name="T43" fmla="*/ 0 h 2107"/>
                    <a:gd name="T44" fmla="*/ 1 w 4008"/>
                    <a:gd name="T45" fmla="*/ 0 h 2107"/>
                    <a:gd name="T46" fmla="*/ 1 w 4008"/>
                    <a:gd name="T47" fmla="*/ 0 h 2107"/>
                    <a:gd name="T48" fmla="*/ 1 w 4008"/>
                    <a:gd name="T49" fmla="*/ 0 h 2107"/>
                    <a:gd name="T50" fmla="*/ 1 w 4008"/>
                    <a:gd name="T51" fmla="*/ 0 h 2107"/>
                    <a:gd name="T52" fmla="*/ 1 w 4008"/>
                    <a:gd name="T53" fmla="*/ 0 h 2107"/>
                    <a:gd name="T54" fmla="*/ 1 w 4008"/>
                    <a:gd name="T55" fmla="*/ 0 h 2107"/>
                    <a:gd name="T56" fmla="*/ 1 w 4008"/>
                    <a:gd name="T57" fmla="*/ 0 h 2107"/>
                    <a:gd name="T58" fmla="*/ 1 w 4008"/>
                    <a:gd name="T59" fmla="*/ 0 h 2107"/>
                    <a:gd name="T60" fmla="*/ 1 w 4008"/>
                    <a:gd name="T61" fmla="*/ 0 h 2107"/>
                    <a:gd name="T62" fmla="*/ 1 w 4008"/>
                    <a:gd name="T63" fmla="*/ 0 h 2107"/>
                    <a:gd name="T64" fmla="*/ 1 w 4008"/>
                    <a:gd name="T65" fmla="*/ 0 h 2107"/>
                    <a:gd name="T66" fmla="*/ 1 w 4008"/>
                    <a:gd name="T67" fmla="*/ 0 h 2107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w 4008"/>
                    <a:gd name="T103" fmla="*/ 0 h 2107"/>
                    <a:gd name="T104" fmla="*/ 4008 w 4008"/>
                    <a:gd name="T105" fmla="*/ 2107 h 2107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T102" t="T103" r="T104" b="T105"/>
                  <a:pathLst>
                    <a:path w="4008" h="2107">
                      <a:moveTo>
                        <a:pt x="350" y="0"/>
                      </a:moveTo>
                      <a:lnTo>
                        <a:pt x="314" y="2"/>
                      </a:lnTo>
                      <a:lnTo>
                        <a:pt x="280" y="8"/>
                      </a:lnTo>
                      <a:lnTo>
                        <a:pt x="246" y="16"/>
                      </a:lnTo>
                      <a:lnTo>
                        <a:pt x="215" y="28"/>
                      </a:lnTo>
                      <a:lnTo>
                        <a:pt x="183" y="42"/>
                      </a:lnTo>
                      <a:lnTo>
                        <a:pt x="155" y="60"/>
                      </a:lnTo>
                      <a:lnTo>
                        <a:pt x="127" y="80"/>
                      </a:lnTo>
                      <a:lnTo>
                        <a:pt x="103" y="104"/>
                      </a:lnTo>
                      <a:lnTo>
                        <a:pt x="79" y="128"/>
                      </a:lnTo>
                      <a:lnTo>
                        <a:pt x="59" y="156"/>
                      </a:lnTo>
                      <a:lnTo>
                        <a:pt x="42" y="184"/>
                      </a:lnTo>
                      <a:lnTo>
                        <a:pt x="28" y="216"/>
                      </a:lnTo>
                      <a:lnTo>
                        <a:pt x="16" y="248"/>
                      </a:lnTo>
                      <a:lnTo>
                        <a:pt x="8" y="282"/>
                      </a:lnTo>
                      <a:lnTo>
                        <a:pt x="2" y="316"/>
                      </a:lnTo>
                      <a:lnTo>
                        <a:pt x="0" y="352"/>
                      </a:lnTo>
                      <a:lnTo>
                        <a:pt x="0" y="1756"/>
                      </a:lnTo>
                      <a:lnTo>
                        <a:pt x="2" y="1792"/>
                      </a:lnTo>
                      <a:lnTo>
                        <a:pt x="8" y="1826"/>
                      </a:lnTo>
                      <a:lnTo>
                        <a:pt x="16" y="1860"/>
                      </a:lnTo>
                      <a:lnTo>
                        <a:pt x="28" y="1892"/>
                      </a:lnTo>
                      <a:lnTo>
                        <a:pt x="42" y="1924"/>
                      </a:lnTo>
                      <a:lnTo>
                        <a:pt x="59" y="1952"/>
                      </a:lnTo>
                      <a:lnTo>
                        <a:pt x="79" y="1980"/>
                      </a:lnTo>
                      <a:lnTo>
                        <a:pt x="103" y="2004"/>
                      </a:lnTo>
                      <a:lnTo>
                        <a:pt x="127" y="2028"/>
                      </a:lnTo>
                      <a:lnTo>
                        <a:pt x="155" y="2048"/>
                      </a:lnTo>
                      <a:lnTo>
                        <a:pt x="183" y="2066"/>
                      </a:lnTo>
                      <a:lnTo>
                        <a:pt x="215" y="2080"/>
                      </a:lnTo>
                      <a:lnTo>
                        <a:pt x="246" y="2091"/>
                      </a:lnTo>
                      <a:lnTo>
                        <a:pt x="280" y="2099"/>
                      </a:lnTo>
                      <a:lnTo>
                        <a:pt x="314" y="2105"/>
                      </a:lnTo>
                      <a:lnTo>
                        <a:pt x="350" y="2107"/>
                      </a:lnTo>
                      <a:lnTo>
                        <a:pt x="3658" y="2107"/>
                      </a:lnTo>
                      <a:lnTo>
                        <a:pt x="3694" y="2105"/>
                      </a:lnTo>
                      <a:lnTo>
                        <a:pt x="3728" y="2099"/>
                      </a:lnTo>
                      <a:lnTo>
                        <a:pt x="3762" y="2091"/>
                      </a:lnTo>
                      <a:lnTo>
                        <a:pt x="3793" y="2080"/>
                      </a:lnTo>
                      <a:lnTo>
                        <a:pt x="3825" y="2066"/>
                      </a:lnTo>
                      <a:lnTo>
                        <a:pt x="3853" y="2048"/>
                      </a:lnTo>
                      <a:lnTo>
                        <a:pt x="3881" y="2028"/>
                      </a:lnTo>
                      <a:lnTo>
                        <a:pt x="3905" y="2004"/>
                      </a:lnTo>
                      <a:lnTo>
                        <a:pt x="3929" y="1980"/>
                      </a:lnTo>
                      <a:lnTo>
                        <a:pt x="3949" y="1952"/>
                      </a:lnTo>
                      <a:lnTo>
                        <a:pt x="3966" y="1924"/>
                      </a:lnTo>
                      <a:lnTo>
                        <a:pt x="3980" y="1892"/>
                      </a:lnTo>
                      <a:lnTo>
                        <a:pt x="3992" y="1860"/>
                      </a:lnTo>
                      <a:lnTo>
                        <a:pt x="4000" y="1826"/>
                      </a:lnTo>
                      <a:lnTo>
                        <a:pt x="4006" y="1792"/>
                      </a:lnTo>
                      <a:lnTo>
                        <a:pt x="4008" y="1756"/>
                      </a:lnTo>
                      <a:lnTo>
                        <a:pt x="4008" y="352"/>
                      </a:lnTo>
                      <a:lnTo>
                        <a:pt x="4006" y="316"/>
                      </a:lnTo>
                      <a:lnTo>
                        <a:pt x="4000" y="282"/>
                      </a:lnTo>
                      <a:lnTo>
                        <a:pt x="3992" y="248"/>
                      </a:lnTo>
                      <a:lnTo>
                        <a:pt x="3980" y="216"/>
                      </a:lnTo>
                      <a:lnTo>
                        <a:pt x="3966" y="184"/>
                      </a:lnTo>
                      <a:lnTo>
                        <a:pt x="3949" y="156"/>
                      </a:lnTo>
                      <a:lnTo>
                        <a:pt x="3929" y="128"/>
                      </a:lnTo>
                      <a:lnTo>
                        <a:pt x="3905" y="104"/>
                      </a:lnTo>
                      <a:lnTo>
                        <a:pt x="3881" y="80"/>
                      </a:lnTo>
                      <a:lnTo>
                        <a:pt x="3853" y="60"/>
                      </a:lnTo>
                      <a:lnTo>
                        <a:pt x="3825" y="42"/>
                      </a:lnTo>
                      <a:lnTo>
                        <a:pt x="3793" y="28"/>
                      </a:lnTo>
                      <a:lnTo>
                        <a:pt x="3762" y="16"/>
                      </a:lnTo>
                      <a:lnTo>
                        <a:pt x="3728" y="8"/>
                      </a:lnTo>
                      <a:lnTo>
                        <a:pt x="3694" y="2"/>
                      </a:lnTo>
                      <a:lnTo>
                        <a:pt x="3658" y="0"/>
                      </a:lnTo>
                      <a:lnTo>
                        <a:pt x="35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grpSp>
              <p:nvGrpSpPr>
                <p:cNvPr id="22044" name="Group 55">
                  <a:extLst>
                    <a:ext uri="{FF2B5EF4-FFF2-40B4-BE49-F238E27FC236}">
                      <a16:creationId xmlns:a16="http://schemas.microsoft.com/office/drawing/2014/main" id="{CC779E47-E667-7644-AF68-278B1AAAC6A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18" y="1858"/>
                  <a:ext cx="907" cy="924"/>
                  <a:chOff x="3618" y="1858"/>
                  <a:chExt cx="907" cy="924"/>
                </a:xfrm>
              </p:grpSpPr>
              <p:sp>
                <p:nvSpPr>
                  <p:cNvPr id="22065" name="Freeform 38">
                    <a:extLst>
                      <a:ext uri="{FF2B5EF4-FFF2-40B4-BE49-F238E27FC236}">
                        <a16:creationId xmlns:a16="http://schemas.microsoft.com/office/drawing/2014/main" id="{FBC3B25F-097B-2449-8544-7247B9EC729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18" y="1858"/>
                    <a:ext cx="907" cy="814"/>
                  </a:xfrm>
                  <a:custGeom>
                    <a:avLst/>
                    <a:gdLst>
                      <a:gd name="T0" fmla="*/ 1 w 1814"/>
                      <a:gd name="T1" fmla="*/ 1 h 1628"/>
                      <a:gd name="T2" fmla="*/ 1 w 1814"/>
                      <a:gd name="T3" fmla="*/ 1 h 1628"/>
                      <a:gd name="T4" fmla="*/ 1 w 1814"/>
                      <a:gd name="T5" fmla="*/ 1 h 1628"/>
                      <a:gd name="T6" fmla="*/ 1 w 1814"/>
                      <a:gd name="T7" fmla="*/ 1 h 1628"/>
                      <a:gd name="T8" fmla="*/ 1 w 1814"/>
                      <a:gd name="T9" fmla="*/ 1 h 1628"/>
                      <a:gd name="T10" fmla="*/ 1 w 1814"/>
                      <a:gd name="T11" fmla="*/ 1 h 1628"/>
                      <a:gd name="T12" fmla="*/ 1 w 1814"/>
                      <a:gd name="T13" fmla="*/ 1 h 1628"/>
                      <a:gd name="T14" fmla="*/ 1 w 1814"/>
                      <a:gd name="T15" fmla="*/ 1 h 1628"/>
                      <a:gd name="T16" fmla="*/ 0 w 1814"/>
                      <a:gd name="T17" fmla="*/ 1 h 1628"/>
                      <a:gd name="T18" fmla="*/ 1 w 1814"/>
                      <a:gd name="T19" fmla="*/ 1 h 1628"/>
                      <a:gd name="T20" fmla="*/ 1 w 1814"/>
                      <a:gd name="T21" fmla="*/ 1 h 1628"/>
                      <a:gd name="T22" fmla="*/ 1 w 1814"/>
                      <a:gd name="T23" fmla="*/ 1 h 1628"/>
                      <a:gd name="T24" fmla="*/ 1 w 1814"/>
                      <a:gd name="T25" fmla="*/ 1 h 1628"/>
                      <a:gd name="T26" fmla="*/ 1 w 1814"/>
                      <a:gd name="T27" fmla="*/ 1 h 1628"/>
                      <a:gd name="T28" fmla="*/ 1 w 1814"/>
                      <a:gd name="T29" fmla="*/ 1 h 1628"/>
                      <a:gd name="T30" fmla="*/ 1 w 1814"/>
                      <a:gd name="T31" fmla="*/ 1 h 1628"/>
                      <a:gd name="T32" fmla="*/ 1 w 1814"/>
                      <a:gd name="T33" fmla="*/ 1 h 1628"/>
                      <a:gd name="T34" fmla="*/ 1 w 1814"/>
                      <a:gd name="T35" fmla="*/ 1 h 1628"/>
                      <a:gd name="T36" fmla="*/ 1 w 1814"/>
                      <a:gd name="T37" fmla="*/ 1 h 1628"/>
                      <a:gd name="T38" fmla="*/ 1 w 1814"/>
                      <a:gd name="T39" fmla="*/ 1 h 1628"/>
                      <a:gd name="T40" fmla="*/ 1 w 1814"/>
                      <a:gd name="T41" fmla="*/ 1 h 1628"/>
                      <a:gd name="T42" fmla="*/ 1 w 1814"/>
                      <a:gd name="T43" fmla="*/ 1 h 1628"/>
                      <a:gd name="T44" fmla="*/ 1 w 1814"/>
                      <a:gd name="T45" fmla="*/ 1 h 1628"/>
                      <a:gd name="T46" fmla="*/ 1 w 1814"/>
                      <a:gd name="T47" fmla="*/ 1 h 1628"/>
                      <a:gd name="T48" fmla="*/ 1 w 1814"/>
                      <a:gd name="T49" fmla="*/ 1 h 1628"/>
                      <a:gd name="T50" fmla="*/ 1 w 1814"/>
                      <a:gd name="T51" fmla="*/ 1 h 1628"/>
                      <a:gd name="T52" fmla="*/ 1 w 1814"/>
                      <a:gd name="T53" fmla="*/ 1 h 1628"/>
                      <a:gd name="T54" fmla="*/ 1 w 1814"/>
                      <a:gd name="T55" fmla="*/ 1 h 1628"/>
                      <a:gd name="T56" fmla="*/ 1 w 1814"/>
                      <a:gd name="T57" fmla="*/ 1 h 1628"/>
                      <a:gd name="T58" fmla="*/ 1 w 1814"/>
                      <a:gd name="T59" fmla="*/ 1 h 1628"/>
                      <a:gd name="T60" fmla="*/ 1 w 1814"/>
                      <a:gd name="T61" fmla="*/ 1 h 1628"/>
                      <a:gd name="T62" fmla="*/ 1 w 1814"/>
                      <a:gd name="T63" fmla="*/ 1 h 1628"/>
                      <a:gd name="T64" fmla="*/ 1 w 1814"/>
                      <a:gd name="T65" fmla="*/ 1 h 1628"/>
                      <a:gd name="T66" fmla="*/ 1 w 1814"/>
                      <a:gd name="T67" fmla="*/ 0 h 1628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w 1814"/>
                      <a:gd name="T103" fmla="*/ 0 h 1628"/>
                      <a:gd name="T104" fmla="*/ 1814 w 1814"/>
                      <a:gd name="T105" fmla="*/ 1628 h 1628"/>
                    </a:gdLst>
                    <a:ahLst/>
                    <a:cxnLst>
                      <a:cxn ang="T68">
                        <a:pos x="T0" y="T1"/>
                      </a:cxn>
                      <a:cxn ang="T69">
                        <a:pos x="T2" y="T3"/>
                      </a:cxn>
                      <a:cxn ang="T70">
                        <a:pos x="T4" y="T5"/>
                      </a:cxn>
                      <a:cxn ang="T71">
                        <a:pos x="T6" y="T7"/>
                      </a:cxn>
                      <a:cxn ang="T72">
                        <a:pos x="T8" y="T9"/>
                      </a:cxn>
                      <a:cxn ang="T73">
                        <a:pos x="T10" y="T11"/>
                      </a:cxn>
                      <a:cxn ang="T74">
                        <a:pos x="T12" y="T13"/>
                      </a:cxn>
                      <a:cxn ang="T75">
                        <a:pos x="T14" y="T15"/>
                      </a:cxn>
                      <a:cxn ang="T76">
                        <a:pos x="T16" y="T17"/>
                      </a:cxn>
                      <a:cxn ang="T77">
                        <a:pos x="T18" y="T19"/>
                      </a:cxn>
                      <a:cxn ang="T78">
                        <a:pos x="T20" y="T21"/>
                      </a:cxn>
                      <a:cxn ang="T79">
                        <a:pos x="T22" y="T23"/>
                      </a:cxn>
                      <a:cxn ang="T80">
                        <a:pos x="T24" y="T25"/>
                      </a:cxn>
                      <a:cxn ang="T81">
                        <a:pos x="T26" y="T27"/>
                      </a:cxn>
                      <a:cxn ang="T82">
                        <a:pos x="T28" y="T29"/>
                      </a:cxn>
                      <a:cxn ang="T83">
                        <a:pos x="T30" y="T31"/>
                      </a:cxn>
                      <a:cxn ang="T84">
                        <a:pos x="T32" y="T33"/>
                      </a:cxn>
                      <a:cxn ang="T85">
                        <a:pos x="T34" y="T35"/>
                      </a:cxn>
                      <a:cxn ang="T86">
                        <a:pos x="T36" y="T37"/>
                      </a:cxn>
                      <a:cxn ang="T87">
                        <a:pos x="T38" y="T39"/>
                      </a:cxn>
                      <a:cxn ang="T88">
                        <a:pos x="T40" y="T41"/>
                      </a:cxn>
                      <a:cxn ang="T89">
                        <a:pos x="T42" y="T43"/>
                      </a:cxn>
                      <a:cxn ang="T90">
                        <a:pos x="T44" y="T45"/>
                      </a:cxn>
                      <a:cxn ang="T91">
                        <a:pos x="T46" y="T47"/>
                      </a:cxn>
                      <a:cxn ang="T92">
                        <a:pos x="T48" y="T49"/>
                      </a:cxn>
                      <a:cxn ang="T93">
                        <a:pos x="T50" y="T51"/>
                      </a:cxn>
                      <a:cxn ang="T94">
                        <a:pos x="T52" y="T53"/>
                      </a:cxn>
                      <a:cxn ang="T95">
                        <a:pos x="T54" y="T55"/>
                      </a:cxn>
                      <a:cxn ang="T96">
                        <a:pos x="T56" y="T57"/>
                      </a:cxn>
                      <a:cxn ang="T97">
                        <a:pos x="T58" y="T59"/>
                      </a:cxn>
                      <a:cxn ang="T98">
                        <a:pos x="T60" y="T61"/>
                      </a:cxn>
                      <a:cxn ang="T99">
                        <a:pos x="T62" y="T63"/>
                      </a:cxn>
                      <a:cxn ang="T100">
                        <a:pos x="T64" y="T65"/>
                      </a:cxn>
                      <a:cxn ang="T101">
                        <a:pos x="T66" y="T67"/>
                      </a:cxn>
                    </a:cxnLst>
                    <a:rect l="T102" t="T103" r="T104" b="T105"/>
                    <a:pathLst>
                      <a:path w="1814" h="1628">
                        <a:moveTo>
                          <a:pt x="271" y="0"/>
                        </a:moveTo>
                        <a:lnTo>
                          <a:pt x="243" y="2"/>
                        </a:lnTo>
                        <a:lnTo>
                          <a:pt x="217" y="6"/>
                        </a:lnTo>
                        <a:lnTo>
                          <a:pt x="191" y="12"/>
                        </a:lnTo>
                        <a:lnTo>
                          <a:pt x="165" y="22"/>
                        </a:lnTo>
                        <a:lnTo>
                          <a:pt x="141" y="32"/>
                        </a:lnTo>
                        <a:lnTo>
                          <a:pt x="120" y="46"/>
                        </a:lnTo>
                        <a:lnTo>
                          <a:pt x="100" y="62"/>
                        </a:lnTo>
                        <a:lnTo>
                          <a:pt x="80" y="80"/>
                        </a:lnTo>
                        <a:lnTo>
                          <a:pt x="62" y="100"/>
                        </a:lnTo>
                        <a:lnTo>
                          <a:pt x="46" y="120"/>
                        </a:lnTo>
                        <a:lnTo>
                          <a:pt x="32" y="142"/>
                        </a:lnTo>
                        <a:lnTo>
                          <a:pt x="22" y="166"/>
                        </a:lnTo>
                        <a:lnTo>
                          <a:pt x="12" y="192"/>
                        </a:lnTo>
                        <a:lnTo>
                          <a:pt x="6" y="218"/>
                        </a:lnTo>
                        <a:lnTo>
                          <a:pt x="2" y="244"/>
                        </a:lnTo>
                        <a:lnTo>
                          <a:pt x="0" y="271"/>
                        </a:lnTo>
                        <a:lnTo>
                          <a:pt x="0" y="1357"/>
                        </a:lnTo>
                        <a:lnTo>
                          <a:pt x="2" y="1385"/>
                        </a:lnTo>
                        <a:lnTo>
                          <a:pt x="6" y="1411"/>
                        </a:lnTo>
                        <a:lnTo>
                          <a:pt x="12" y="1437"/>
                        </a:lnTo>
                        <a:lnTo>
                          <a:pt x="22" y="1463"/>
                        </a:lnTo>
                        <a:lnTo>
                          <a:pt x="32" y="1487"/>
                        </a:lnTo>
                        <a:lnTo>
                          <a:pt x="46" y="1509"/>
                        </a:lnTo>
                        <a:lnTo>
                          <a:pt x="62" y="1529"/>
                        </a:lnTo>
                        <a:lnTo>
                          <a:pt x="80" y="1549"/>
                        </a:lnTo>
                        <a:lnTo>
                          <a:pt x="100" y="1566"/>
                        </a:lnTo>
                        <a:lnTo>
                          <a:pt x="120" y="1582"/>
                        </a:lnTo>
                        <a:lnTo>
                          <a:pt x="141" y="1596"/>
                        </a:lnTo>
                        <a:lnTo>
                          <a:pt x="165" y="1606"/>
                        </a:lnTo>
                        <a:lnTo>
                          <a:pt x="191" y="1616"/>
                        </a:lnTo>
                        <a:lnTo>
                          <a:pt x="217" y="1622"/>
                        </a:lnTo>
                        <a:lnTo>
                          <a:pt x="243" y="1626"/>
                        </a:lnTo>
                        <a:lnTo>
                          <a:pt x="271" y="1628"/>
                        </a:lnTo>
                        <a:lnTo>
                          <a:pt x="1543" y="1628"/>
                        </a:lnTo>
                        <a:lnTo>
                          <a:pt x="1571" y="1626"/>
                        </a:lnTo>
                        <a:lnTo>
                          <a:pt x="1597" y="1622"/>
                        </a:lnTo>
                        <a:lnTo>
                          <a:pt x="1623" y="1616"/>
                        </a:lnTo>
                        <a:lnTo>
                          <a:pt x="1649" y="1606"/>
                        </a:lnTo>
                        <a:lnTo>
                          <a:pt x="1672" y="1596"/>
                        </a:lnTo>
                        <a:lnTo>
                          <a:pt x="1694" y="1582"/>
                        </a:lnTo>
                        <a:lnTo>
                          <a:pt x="1714" y="1566"/>
                        </a:lnTo>
                        <a:lnTo>
                          <a:pt x="1734" y="1549"/>
                        </a:lnTo>
                        <a:lnTo>
                          <a:pt x="1752" y="1529"/>
                        </a:lnTo>
                        <a:lnTo>
                          <a:pt x="1768" y="1509"/>
                        </a:lnTo>
                        <a:lnTo>
                          <a:pt x="1782" y="1487"/>
                        </a:lnTo>
                        <a:lnTo>
                          <a:pt x="1792" y="1463"/>
                        </a:lnTo>
                        <a:lnTo>
                          <a:pt x="1802" y="1437"/>
                        </a:lnTo>
                        <a:lnTo>
                          <a:pt x="1808" y="1411"/>
                        </a:lnTo>
                        <a:lnTo>
                          <a:pt x="1812" y="1385"/>
                        </a:lnTo>
                        <a:lnTo>
                          <a:pt x="1814" y="1357"/>
                        </a:lnTo>
                        <a:lnTo>
                          <a:pt x="1814" y="271"/>
                        </a:lnTo>
                        <a:lnTo>
                          <a:pt x="1812" y="244"/>
                        </a:lnTo>
                        <a:lnTo>
                          <a:pt x="1808" y="218"/>
                        </a:lnTo>
                        <a:lnTo>
                          <a:pt x="1802" y="192"/>
                        </a:lnTo>
                        <a:lnTo>
                          <a:pt x="1792" y="166"/>
                        </a:lnTo>
                        <a:lnTo>
                          <a:pt x="1782" y="142"/>
                        </a:lnTo>
                        <a:lnTo>
                          <a:pt x="1768" y="120"/>
                        </a:lnTo>
                        <a:lnTo>
                          <a:pt x="1752" y="100"/>
                        </a:lnTo>
                        <a:lnTo>
                          <a:pt x="1734" y="80"/>
                        </a:lnTo>
                        <a:lnTo>
                          <a:pt x="1714" y="62"/>
                        </a:lnTo>
                        <a:lnTo>
                          <a:pt x="1694" y="46"/>
                        </a:lnTo>
                        <a:lnTo>
                          <a:pt x="1672" y="32"/>
                        </a:lnTo>
                        <a:lnTo>
                          <a:pt x="1649" y="22"/>
                        </a:lnTo>
                        <a:lnTo>
                          <a:pt x="1623" y="12"/>
                        </a:lnTo>
                        <a:lnTo>
                          <a:pt x="1597" y="6"/>
                        </a:lnTo>
                        <a:lnTo>
                          <a:pt x="1571" y="2"/>
                        </a:lnTo>
                        <a:lnTo>
                          <a:pt x="1543" y="0"/>
                        </a:lnTo>
                        <a:lnTo>
                          <a:pt x="271" y="0"/>
                        </a:lnTo>
                        <a:close/>
                      </a:path>
                    </a:pathLst>
                  </a:custGeom>
                  <a:solidFill>
                    <a:srgbClr val="EAEAEA"/>
                  </a:solidFill>
                  <a:ln w="6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grpSp>
                <p:nvGrpSpPr>
                  <p:cNvPr id="22066" name="Group 51">
                    <a:extLst>
                      <a:ext uri="{FF2B5EF4-FFF2-40B4-BE49-F238E27FC236}">
                        <a16:creationId xmlns:a16="http://schemas.microsoft.com/office/drawing/2014/main" id="{876B77AF-88BB-9848-B0E6-D3197A91074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666" y="1953"/>
                    <a:ext cx="797" cy="464"/>
                    <a:chOff x="3666" y="1953"/>
                    <a:chExt cx="797" cy="464"/>
                  </a:xfrm>
                </p:grpSpPr>
                <p:sp>
                  <p:nvSpPr>
                    <p:cNvPr id="22070" name="Rectangle 39">
                      <a:extLst>
                        <a:ext uri="{FF2B5EF4-FFF2-40B4-BE49-F238E27FC236}">
                          <a16:creationId xmlns:a16="http://schemas.microsoft.com/office/drawing/2014/main" id="{784468EB-B629-504E-8CE5-5A2E933C119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57" y="1953"/>
                      <a:ext cx="573" cy="352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pt-BR" sz="2000"/>
                    </a:p>
                  </p:txBody>
                </p:sp>
                <p:sp>
                  <p:nvSpPr>
                    <p:cNvPr id="22071" name="Rectangle 40">
                      <a:extLst>
                        <a:ext uri="{FF2B5EF4-FFF2-40B4-BE49-F238E27FC236}">
                          <a16:creationId xmlns:a16="http://schemas.microsoft.com/office/drawing/2014/main" id="{D635D96A-E5AB-AB43-80ED-BEAAD9DB64D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92" y="1964"/>
                      <a:ext cx="571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Princípio de 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2072" name="Rectangle 41">
                      <a:extLst>
                        <a:ext uri="{FF2B5EF4-FFF2-40B4-BE49-F238E27FC236}">
                          <a16:creationId xmlns:a16="http://schemas.microsoft.com/office/drawing/2014/main" id="{9CDDAE8F-1D07-DC49-948A-34B2A771ED2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79" y="2079"/>
                      <a:ext cx="396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solução 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2073" name="Rectangle 42">
                      <a:extLst>
                        <a:ext uri="{FF2B5EF4-FFF2-40B4-BE49-F238E27FC236}">
                          <a16:creationId xmlns:a16="http://schemas.microsoft.com/office/drawing/2014/main" id="{34A344CE-A344-0C46-B505-B2209B38EE3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46" y="2194"/>
                      <a:ext cx="435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individual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2074" name="Rectangle 43">
                      <a:extLst>
                        <a:ext uri="{FF2B5EF4-FFF2-40B4-BE49-F238E27FC236}">
                          <a16:creationId xmlns:a16="http://schemas.microsoft.com/office/drawing/2014/main" id="{A86C2475-A28E-364B-B711-CA604DF0FBE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61" y="2001"/>
                      <a:ext cx="574" cy="351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pt-BR" sz="2000"/>
                    </a:p>
                  </p:txBody>
                </p:sp>
                <p:sp>
                  <p:nvSpPr>
                    <p:cNvPr id="22075" name="Rectangle 44">
                      <a:extLst>
                        <a:ext uri="{FF2B5EF4-FFF2-40B4-BE49-F238E27FC236}">
                          <a16:creationId xmlns:a16="http://schemas.microsoft.com/office/drawing/2014/main" id="{E28EFCDA-202B-8542-8A1D-69032651CAC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12"/>
                      <a:ext cx="571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Princípio de 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2076" name="Rectangle 45">
                      <a:extLst>
                        <a:ext uri="{FF2B5EF4-FFF2-40B4-BE49-F238E27FC236}">
                          <a16:creationId xmlns:a16="http://schemas.microsoft.com/office/drawing/2014/main" id="{E65C01E5-C04E-C240-AD41-B345BCAF78F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84" y="2127"/>
                      <a:ext cx="396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solução 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2077" name="Rectangle 46">
                      <a:extLst>
                        <a:ext uri="{FF2B5EF4-FFF2-40B4-BE49-F238E27FC236}">
                          <a16:creationId xmlns:a16="http://schemas.microsoft.com/office/drawing/2014/main" id="{550F03DF-EC71-8C48-A4BF-71BAAA3E3F0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51" y="2241"/>
                      <a:ext cx="435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individual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2078" name="Rectangle 47">
                      <a:extLst>
                        <a:ext uri="{FF2B5EF4-FFF2-40B4-BE49-F238E27FC236}">
                          <a16:creationId xmlns:a16="http://schemas.microsoft.com/office/drawing/2014/main" id="{17DD84C0-4C63-894A-8292-5F89E3638B4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666" y="2049"/>
                      <a:ext cx="573" cy="351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pt-BR" sz="2000"/>
                    </a:p>
                  </p:txBody>
                </p:sp>
                <p:sp>
                  <p:nvSpPr>
                    <p:cNvPr id="22079" name="Rectangle 48">
                      <a:extLst>
                        <a:ext uri="{FF2B5EF4-FFF2-40B4-BE49-F238E27FC236}">
                          <a16:creationId xmlns:a16="http://schemas.microsoft.com/office/drawing/2014/main" id="{631C3817-366B-7B42-92C4-67510E5C540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01" y="2060"/>
                      <a:ext cx="571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Princípio de 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2080" name="Rectangle 49">
                      <a:extLst>
                        <a:ext uri="{FF2B5EF4-FFF2-40B4-BE49-F238E27FC236}">
                          <a16:creationId xmlns:a16="http://schemas.microsoft.com/office/drawing/2014/main" id="{5582C1F2-6942-0B46-9B10-B7C7494EE72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88" y="2175"/>
                      <a:ext cx="396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solução 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2081" name="Rectangle 50">
                      <a:extLst>
                        <a:ext uri="{FF2B5EF4-FFF2-40B4-BE49-F238E27FC236}">
                          <a16:creationId xmlns:a16="http://schemas.microsoft.com/office/drawing/2014/main" id="{DA71DEAC-CBB3-5B4D-9862-0C35862BB12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55" y="2289"/>
                      <a:ext cx="435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individual</a:t>
                      </a:r>
                      <a:endParaRPr lang="pt-BR" altLang="pt-BR" sz="2000"/>
                    </a:p>
                  </p:txBody>
                </p:sp>
              </p:grpSp>
              <p:sp>
                <p:nvSpPr>
                  <p:cNvPr id="22067" name="Rectangle 52">
                    <a:extLst>
                      <a:ext uri="{FF2B5EF4-FFF2-40B4-BE49-F238E27FC236}">
                        <a16:creationId xmlns:a16="http://schemas.microsoft.com/office/drawing/2014/main" id="{AF7D679B-21A8-9E42-A554-9990CC9E82C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61" y="2528"/>
                    <a:ext cx="587" cy="236"/>
                  </a:xfrm>
                  <a:prstGeom prst="rect">
                    <a:avLst/>
                  </a:prstGeom>
                  <a:solidFill>
                    <a:srgbClr val="FFFFFF"/>
                  </a:solidFill>
                  <a:ln w="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en-US" altLang="pt-BR" sz="2000"/>
                  </a:p>
                </p:txBody>
              </p:sp>
              <p:sp>
                <p:nvSpPr>
                  <p:cNvPr id="22068" name="Rectangle 53">
                    <a:extLst>
                      <a:ext uri="{FF2B5EF4-FFF2-40B4-BE49-F238E27FC236}">
                        <a16:creationId xmlns:a16="http://schemas.microsoft.com/office/drawing/2014/main" id="{816CC713-47BE-A64B-A07E-6E990515253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803" y="2539"/>
                    <a:ext cx="571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Princípio de </a:t>
                    </a:r>
                    <a:endParaRPr lang="pt-BR" altLang="pt-BR" sz="2000"/>
                  </a:p>
                </p:txBody>
              </p:sp>
              <p:sp>
                <p:nvSpPr>
                  <p:cNvPr id="22069" name="Rectangle 54">
                    <a:extLst>
                      <a:ext uri="{FF2B5EF4-FFF2-40B4-BE49-F238E27FC236}">
                        <a16:creationId xmlns:a16="http://schemas.microsoft.com/office/drawing/2014/main" id="{12A633F1-54B4-0248-A9CE-F57523FB3EB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87" y="2654"/>
                    <a:ext cx="576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solução total</a:t>
                    </a:r>
                    <a:endParaRPr lang="pt-BR" altLang="pt-BR" sz="2000"/>
                  </a:p>
                </p:txBody>
              </p:sp>
            </p:grpSp>
            <p:sp>
              <p:nvSpPr>
                <p:cNvPr id="22045" name="Rectangle 56">
                  <a:extLst>
                    <a:ext uri="{FF2B5EF4-FFF2-40B4-BE49-F238E27FC236}">
                      <a16:creationId xmlns:a16="http://schemas.microsoft.com/office/drawing/2014/main" id="{8E4C7DE4-63E4-154F-AD60-09E571D11F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04" y="2815"/>
                  <a:ext cx="1385" cy="122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22046" name="Rectangle 57">
                  <a:extLst>
                    <a:ext uri="{FF2B5EF4-FFF2-40B4-BE49-F238E27FC236}">
                      <a16:creationId xmlns:a16="http://schemas.microsoft.com/office/drawing/2014/main" id="{4D47D960-F280-3B44-9478-4D60697564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05" y="2826"/>
                  <a:ext cx="1024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Alternativas de solução</a:t>
                  </a:r>
                  <a:endParaRPr lang="pt-BR" altLang="pt-BR" sz="2000"/>
                </a:p>
              </p:txBody>
            </p:sp>
            <p:grpSp>
              <p:nvGrpSpPr>
                <p:cNvPr id="22047" name="Group 75">
                  <a:extLst>
                    <a:ext uri="{FF2B5EF4-FFF2-40B4-BE49-F238E27FC236}">
                      <a16:creationId xmlns:a16="http://schemas.microsoft.com/office/drawing/2014/main" id="{6FEA10AC-F263-004C-8325-CD3078D9078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20" y="1858"/>
                  <a:ext cx="907" cy="924"/>
                  <a:chOff x="4620" y="1858"/>
                  <a:chExt cx="907" cy="924"/>
                </a:xfrm>
              </p:grpSpPr>
              <p:sp>
                <p:nvSpPr>
                  <p:cNvPr id="22048" name="Freeform 58">
                    <a:extLst>
                      <a:ext uri="{FF2B5EF4-FFF2-40B4-BE49-F238E27FC236}">
                        <a16:creationId xmlns:a16="http://schemas.microsoft.com/office/drawing/2014/main" id="{6D7D62D0-7CAC-E847-95BF-E646844EA68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620" y="1858"/>
                    <a:ext cx="907" cy="814"/>
                  </a:xfrm>
                  <a:custGeom>
                    <a:avLst/>
                    <a:gdLst>
                      <a:gd name="T0" fmla="*/ 1 w 1814"/>
                      <a:gd name="T1" fmla="*/ 1 h 1628"/>
                      <a:gd name="T2" fmla="*/ 1 w 1814"/>
                      <a:gd name="T3" fmla="*/ 1 h 1628"/>
                      <a:gd name="T4" fmla="*/ 1 w 1814"/>
                      <a:gd name="T5" fmla="*/ 1 h 1628"/>
                      <a:gd name="T6" fmla="*/ 1 w 1814"/>
                      <a:gd name="T7" fmla="*/ 1 h 1628"/>
                      <a:gd name="T8" fmla="*/ 1 w 1814"/>
                      <a:gd name="T9" fmla="*/ 1 h 1628"/>
                      <a:gd name="T10" fmla="*/ 1 w 1814"/>
                      <a:gd name="T11" fmla="*/ 1 h 1628"/>
                      <a:gd name="T12" fmla="*/ 1 w 1814"/>
                      <a:gd name="T13" fmla="*/ 1 h 1628"/>
                      <a:gd name="T14" fmla="*/ 1 w 1814"/>
                      <a:gd name="T15" fmla="*/ 1 h 1628"/>
                      <a:gd name="T16" fmla="*/ 0 w 1814"/>
                      <a:gd name="T17" fmla="*/ 1 h 1628"/>
                      <a:gd name="T18" fmla="*/ 1 w 1814"/>
                      <a:gd name="T19" fmla="*/ 1 h 1628"/>
                      <a:gd name="T20" fmla="*/ 1 w 1814"/>
                      <a:gd name="T21" fmla="*/ 1 h 1628"/>
                      <a:gd name="T22" fmla="*/ 1 w 1814"/>
                      <a:gd name="T23" fmla="*/ 1 h 1628"/>
                      <a:gd name="T24" fmla="*/ 1 w 1814"/>
                      <a:gd name="T25" fmla="*/ 1 h 1628"/>
                      <a:gd name="T26" fmla="*/ 1 w 1814"/>
                      <a:gd name="T27" fmla="*/ 1 h 1628"/>
                      <a:gd name="T28" fmla="*/ 1 w 1814"/>
                      <a:gd name="T29" fmla="*/ 1 h 1628"/>
                      <a:gd name="T30" fmla="*/ 1 w 1814"/>
                      <a:gd name="T31" fmla="*/ 1 h 1628"/>
                      <a:gd name="T32" fmla="*/ 1 w 1814"/>
                      <a:gd name="T33" fmla="*/ 1 h 1628"/>
                      <a:gd name="T34" fmla="*/ 1 w 1814"/>
                      <a:gd name="T35" fmla="*/ 1 h 1628"/>
                      <a:gd name="T36" fmla="*/ 1 w 1814"/>
                      <a:gd name="T37" fmla="*/ 1 h 1628"/>
                      <a:gd name="T38" fmla="*/ 1 w 1814"/>
                      <a:gd name="T39" fmla="*/ 1 h 1628"/>
                      <a:gd name="T40" fmla="*/ 1 w 1814"/>
                      <a:gd name="T41" fmla="*/ 1 h 1628"/>
                      <a:gd name="T42" fmla="*/ 1 w 1814"/>
                      <a:gd name="T43" fmla="*/ 1 h 1628"/>
                      <a:gd name="T44" fmla="*/ 1 w 1814"/>
                      <a:gd name="T45" fmla="*/ 1 h 1628"/>
                      <a:gd name="T46" fmla="*/ 1 w 1814"/>
                      <a:gd name="T47" fmla="*/ 1 h 1628"/>
                      <a:gd name="T48" fmla="*/ 1 w 1814"/>
                      <a:gd name="T49" fmla="*/ 1 h 1628"/>
                      <a:gd name="T50" fmla="*/ 1 w 1814"/>
                      <a:gd name="T51" fmla="*/ 1 h 1628"/>
                      <a:gd name="T52" fmla="*/ 1 w 1814"/>
                      <a:gd name="T53" fmla="*/ 1 h 1628"/>
                      <a:gd name="T54" fmla="*/ 1 w 1814"/>
                      <a:gd name="T55" fmla="*/ 1 h 1628"/>
                      <a:gd name="T56" fmla="*/ 1 w 1814"/>
                      <a:gd name="T57" fmla="*/ 1 h 1628"/>
                      <a:gd name="T58" fmla="*/ 1 w 1814"/>
                      <a:gd name="T59" fmla="*/ 1 h 1628"/>
                      <a:gd name="T60" fmla="*/ 1 w 1814"/>
                      <a:gd name="T61" fmla="*/ 1 h 1628"/>
                      <a:gd name="T62" fmla="*/ 1 w 1814"/>
                      <a:gd name="T63" fmla="*/ 1 h 1628"/>
                      <a:gd name="T64" fmla="*/ 1 w 1814"/>
                      <a:gd name="T65" fmla="*/ 1 h 1628"/>
                      <a:gd name="T66" fmla="*/ 1 w 1814"/>
                      <a:gd name="T67" fmla="*/ 0 h 1628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w 1814"/>
                      <a:gd name="T103" fmla="*/ 0 h 1628"/>
                      <a:gd name="T104" fmla="*/ 1814 w 1814"/>
                      <a:gd name="T105" fmla="*/ 1628 h 1628"/>
                    </a:gdLst>
                    <a:ahLst/>
                    <a:cxnLst>
                      <a:cxn ang="T68">
                        <a:pos x="T0" y="T1"/>
                      </a:cxn>
                      <a:cxn ang="T69">
                        <a:pos x="T2" y="T3"/>
                      </a:cxn>
                      <a:cxn ang="T70">
                        <a:pos x="T4" y="T5"/>
                      </a:cxn>
                      <a:cxn ang="T71">
                        <a:pos x="T6" y="T7"/>
                      </a:cxn>
                      <a:cxn ang="T72">
                        <a:pos x="T8" y="T9"/>
                      </a:cxn>
                      <a:cxn ang="T73">
                        <a:pos x="T10" y="T11"/>
                      </a:cxn>
                      <a:cxn ang="T74">
                        <a:pos x="T12" y="T13"/>
                      </a:cxn>
                      <a:cxn ang="T75">
                        <a:pos x="T14" y="T15"/>
                      </a:cxn>
                      <a:cxn ang="T76">
                        <a:pos x="T16" y="T17"/>
                      </a:cxn>
                      <a:cxn ang="T77">
                        <a:pos x="T18" y="T19"/>
                      </a:cxn>
                      <a:cxn ang="T78">
                        <a:pos x="T20" y="T21"/>
                      </a:cxn>
                      <a:cxn ang="T79">
                        <a:pos x="T22" y="T23"/>
                      </a:cxn>
                      <a:cxn ang="T80">
                        <a:pos x="T24" y="T25"/>
                      </a:cxn>
                      <a:cxn ang="T81">
                        <a:pos x="T26" y="T27"/>
                      </a:cxn>
                      <a:cxn ang="T82">
                        <a:pos x="T28" y="T29"/>
                      </a:cxn>
                      <a:cxn ang="T83">
                        <a:pos x="T30" y="T31"/>
                      </a:cxn>
                      <a:cxn ang="T84">
                        <a:pos x="T32" y="T33"/>
                      </a:cxn>
                      <a:cxn ang="T85">
                        <a:pos x="T34" y="T35"/>
                      </a:cxn>
                      <a:cxn ang="T86">
                        <a:pos x="T36" y="T37"/>
                      </a:cxn>
                      <a:cxn ang="T87">
                        <a:pos x="T38" y="T39"/>
                      </a:cxn>
                      <a:cxn ang="T88">
                        <a:pos x="T40" y="T41"/>
                      </a:cxn>
                      <a:cxn ang="T89">
                        <a:pos x="T42" y="T43"/>
                      </a:cxn>
                      <a:cxn ang="T90">
                        <a:pos x="T44" y="T45"/>
                      </a:cxn>
                      <a:cxn ang="T91">
                        <a:pos x="T46" y="T47"/>
                      </a:cxn>
                      <a:cxn ang="T92">
                        <a:pos x="T48" y="T49"/>
                      </a:cxn>
                      <a:cxn ang="T93">
                        <a:pos x="T50" y="T51"/>
                      </a:cxn>
                      <a:cxn ang="T94">
                        <a:pos x="T52" y="T53"/>
                      </a:cxn>
                      <a:cxn ang="T95">
                        <a:pos x="T54" y="T55"/>
                      </a:cxn>
                      <a:cxn ang="T96">
                        <a:pos x="T56" y="T57"/>
                      </a:cxn>
                      <a:cxn ang="T97">
                        <a:pos x="T58" y="T59"/>
                      </a:cxn>
                      <a:cxn ang="T98">
                        <a:pos x="T60" y="T61"/>
                      </a:cxn>
                      <a:cxn ang="T99">
                        <a:pos x="T62" y="T63"/>
                      </a:cxn>
                      <a:cxn ang="T100">
                        <a:pos x="T64" y="T65"/>
                      </a:cxn>
                      <a:cxn ang="T101">
                        <a:pos x="T66" y="T67"/>
                      </a:cxn>
                    </a:cxnLst>
                    <a:rect l="T102" t="T103" r="T104" b="T105"/>
                    <a:pathLst>
                      <a:path w="1814" h="1628">
                        <a:moveTo>
                          <a:pt x="271" y="0"/>
                        </a:moveTo>
                        <a:lnTo>
                          <a:pt x="243" y="2"/>
                        </a:lnTo>
                        <a:lnTo>
                          <a:pt x="217" y="6"/>
                        </a:lnTo>
                        <a:lnTo>
                          <a:pt x="191" y="12"/>
                        </a:lnTo>
                        <a:lnTo>
                          <a:pt x="165" y="22"/>
                        </a:lnTo>
                        <a:lnTo>
                          <a:pt x="142" y="32"/>
                        </a:lnTo>
                        <a:lnTo>
                          <a:pt x="120" y="46"/>
                        </a:lnTo>
                        <a:lnTo>
                          <a:pt x="100" y="62"/>
                        </a:lnTo>
                        <a:lnTo>
                          <a:pt x="80" y="80"/>
                        </a:lnTo>
                        <a:lnTo>
                          <a:pt x="62" y="100"/>
                        </a:lnTo>
                        <a:lnTo>
                          <a:pt x="46" y="120"/>
                        </a:lnTo>
                        <a:lnTo>
                          <a:pt x="32" y="142"/>
                        </a:lnTo>
                        <a:lnTo>
                          <a:pt x="22" y="166"/>
                        </a:lnTo>
                        <a:lnTo>
                          <a:pt x="12" y="192"/>
                        </a:lnTo>
                        <a:lnTo>
                          <a:pt x="6" y="218"/>
                        </a:lnTo>
                        <a:lnTo>
                          <a:pt x="2" y="244"/>
                        </a:lnTo>
                        <a:lnTo>
                          <a:pt x="0" y="271"/>
                        </a:lnTo>
                        <a:lnTo>
                          <a:pt x="0" y="1357"/>
                        </a:lnTo>
                        <a:lnTo>
                          <a:pt x="2" y="1385"/>
                        </a:lnTo>
                        <a:lnTo>
                          <a:pt x="6" y="1411"/>
                        </a:lnTo>
                        <a:lnTo>
                          <a:pt x="12" y="1437"/>
                        </a:lnTo>
                        <a:lnTo>
                          <a:pt x="22" y="1463"/>
                        </a:lnTo>
                        <a:lnTo>
                          <a:pt x="32" y="1487"/>
                        </a:lnTo>
                        <a:lnTo>
                          <a:pt x="46" y="1509"/>
                        </a:lnTo>
                        <a:lnTo>
                          <a:pt x="62" y="1529"/>
                        </a:lnTo>
                        <a:lnTo>
                          <a:pt x="80" y="1549"/>
                        </a:lnTo>
                        <a:lnTo>
                          <a:pt x="100" y="1566"/>
                        </a:lnTo>
                        <a:lnTo>
                          <a:pt x="120" y="1582"/>
                        </a:lnTo>
                        <a:lnTo>
                          <a:pt x="142" y="1596"/>
                        </a:lnTo>
                        <a:lnTo>
                          <a:pt x="165" y="1606"/>
                        </a:lnTo>
                        <a:lnTo>
                          <a:pt x="191" y="1616"/>
                        </a:lnTo>
                        <a:lnTo>
                          <a:pt x="217" y="1622"/>
                        </a:lnTo>
                        <a:lnTo>
                          <a:pt x="243" y="1626"/>
                        </a:lnTo>
                        <a:lnTo>
                          <a:pt x="271" y="1628"/>
                        </a:lnTo>
                        <a:lnTo>
                          <a:pt x="1543" y="1628"/>
                        </a:lnTo>
                        <a:lnTo>
                          <a:pt x="1571" y="1626"/>
                        </a:lnTo>
                        <a:lnTo>
                          <a:pt x="1597" y="1622"/>
                        </a:lnTo>
                        <a:lnTo>
                          <a:pt x="1623" y="1616"/>
                        </a:lnTo>
                        <a:lnTo>
                          <a:pt x="1649" y="1606"/>
                        </a:lnTo>
                        <a:lnTo>
                          <a:pt x="1673" y="1596"/>
                        </a:lnTo>
                        <a:lnTo>
                          <a:pt x="1694" y="1582"/>
                        </a:lnTo>
                        <a:lnTo>
                          <a:pt x="1714" y="1566"/>
                        </a:lnTo>
                        <a:lnTo>
                          <a:pt x="1734" y="1549"/>
                        </a:lnTo>
                        <a:lnTo>
                          <a:pt x="1752" y="1529"/>
                        </a:lnTo>
                        <a:lnTo>
                          <a:pt x="1768" y="1509"/>
                        </a:lnTo>
                        <a:lnTo>
                          <a:pt x="1782" y="1487"/>
                        </a:lnTo>
                        <a:lnTo>
                          <a:pt x="1792" y="1463"/>
                        </a:lnTo>
                        <a:lnTo>
                          <a:pt x="1802" y="1437"/>
                        </a:lnTo>
                        <a:lnTo>
                          <a:pt x="1808" y="1411"/>
                        </a:lnTo>
                        <a:lnTo>
                          <a:pt x="1812" y="1385"/>
                        </a:lnTo>
                        <a:lnTo>
                          <a:pt x="1814" y="1357"/>
                        </a:lnTo>
                        <a:lnTo>
                          <a:pt x="1814" y="271"/>
                        </a:lnTo>
                        <a:lnTo>
                          <a:pt x="1812" y="244"/>
                        </a:lnTo>
                        <a:lnTo>
                          <a:pt x="1808" y="218"/>
                        </a:lnTo>
                        <a:lnTo>
                          <a:pt x="1802" y="192"/>
                        </a:lnTo>
                        <a:lnTo>
                          <a:pt x="1792" y="166"/>
                        </a:lnTo>
                        <a:lnTo>
                          <a:pt x="1782" y="142"/>
                        </a:lnTo>
                        <a:lnTo>
                          <a:pt x="1768" y="120"/>
                        </a:lnTo>
                        <a:lnTo>
                          <a:pt x="1752" y="100"/>
                        </a:lnTo>
                        <a:lnTo>
                          <a:pt x="1734" y="80"/>
                        </a:lnTo>
                        <a:lnTo>
                          <a:pt x="1714" y="62"/>
                        </a:lnTo>
                        <a:lnTo>
                          <a:pt x="1694" y="46"/>
                        </a:lnTo>
                        <a:lnTo>
                          <a:pt x="1673" y="32"/>
                        </a:lnTo>
                        <a:lnTo>
                          <a:pt x="1649" y="22"/>
                        </a:lnTo>
                        <a:lnTo>
                          <a:pt x="1623" y="12"/>
                        </a:lnTo>
                        <a:lnTo>
                          <a:pt x="1597" y="6"/>
                        </a:lnTo>
                        <a:lnTo>
                          <a:pt x="1571" y="2"/>
                        </a:lnTo>
                        <a:lnTo>
                          <a:pt x="1543" y="0"/>
                        </a:lnTo>
                        <a:lnTo>
                          <a:pt x="271" y="0"/>
                        </a:lnTo>
                        <a:close/>
                      </a:path>
                    </a:pathLst>
                  </a:custGeom>
                  <a:solidFill>
                    <a:srgbClr val="EAEAEA"/>
                  </a:solidFill>
                  <a:ln w="6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grpSp>
                <p:nvGrpSpPr>
                  <p:cNvPr id="22049" name="Group 71">
                    <a:extLst>
                      <a:ext uri="{FF2B5EF4-FFF2-40B4-BE49-F238E27FC236}">
                        <a16:creationId xmlns:a16="http://schemas.microsoft.com/office/drawing/2014/main" id="{5C168B7D-69DE-6247-9252-18105B8EF5F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668" y="1953"/>
                    <a:ext cx="797" cy="464"/>
                    <a:chOff x="4668" y="1953"/>
                    <a:chExt cx="797" cy="464"/>
                  </a:xfrm>
                </p:grpSpPr>
                <p:sp>
                  <p:nvSpPr>
                    <p:cNvPr id="22053" name="Rectangle 59">
                      <a:extLst>
                        <a:ext uri="{FF2B5EF4-FFF2-40B4-BE49-F238E27FC236}">
                          <a16:creationId xmlns:a16="http://schemas.microsoft.com/office/drawing/2014/main" id="{12A5DFF1-7429-FA47-BA57-DC890CCC2F1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859" y="1953"/>
                      <a:ext cx="573" cy="352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pt-BR" sz="2000"/>
                    </a:p>
                  </p:txBody>
                </p:sp>
                <p:sp>
                  <p:nvSpPr>
                    <p:cNvPr id="22054" name="Rectangle 60">
                      <a:extLst>
                        <a:ext uri="{FF2B5EF4-FFF2-40B4-BE49-F238E27FC236}">
                          <a16:creationId xmlns:a16="http://schemas.microsoft.com/office/drawing/2014/main" id="{4E88465D-5781-F843-9EAE-F22410A1FF7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894" y="1964"/>
                      <a:ext cx="571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Princípio de 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2055" name="Rectangle 61">
                      <a:extLst>
                        <a:ext uri="{FF2B5EF4-FFF2-40B4-BE49-F238E27FC236}">
                          <a16:creationId xmlns:a16="http://schemas.microsoft.com/office/drawing/2014/main" id="{9DB624E7-8A2E-954B-AB45-9E675DA6160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981" y="2079"/>
                      <a:ext cx="396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solução 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2056" name="Rectangle 62">
                      <a:extLst>
                        <a:ext uri="{FF2B5EF4-FFF2-40B4-BE49-F238E27FC236}">
                          <a16:creationId xmlns:a16="http://schemas.microsoft.com/office/drawing/2014/main" id="{61193EA4-7397-ED4C-912C-058E6ED3572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948" y="2194"/>
                      <a:ext cx="435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individual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2057" name="Rectangle 63">
                      <a:extLst>
                        <a:ext uri="{FF2B5EF4-FFF2-40B4-BE49-F238E27FC236}">
                          <a16:creationId xmlns:a16="http://schemas.microsoft.com/office/drawing/2014/main" id="{CD9AF8F9-E200-E34D-94D0-8EF7BB33307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763" y="2001"/>
                      <a:ext cx="574" cy="351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pt-BR" sz="2000"/>
                    </a:p>
                  </p:txBody>
                </p:sp>
                <p:sp>
                  <p:nvSpPr>
                    <p:cNvPr id="22058" name="Rectangle 64">
                      <a:extLst>
                        <a:ext uri="{FF2B5EF4-FFF2-40B4-BE49-F238E27FC236}">
                          <a16:creationId xmlns:a16="http://schemas.microsoft.com/office/drawing/2014/main" id="{0F1021D7-575A-A445-AAA9-2B85EF2A4B4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798" y="2012"/>
                      <a:ext cx="571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Princípio de 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2059" name="Rectangle 65">
                      <a:extLst>
                        <a:ext uri="{FF2B5EF4-FFF2-40B4-BE49-F238E27FC236}">
                          <a16:creationId xmlns:a16="http://schemas.microsoft.com/office/drawing/2014/main" id="{A9C0BBED-D337-DE4D-8FE6-619DC646C4A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886" y="2127"/>
                      <a:ext cx="396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solução 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2060" name="Rectangle 66">
                      <a:extLst>
                        <a:ext uri="{FF2B5EF4-FFF2-40B4-BE49-F238E27FC236}">
                          <a16:creationId xmlns:a16="http://schemas.microsoft.com/office/drawing/2014/main" id="{FF9CCFC2-3D02-F543-AA37-39B273FF5F6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853" y="2241"/>
                      <a:ext cx="435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individual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2061" name="Rectangle 67">
                      <a:extLst>
                        <a:ext uri="{FF2B5EF4-FFF2-40B4-BE49-F238E27FC236}">
                          <a16:creationId xmlns:a16="http://schemas.microsoft.com/office/drawing/2014/main" id="{DA002D19-02EB-0D4F-8249-D46E08DBFE2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68" y="2049"/>
                      <a:ext cx="574" cy="351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pt-BR" sz="2000"/>
                    </a:p>
                  </p:txBody>
                </p:sp>
                <p:sp>
                  <p:nvSpPr>
                    <p:cNvPr id="22062" name="Rectangle 68">
                      <a:extLst>
                        <a:ext uri="{FF2B5EF4-FFF2-40B4-BE49-F238E27FC236}">
                          <a16:creationId xmlns:a16="http://schemas.microsoft.com/office/drawing/2014/main" id="{CE6ED65C-C93C-144B-9EC3-57530CC1E64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703" y="2060"/>
                      <a:ext cx="571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Princípio de 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2063" name="Rectangle 69">
                      <a:extLst>
                        <a:ext uri="{FF2B5EF4-FFF2-40B4-BE49-F238E27FC236}">
                          <a16:creationId xmlns:a16="http://schemas.microsoft.com/office/drawing/2014/main" id="{94055BD4-966F-2C44-87F6-C13F5C8ED85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790" y="2175"/>
                      <a:ext cx="396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solução 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2064" name="Rectangle 70">
                      <a:extLst>
                        <a:ext uri="{FF2B5EF4-FFF2-40B4-BE49-F238E27FC236}">
                          <a16:creationId xmlns:a16="http://schemas.microsoft.com/office/drawing/2014/main" id="{DFECA908-E91C-4D4A-9554-0AE7E74D963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757" y="2289"/>
                      <a:ext cx="435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individual</a:t>
                      </a:r>
                      <a:endParaRPr lang="pt-BR" altLang="pt-BR" sz="2000"/>
                    </a:p>
                  </p:txBody>
                </p:sp>
              </p:grpSp>
              <p:sp>
                <p:nvSpPr>
                  <p:cNvPr id="22050" name="Rectangle 72">
                    <a:extLst>
                      <a:ext uri="{FF2B5EF4-FFF2-40B4-BE49-F238E27FC236}">
                        <a16:creationId xmlns:a16="http://schemas.microsoft.com/office/drawing/2014/main" id="{8F0E3ABB-FB32-5647-9BD8-2E527EC53DB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63" y="2528"/>
                    <a:ext cx="587" cy="236"/>
                  </a:xfrm>
                  <a:prstGeom prst="rect">
                    <a:avLst/>
                  </a:prstGeom>
                  <a:solidFill>
                    <a:srgbClr val="FFFFFF"/>
                  </a:solidFill>
                  <a:ln w="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en-US" altLang="pt-BR" sz="2000"/>
                  </a:p>
                </p:txBody>
              </p:sp>
              <p:sp>
                <p:nvSpPr>
                  <p:cNvPr id="22051" name="Rectangle 73">
                    <a:extLst>
                      <a:ext uri="{FF2B5EF4-FFF2-40B4-BE49-F238E27FC236}">
                        <a16:creationId xmlns:a16="http://schemas.microsoft.com/office/drawing/2014/main" id="{F44682F5-8E65-BE44-9374-7460F6DDE97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05" y="2539"/>
                    <a:ext cx="571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Princípio de </a:t>
                    </a:r>
                    <a:endParaRPr lang="pt-BR" altLang="pt-BR" sz="2000"/>
                  </a:p>
                </p:txBody>
              </p:sp>
              <p:sp>
                <p:nvSpPr>
                  <p:cNvPr id="22052" name="Rectangle 74">
                    <a:extLst>
                      <a:ext uri="{FF2B5EF4-FFF2-40B4-BE49-F238E27FC236}">
                        <a16:creationId xmlns:a16="http://schemas.microsoft.com/office/drawing/2014/main" id="{CE1BACE0-6BBA-5C4B-8C40-0120EF2232A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89" y="2654"/>
                    <a:ext cx="576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solução total</a:t>
                    </a:r>
                    <a:endParaRPr lang="pt-BR" altLang="pt-BR" sz="2000"/>
                  </a:p>
                </p:txBody>
              </p:sp>
            </p:grpSp>
          </p:grpSp>
          <p:grpSp>
            <p:nvGrpSpPr>
              <p:cNvPr id="21963" name="Group 89">
                <a:extLst>
                  <a:ext uri="{FF2B5EF4-FFF2-40B4-BE49-F238E27FC236}">
                    <a16:creationId xmlns:a16="http://schemas.microsoft.com/office/drawing/2014/main" id="{9815DD1D-0CCC-2E48-8431-716BE67A16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94" y="1810"/>
                <a:ext cx="1431" cy="622"/>
                <a:chOff x="994" y="1810"/>
                <a:chExt cx="1431" cy="622"/>
              </a:xfrm>
            </p:grpSpPr>
            <p:sp>
              <p:nvSpPr>
                <p:cNvPr id="22031" name="Freeform 77">
                  <a:extLst>
                    <a:ext uri="{FF2B5EF4-FFF2-40B4-BE49-F238E27FC236}">
                      <a16:creationId xmlns:a16="http://schemas.microsoft.com/office/drawing/2014/main" id="{EE2A4F03-FC84-9043-9733-9EA10FCEFF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94" y="1858"/>
                  <a:ext cx="1431" cy="574"/>
                </a:xfrm>
                <a:custGeom>
                  <a:avLst/>
                  <a:gdLst>
                    <a:gd name="T0" fmla="*/ 0 w 2863"/>
                    <a:gd name="T1" fmla="*/ 0 h 1149"/>
                    <a:gd name="T2" fmla="*/ 0 w 2863"/>
                    <a:gd name="T3" fmla="*/ 0 h 1149"/>
                    <a:gd name="T4" fmla="*/ 0 w 2863"/>
                    <a:gd name="T5" fmla="*/ 0 h 1149"/>
                    <a:gd name="T6" fmla="*/ 0 w 2863"/>
                    <a:gd name="T7" fmla="*/ 0 h 1149"/>
                    <a:gd name="T8" fmla="*/ 0 w 2863"/>
                    <a:gd name="T9" fmla="*/ 0 h 1149"/>
                    <a:gd name="T10" fmla="*/ 0 w 2863"/>
                    <a:gd name="T11" fmla="*/ 0 h 1149"/>
                    <a:gd name="T12" fmla="*/ 0 w 2863"/>
                    <a:gd name="T13" fmla="*/ 0 h 1149"/>
                    <a:gd name="T14" fmla="*/ 0 w 2863"/>
                    <a:gd name="T15" fmla="*/ 0 h 1149"/>
                    <a:gd name="T16" fmla="*/ 0 w 2863"/>
                    <a:gd name="T17" fmla="*/ 0 h 1149"/>
                    <a:gd name="T18" fmla="*/ 0 w 2863"/>
                    <a:gd name="T19" fmla="*/ 0 h 1149"/>
                    <a:gd name="T20" fmla="*/ 0 w 2863"/>
                    <a:gd name="T21" fmla="*/ 0 h 1149"/>
                    <a:gd name="T22" fmla="*/ 0 w 2863"/>
                    <a:gd name="T23" fmla="*/ 0 h 1149"/>
                    <a:gd name="T24" fmla="*/ 0 w 2863"/>
                    <a:gd name="T25" fmla="*/ 0 h 1149"/>
                    <a:gd name="T26" fmla="*/ 0 w 2863"/>
                    <a:gd name="T27" fmla="*/ 0 h 1149"/>
                    <a:gd name="T28" fmla="*/ 0 w 2863"/>
                    <a:gd name="T29" fmla="*/ 0 h 1149"/>
                    <a:gd name="T30" fmla="*/ 0 w 2863"/>
                    <a:gd name="T31" fmla="*/ 0 h 1149"/>
                    <a:gd name="T32" fmla="*/ 0 w 2863"/>
                    <a:gd name="T33" fmla="*/ 0 h 1149"/>
                    <a:gd name="T34" fmla="*/ 0 w 2863"/>
                    <a:gd name="T35" fmla="*/ 0 h 1149"/>
                    <a:gd name="T36" fmla="*/ 0 w 2863"/>
                    <a:gd name="T37" fmla="*/ 0 h 1149"/>
                    <a:gd name="T38" fmla="*/ 0 w 2863"/>
                    <a:gd name="T39" fmla="*/ 0 h 1149"/>
                    <a:gd name="T40" fmla="*/ 0 w 2863"/>
                    <a:gd name="T41" fmla="*/ 0 h 1149"/>
                    <a:gd name="T42" fmla="*/ 0 w 2863"/>
                    <a:gd name="T43" fmla="*/ 0 h 1149"/>
                    <a:gd name="T44" fmla="*/ 0 w 2863"/>
                    <a:gd name="T45" fmla="*/ 0 h 1149"/>
                    <a:gd name="T46" fmla="*/ 0 w 2863"/>
                    <a:gd name="T47" fmla="*/ 0 h 1149"/>
                    <a:gd name="T48" fmla="*/ 0 w 2863"/>
                    <a:gd name="T49" fmla="*/ 0 h 1149"/>
                    <a:gd name="T50" fmla="*/ 0 w 2863"/>
                    <a:gd name="T51" fmla="*/ 0 h 1149"/>
                    <a:gd name="T52" fmla="*/ 0 w 2863"/>
                    <a:gd name="T53" fmla="*/ 0 h 1149"/>
                    <a:gd name="T54" fmla="*/ 0 w 2863"/>
                    <a:gd name="T55" fmla="*/ 0 h 1149"/>
                    <a:gd name="T56" fmla="*/ 0 w 2863"/>
                    <a:gd name="T57" fmla="*/ 0 h 1149"/>
                    <a:gd name="T58" fmla="*/ 0 w 2863"/>
                    <a:gd name="T59" fmla="*/ 0 h 1149"/>
                    <a:gd name="T60" fmla="*/ 0 w 2863"/>
                    <a:gd name="T61" fmla="*/ 0 h 1149"/>
                    <a:gd name="T62" fmla="*/ 0 w 2863"/>
                    <a:gd name="T63" fmla="*/ 0 h 1149"/>
                    <a:gd name="T64" fmla="*/ 0 w 2863"/>
                    <a:gd name="T65" fmla="*/ 0 h 1149"/>
                    <a:gd name="T66" fmla="*/ 0 w 2863"/>
                    <a:gd name="T67" fmla="*/ 0 h 1149"/>
                    <a:gd name="T68" fmla="*/ 0 w 2863"/>
                    <a:gd name="T69" fmla="*/ 0 h 1149"/>
                    <a:gd name="T70" fmla="*/ 0 w 2863"/>
                    <a:gd name="T71" fmla="*/ 0 h 1149"/>
                    <a:gd name="T72" fmla="*/ 0 w 2863"/>
                    <a:gd name="T73" fmla="*/ 0 h 1149"/>
                    <a:gd name="T74" fmla="*/ 0 w 2863"/>
                    <a:gd name="T75" fmla="*/ 0 h 1149"/>
                    <a:gd name="T76" fmla="*/ 0 w 2863"/>
                    <a:gd name="T77" fmla="*/ 0 h 1149"/>
                    <a:gd name="T78" fmla="*/ 0 w 2863"/>
                    <a:gd name="T79" fmla="*/ 0 h 1149"/>
                    <a:gd name="T80" fmla="*/ 0 w 2863"/>
                    <a:gd name="T81" fmla="*/ 0 h 1149"/>
                    <a:gd name="T82" fmla="*/ 0 w 2863"/>
                    <a:gd name="T83" fmla="*/ 0 h 1149"/>
                    <a:gd name="T84" fmla="*/ 0 w 2863"/>
                    <a:gd name="T85" fmla="*/ 0 h 1149"/>
                    <a:gd name="T86" fmla="*/ 0 w 2863"/>
                    <a:gd name="T87" fmla="*/ 0 h 1149"/>
                    <a:gd name="T88" fmla="*/ 0 w 2863"/>
                    <a:gd name="T89" fmla="*/ 0 h 1149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w 2863"/>
                    <a:gd name="T136" fmla="*/ 0 h 1149"/>
                    <a:gd name="T137" fmla="*/ 2863 w 2863"/>
                    <a:gd name="T138" fmla="*/ 1149 h 1149"/>
                  </a:gdLst>
                  <a:ahLst/>
                  <a:cxnLst>
                    <a:cxn ang="T90">
                      <a:pos x="T0" y="T1"/>
                    </a:cxn>
                    <a:cxn ang="T91">
                      <a:pos x="T2" y="T3"/>
                    </a:cxn>
                    <a:cxn ang="T92">
                      <a:pos x="T4" y="T5"/>
                    </a:cxn>
                    <a:cxn ang="T93">
                      <a:pos x="T6" y="T7"/>
                    </a:cxn>
                    <a:cxn ang="T94">
                      <a:pos x="T8" y="T9"/>
                    </a:cxn>
                    <a:cxn ang="T95">
                      <a:pos x="T10" y="T11"/>
                    </a:cxn>
                    <a:cxn ang="T96">
                      <a:pos x="T12" y="T13"/>
                    </a:cxn>
                    <a:cxn ang="T97">
                      <a:pos x="T14" y="T15"/>
                    </a:cxn>
                    <a:cxn ang="T98">
                      <a:pos x="T16" y="T17"/>
                    </a:cxn>
                    <a:cxn ang="T99">
                      <a:pos x="T18" y="T19"/>
                    </a:cxn>
                    <a:cxn ang="T100">
                      <a:pos x="T20" y="T21"/>
                    </a:cxn>
                    <a:cxn ang="T101">
                      <a:pos x="T22" y="T23"/>
                    </a:cxn>
                    <a:cxn ang="T102">
                      <a:pos x="T24" y="T25"/>
                    </a:cxn>
                    <a:cxn ang="T103">
                      <a:pos x="T26" y="T27"/>
                    </a:cxn>
                    <a:cxn ang="T104">
                      <a:pos x="T28" y="T29"/>
                    </a:cxn>
                    <a:cxn ang="T105">
                      <a:pos x="T30" y="T31"/>
                    </a:cxn>
                    <a:cxn ang="T106">
                      <a:pos x="T32" y="T33"/>
                    </a:cxn>
                    <a:cxn ang="T107">
                      <a:pos x="T34" y="T35"/>
                    </a:cxn>
                    <a:cxn ang="T108">
                      <a:pos x="T36" y="T37"/>
                    </a:cxn>
                    <a:cxn ang="T109">
                      <a:pos x="T38" y="T39"/>
                    </a:cxn>
                    <a:cxn ang="T110">
                      <a:pos x="T40" y="T41"/>
                    </a:cxn>
                    <a:cxn ang="T111">
                      <a:pos x="T42" y="T43"/>
                    </a:cxn>
                    <a:cxn ang="T112">
                      <a:pos x="T44" y="T45"/>
                    </a:cxn>
                    <a:cxn ang="T113">
                      <a:pos x="T46" y="T47"/>
                    </a:cxn>
                    <a:cxn ang="T114">
                      <a:pos x="T48" y="T49"/>
                    </a:cxn>
                    <a:cxn ang="T115">
                      <a:pos x="T50" y="T51"/>
                    </a:cxn>
                    <a:cxn ang="T116">
                      <a:pos x="T52" y="T53"/>
                    </a:cxn>
                    <a:cxn ang="T117">
                      <a:pos x="T54" y="T55"/>
                    </a:cxn>
                    <a:cxn ang="T118">
                      <a:pos x="T56" y="T57"/>
                    </a:cxn>
                    <a:cxn ang="T119">
                      <a:pos x="T58" y="T59"/>
                    </a:cxn>
                    <a:cxn ang="T120">
                      <a:pos x="T60" y="T61"/>
                    </a:cxn>
                    <a:cxn ang="T121">
                      <a:pos x="T62" y="T63"/>
                    </a:cxn>
                    <a:cxn ang="T122">
                      <a:pos x="T64" y="T65"/>
                    </a:cxn>
                    <a:cxn ang="T123">
                      <a:pos x="T66" y="T67"/>
                    </a:cxn>
                    <a:cxn ang="T124">
                      <a:pos x="T68" y="T69"/>
                    </a:cxn>
                    <a:cxn ang="T125">
                      <a:pos x="T70" y="T71"/>
                    </a:cxn>
                    <a:cxn ang="T126">
                      <a:pos x="T72" y="T73"/>
                    </a:cxn>
                    <a:cxn ang="T127">
                      <a:pos x="T74" y="T75"/>
                    </a:cxn>
                    <a:cxn ang="T128">
                      <a:pos x="T76" y="T77"/>
                    </a:cxn>
                    <a:cxn ang="T129">
                      <a:pos x="T78" y="T79"/>
                    </a:cxn>
                    <a:cxn ang="T130">
                      <a:pos x="T80" y="T81"/>
                    </a:cxn>
                    <a:cxn ang="T131">
                      <a:pos x="T82" y="T83"/>
                    </a:cxn>
                    <a:cxn ang="T132">
                      <a:pos x="T84" y="T85"/>
                    </a:cxn>
                    <a:cxn ang="T133">
                      <a:pos x="T86" y="T87"/>
                    </a:cxn>
                    <a:cxn ang="T134">
                      <a:pos x="T88" y="T89"/>
                    </a:cxn>
                  </a:cxnLst>
                  <a:rect l="T135" t="T136" r="T137" b="T138"/>
                  <a:pathLst>
                    <a:path w="2863" h="1149">
                      <a:moveTo>
                        <a:pt x="191" y="0"/>
                      </a:moveTo>
                      <a:lnTo>
                        <a:pt x="171" y="2"/>
                      </a:lnTo>
                      <a:lnTo>
                        <a:pt x="153" y="4"/>
                      </a:lnTo>
                      <a:lnTo>
                        <a:pt x="117" y="16"/>
                      </a:lnTo>
                      <a:lnTo>
                        <a:pt x="84" y="32"/>
                      </a:lnTo>
                      <a:lnTo>
                        <a:pt x="56" y="56"/>
                      </a:lnTo>
                      <a:lnTo>
                        <a:pt x="32" y="84"/>
                      </a:lnTo>
                      <a:lnTo>
                        <a:pt x="16" y="118"/>
                      </a:lnTo>
                      <a:lnTo>
                        <a:pt x="4" y="154"/>
                      </a:lnTo>
                      <a:lnTo>
                        <a:pt x="2" y="172"/>
                      </a:lnTo>
                      <a:lnTo>
                        <a:pt x="0" y="192"/>
                      </a:lnTo>
                      <a:lnTo>
                        <a:pt x="0" y="958"/>
                      </a:lnTo>
                      <a:lnTo>
                        <a:pt x="2" y="978"/>
                      </a:lnTo>
                      <a:lnTo>
                        <a:pt x="4" y="996"/>
                      </a:lnTo>
                      <a:lnTo>
                        <a:pt x="16" y="1032"/>
                      </a:lnTo>
                      <a:lnTo>
                        <a:pt x="32" y="1066"/>
                      </a:lnTo>
                      <a:lnTo>
                        <a:pt x="56" y="1094"/>
                      </a:lnTo>
                      <a:lnTo>
                        <a:pt x="84" y="1118"/>
                      </a:lnTo>
                      <a:lnTo>
                        <a:pt x="117" y="1133"/>
                      </a:lnTo>
                      <a:lnTo>
                        <a:pt x="153" y="1145"/>
                      </a:lnTo>
                      <a:lnTo>
                        <a:pt x="171" y="1149"/>
                      </a:lnTo>
                      <a:lnTo>
                        <a:pt x="191" y="1149"/>
                      </a:lnTo>
                      <a:lnTo>
                        <a:pt x="2672" y="1149"/>
                      </a:lnTo>
                      <a:lnTo>
                        <a:pt x="2692" y="1149"/>
                      </a:lnTo>
                      <a:lnTo>
                        <a:pt x="2710" y="1145"/>
                      </a:lnTo>
                      <a:lnTo>
                        <a:pt x="2746" y="1133"/>
                      </a:lnTo>
                      <a:lnTo>
                        <a:pt x="2780" y="1118"/>
                      </a:lnTo>
                      <a:lnTo>
                        <a:pt x="2808" y="1094"/>
                      </a:lnTo>
                      <a:lnTo>
                        <a:pt x="2831" y="1066"/>
                      </a:lnTo>
                      <a:lnTo>
                        <a:pt x="2847" y="1032"/>
                      </a:lnTo>
                      <a:lnTo>
                        <a:pt x="2859" y="996"/>
                      </a:lnTo>
                      <a:lnTo>
                        <a:pt x="2863" y="978"/>
                      </a:lnTo>
                      <a:lnTo>
                        <a:pt x="2863" y="958"/>
                      </a:lnTo>
                      <a:lnTo>
                        <a:pt x="2863" y="192"/>
                      </a:lnTo>
                      <a:lnTo>
                        <a:pt x="2863" y="172"/>
                      </a:lnTo>
                      <a:lnTo>
                        <a:pt x="2859" y="154"/>
                      </a:lnTo>
                      <a:lnTo>
                        <a:pt x="2847" y="118"/>
                      </a:lnTo>
                      <a:lnTo>
                        <a:pt x="2831" y="84"/>
                      </a:lnTo>
                      <a:lnTo>
                        <a:pt x="2808" y="56"/>
                      </a:lnTo>
                      <a:lnTo>
                        <a:pt x="2780" y="32"/>
                      </a:lnTo>
                      <a:lnTo>
                        <a:pt x="2746" y="16"/>
                      </a:lnTo>
                      <a:lnTo>
                        <a:pt x="2710" y="4"/>
                      </a:lnTo>
                      <a:lnTo>
                        <a:pt x="2692" y="2"/>
                      </a:lnTo>
                      <a:lnTo>
                        <a:pt x="2672" y="0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solidFill>
                  <a:srgbClr val="EAEAEA"/>
                </a:solidFill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2032" name="Rectangle 78">
                  <a:extLst>
                    <a:ext uri="{FF2B5EF4-FFF2-40B4-BE49-F238E27FC236}">
                      <a16:creationId xmlns:a16="http://schemas.microsoft.com/office/drawing/2014/main" id="{FFF3F59B-F884-004E-8421-C3BD2275BF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7" y="1810"/>
                  <a:ext cx="926" cy="121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22033" name="Rectangle 79">
                  <a:extLst>
                    <a:ext uri="{FF2B5EF4-FFF2-40B4-BE49-F238E27FC236}">
                      <a16:creationId xmlns:a16="http://schemas.microsoft.com/office/drawing/2014/main" id="{4DFA023E-D190-B847-9C8A-EC5CBDECA3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73" y="1820"/>
                  <a:ext cx="918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Especificações meta</a:t>
                  </a:r>
                  <a:endParaRPr lang="pt-BR" altLang="pt-BR" sz="2000"/>
                </a:p>
              </p:txBody>
            </p:sp>
            <p:grpSp>
              <p:nvGrpSpPr>
                <p:cNvPr id="22034" name="Group 88">
                  <a:extLst>
                    <a:ext uri="{FF2B5EF4-FFF2-40B4-BE49-F238E27FC236}">
                      <a16:creationId xmlns:a16="http://schemas.microsoft.com/office/drawing/2014/main" id="{4904BD1D-4614-AA47-B06E-C008B15D3A5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41" y="2001"/>
                  <a:ext cx="1360" cy="368"/>
                  <a:chOff x="1041" y="2001"/>
                  <a:chExt cx="1360" cy="368"/>
                </a:xfrm>
              </p:grpSpPr>
              <p:sp>
                <p:nvSpPr>
                  <p:cNvPr id="22035" name="Rectangle 80">
                    <a:extLst>
                      <a:ext uri="{FF2B5EF4-FFF2-40B4-BE49-F238E27FC236}">
                        <a16:creationId xmlns:a16="http://schemas.microsoft.com/office/drawing/2014/main" id="{16493927-0C5C-374A-A5FB-25ECD94AE2F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41" y="2001"/>
                    <a:ext cx="638" cy="351"/>
                  </a:xfrm>
                  <a:prstGeom prst="rect">
                    <a:avLst/>
                  </a:prstGeom>
                  <a:solidFill>
                    <a:srgbClr val="FFFFFF"/>
                  </a:solidFill>
                  <a:ln w="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en-US" altLang="pt-BR" sz="2000"/>
                  </a:p>
                </p:txBody>
              </p:sp>
              <p:sp>
                <p:nvSpPr>
                  <p:cNvPr id="22036" name="Rectangle 81">
                    <a:extLst>
                      <a:ext uri="{FF2B5EF4-FFF2-40B4-BE49-F238E27FC236}">
                        <a16:creationId xmlns:a16="http://schemas.microsoft.com/office/drawing/2014/main" id="{C30777EB-DA49-6444-A3D1-99547271E1F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71" y="2012"/>
                    <a:ext cx="644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Requisitos do </a:t>
                    </a:r>
                    <a:endParaRPr lang="pt-BR" altLang="pt-BR" sz="2000"/>
                  </a:p>
                </p:txBody>
              </p:sp>
              <p:sp>
                <p:nvSpPr>
                  <p:cNvPr id="22037" name="Rectangle 82">
                    <a:extLst>
                      <a:ext uri="{FF2B5EF4-FFF2-40B4-BE49-F238E27FC236}">
                        <a16:creationId xmlns:a16="http://schemas.microsoft.com/office/drawing/2014/main" id="{5A371557-519A-9241-8848-3E24C068C4B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98" y="2127"/>
                    <a:ext cx="391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produto </a:t>
                    </a:r>
                    <a:endParaRPr lang="pt-BR" altLang="pt-BR" sz="2000"/>
                  </a:p>
                </p:txBody>
              </p:sp>
              <p:sp>
                <p:nvSpPr>
                  <p:cNvPr id="22038" name="Rectangle 83">
                    <a:extLst>
                      <a:ext uri="{FF2B5EF4-FFF2-40B4-BE49-F238E27FC236}">
                        <a16:creationId xmlns:a16="http://schemas.microsoft.com/office/drawing/2014/main" id="{B4A638A6-9984-0540-AAC9-79FC9FCD635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05" y="2241"/>
                    <a:ext cx="551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(valor meta)</a:t>
                    </a:r>
                    <a:endParaRPr lang="pt-BR" altLang="pt-BR" sz="2000"/>
                  </a:p>
                </p:txBody>
              </p:sp>
              <p:sp>
                <p:nvSpPr>
                  <p:cNvPr id="22039" name="Rectangle 84">
                    <a:extLst>
                      <a:ext uri="{FF2B5EF4-FFF2-40B4-BE49-F238E27FC236}">
                        <a16:creationId xmlns:a16="http://schemas.microsoft.com/office/drawing/2014/main" id="{62D4AFC1-5F54-4C49-B7F0-659D959A33D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57" y="2001"/>
                    <a:ext cx="621" cy="351"/>
                  </a:xfrm>
                  <a:prstGeom prst="rect">
                    <a:avLst/>
                  </a:prstGeom>
                  <a:solidFill>
                    <a:srgbClr val="FFFFFF"/>
                  </a:solidFill>
                  <a:ln w="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en-US" altLang="pt-BR" sz="2000"/>
                  </a:p>
                </p:txBody>
              </p:sp>
              <p:sp>
                <p:nvSpPr>
                  <p:cNvPr id="22040" name="Rectangle 85">
                    <a:extLst>
                      <a:ext uri="{FF2B5EF4-FFF2-40B4-BE49-F238E27FC236}">
                        <a16:creationId xmlns:a16="http://schemas.microsoft.com/office/drawing/2014/main" id="{71F206A9-B557-6A44-84B1-F34093B0021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05" y="2012"/>
                    <a:ext cx="596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Informações </a:t>
                    </a:r>
                    <a:endParaRPr lang="pt-BR" altLang="pt-BR" sz="2000"/>
                  </a:p>
                </p:txBody>
              </p:sp>
              <p:sp>
                <p:nvSpPr>
                  <p:cNvPr id="22041" name="Rectangle 86">
                    <a:extLst>
                      <a:ext uri="{FF2B5EF4-FFF2-40B4-BE49-F238E27FC236}">
                        <a16:creationId xmlns:a16="http://schemas.microsoft.com/office/drawing/2014/main" id="{EC92779A-EF78-6A4B-9AD3-49BB3ACE256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56" y="2127"/>
                    <a:ext cx="490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adicionais </a:t>
                    </a:r>
                    <a:endParaRPr lang="pt-BR" altLang="pt-BR" sz="2000"/>
                  </a:p>
                </p:txBody>
              </p:sp>
              <p:sp>
                <p:nvSpPr>
                  <p:cNvPr id="22042" name="Rectangle 87">
                    <a:extLst>
                      <a:ext uri="{FF2B5EF4-FFF2-40B4-BE49-F238E27FC236}">
                        <a16:creationId xmlns:a16="http://schemas.microsoft.com/office/drawing/2014/main" id="{A3BC680A-2FF0-F04C-8B4F-1E701A72F98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30" y="2241"/>
                    <a:ext cx="516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qualitativas</a:t>
                    </a:r>
                    <a:endParaRPr lang="pt-BR" altLang="pt-BR" sz="2000"/>
                  </a:p>
                </p:txBody>
              </p:sp>
            </p:grpSp>
          </p:grpSp>
          <p:sp>
            <p:nvSpPr>
              <p:cNvPr id="21964" name="Rectangle 90">
                <a:extLst>
                  <a:ext uri="{FF2B5EF4-FFF2-40B4-BE49-F238E27FC236}">
                    <a16:creationId xmlns:a16="http://schemas.microsoft.com/office/drawing/2014/main" id="{AD429573-FDC1-E64A-B615-54A7CD6C10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0" y="2528"/>
                <a:ext cx="669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965" name="Rectangle 91">
                <a:extLst>
                  <a:ext uri="{FF2B5EF4-FFF2-40B4-BE49-F238E27FC236}">
                    <a16:creationId xmlns:a16="http://schemas.microsoft.com/office/drawing/2014/main" id="{63F186B8-1286-D44E-9E19-91E68574F8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2" y="2539"/>
                <a:ext cx="51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Requisitos </a:t>
                </a:r>
                <a:endParaRPr lang="pt-BR" altLang="pt-BR" sz="2000"/>
              </a:p>
            </p:txBody>
          </p:sp>
          <p:sp>
            <p:nvSpPr>
              <p:cNvPr id="21966" name="Rectangle 92">
                <a:extLst>
                  <a:ext uri="{FF2B5EF4-FFF2-40B4-BE49-F238E27FC236}">
                    <a16:creationId xmlns:a16="http://schemas.microsoft.com/office/drawing/2014/main" id="{C63CC7CC-4143-1F40-AB1C-4F6483EA04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2" y="2654"/>
                <a:ext cx="22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dos </a:t>
                </a:r>
                <a:endParaRPr lang="pt-BR" altLang="pt-BR" sz="2000"/>
              </a:p>
            </p:txBody>
          </p:sp>
          <p:sp>
            <p:nvSpPr>
              <p:cNvPr id="21967" name="Rectangle 93">
                <a:extLst>
                  <a:ext uri="{FF2B5EF4-FFF2-40B4-BE49-F238E27FC236}">
                    <a16:creationId xmlns:a16="http://schemas.microsoft.com/office/drawing/2014/main" id="{2247F6D0-7FE4-4C4B-B4D7-DD32D332FA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2" y="2654"/>
                <a:ext cx="28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SSCs</a:t>
                </a:r>
                <a:endParaRPr lang="pt-BR" altLang="pt-BR" sz="2000"/>
              </a:p>
            </p:txBody>
          </p:sp>
          <p:sp>
            <p:nvSpPr>
              <p:cNvPr id="21968" name="Rectangle 94">
                <a:extLst>
                  <a:ext uri="{FF2B5EF4-FFF2-40B4-BE49-F238E27FC236}">
                    <a16:creationId xmlns:a16="http://schemas.microsoft.com/office/drawing/2014/main" id="{0B3EFD7D-F57F-A44F-988D-72A5041D54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8" y="2768"/>
                <a:ext cx="65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(desdobrados)</a:t>
                </a:r>
                <a:endParaRPr lang="pt-BR" altLang="pt-BR" sz="2000"/>
              </a:p>
            </p:txBody>
          </p:sp>
          <p:sp>
            <p:nvSpPr>
              <p:cNvPr id="21969" name="Rectangle 95">
                <a:extLst>
                  <a:ext uri="{FF2B5EF4-FFF2-40B4-BE49-F238E27FC236}">
                    <a16:creationId xmlns:a16="http://schemas.microsoft.com/office/drawing/2014/main" id="{791E55EF-1617-234A-98A5-F284590BA5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8" y="3059"/>
                <a:ext cx="812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970" name="Rectangle 96">
                <a:extLst>
                  <a:ext uri="{FF2B5EF4-FFF2-40B4-BE49-F238E27FC236}">
                    <a16:creationId xmlns:a16="http://schemas.microsoft.com/office/drawing/2014/main" id="{A4FABD2F-9E92-B94D-8B8B-62F76BC51B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6" y="3070"/>
                <a:ext cx="70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Especificações </a:t>
                </a:r>
                <a:endParaRPr lang="pt-BR" altLang="pt-BR" sz="2000"/>
              </a:p>
            </p:txBody>
          </p:sp>
          <p:sp>
            <p:nvSpPr>
              <p:cNvPr id="21971" name="Rectangle 97">
                <a:extLst>
                  <a:ext uri="{FF2B5EF4-FFF2-40B4-BE49-F238E27FC236}">
                    <a16:creationId xmlns:a16="http://schemas.microsoft.com/office/drawing/2014/main" id="{3AFA7A54-536B-4E41-9D46-6182257468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6" y="3184"/>
                <a:ext cx="533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iniciais dos </a:t>
                </a:r>
                <a:endParaRPr lang="pt-BR" altLang="pt-BR" sz="2000"/>
              </a:p>
            </p:txBody>
          </p:sp>
          <p:sp>
            <p:nvSpPr>
              <p:cNvPr id="21972" name="Rectangle 98">
                <a:extLst>
                  <a:ext uri="{FF2B5EF4-FFF2-40B4-BE49-F238E27FC236}">
                    <a16:creationId xmlns:a16="http://schemas.microsoft.com/office/drawing/2014/main" id="{0E52C8C8-4B94-B145-87B7-84D12E9168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7" y="3184"/>
                <a:ext cx="31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SSCs </a:t>
                </a:r>
                <a:endParaRPr lang="pt-BR" altLang="pt-BR" sz="2000"/>
              </a:p>
            </p:txBody>
          </p:sp>
          <p:sp>
            <p:nvSpPr>
              <p:cNvPr id="21973" name="Rectangle 99">
                <a:extLst>
                  <a:ext uri="{FF2B5EF4-FFF2-40B4-BE49-F238E27FC236}">
                    <a16:creationId xmlns:a16="http://schemas.microsoft.com/office/drawing/2014/main" id="{132B4105-FD07-3B4A-8F49-F1CCED064B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28" y="3390"/>
                <a:ext cx="623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974" name="Rectangle 100">
                <a:extLst>
                  <a:ext uri="{FF2B5EF4-FFF2-40B4-BE49-F238E27FC236}">
                    <a16:creationId xmlns:a16="http://schemas.microsoft.com/office/drawing/2014/main" id="{4D9962A9-E439-3749-8CDC-2E53B37212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1" y="3401"/>
                <a:ext cx="60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Plano macro </a:t>
                </a:r>
                <a:endParaRPr lang="pt-BR" altLang="pt-BR" sz="2000"/>
              </a:p>
            </p:txBody>
          </p:sp>
          <p:sp>
            <p:nvSpPr>
              <p:cNvPr id="21975" name="Rectangle 101">
                <a:extLst>
                  <a:ext uri="{FF2B5EF4-FFF2-40B4-BE49-F238E27FC236}">
                    <a16:creationId xmlns:a16="http://schemas.microsoft.com/office/drawing/2014/main" id="{2A7A39AE-35E0-4F4D-B096-0BA80F140C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9" y="3516"/>
                <a:ext cx="560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de processo</a:t>
                </a:r>
                <a:endParaRPr lang="pt-BR" altLang="pt-BR" sz="2000"/>
              </a:p>
            </p:txBody>
          </p:sp>
          <p:grpSp>
            <p:nvGrpSpPr>
              <p:cNvPr id="21976" name="Group 104">
                <a:extLst>
                  <a:ext uri="{FF2B5EF4-FFF2-40B4-BE49-F238E27FC236}">
                    <a16:creationId xmlns:a16="http://schemas.microsoft.com/office/drawing/2014/main" id="{12CEB7CB-8130-DF49-B73A-5988EE5993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29" y="2146"/>
                <a:ext cx="212" cy="63"/>
                <a:chOff x="829" y="2146"/>
                <a:chExt cx="212" cy="63"/>
              </a:xfrm>
            </p:grpSpPr>
            <p:sp>
              <p:nvSpPr>
                <p:cNvPr id="22029" name="Line 102">
                  <a:extLst>
                    <a:ext uri="{FF2B5EF4-FFF2-40B4-BE49-F238E27FC236}">
                      <a16:creationId xmlns:a16="http://schemas.microsoft.com/office/drawing/2014/main" id="{C8080D2E-893E-3546-BE9C-BCE2F1AA90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9" y="2177"/>
                  <a:ext cx="153" cy="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2030" name="Freeform 103">
                  <a:extLst>
                    <a:ext uri="{FF2B5EF4-FFF2-40B4-BE49-F238E27FC236}">
                      <a16:creationId xmlns:a16="http://schemas.microsoft.com/office/drawing/2014/main" id="{E3340EC0-365F-C54B-BC51-14B5BDFFAC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80" y="2146"/>
                  <a:ext cx="61" cy="63"/>
                </a:xfrm>
                <a:custGeom>
                  <a:avLst/>
                  <a:gdLst>
                    <a:gd name="T0" fmla="*/ 0 w 124"/>
                    <a:gd name="T1" fmla="*/ 1 h 125"/>
                    <a:gd name="T2" fmla="*/ 0 w 124"/>
                    <a:gd name="T3" fmla="*/ 1 h 125"/>
                    <a:gd name="T4" fmla="*/ 0 w 124"/>
                    <a:gd name="T5" fmla="*/ 0 h 125"/>
                    <a:gd name="T6" fmla="*/ 0 w 124"/>
                    <a:gd name="T7" fmla="*/ 1 h 12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4"/>
                    <a:gd name="T13" fmla="*/ 0 h 125"/>
                    <a:gd name="T14" fmla="*/ 124 w 124"/>
                    <a:gd name="T15" fmla="*/ 125 h 12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4" h="125">
                      <a:moveTo>
                        <a:pt x="0" y="125"/>
                      </a:moveTo>
                      <a:lnTo>
                        <a:pt x="124" y="62"/>
                      </a:lnTo>
                      <a:lnTo>
                        <a:pt x="0" y="0"/>
                      </a:lnTo>
                      <a:lnTo>
                        <a:pt x="0" y="1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977" name="Group 107">
                <a:extLst>
                  <a:ext uri="{FF2B5EF4-FFF2-40B4-BE49-F238E27FC236}">
                    <a16:creationId xmlns:a16="http://schemas.microsoft.com/office/drawing/2014/main" id="{04818F82-531C-7F40-B7D5-1245E698B9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25" y="2115"/>
                <a:ext cx="215" cy="63"/>
                <a:chOff x="2425" y="2115"/>
                <a:chExt cx="215" cy="63"/>
              </a:xfrm>
            </p:grpSpPr>
            <p:sp>
              <p:nvSpPr>
                <p:cNvPr id="22027" name="Line 105">
                  <a:extLst>
                    <a:ext uri="{FF2B5EF4-FFF2-40B4-BE49-F238E27FC236}">
                      <a16:creationId xmlns:a16="http://schemas.microsoft.com/office/drawing/2014/main" id="{082848AF-40DA-EF4B-A9AB-76C5B8D95C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25" y="2145"/>
                  <a:ext cx="154" cy="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2028" name="Freeform 106">
                  <a:extLst>
                    <a:ext uri="{FF2B5EF4-FFF2-40B4-BE49-F238E27FC236}">
                      <a16:creationId xmlns:a16="http://schemas.microsoft.com/office/drawing/2014/main" id="{E239311E-FE38-C04E-AE28-C98D5F3971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77" y="2115"/>
                  <a:ext cx="63" cy="63"/>
                </a:xfrm>
                <a:custGeom>
                  <a:avLst/>
                  <a:gdLst>
                    <a:gd name="T0" fmla="*/ 0 w 126"/>
                    <a:gd name="T1" fmla="*/ 1 h 126"/>
                    <a:gd name="T2" fmla="*/ 1 w 126"/>
                    <a:gd name="T3" fmla="*/ 1 h 126"/>
                    <a:gd name="T4" fmla="*/ 0 w 126"/>
                    <a:gd name="T5" fmla="*/ 0 h 126"/>
                    <a:gd name="T6" fmla="*/ 0 w 126"/>
                    <a:gd name="T7" fmla="*/ 1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6"/>
                    <a:gd name="T13" fmla="*/ 0 h 126"/>
                    <a:gd name="T14" fmla="*/ 126 w 126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6" h="126">
                      <a:moveTo>
                        <a:pt x="0" y="126"/>
                      </a:moveTo>
                      <a:lnTo>
                        <a:pt x="126" y="64"/>
                      </a:lnTo>
                      <a:lnTo>
                        <a:pt x="0" y="0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978" name="Group 110">
                <a:extLst>
                  <a:ext uri="{FF2B5EF4-FFF2-40B4-BE49-F238E27FC236}">
                    <a16:creationId xmlns:a16="http://schemas.microsoft.com/office/drawing/2014/main" id="{3604D92A-C84F-254B-8F10-25F72439053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20" y="2146"/>
                <a:ext cx="346" cy="96"/>
                <a:chOff x="3320" y="2146"/>
                <a:chExt cx="346" cy="96"/>
              </a:xfrm>
            </p:grpSpPr>
            <p:sp>
              <p:nvSpPr>
                <p:cNvPr id="22025" name="Line 108">
                  <a:extLst>
                    <a:ext uri="{FF2B5EF4-FFF2-40B4-BE49-F238E27FC236}">
                      <a16:creationId xmlns:a16="http://schemas.microsoft.com/office/drawing/2014/main" id="{0BB554DA-C7A9-BD43-A867-64AD2674ED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20" y="2146"/>
                  <a:ext cx="288" cy="65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2026" name="Freeform 109">
                  <a:extLst>
                    <a:ext uri="{FF2B5EF4-FFF2-40B4-BE49-F238E27FC236}">
                      <a16:creationId xmlns:a16="http://schemas.microsoft.com/office/drawing/2014/main" id="{80612469-E7E3-864A-9BBD-1A00230EB3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98" y="2181"/>
                  <a:ext cx="68" cy="61"/>
                </a:xfrm>
                <a:custGeom>
                  <a:avLst/>
                  <a:gdLst>
                    <a:gd name="T0" fmla="*/ 0 w 136"/>
                    <a:gd name="T1" fmla="*/ 1 h 121"/>
                    <a:gd name="T2" fmla="*/ 1 w 136"/>
                    <a:gd name="T3" fmla="*/ 1 h 121"/>
                    <a:gd name="T4" fmla="*/ 1 w 136"/>
                    <a:gd name="T5" fmla="*/ 0 h 121"/>
                    <a:gd name="T6" fmla="*/ 0 w 136"/>
                    <a:gd name="T7" fmla="*/ 1 h 12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6"/>
                    <a:gd name="T13" fmla="*/ 0 h 121"/>
                    <a:gd name="T14" fmla="*/ 136 w 136"/>
                    <a:gd name="T15" fmla="*/ 121 h 12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6" h="121">
                      <a:moveTo>
                        <a:pt x="0" y="121"/>
                      </a:moveTo>
                      <a:lnTo>
                        <a:pt x="136" y="87"/>
                      </a:lnTo>
                      <a:lnTo>
                        <a:pt x="28" y="0"/>
                      </a:lnTo>
                      <a:lnTo>
                        <a:pt x="0" y="1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979" name="Group 113">
                <a:extLst>
                  <a:ext uri="{FF2B5EF4-FFF2-40B4-BE49-F238E27FC236}">
                    <a16:creationId xmlns:a16="http://schemas.microsoft.com/office/drawing/2014/main" id="{E4608584-B31A-E24A-BDEA-C84CF5C73C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94" y="2351"/>
                <a:ext cx="65" cy="177"/>
                <a:chOff x="1294" y="2351"/>
                <a:chExt cx="65" cy="177"/>
              </a:xfrm>
            </p:grpSpPr>
            <p:sp>
              <p:nvSpPr>
                <p:cNvPr id="22023" name="Line 111">
                  <a:extLst>
                    <a:ext uri="{FF2B5EF4-FFF2-40B4-BE49-F238E27FC236}">
                      <a16:creationId xmlns:a16="http://schemas.microsoft.com/office/drawing/2014/main" id="{409FC2D1-DB22-964B-82E8-A22349E406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23" y="2351"/>
                  <a:ext cx="36" cy="120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2024" name="Freeform 112">
                  <a:extLst>
                    <a:ext uri="{FF2B5EF4-FFF2-40B4-BE49-F238E27FC236}">
                      <a16:creationId xmlns:a16="http://schemas.microsoft.com/office/drawing/2014/main" id="{B06A0F15-7C2C-9042-9BC5-6B6793FEF5F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94" y="2459"/>
                  <a:ext cx="59" cy="69"/>
                </a:xfrm>
                <a:custGeom>
                  <a:avLst/>
                  <a:gdLst>
                    <a:gd name="T0" fmla="*/ 0 w 119"/>
                    <a:gd name="T1" fmla="*/ 0 h 138"/>
                    <a:gd name="T2" fmla="*/ 0 w 119"/>
                    <a:gd name="T3" fmla="*/ 1 h 138"/>
                    <a:gd name="T4" fmla="*/ 0 w 119"/>
                    <a:gd name="T5" fmla="*/ 1 h 138"/>
                    <a:gd name="T6" fmla="*/ 0 w 119"/>
                    <a:gd name="T7" fmla="*/ 0 h 13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19"/>
                    <a:gd name="T13" fmla="*/ 0 h 138"/>
                    <a:gd name="T14" fmla="*/ 119 w 119"/>
                    <a:gd name="T15" fmla="*/ 138 h 13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19" h="138">
                      <a:moveTo>
                        <a:pt x="0" y="0"/>
                      </a:moveTo>
                      <a:lnTo>
                        <a:pt x="19" y="138"/>
                      </a:lnTo>
                      <a:lnTo>
                        <a:pt x="119" y="3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980" name="Group 116">
                <a:extLst>
                  <a:ext uri="{FF2B5EF4-FFF2-40B4-BE49-F238E27FC236}">
                    <a16:creationId xmlns:a16="http://schemas.microsoft.com/office/drawing/2014/main" id="{A4F0DAF7-B15C-8B48-899A-5EC8CE9329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38" y="2672"/>
                <a:ext cx="978" cy="63"/>
                <a:chOff x="1638" y="2672"/>
                <a:chExt cx="978" cy="63"/>
              </a:xfrm>
            </p:grpSpPr>
            <p:sp>
              <p:nvSpPr>
                <p:cNvPr id="22021" name="Line 114">
                  <a:extLst>
                    <a:ext uri="{FF2B5EF4-FFF2-40B4-BE49-F238E27FC236}">
                      <a16:creationId xmlns:a16="http://schemas.microsoft.com/office/drawing/2014/main" id="{5683EA8B-B7A7-A14C-9E15-22D47B695F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638" y="2703"/>
                  <a:ext cx="918" cy="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2022" name="Freeform 115">
                  <a:extLst>
                    <a:ext uri="{FF2B5EF4-FFF2-40B4-BE49-F238E27FC236}">
                      <a16:creationId xmlns:a16="http://schemas.microsoft.com/office/drawing/2014/main" id="{291777C2-4409-A643-89D3-237CBFF0C2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54" y="2672"/>
                  <a:ext cx="62" cy="63"/>
                </a:xfrm>
                <a:custGeom>
                  <a:avLst/>
                  <a:gdLst>
                    <a:gd name="T0" fmla="*/ 0 w 123"/>
                    <a:gd name="T1" fmla="*/ 1 h 126"/>
                    <a:gd name="T2" fmla="*/ 1 w 123"/>
                    <a:gd name="T3" fmla="*/ 1 h 126"/>
                    <a:gd name="T4" fmla="*/ 0 w 123"/>
                    <a:gd name="T5" fmla="*/ 0 h 126"/>
                    <a:gd name="T6" fmla="*/ 0 w 123"/>
                    <a:gd name="T7" fmla="*/ 1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3"/>
                    <a:gd name="T13" fmla="*/ 0 h 126"/>
                    <a:gd name="T14" fmla="*/ 123 w 123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3" h="126">
                      <a:moveTo>
                        <a:pt x="0" y="126"/>
                      </a:moveTo>
                      <a:lnTo>
                        <a:pt x="123" y="64"/>
                      </a:lnTo>
                      <a:lnTo>
                        <a:pt x="0" y="0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981" name="Group 119">
                <a:extLst>
                  <a:ext uri="{FF2B5EF4-FFF2-40B4-BE49-F238E27FC236}">
                    <a16:creationId xmlns:a16="http://schemas.microsoft.com/office/drawing/2014/main" id="{D2A65EE2-33C1-9247-BC7D-2E3E89F175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44" y="2320"/>
                <a:ext cx="63" cy="266"/>
                <a:chOff x="2944" y="2320"/>
                <a:chExt cx="63" cy="266"/>
              </a:xfrm>
            </p:grpSpPr>
            <p:sp>
              <p:nvSpPr>
                <p:cNvPr id="22019" name="Line 117">
                  <a:extLst>
                    <a:ext uri="{FF2B5EF4-FFF2-40B4-BE49-F238E27FC236}">
                      <a16:creationId xmlns:a16="http://schemas.microsoft.com/office/drawing/2014/main" id="{29A13C72-8B7E-EA4A-87AD-7B48D4515E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975" y="2320"/>
                  <a:ext cx="5" cy="205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2020" name="Freeform 118">
                  <a:extLst>
                    <a:ext uri="{FF2B5EF4-FFF2-40B4-BE49-F238E27FC236}">
                      <a16:creationId xmlns:a16="http://schemas.microsoft.com/office/drawing/2014/main" id="{54D67DFB-B012-6241-A15E-AA9A71A81DD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44" y="2522"/>
                  <a:ext cx="63" cy="64"/>
                </a:xfrm>
                <a:custGeom>
                  <a:avLst/>
                  <a:gdLst>
                    <a:gd name="T0" fmla="*/ 0 w 125"/>
                    <a:gd name="T1" fmla="*/ 0 h 128"/>
                    <a:gd name="T2" fmla="*/ 1 w 125"/>
                    <a:gd name="T3" fmla="*/ 1 h 128"/>
                    <a:gd name="T4" fmla="*/ 1 w 125"/>
                    <a:gd name="T5" fmla="*/ 1 h 128"/>
                    <a:gd name="T6" fmla="*/ 0 w 125"/>
                    <a:gd name="T7" fmla="*/ 0 h 12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8"/>
                    <a:gd name="T14" fmla="*/ 125 w 125"/>
                    <a:gd name="T15" fmla="*/ 128 h 12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8">
                      <a:moveTo>
                        <a:pt x="0" y="0"/>
                      </a:moveTo>
                      <a:lnTo>
                        <a:pt x="60" y="128"/>
                      </a:lnTo>
                      <a:lnTo>
                        <a:pt x="125" y="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982" name="Group 122">
                <a:extLst>
                  <a:ext uri="{FF2B5EF4-FFF2-40B4-BE49-F238E27FC236}">
                    <a16:creationId xmlns:a16="http://schemas.microsoft.com/office/drawing/2014/main" id="{43207FF1-0549-0C4F-9DC5-398372AB6A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46" y="2820"/>
                <a:ext cx="828" cy="239"/>
                <a:chOff x="2146" y="2820"/>
                <a:chExt cx="828" cy="239"/>
              </a:xfrm>
            </p:grpSpPr>
            <p:sp>
              <p:nvSpPr>
                <p:cNvPr id="22017" name="Freeform 120">
                  <a:extLst>
                    <a:ext uri="{FF2B5EF4-FFF2-40B4-BE49-F238E27FC236}">
                      <a16:creationId xmlns:a16="http://schemas.microsoft.com/office/drawing/2014/main" id="{40C5F078-98F5-0B41-8C91-8206D372C2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77" y="2820"/>
                  <a:ext cx="797" cy="179"/>
                </a:xfrm>
                <a:custGeom>
                  <a:avLst/>
                  <a:gdLst>
                    <a:gd name="T0" fmla="*/ 0 w 1595"/>
                    <a:gd name="T1" fmla="*/ 0 h 357"/>
                    <a:gd name="T2" fmla="*/ 0 w 1595"/>
                    <a:gd name="T3" fmla="*/ 1 h 357"/>
                    <a:gd name="T4" fmla="*/ 0 w 1595"/>
                    <a:gd name="T5" fmla="*/ 1 h 357"/>
                    <a:gd name="T6" fmla="*/ 0 w 1595"/>
                    <a:gd name="T7" fmla="*/ 1 h 35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95"/>
                    <a:gd name="T13" fmla="*/ 0 h 357"/>
                    <a:gd name="T14" fmla="*/ 1595 w 1595"/>
                    <a:gd name="T15" fmla="*/ 357 h 35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95" h="357">
                      <a:moveTo>
                        <a:pt x="1595" y="0"/>
                      </a:moveTo>
                      <a:lnTo>
                        <a:pt x="1595" y="237"/>
                      </a:lnTo>
                      <a:lnTo>
                        <a:pt x="0" y="237"/>
                      </a:lnTo>
                      <a:lnTo>
                        <a:pt x="0" y="357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2018" name="Freeform 121">
                  <a:extLst>
                    <a:ext uri="{FF2B5EF4-FFF2-40B4-BE49-F238E27FC236}">
                      <a16:creationId xmlns:a16="http://schemas.microsoft.com/office/drawing/2014/main" id="{38CF440D-A44F-6148-81E7-2BDD298E33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46" y="2997"/>
                  <a:ext cx="62" cy="62"/>
                </a:xfrm>
                <a:custGeom>
                  <a:avLst/>
                  <a:gdLst>
                    <a:gd name="T0" fmla="*/ 0 w 125"/>
                    <a:gd name="T1" fmla="*/ 0 h 124"/>
                    <a:gd name="T2" fmla="*/ 0 w 125"/>
                    <a:gd name="T3" fmla="*/ 1 h 124"/>
                    <a:gd name="T4" fmla="*/ 0 w 125"/>
                    <a:gd name="T5" fmla="*/ 0 h 124"/>
                    <a:gd name="T6" fmla="*/ 0 w 125"/>
                    <a:gd name="T7" fmla="*/ 0 h 1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4"/>
                    <a:gd name="T14" fmla="*/ 125 w 125"/>
                    <a:gd name="T15" fmla="*/ 124 h 1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4">
                      <a:moveTo>
                        <a:pt x="0" y="0"/>
                      </a:moveTo>
                      <a:lnTo>
                        <a:pt x="61" y="124"/>
                      </a:lnTo>
                      <a:lnTo>
                        <a:pt x="12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983" name="Group 125">
                <a:extLst>
                  <a:ext uri="{FF2B5EF4-FFF2-40B4-BE49-F238E27FC236}">
                    <a16:creationId xmlns:a16="http://schemas.microsoft.com/office/drawing/2014/main" id="{99EEC97E-60AD-B14A-82C4-56F46E2620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4" y="2820"/>
                <a:ext cx="628" cy="239"/>
                <a:chOff x="2974" y="2820"/>
                <a:chExt cx="628" cy="239"/>
              </a:xfrm>
            </p:grpSpPr>
            <p:sp>
              <p:nvSpPr>
                <p:cNvPr id="22015" name="Freeform 123">
                  <a:extLst>
                    <a:ext uri="{FF2B5EF4-FFF2-40B4-BE49-F238E27FC236}">
                      <a16:creationId xmlns:a16="http://schemas.microsoft.com/office/drawing/2014/main" id="{DE366951-0E68-EF4B-8290-666B55CFE4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74" y="2820"/>
                  <a:ext cx="596" cy="179"/>
                </a:xfrm>
                <a:custGeom>
                  <a:avLst/>
                  <a:gdLst>
                    <a:gd name="T0" fmla="*/ 0 w 1193"/>
                    <a:gd name="T1" fmla="*/ 0 h 357"/>
                    <a:gd name="T2" fmla="*/ 0 w 1193"/>
                    <a:gd name="T3" fmla="*/ 1 h 357"/>
                    <a:gd name="T4" fmla="*/ 0 w 1193"/>
                    <a:gd name="T5" fmla="*/ 1 h 357"/>
                    <a:gd name="T6" fmla="*/ 0 w 1193"/>
                    <a:gd name="T7" fmla="*/ 1 h 35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193"/>
                    <a:gd name="T13" fmla="*/ 0 h 357"/>
                    <a:gd name="T14" fmla="*/ 1193 w 1193"/>
                    <a:gd name="T15" fmla="*/ 357 h 35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193" h="357">
                      <a:moveTo>
                        <a:pt x="0" y="0"/>
                      </a:moveTo>
                      <a:lnTo>
                        <a:pt x="0" y="237"/>
                      </a:lnTo>
                      <a:lnTo>
                        <a:pt x="1193" y="237"/>
                      </a:lnTo>
                      <a:lnTo>
                        <a:pt x="1193" y="357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2016" name="Freeform 124">
                  <a:extLst>
                    <a:ext uri="{FF2B5EF4-FFF2-40B4-BE49-F238E27FC236}">
                      <a16:creationId xmlns:a16="http://schemas.microsoft.com/office/drawing/2014/main" id="{7E7C1D68-CFC1-924A-89FB-570ACE5E7E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40" y="2997"/>
                  <a:ext cx="62" cy="62"/>
                </a:xfrm>
                <a:custGeom>
                  <a:avLst/>
                  <a:gdLst>
                    <a:gd name="T0" fmla="*/ 0 w 125"/>
                    <a:gd name="T1" fmla="*/ 0 h 124"/>
                    <a:gd name="T2" fmla="*/ 0 w 125"/>
                    <a:gd name="T3" fmla="*/ 1 h 124"/>
                    <a:gd name="T4" fmla="*/ 0 w 125"/>
                    <a:gd name="T5" fmla="*/ 0 h 124"/>
                    <a:gd name="T6" fmla="*/ 0 w 125"/>
                    <a:gd name="T7" fmla="*/ 0 h 1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4"/>
                    <a:gd name="T14" fmla="*/ 125 w 125"/>
                    <a:gd name="T15" fmla="*/ 124 h 1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4">
                      <a:moveTo>
                        <a:pt x="0" y="0"/>
                      </a:moveTo>
                      <a:lnTo>
                        <a:pt x="62" y="124"/>
                      </a:lnTo>
                      <a:lnTo>
                        <a:pt x="12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984" name="Group 128">
                <a:extLst>
                  <a:ext uri="{FF2B5EF4-FFF2-40B4-BE49-F238E27FC236}">
                    <a16:creationId xmlns:a16="http://schemas.microsoft.com/office/drawing/2014/main" id="{A15E5A86-61E2-7148-8528-11C654FEE5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61" y="2936"/>
                <a:ext cx="835" cy="272"/>
                <a:chOff x="3761" y="2936"/>
                <a:chExt cx="835" cy="272"/>
              </a:xfrm>
            </p:grpSpPr>
            <p:sp>
              <p:nvSpPr>
                <p:cNvPr id="22013" name="Freeform 126">
                  <a:extLst>
                    <a:ext uri="{FF2B5EF4-FFF2-40B4-BE49-F238E27FC236}">
                      <a16:creationId xmlns:a16="http://schemas.microsoft.com/office/drawing/2014/main" id="{4583725F-1FA0-F442-B063-C8F66D3A67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21" y="2936"/>
                  <a:ext cx="775" cy="241"/>
                </a:xfrm>
                <a:custGeom>
                  <a:avLst/>
                  <a:gdLst>
                    <a:gd name="T0" fmla="*/ 0 w 1551"/>
                    <a:gd name="T1" fmla="*/ 0 h 481"/>
                    <a:gd name="T2" fmla="*/ 0 w 1551"/>
                    <a:gd name="T3" fmla="*/ 1 h 481"/>
                    <a:gd name="T4" fmla="*/ 0 w 1551"/>
                    <a:gd name="T5" fmla="*/ 1 h 481"/>
                    <a:gd name="T6" fmla="*/ 0 60000 65536"/>
                    <a:gd name="T7" fmla="*/ 0 60000 65536"/>
                    <a:gd name="T8" fmla="*/ 0 60000 65536"/>
                    <a:gd name="T9" fmla="*/ 0 w 1551"/>
                    <a:gd name="T10" fmla="*/ 0 h 481"/>
                    <a:gd name="T11" fmla="*/ 1551 w 1551"/>
                    <a:gd name="T12" fmla="*/ 481 h 48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551" h="481">
                      <a:moveTo>
                        <a:pt x="1551" y="0"/>
                      </a:moveTo>
                      <a:lnTo>
                        <a:pt x="1551" y="481"/>
                      </a:lnTo>
                      <a:lnTo>
                        <a:pt x="0" y="481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2014" name="Freeform 127">
                  <a:extLst>
                    <a:ext uri="{FF2B5EF4-FFF2-40B4-BE49-F238E27FC236}">
                      <a16:creationId xmlns:a16="http://schemas.microsoft.com/office/drawing/2014/main" id="{6DA3B51D-1D8F-3E44-A393-B5A774B3C9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61" y="3146"/>
                  <a:ext cx="63" cy="62"/>
                </a:xfrm>
                <a:custGeom>
                  <a:avLst/>
                  <a:gdLst>
                    <a:gd name="T0" fmla="*/ 1 w 125"/>
                    <a:gd name="T1" fmla="*/ 0 h 126"/>
                    <a:gd name="T2" fmla="*/ 0 w 125"/>
                    <a:gd name="T3" fmla="*/ 0 h 126"/>
                    <a:gd name="T4" fmla="*/ 1 w 125"/>
                    <a:gd name="T5" fmla="*/ 0 h 126"/>
                    <a:gd name="T6" fmla="*/ 1 w 125"/>
                    <a:gd name="T7" fmla="*/ 0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6"/>
                    <a:gd name="T14" fmla="*/ 125 w 125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6">
                      <a:moveTo>
                        <a:pt x="125" y="0"/>
                      </a:moveTo>
                      <a:lnTo>
                        <a:pt x="0" y="62"/>
                      </a:lnTo>
                      <a:lnTo>
                        <a:pt x="125" y="126"/>
                      </a:ln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985" name="Group 131">
                <a:extLst>
                  <a:ext uri="{FF2B5EF4-FFF2-40B4-BE49-F238E27FC236}">
                    <a16:creationId xmlns:a16="http://schemas.microsoft.com/office/drawing/2014/main" id="{EC625A96-3BBB-BA4E-B7C1-A3EDE872F3B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146"/>
                <a:ext cx="219" cy="62"/>
                <a:chOff x="1709" y="3146"/>
                <a:chExt cx="219" cy="62"/>
              </a:xfrm>
            </p:grpSpPr>
            <p:sp>
              <p:nvSpPr>
                <p:cNvPr id="22011" name="Line 129">
                  <a:extLst>
                    <a:ext uri="{FF2B5EF4-FFF2-40B4-BE49-F238E27FC236}">
                      <a16:creationId xmlns:a16="http://schemas.microsoft.com/office/drawing/2014/main" id="{E6968335-07B9-434A-8C6F-7C017A166D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09" y="3177"/>
                  <a:ext cx="158" cy="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2012" name="Freeform 130">
                  <a:extLst>
                    <a:ext uri="{FF2B5EF4-FFF2-40B4-BE49-F238E27FC236}">
                      <a16:creationId xmlns:a16="http://schemas.microsoft.com/office/drawing/2014/main" id="{A911F50A-BD55-F949-B577-6B8205306B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65" y="3146"/>
                  <a:ext cx="63" cy="62"/>
                </a:xfrm>
                <a:custGeom>
                  <a:avLst/>
                  <a:gdLst>
                    <a:gd name="T0" fmla="*/ 0 w 125"/>
                    <a:gd name="T1" fmla="*/ 0 h 126"/>
                    <a:gd name="T2" fmla="*/ 1 w 125"/>
                    <a:gd name="T3" fmla="*/ 0 h 126"/>
                    <a:gd name="T4" fmla="*/ 0 w 125"/>
                    <a:gd name="T5" fmla="*/ 0 h 126"/>
                    <a:gd name="T6" fmla="*/ 0 w 125"/>
                    <a:gd name="T7" fmla="*/ 0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6"/>
                    <a:gd name="T14" fmla="*/ 125 w 125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6">
                      <a:moveTo>
                        <a:pt x="0" y="126"/>
                      </a:moveTo>
                      <a:lnTo>
                        <a:pt x="125" y="62"/>
                      </a:lnTo>
                      <a:lnTo>
                        <a:pt x="0" y="0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986" name="Group 134">
                <a:extLst>
                  <a:ext uri="{FF2B5EF4-FFF2-40B4-BE49-F238E27FC236}">
                    <a16:creationId xmlns:a16="http://schemas.microsoft.com/office/drawing/2014/main" id="{BC1E7AE9-E708-3245-B668-4B226234F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25" y="3146"/>
                <a:ext cx="286" cy="62"/>
                <a:chOff x="2425" y="3146"/>
                <a:chExt cx="286" cy="62"/>
              </a:xfrm>
            </p:grpSpPr>
            <p:sp>
              <p:nvSpPr>
                <p:cNvPr id="22009" name="Line 132">
                  <a:extLst>
                    <a:ext uri="{FF2B5EF4-FFF2-40B4-BE49-F238E27FC236}">
                      <a16:creationId xmlns:a16="http://schemas.microsoft.com/office/drawing/2014/main" id="{A2FEC745-4392-674F-897C-64E2F353C6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25" y="3177"/>
                  <a:ext cx="227" cy="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2010" name="Freeform 133">
                  <a:extLst>
                    <a:ext uri="{FF2B5EF4-FFF2-40B4-BE49-F238E27FC236}">
                      <a16:creationId xmlns:a16="http://schemas.microsoft.com/office/drawing/2014/main" id="{C59D1CE4-99C0-224F-B299-431842455E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50" y="3146"/>
                  <a:ext cx="61" cy="62"/>
                </a:xfrm>
                <a:custGeom>
                  <a:avLst/>
                  <a:gdLst>
                    <a:gd name="T0" fmla="*/ 0 w 123"/>
                    <a:gd name="T1" fmla="*/ 0 h 126"/>
                    <a:gd name="T2" fmla="*/ 0 w 123"/>
                    <a:gd name="T3" fmla="*/ 0 h 126"/>
                    <a:gd name="T4" fmla="*/ 0 w 123"/>
                    <a:gd name="T5" fmla="*/ 0 h 126"/>
                    <a:gd name="T6" fmla="*/ 0 w 123"/>
                    <a:gd name="T7" fmla="*/ 0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3"/>
                    <a:gd name="T13" fmla="*/ 0 h 126"/>
                    <a:gd name="T14" fmla="*/ 123 w 123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3" h="126">
                      <a:moveTo>
                        <a:pt x="0" y="126"/>
                      </a:moveTo>
                      <a:lnTo>
                        <a:pt x="123" y="62"/>
                      </a:lnTo>
                      <a:lnTo>
                        <a:pt x="0" y="0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987" name="Group 137">
                <a:extLst>
                  <a:ext uri="{FF2B5EF4-FFF2-40B4-BE49-F238E27FC236}">
                    <a16:creationId xmlns:a16="http://schemas.microsoft.com/office/drawing/2014/main" id="{318CF825-9910-8246-B0B2-59B02E74FE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73" y="2878"/>
                <a:ext cx="63" cy="181"/>
                <a:chOff x="1273" y="2878"/>
                <a:chExt cx="63" cy="181"/>
              </a:xfrm>
            </p:grpSpPr>
            <p:sp>
              <p:nvSpPr>
                <p:cNvPr id="22007" name="Line 135">
                  <a:extLst>
                    <a:ext uri="{FF2B5EF4-FFF2-40B4-BE49-F238E27FC236}">
                      <a16:creationId xmlns:a16="http://schemas.microsoft.com/office/drawing/2014/main" id="{E538398C-50DE-7D41-A328-444999F60D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04" y="2878"/>
                  <a:ext cx="1" cy="12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2008" name="Freeform 136">
                  <a:extLst>
                    <a:ext uri="{FF2B5EF4-FFF2-40B4-BE49-F238E27FC236}">
                      <a16:creationId xmlns:a16="http://schemas.microsoft.com/office/drawing/2014/main" id="{9B0E9A33-3115-5D4B-AA28-C33289E3A4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73" y="2997"/>
                  <a:ext cx="63" cy="62"/>
                </a:xfrm>
                <a:custGeom>
                  <a:avLst/>
                  <a:gdLst>
                    <a:gd name="T0" fmla="*/ 0 w 125"/>
                    <a:gd name="T1" fmla="*/ 0 h 124"/>
                    <a:gd name="T2" fmla="*/ 1 w 125"/>
                    <a:gd name="T3" fmla="*/ 1 h 124"/>
                    <a:gd name="T4" fmla="*/ 1 w 125"/>
                    <a:gd name="T5" fmla="*/ 0 h 124"/>
                    <a:gd name="T6" fmla="*/ 0 w 125"/>
                    <a:gd name="T7" fmla="*/ 0 h 1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4"/>
                    <a:gd name="T14" fmla="*/ 125 w 125"/>
                    <a:gd name="T15" fmla="*/ 124 h 1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4">
                      <a:moveTo>
                        <a:pt x="0" y="0"/>
                      </a:moveTo>
                      <a:lnTo>
                        <a:pt x="61" y="124"/>
                      </a:lnTo>
                      <a:lnTo>
                        <a:pt x="12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988" name="Group 140">
                <a:extLst>
                  <a:ext uri="{FF2B5EF4-FFF2-40B4-BE49-F238E27FC236}">
                    <a16:creationId xmlns:a16="http://schemas.microsoft.com/office/drawing/2014/main" id="{6C4E2F27-9889-FF47-BA58-F8776BE968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3" y="2352"/>
                <a:ext cx="63" cy="220"/>
                <a:chOff x="533" y="2352"/>
                <a:chExt cx="63" cy="220"/>
              </a:xfrm>
            </p:grpSpPr>
            <p:sp>
              <p:nvSpPr>
                <p:cNvPr id="22005" name="Line 138">
                  <a:extLst>
                    <a:ext uri="{FF2B5EF4-FFF2-40B4-BE49-F238E27FC236}">
                      <a16:creationId xmlns:a16="http://schemas.microsoft.com/office/drawing/2014/main" id="{605D78EF-3AB0-7B4F-8229-147CDFE297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64" y="2411"/>
                  <a:ext cx="1" cy="16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2006" name="Freeform 139">
                  <a:extLst>
                    <a:ext uri="{FF2B5EF4-FFF2-40B4-BE49-F238E27FC236}">
                      <a16:creationId xmlns:a16="http://schemas.microsoft.com/office/drawing/2014/main" id="{6968CCEC-807D-5440-A78E-D254C17A86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3" y="2352"/>
                  <a:ext cx="63" cy="62"/>
                </a:xfrm>
                <a:custGeom>
                  <a:avLst/>
                  <a:gdLst>
                    <a:gd name="T0" fmla="*/ 1 w 126"/>
                    <a:gd name="T1" fmla="*/ 1 h 124"/>
                    <a:gd name="T2" fmla="*/ 1 w 126"/>
                    <a:gd name="T3" fmla="*/ 0 h 124"/>
                    <a:gd name="T4" fmla="*/ 0 w 126"/>
                    <a:gd name="T5" fmla="*/ 1 h 124"/>
                    <a:gd name="T6" fmla="*/ 1 w 126"/>
                    <a:gd name="T7" fmla="*/ 1 h 1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6"/>
                    <a:gd name="T13" fmla="*/ 0 h 124"/>
                    <a:gd name="T14" fmla="*/ 126 w 126"/>
                    <a:gd name="T15" fmla="*/ 124 h 1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6" h="124">
                      <a:moveTo>
                        <a:pt x="126" y="124"/>
                      </a:moveTo>
                      <a:lnTo>
                        <a:pt x="62" y="0"/>
                      </a:lnTo>
                      <a:lnTo>
                        <a:pt x="0" y="124"/>
                      </a:lnTo>
                      <a:lnTo>
                        <a:pt x="126" y="1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21989" name="Rectangle 141">
                <a:extLst>
                  <a:ext uri="{FF2B5EF4-FFF2-40B4-BE49-F238E27FC236}">
                    <a16:creationId xmlns:a16="http://schemas.microsoft.com/office/drawing/2014/main" id="{980C3222-BC7F-824B-994A-23F9E67BA5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4" y="1288"/>
                <a:ext cx="717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990" name="Rectangle 142">
                <a:extLst>
                  <a:ext uri="{FF2B5EF4-FFF2-40B4-BE49-F238E27FC236}">
                    <a16:creationId xmlns:a16="http://schemas.microsoft.com/office/drawing/2014/main" id="{FCE2FB13-3A7E-9D4F-815C-575CA73B97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8" y="1299"/>
                <a:ext cx="51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Escopo do </a:t>
                </a:r>
                <a:endParaRPr lang="pt-BR" altLang="pt-BR" sz="2000"/>
              </a:p>
            </p:txBody>
          </p:sp>
          <p:sp>
            <p:nvSpPr>
              <p:cNvPr id="21991" name="Rectangle 143">
                <a:extLst>
                  <a:ext uri="{FF2B5EF4-FFF2-40B4-BE49-F238E27FC236}">
                    <a16:creationId xmlns:a16="http://schemas.microsoft.com/office/drawing/2014/main" id="{21AC77D4-50F1-F348-A59A-BE9C388D8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5" y="1413"/>
                <a:ext cx="37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Produto</a:t>
                </a:r>
                <a:endParaRPr lang="pt-BR" altLang="pt-BR" sz="2000"/>
              </a:p>
            </p:txBody>
          </p:sp>
          <p:sp>
            <p:nvSpPr>
              <p:cNvPr id="21992" name="Rectangle 144">
                <a:extLst>
                  <a:ext uri="{FF2B5EF4-FFF2-40B4-BE49-F238E27FC236}">
                    <a16:creationId xmlns:a16="http://schemas.microsoft.com/office/drawing/2014/main" id="{5DAD8145-2BA0-8F4F-A3EE-1997282849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" y="1231"/>
                <a:ext cx="554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993" name="Rectangle 145">
                <a:extLst>
                  <a:ext uri="{FF2B5EF4-FFF2-40B4-BE49-F238E27FC236}">
                    <a16:creationId xmlns:a16="http://schemas.microsoft.com/office/drawing/2014/main" id="{8481FEB5-37DE-BE49-B85E-D5B1ADBED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" y="1242"/>
                <a:ext cx="41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Ciclo de </a:t>
                </a:r>
                <a:endParaRPr lang="pt-BR" altLang="pt-BR" sz="2000"/>
              </a:p>
            </p:txBody>
          </p:sp>
          <p:sp>
            <p:nvSpPr>
              <p:cNvPr id="21994" name="Rectangle 146">
                <a:extLst>
                  <a:ext uri="{FF2B5EF4-FFF2-40B4-BE49-F238E27FC236}">
                    <a16:creationId xmlns:a16="http://schemas.microsoft.com/office/drawing/2014/main" id="{C585F1DD-736B-064A-9A89-CA69B3195C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" y="1357"/>
                <a:ext cx="37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vida do </a:t>
                </a:r>
                <a:endParaRPr lang="pt-BR" altLang="pt-BR" sz="2000"/>
              </a:p>
            </p:txBody>
          </p:sp>
          <p:sp>
            <p:nvSpPr>
              <p:cNvPr id="21995" name="Rectangle 147">
                <a:extLst>
                  <a:ext uri="{FF2B5EF4-FFF2-40B4-BE49-F238E27FC236}">
                    <a16:creationId xmlns:a16="http://schemas.microsoft.com/office/drawing/2014/main" id="{F68ED1F5-FE28-8642-9352-DD0F5A1CD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" y="1471"/>
                <a:ext cx="36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produto</a:t>
                </a:r>
                <a:endParaRPr lang="pt-BR" altLang="pt-BR" sz="2000"/>
              </a:p>
            </p:txBody>
          </p:sp>
          <p:grpSp>
            <p:nvGrpSpPr>
              <p:cNvPr id="21996" name="Group 150">
                <a:extLst>
                  <a:ext uri="{FF2B5EF4-FFF2-40B4-BE49-F238E27FC236}">
                    <a16:creationId xmlns:a16="http://schemas.microsoft.com/office/drawing/2014/main" id="{206FEA66-E9B7-5A4F-99E0-201A24E329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78" y="1376"/>
                <a:ext cx="296" cy="63"/>
                <a:chOff x="878" y="1376"/>
                <a:chExt cx="296" cy="63"/>
              </a:xfrm>
            </p:grpSpPr>
            <p:sp>
              <p:nvSpPr>
                <p:cNvPr id="22003" name="Freeform 148">
                  <a:extLst>
                    <a:ext uri="{FF2B5EF4-FFF2-40B4-BE49-F238E27FC236}">
                      <a16:creationId xmlns:a16="http://schemas.microsoft.com/office/drawing/2014/main" id="{5EF0C3ED-5864-0C42-B8C8-73AB71A0C0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38" y="1406"/>
                  <a:ext cx="236" cy="1"/>
                </a:xfrm>
                <a:custGeom>
                  <a:avLst/>
                  <a:gdLst>
                    <a:gd name="T0" fmla="*/ 0 w 473"/>
                    <a:gd name="T1" fmla="*/ 0 h 2"/>
                    <a:gd name="T2" fmla="*/ 0 w 473"/>
                    <a:gd name="T3" fmla="*/ 0 h 2"/>
                    <a:gd name="T4" fmla="*/ 0 w 473"/>
                    <a:gd name="T5" fmla="*/ 1 h 2"/>
                    <a:gd name="T6" fmla="*/ 0 w 473"/>
                    <a:gd name="T7" fmla="*/ 1 h 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73"/>
                    <a:gd name="T13" fmla="*/ 0 h 2"/>
                    <a:gd name="T14" fmla="*/ 473 w 473"/>
                    <a:gd name="T15" fmla="*/ 2 h 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73" h="2">
                      <a:moveTo>
                        <a:pt x="473" y="0"/>
                      </a:moveTo>
                      <a:lnTo>
                        <a:pt x="177" y="0"/>
                      </a:lnTo>
                      <a:lnTo>
                        <a:pt x="177" y="2"/>
                      </a:lnTo>
                      <a:lnTo>
                        <a:pt x="0" y="2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2004" name="Freeform 149">
                  <a:extLst>
                    <a:ext uri="{FF2B5EF4-FFF2-40B4-BE49-F238E27FC236}">
                      <a16:creationId xmlns:a16="http://schemas.microsoft.com/office/drawing/2014/main" id="{C32BD56B-03FB-6B4C-8E18-F3551EACD7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78" y="1376"/>
                  <a:ext cx="63" cy="63"/>
                </a:xfrm>
                <a:custGeom>
                  <a:avLst/>
                  <a:gdLst>
                    <a:gd name="T0" fmla="*/ 1 w 126"/>
                    <a:gd name="T1" fmla="*/ 0 h 126"/>
                    <a:gd name="T2" fmla="*/ 0 w 126"/>
                    <a:gd name="T3" fmla="*/ 1 h 126"/>
                    <a:gd name="T4" fmla="*/ 1 w 126"/>
                    <a:gd name="T5" fmla="*/ 1 h 126"/>
                    <a:gd name="T6" fmla="*/ 1 w 126"/>
                    <a:gd name="T7" fmla="*/ 0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6"/>
                    <a:gd name="T13" fmla="*/ 0 h 126"/>
                    <a:gd name="T14" fmla="*/ 126 w 126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6" h="126">
                      <a:moveTo>
                        <a:pt x="126" y="0"/>
                      </a:moveTo>
                      <a:lnTo>
                        <a:pt x="0" y="62"/>
                      </a:lnTo>
                      <a:lnTo>
                        <a:pt x="126" y="126"/>
                      </a:lnTo>
                      <a:lnTo>
                        <a:pt x="12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997" name="Group 153">
                <a:extLst>
                  <a:ext uri="{FF2B5EF4-FFF2-40B4-BE49-F238E27FC236}">
                    <a16:creationId xmlns:a16="http://schemas.microsoft.com/office/drawing/2014/main" id="{CACCB9B1-5B71-3F4E-B70A-2DE2500E92F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7" y="1407"/>
                <a:ext cx="238" cy="1315"/>
                <a:chOff x="87" y="1407"/>
                <a:chExt cx="238" cy="1315"/>
              </a:xfrm>
            </p:grpSpPr>
            <p:sp>
              <p:nvSpPr>
                <p:cNvPr id="22001" name="Freeform 151">
                  <a:extLst>
                    <a:ext uri="{FF2B5EF4-FFF2-40B4-BE49-F238E27FC236}">
                      <a16:creationId xmlns:a16="http://schemas.microsoft.com/office/drawing/2014/main" id="{023A5C2B-6162-3141-B6E5-6718B34E08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7" y="1407"/>
                  <a:ext cx="238" cy="1283"/>
                </a:xfrm>
                <a:custGeom>
                  <a:avLst/>
                  <a:gdLst>
                    <a:gd name="T0" fmla="*/ 0 w 477"/>
                    <a:gd name="T1" fmla="*/ 0 h 2566"/>
                    <a:gd name="T2" fmla="*/ 0 w 477"/>
                    <a:gd name="T3" fmla="*/ 0 h 2566"/>
                    <a:gd name="T4" fmla="*/ 0 w 477"/>
                    <a:gd name="T5" fmla="*/ 1 h 2566"/>
                    <a:gd name="T6" fmla="*/ 0 w 477"/>
                    <a:gd name="T7" fmla="*/ 1 h 256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77"/>
                    <a:gd name="T13" fmla="*/ 0 h 2566"/>
                    <a:gd name="T14" fmla="*/ 477 w 477"/>
                    <a:gd name="T15" fmla="*/ 2566 h 256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77" h="2566">
                      <a:moveTo>
                        <a:pt x="477" y="0"/>
                      </a:moveTo>
                      <a:lnTo>
                        <a:pt x="0" y="0"/>
                      </a:lnTo>
                      <a:lnTo>
                        <a:pt x="0" y="2566"/>
                      </a:lnTo>
                      <a:lnTo>
                        <a:pt x="167" y="2566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2002" name="Freeform 152">
                  <a:extLst>
                    <a:ext uri="{FF2B5EF4-FFF2-40B4-BE49-F238E27FC236}">
                      <a16:creationId xmlns:a16="http://schemas.microsoft.com/office/drawing/2014/main" id="{A3BB7AF6-EBD0-8044-BEB7-CE04E78E2E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8" y="2659"/>
                  <a:ext cx="62" cy="63"/>
                </a:xfrm>
                <a:custGeom>
                  <a:avLst/>
                  <a:gdLst>
                    <a:gd name="T0" fmla="*/ 0 w 123"/>
                    <a:gd name="T1" fmla="*/ 1 h 126"/>
                    <a:gd name="T2" fmla="*/ 1 w 123"/>
                    <a:gd name="T3" fmla="*/ 1 h 126"/>
                    <a:gd name="T4" fmla="*/ 0 w 123"/>
                    <a:gd name="T5" fmla="*/ 0 h 126"/>
                    <a:gd name="T6" fmla="*/ 0 w 123"/>
                    <a:gd name="T7" fmla="*/ 1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3"/>
                    <a:gd name="T13" fmla="*/ 0 h 126"/>
                    <a:gd name="T14" fmla="*/ 123 w 123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3" h="126">
                      <a:moveTo>
                        <a:pt x="0" y="126"/>
                      </a:moveTo>
                      <a:lnTo>
                        <a:pt x="123" y="62"/>
                      </a:lnTo>
                      <a:lnTo>
                        <a:pt x="0" y="0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998" name="Group 156">
                <a:extLst>
                  <a:ext uri="{FF2B5EF4-FFF2-40B4-BE49-F238E27FC236}">
                    <a16:creationId xmlns:a16="http://schemas.microsoft.com/office/drawing/2014/main" id="{49ACC708-9904-8948-BF95-0DA8C8DA9E5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3" y="1523"/>
                <a:ext cx="999" cy="478"/>
                <a:chOff x="533" y="1523"/>
                <a:chExt cx="999" cy="478"/>
              </a:xfrm>
            </p:grpSpPr>
            <p:sp>
              <p:nvSpPr>
                <p:cNvPr id="21999" name="Freeform 154">
                  <a:extLst>
                    <a:ext uri="{FF2B5EF4-FFF2-40B4-BE49-F238E27FC236}">
                      <a16:creationId xmlns:a16="http://schemas.microsoft.com/office/drawing/2014/main" id="{295308F2-E0DB-574A-907E-D879D4CEE5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4" y="1523"/>
                  <a:ext cx="968" cy="418"/>
                </a:xfrm>
                <a:custGeom>
                  <a:avLst/>
                  <a:gdLst>
                    <a:gd name="T0" fmla="*/ 0 w 1937"/>
                    <a:gd name="T1" fmla="*/ 0 h 836"/>
                    <a:gd name="T2" fmla="*/ 0 w 1937"/>
                    <a:gd name="T3" fmla="*/ 1 h 836"/>
                    <a:gd name="T4" fmla="*/ 0 w 1937"/>
                    <a:gd name="T5" fmla="*/ 1 h 836"/>
                    <a:gd name="T6" fmla="*/ 0 w 1937"/>
                    <a:gd name="T7" fmla="*/ 1 h 8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937"/>
                    <a:gd name="T13" fmla="*/ 0 h 836"/>
                    <a:gd name="T14" fmla="*/ 1937 w 1937"/>
                    <a:gd name="T15" fmla="*/ 836 h 8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937" h="836">
                      <a:moveTo>
                        <a:pt x="1937" y="0"/>
                      </a:moveTo>
                      <a:lnTo>
                        <a:pt x="1937" y="477"/>
                      </a:lnTo>
                      <a:lnTo>
                        <a:pt x="0" y="477"/>
                      </a:lnTo>
                      <a:lnTo>
                        <a:pt x="0" y="836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2000" name="Freeform 155">
                  <a:extLst>
                    <a:ext uri="{FF2B5EF4-FFF2-40B4-BE49-F238E27FC236}">
                      <a16:creationId xmlns:a16="http://schemas.microsoft.com/office/drawing/2014/main" id="{51E67335-CC78-B846-9541-DC2D86C5B4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3" y="1939"/>
                  <a:ext cx="63" cy="62"/>
                </a:xfrm>
                <a:custGeom>
                  <a:avLst/>
                  <a:gdLst>
                    <a:gd name="T0" fmla="*/ 0 w 126"/>
                    <a:gd name="T1" fmla="*/ 0 h 123"/>
                    <a:gd name="T2" fmla="*/ 1 w 126"/>
                    <a:gd name="T3" fmla="*/ 1 h 123"/>
                    <a:gd name="T4" fmla="*/ 1 w 126"/>
                    <a:gd name="T5" fmla="*/ 0 h 123"/>
                    <a:gd name="T6" fmla="*/ 0 w 126"/>
                    <a:gd name="T7" fmla="*/ 0 h 12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6"/>
                    <a:gd name="T13" fmla="*/ 0 h 123"/>
                    <a:gd name="T14" fmla="*/ 126 w 126"/>
                    <a:gd name="T15" fmla="*/ 123 h 12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6" h="123">
                      <a:moveTo>
                        <a:pt x="0" y="0"/>
                      </a:moveTo>
                      <a:lnTo>
                        <a:pt x="62" y="123"/>
                      </a:lnTo>
                      <a:lnTo>
                        <a:pt x="12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  <p:sp>
          <p:nvSpPr>
            <p:cNvPr id="21511" name="Rectangle 158">
              <a:extLst>
                <a:ext uri="{FF2B5EF4-FFF2-40B4-BE49-F238E27FC236}">
                  <a16:creationId xmlns:a16="http://schemas.microsoft.com/office/drawing/2014/main" id="{B8793C32-A814-D04C-A378-97825AD29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1" y="1423"/>
              <a:ext cx="860" cy="390"/>
            </a:xfrm>
            <a:prstGeom prst="rect">
              <a:avLst/>
            </a:prstGeom>
            <a:solidFill>
              <a:srgbClr val="EAEAEA"/>
            </a:solidFill>
            <a:ln w="24">
              <a:solidFill>
                <a:srgbClr val="FF33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512" name="Rectangle 159">
              <a:extLst>
                <a:ext uri="{FF2B5EF4-FFF2-40B4-BE49-F238E27FC236}">
                  <a16:creationId xmlns:a16="http://schemas.microsoft.com/office/drawing/2014/main" id="{66D00875-8BA6-954B-BE10-82C0CF219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0" y="1469"/>
              <a:ext cx="535" cy="1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600" b="1">
                  <a:solidFill>
                    <a:srgbClr val="FF3300"/>
                  </a:solidFill>
                </a:rPr>
                <a:t>Projeto </a:t>
              </a:r>
              <a:endParaRPr lang="pt-BR" altLang="pt-BR" sz="2000"/>
            </a:p>
          </p:txBody>
        </p:sp>
        <p:sp>
          <p:nvSpPr>
            <p:cNvPr id="21513" name="Rectangle 160">
              <a:extLst>
                <a:ext uri="{FF2B5EF4-FFF2-40B4-BE49-F238E27FC236}">
                  <a16:creationId xmlns:a16="http://schemas.microsoft.com/office/drawing/2014/main" id="{362E5C86-21B3-7B43-90D0-7B5752565E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5" y="1623"/>
              <a:ext cx="711" cy="1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600" b="1">
                  <a:solidFill>
                    <a:srgbClr val="FF3300"/>
                  </a:solidFill>
                </a:rPr>
                <a:t>Conceitual</a:t>
              </a:r>
              <a:endParaRPr lang="pt-BR" altLang="pt-BR" sz="2000"/>
            </a:p>
          </p:txBody>
        </p:sp>
        <p:sp>
          <p:nvSpPr>
            <p:cNvPr id="21514" name="Freeform 161">
              <a:extLst>
                <a:ext uri="{FF2B5EF4-FFF2-40B4-BE49-F238E27FC236}">
                  <a16:creationId xmlns:a16="http://schemas.microsoft.com/office/drawing/2014/main" id="{06D9B55E-9E30-8E47-A17D-C7F3E3C7F71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" y="1518"/>
              <a:ext cx="4963" cy="2299"/>
            </a:xfrm>
            <a:custGeom>
              <a:avLst/>
              <a:gdLst>
                <a:gd name="T0" fmla="*/ 1 w 9926"/>
                <a:gd name="T1" fmla="*/ 1 h 4597"/>
                <a:gd name="T2" fmla="*/ 1 w 9926"/>
                <a:gd name="T3" fmla="*/ 0 h 4597"/>
                <a:gd name="T4" fmla="*/ 1 w 9926"/>
                <a:gd name="T5" fmla="*/ 0 h 4597"/>
                <a:gd name="T6" fmla="*/ 1 w 9926"/>
                <a:gd name="T7" fmla="*/ 1 h 4597"/>
                <a:gd name="T8" fmla="*/ 1 w 9926"/>
                <a:gd name="T9" fmla="*/ 1 h 4597"/>
                <a:gd name="T10" fmla="*/ 1 w 9926"/>
                <a:gd name="T11" fmla="*/ 1 h 4597"/>
                <a:gd name="T12" fmla="*/ 0 w 9926"/>
                <a:gd name="T13" fmla="*/ 1 h 4597"/>
                <a:gd name="T14" fmla="*/ 0 w 9926"/>
                <a:gd name="T15" fmla="*/ 1 h 4597"/>
                <a:gd name="T16" fmla="*/ 1 w 9926"/>
                <a:gd name="T17" fmla="*/ 1 h 459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9926"/>
                <a:gd name="T28" fmla="*/ 0 h 4597"/>
                <a:gd name="T29" fmla="*/ 9926 w 9926"/>
                <a:gd name="T30" fmla="*/ 4597 h 459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9926" h="4597">
                  <a:moveTo>
                    <a:pt x="9926" y="4597"/>
                  </a:moveTo>
                  <a:lnTo>
                    <a:pt x="9926" y="0"/>
                  </a:lnTo>
                  <a:lnTo>
                    <a:pt x="5154" y="0"/>
                  </a:lnTo>
                  <a:lnTo>
                    <a:pt x="3532" y="862"/>
                  </a:lnTo>
                  <a:lnTo>
                    <a:pt x="3532" y="1915"/>
                  </a:lnTo>
                  <a:lnTo>
                    <a:pt x="573" y="1915"/>
                  </a:lnTo>
                  <a:lnTo>
                    <a:pt x="0" y="2969"/>
                  </a:lnTo>
                  <a:lnTo>
                    <a:pt x="0" y="4597"/>
                  </a:lnTo>
                  <a:lnTo>
                    <a:pt x="9926" y="4597"/>
                  </a:ln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1515" name="Freeform 162">
              <a:extLst>
                <a:ext uri="{FF2B5EF4-FFF2-40B4-BE49-F238E27FC236}">
                  <a16:creationId xmlns:a16="http://schemas.microsoft.com/office/drawing/2014/main" id="{9043ABA9-452C-054F-9505-D055E7F27233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" y="1618"/>
              <a:ext cx="4809" cy="1973"/>
            </a:xfrm>
            <a:custGeom>
              <a:avLst/>
              <a:gdLst>
                <a:gd name="T0" fmla="*/ 0 w 9620"/>
                <a:gd name="T1" fmla="*/ 1 h 3945"/>
                <a:gd name="T2" fmla="*/ 0 w 9620"/>
                <a:gd name="T3" fmla="*/ 1 h 3945"/>
                <a:gd name="T4" fmla="*/ 0 w 9620"/>
                <a:gd name="T5" fmla="*/ 0 h 3945"/>
                <a:gd name="T6" fmla="*/ 0 w 9620"/>
                <a:gd name="T7" fmla="*/ 0 h 3945"/>
                <a:gd name="T8" fmla="*/ 0 w 9620"/>
                <a:gd name="T9" fmla="*/ 1 h 3945"/>
                <a:gd name="T10" fmla="*/ 0 w 9620"/>
                <a:gd name="T11" fmla="*/ 1 h 3945"/>
                <a:gd name="T12" fmla="*/ 0 w 9620"/>
                <a:gd name="T13" fmla="*/ 1 h 3945"/>
                <a:gd name="T14" fmla="*/ 0 w 9620"/>
                <a:gd name="T15" fmla="*/ 1 h 39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9620"/>
                <a:gd name="T25" fmla="*/ 0 h 3945"/>
                <a:gd name="T26" fmla="*/ 9620 w 9620"/>
                <a:gd name="T27" fmla="*/ 3945 h 394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9620" h="3945">
                  <a:moveTo>
                    <a:pt x="0" y="2602"/>
                  </a:moveTo>
                  <a:lnTo>
                    <a:pt x="5325" y="1341"/>
                  </a:lnTo>
                  <a:lnTo>
                    <a:pt x="5325" y="0"/>
                  </a:lnTo>
                  <a:lnTo>
                    <a:pt x="9620" y="0"/>
                  </a:lnTo>
                  <a:lnTo>
                    <a:pt x="9620" y="3927"/>
                  </a:lnTo>
                  <a:lnTo>
                    <a:pt x="0" y="3945"/>
                  </a:lnTo>
                  <a:lnTo>
                    <a:pt x="14" y="3319"/>
                  </a:lnTo>
                  <a:lnTo>
                    <a:pt x="0" y="2602"/>
                  </a:lnTo>
                  <a:close/>
                </a:path>
              </a:pathLst>
            </a:custGeom>
            <a:solidFill>
              <a:srgbClr val="FFE1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1516" name="Freeform 163">
              <a:extLst>
                <a:ext uri="{FF2B5EF4-FFF2-40B4-BE49-F238E27FC236}">
                  <a16:creationId xmlns:a16="http://schemas.microsoft.com/office/drawing/2014/main" id="{3894F7CD-B9AD-1D4B-BB30-03C8B9ADAD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6" y="3007"/>
              <a:ext cx="1193" cy="431"/>
            </a:xfrm>
            <a:custGeom>
              <a:avLst/>
              <a:gdLst>
                <a:gd name="T0" fmla="*/ 1 w 2386"/>
                <a:gd name="T1" fmla="*/ 0 h 862"/>
                <a:gd name="T2" fmla="*/ 1 w 2386"/>
                <a:gd name="T3" fmla="*/ 1 h 862"/>
                <a:gd name="T4" fmla="*/ 1 w 2386"/>
                <a:gd name="T5" fmla="*/ 1 h 862"/>
                <a:gd name="T6" fmla="*/ 1 w 2386"/>
                <a:gd name="T7" fmla="*/ 1 h 862"/>
                <a:gd name="T8" fmla="*/ 1 w 2386"/>
                <a:gd name="T9" fmla="*/ 1 h 862"/>
                <a:gd name="T10" fmla="*/ 1 w 2386"/>
                <a:gd name="T11" fmla="*/ 1 h 862"/>
                <a:gd name="T12" fmla="*/ 1 w 2386"/>
                <a:gd name="T13" fmla="*/ 1 h 862"/>
                <a:gd name="T14" fmla="*/ 1 w 2386"/>
                <a:gd name="T15" fmla="*/ 1 h 862"/>
                <a:gd name="T16" fmla="*/ 0 w 2386"/>
                <a:gd name="T17" fmla="*/ 1 h 862"/>
                <a:gd name="T18" fmla="*/ 0 w 2386"/>
                <a:gd name="T19" fmla="*/ 1 h 862"/>
                <a:gd name="T20" fmla="*/ 1 w 2386"/>
                <a:gd name="T21" fmla="*/ 1 h 862"/>
                <a:gd name="T22" fmla="*/ 1 w 2386"/>
                <a:gd name="T23" fmla="*/ 1 h 862"/>
                <a:gd name="T24" fmla="*/ 1 w 2386"/>
                <a:gd name="T25" fmla="*/ 1 h 862"/>
                <a:gd name="T26" fmla="*/ 1 w 2386"/>
                <a:gd name="T27" fmla="*/ 1 h 862"/>
                <a:gd name="T28" fmla="*/ 1 w 2386"/>
                <a:gd name="T29" fmla="*/ 1 h 862"/>
                <a:gd name="T30" fmla="*/ 1 w 2386"/>
                <a:gd name="T31" fmla="*/ 1 h 862"/>
                <a:gd name="T32" fmla="*/ 1 w 2386"/>
                <a:gd name="T33" fmla="*/ 1 h 862"/>
                <a:gd name="T34" fmla="*/ 1 w 2386"/>
                <a:gd name="T35" fmla="*/ 1 h 862"/>
                <a:gd name="T36" fmla="*/ 1 w 2386"/>
                <a:gd name="T37" fmla="*/ 1 h 862"/>
                <a:gd name="T38" fmla="*/ 1 w 2386"/>
                <a:gd name="T39" fmla="*/ 1 h 862"/>
                <a:gd name="T40" fmla="*/ 1 w 2386"/>
                <a:gd name="T41" fmla="*/ 1 h 862"/>
                <a:gd name="T42" fmla="*/ 1 w 2386"/>
                <a:gd name="T43" fmla="*/ 1 h 862"/>
                <a:gd name="T44" fmla="*/ 1 w 2386"/>
                <a:gd name="T45" fmla="*/ 1 h 862"/>
                <a:gd name="T46" fmla="*/ 1 w 2386"/>
                <a:gd name="T47" fmla="*/ 1 h 862"/>
                <a:gd name="T48" fmla="*/ 1 w 2386"/>
                <a:gd name="T49" fmla="*/ 1 h 862"/>
                <a:gd name="T50" fmla="*/ 1 w 2386"/>
                <a:gd name="T51" fmla="*/ 1 h 862"/>
                <a:gd name="T52" fmla="*/ 1 w 2386"/>
                <a:gd name="T53" fmla="*/ 1 h 862"/>
                <a:gd name="T54" fmla="*/ 1 w 2386"/>
                <a:gd name="T55" fmla="*/ 1 h 862"/>
                <a:gd name="T56" fmla="*/ 1 w 2386"/>
                <a:gd name="T57" fmla="*/ 1 h 862"/>
                <a:gd name="T58" fmla="*/ 1 w 2386"/>
                <a:gd name="T59" fmla="*/ 1 h 862"/>
                <a:gd name="T60" fmla="*/ 1 w 2386"/>
                <a:gd name="T61" fmla="*/ 1 h 862"/>
                <a:gd name="T62" fmla="*/ 1 w 2386"/>
                <a:gd name="T63" fmla="*/ 1 h 862"/>
                <a:gd name="T64" fmla="*/ 1 w 2386"/>
                <a:gd name="T65" fmla="*/ 1 h 862"/>
                <a:gd name="T66" fmla="*/ 1 w 2386"/>
                <a:gd name="T67" fmla="*/ 1 h 862"/>
                <a:gd name="T68" fmla="*/ 1 w 2386"/>
                <a:gd name="T69" fmla="*/ 1 h 862"/>
                <a:gd name="T70" fmla="*/ 1 w 2386"/>
                <a:gd name="T71" fmla="*/ 0 h 862"/>
                <a:gd name="T72" fmla="*/ 1 w 2386"/>
                <a:gd name="T73" fmla="*/ 0 h 86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386"/>
                <a:gd name="T112" fmla="*/ 0 h 862"/>
                <a:gd name="T113" fmla="*/ 2386 w 2386"/>
                <a:gd name="T114" fmla="*/ 862 h 862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386" h="862">
                  <a:moveTo>
                    <a:pt x="143" y="0"/>
                  </a:moveTo>
                  <a:lnTo>
                    <a:pt x="113" y="2"/>
                  </a:lnTo>
                  <a:lnTo>
                    <a:pt x="87" y="12"/>
                  </a:lnTo>
                  <a:lnTo>
                    <a:pt x="64" y="24"/>
                  </a:lnTo>
                  <a:lnTo>
                    <a:pt x="42" y="42"/>
                  </a:lnTo>
                  <a:lnTo>
                    <a:pt x="24" y="64"/>
                  </a:lnTo>
                  <a:lnTo>
                    <a:pt x="12" y="88"/>
                  </a:lnTo>
                  <a:lnTo>
                    <a:pt x="2" y="114"/>
                  </a:lnTo>
                  <a:lnTo>
                    <a:pt x="0" y="143"/>
                  </a:lnTo>
                  <a:lnTo>
                    <a:pt x="0" y="718"/>
                  </a:lnTo>
                  <a:lnTo>
                    <a:pt x="2" y="748"/>
                  </a:lnTo>
                  <a:lnTo>
                    <a:pt x="12" y="774"/>
                  </a:lnTo>
                  <a:lnTo>
                    <a:pt x="24" y="798"/>
                  </a:lnTo>
                  <a:lnTo>
                    <a:pt x="42" y="820"/>
                  </a:lnTo>
                  <a:lnTo>
                    <a:pt x="64" y="838"/>
                  </a:lnTo>
                  <a:lnTo>
                    <a:pt x="87" y="850"/>
                  </a:lnTo>
                  <a:lnTo>
                    <a:pt x="113" y="860"/>
                  </a:lnTo>
                  <a:lnTo>
                    <a:pt x="143" y="862"/>
                  </a:lnTo>
                  <a:lnTo>
                    <a:pt x="2243" y="862"/>
                  </a:lnTo>
                  <a:lnTo>
                    <a:pt x="2273" y="860"/>
                  </a:lnTo>
                  <a:lnTo>
                    <a:pt x="2298" y="850"/>
                  </a:lnTo>
                  <a:lnTo>
                    <a:pt x="2322" y="838"/>
                  </a:lnTo>
                  <a:lnTo>
                    <a:pt x="2344" y="820"/>
                  </a:lnTo>
                  <a:lnTo>
                    <a:pt x="2362" y="798"/>
                  </a:lnTo>
                  <a:lnTo>
                    <a:pt x="2374" y="774"/>
                  </a:lnTo>
                  <a:lnTo>
                    <a:pt x="2384" y="748"/>
                  </a:lnTo>
                  <a:lnTo>
                    <a:pt x="2386" y="718"/>
                  </a:lnTo>
                  <a:lnTo>
                    <a:pt x="2386" y="143"/>
                  </a:lnTo>
                  <a:lnTo>
                    <a:pt x="2384" y="114"/>
                  </a:lnTo>
                  <a:lnTo>
                    <a:pt x="2374" y="88"/>
                  </a:lnTo>
                  <a:lnTo>
                    <a:pt x="2362" y="64"/>
                  </a:lnTo>
                  <a:lnTo>
                    <a:pt x="2344" y="42"/>
                  </a:lnTo>
                  <a:lnTo>
                    <a:pt x="2322" y="24"/>
                  </a:lnTo>
                  <a:lnTo>
                    <a:pt x="2298" y="12"/>
                  </a:lnTo>
                  <a:lnTo>
                    <a:pt x="2273" y="2"/>
                  </a:lnTo>
                  <a:lnTo>
                    <a:pt x="2243" y="0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EAEAEA"/>
            </a:solidFill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517" name="Rectangle 164">
              <a:extLst>
                <a:ext uri="{FF2B5EF4-FFF2-40B4-BE49-F238E27FC236}">
                  <a16:creationId xmlns:a16="http://schemas.microsoft.com/office/drawing/2014/main" id="{64CD8A5B-CDDB-3E4A-AE2B-A2FE76AE82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" y="2572"/>
              <a:ext cx="669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518" name="Rectangle 165">
              <a:extLst>
                <a:ext uri="{FF2B5EF4-FFF2-40B4-BE49-F238E27FC236}">
                  <a16:creationId xmlns:a16="http://schemas.microsoft.com/office/drawing/2014/main" id="{84455451-7BBA-B04B-9AC0-3AC0595F9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" y="2583"/>
              <a:ext cx="66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Necessidades </a:t>
              </a:r>
              <a:endParaRPr lang="pt-BR" altLang="pt-BR" sz="2000"/>
            </a:p>
          </p:txBody>
        </p:sp>
        <p:sp>
          <p:nvSpPr>
            <p:cNvPr id="21519" name="Rectangle 166">
              <a:extLst>
                <a:ext uri="{FF2B5EF4-FFF2-40B4-BE49-F238E27FC236}">
                  <a16:creationId xmlns:a16="http://schemas.microsoft.com/office/drawing/2014/main" id="{C05BF8F4-9AA8-5B4C-A8CF-B7A4A6BBCE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" y="2697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dos clientes </a:t>
              </a:r>
              <a:endParaRPr lang="pt-BR" altLang="pt-BR" sz="2000"/>
            </a:p>
          </p:txBody>
        </p:sp>
        <p:sp>
          <p:nvSpPr>
            <p:cNvPr id="21520" name="Rectangle 167">
              <a:extLst>
                <a:ext uri="{FF2B5EF4-FFF2-40B4-BE49-F238E27FC236}">
                  <a16:creationId xmlns:a16="http://schemas.microsoft.com/office/drawing/2014/main" id="{CADAC559-DC53-294D-AF65-C58EEE9BFC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" y="2001"/>
              <a:ext cx="531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521" name="Rectangle 168">
              <a:extLst>
                <a:ext uri="{FF2B5EF4-FFF2-40B4-BE49-F238E27FC236}">
                  <a16:creationId xmlns:a16="http://schemas.microsoft.com/office/drawing/2014/main" id="{34DA3DD6-C32A-4248-9BB2-3C7C1E477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" y="2012"/>
              <a:ext cx="51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Requisitos </a:t>
              </a:r>
              <a:endParaRPr lang="pt-BR" altLang="pt-BR" sz="2000"/>
            </a:p>
          </p:txBody>
        </p:sp>
        <p:sp>
          <p:nvSpPr>
            <p:cNvPr id="21522" name="Rectangle 169">
              <a:extLst>
                <a:ext uri="{FF2B5EF4-FFF2-40B4-BE49-F238E27FC236}">
                  <a16:creationId xmlns:a16="http://schemas.microsoft.com/office/drawing/2014/main" id="{1E606C1E-5120-0C4E-BF4A-BD7FA52229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" y="2127"/>
              <a:ext cx="22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dos </a:t>
              </a:r>
              <a:endParaRPr lang="pt-BR" altLang="pt-BR" sz="2000"/>
            </a:p>
          </p:txBody>
        </p:sp>
        <p:sp>
          <p:nvSpPr>
            <p:cNvPr id="21523" name="Rectangle 170">
              <a:extLst>
                <a:ext uri="{FF2B5EF4-FFF2-40B4-BE49-F238E27FC236}">
                  <a16:creationId xmlns:a16="http://schemas.microsoft.com/office/drawing/2014/main" id="{474D9BD6-6235-064E-915F-4B93825967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" y="2241"/>
              <a:ext cx="36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clientes</a:t>
              </a:r>
              <a:endParaRPr lang="pt-BR" altLang="pt-BR" sz="2000"/>
            </a:p>
          </p:txBody>
        </p:sp>
        <p:sp>
          <p:nvSpPr>
            <p:cNvPr id="21524" name="Rectangle 171">
              <a:extLst>
                <a:ext uri="{FF2B5EF4-FFF2-40B4-BE49-F238E27FC236}">
                  <a16:creationId xmlns:a16="http://schemas.microsoft.com/office/drawing/2014/main" id="{A06F1CB3-E02D-7443-A928-76589A1BDB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9" y="1970"/>
              <a:ext cx="682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525" name="Rectangle 172">
              <a:extLst>
                <a:ext uri="{FF2B5EF4-FFF2-40B4-BE49-F238E27FC236}">
                  <a16:creationId xmlns:a16="http://schemas.microsoft.com/office/drawing/2014/main" id="{5FD623DD-9402-884D-929C-C23007F97C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6" y="1981"/>
              <a:ext cx="45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Estrutura </a:t>
              </a:r>
              <a:endParaRPr lang="pt-BR" altLang="pt-BR" sz="2000"/>
            </a:p>
          </p:txBody>
        </p:sp>
        <p:sp>
          <p:nvSpPr>
            <p:cNvPr id="21526" name="Rectangle 173">
              <a:extLst>
                <a:ext uri="{FF2B5EF4-FFF2-40B4-BE49-F238E27FC236}">
                  <a16:creationId xmlns:a16="http://schemas.microsoft.com/office/drawing/2014/main" id="{04A2960A-29F1-2B41-8DB6-89CA5DA14A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2" y="2096"/>
              <a:ext cx="58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funcional do </a:t>
              </a:r>
              <a:endParaRPr lang="pt-BR" altLang="pt-BR" sz="2000"/>
            </a:p>
          </p:txBody>
        </p:sp>
        <p:sp>
          <p:nvSpPr>
            <p:cNvPr id="21527" name="Rectangle 174">
              <a:extLst>
                <a:ext uri="{FF2B5EF4-FFF2-40B4-BE49-F238E27FC236}">
                  <a16:creationId xmlns:a16="http://schemas.microsoft.com/office/drawing/2014/main" id="{E080EA20-2D0D-ED41-BF04-BD8DDBF77D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8" y="2211"/>
              <a:ext cx="36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produto</a:t>
              </a:r>
              <a:endParaRPr lang="pt-BR" altLang="pt-BR" sz="2000"/>
            </a:p>
          </p:txBody>
        </p:sp>
        <p:sp>
          <p:nvSpPr>
            <p:cNvPr id="21528" name="Rectangle 175">
              <a:extLst>
                <a:ext uri="{FF2B5EF4-FFF2-40B4-BE49-F238E27FC236}">
                  <a16:creationId xmlns:a16="http://schemas.microsoft.com/office/drawing/2014/main" id="{DC094B6A-AC0F-D94B-8CB0-88F015193C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6" y="2585"/>
              <a:ext cx="717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529" name="Rectangle 176">
              <a:extLst>
                <a:ext uri="{FF2B5EF4-FFF2-40B4-BE49-F238E27FC236}">
                  <a16:creationId xmlns:a16="http://schemas.microsoft.com/office/drawing/2014/main" id="{5CE563BB-E18B-664A-825C-2224DFAF3C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8" y="2596"/>
              <a:ext cx="423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Lista dos</a:t>
              </a:r>
              <a:endParaRPr lang="pt-BR" altLang="pt-BR" sz="2000"/>
            </a:p>
          </p:txBody>
        </p:sp>
        <p:sp>
          <p:nvSpPr>
            <p:cNvPr id="21530" name="Rectangle 177">
              <a:extLst>
                <a:ext uri="{FF2B5EF4-FFF2-40B4-BE49-F238E27FC236}">
                  <a16:creationId xmlns:a16="http://schemas.microsoft.com/office/drawing/2014/main" id="{4080EC92-561D-0142-81BD-2AF41BDA9E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5" y="2596"/>
              <a:ext cx="28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SSCs</a:t>
              </a:r>
              <a:endParaRPr lang="pt-BR" altLang="pt-BR" sz="2000"/>
            </a:p>
          </p:txBody>
        </p:sp>
        <p:sp>
          <p:nvSpPr>
            <p:cNvPr id="21531" name="Rectangle 178">
              <a:extLst>
                <a:ext uri="{FF2B5EF4-FFF2-40B4-BE49-F238E27FC236}">
                  <a16:creationId xmlns:a16="http://schemas.microsoft.com/office/drawing/2014/main" id="{264E1B26-6B9A-6F4F-B98A-903C03D706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3" y="2710"/>
              <a:ext cx="44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principais</a:t>
              </a:r>
              <a:endParaRPr lang="pt-BR" altLang="pt-BR" sz="2000"/>
            </a:p>
          </p:txBody>
        </p:sp>
        <p:sp>
          <p:nvSpPr>
            <p:cNvPr id="21532" name="Rectangle 179">
              <a:extLst>
                <a:ext uri="{FF2B5EF4-FFF2-40B4-BE49-F238E27FC236}">
                  <a16:creationId xmlns:a16="http://schemas.microsoft.com/office/drawing/2014/main" id="{9F6E0DD9-16A3-3543-A9FF-8BFB29091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1" y="3390"/>
              <a:ext cx="1004" cy="122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533" name="Rectangle 180">
              <a:extLst>
                <a:ext uri="{FF2B5EF4-FFF2-40B4-BE49-F238E27FC236}">
                  <a16:creationId xmlns:a16="http://schemas.microsoft.com/office/drawing/2014/main" id="{41B9B817-DDD3-2046-935D-AFAFB01866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9" y="3401"/>
              <a:ext cx="98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Arquitetura do produto</a:t>
              </a:r>
              <a:endParaRPr lang="pt-BR" altLang="pt-BR" sz="2000"/>
            </a:p>
          </p:txBody>
        </p:sp>
        <p:sp>
          <p:nvSpPr>
            <p:cNvPr id="21534" name="Rectangle 181">
              <a:extLst>
                <a:ext uri="{FF2B5EF4-FFF2-40B4-BE49-F238E27FC236}">
                  <a16:creationId xmlns:a16="http://schemas.microsoft.com/office/drawing/2014/main" id="{E0039EB0-7CBE-7A4F-8EAF-87BE431F70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1" y="3059"/>
              <a:ext cx="526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535" name="Rectangle 182">
              <a:extLst>
                <a:ext uri="{FF2B5EF4-FFF2-40B4-BE49-F238E27FC236}">
                  <a16:creationId xmlns:a16="http://schemas.microsoft.com/office/drawing/2014/main" id="{EDB33067-6169-024D-84CF-990BBDDB8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2" y="3070"/>
              <a:ext cx="51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Modelo do </a:t>
              </a:r>
              <a:endParaRPr lang="pt-BR" altLang="pt-BR" sz="2000"/>
            </a:p>
          </p:txBody>
        </p:sp>
        <p:sp>
          <p:nvSpPr>
            <p:cNvPr id="21536" name="Rectangle 183">
              <a:extLst>
                <a:ext uri="{FF2B5EF4-FFF2-40B4-BE49-F238E27FC236}">
                  <a16:creationId xmlns:a16="http://schemas.microsoft.com/office/drawing/2014/main" id="{B75F71E4-BDFC-9248-B957-D9DDE01D4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3" y="3184"/>
              <a:ext cx="36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produto</a:t>
              </a:r>
              <a:endParaRPr lang="pt-BR" altLang="pt-BR" sz="2000"/>
            </a:p>
          </p:txBody>
        </p:sp>
        <p:sp>
          <p:nvSpPr>
            <p:cNvPr id="21537" name="Rectangle 184">
              <a:extLst>
                <a:ext uri="{FF2B5EF4-FFF2-40B4-BE49-F238E27FC236}">
                  <a16:creationId xmlns:a16="http://schemas.microsoft.com/office/drawing/2014/main" id="{7330E96F-4E93-AC41-BCFB-AE91E669C2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3" y="3438"/>
              <a:ext cx="717" cy="236"/>
            </a:xfrm>
            <a:prstGeom prst="rect">
              <a:avLst/>
            </a:prstGeom>
            <a:solidFill>
              <a:srgbClr val="FFCC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538" name="Rectangle 185">
              <a:extLst>
                <a:ext uri="{FF2B5EF4-FFF2-40B4-BE49-F238E27FC236}">
                  <a16:creationId xmlns:a16="http://schemas.microsoft.com/office/drawing/2014/main" id="{080142A5-37D9-2946-9312-44794F89F9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3449"/>
              <a:ext cx="68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Concepção do </a:t>
              </a:r>
              <a:endParaRPr lang="pt-BR" altLang="pt-BR" sz="2000"/>
            </a:p>
          </p:txBody>
        </p:sp>
        <p:sp>
          <p:nvSpPr>
            <p:cNvPr id="21539" name="Rectangle 186">
              <a:extLst>
                <a:ext uri="{FF2B5EF4-FFF2-40B4-BE49-F238E27FC236}">
                  <a16:creationId xmlns:a16="http://schemas.microsoft.com/office/drawing/2014/main" id="{32FB45D3-FCB4-4E49-811A-B882EEE76B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0" y="3563"/>
              <a:ext cx="41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produto  </a:t>
              </a:r>
              <a:endParaRPr lang="pt-BR" altLang="pt-BR" sz="2000"/>
            </a:p>
          </p:txBody>
        </p:sp>
        <p:sp>
          <p:nvSpPr>
            <p:cNvPr id="21540" name="Rectangle 187">
              <a:extLst>
                <a:ext uri="{FF2B5EF4-FFF2-40B4-BE49-F238E27FC236}">
                  <a16:creationId xmlns:a16="http://schemas.microsoft.com/office/drawing/2014/main" id="{623754C5-9CD1-9B49-B44D-4113EFB260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0" y="3059"/>
              <a:ext cx="382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541" name="Rectangle 188">
              <a:extLst>
                <a:ext uri="{FF2B5EF4-FFF2-40B4-BE49-F238E27FC236}">
                  <a16:creationId xmlns:a16="http://schemas.microsoft.com/office/drawing/2014/main" id="{88EA65D7-FF57-D048-8498-211784EC7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2" y="3070"/>
              <a:ext cx="28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BOM </a:t>
              </a:r>
              <a:endParaRPr lang="pt-BR" altLang="pt-BR" sz="2000"/>
            </a:p>
          </p:txBody>
        </p:sp>
        <p:sp>
          <p:nvSpPr>
            <p:cNvPr id="21542" name="Rectangle 189">
              <a:extLst>
                <a:ext uri="{FF2B5EF4-FFF2-40B4-BE49-F238E27FC236}">
                  <a16:creationId xmlns:a16="http://schemas.microsoft.com/office/drawing/2014/main" id="{50D6A310-BAE6-D744-9477-8EE8994D4D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2" y="3184"/>
              <a:ext cx="30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inicial </a:t>
              </a:r>
              <a:endParaRPr lang="pt-BR" altLang="pt-BR" sz="2000"/>
            </a:p>
          </p:txBody>
        </p:sp>
        <p:sp>
          <p:nvSpPr>
            <p:cNvPr id="21543" name="Rectangle 190">
              <a:extLst>
                <a:ext uri="{FF2B5EF4-FFF2-40B4-BE49-F238E27FC236}">
                  <a16:creationId xmlns:a16="http://schemas.microsoft.com/office/drawing/2014/main" id="{34C4AFED-7974-284F-8C81-0BEC1F8F5D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7" y="3059"/>
              <a:ext cx="499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544" name="Rectangle 191">
              <a:extLst>
                <a:ext uri="{FF2B5EF4-FFF2-40B4-BE49-F238E27FC236}">
                  <a16:creationId xmlns:a16="http://schemas.microsoft.com/office/drawing/2014/main" id="{0174C3DB-C7B8-9E42-964F-91D2DE48D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2" y="3070"/>
              <a:ext cx="4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Desenhos </a:t>
              </a:r>
              <a:endParaRPr lang="pt-BR" altLang="pt-BR" sz="2000"/>
            </a:p>
          </p:txBody>
        </p:sp>
        <p:sp>
          <p:nvSpPr>
            <p:cNvPr id="21545" name="Rectangle 192">
              <a:extLst>
                <a:ext uri="{FF2B5EF4-FFF2-40B4-BE49-F238E27FC236}">
                  <a16:creationId xmlns:a16="http://schemas.microsoft.com/office/drawing/2014/main" id="{0CCF4C6D-B30E-F645-9EA9-69253095E5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3" y="3184"/>
              <a:ext cx="32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iniciais</a:t>
              </a:r>
              <a:endParaRPr lang="pt-BR" altLang="pt-BR" sz="2000"/>
            </a:p>
          </p:txBody>
        </p:sp>
        <p:grpSp>
          <p:nvGrpSpPr>
            <p:cNvPr id="21546" name="Group 232">
              <a:extLst>
                <a:ext uri="{FF2B5EF4-FFF2-40B4-BE49-F238E27FC236}">
                  <a16:creationId xmlns:a16="http://schemas.microsoft.com/office/drawing/2014/main" id="{CD5F939F-E427-8B49-8C68-89A9A0E5A1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0" y="1810"/>
              <a:ext cx="2005" cy="1144"/>
              <a:chOff x="3570" y="1810"/>
              <a:chExt cx="2005" cy="1144"/>
            </a:xfrm>
          </p:grpSpPr>
          <p:sp>
            <p:nvSpPr>
              <p:cNvPr id="21892" name="Freeform 193">
                <a:extLst>
                  <a:ext uri="{FF2B5EF4-FFF2-40B4-BE49-F238E27FC236}">
                    <a16:creationId xmlns:a16="http://schemas.microsoft.com/office/drawing/2014/main" id="{2FFCE4F4-88E5-D34B-94CA-EE9338BAF4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0" y="1810"/>
                <a:ext cx="2005" cy="1053"/>
              </a:xfrm>
              <a:custGeom>
                <a:avLst/>
                <a:gdLst>
                  <a:gd name="T0" fmla="*/ 1 w 4008"/>
                  <a:gd name="T1" fmla="*/ 0 h 2107"/>
                  <a:gd name="T2" fmla="*/ 1 w 4008"/>
                  <a:gd name="T3" fmla="*/ 0 h 2107"/>
                  <a:gd name="T4" fmla="*/ 1 w 4008"/>
                  <a:gd name="T5" fmla="*/ 0 h 2107"/>
                  <a:gd name="T6" fmla="*/ 1 w 4008"/>
                  <a:gd name="T7" fmla="*/ 0 h 2107"/>
                  <a:gd name="T8" fmla="*/ 1 w 4008"/>
                  <a:gd name="T9" fmla="*/ 0 h 2107"/>
                  <a:gd name="T10" fmla="*/ 1 w 4008"/>
                  <a:gd name="T11" fmla="*/ 0 h 2107"/>
                  <a:gd name="T12" fmla="*/ 1 w 4008"/>
                  <a:gd name="T13" fmla="*/ 0 h 2107"/>
                  <a:gd name="T14" fmla="*/ 1 w 4008"/>
                  <a:gd name="T15" fmla="*/ 0 h 2107"/>
                  <a:gd name="T16" fmla="*/ 0 w 4008"/>
                  <a:gd name="T17" fmla="*/ 0 h 2107"/>
                  <a:gd name="T18" fmla="*/ 1 w 4008"/>
                  <a:gd name="T19" fmla="*/ 0 h 2107"/>
                  <a:gd name="T20" fmla="*/ 1 w 4008"/>
                  <a:gd name="T21" fmla="*/ 0 h 2107"/>
                  <a:gd name="T22" fmla="*/ 1 w 4008"/>
                  <a:gd name="T23" fmla="*/ 0 h 2107"/>
                  <a:gd name="T24" fmla="*/ 1 w 4008"/>
                  <a:gd name="T25" fmla="*/ 0 h 2107"/>
                  <a:gd name="T26" fmla="*/ 1 w 4008"/>
                  <a:gd name="T27" fmla="*/ 0 h 2107"/>
                  <a:gd name="T28" fmla="*/ 1 w 4008"/>
                  <a:gd name="T29" fmla="*/ 0 h 2107"/>
                  <a:gd name="T30" fmla="*/ 1 w 4008"/>
                  <a:gd name="T31" fmla="*/ 0 h 2107"/>
                  <a:gd name="T32" fmla="*/ 1 w 4008"/>
                  <a:gd name="T33" fmla="*/ 0 h 2107"/>
                  <a:gd name="T34" fmla="*/ 1 w 4008"/>
                  <a:gd name="T35" fmla="*/ 0 h 2107"/>
                  <a:gd name="T36" fmla="*/ 1 w 4008"/>
                  <a:gd name="T37" fmla="*/ 0 h 2107"/>
                  <a:gd name="T38" fmla="*/ 1 w 4008"/>
                  <a:gd name="T39" fmla="*/ 0 h 2107"/>
                  <a:gd name="T40" fmla="*/ 1 w 4008"/>
                  <a:gd name="T41" fmla="*/ 0 h 2107"/>
                  <a:gd name="T42" fmla="*/ 1 w 4008"/>
                  <a:gd name="T43" fmla="*/ 0 h 2107"/>
                  <a:gd name="T44" fmla="*/ 1 w 4008"/>
                  <a:gd name="T45" fmla="*/ 0 h 2107"/>
                  <a:gd name="T46" fmla="*/ 1 w 4008"/>
                  <a:gd name="T47" fmla="*/ 0 h 2107"/>
                  <a:gd name="T48" fmla="*/ 1 w 4008"/>
                  <a:gd name="T49" fmla="*/ 0 h 2107"/>
                  <a:gd name="T50" fmla="*/ 1 w 4008"/>
                  <a:gd name="T51" fmla="*/ 0 h 2107"/>
                  <a:gd name="T52" fmla="*/ 1 w 4008"/>
                  <a:gd name="T53" fmla="*/ 0 h 2107"/>
                  <a:gd name="T54" fmla="*/ 1 w 4008"/>
                  <a:gd name="T55" fmla="*/ 0 h 2107"/>
                  <a:gd name="T56" fmla="*/ 1 w 4008"/>
                  <a:gd name="T57" fmla="*/ 0 h 2107"/>
                  <a:gd name="T58" fmla="*/ 1 w 4008"/>
                  <a:gd name="T59" fmla="*/ 0 h 2107"/>
                  <a:gd name="T60" fmla="*/ 1 w 4008"/>
                  <a:gd name="T61" fmla="*/ 0 h 2107"/>
                  <a:gd name="T62" fmla="*/ 1 w 4008"/>
                  <a:gd name="T63" fmla="*/ 0 h 2107"/>
                  <a:gd name="T64" fmla="*/ 1 w 4008"/>
                  <a:gd name="T65" fmla="*/ 0 h 2107"/>
                  <a:gd name="T66" fmla="*/ 1 w 4008"/>
                  <a:gd name="T67" fmla="*/ 0 h 2107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4008"/>
                  <a:gd name="T103" fmla="*/ 0 h 2107"/>
                  <a:gd name="T104" fmla="*/ 4008 w 4008"/>
                  <a:gd name="T105" fmla="*/ 2107 h 2107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4008" h="2107">
                    <a:moveTo>
                      <a:pt x="350" y="0"/>
                    </a:moveTo>
                    <a:lnTo>
                      <a:pt x="314" y="2"/>
                    </a:lnTo>
                    <a:lnTo>
                      <a:pt x="280" y="8"/>
                    </a:lnTo>
                    <a:lnTo>
                      <a:pt x="246" y="16"/>
                    </a:lnTo>
                    <a:lnTo>
                      <a:pt x="215" y="28"/>
                    </a:lnTo>
                    <a:lnTo>
                      <a:pt x="183" y="42"/>
                    </a:lnTo>
                    <a:lnTo>
                      <a:pt x="155" y="60"/>
                    </a:lnTo>
                    <a:lnTo>
                      <a:pt x="127" y="80"/>
                    </a:lnTo>
                    <a:lnTo>
                      <a:pt x="103" y="104"/>
                    </a:lnTo>
                    <a:lnTo>
                      <a:pt x="79" y="128"/>
                    </a:lnTo>
                    <a:lnTo>
                      <a:pt x="59" y="156"/>
                    </a:lnTo>
                    <a:lnTo>
                      <a:pt x="42" y="184"/>
                    </a:lnTo>
                    <a:lnTo>
                      <a:pt x="28" y="216"/>
                    </a:lnTo>
                    <a:lnTo>
                      <a:pt x="16" y="248"/>
                    </a:lnTo>
                    <a:lnTo>
                      <a:pt x="8" y="282"/>
                    </a:lnTo>
                    <a:lnTo>
                      <a:pt x="2" y="316"/>
                    </a:lnTo>
                    <a:lnTo>
                      <a:pt x="0" y="352"/>
                    </a:lnTo>
                    <a:lnTo>
                      <a:pt x="0" y="1756"/>
                    </a:lnTo>
                    <a:lnTo>
                      <a:pt x="2" y="1792"/>
                    </a:lnTo>
                    <a:lnTo>
                      <a:pt x="8" y="1826"/>
                    </a:lnTo>
                    <a:lnTo>
                      <a:pt x="16" y="1860"/>
                    </a:lnTo>
                    <a:lnTo>
                      <a:pt x="28" y="1892"/>
                    </a:lnTo>
                    <a:lnTo>
                      <a:pt x="42" y="1924"/>
                    </a:lnTo>
                    <a:lnTo>
                      <a:pt x="59" y="1952"/>
                    </a:lnTo>
                    <a:lnTo>
                      <a:pt x="79" y="1980"/>
                    </a:lnTo>
                    <a:lnTo>
                      <a:pt x="103" y="2004"/>
                    </a:lnTo>
                    <a:lnTo>
                      <a:pt x="127" y="2028"/>
                    </a:lnTo>
                    <a:lnTo>
                      <a:pt x="155" y="2048"/>
                    </a:lnTo>
                    <a:lnTo>
                      <a:pt x="183" y="2066"/>
                    </a:lnTo>
                    <a:lnTo>
                      <a:pt x="215" y="2080"/>
                    </a:lnTo>
                    <a:lnTo>
                      <a:pt x="246" y="2091"/>
                    </a:lnTo>
                    <a:lnTo>
                      <a:pt x="280" y="2099"/>
                    </a:lnTo>
                    <a:lnTo>
                      <a:pt x="314" y="2105"/>
                    </a:lnTo>
                    <a:lnTo>
                      <a:pt x="350" y="2107"/>
                    </a:lnTo>
                    <a:lnTo>
                      <a:pt x="3658" y="2107"/>
                    </a:lnTo>
                    <a:lnTo>
                      <a:pt x="3694" y="2105"/>
                    </a:lnTo>
                    <a:lnTo>
                      <a:pt x="3728" y="2099"/>
                    </a:lnTo>
                    <a:lnTo>
                      <a:pt x="3762" y="2091"/>
                    </a:lnTo>
                    <a:lnTo>
                      <a:pt x="3793" y="2080"/>
                    </a:lnTo>
                    <a:lnTo>
                      <a:pt x="3825" y="2066"/>
                    </a:lnTo>
                    <a:lnTo>
                      <a:pt x="3853" y="2048"/>
                    </a:lnTo>
                    <a:lnTo>
                      <a:pt x="3881" y="2028"/>
                    </a:lnTo>
                    <a:lnTo>
                      <a:pt x="3905" y="2004"/>
                    </a:lnTo>
                    <a:lnTo>
                      <a:pt x="3929" y="1980"/>
                    </a:lnTo>
                    <a:lnTo>
                      <a:pt x="3949" y="1952"/>
                    </a:lnTo>
                    <a:lnTo>
                      <a:pt x="3966" y="1924"/>
                    </a:lnTo>
                    <a:lnTo>
                      <a:pt x="3980" y="1892"/>
                    </a:lnTo>
                    <a:lnTo>
                      <a:pt x="3992" y="1860"/>
                    </a:lnTo>
                    <a:lnTo>
                      <a:pt x="4000" y="1826"/>
                    </a:lnTo>
                    <a:lnTo>
                      <a:pt x="4006" y="1792"/>
                    </a:lnTo>
                    <a:lnTo>
                      <a:pt x="4008" y="1756"/>
                    </a:lnTo>
                    <a:lnTo>
                      <a:pt x="4008" y="352"/>
                    </a:lnTo>
                    <a:lnTo>
                      <a:pt x="4006" y="316"/>
                    </a:lnTo>
                    <a:lnTo>
                      <a:pt x="4000" y="282"/>
                    </a:lnTo>
                    <a:lnTo>
                      <a:pt x="3992" y="248"/>
                    </a:lnTo>
                    <a:lnTo>
                      <a:pt x="3980" y="216"/>
                    </a:lnTo>
                    <a:lnTo>
                      <a:pt x="3966" y="184"/>
                    </a:lnTo>
                    <a:lnTo>
                      <a:pt x="3949" y="156"/>
                    </a:lnTo>
                    <a:lnTo>
                      <a:pt x="3929" y="128"/>
                    </a:lnTo>
                    <a:lnTo>
                      <a:pt x="3905" y="104"/>
                    </a:lnTo>
                    <a:lnTo>
                      <a:pt x="3881" y="80"/>
                    </a:lnTo>
                    <a:lnTo>
                      <a:pt x="3853" y="60"/>
                    </a:lnTo>
                    <a:lnTo>
                      <a:pt x="3825" y="42"/>
                    </a:lnTo>
                    <a:lnTo>
                      <a:pt x="3793" y="28"/>
                    </a:lnTo>
                    <a:lnTo>
                      <a:pt x="3762" y="16"/>
                    </a:lnTo>
                    <a:lnTo>
                      <a:pt x="3728" y="8"/>
                    </a:lnTo>
                    <a:lnTo>
                      <a:pt x="3694" y="2"/>
                    </a:lnTo>
                    <a:lnTo>
                      <a:pt x="3658" y="0"/>
                    </a:lnTo>
                    <a:lnTo>
                      <a:pt x="350" y="0"/>
                    </a:lnTo>
                    <a:close/>
                  </a:path>
                </a:pathLst>
              </a:custGeom>
              <a:solidFill>
                <a:srgbClr val="FFFFFF"/>
              </a:solidFill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21893" name="Group 211">
                <a:extLst>
                  <a:ext uri="{FF2B5EF4-FFF2-40B4-BE49-F238E27FC236}">
                    <a16:creationId xmlns:a16="http://schemas.microsoft.com/office/drawing/2014/main" id="{ED6B9B22-4705-A84D-8BBF-4B39B59E1E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18" y="1858"/>
                <a:ext cx="907" cy="924"/>
                <a:chOff x="3618" y="1858"/>
                <a:chExt cx="907" cy="924"/>
              </a:xfrm>
            </p:grpSpPr>
            <p:sp>
              <p:nvSpPr>
                <p:cNvPr id="21914" name="Freeform 194">
                  <a:extLst>
                    <a:ext uri="{FF2B5EF4-FFF2-40B4-BE49-F238E27FC236}">
                      <a16:creationId xmlns:a16="http://schemas.microsoft.com/office/drawing/2014/main" id="{BE11AAED-BAF7-4E4A-8527-91F0436011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18" y="1858"/>
                  <a:ext cx="907" cy="814"/>
                </a:xfrm>
                <a:custGeom>
                  <a:avLst/>
                  <a:gdLst>
                    <a:gd name="T0" fmla="*/ 1 w 1814"/>
                    <a:gd name="T1" fmla="*/ 1 h 1628"/>
                    <a:gd name="T2" fmla="*/ 1 w 1814"/>
                    <a:gd name="T3" fmla="*/ 1 h 1628"/>
                    <a:gd name="T4" fmla="*/ 1 w 1814"/>
                    <a:gd name="T5" fmla="*/ 1 h 1628"/>
                    <a:gd name="T6" fmla="*/ 1 w 1814"/>
                    <a:gd name="T7" fmla="*/ 1 h 1628"/>
                    <a:gd name="T8" fmla="*/ 1 w 1814"/>
                    <a:gd name="T9" fmla="*/ 1 h 1628"/>
                    <a:gd name="T10" fmla="*/ 1 w 1814"/>
                    <a:gd name="T11" fmla="*/ 1 h 1628"/>
                    <a:gd name="T12" fmla="*/ 1 w 1814"/>
                    <a:gd name="T13" fmla="*/ 1 h 1628"/>
                    <a:gd name="T14" fmla="*/ 1 w 1814"/>
                    <a:gd name="T15" fmla="*/ 1 h 1628"/>
                    <a:gd name="T16" fmla="*/ 0 w 1814"/>
                    <a:gd name="T17" fmla="*/ 1 h 1628"/>
                    <a:gd name="T18" fmla="*/ 1 w 1814"/>
                    <a:gd name="T19" fmla="*/ 1 h 1628"/>
                    <a:gd name="T20" fmla="*/ 1 w 1814"/>
                    <a:gd name="T21" fmla="*/ 1 h 1628"/>
                    <a:gd name="T22" fmla="*/ 1 w 1814"/>
                    <a:gd name="T23" fmla="*/ 1 h 1628"/>
                    <a:gd name="T24" fmla="*/ 1 w 1814"/>
                    <a:gd name="T25" fmla="*/ 1 h 1628"/>
                    <a:gd name="T26" fmla="*/ 1 w 1814"/>
                    <a:gd name="T27" fmla="*/ 1 h 1628"/>
                    <a:gd name="T28" fmla="*/ 1 w 1814"/>
                    <a:gd name="T29" fmla="*/ 1 h 1628"/>
                    <a:gd name="T30" fmla="*/ 1 w 1814"/>
                    <a:gd name="T31" fmla="*/ 1 h 1628"/>
                    <a:gd name="T32" fmla="*/ 1 w 1814"/>
                    <a:gd name="T33" fmla="*/ 1 h 1628"/>
                    <a:gd name="T34" fmla="*/ 1 w 1814"/>
                    <a:gd name="T35" fmla="*/ 1 h 1628"/>
                    <a:gd name="T36" fmla="*/ 1 w 1814"/>
                    <a:gd name="T37" fmla="*/ 1 h 1628"/>
                    <a:gd name="T38" fmla="*/ 1 w 1814"/>
                    <a:gd name="T39" fmla="*/ 1 h 1628"/>
                    <a:gd name="T40" fmla="*/ 1 w 1814"/>
                    <a:gd name="T41" fmla="*/ 1 h 1628"/>
                    <a:gd name="T42" fmla="*/ 1 w 1814"/>
                    <a:gd name="T43" fmla="*/ 1 h 1628"/>
                    <a:gd name="T44" fmla="*/ 1 w 1814"/>
                    <a:gd name="T45" fmla="*/ 1 h 1628"/>
                    <a:gd name="T46" fmla="*/ 1 w 1814"/>
                    <a:gd name="T47" fmla="*/ 1 h 1628"/>
                    <a:gd name="T48" fmla="*/ 1 w 1814"/>
                    <a:gd name="T49" fmla="*/ 1 h 1628"/>
                    <a:gd name="T50" fmla="*/ 1 w 1814"/>
                    <a:gd name="T51" fmla="*/ 1 h 1628"/>
                    <a:gd name="T52" fmla="*/ 1 w 1814"/>
                    <a:gd name="T53" fmla="*/ 1 h 1628"/>
                    <a:gd name="T54" fmla="*/ 1 w 1814"/>
                    <a:gd name="T55" fmla="*/ 1 h 1628"/>
                    <a:gd name="T56" fmla="*/ 1 w 1814"/>
                    <a:gd name="T57" fmla="*/ 1 h 1628"/>
                    <a:gd name="T58" fmla="*/ 1 w 1814"/>
                    <a:gd name="T59" fmla="*/ 1 h 1628"/>
                    <a:gd name="T60" fmla="*/ 1 w 1814"/>
                    <a:gd name="T61" fmla="*/ 1 h 1628"/>
                    <a:gd name="T62" fmla="*/ 1 w 1814"/>
                    <a:gd name="T63" fmla="*/ 1 h 1628"/>
                    <a:gd name="T64" fmla="*/ 1 w 1814"/>
                    <a:gd name="T65" fmla="*/ 1 h 1628"/>
                    <a:gd name="T66" fmla="*/ 1 w 1814"/>
                    <a:gd name="T67" fmla="*/ 0 h 1628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w 1814"/>
                    <a:gd name="T103" fmla="*/ 0 h 1628"/>
                    <a:gd name="T104" fmla="*/ 1814 w 1814"/>
                    <a:gd name="T105" fmla="*/ 1628 h 1628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T102" t="T103" r="T104" b="T105"/>
                  <a:pathLst>
                    <a:path w="1814" h="1628">
                      <a:moveTo>
                        <a:pt x="271" y="0"/>
                      </a:moveTo>
                      <a:lnTo>
                        <a:pt x="243" y="2"/>
                      </a:lnTo>
                      <a:lnTo>
                        <a:pt x="217" y="6"/>
                      </a:lnTo>
                      <a:lnTo>
                        <a:pt x="191" y="12"/>
                      </a:lnTo>
                      <a:lnTo>
                        <a:pt x="165" y="22"/>
                      </a:lnTo>
                      <a:lnTo>
                        <a:pt x="141" y="32"/>
                      </a:lnTo>
                      <a:lnTo>
                        <a:pt x="120" y="46"/>
                      </a:lnTo>
                      <a:lnTo>
                        <a:pt x="100" y="62"/>
                      </a:lnTo>
                      <a:lnTo>
                        <a:pt x="80" y="80"/>
                      </a:lnTo>
                      <a:lnTo>
                        <a:pt x="62" y="100"/>
                      </a:lnTo>
                      <a:lnTo>
                        <a:pt x="46" y="120"/>
                      </a:lnTo>
                      <a:lnTo>
                        <a:pt x="32" y="142"/>
                      </a:lnTo>
                      <a:lnTo>
                        <a:pt x="22" y="166"/>
                      </a:lnTo>
                      <a:lnTo>
                        <a:pt x="12" y="192"/>
                      </a:lnTo>
                      <a:lnTo>
                        <a:pt x="6" y="218"/>
                      </a:lnTo>
                      <a:lnTo>
                        <a:pt x="2" y="244"/>
                      </a:lnTo>
                      <a:lnTo>
                        <a:pt x="0" y="271"/>
                      </a:lnTo>
                      <a:lnTo>
                        <a:pt x="0" y="1357"/>
                      </a:lnTo>
                      <a:lnTo>
                        <a:pt x="2" y="1385"/>
                      </a:lnTo>
                      <a:lnTo>
                        <a:pt x="6" y="1411"/>
                      </a:lnTo>
                      <a:lnTo>
                        <a:pt x="12" y="1437"/>
                      </a:lnTo>
                      <a:lnTo>
                        <a:pt x="22" y="1463"/>
                      </a:lnTo>
                      <a:lnTo>
                        <a:pt x="32" y="1487"/>
                      </a:lnTo>
                      <a:lnTo>
                        <a:pt x="46" y="1509"/>
                      </a:lnTo>
                      <a:lnTo>
                        <a:pt x="62" y="1529"/>
                      </a:lnTo>
                      <a:lnTo>
                        <a:pt x="80" y="1549"/>
                      </a:lnTo>
                      <a:lnTo>
                        <a:pt x="100" y="1566"/>
                      </a:lnTo>
                      <a:lnTo>
                        <a:pt x="120" y="1582"/>
                      </a:lnTo>
                      <a:lnTo>
                        <a:pt x="141" y="1596"/>
                      </a:lnTo>
                      <a:lnTo>
                        <a:pt x="165" y="1606"/>
                      </a:lnTo>
                      <a:lnTo>
                        <a:pt x="191" y="1616"/>
                      </a:lnTo>
                      <a:lnTo>
                        <a:pt x="217" y="1622"/>
                      </a:lnTo>
                      <a:lnTo>
                        <a:pt x="243" y="1626"/>
                      </a:lnTo>
                      <a:lnTo>
                        <a:pt x="271" y="1628"/>
                      </a:lnTo>
                      <a:lnTo>
                        <a:pt x="1543" y="1628"/>
                      </a:lnTo>
                      <a:lnTo>
                        <a:pt x="1571" y="1626"/>
                      </a:lnTo>
                      <a:lnTo>
                        <a:pt x="1597" y="1622"/>
                      </a:lnTo>
                      <a:lnTo>
                        <a:pt x="1623" y="1616"/>
                      </a:lnTo>
                      <a:lnTo>
                        <a:pt x="1649" y="1606"/>
                      </a:lnTo>
                      <a:lnTo>
                        <a:pt x="1672" y="1596"/>
                      </a:lnTo>
                      <a:lnTo>
                        <a:pt x="1694" y="1582"/>
                      </a:lnTo>
                      <a:lnTo>
                        <a:pt x="1714" y="1566"/>
                      </a:lnTo>
                      <a:lnTo>
                        <a:pt x="1734" y="1549"/>
                      </a:lnTo>
                      <a:lnTo>
                        <a:pt x="1752" y="1529"/>
                      </a:lnTo>
                      <a:lnTo>
                        <a:pt x="1768" y="1509"/>
                      </a:lnTo>
                      <a:lnTo>
                        <a:pt x="1782" y="1487"/>
                      </a:lnTo>
                      <a:lnTo>
                        <a:pt x="1792" y="1463"/>
                      </a:lnTo>
                      <a:lnTo>
                        <a:pt x="1802" y="1437"/>
                      </a:lnTo>
                      <a:lnTo>
                        <a:pt x="1808" y="1411"/>
                      </a:lnTo>
                      <a:lnTo>
                        <a:pt x="1812" y="1385"/>
                      </a:lnTo>
                      <a:lnTo>
                        <a:pt x="1814" y="1357"/>
                      </a:lnTo>
                      <a:lnTo>
                        <a:pt x="1814" y="271"/>
                      </a:lnTo>
                      <a:lnTo>
                        <a:pt x="1812" y="244"/>
                      </a:lnTo>
                      <a:lnTo>
                        <a:pt x="1808" y="218"/>
                      </a:lnTo>
                      <a:lnTo>
                        <a:pt x="1802" y="192"/>
                      </a:lnTo>
                      <a:lnTo>
                        <a:pt x="1792" y="166"/>
                      </a:lnTo>
                      <a:lnTo>
                        <a:pt x="1782" y="142"/>
                      </a:lnTo>
                      <a:lnTo>
                        <a:pt x="1768" y="120"/>
                      </a:lnTo>
                      <a:lnTo>
                        <a:pt x="1752" y="100"/>
                      </a:lnTo>
                      <a:lnTo>
                        <a:pt x="1734" y="80"/>
                      </a:lnTo>
                      <a:lnTo>
                        <a:pt x="1714" y="62"/>
                      </a:lnTo>
                      <a:lnTo>
                        <a:pt x="1694" y="46"/>
                      </a:lnTo>
                      <a:lnTo>
                        <a:pt x="1672" y="32"/>
                      </a:lnTo>
                      <a:lnTo>
                        <a:pt x="1649" y="22"/>
                      </a:lnTo>
                      <a:lnTo>
                        <a:pt x="1623" y="12"/>
                      </a:lnTo>
                      <a:lnTo>
                        <a:pt x="1597" y="6"/>
                      </a:lnTo>
                      <a:lnTo>
                        <a:pt x="1571" y="2"/>
                      </a:lnTo>
                      <a:lnTo>
                        <a:pt x="1543" y="0"/>
                      </a:lnTo>
                      <a:lnTo>
                        <a:pt x="271" y="0"/>
                      </a:lnTo>
                      <a:close/>
                    </a:path>
                  </a:pathLst>
                </a:custGeom>
                <a:solidFill>
                  <a:srgbClr val="EAEAEA"/>
                </a:solidFill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grpSp>
              <p:nvGrpSpPr>
                <p:cNvPr id="21915" name="Group 207">
                  <a:extLst>
                    <a:ext uri="{FF2B5EF4-FFF2-40B4-BE49-F238E27FC236}">
                      <a16:creationId xmlns:a16="http://schemas.microsoft.com/office/drawing/2014/main" id="{4D9A6E5E-BB1D-A14A-A7B7-7E5F0AF3804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66" y="1953"/>
                  <a:ext cx="797" cy="464"/>
                  <a:chOff x="3666" y="1953"/>
                  <a:chExt cx="797" cy="464"/>
                </a:xfrm>
              </p:grpSpPr>
              <p:sp>
                <p:nvSpPr>
                  <p:cNvPr id="21919" name="Rectangle 195">
                    <a:extLst>
                      <a:ext uri="{FF2B5EF4-FFF2-40B4-BE49-F238E27FC236}">
                        <a16:creationId xmlns:a16="http://schemas.microsoft.com/office/drawing/2014/main" id="{83366822-C345-4545-9001-B69740DEE08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857" y="1953"/>
                    <a:ext cx="573" cy="352"/>
                  </a:xfrm>
                  <a:prstGeom prst="rect">
                    <a:avLst/>
                  </a:prstGeom>
                  <a:solidFill>
                    <a:srgbClr val="FFFFFF"/>
                  </a:solidFill>
                  <a:ln w="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en-US" altLang="pt-BR" sz="2000"/>
                  </a:p>
                </p:txBody>
              </p:sp>
              <p:sp>
                <p:nvSpPr>
                  <p:cNvPr id="21920" name="Rectangle 196">
                    <a:extLst>
                      <a:ext uri="{FF2B5EF4-FFF2-40B4-BE49-F238E27FC236}">
                        <a16:creationId xmlns:a16="http://schemas.microsoft.com/office/drawing/2014/main" id="{D870EDEE-CAD0-2645-BE0A-6F868628D90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892" y="1964"/>
                    <a:ext cx="571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Princípio de </a:t>
                    </a:r>
                    <a:endParaRPr lang="pt-BR" altLang="pt-BR" sz="2000"/>
                  </a:p>
                </p:txBody>
              </p:sp>
              <p:sp>
                <p:nvSpPr>
                  <p:cNvPr id="21921" name="Rectangle 197">
                    <a:extLst>
                      <a:ext uri="{FF2B5EF4-FFF2-40B4-BE49-F238E27FC236}">
                        <a16:creationId xmlns:a16="http://schemas.microsoft.com/office/drawing/2014/main" id="{287C8ED5-B2C4-BC43-B414-ECB6455CAB4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979" y="2079"/>
                    <a:ext cx="396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solução </a:t>
                    </a:r>
                    <a:endParaRPr lang="pt-BR" altLang="pt-BR" sz="2000"/>
                  </a:p>
                </p:txBody>
              </p:sp>
              <p:sp>
                <p:nvSpPr>
                  <p:cNvPr id="21922" name="Rectangle 198">
                    <a:extLst>
                      <a:ext uri="{FF2B5EF4-FFF2-40B4-BE49-F238E27FC236}">
                        <a16:creationId xmlns:a16="http://schemas.microsoft.com/office/drawing/2014/main" id="{A5A566F3-26D4-324B-81DE-89A7106BF91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946" y="2194"/>
                    <a:ext cx="435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individual</a:t>
                    </a:r>
                    <a:endParaRPr lang="pt-BR" altLang="pt-BR" sz="2000"/>
                  </a:p>
                </p:txBody>
              </p:sp>
              <p:sp>
                <p:nvSpPr>
                  <p:cNvPr id="21923" name="Rectangle 199">
                    <a:extLst>
                      <a:ext uri="{FF2B5EF4-FFF2-40B4-BE49-F238E27FC236}">
                        <a16:creationId xmlns:a16="http://schemas.microsoft.com/office/drawing/2014/main" id="{680B1F57-1DBB-5141-B612-D70638BDF91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61" y="2001"/>
                    <a:ext cx="574" cy="351"/>
                  </a:xfrm>
                  <a:prstGeom prst="rect">
                    <a:avLst/>
                  </a:prstGeom>
                  <a:solidFill>
                    <a:srgbClr val="FFFFFF"/>
                  </a:solidFill>
                  <a:ln w="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en-US" altLang="pt-BR" sz="2000"/>
                  </a:p>
                </p:txBody>
              </p:sp>
              <p:sp>
                <p:nvSpPr>
                  <p:cNvPr id="21924" name="Rectangle 200">
                    <a:extLst>
                      <a:ext uri="{FF2B5EF4-FFF2-40B4-BE49-F238E27FC236}">
                        <a16:creationId xmlns:a16="http://schemas.microsoft.com/office/drawing/2014/main" id="{281EB658-B786-FF43-AB7E-FE6D1BB185D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96" y="2012"/>
                    <a:ext cx="571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Princípio de </a:t>
                    </a:r>
                    <a:endParaRPr lang="pt-BR" altLang="pt-BR" sz="2000"/>
                  </a:p>
                </p:txBody>
              </p:sp>
              <p:sp>
                <p:nvSpPr>
                  <p:cNvPr id="21925" name="Rectangle 201">
                    <a:extLst>
                      <a:ext uri="{FF2B5EF4-FFF2-40B4-BE49-F238E27FC236}">
                        <a16:creationId xmlns:a16="http://schemas.microsoft.com/office/drawing/2014/main" id="{558D6B5B-7219-5347-9594-5B3040D8460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884" y="2127"/>
                    <a:ext cx="396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solução </a:t>
                    </a:r>
                    <a:endParaRPr lang="pt-BR" altLang="pt-BR" sz="2000"/>
                  </a:p>
                </p:txBody>
              </p:sp>
              <p:sp>
                <p:nvSpPr>
                  <p:cNvPr id="21926" name="Rectangle 202">
                    <a:extLst>
                      <a:ext uri="{FF2B5EF4-FFF2-40B4-BE49-F238E27FC236}">
                        <a16:creationId xmlns:a16="http://schemas.microsoft.com/office/drawing/2014/main" id="{54F1A0A5-7197-F34E-A8CB-946A24457AE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851" y="2241"/>
                    <a:ext cx="435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individual</a:t>
                    </a:r>
                    <a:endParaRPr lang="pt-BR" altLang="pt-BR" sz="2000"/>
                  </a:p>
                </p:txBody>
              </p:sp>
              <p:sp>
                <p:nvSpPr>
                  <p:cNvPr id="21927" name="Rectangle 203">
                    <a:extLst>
                      <a:ext uri="{FF2B5EF4-FFF2-40B4-BE49-F238E27FC236}">
                        <a16:creationId xmlns:a16="http://schemas.microsoft.com/office/drawing/2014/main" id="{511943BA-FA8E-3943-B0ED-6AD57738323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66" y="2049"/>
                    <a:ext cx="573" cy="351"/>
                  </a:xfrm>
                  <a:prstGeom prst="rect">
                    <a:avLst/>
                  </a:prstGeom>
                  <a:solidFill>
                    <a:srgbClr val="FFFFFF"/>
                  </a:solidFill>
                  <a:ln w="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en-US" altLang="pt-BR" sz="2000"/>
                  </a:p>
                </p:txBody>
              </p:sp>
              <p:sp>
                <p:nvSpPr>
                  <p:cNvPr id="21928" name="Rectangle 204">
                    <a:extLst>
                      <a:ext uri="{FF2B5EF4-FFF2-40B4-BE49-F238E27FC236}">
                        <a16:creationId xmlns:a16="http://schemas.microsoft.com/office/drawing/2014/main" id="{649082B1-42CC-F648-8489-4AFD1B7B20B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01" y="2060"/>
                    <a:ext cx="571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Princípio de </a:t>
                    </a:r>
                    <a:endParaRPr lang="pt-BR" altLang="pt-BR" sz="2000"/>
                  </a:p>
                </p:txBody>
              </p:sp>
              <p:sp>
                <p:nvSpPr>
                  <p:cNvPr id="21929" name="Rectangle 205">
                    <a:extLst>
                      <a:ext uri="{FF2B5EF4-FFF2-40B4-BE49-F238E27FC236}">
                        <a16:creationId xmlns:a16="http://schemas.microsoft.com/office/drawing/2014/main" id="{9B5A8494-851A-4744-BB51-34F71620C5E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88" y="2175"/>
                    <a:ext cx="396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solução </a:t>
                    </a:r>
                    <a:endParaRPr lang="pt-BR" altLang="pt-BR" sz="2000"/>
                  </a:p>
                </p:txBody>
              </p:sp>
              <p:sp>
                <p:nvSpPr>
                  <p:cNvPr id="21930" name="Rectangle 206">
                    <a:extLst>
                      <a:ext uri="{FF2B5EF4-FFF2-40B4-BE49-F238E27FC236}">
                        <a16:creationId xmlns:a16="http://schemas.microsoft.com/office/drawing/2014/main" id="{2854A665-C2BC-3442-87B2-27BE4A3D0BE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55" y="2289"/>
                    <a:ext cx="435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individual</a:t>
                    </a:r>
                    <a:endParaRPr lang="pt-BR" altLang="pt-BR" sz="2000"/>
                  </a:p>
                </p:txBody>
              </p:sp>
            </p:grpSp>
            <p:sp>
              <p:nvSpPr>
                <p:cNvPr id="21916" name="Rectangle 208">
                  <a:extLst>
                    <a:ext uri="{FF2B5EF4-FFF2-40B4-BE49-F238E27FC236}">
                      <a16:creationId xmlns:a16="http://schemas.microsoft.com/office/drawing/2014/main" id="{036DBE64-67EB-BC48-8740-7125C4F7DD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61" y="2528"/>
                  <a:ext cx="587" cy="236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21917" name="Rectangle 209">
                  <a:extLst>
                    <a:ext uri="{FF2B5EF4-FFF2-40B4-BE49-F238E27FC236}">
                      <a16:creationId xmlns:a16="http://schemas.microsoft.com/office/drawing/2014/main" id="{6D14BCC8-E7F8-824F-8264-3966230ECB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03" y="2539"/>
                  <a:ext cx="57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Princípio de </a:t>
                  </a:r>
                  <a:endParaRPr lang="pt-BR" altLang="pt-BR" sz="2000"/>
                </a:p>
              </p:txBody>
            </p:sp>
            <p:sp>
              <p:nvSpPr>
                <p:cNvPr id="21918" name="Rectangle 210">
                  <a:extLst>
                    <a:ext uri="{FF2B5EF4-FFF2-40B4-BE49-F238E27FC236}">
                      <a16:creationId xmlns:a16="http://schemas.microsoft.com/office/drawing/2014/main" id="{6440C8B8-D569-EA47-B182-14FDB060B0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87" y="2654"/>
                  <a:ext cx="57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solução total</a:t>
                  </a:r>
                  <a:endParaRPr lang="pt-BR" altLang="pt-BR" sz="2000"/>
                </a:p>
              </p:txBody>
            </p:sp>
          </p:grpSp>
          <p:sp>
            <p:nvSpPr>
              <p:cNvPr id="21894" name="Rectangle 212">
                <a:extLst>
                  <a:ext uri="{FF2B5EF4-FFF2-40B4-BE49-F238E27FC236}">
                    <a16:creationId xmlns:a16="http://schemas.microsoft.com/office/drawing/2014/main" id="{F17664EC-5AFD-0045-AB3C-A4DDAB8D9B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4" y="2815"/>
                <a:ext cx="1385" cy="122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895" name="Rectangle 213">
                <a:extLst>
                  <a:ext uri="{FF2B5EF4-FFF2-40B4-BE49-F238E27FC236}">
                    <a16:creationId xmlns:a16="http://schemas.microsoft.com/office/drawing/2014/main" id="{0FA88467-8216-9D47-9A0C-FADD96B97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5" y="2826"/>
                <a:ext cx="102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Alternativas de solução</a:t>
                </a:r>
                <a:endParaRPr lang="pt-BR" altLang="pt-BR" sz="2000"/>
              </a:p>
            </p:txBody>
          </p:sp>
          <p:grpSp>
            <p:nvGrpSpPr>
              <p:cNvPr id="21896" name="Group 231">
                <a:extLst>
                  <a:ext uri="{FF2B5EF4-FFF2-40B4-BE49-F238E27FC236}">
                    <a16:creationId xmlns:a16="http://schemas.microsoft.com/office/drawing/2014/main" id="{3E38F744-C1D3-7B4F-8F4D-97D73020B8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20" y="1858"/>
                <a:ext cx="907" cy="924"/>
                <a:chOff x="4620" y="1858"/>
                <a:chExt cx="907" cy="924"/>
              </a:xfrm>
            </p:grpSpPr>
            <p:sp>
              <p:nvSpPr>
                <p:cNvPr id="21897" name="Freeform 214">
                  <a:extLst>
                    <a:ext uri="{FF2B5EF4-FFF2-40B4-BE49-F238E27FC236}">
                      <a16:creationId xmlns:a16="http://schemas.microsoft.com/office/drawing/2014/main" id="{28657D24-A940-124A-B8AF-E06D2151F1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20" y="1858"/>
                  <a:ext cx="907" cy="814"/>
                </a:xfrm>
                <a:custGeom>
                  <a:avLst/>
                  <a:gdLst>
                    <a:gd name="T0" fmla="*/ 1 w 1814"/>
                    <a:gd name="T1" fmla="*/ 1 h 1628"/>
                    <a:gd name="T2" fmla="*/ 1 w 1814"/>
                    <a:gd name="T3" fmla="*/ 1 h 1628"/>
                    <a:gd name="T4" fmla="*/ 1 w 1814"/>
                    <a:gd name="T5" fmla="*/ 1 h 1628"/>
                    <a:gd name="T6" fmla="*/ 1 w 1814"/>
                    <a:gd name="T7" fmla="*/ 1 h 1628"/>
                    <a:gd name="T8" fmla="*/ 1 w 1814"/>
                    <a:gd name="T9" fmla="*/ 1 h 1628"/>
                    <a:gd name="T10" fmla="*/ 1 w 1814"/>
                    <a:gd name="T11" fmla="*/ 1 h 1628"/>
                    <a:gd name="T12" fmla="*/ 1 w 1814"/>
                    <a:gd name="T13" fmla="*/ 1 h 1628"/>
                    <a:gd name="T14" fmla="*/ 1 w 1814"/>
                    <a:gd name="T15" fmla="*/ 1 h 1628"/>
                    <a:gd name="T16" fmla="*/ 0 w 1814"/>
                    <a:gd name="T17" fmla="*/ 1 h 1628"/>
                    <a:gd name="T18" fmla="*/ 1 w 1814"/>
                    <a:gd name="T19" fmla="*/ 1 h 1628"/>
                    <a:gd name="T20" fmla="*/ 1 w 1814"/>
                    <a:gd name="T21" fmla="*/ 1 h 1628"/>
                    <a:gd name="T22" fmla="*/ 1 w 1814"/>
                    <a:gd name="T23" fmla="*/ 1 h 1628"/>
                    <a:gd name="T24" fmla="*/ 1 w 1814"/>
                    <a:gd name="T25" fmla="*/ 1 h 1628"/>
                    <a:gd name="T26" fmla="*/ 1 w 1814"/>
                    <a:gd name="T27" fmla="*/ 1 h 1628"/>
                    <a:gd name="T28" fmla="*/ 1 w 1814"/>
                    <a:gd name="T29" fmla="*/ 1 h 1628"/>
                    <a:gd name="T30" fmla="*/ 1 w 1814"/>
                    <a:gd name="T31" fmla="*/ 1 h 1628"/>
                    <a:gd name="T32" fmla="*/ 1 w 1814"/>
                    <a:gd name="T33" fmla="*/ 1 h 1628"/>
                    <a:gd name="T34" fmla="*/ 1 w 1814"/>
                    <a:gd name="T35" fmla="*/ 1 h 1628"/>
                    <a:gd name="T36" fmla="*/ 1 w 1814"/>
                    <a:gd name="T37" fmla="*/ 1 h 1628"/>
                    <a:gd name="T38" fmla="*/ 1 w 1814"/>
                    <a:gd name="T39" fmla="*/ 1 h 1628"/>
                    <a:gd name="T40" fmla="*/ 1 w 1814"/>
                    <a:gd name="T41" fmla="*/ 1 h 1628"/>
                    <a:gd name="T42" fmla="*/ 1 w 1814"/>
                    <a:gd name="T43" fmla="*/ 1 h 1628"/>
                    <a:gd name="T44" fmla="*/ 1 w 1814"/>
                    <a:gd name="T45" fmla="*/ 1 h 1628"/>
                    <a:gd name="T46" fmla="*/ 1 w 1814"/>
                    <a:gd name="T47" fmla="*/ 1 h 1628"/>
                    <a:gd name="T48" fmla="*/ 1 w 1814"/>
                    <a:gd name="T49" fmla="*/ 1 h 1628"/>
                    <a:gd name="T50" fmla="*/ 1 w 1814"/>
                    <a:gd name="T51" fmla="*/ 1 h 1628"/>
                    <a:gd name="T52" fmla="*/ 1 w 1814"/>
                    <a:gd name="T53" fmla="*/ 1 h 1628"/>
                    <a:gd name="T54" fmla="*/ 1 w 1814"/>
                    <a:gd name="T55" fmla="*/ 1 h 1628"/>
                    <a:gd name="T56" fmla="*/ 1 w 1814"/>
                    <a:gd name="T57" fmla="*/ 1 h 1628"/>
                    <a:gd name="T58" fmla="*/ 1 w 1814"/>
                    <a:gd name="T59" fmla="*/ 1 h 1628"/>
                    <a:gd name="T60" fmla="*/ 1 w 1814"/>
                    <a:gd name="T61" fmla="*/ 1 h 1628"/>
                    <a:gd name="T62" fmla="*/ 1 w 1814"/>
                    <a:gd name="T63" fmla="*/ 1 h 1628"/>
                    <a:gd name="T64" fmla="*/ 1 w 1814"/>
                    <a:gd name="T65" fmla="*/ 1 h 1628"/>
                    <a:gd name="T66" fmla="*/ 1 w 1814"/>
                    <a:gd name="T67" fmla="*/ 0 h 1628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w 1814"/>
                    <a:gd name="T103" fmla="*/ 0 h 1628"/>
                    <a:gd name="T104" fmla="*/ 1814 w 1814"/>
                    <a:gd name="T105" fmla="*/ 1628 h 1628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T102" t="T103" r="T104" b="T105"/>
                  <a:pathLst>
                    <a:path w="1814" h="1628">
                      <a:moveTo>
                        <a:pt x="271" y="0"/>
                      </a:moveTo>
                      <a:lnTo>
                        <a:pt x="243" y="2"/>
                      </a:lnTo>
                      <a:lnTo>
                        <a:pt x="217" y="6"/>
                      </a:lnTo>
                      <a:lnTo>
                        <a:pt x="191" y="12"/>
                      </a:lnTo>
                      <a:lnTo>
                        <a:pt x="165" y="22"/>
                      </a:lnTo>
                      <a:lnTo>
                        <a:pt x="142" y="32"/>
                      </a:lnTo>
                      <a:lnTo>
                        <a:pt x="120" y="46"/>
                      </a:lnTo>
                      <a:lnTo>
                        <a:pt x="100" y="62"/>
                      </a:lnTo>
                      <a:lnTo>
                        <a:pt x="80" y="80"/>
                      </a:lnTo>
                      <a:lnTo>
                        <a:pt x="62" y="100"/>
                      </a:lnTo>
                      <a:lnTo>
                        <a:pt x="46" y="120"/>
                      </a:lnTo>
                      <a:lnTo>
                        <a:pt x="32" y="142"/>
                      </a:lnTo>
                      <a:lnTo>
                        <a:pt x="22" y="166"/>
                      </a:lnTo>
                      <a:lnTo>
                        <a:pt x="12" y="192"/>
                      </a:lnTo>
                      <a:lnTo>
                        <a:pt x="6" y="218"/>
                      </a:lnTo>
                      <a:lnTo>
                        <a:pt x="2" y="244"/>
                      </a:lnTo>
                      <a:lnTo>
                        <a:pt x="0" y="271"/>
                      </a:lnTo>
                      <a:lnTo>
                        <a:pt x="0" y="1357"/>
                      </a:lnTo>
                      <a:lnTo>
                        <a:pt x="2" y="1385"/>
                      </a:lnTo>
                      <a:lnTo>
                        <a:pt x="6" y="1411"/>
                      </a:lnTo>
                      <a:lnTo>
                        <a:pt x="12" y="1437"/>
                      </a:lnTo>
                      <a:lnTo>
                        <a:pt x="22" y="1463"/>
                      </a:lnTo>
                      <a:lnTo>
                        <a:pt x="32" y="1487"/>
                      </a:lnTo>
                      <a:lnTo>
                        <a:pt x="46" y="1509"/>
                      </a:lnTo>
                      <a:lnTo>
                        <a:pt x="62" y="1529"/>
                      </a:lnTo>
                      <a:lnTo>
                        <a:pt x="80" y="1549"/>
                      </a:lnTo>
                      <a:lnTo>
                        <a:pt x="100" y="1566"/>
                      </a:lnTo>
                      <a:lnTo>
                        <a:pt x="120" y="1582"/>
                      </a:lnTo>
                      <a:lnTo>
                        <a:pt x="142" y="1596"/>
                      </a:lnTo>
                      <a:lnTo>
                        <a:pt x="165" y="1606"/>
                      </a:lnTo>
                      <a:lnTo>
                        <a:pt x="191" y="1616"/>
                      </a:lnTo>
                      <a:lnTo>
                        <a:pt x="217" y="1622"/>
                      </a:lnTo>
                      <a:lnTo>
                        <a:pt x="243" y="1626"/>
                      </a:lnTo>
                      <a:lnTo>
                        <a:pt x="271" y="1628"/>
                      </a:lnTo>
                      <a:lnTo>
                        <a:pt x="1543" y="1628"/>
                      </a:lnTo>
                      <a:lnTo>
                        <a:pt x="1571" y="1626"/>
                      </a:lnTo>
                      <a:lnTo>
                        <a:pt x="1597" y="1622"/>
                      </a:lnTo>
                      <a:lnTo>
                        <a:pt x="1623" y="1616"/>
                      </a:lnTo>
                      <a:lnTo>
                        <a:pt x="1649" y="1606"/>
                      </a:lnTo>
                      <a:lnTo>
                        <a:pt x="1673" y="1596"/>
                      </a:lnTo>
                      <a:lnTo>
                        <a:pt x="1694" y="1582"/>
                      </a:lnTo>
                      <a:lnTo>
                        <a:pt x="1714" y="1566"/>
                      </a:lnTo>
                      <a:lnTo>
                        <a:pt x="1734" y="1549"/>
                      </a:lnTo>
                      <a:lnTo>
                        <a:pt x="1752" y="1529"/>
                      </a:lnTo>
                      <a:lnTo>
                        <a:pt x="1768" y="1509"/>
                      </a:lnTo>
                      <a:lnTo>
                        <a:pt x="1782" y="1487"/>
                      </a:lnTo>
                      <a:lnTo>
                        <a:pt x="1792" y="1463"/>
                      </a:lnTo>
                      <a:lnTo>
                        <a:pt x="1802" y="1437"/>
                      </a:lnTo>
                      <a:lnTo>
                        <a:pt x="1808" y="1411"/>
                      </a:lnTo>
                      <a:lnTo>
                        <a:pt x="1812" y="1385"/>
                      </a:lnTo>
                      <a:lnTo>
                        <a:pt x="1814" y="1357"/>
                      </a:lnTo>
                      <a:lnTo>
                        <a:pt x="1814" y="271"/>
                      </a:lnTo>
                      <a:lnTo>
                        <a:pt x="1812" y="244"/>
                      </a:lnTo>
                      <a:lnTo>
                        <a:pt x="1808" y="218"/>
                      </a:lnTo>
                      <a:lnTo>
                        <a:pt x="1802" y="192"/>
                      </a:lnTo>
                      <a:lnTo>
                        <a:pt x="1792" y="166"/>
                      </a:lnTo>
                      <a:lnTo>
                        <a:pt x="1782" y="142"/>
                      </a:lnTo>
                      <a:lnTo>
                        <a:pt x="1768" y="120"/>
                      </a:lnTo>
                      <a:lnTo>
                        <a:pt x="1752" y="100"/>
                      </a:lnTo>
                      <a:lnTo>
                        <a:pt x="1734" y="80"/>
                      </a:lnTo>
                      <a:lnTo>
                        <a:pt x="1714" y="62"/>
                      </a:lnTo>
                      <a:lnTo>
                        <a:pt x="1694" y="46"/>
                      </a:lnTo>
                      <a:lnTo>
                        <a:pt x="1673" y="32"/>
                      </a:lnTo>
                      <a:lnTo>
                        <a:pt x="1649" y="22"/>
                      </a:lnTo>
                      <a:lnTo>
                        <a:pt x="1623" y="12"/>
                      </a:lnTo>
                      <a:lnTo>
                        <a:pt x="1597" y="6"/>
                      </a:lnTo>
                      <a:lnTo>
                        <a:pt x="1571" y="2"/>
                      </a:lnTo>
                      <a:lnTo>
                        <a:pt x="1543" y="0"/>
                      </a:lnTo>
                      <a:lnTo>
                        <a:pt x="271" y="0"/>
                      </a:lnTo>
                      <a:close/>
                    </a:path>
                  </a:pathLst>
                </a:custGeom>
                <a:solidFill>
                  <a:srgbClr val="EAEAEA"/>
                </a:solidFill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grpSp>
              <p:nvGrpSpPr>
                <p:cNvPr id="21898" name="Group 227">
                  <a:extLst>
                    <a:ext uri="{FF2B5EF4-FFF2-40B4-BE49-F238E27FC236}">
                      <a16:creationId xmlns:a16="http://schemas.microsoft.com/office/drawing/2014/main" id="{C7DD1749-D199-D840-8383-28682B33276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68" y="1953"/>
                  <a:ext cx="797" cy="464"/>
                  <a:chOff x="4668" y="1953"/>
                  <a:chExt cx="797" cy="464"/>
                </a:xfrm>
              </p:grpSpPr>
              <p:sp>
                <p:nvSpPr>
                  <p:cNvPr id="21902" name="Rectangle 215">
                    <a:extLst>
                      <a:ext uri="{FF2B5EF4-FFF2-40B4-BE49-F238E27FC236}">
                        <a16:creationId xmlns:a16="http://schemas.microsoft.com/office/drawing/2014/main" id="{4C40C0EA-1106-544A-A253-D0CF9058FA3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59" y="1953"/>
                    <a:ext cx="573" cy="352"/>
                  </a:xfrm>
                  <a:prstGeom prst="rect">
                    <a:avLst/>
                  </a:prstGeom>
                  <a:solidFill>
                    <a:srgbClr val="FFFFFF"/>
                  </a:solidFill>
                  <a:ln w="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en-US" altLang="pt-BR" sz="2000"/>
                  </a:p>
                </p:txBody>
              </p:sp>
              <p:sp>
                <p:nvSpPr>
                  <p:cNvPr id="21903" name="Rectangle 216">
                    <a:extLst>
                      <a:ext uri="{FF2B5EF4-FFF2-40B4-BE49-F238E27FC236}">
                        <a16:creationId xmlns:a16="http://schemas.microsoft.com/office/drawing/2014/main" id="{8D0B013D-FC08-0A42-9F92-D313459B0EB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94" y="1964"/>
                    <a:ext cx="571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Princípio de </a:t>
                    </a:r>
                    <a:endParaRPr lang="pt-BR" altLang="pt-BR" sz="2000"/>
                  </a:p>
                </p:txBody>
              </p:sp>
              <p:sp>
                <p:nvSpPr>
                  <p:cNvPr id="21904" name="Rectangle 217">
                    <a:extLst>
                      <a:ext uri="{FF2B5EF4-FFF2-40B4-BE49-F238E27FC236}">
                        <a16:creationId xmlns:a16="http://schemas.microsoft.com/office/drawing/2014/main" id="{9D8A4C3E-8789-6C4A-9DCB-9C84882615A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81" y="2079"/>
                    <a:ext cx="396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solução </a:t>
                    </a:r>
                    <a:endParaRPr lang="pt-BR" altLang="pt-BR" sz="2000"/>
                  </a:p>
                </p:txBody>
              </p:sp>
              <p:sp>
                <p:nvSpPr>
                  <p:cNvPr id="21905" name="Rectangle 218">
                    <a:extLst>
                      <a:ext uri="{FF2B5EF4-FFF2-40B4-BE49-F238E27FC236}">
                        <a16:creationId xmlns:a16="http://schemas.microsoft.com/office/drawing/2014/main" id="{0A645DAE-9098-4D49-BC51-514DE9B44D7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48" y="2194"/>
                    <a:ext cx="435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individual</a:t>
                    </a:r>
                    <a:endParaRPr lang="pt-BR" altLang="pt-BR" sz="2000"/>
                  </a:p>
                </p:txBody>
              </p:sp>
              <p:sp>
                <p:nvSpPr>
                  <p:cNvPr id="21906" name="Rectangle 219">
                    <a:extLst>
                      <a:ext uri="{FF2B5EF4-FFF2-40B4-BE49-F238E27FC236}">
                        <a16:creationId xmlns:a16="http://schemas.microsoft.com/office/drawing/2014/main" id="{49E747BF-81BC-4941-8440-BFA3AEBBB75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63" y="2001"/>
                    <a:ext cx="574" cy="351"/>
                  </a:xfrm>
                  <a:prstGeom prst="rect">
                    <a:avLst/>
                  </a:prstGeom>
                  <a:solidFill>
                    <a:srgbClr val="FFFFFF"/>
                  </a:solidFill>
                  <a:ln w="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en-US" altLang="pt-BR" sz="2000"/>
                  </a:p>
                </p:txBody>
              </p:sp>
              <p:sp>
                <p:nvSpPr>
                  <p:cNvPr id="21907" name="Rectangle 220">
                    <a:extLst>
                      <a:ext uri="{FF2B5EF4-FFF2-40B4-BE49-F238E27FC236}">
                        <a16:creationId xmlns:a16="http://schemas.microsoft.com/office/drawing/2014/main" id="{96A9052A-60DE-9E48-AF6B-2F887B770B6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98" y="2012"/>
                    <a:ext cx="571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Princípio de </a:t>
                    </a:r>
                    <a:endParaRPr lang="pt-BR" altLang="pt-BR" sz="2000"/>
                  </a:p>
                </p:txBody>
              </p:sp>
              <p:sp>
                <p:nvSpPr>
                  <p:cNvPr id="21908" name="Rectangle 221">
                    <a:extLst>
                      <a:ext uri="{FF2B5EF4-FFF2-40B4-BE49-F238E27FC236}">
                        <a16:creationId xmlns:a16="http://schemas.microsoft.com/office/drawing/2014/main" id="{EC629DAE-E409-684A-8956-968200711DD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86" y="2127"/>
                    <a:ext cx="396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solução </a:t>
                    </a:r>
                    <a:endParaRPr lang="pt-BR" altLang="pt-BR" sz="2000"/>
                  </a:p>
                </p:txBody>
              </p:sp>
              <p:sp>
                <p:nvSpPr>
                  <p:cNvPr id="21909" name="Rectangle 222">
                    <a:extLst>
                      <a:ext uri="{FF2B5EF4-FFF2-40B4-BE49-F238E27FC236}">
                        <a16:creationId xmlns:a16="http://schemas.microsoft.com/office/drawing/2014/main" id="{BF9B6062-EE12-7E4A-AC34-32D700DBE10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53" y="2241"/>
                    <a:ext cx="435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individual</a:t>
                    </a:r>
                    <a:endParaRPr lang="pt-BR" altLang="pt-BR" sz="2000"/>
                  </a:p>
                </p:txBody>
              </p:sp>
              <p:sp>
                <p:nvSpPr>
                  <p:cNvPr id="21910" name="Rectangle 223">
                    <a:extLst>
                      <a:ext uri="{FF2B5EF4-FFF2-40B4-BE49-F238E27FC236}">
                        <a16:creationId xmlns:a16="http://schemas.microsoft.com/office/drawing/2014/main" id="{7AE12243-93FA-9B4F-8EC2-6CA764DE6E3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68" y="2049"/>
                    <a:ext cx="574" cy="351"/>
                  </a:xfrm>
                  <a:prstGeom prst="rect">
                    <a:avLst/>
                  </a:prstGeom>
                  <a:solidFill>
                    <a:srgbClr val="FFFFFF"/>
                  </a:solidFill>
                  <a:ln w="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en-US" altLang="pt-BR" sz="2000"/>
                  </a:p>
                </p:txBody>
              </p:sp>
              <p:sp>
                <p:nvSpPr>
                  <p:cNvPr id="21911" name="Rectangle 224">
                    <a:extLst>
                      <a:ext uri="{FF2B5EF4-FFF2-40B4-BE49-F238E27FC236}">
                        <a16:creationId xmlns:a16="http://schemas.microsoft.com/office/drawing/2014/main" id="{1D425221-DFE7-3746-9C81-C0DC6987CF7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03" y="2060"/>
                    <a:ext cx="571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Princípio de </a:t>
                    </a:r>
                    <a:endParaRPr lang="pt-BR" altLang="pt-BR" sz="2000"/>
                  </a:p>
                </p:txBody>
              </p:sp>
              <p:sp>
                <p:nvSpPr>
                  <p:cNvPr id="21912" name="Rectangle 225">
                    <a:extLst>
                      <a:ext uri="{FF2B5EF4-FFF2-40B4-BE49-F238E27FC236}">
                        <a16:creationId xmlns:a16="http://schemas.microsoft.com/office/drawing/2014/main" id="{526D9C88-770C-194F-B9C5-7B1875C08E4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90" y="2175"/>
                    <a:ext cx="396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solução </a:t>
                    </a:r>
                    <a:endParaRPr lang="pt-BR" altLang="pt-BR" sz="2000"/>
                  </a:p>
                </p:txBody>
              </p:sp>
              <p:sp>
                <p:nvSpPr>
                  <p:cNvPr id="21913" name="Rectangle 226">
                    <a:extLst>
                      <a:ext uri="{FF2B5EF4-FFF2-40B4-BE49-F238E27FC236}">
                        <a16:creationId xmlns:a16="http://schemas.microsoft.com/office/drawing/2014/main" id="{A9B18E52-3F23-F545-B2D2-2344775842C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57" y="2289"/>
                    <a:ext cx="435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individual</a:t>
                    </a:r>
                    <a:endParaRPr lang="pt-BR" altLang="pt-BR" sz="2000"/>
                  </a:p>
                </p:txBody>
              </p:sp>
            </p:grpSp>
            <p:sp>
              <p:nvSpPr>
                <p:cNvPr id="21899" name="Rectangle 228">
                  <a:extLst>
                    <a:ext uri="{FF2B5EF4-FFF2-40B4-BE49-F238E27FC236}">
                      <a16:creationId xmlns:a16="http://schemas.microsoft.com/office/drawing/2014/main" id="{F8A511AF-70BB-1C45-8F2B-ADFB8F8828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63" y="2528"/>
                  <a:ext cx="587" cy="236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21900" name="Rectangle 229">
                  <a:extLst>
                    <a:ext uri="{FF2B5EF4-FFF2-40B4-BE49-F238E27FC236}">
                      <a16:creationId xmlns:a16="http://schemas.microsoft.com/office/drawing/2014/main" id="{7B52DE47-F1F2-0F4C-A4AB-D154DCEDEA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05" y="2539"/>
                  <a:ext cx="57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Princípio de </a:t>
                  </a:r>
                  <a:endParaRPr lang="pt-BR" altLang="pt-BR" sz="2000"/>
                </a:p>
              </p:txBody>
            </p:sp>
            <p:sp>
              <p:nvSpPr>
                <p:cNvPr id="21901" name="Rectangle 230">
                  <a:extLst>
                    <a:ext uri="{FF2B5EF4-FFF2-40B4-BE49-F238E27FC236}">
                      <a16:creationId xmlns:a16="http://schemas.microsoft.com/office/drawing/2014/main" id="{0AC5BCD0-8C98-D845-9B57-DD76556451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89" y="2654"/>
                  <a:ext cx="57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solução total</a:t>
                  </a:r>
                  <a:endParaRPr lang="pt-BR" altLang="pt-BR" sz="2000"/>
                </a:p>
              </p:txBody>
            </p:sp>
          </p:grpSp>
        </p:grpSp>
        <p:grpSp>
          <p:nvGrpSpPr>
            <p:cNvPr id="21547" name="Group 245">
              <a:extLst>
                <a:ext uri="{FF2B5EF4-FFF2-40B4-BE49-F238E27FC236}">
                  <a16:creationId xmlns:a16="http://schemas.microsoft.com/office/drawing/2014/main" id="{280F428E-8A0F-7C40-96F2-F45AB59EFE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4" y="1810"/>
              <a:ext cx="1431" cy="622"/>
              <a:chOff x="994" y="1810"/>
              <a:chExt cx="1431" cy="622"/>
            </a:xfrm>
          </p:grpSpPr>
          <p:sp>
            <p:nvSpPr>
              <p:cNvPr id="21880" name="Freeform 233">
                <a:extLst>
                  <a:ext uri="{FF2B5EF4-FFF2-40B4-BE49-F238E27FC236}">
                    <a16:creationId xmlns:a16="http://schemas.microsoft.com/office/drawing/2014/main" id="{0BD38A4A-17B4-6C43-839A-A8572C1A07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" y="1858"/>
                <a:ext cx="1431" cy="574"/>
              </a:xfrm>
              <a:custGeom>
                <a:avLst/>
                <a:gdLst>
                  <a:gd name="T0" fmla="*/ 0 w 2863"/>
                  <a:gd name="T1" fmla="*/ 0 h 1149"/>
                  <a:gd name="T2" fmla="*/ 0 w 2863"/>
                  <a:gd name="T3" fmla="*/ 0 h 1149"/>
                  <a:gd name="T4" fmla="*/ 0 w 2863"/>
                  <a:gd name="T5" fmla="*/ 0 h 1149"/>
                  <a:gd name="T6" fmla="*/ 0 w 2863"/>
                  <a:gd name="T7" fmla="*/ 0 h 1149"/>
                  <a:gd name="T8" fmla="*/ 0 w 2863"/>
                  <a:gd name="T9" fmla="*/ 0 h 1149"/>
                  <a:gd name="T10" fmla="*/ 0 w 2863"/>
                  <a:gd name="T11" fmla="*/ 0 h 1149"/>
                  <a:gd name="T12" fmla="*/ 0 w 2863"/>
                  <a:gd name="T13" fmla="*/ 0 h 1149"/>
                  <a:gd name="T14" fmla="*/ 0 w 2863"/>
                  <a:gd name="T15" fmla="*/ 0 h 1149"/>
                  <a:gd name="T16" fmla="*/ 0 w 2863"/>
                  <a:gd name="T17" fmla="*/ 0 h 1149"/>
                  <a:gd name="T18" fmla="*/ 0 w 2863"/>
                  <a:gd name="T19" fmla="*/ 0 h 1149"/>
                  <a:gd name="T20" fmla="*/ 0 w 2863"/>
                  <a:gd name="T21" fmla="*/ 0 h 1149"/>
                  <a:gd name="T22" fmla="*/ 0 w 2863"/>
                  <a:gd name="T23" fmla="*/ 0 h 1149"/>
                  <a:gd name="T24" fmla="*/ 0 w 2863"/>
                  <a:gd name="T25" fmla="*/ 0 h 1149"/>
                  <a:gd name="T26" fmla="*/ 0 w 2863"/>
                  <a:gd name="T27" fmla="*/ 0 h 1149"/>
                  <a:gd name="T28" fmla="*/ 0 w 2863"/>
                  <a:gd name="T29" fmla="*/ 0 h 1149"/>
                  <a:gd name="T30" fmla="*/ 0 w 2863"/>
                  <a:gd name="T31" fmla="*/ 0 h 1149"/>
                  <a:gd name="T32" fmla="*/ 0 w 2863"/>
                  <a:gd name="T33" fmla="*/ 0 h 1149"/>
                  <a:gd name="T34" fmla="*/ 0 w 2863"/>
                  <a:gd name="T35" fmla="*/ 0 h 1149"/>
                  <a:gd name="T36" fmla="*/ 0 w 2863"/>
                  <a:gd name="T37" fmla="*/ 0 h 1149"/>
                  <a:gd name="T38" fmla="*/ 0 w 2863"/>
                  <a:gd name="T39" fmla="*/ 0 h 1149"/>
                  <a:gd name="T40" fmla="*/ 0 w 2863"/>
                  <a:gd name="T41" fmla="*/ 0 h 1149"/>
                  <a:gd name="T42" fmla="*/ 0 w 2863"/>
                  <a:gd name="T43" fmla="*/ 0 h 1149"/>
                  <a:gd name="T44" fmla="*/ 0 w 2863"/>
                  <a:gd name="T45" fmla="*/ 0 h 1149"/>
                  <a:gd name="T46" fmla="*/ 0 w 2863"/>
                  <a:gd name="T47" fmla="*/ 0 h 1149"/>
                  <a:gd name="T48" fmla="*/ 0 w 2863"/>
                  <a:gd name="T49" fmla="*/ 0 h 1149"/>
                  <a:gd name="T50" fmla="*/ 0 w 2863"/>
                  <a:gd name="T51" fmla="*/ 0 h 1149"/>
                  <a:gd name="T52" fmla="*/ 0 w 2863"/>
                  <a:gd name="T53" fmla="*/ 0 h 1149"/>
                  <a:gd name="T54" fmla="*/ 0 w 2863"/>
                  <a:gd name="T55" fmla="*/ 0 h 1149"/>
                  <a:gd name="T56" fmla="*/ 0 w 2863"/>
                  <a:gd name="T57" fmla="*/ 0 h 1149"/>
                  <a:gd name="T58" fmla="*/ 0 w 2863"/>
                  <a:gd name="T59" fmla="*/ 0 h 1149"/>
                  <a:gd name="T60" fmla="*/ 0 w 2863"/>
                  <a:gd name="T61" fmla="*/ 0 h 1149"/>
                  <a:gd name="T62" fmla="*/ 0 w 2863"/>
                  <a:gd name="T63" fmla="*/ 0 h 1149"/>
                  <a:gd name="T64" fmla="*/ 0 w 2863"/>
                  <a:gd name="T65" fmla="*/ 0 h 1149"/>
                  <a:gd name="T66" fmla="*/ 0 w 2863"/>
                  <a:gd name="T67" fmla="*/ 0 h 1149"/>
                  <a:gd name="T68" fmla="*/ 0 w 2863"/>
                  <a:gd name="T69" fmla="*/ 0 h 1149"/>
                  <a:gd name="T70" fmla="*/ 0 w 2863"/>
                  <a:gd name="T71" fmla="*/ 0 h 1149"/>
                  <a:gd name="T72" fmla="*/ 0 w 2863"/>
                  <a:gd name="T73" fmla="*/ 0 h 1149"/>
                  <a:gd name="T74" fmla="*/ 0 w 2863"/>
                  <a:gd name="T75" fmla="*/ 0 h 1149"/>
                  <a:gd name="T76" fmla="*/ 0 w 2863"/>
                  <a:gd name="T77" fmla="*/ 0 h 1149"/>
                  <a:gd name="T78" fmla="*/ 0 w 2863"/>
                  <a:gd name="T79" fmla="*/ 0 h 1149"/>
                  <a:gd name="T80" fmla="*/ 0 w 2863"/>
                  <a:gd name="T81" fmla="*/ 0 h 1149"/>
                  <a:gd name="T82" fmla="*/ 0 w 2863"/>
                  <a:gd name="T83" fmla="*/ 0 h 1149"/>
                  <a:gd name="T84" fmla="*/ 0 w 2863"/>
                  <a:gd name="T85" fmla="*/ 0 h 1149"/>
                  <a:gd name="T86" fmla="*/ 0 w 2863"/>
                  <a:gd name="T87" fmla="*/ 0 h 1149"/>
                  <a:gd name="T88" fmla="*/ 0 w 2863"/>
                  <a:gd name="T89" fmla="*/ 0 h 1149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2863"/>
                  <a:gd name="T136" fmla="*/ 0 h 1149"/>
                  <a:gd name="T137" fmla="*/ 2863 w 2863"/>
                  <a:gd name="T138" fmla="*/ 1149 h 1149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2863" h="1149">
                    <a:moveTo>
                      <a:pt x="191" y="0"/>
                    </a:moveTo>
                    <a:lnTo>
                      <a:pt x="171" y="2"/>
                    </a:lnTo>
                    <a:lnTo>
                      <a:pt x="153" y="4"/>
                    </a:lnTo>
                    <a:lnTo>
                      <a:pt x="117" y="16"/>
                    </a:lnTo>
                    <a:lnTo>
                      <a:pt x="84" y="32"/>
                    </a:lnTo>
                    <a:lnTo>
                      <a:pt x="56" y="56"/>
                    </a:lnTo>
                    <a:lnTo>
                      <a:pt x="32" y="84"/>
                    </a:lnTo>
                    <a:lnTo>
                      <a:pt x="16" y="118"/>
                    </a:lnTo>
                    <a:lnTo>
                      <a:pt x="4" y="154"/>
                    </a:lnTo>
                    <a:lnTo>
                      <a:pt x="2" y="172"/>
                    </a:lnTo>
                    <a:lnTo>
                      <a:pt x="0" y="192"/>
                    </a:lnTo>
                    <a:lnTo>
                      <a:pt x="0" y="958"/>
                    </a:lnTo>
                    <a:lnTo>
                      <a:pt x="2" y="978"/>
                    </a:lnTo>
                    <a:lnTo>
                      <a:pt x="4" y="996"/>
                    </a:lnTo>
                    <a:lnTo>
                      <a:pt x="16" y="1032"/>
                    </a:lnTo>
                    <a:lnTo>
                      <a:pt x="32" y="1066"/>
                    </a:lnTo>
                    <a:lnTo>
                      <a:pt x="56" y="1094"/>
                    </a:lnTo>
                    <a:lnTo>
                      <a:pt x="84" y="1118"/>
                    </a:lnTo>
                    <a:lnTo>
                      <a:pt x="117" y="1133"/>
                    </a:lnTo>
                    <a:lnTo>
                      <a:pt x="153" y="1145"/>
                    </a:lnTo>
                    <a:lnTo>
                      <a:pt x="171" y="1149"/>
                    </a:lnTo>
                    <a:lnTo>
                      <a:pt x="191" y="1149"/>
                    </a:lnTo>
                    <a:lnTo>
                      <a:pt x="2672" y="1149"/>
                    </a:lnTo>
                    <a:lnTo>
                      <a:pt x="2692" y="1149"/>
                    </a:lnTo>
                    <a:lnTo>
                      <a:pt x="2710" y="1145"/>
                    </a:lnTo>
                    <a:lnTo>
                      <a:pt x="2746" y="1133"/>
                    </a:lnTo>
                    <a:lnTo>
                      <a:pt x="2780" y="1118"/>
                    </a:lnTo>
                    <a:lnTo>
                      <a:pt x="2808" y="1094"/>
                    </a:lnTo>
                    <a:lnTo>
                      <a:pt x="2831" y="1066"/>
                    </a:lnTo>
                    <a:lnTo>
                      <a:pt x="2847" y="1032"/>
                    </a:lnTo>
                    <a:lnTo>
                      <a:pt x="2859" y="996"/>
                    </a:lnTo>
                    <a:lnTo>
                      <a:pt x="2863" y="978"/>
                    </a:lnTo>
                    <a:lnTo>
                      <a:pt x="2863" y="958"/>
                    </a:lnTo>
                    <a:lnTo>
                      <a:pt x="2863" y="192"/>
                    </a:lnTo>
                    <a:lnTo>
                      <a:pt x="2863" y="172"/>
                    </a:lnTo>
                    <a:lnTo>
                      <a:pt x="2859" y="154"/>
                    </a:lnTo>
                    <a:lnTo>
                      <a:pt x="2847" y="118"/>
                    </a:lnTo>
                    <a:lnTo>
                      <a:pt x="2831" y="84"/>
                    </a:lnTo>
                    <a:lnTo>
                      <a:pt x="2808" y="56"/>
                    </a:lnTo>
                    <a:lnTo>
                      <a:pt x="2780" y="32"/>
                    </a:lnTo>
                    <a:lnTo>
                      <a:pt x="2746" y="16"/>
                    </a:lnTo>
                    <a:lnTo>
                      <a:pt x="2710" y="4"/>
                    </a:lnTo>
                    <a:lnTo>
                      <a:pt x="2692" y="2"/>
                    </a:lnTo>
                    <a:lnTo>
                      <a:pt x="2672" y="0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rgbClr val="EAEAEA"/>
              </a:solidFill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881" name="Rectangle 234">
                <a:extLst>
                  <a:ext uri="{FF2B5EF4-FFF2-40B4-BE49-F238E27FC236}">
                    <a16:creationId xmlns:a16="http://schemas.microsoft.com/office/drawing/2014/main" id="{ED6DA141-D9DB-0547-8E03-4758FC0B32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7" y="1810"/>
                <a:ext cx="926" cy="12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882" name="Rectangle 235">
                <a:extLst>
                  <a:ext uri="{FF2B5EF4-FFF2-40B4-BE49-F238E27FC236}">
                    <a16:creationId xmlns:a16="http://schemas.microsoft.com/office/drawing/2014/main" id="{51C2C9AF-B63C-D04A-BD9C-4CB8D3B0F9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3" y="1820"/>
                <a:ext cx="91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Especificações meta</a:t>
                </a:r>
                <a:endParaRPr lang="pt-BR" altLang="pt-BR" sz="2000"/>
              </a:p>
            </p:txBody>
          </p:sp>
          <p:grpSp>
            <p:nvGrpSpPr>
              <p:cNvPr id="21883" name="Group 244">
                <a:extLst>
                  <a:ext uri="{FF2B5EF4-FFF2-40B4-BE49-F238E27FC236}">
                    <a16:creationId xmlns:a16="http://schemas.microsoft.com/office/drawing/2014/main" id="{807C654D-76E6-0945-B450-2962FA2DED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41" y="2001"/>
                <a:ext cx="1360" cy="368"/>
                <a:chOff x="1041" y="2001"/>
                <a:chExt cx="1360" cy="368"/>
              </a:xfrm>
            </p:grpSpPr>
            <p:sp>
              <p:nvSpPr>
                <p:cNvPr id="21884" name="Rectangle 236">
                  <a:extLst>
                    <a:ext uri="{FF2B5EF4-FFF2-40B4-BE49-F238E27FC236}">
                      <a16:creationId xmlns:a16="http://schemas.microsoft.com/office/drawing/2014/main" id="{90EADC45-173C-874E-A21A-CA7FE55E35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41" y="2001"/>
                  <a:ext cx="638" cy="351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21885" name="Rectangle 237">
                  <a:extLst>
                    <a:ext uri="{FF2B5EF4-FFF2-40B4-BE49-F238E27FC236}">
                      <a16:creationId xmlns:a16="http://schemas.microsoft.com/office/drawing/2014/main" id="{AA1BFED5-8F9B-8247-978F-FABE0D64E9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1" y="2012"/>
                  <a:ext cx="644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Requisitos do </a:t>
                  </a:r>
                  <a:endParaRPr lang="pt-BR" altLang="pt-BR" sz="2000"/>
                </a:p>
              </p:txBody>
            </p:sp>
            <p:sp>
              <p:nvSpPr>
                <p:cNvPr id="21886" name="Rectangle 238">
                  <a:extLst>
                    <a:ext uri="{FF2B5EF4-FFF2-40B4-BE49-F238E27FC236}">
                      <a16:creationId xmlns:a16="http://schemas.microsoft.com/office/drawing/2014/main" id="{1D83C0F9-5265-6147-92B2-E0F0AC563F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98" y="2127"/>
                  <a:ext cx="39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produto </a:t>
                  </a:r>
                  <a:endParaRPr lang="pt-BR" altLang="pt-BR" sz="2000"/>
                </a:p>
              </p:txBody>
            </p:sp>
            <p:sp>
              <p:nvSpPr>
                <p:cNvPr id="21887" name="Rectangle 239">
                  <a:extLst>
                    <a:ext uri="{FF2B5EF4-FFF2-40B4-BE49-F238E27FC236}">
                      <a16:creationId xmlns:a16="http://schemas.microsoft.com/office/drawing/2014/main" id="{C90F4E6D-5675-9D4F-BB32-CE921C20C6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05" y="2241"/>
                  <a:ext cx="55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(valor meta)</a:t>
                  </a:r>
                  <a:endParaRPr lang="pt-BR" altLang="pt-BR" sz="2000"/>
                </a:p>
              </p:txBody>
            </p:sp>
            <p:sp>
              <p:nvSpPr>
                <p:cNvPr id="21888" name="Rectangle 240">
                  <a:extLst>
                    <a:ext uri="{FF2B5EF4-FFF2-40B4-BE49-F238E27FC236}">
                      <a16:creationId xmlns:a16="http://schemas.microsoft.com/office/drawing/2014/main" id="{44DBB46A-E9BA-2840-9D1D-E22B6ECC35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57" y="2001"/>
                  <a:ext cx="621" cy="351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21889" name="Rectangle 241">
                  <a:extLst>
                    <a:ext uri="{FF2B5EF4-FFF2-40B4-BE49-F238E27FC236}">
                      <a16:creationId xmlns:a16="http://schemas.microsoft.com/office/drawing/2014/main" id="{28330C67-AA1D-D949-ACBD-729D37C9C6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05" y="2012"/>
                  <a:ext cx="59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Informações </a:t>
                  </a:r>
                  <a:endParaRPr lang="pt-BR" altLang="pt-BR" sz="2000"/>
                </a:p>
              </p:txBody>
            </p:sp>
            <p:sp>
              <p:nvSpPr>
                <p:cNvPr id="21890" name="Rectangle 242">
                  <a:extLst>
                    <a:ext uri="{FF2B5EF4-FFF2-40B4-BE49-F238E27FC236}">
                      <a16:creationId xmlns:a16="http://schemas.microsoft.com/office/drawing/2014/main" id="{16DEB4B5-946F-ED41-8CDC-7B760F3FF7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56" y="2127"/>
                  <a:ext cx="490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adicionais </a:t>
                  </a:r>
                  <a:endParaRPr lang="pt-BR" altLang="pt-BR" sz="2000"/>
                </a:p>
              </p:txBody>
            </p:sp>
            <p:sp>
              <p:nvSpPr>
                <p:cNvPr id="21891" name="Rectangle 243">
                  <a:extLst>
                    <a:ext uri="{FF2B5EF4-FFF2-40B4-BE49-F238E27FC236}">
                      <a16:creationId xmlns:a16="http://schemas.microsoft.com/office/drawing/2014/main" id="{33DCB6A3-2D45-8145-BDDD-CE9C3C33A7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30" y="2241"/>
                  <a:ext cx="51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qualitativas</a:t>
                  </a:r>
                  <a:endParaRPr lang="pt-BR" altLang="pt-BR" sz="2000"/>
                </a:p>
              </p:txBody>
            </p:sp>
          </p:grpSp>
        </p:grpSp>
        <p:sp>
          <p:nvSpPr>
            <p:cNvPr id="21548" name="Rectangle 246">
              <a:extLst>
                <a:ext uri="{FF2B5EF4-FFF2-40B4-BE49-F238E27FC236}">
                  <a16:creationId xmlns:a16="http://schemas.microsoft.com/office/drawing/2014/main" id="{8272BFE9-E325-0841-9461-9D17106E4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0" y="2528"/>
              <a:ext cx="669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549" name="Rectangle 247">
              <a:extLst>
                <a:ext uri="{FF2B5EF4-FFF2-40B4-BE49-F238E27FC236}">
                  <a16:creationId xmlns:a16="http://schemas.microsoft.com/office/drawing/2014/main" id="{7294A703-2E91-814A-B9CC-5BC333E922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" y="2539"/>
              <a:ext cx="51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Requisitos </a:t>
              </a:r>
              <a:endParaRPr lang="pt-BR" altLang="pt-BR" sz="2000"/>
            </a:p>
          </p:txBody>
        </p:sp>
        <p:sp>
          <p:nvSpPr>
            <p:cNvPr id="21550" name="Rectangle 248">
              <a:extLst>
                <a:ext uri="{FF2B5EF4-FFF2-40B4-BE49-F238E27FC236}">
                  <a16:creationId xmlns:a16="http://schemas.microsoft.com/office/drawing/2014/main" id="{ADA523DB-CBA0-D044-BE55-7DB6E54E8A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" y="2654"/>
              <a:ext cx="22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dos </a:t>
              </a:r>
              <a:endParaRPr lang="pt-BR" altLang="pt-BR" sz="2000"/>
            </a:p>
          </p:txBody>
        </p:sp>
        <p:sp>
          <p:nvSpPr>
            <p:cNvPr id="21551" name="Rectangle 249">
              <a:extLst>
                <a:ext uri="{FF2B5EF4-FFF2-40B4-BE49-F238E27FC236}">
                  <a16:creationId xmlns:a16="http://schemas.microsoft.com/office/drawing/2014/main" id="{F65C9A07-3D46-DE4C-9007-ABE61217EC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2" y="2654"/>
              <a:ext cx="28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SSCs</a:t>
              </a:r>
              <a:endParaRPr lang="pt-BR" altLang="pt-BR" sz="2000"/>
            </a:p>
          </p:txBody>
        </p:sp>
        <p:sp>
          <p:nvSpPr>
            <p:cNvPr id="21552" name="Rectangle 250">
              <a:extLst>
                <a:ext uri="{FF2B5EF4-FFF2-40B4-BE49-F238E27FC236}">
                  <a16:creationId xmlns:a16="http://schemas.microsoft.com/office/drawing/2014/main" id="{D05C4DCB-8259-294A-AED7-8A29B609F2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8" y="2768"/>
              <a:ext cx="65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(desdobrados)</a:t>
              </a:r>
              <a:endParaRPr lang="pt-BR" altLang="pt-BR" sz="2000"/>
            </a:p>
          </p:txBody>
        </p:sp>
        <p:sp>
          <p:nvSpPr>
            <p:cNvPr id="21553" name="Rectangle 251">
              <a:extLst>
                <a:ext uri="{FF2B5EF4-FFF2-40B4-BE49-F238E27FC236}">
                  <a16:creationId xmlns:a16="http://schemas.microsoft.com/office/drawing/2014/main" id="{A8787BF2-0AB5-7646-A15B-EBEB66F514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" y="3059"/>
              <a:ext cx="812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554" name="Rectangle 252">
              <a:extLst>
                <a:ext uri="{FF2B5EF4-FFF2-40B4-BE49-F238E27FC236}">
                  <a16:creationId xmlns:a16="http://schemas.microsoft.com/office/drawing/2014/main" id="{8D06D6E9-BB83-9C45-8B01-646248BD43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6" y="3070"/>
              <a:ext cx="70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Especificações </a:t>
              </a:r>
              <a:endParaRPr lang="pt-BR" altLang="pt-BR" sz="2000"/>
            </a:p>
          </p:txBody>
        </p:sp>
        <p:sp>
          <p:nvSpPr>
            <p:cNvPr id="21555" name="Rectangle 253">
              <a:extLst>
                <a:ext uri="{FF2B5EF4-FFF2-40B4-BE49-F238E27FC236}">
                  <a16:creationId xmlns:a16="http://schemas.microsoft.com/office/drawing/2014/main" id="{793EAE97-6A02-D04E-8C76-03DC79B011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3184"/>
              <a:ext cx="533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iniciais dos </a:t>
              </a:r>
              <a:endParaRPr lang="pt-BR" altLang="pt-BR" sz="2000"/>
            </a:p>
          </p:txBody>
        </p:sp>
        <p:sp>
          <p:nvSpPr>
            <p:cNvPr id="21556" name="Rectangle 254">
              <a:extLst>
                <a:ext uri="{FF2B5EF4-FFF2-40B4-BE49-F238E27FC236}">
                  <a16:creationId xmlns:a16="http://schemas.microsoft.com/office/drawing/2014/main" id="{C8D77339-CA7F-3745-AD74-08301B63D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7" y="3184"/>
              <a:ext cx="31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SSCs </a:t>
              </a:r>
              <a:endParaRPr lang="pt-BR" altLang="pt-BR" sz="2000"/>
            </a:p>
          </p:txBody>
        </p:sp>
        <p:sp>
          <p:nvSpPr>
            <p:cNvPr id="21557" name="Rectangle 255">
              <a:extLst>
                <a:ext uri="{FF2B5EF4-FFF2-40B4-BE49-F238E27FC236}">
                  <a16:creationId xmlns:a16="http://schemas.microsoft.com/office/drawing/2014/main" id="{A4450E64-269D-9F4C-B410-9C1A7865A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8" y="3390"/>
              <a:ext cx="623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558" name="Rectangle 256">
              <a:extLst>
                <a:ext uri="{FF2B5EF4-FFF2-40B4-BE49-F238E27FC236}">
                  <a16:creationId xmlns:a16="http://schemas.microsoft.com/office/drawing/2014/main" id="{293B9D94-3495-6A42-B4A9-19932238E6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1" y="3401"/>
              <a:ext cx="60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Plano macro </a:t>
              </a:r>
              <a:endParaRPr lang="pt-BR" altLang="pt-BR" sz="2000"/>
            </a:p>
          </p:txBody>
        </p:sp>
        <p:sp>
          <p:nvSpPr>
            <p:cNvPr id="21559" name="Rectangle 257">
              <a:extLst>
                <a:ext uri="{FF2B5EF4-FFF2-40B4-BE49-F238E27FC236}">
                  <a16:creationId xmlns:a16="http://schemas.microsoft.com/office/drawing/2014/main" id="{F1AC9194-A03A-7342-A4A0-129DFFC84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9" y="3516"/>
              <a:ext cx="560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de processo</a:t>
              </a:r>
              <a:endParaRPr lang="pt-BR" altLang="pt-BR" sz="2000"/>
            </a:p>
          </p:txBody>
        </p:sp>
        <p:grpSp>
          <p:nvGrpSpPr>
            <p:cNvPr id="21560" name="Group 260">
              <a:extLst>
                <a:ext uri="{FF2B5EF4-FFF2-40B4-BE49-F238E27FC236}">
                  <a16:creationId xmlns:a16="http://schemas.microsoft.com/office/drawing/2014/main" id="{5F364CF2-9583-5541-B376-9649451BF0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9" y="2146"/>
              <a:ext cx="212" cy="63"/>
              <a:chOff x="829" y="2146"/>
              <a:chExt cx="212" cy="63"/>
            </a:xfrm>
          </p:grpSpPr>
          <p:sp>
            <p:nvSpPr>
              <p:cNvPr id="21878" name="Line 258">
                <a:extLst>
                  <a:ext uri="{FF2B5EF4-FFF2-40B4-BE49-F238E27FC236}">
                    <a16:creationId xmlns:a16="http://schemas.microsoft.com/office/drawing/2014/main" id="{A886071B-5592-4E4E-A28E-B35D15F348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9" y="2177"/>
                <a:ext cx="153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879" name="Freeform 259">
                <a:extLst>
                  <a:ext uri="{FF2B5EF4-FFF2-40B4-BE49-F238E27FC236}">
                    <a16:creationId xmlns:a16="http://schemas.microsoft.com/office/drawing/2014/main" id="{9DF7425B-4821-A343-AA77-4871BD8E15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0" y="2146"/>
                <a:ext cx="61" cy="63"/>
              </a:xfrm>
              <a:custGeom>
                <a:avLst/>
                <a:gdLst>
                  <a:gd name="T0" fmla="*/ 0 w 124"/>
                  <a:gd name="T1" fmla="*/ 1 h 125"/>
                  <a:gd name="T2" fmla="*/ 0 w 124"/>
                  <a:gd name="T3" fmla="*/ 1 h 125"/>
                  <a:gd name="T4" fmla="*/ 0 w 124"/>
                  <a:gd name="T5" fmla="*/ 0 h 125"/>
                  <a:gd name="T6" fmla="*/ 0 w 124"/>
                  <a:gd name="T7" fmla="*/ 1 h 12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4"/>
                  <a:gd name="T13" fmla="*/ 0 h 125"/>
                  <a:gd name="T14" fmla="*/ 124 w 124"/>
                  <a:gd name="T15" fmla="*/ 125 h 12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4" h="125">
                    <a:moveTo>
                      <a:pt x="0" y="125"/>
                    </a:moveTo>
                    <a:lnTo>
                      <a:pt x="124" y="62"/>
                    </a:lnTo>
                    <a:lnTo>
                      <a:pt x="0" y="0"/>
                    </a:lnTo>
                    <a:lnTo>
                      <a:pt x="0" y="1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1561" name="Group 263">
              <a:extLst>
                <a:ext uri="{FF2B5EF4-FFF2-40B4-BE49-F238E27FC236}">
                  <a16:creationId xmlns:a16="http://schemas.microsoft.com/office/drawing/2014/main" id="{2E9A2DF0-A179-C444-AEAA-5DCF5289AE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5" y="2115"/>
              <a:ext cx="215" cy="63"/>
              <a:chOff x="2425" y="2115"/>
              <a:chExt cx="215" cy="63"/>
            </a:xfrm>
          </p:grpSpPr>
          <p:sp>
            <p:nvSpPr>
              <p:cNvPr id="21876" name="Line 261">
                <a:extLst>
                  <a:ext uri="{FF2B5EF4-FFF2-40B4-BE49-F238E27FC236}">
                    <a16:creationId xmlns:a16="http://schemas.microsoft.com/office/drawing/2014/main" id="{F84C6F1D-D8BA-DC48-A52D-2E3B90F83A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25" y="2145"/>
                <a:ext cx="154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877" name="Freeform 262">
                <a:extLst>
                  <a:ext uri="{FF2B5EF4-FFF2-40B4-BE49-F238E27FC236}">
                    <a16:creationId xmlns:a16="http://schemas.microsoft.com/office/drawing/2014/main" id="{649221A0-694B-9A49-8F2A-8841F6F596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2115"/>
                <a:ext cx="63" cy="63"/>
              </a:xfrm>
              <a:custGeom>
                <a:avLst/>
                <a:gdLst>
                  <a:gd name="T0" fmla="*/ 0 w 126"/>
                  <a:gd name="T1" fmla="*/ 1 h 126"/>
                  <a:gd name="T2" fmla="*/ 1 w 126"/>
                  <a:gd name="T3" fmla="*/ 1 h 126"/>
                  <a:gd name="T4" fmla="*/ 0 w 126"/>
                  <a:gd name="T5" fmla="*/ 0 h 126"/>
                  <a:gd name="T6" fmla="*/ 0 w 126"/>
                  <a:gd name="T7" fmla="*/ 1 h 1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6"/>
                  <a:gd name="T13" fmla="*/ 0 h 126"/>
                  <a:gd name="T14" fmla="*/ 126 w 126"/>
                  <a:gd name="T15" fmla="*/ 126 h 1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6" h="126">
                    <a:moveTo>
                      <a:pt x="0" y="126"/>
                    </a:moveTo>
                    <a:lnTo>
                      <a:pt x="126" y="64"/>
                    </a:lnTo>
                    <a:lnTo>
                      <a:pt x="0" y="0"/>
                    </a:lnTo>
                    <a:lnTo>
                      <a:pt x="0" y="1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1562" name="Group 266">
              <a:extLst>
                <a:ext uri="{FF2B5EF4-FFF2-40B4-BE49-F238E27FC236}">
                  <a16:creationId xmlns:a16="http://schemas.microsoft.com/office/drawing/2014/main" id="{595FD674-1E7D-BB42-A9BB-BBC11A9D67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0" y="2146"/>
              <a:ext cx="346" cy="96"/>
              <a:chOff x="3320" y="2146"/>
              <a:chExt cx="346" cy="96"/>
            </a:xfrm>
          </p:grpSpPr>
          <p:sp>
            <p:nvSpPr>
              <p:cNvPr id="21874" name="Line 264">
                <a:extLst>
                  <a:ext uri="{FF2B5EF4-FFF2-40B4-BE49-F238E27FC236}">
                    <a16:creationId xmlns:a16="http://schemas.microsoft.com/office/drawing/2014/main" id="{B2E2267D-0895-3E4B-B6BF-B6D202E9C4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20" y="2146"/>
                <a:ext cx="288" cy="65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875" name="Freeform 265">
                <a:extLst>
                  <a:ext uri="{FF2B5EF4-FFF2-40B4-BE49-F238E27FC236}">
                    <a16:creationId xmlns:a16="http://schemas.microsoft.com/office/drawing/2014/main" id="{66844B71-5480-2D48-A3A8-9E97AE5A76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8" y="2181"/>
                <a:ext cx="68" cy="61"/>
              </a:xfrm>
              <a:custGeom>
                <a:avLst/>
                <a:gdLst>
                  <a:gd name="T0" fmla="*/ 0 w 136"/>
                  <a:gd name="T1" fmla="*/ 1 h 121"/>
                  <a:gd name="T2" fmla="*/ 1 w 136"/>
                  <a:gd name="T3" fmla="*/ 1 h 121"/>
                  <a:gd name="T4" fmla="*/ 1 w 136"/>
                  <a:gd name="T5" fmla="*/ 0 h 121"/>
                  <a:gd name="T6" fmla="*/ 0 w 136"/>
                  <a:gd name="T7" fmla="*/ 1 h 12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6"/>
                  <a:gd name="T13" fmla="*/ 0 h 121"/>
                  <a:gd name="T14" fmla="*/ 136 w 136"/>
                  <a:gd name="T15" fmla="*/ 121 h 12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6" h="121">
                    <a:moveTo>
                      <a:pt x="0" y="121"/>
                    </a:moveTo>
                    <a:lnTo>
                      <a:pt x="136" y="87"/>
                    </a:lnTo>
                    <a:lnTo>
                      <a:pt x="28" y="0"/>
                    </a:lnTo>
                    <a:lnTo>
                      <a:pt x="0" y="12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1563" name="Group 269">
              <a:extLst>
                <a:ext uri="{FF2B5EF4-FFF2-40B4-BE49-F238E27FC236}">
                  <a16:creationId xmlns:a16="http://schemas.microsoft.com/office/drawing/2014/main" id="{82572423-0F54-C948-B535-07598137ED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4" y="2351"/>
              <a:ext cx="65" cy="177"/>
              <a:chOff x="1294" y="2351"/>
              <a:chExt cx="65" cy="177"/>
            </a:xfrm>
          </p:grpSpPr>
          <p:sp>
            <p:nvSpPr>
              <p:cNvPr id="21872" name="Line 267">
                <a:extLst>
                  <a:ext uri="{FF2B5EF4-FFF2-40B4-BE49-F238E27FC236}">
                    <a16:creationId xmlns:a16="http://schemas.microsoft.com/office/drawing/2014/main" id="{831B7039-2C14-1142-BF49-83D731535F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23" y="2351"/>
                <a:ext cx="36" cy="120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873" name="Freeform 268">
                <a:extLst>
                  <a:ext uri="{FF2B5EF4-FFF2-40B4-BE49-F238E27FC236}">
                    <a16:creationId xmlns:a16="http://schemas.microsoft.com/office/drawing/2014/main" id="{470588AD-5314-6F4F-9E36-D08052F281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4" y="2459"/>
                <a:ext cx="59" cy="69"/>
              </a:xfrm>
              <a:custGeom>
                <a:avLst/>
                <a:gdLst>
                  <a:gd name="T0" fmla="*/ 0 w 119"/>
                  <a:gd name="T1" fmla="*/ 0 h 138"/>
                  <a:gd name="T2" fmla="*/ 0 w 119"/>
                  <a:gd name="T3" fmla="*/ 1 h 138"/>
                  <a:gd name="T4" fmla="*/ 0 w 119"/>
                  <a:gd name="T5" fmla="*/ 1 h 138"/>
                  <a:gd name="T6" fmla="*/ 0 w 119"/>
                  <a:gd name="T7" fmla="*/ 0 h 13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9"/>
                  <a:gd name="T13" fmla="*/ 0 h 138"/>
                  <a:gd name="T14" fmla="*/ 119 w 119"/>
                  <a:gd name="T15" fmla="*/ 138 h 13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9" h="138">
                    <a:moveTo>
                      <a:pt x="0" y="0"/>
                    </a:moveTo>
                    <a:lnTo>
                      <a:pt x="19" y="138"/>
                    </a:lnTo>
                    <a:lnTo>
                      <a:pt x="119" y="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1564" name="Group 272">
              <a:extLst>
                <a:ext uri="{FF2B5EF4-FFF2-40B4-BE49-F238E27FC236}">
                  <a16:creationId xmlns:a16="http://schemas.microsoft.com/office/drawing/2014/main" id="{5B52CED6-C6B0-DE4E-862B-5015C74665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8" y="2672"/>
              <a:ext cx="978" cy="63"/>
              <a:chOff x="1638" y="2672"/>
              <a:chExt cx="978" cy="63"/>
            </a:xfrm>
          </p:grpSpPr>
          <p:sp>
            <p:nvSpPr>
              <p:cNvPr id="21870" name="Line 270">
                <a:extLst>
                  <a:ext uri="{FF2B5EF4-FFF2-40B4-BE49-F238E27FC236}">
                    <a16:creationId xmlns:a16="http://schemas.microsoft.com/office/drawing/2014/main" id="{1C680BD1-ADE6-0B4B-8C3A-68CD8F57D0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38" y="2703"/>
                <a:ext cx="918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871" name="Freeform 271">
                <a:extLst>
                  <a:ext uri="{FF2B5EF4-FFF2-40B4-BE49-F238E27FC236}">
                    <a16:creationId xmlns:a16="http://schemas.microsoft.com/office/drawing/2014/main" id="{AF312E80-E17B-2E42-83A3-2CC5E037E3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4" y="2672"/>
                <a:ext cx="62" cy="63"/>
              </a:xfrm>
              <a:custGeom>
                <a:avLst/>
                <a:gdLst>
                  <a:gd name="T0" fmla="*/ 0 w 123"/>
                  <a:gd name="T1" fmla="*/ 1 h 126"/>
                  <a:gd name="T2" fmla="*/ 1 w 123"/>
                  <a:gd name="T3" fmla="*/ 1 h 126"/>
                  <a:gd name="T4" fmla="*/ 0 w 123"/>
                  <a:gd name="T5" fmla="*/ 0 h 126"/>
                  <a:gd name="T6" fmla="*/ 0 w 123"/>
                  <a:gd name="T7" fmla="*/ 1 h 1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3"/>
                  <a:gd name="T13" fmla="*/ 0 h 126"/>
                  <a:gd name="T14" fmla="*/ 123 w 123"/>
                  <a:gd name="T15" fmla="*/ 126 h 1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3" h="126">
                    <a:moveTo>
                      <a:pt x="0" y="126"/>
                    </a:moveTo>
                    <a:lnTo>
                      <a:pt x="123" y="64"/>
                    </a:lnTo>
                    <a:lnTo>
                      <a:pt x="0" y="0"/>
                    </a:lnTo>
                    <a:lnTo>
                      <a:pt x="0" y="1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1565" name="Group 275">
              <a:extLst>
                <a:ext uri="{FF2B5EF4-FFF2-40B4-BE49-F238E27FC236}">
                  <a16:creationId xmlns:a16="http://schemas.microsoft.com/office/drawing/2014/main" id="{C0EBD3BB-B23D-8243-97E9-4A3BCCE3DB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44" y="2320"/>
              <a:ext cx="63" cy="266"/>
              <a:chOff x="2944" y="2320"/>
              <a:chExt cx="63" cy="266"/>
            </a:xfrm>
          </p:grpSpPr>
          <p:sp>
            <p:nvSpPr>
              <p:cNvPr id="21868" name="Line 273">
                <a:extLst>
                  <a:ext uri="{FF2B5EF4-FFF2-40B4-BE49-F238E27FC236}">
                    <a16:creationId xmlns:a16="http://schemas.microsoft.com/office/drawing/2014/main" id="{6FC4D628-DEF4-B24E-95A8-465C384341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75" y="2320"/>
                <a:ext cx="5" cy="205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869" name="Freeform 274">
                <a:extLst>
                  <a:ext uri="{FF2B5EF4-FFF2-40B4-BE49-F238E27FC236}">
                    <a16:creationId xmlns:a16="http://schemas.microsoft.com/office/drawing/2014/main" id="{EF0B1ED2-EE45-1D4D-B78B-C56BD3CC52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4" y="2522"/>
                <a:ext cx="63" cy="64"/>
              </a:xfrm>
              <a:custGeom>
                <a:avLst/>
                <a:gdLst>
                  <a:gd name="T0" fmla="*/ 0 w 125"/>
                  <a:gd name="T1" fmla="*/ 0 h 128"/>
                  <a:gd name="T2" fmla="*/ 1 w 125"/>
                  <a:gd name="T3" fmla="*/ 1 h 128"/>
                  <a:gd name="T4" fmla="*/ 1 w 125"/>
                  <a:gd name="T5" fmla="*/ 1 h 128"/>
                  <a:gd name="T6" fmla="*/ 0 w 125"/>
                  <a:gd name="T7" fmla="*/ 0 h 1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5"/>
                  <a:gd name="T13" fmla="*/ 0 h 128"/>
                  <a:gd name="T14" fmla="*/ 125 w 125"/>
                  <a:gd name="T15" fmla="*/ 128 h 1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5" h="128">
                    <a:moveTo>
                      <a:pt x="0" y="0"/>
                    </a:moveTo>
                    <a:lnTo>
                      <a:pt x="60" y="128"/>
                    </a:lnTo>
                    <a:lnTo>
                      <a:pt x="125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1566" name="Group 278">
              <a:extLst>
                <a:ext uri="{FF2B5EF4-FFF2-40B4-BE49-F238E27FC236}">
                  <a16:creationId xmlns:a16="http://schemas.microsoft.com/office/drawing/2014/main" id="{41F8D01E-1A20-EC4E-9F22-C9CAFB8808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46" y="2820"/>
              <a:ext cx="828" cy="239"/>
              <a:chOff x="2146" y="2820"/>
              <a:chExt cx="828" cy="239"/>
            </a:xfrm>
          </p:grpSpPr>
          <p:sp>
            <p:nvSpPr>
              <p:cNvPr id="21866" name="Freeform 276">
                <a:extLst>
                  <a:ext uri="{FF2B5EF4-FFF2-40B4-BE49-F238E27FC236}">
                    <a16:creationId xmlns:a16="http://schemas.microsoft.com/office/drawing/2014/main" id="{15191D61-1CE5-3B4B-B470-E5AA74F2E8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7" y="2820"/>
                <a:ext cx="797" cy="179"/>
              </a:xfrm>
              <a:custGeom>
                <a:avLst/>
                <a:gdLst>
                  <a:gd name="T0" fmla="*/ 0 w 1595"/>
                  <a:gd name="T1" fmla="*/ 0 h 357"/>
                  <a:gd name="T2" fmla="*/ 0 w 1595"/>
                  <a:gd name="T3" fmla="*/ 1 h 357"/>
                  <a:gd name="T4" fmla="*/ 0 w 1595"/>
                  <a:gd name="T5" fmla="*/ 1 h 357"/>
                  <a:gd name="T6" fmla="*/ 0 w 1595"/>
                  <a:gd name="T7" fmla="*/ 1 h 3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95"/>
                  <a:gd name="T13" fmla="*/ 0 h 357"/>
                  <a:gd name="T14" fmla="*/ 1595 w 1595"/>
                  <a:gd name="T15" fmla="*/ 357 h 3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95" h="357">
                    <a:moveTo>
                      <a:pt x="1595" y="0"/>
                    </a:moveTo>
                    <a:lnTo>
                      <a:pt x="1595" y="237"/>
                    </a:lnTo>
                    <a:lnTo>
                      <a:pt x="0" y="237"/>
                    </a:lnTo>
                    <a:lnTo>
                      <a:pt x="0" y="357"/>
                    </a:lnTo>
                  </a:path>
                </a:pathLst>
              </a:cu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867" name="Freeform 277">
                <a:extLst>
                  <a:ext uri="{FF2B5EF4-FFF2-40B4-BE49-F238E27FC236}">
                    <a16:creationId xmlns:a16="http://schemas.microsoft.com/office/drawing/2014/main" id="{B34494D4-C43E-8048-ADA0-73BE474DF3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6" y="2997"/>
                <a:ext cx="62" cy="62"/>
              </a:xfrm>
              <a:custGeom>
                <a:avLst/>
                <a:gdLst>
                  <a:gd name="T0" fmla="*/ 0 w 125"/>
                  <a:gd name="T1" fmla="*/ 0 h 124"/>
                  <a:gd name="T2" fmla="*/ 0 w 125"/>
                  <a:gd name="T3" fmla="*/ 1 h 124"/>
                  <a:gd name="T4" fmla="*/ 0 w 125"/>
                  <a:gd name="T5" fmla="*/ 0 h 124"/>
                  <a:gd name="T6" fmla="*/ 0 w 125"/>
                  <a:gd name="T7" fmla="*/ 0 h 1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5"/>
                  <a:gd name="T13" fmla="*/ 0 h 124"/>
                  <a:gd name="T14" fmla="*/ 125 w 125"/>
                  <a:gd name="T15" fmla="*/ 124 h 1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5" h="124">
                    <a:moveTo>
                      <a:pt x="0" y="0"/>
                    </a:moveTo>
                    <a:lnTo>
                      <a:pt x="61" y="124"/>
                    </a:lnTo>
                    <a:lnTo>
                      <a:pt x="12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1567" name="Group 281">
              <a:extLst>
                <a:ext uri="{FF2B5EF4-FFF2-40B4-BE49-F238E27FC236}">
                  <a16:creationId xmlns:a16="http://schemas.microsoft.com/office/drawing/2014/main" id="{BF74FD3F-2789-C746-9A74-5833810C2B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4" y="2820"/>
              <a:ext cx="628" cy="239"/>
              <a:chOff x="2974" y="2820"/>
              <a:chExt cx="628" cy="239"/>
            </a:xfrm>
          </p:grpSpPr>
          <p:sp>
            <p:nvSpPr>
              <p:cNvPr id="21864" name="Freeform 279">
                <a:extLst>
                  <a:ext uri="{FF2B5EF4-FFF2-40B4-BE49-F238E27FC236}">
                    <a16:creationId xmlns:a16="http://schemas.microsoft.com/office/drawing/2014/main" id="{58B47F63-037E-BA43-90E8-92AD3033EE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4" y="2820"/>
                <a:ext cx="596" cy="179"/>
              </a:xfrm>
              <a:custGeom>
                <a:avLst/>
                <a:gdLst>
                  <a:gd name="T0" fmla="*/ 0 w 1193"/>
                  <a:gd name="T1" fmla="*/ 0 h 357"/>
                  <a:gd name="T2" fmla="*/ 0 w 1193"/>
                  <a:gd name="T3" fmla="*/ 1 h 357"/>
                  <a:gd name="T4" fmla="*/ 0 w 1193"/>
                  <a:gd name="T5" fmla="*/ 1 h 357"/>
                  <a:gd name="T6" fmla="*/ 0 w 1193"/>
                  <a:gd name="T7" fmla="*/ 1 h 3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93"/>
                  <a:gd name="T13" fmla="*/ 0 h 357"/>
                  <a:gd name="T14" fmla="*/ 1193 w 1193"/>
                  <a:gd name="T15" fmla="*/ 357 h 3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93" h="357">
                    <a:moveTo>
                      <a:pt x="0" y="0"/>
                    </a:moveTo>
                    <a:lnTo>
                      <a:pt x="0" y="237"/>
                    </a:lnTo>
                    <a:lnTo>
                      <a:pt x="1193" y="237"/>
                    </a:lnTo>
                    <a:lnTo>
                      <a:pt x="1193" y="357"/>
                    </a:lnTo>
                  </a:path>
                </a:pathLst>
              </a:cu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865" name="Freeform 280">
                <a:extLst>
                  <a:ext uri="{FF2B5EF4-FFF2-40B4-BE49-F238E27FC236}">
                    <a16:creationId xmlns:a16="http://schemas.microsoft.com/office/drawing/2014/main" id="{9955B22D-4D39-1549-BE9B-0D7CE417AC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0" y="2997"/>
                <a:ext cx="62" cy="62"/>
              </a:xfrm>
              <a:custGeom>
                <a:avLst/>
                <a:gdLst>
                  <a:gd name="T0" fmla="*/ 0 w 125"/>
                  <a:gd name="T1" fmla="*/ 0 h 124"/>
                  <a:gd name="T2" fmla="*/ 0 w 125"/>
                  <a:gd name="T3" fmla="*/ 1 h 124"/>
                  <a:gd name="T4" fmla="*/ 0 w 125"/>
                  <a:gd name="T5" fmla="*/ 0 h 124"/>
                  <a:gd name="T6" fmla="*/ 0 w 125"/>
                  <a:gd name="T7" fmla="*/ 0 h 1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5"/>
                  <a:gd name="T13" fmla="*/ 0 h 124"/>
                  <a:gd name="T14" fmla="*/ 125 w 125"/>
                  <a:gd name="T15" fmla="*/ 124 h 1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5" h="124">
                    <a:moveTo>
                      <a:pt x="0" y="0"/>
                    </a:moveTo>
                    <a:lnTo>
                      <a:pt x="62" y="124"/>
                    </a:lnTo>
                    <a:lnTo>
                      <a:pt x="12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1568" name="Group 284">
              <a:extLst>
                <a:ext uri="{FF2B5EF4-FFF2-40B4-BE49-F238E27FC236}">
                  <a16:creationId xmlns:a16="http://schemas.microsoft.com/office/drawing/2014/main" id="{9564D954-8172-6249-9546-708AEF72C4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61" y="2936"/>
              <a:ext cx="835" cy="272"/>
              <a:chOff x="3761" y="2936"/>
              <a:chExt cx="835" cy="272"/>
            </a:xfrm>
          </p:grpSpPr>
          <p:sp>
            <p:nvSpPr>
              <p:cNvPr id="21862" name="Freeform 282">
                <a:extLst>
                  <a:ext uri="{FF2B5EF4-FFF2-40B4-BE49-F238E27FC236}">
                    <a16:creationId xmlns:a16="http://schemas.microsoft.com/office/drawing/2014/main" id="{6C71F293-F0A0-0146-899F-EE27301746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1" y="2936"/>
                <a:ext cx="775" cy="241"/>
              </a:xfrm>
              <a:custGeom>
                <a:avLst/>
                <a:gdLst>
                  <a:gd name="T0" fmla="*/ 0 w 1551"/>
                  <a:gd name="T1" fmla="*/ 0 h 481"/>
                  <a:gd name="T2" fmla="*/ 0 w 1551"/>
                  <a:gd name="T3" fmla="*/ 1 h 481"/>
                  <a:gd name="T4" fmla="*/ 0 w 1551"/>
                  <a:gd name="T5" fmla="*/ 1 h 481"/>
                  <a:gd name="T6" fmla="*/ 0 60000 65536"/>
                  <a:gd name="T7" fmla="*/ 0 60000 65536"/>
                  <a:gd name="T8" fmla="*/ 0 60000 65536"/>
                  <a:gd name="T9" fmla="*/ 0 w 1551"/>
                  <a:gd name="T10" fmla="*/ 0 h 481"/>
                  <a:gd name="T11" fmla="*/ 1551 w 1551"/>
                  <a:gd name="T12" fmla="*/ 481 h 48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51" h="481">
                    <a:moveTo>
                      <a:pt x="1551" y="0"/>
                    </a:moveTo>
                    <a:lnTo>
                      <a:pt x="1551" y="481"/>
                    </a:lnTo>
                    <a:lnTo>
                      <a:pt x="0" y="481"/>
                    </a:lnTo>
                  </a:path>
                </a:pathLst>
              </a:cu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863" name="Freeform 283">
                <a:extLst>
                  <a:ext uri="{FF2B5EF4-FFF2-40B4-BE49-F238E27FC236}">
                    <a16:creationId xmlns:a16="http://schemas.microsoft.com/office/drawing/2014/main" id="{D6F8658B-0C00-B944-8B7C-F1A59FB2AA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1" y="3146"/>
                <a:ext cx="63" cy="62"/>
              </a:xfrm>
              <a:custGeom>
                <a:avLst/>
                <a:gdLst>
                  <a:gd name="T0" fmla="*/ 1 w 125"/>
                  <a:gd name="T1" fmla="*/ 0 h 126"/>
                  <a:gd name="T2" fmla="*/ 0 w 125"/>
                  <a:gd name="T3" fmla="*/ 0 h 126"/>
                  <a:gd name="T4" fmla="*/ 1 w 125"/>
                  <a:gd name="T5" fmla="*/ 0 h 126"/>
                  <a:gd name="T6" fmla="*/ 1 w 125"/>
                  <a:gd name="T7" fmla="*/ 0 h 1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5"/>
                  <a:gd name="T13" fmla="*/ 0 h 126"/>
                  <a:gd name="T14" fmla="*/ 125 w 125"/>
                  <a:gd name="T15" fmla="*/ 126 h 1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5" h="126">
                    <a:moveTo>
                      <a:pt x="125" y="0"/>
                    </a:moveTo>
                    <a:lnTo>
                      <a:pt x="0" y="62"/>
                    </a:lnTo>
                    <a:lnTo>
                      <a:pt x="125" y="126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1569" name="Group 287">
              <a:extLst>
                <a:ext uri="{FF2B5EF4-FFF2-40B4-BE49-F238E27FC236}">
                  <a16:creationId xmlns:a16="http://schemas.microsoft.com/office/drawing/2014/main" id="{B0891828-24FC-BC45-9A94-91A8AF9646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146"/>
              <a:ext cx="219" cy="62"/>
              <a:chOff x="1709" y="3146"/>
              <a:chExt cx="219" cy="62"/>
            </a:xfrm>
          </p:grpSpPr>
          <p:sp>
            <p:nvSpPr>
              <p:cNvPr id="21860" name="Line 285">
                <a:extLst>
                  <a:ext uri="{FF2B5EF4-FFF2-40B4-BE49-F238E27FC236}">
                    <a16:creationId xmlns:a16="http://schemas.microsoft.com/office/drawing/2014/main" id="{09A03B7F-56C6-B848-90F4-FC50456E0F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9" y="3177"/>
                <a:ext cx="158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861" name="Freeform 286">
                <a:extLst>
                  <a:ext uri="{FF2B5EF4-FFF2-40B4-BE49-F238E27FC236}">
                    <a16:creationId xmlns:a16="http://schemas.microsoft.com/office/drawing/2014/main" id="{CECF6617-1625-3F4A-BC1E-F3395609EF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5" y="3146"/>
                <a:ext cx="63" cy="62"/>
              </a:xfrm>
              <a:custGeom>
                <a:avLst/>
                <a:gdLst>
                  <a:gd name="T0" fmla="*/ 0 w 125"/>
                  <a:gd name="T1" fmla="*/ 0 h 126"/>
                  <a:gd name="T2" fmla="*/ 1 w 125"/>
                  <a:gd name="T3" fmla="*/ 0 h 126"/>
                  <a:gd name="T4" fmla="*/ 0 w 125"/>
                  <a:gd name="T5" fmla="*/ 0 h 126"/>
                  <a:gd name="T6" fmla="*/ 0 w 125"/>
                  <a:gd name="T7" fmla="*/ 0 h 1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5"/>
                  <a:gd name="T13" fmla="*/ 0 h 126"/>
                  <a:gd name="T14" fmla="*/ 125 w 125"/>
                  <a:gd name="T15" fmla="*/ 126 h 1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5" h="126">
                    <a:moveTo>
                      <a:pt x="0" y="126"/>
                    </a:moveTo>
                    <a:lnTo>
                      <a:pt x="125" y="62"/>
                    </a:lnTo>
                    <a:lnTo>
                      <a:pt x="0" y="0"/>
                    </a:lnTo>
                    <a:lnTo>
                      <a:pt x="0" y="1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1570" name="Group 290">
              <a:extLst>
                <a:ext uri="{FF2B5EF4-FFF2-40B4-BE49-F238E27FC236}">
                  <a16:creationId xmlns:a16="http://schemas.microsoft.com/office/drawing/2014/main" id="{F73FD204-43A5-2142-B8D4-6FB84D2D49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5" y="3146"/>
              <a:ext cx="286" cy="62"/>
              <a:chOff x="2425" y="3146"/>
              <a:chExt cx="286" cy="62"/>
            </a:xfrm>
          </p:grpSpPr>
          <p:sp>
            <p:nvSpPr>
              <p:cNvPr id="21858" name="Line 288">
                <a:extLst>
                  <a:ext uri="{FF2B5EF4-FFF2-40B4-BE49-F238E27FC236}">
                    <a16:creationId xmlns:a16="http://schemas.microsoft.com/office/drawing/2014/main" id="{FA94F989-0E64-D941-B4A9-43C7CE8514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25" y="3177"/>
                <a:ext cx="227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859" name="Freeform 289">
                <a:extLst>
                  <a:ext uri="{FF2B5EF4-FFF2-40B4-BE49-F238E27FC236}">
                    <a16:creationId xmlns:a16="http://schemas.microsoft.com/office/drawing/2014/main" id="{2A03125F-A560-3A45-8756-93D330EBE9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0" y="3146"/>
                <a:ext cx="61" cy="62"/>
              </a:xfrm>
              <a:custGeom>
                <a:avLst/>
                <a:gdLst>
                  <a:gd name="T0" fmla="*/ 0 w 123"/>
                  <a:gd name="T1" fmla="*/ 0 h 126"/>
                  <a:gd name="T2" fmla="*/ 0 w 123"/>
                  <a:gd name="T3" fmla="*/ 0 h 126"/>
                  <a:gd name="T4" fmla="*/ 0 w 123"/>
                  <a:gd name="T5" fmla="*/ 0 h 126"/>
                  <a:gd name="T6" fmla="*/ 0 w 123"/>
                  <a:gd name="T7" fmla="*/ 0 h 1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3"/>
                  <a:gd name="T13" fmla="*/ 0 h 126"/>
                  <a:gd name="T14" fmla="*/ 123 w 123"/>
                  <a:gd name="T15" fmla="*/ 126 h 1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3" h="126">
                    <a:moveTo>
                      <a:pt x="0" y="126"/>
                    </a:moveTo>
                    <a:lnTo>
                      <a:pt x="123" y="62"/>
                    </a:lnTo>
                    <a:lnTo>
                      <a:pt x="0" y="0"/>
                    </a:lnTo>
                    <a:lnTo>
                      <a:pt x="0" y="1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1571" name="Group 293">
              <a:extLst>
                <a:ext uri="{FF2B5EF4-FFF2-40B4-BE49-F238E27FC236}">
                  <a16:creationId xmlns:a16="http://schemas.microsoft.com/office/drawing/2014/main" id="{C2DF771D-A782-6840-B255-E2D951B76D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73" y="2878"/>
              <a:ext cx="63" cy="181"/>
              <a:chOff x="1273" y="2878"/>
              <a:chExt cx="63" cy="181"/>
            </a:xfrm>
          </p:grpSpPr>
          <p:sp>
            <p:nvSpPr>
              <p:cNvPr id="21856" name="Line 291">
                <a:extLst>
                  <a:ext uri="{FF2B5EF4-FFF2-40B4-BE49-F238E27FC236}">
                    <a16:creationId xmlns:a16="http://schemas.microsoft.com/office/drawing/2014/main" id="{C88FE522-162C-A44B-A7D7-95D0F63A24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04" y="2878"/>
                <a:ext cx="1" cy="12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857" name="Freeform 292">
                <a:extLst>
                  <a:ext uri="{FF2B5EF4-FFF2-40B4-BE49-F238E27FC236}">
                    <a16:creationId xmlns:a16="http://schemas.microsoft.com/office/drawing/2014/main" id="{75A822D0-598A-A44E-B636-3A82DAACB7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3" y="2997"/>
                <a:ext cx="63" cy="62"/>
              </a:xfrm>
              <a:custGeom>
                <a:avLst/>
                <a:gdLst>
                  <a:gd name="T0" fmla="*/ 0 w 125"/>
                  <a:gd name="T1" fmla="*/ 0 h 124"/>
                  <a:gd name="T2" fmla="*/ 1 w 125"/>
                  <a:gd name="T3" fmla="*/ 1 h 124"/>
                  <a:gd name="T4" fmla="*/ 1 w 125"/>
                  <a:gd name="T5" fmla="*/ 0 h 124"/>
                  <a:gd name="T6" fmla="*/ 0 w 125"/>
                  <a:gd name="T7" fmla="*/ 0 h 1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5"/>
                  <a:gd name="T13" fmla="*/ 0 h 124"/>
                  <a:gd name="T14" fmla="*/ 125 w 125"/>
                  <a:gd name="T15" fmla="*/ 124 h 1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5" h="124">
                    <a:moveTo>
                      <a:pt x="0" y="0"/>
                    </a:moveTo>
                    <a:lnTo>
                      <a:pt x="61" y="124"/>
                    </a:lnTo>
                    <a:lnTo>
                      <a:pt x="12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1572" name="Group 296">
              <a:extLst>
                <a:ext uri="{FF2B5EF4-FFF2-40B4-BE49-F238E27FC236}">
                  <a16:creationId xmlns:a16="http://schemas.microsoft.com/office/drawing/2014/main" id="{A0B6032B-1A58-8945-B4C1-FDE00A4144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3" y="2352"/>
              <a:ext cx="63" cy="220"/>
              <a:chOff x="533" y="2352"/>
              <a:chExt cx="63" cy="220"/>
            </a:xfrm>
          </p:grpSpPr>
          <p:sp>
            <p:nvSpPr>
              <p:cNvPr id="21854" name="Line 294">
                <a:extLst>
                  <a:ext uri="{FF2B5EF4-FFF2-40B4-BE49-F238E27FC236}">
                    <a16:creationId xmlns:a16="http://schemas.microsoft.com/office/drawing/2014/main" id="{034FDE99-1764-5A45-A0A9-7463AA1DCC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64" y="2411"/>
                <a:ext cx="1" cy="16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855" name="Freeform 295">
                <a:extLst>
                  <a:ext uri="{FF2B5EF4-FFF2-40B4-BE49-F238E27FC236}">
                    <a16:creationId xmlns:a16="http://schemas.microsoft.com/office/drawing/2014/main" id="{95617E97-FE3F-F444-A97B-96F100E369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3" y="2352"/>
                <a:ext cx="63" cy="62"/>
              </a:xfrm>
              <a:custGeom>
                <a:avLst/>
                <a:gdLst>
                  <a:gd name="T0" fmla="*/ 1 w 126"/>
                  <a:gd name="T1" fmla="*/ 1 h 124"/>
                  <a:gd name="T2" fmla="*/ 1 w 126"/>
                  <a:gd name="T3" fmla="*/ 0 h 124"/>
                  <a:gd name="T4" fmla="*/ 0 w 126"/>
                  <a:gd name="T5" fmla="*/ 1 h 124"/>
                  <a:gd name="T6" fmla="*/ 1 w 126"/>
                  <a:gd name="T7" fmla="*/ 1 h 1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6"/>
                  <a:gd name="T13" fmla="*/ 0 h 124"/>
                  <a:gd name="T14" fmla="*/ 126 w 126"/>
                  <a:gd name="T15" fmla="*/ 124 h 1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6" h="124">
                    <a:moveTo>
                      <a:pt x="126" y="124"/>
                    </a:moveTo>
                    <a:lnTo>
                      <a:pt x="62" y="0"/>
                    </a:lnTo>
                    <a:lnTo>
                      <a:pt x="0" y="124"/>
                    </a:lnTo>
                    <a:lnTo>
                      <a:pt x="126" y="1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21573" name="Rectangle 297">
              <a:extLst>
                <a:ext uri="{FF2B5EF4-FFF2-40B4-BE49-F238E27FC236}">
                  <a16:creationId xmlns:a16="http://schemas.microsoft.com/office/drawing/2014/main" id="{DEECB857-916A-2B4E-A83B-EE35ADF5C3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4" y="1288"/>
              <a:ext cx="717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574" name="Rectangle 298">
              <a:extLst>
                <a:ext uri="{FF2B5EF4-FFF2-40B4-BE49-F238E27FC236}">
                  <a16:creationId xmlns:a16="http://schemas.microsoft.com/office/drawing/2014/main" id="{B1FB4425-4911-FE46-B63F-5E722CF2D0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8" y="1299"/>
              <a:ext cx="51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Escopo do </a:t>
              </a:r>
              <a:endParaRPr lang="pt-BR" altLang="pt-BR" sz="2000"/>
            </a:p>
          </p:txBody>
        </p:sp>
        <p:sp>
          <p:nvSpPr>
            <p:cNvPr id="21575" name="Rectangle 299">
              <a:extLst>
                <a:ext uri="{FF2B5EF4-FFF2-40B4-BE49-F238E27FC236}">
                  <a16:creationId xmlns:a16="http://schemas.microsoft.com/office/drawing/2014/main" id="{1AC38DF8-3931-2A4C-B70F-EA045B6FA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5" y="1413"/>
              <a:ext cx="37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Produto</a:t>
              </a:r>
              <a:endParaRPr lang="pt-BR" altLang="pt-BR" sz="2000"/>
            </a:p>
          </p:txBody>
        </p:sp>
        <p:sp>
          <p:nvSpPr>
            <p:cNvPr id="21576" name="Rectangle 300">
              <a:extLst>
                <a:ext uri="{FF2B5EF4-FFF2-40B4-BE49-F238E27FC236}">
                  <a16:creationId xmlns:a16="http://schemas.microsoft.com/office/drawing/2014/main" id="{5D83EAB0-3415-9549-B7E7-38F2CB919C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" y="1231"/>
              <a:ext cx="554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577" name="Rectangle 301">
              <a:extLst>
                <a:ext uri="{FF2B5EF4-FFF2-40B4-BE49-F238E27FC236}">
                  <a16:creationId xmlns:a16="http://schemas.microsoft.com/office/drawing/2014/main" id="{507F1961-C448-7743-A70E-69A465A01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" y="1242"/>
              <a:ext cx="41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Ciclo de </a:t>
              </a:r>
              <a:endParaRPr lang="pt-BR" altLang="pt-BR" sz="2000"/>
            </a:p>
          </p:txBody>
        </p:sp>
        <p:sp>
          <p:nvSpPr>
            <p:cNvPr id="21578" name="Rectangle 302">
              <a:extLst>
                <a:ext uri="{FF2B5EF4-FFF2-40B4-BE49-F238E27FC236}">
                  <a16:creationId xmlns:a16="http://schemas.microsoft.com/office/drawing/2014/main" id="{4E30C6A9-3E30-5F43-A6A7-94EEB8B1C3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" y="1357"/>
              <a:ext cx="37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vida do </a:t>
              </a:r>
              <a:endParaRPr lang="pt-BR" altLang="pt-BR" sz="2000"/>
            </a:p>
          </p:txBody>
        </p:sp>
        <p:sp>
          <p:nvSpPr>
            <p:cNvPr id="21579" name="Rectangle 303">
              <a:extLst>
                <a:ext uri="{FF2B5EF4-FFF2-40B4-BE49-F238E27FC236}">
                  <a16:creationId xmlns:a16="http://schemas.microsoft.com/office/drawing/2014/main" id="{AA28922A-0353-6645-BA02-38B880AE9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" y="1471"/>
              <a:ext cx="36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produto</a:t>
              </a:r>
              <a:endParaRPr lang="pt-BR" altLang="pt-BR" sz="2000"/>
            </a:p>
          </p:txBody>
        </p:sp>
        <p:grpSp>
          <p:nvGrpSpPr>
            <p:cNvPr id="21580" name="Group 306">
              <a:extLst>
                <a:ext uri="{FF2B5EF4-FFF2-40B4-BE49-F238E27FC236}">
                  <a16:creationId xmlns:a16="http://schemas.microsoft.com/office/drawing/2014/main" id="{54FC4956-9C74-0D43-89E2-48827F0A44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8" y="1376"/>
              <a:ext cx="296" cy="63"/>
              <a:chOff x="878" y="1376"/>
              <a:chExt cx="296" cy="63"/>
            </a:xfrm>
          </p:grpSpPr>
          <p:sp>
            <p:nvSpPr>
              <p:cNvPr id="21852" name="Freeform 304">
                <a:extLst>
                  <a:ext uri="{FF2B5EF4-FFF2-40B4-BE49-F238E27FC236}">
                    <a16:creationId xmlns:a16="http://schemas.microsoft.com/office/drawing/2014/main" id="{5C892389-EBB6-E440-9520-137BD90AAC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8" y="1406"/>
                <a:ext cx="236" cy="1"/>
              </a:xfrm>
              <a:custGeom>
                <a:avLst/>
                <a:gdLst>
                  <a:gd name="T0" fmla="*/ 0 w 473"/>
                  <a:gd name="T1" fmla="*/ 0 h 2"/>
                  <a:gd name="T2" fmla="*/ 0 w 473"/>
                  <a:gd name="T3" fmla="*/ 0 h 2"/>
                  <a:gd name="T4" fmla="*/ 0 w 473"/>
                  <a:gd name="T5" fmla="*/ 1 h 2"/>
                  <a:gd name="T6" fmla="*/ 0 w 473"/>
                  <a:gd name="T7" fmla="*/ 1 h 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73"/>
                  <a:gd name="T13" fmla="*/ 0 h 2"/>
                  <a:gd name="T14" fmla="*/ 473 w 473"/>
                  <a:gd name="T15" fmla="*/ 2 h 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73" h="2">
                    <a:moveTo>
                      <a:pt x="473" y="0"/>
                    </a:moveTo>
                    <a:lnTo>
                      <a:pt x="177" y="0"/>
                    </a:lnTo>
                    <a:lnTo>
                      <a:pt x="177" y="2"/>
                    </a:lnTo>
                    <a:lnTo>
                      <a:pt x="0" y="2"/>
                    </a:lnTo>
                  </a:path>
                </a:pathLst>
              </a:cu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853" name="Freeform 305">
                <a:extLst>
                  <a:ext uri="{FF2B5EF4-FFF2-40B4-BE49-F238E27FC236}">
                    <a16:creationId xmlns:a16="http://schemas.microsoft.com/office/drawing/2014/main" id="{B45342BB-57CD-9649-99A4-C3C1B68378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8" y="1376"/>
                <a:ext cx="63" cy="63"/>
              </a:xfrm>
              <a:custGeom>
                <a:avLst/>
                <a:gdLst>
                  <a:gd name="T0" fmla="*/ 1 w 126"/>
                  <a:gd name="T1" fmla="*/ 0 h 126"/>
                  <a:gd name="T2" fmla="*/ 0 w 126"/>
                  <a:gd name="T3" fmla="*/ 1 h 126"/>
                  <a:gd name="T4" fmla="*/ 1 w 126"/>
                  <a:gd name="T5" fmla="*/ 1 h 126"/>
                  <a:gd name="T6" fmla="*/ 1 w 126"/>
                  <a:gd name="T7" fmla="*/ 0 h 1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6"/>
                  <a:gd name="T13" fmla="*/ 0 h 126"/>
                  <a:gd name="T14" fmla="*/ 126 w 126"/>
                  <a:gd name="T15" fmla="*/ 126 h 1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6" h="126">
                    <a:moveTo>
                      <a:pt x="126" y="0"/>
                    </a:moveTo>
                    <a:lnTo>
                      <a:pt x="0" y="62"/>
                    </a:lnTo>
                    <a:lnTo>
                      <a:pt x="126" y="126"/>
                    </a:lnTo>
                    <a:lnTo>
                      <a:pt x="12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1581" name="Group 309">
              <a:extLst>
                <a:ext uri="{FF2B5EF4-FFF2-40B4-BE49-F238E27FC236}">
                  <a16:creationId xmlns:a16="http://schemas.microsoft.com/office/drawing/2014/main" id="{24F2586A-430B-1748-9080-2E4763FA31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" y="1407"/>
              <a:ext cx="238" cy="1315"/>
              <a:chOff x="87" y="1407"/>
              <a:chExt cx="238" cy="1315"/>
            </a:xfrm>
          </p:grpSpPr>
          <p:sp>
            <p:nvSpPr>
              <p:cNvPr id="21850" name="Freeform 307">
                <a:extLst>
                  <a:ext uri="{FF2B5EF4-FFF2-40B4-BE49-F238E27FC236}">
                    <a16:creationId xmlns:a16="http://schemas.microsoft.com/office/drawing/2014/main" id="{67EE455B-0710-5B49-AEEB-AFCD798F7A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" y="1407"/>
                <a:ext cx="238" cy="1283"/>
              </a:xfrm>
              <a:custGeom>
                <a:avLst/>
                <a:gdLst>
                  <a:gd name="T0" fmla="*/ 0 w 477"/>
                  <a:gd name="T1" fmla="*/ 0 h 2566"/>
                  <a:gd name="T2" fmla="*/ 0 w 477"/>
                  <a:gd name="T3" fmla="*/ 0 h 2566"/>
                  <a:gd name="T4" fmla="*/ 0 w 477"/>
                  <a:gd name="T5" fmla="*/ 1 h 2566"/>
                  <a:gd name="T6" fmla="*/ 0 w 477"/>
                  <a:gd name="T7" fmla="*/ 1 h 25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77"/>
                  <a:gd name="T13" fmla="*/ 0 h 2566"/>
                  <a:gd name="T14" fmla="*/ 477 w 477"/>
                  <a:gd name="T15" fmla="*/ 2566 h 25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77" h="2566">
                    <a:moveTo>
                      <a:pt x="477" y="0"/>
                    </a:moveTo>
                    <a:lnTo>
                      <a:pt x="0" y="0"/>
                    </a:lnTo>
                    <a:lnTo>
                      <a:pt x="0" y="2566"/>
                    </a:lnTo>
                    <a:lnTo>
                      <a:pt x="167" y="2566"/>
                    </a:lnTo>
                  </a:path>
                </a:pathLst>
              </a:cu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851" name="Freeform 308">
                <a:extLst>
                  <a:ext uri="{FF2B5EF4-FFF2-40B4-BE49-F238E27FC236}">
                    <a16:creationId xmlns:a16="http://schemas.microsoft.com/office/drawing/2014/main" id="{525867DA-EBE6-4143-975A-F5E40F8A3C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" y="2659"/>
                <a:ext cx="62" cy="63"/>
              </a:xfrm>
              <a:custGeom>
                <a:avLst/>
                <a:gdLst>
                  <a:gd name="T0" fmla="*/ 0 w 123"/>
                  <a:gd name="T1" fmla="*/ 1 h 126"/>
                  <a:gd name="T2" fmla="*/ 1 w 123"/>
                  <a:gd name="T3" fmla="*/ 1 h 126"/>
                  <a:gd name="T4" fmla="*/ 0 w 123"/>
                  <a:gd name="T5" fmla="*/ 0 h 126"/>
                  <a:gd name="T6" fmla="*/ 0 w 123"/>
                  <a:gd name="T7" fmla="*/ 1 h 1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3"/>
                  <a:gd name="T13" fmla="*/ 0 h 126"/>
                  <a:gd name="T14" fmla="*/ 123 w 123"/>
                  <a:gd name="T15" fmla="*/ 126 h 1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3" h="126">
                    <a:moveTo>
                      <a:pt x="0" y="126"/>
                    </a:moveTo>
                    <a:lnTo>
                      <a:pt x="123" y="62"/>
                    </a:lnTo>
                    <a:lnTo>
                      <a:pt x="0" y="0"/>
                    </a:lnTo>
                    <a:lnTo>
                      <a:pt x="0" y="1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1582" name="Group 312">
              <a:extLst>
                <a:ext uri="{FF2B5EF4-FFF2-40B4-BE49-F238E27FC236}">
                  <a16:creationId xmlns:a16="http://schemas.microsoft.com/office/drawing/2014/main" id="{9CA248AB-3DD6-E542-85D5-3E246CD7CB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3" y="1523"/>
              <a:ext cx="999" cy="478"/>
              <a:chOff x="533" y="1523"/>
              <a:chExt cx="999" cy="478"/>
            </a:xfrm>
          </p:grpSpPr>
          <p:sp>
            <p:nvSpPr>
              <p:cNvPr id="21848" name="Freeform 310">
                <a:extLst>
                  <a:ext uri="{FF2B5EF4-FFF2-40B4-BE49-F238E27FC236}">
                    <a16:creationId xmlns:a16="http://schemas.microsoft.com/office/drawing/2014/main" id="{DB20684F-B972-2343-A179-63347F0FA8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4" y="1523"/>
                <a:ext cx="968" cy="418"/>
              </a:xfrm>
              <a:custGeom>
                <a:avLst/>
                <a:gdLst>
                  <a:gd name="T0" fmla="*/ 0 w 1937"/>
                  <a:gd name="T1" fmla="*/ 0 h 836"/>
                  <a:gd name="T2" fmla="*/ 0 w 1937"/>
                  <a:gd name="T3" fmla="*/ 1 h 836"/>
                  <a:gd name="T4" fmla="*/ 0 w 1937"/>
                  <a:gd name="T5" fmla="*/ 1 h 836"/>
                  <a:gd name="T6" fmla="*/ 0 w 1937"/>
                  <a:gd name="T7" fmla="*/ 1 h 83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37"/>
                  <a:gd name="T13" fmla="*/ 0 h 836"/>
                  <a:gd name="T14" fmla="*/ 1937 w 1937"/>
                  <a:gd name="T15" fmla="*/ 836 h 8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37" h="836">
                    <a:moveTo>
                      <a:pt x="1937" y="0"/>
                    </a:moveTo>
                    <a:lnTo>
                      <a:pt x="1937" y="477"/>
                    </a:lnTo>
                    <a:lnTo>
                      <a:pt x="0" y="477"/>
                    </a:lnTo>
                    <a:lnTo>
                      <a:pt x="0" y="836"/>
                    </a:lnTo>
                  </a:path>
                </a:pathLst>
              </a:cu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849" name="Freeform 311">
                <a:extLst>
                  <a:ext uri="{FF2B5EF4-FFF2-40B4-BE49-F238E27FC236}">
                    <a16:creationId xmlns:a16="http://schemas.microsoft.com/office/drawing/2014/main" id="{C915F604-A544-D34B-A2A9-AB794B5EA6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3" y="1939"/>
                <a:ext cx="63" cy="62"/>
              </a:xfrm>
              <a:custGeom>
                <a:avLst/>
                <a:gdLst>
                  <a:gd name="T0" fmla="*/ 0 w 126"/>
                  <a:gd name="T1" fmla="*/ 0 h 123"/>
                  <a:gd name="T2" fmla="*/ 1 w 126"/>
                  <a:gd name="T3" fmla="*/ 1 h 123"/>
                  <a:gd name="T4" fmla="*/ 1 w 126"/>
                  <a:gd name="T5" fmla="*/ 0 h 123"/>
                  <a:gd name="T6" fmla="*/ 0 w 126"/>
                  <a:gd name="T7" fmla="*/ 0 h 12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6"/>
                  <a:gd name="T13" fmla="*/ 0 h 123"/>
                  <a:gd name="T14" fmla="*/ 126 w 126"/>
                  <a:gd name="T15" fmla="*/ 123 h 12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6" h="123">
                    <a:moveTo>
                      <a:pt x="0" y="0"/>
                    </a:moveTo>
                    <a:lnTo>
                      <a:pt x="62" y="123"/>
                    </a:lnTo>
                    <a:lnTo>
                      <a:pt x="12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21583" name="Freeform 313">
              <a:extLst>
                <a:ext uri="{FF2B5EF4-FFF2-40B4-BE49-F238E27FC236}">
                  <a16:creationId xmlns:a16="http://schemas.microsoft.com/office/drawing/2014/main" id="{F72AA6D6-A5EF-D544-9636-D4F38B56F212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" y="1618"/>
              <a:ext cx="4809" cy="1973"/>
            </a:xfrm>
            <a:custGeom>
              <a:avLst/>
              <a:gdLst>
                <a:gd name="T0" fmla="*/ 0 w 9620"/>
                <a:gd name="T1" fmla="*/ 1 h 3945"/>
                <a:gd name="T2" fmla="*/ 0 w 9620"/>
                <a:gd name="T3" fmla="*/ 1 h 3945"/>
                <a:gd name="T4" fmla="*/ 0 w 9620"/>
                <a:gd name="T5" fmla="*/ 0 h 3945"/>
                <a:gd name="T6" fmla="*/ 0 w 9620"/>
                <a:gd name="T7" fmla="*/ 0 h 3945"/>
                <a:gd name="T8" fmla="*/ 0 w 9620"/>
                <a:gd name="T9" fmla="*/ 1 h 3945"/>
                <a:gd name="T10" fmla="*/ 0 w 9620"/>
                <a:gd name="T11" fmla="*/ 1 h 3945"/>
                <a:gd name="T12" fmla="*/ 0 w 9620"/>
                <a:gd name="T13" fmla="*/ 1 h 3945"/>
                <a:gd name="T14" fmla="*/ 0 w 9620"/>
                <a:gd name="T15" fmla="*/ 1 h 39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9620"/>
                <a:gd name="T25" fmla="*/ 0 h 3945"/>
                <a:gd name="T26" fmla="*/ 9620 w 9620"/>
                <a:gd name="T27" fmla="*/ 3945 h 394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9620" h="3945">
                  <a:moveTo>
                    <a:pt x="0" y="2602"/>
                  </a:moveTo>
                  <a:lnTo>
                    <a:pt x="5325" y="1341"/>
                  </a:lnTo>
                  <a:lnTo>
                    <a:pt x="5325" y="0"/>
                  </a:lnTo>
                  <a:lnTo>
                    <a:pt x="9620" y="0"/>
                  </a:lnTo>
                  <a:lnTo>
                    <a:pt x="9620" y="3927"/>
                  </a:lnTo>
                  <a:lnTo>
                    <a:pt x="0" y="3945"/>
                  </a:lnTo>
                  <a:lnTo>
                    <a:pt x="14" y="3319"/>
                  </a:lnTo>
                  <a:lnTo>
                    <a:pt x="0" y="2602"/>
                  </a:lnTo>
                  <a:close/>
                </a:path>
              </a:pathLst>
            </a:custGeom>
            <a:solidFill>
              <a:srgbClr val="FFE1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1584" name="Freeform 314">
              <a:extLst>
                <a:ext uri="{FF2B5EF4-FFF2-40B4-BE49-F238E27FC236}">
                  <a16:creationId xmlns:a16="http://schemas.microsoft.com/office/drawing/2014/main" id="{A5A2ADC7-C8DC-5F44-81EF-921176996C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6" y="3007"/>
              <a:ext cx="1193" cy="431"/>
            </a:xfrm>
            <a:custGeom>
              <a:avLst/>
              <a:gdLst>
                <a:gd name="T0" fmla="*/ 1 w 2386"/>
                <a:gd name="T1" fmla="*/ 0 h 862"/>
                <a:gd name="T2" fmla="*/ 1 w 2386"/>
                <a:gd name="T3" fmla="*/ 1 h 862"/>
                <a:gd name="T4" fmla="*/ 1 w 2386"/>
                <a:gd name="T5" fmla="*/ 1 h 862"/>
                <a:gd name="T6" fmla="*/ 1 w 2386"/>
                <a:gd name="T7" fmla="*/ 1 h 862"/>
                <a:gd name="T8" fmla="*/ 1 w 2386"/>
                <a:gd name="T9" fmla="*/ 1 h 862"/>
                <a:gd name="T10" fmla="*/ 1 w 2386"/>
                <a:gd name="T11" fmla="*/ 1 h 862"/>
                <a:gd name="T12" fmla="*/ 1 w 2386"/>
                <a:gd name="T13" fmla="*/ 1 h 862"/>
                <a:gd name="T14" fmla="*/ 1 w 2386"/>
                <a:gd name="T15" fmla="*/ 1 h 862"/>
                <a:gd name="T16" fmla="*/ 0 w 2386"/>
                <a:gd name="T17" fmla="*/ 1 h 862"/>
                <a:gd name="T18" fmla="*/ 0 w 2386"/>
                <a:gd name="T19" fmla="*/ 1 h 862"/>
                <a:gd name="T20" fmla="*/ 1 w 2386"/>
                <a:gd name="T21" fmla="*/ 1 h 862"/>
                <a:gd name="T22" fmla="*/ 1 w 2386"/>
                <a:gd name="T23" fmla="*/ 1 h 862"/>
                <a:gd name="T24" fmla="*/ 1 w 2386"/>
                <a:gd name="T25" fmla="*/ 1 h 862"/>
                <a:gd name="T26" fmla="*/ 1 w 2386"/>
                <a:gd name="T27" fmla="*/ 1 h 862"/>
                <a:gd name="T28" fmla="*/ 1 w 2386"/>
                <a:gd name="T29" fmla="*/ 1 h 862"/>
                <a:gd name="T30" fmla="*/ 1 w 2386"/>
                <a:gd name="T31" fmla="*/ 1 h 862"/>
                <a:gd name="T32" fmla="*/ 1 w 2386"/>
                <a:gd name="T33" fmla="*/ 1 h 862"/>
                <a:gd name="T34" fmla="*/ 1 w 2386"/>
                <a:gd name="T35" fmla="*/ 1 h 862"/>
                <a:gd name="T36" fmla="*/ 1 w 2386"/>
                <a:gd name="T37" fmla="*/ 1 h 862"/>
                <a:gd name="T38" fmla="*/ 1 w 2386"/>
                <a:gd name="T39" fmla="*/ 1 h 862"/>
                <a:gd name="T40" fmla="*/ 1 w 2386"/>
                <a:gd name="T41" fmla="*/ 1 h 862"/>
                <a:gd name="T42" fmla="*/ 1 w 2386"/>
                <a:gd name="T43" fmla="*/ 1 h 862"/>
                <a:gd name="T44" fmla="*/ 1 w 2386"/>
                <a:gd name="T45" fmla="*/ 1 h 862"/>
                <a:gd name="T46" fmla="*/ 1 w 2386"/>
                <a:gd name="T47" fmla="*/ 1 h 862"/>
                <a:gd name="T48" fmla="*/ 1 w 2386"/>
                <a:gd name="T49" fmla="*/ 1 h 862"/>
                <a:gd name="T50" fmla="*/ 1 w 2386"/>
                <a:gd name="T51" fmla="*/ 1 h 862"/>
                <a:gd name="T52" fmla="*/ 1 w 2386"/>
                <a:gd name="T53" fmla="*/ 1 h 862"/>
                <a:gd name="T54" fmla="*/ 1 w 2386"/>
                <a:gd name="T55" fmla="*/ 1 h 862"/>
                <a:gd name="T56" fmla="*/ 1 w 2386"/>
                <a:gd name="T57" fmla="*/ 1 h 862"/>
                <a:gd name="T58" fmla="*/ 1 w 2386"/>
                <a:gd name="T59" fmla="*/ 1 h 862"/>
                <a:gd name="T60" fmla="*/ 1 w 2386"/>
                <a:gd name="T61" fmla="*/ 1 h 862"/>
                <a:gd name="T62" fmla="*/ 1 w 2386"/>
                <a:gd name="T63" fmla="*/ 1 h 862"/>
                <a:gd name="T64" fmla="*/ 1 w 2386"/>
                <a:gd name="T65" fmla="*/ 1 h 862"/>
                <a:gd name="T66" fmla="*/ 1 w 2386"/>
                <a:gd name="T67" fmla="*/ 1 h 862"/>
                <a:gd name="T68" fmla="*/ 1 w 2386"/>
                <a:gd name="T69" fmla="*/ 1 h 862"/>
                <a:gd name="T70" fmla="*/ 1 w 2386"/>
                <a:gd name="T71" fmla="*/ 0 h 862"/>
                <a:gd name="T72" fmla="*/ 1 w 2386"/>
                <a:gd name="T73" fmla="*/ 0 h 86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386"/>
                <a:gd name="T112" fmla="*/ 0 h 862"/>
                <a:gd name="T113" fmla="*/ 2386 w 2386"/>
                <a:gd name="T114" fmla="*/ 862 h 862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386" h="862">
                  <a:moveTo>
                    <a:pt x="143" y="0"/>
                  </a:moveTo>
                  <a:lnTo>
                    <a:pt x="113" y="2"/>
                  </a:lnTo>
                  <a:lnTo>
                    <a:pt x="87" y="12"/>
                  </a:lnTo>
                  <a:lnTo>
                    <a:pt x="64" y="24"/>
                  </a:lnTo>
                  <a:lnTo>
                    <a:pt x="42" y="42"/>
                  </a:lnTo>
                  <a:lnTo>
                    <a:pt x="24" y="64"/>
                  </a:lnTo>
                  <a:lnTo>
                    <a:pt x="12" y="88"/>
                  </a:lnTo>
                  <a:lnTo>
                    <a:pt x="2" y="114"/>
                  </a:lnTo>
                  <a:lnTo>
                    <a:pt x="0" y="143"/>
                  </a:lnTo>
                  <a:lnTo>
                    <a:pt x="0" y="718"/>
                  </a:lnTo>
                  <a:lnTo>
                    <a:pt x="2" y="748"/>
                  </a:lnTo>
                  <a:lnTo>
                    <a:pt x="12" y="774"/>
                  </a:lnTo>
                  <a:lnTo>
                    <a:pt x="24" y="798"/>
                  </a:lnTo>
                  <a:lnTo>
                    <a:pt x="42" y="820"/>
                  </a:lnTo>
                  <a:lnTo>
                    <a:pt x="64" y="838"/>
                  </a:lnTo>
                  <a:lnTo>
                    <a:pt x="87" y="850"/>
                  </a:lnTo>
                  <a:lnTo>
                    <a:pt x="113" y="860"/>
                  </a:lnTo>
                  <a:lnTo>
                    <a:pt x="143" y="862"/>
                  </a:lnTo>
                  <a:lnTo>
                    <a:pt x="2243" y="862"/>
                  </a:lnTo>
                  <a:lnTo>
                    <a:pt x="2273" y="860"/>
                  </a:lnTo>
                  <a:lnTo>
                    <a:pt x="2298" y="850"/>
                  </a:lnTo>
                  <a:lnTo>
                    <a:pt x="2322" y="838"/>
                  </a:lnTo>
                  <a:lnTo>
                    <a:pt x="2344" y="820"/>
                  </a:lnTo>
                  <a:lnTo>
                    <a:pt x="2362" y="798"/>
                  </a:lnTo>
                  <a:lnTo>
                    <a:pt x="2374" y="774"/>
                  </a:lnTo>
                  <a:lnTo>
                    <a:pt x="2384" y="748"/>
                  </a:lnTo>
                  <a:lnTo>
                    <a:pt x="2386" y="718"/>
                  </a:lnTo>
                  <a:lnTo>
                    <a:pt x="2386" y="143"/>
                  </a:lnTo>
                  <a:lnTo>
                    <a:pt x="2384" y="114"/>
                  </a:lnTo>
                  <a:lnTo>
                    <a:pt x="2374" y="88"/>
                  </a:lnTo>
                  <a:lnTo>
                    <a:pt x="2362" y="64"/>
                  </a:lnTo>
                  <a:lnTo>
                    <a:pt x="2344" y="42"/>
                  </a:lnTo>
                  <a:lnTo>
                    <a:pt x="2322" y="24"/>
                  </a:lnTo>
                  <a:lnTo>
                    <a:pt x="2298" y="12"/>
                  </a:lnTo>
                  <a:lnTo>
                    <a:pt x="2273" y="2"/>
                  </a:lnTo>
                  <a:lnTo>
                    <a:pt x="2243" y="0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EAEAEA"/>
            </a:solidFill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585" name="Rectangle 315">
              <a:extLst>
                <a:ext uri="{FF2B5EF4-FFF2-40B4-BE49-F238E27FC236}">
                  <a16:creationId xmlns:a16="http://schemas.microsoft.com/office/drawing/2014/main" id="{3F849FDD-CE08-E84B-9342-0534046305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" y="2572"/>
              <a:ext cx="669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586" name="Rectangle 316">
              <a:extLst>
                <a:ext uri="{FF2B5EF4-FFF2-40B4-BE49-F238E27FC236}">
                  <a16:creationId xmlns:a16="http://schemas.microsoft.com/office/drawing/2014/main" id="{4B51A29C-3E47-8E48-92FD-54AC188868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" y="2583"/>
              <a:ext cx="66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Necessidades </a:t>
              </a:r>
              <a:endParaRPr lang="pt-BR" altLang="pt-BR" sz="2000"/>
            </a:p>
          </p:txBody>
        </p:sp>
        <p:sp>
          <p:nvSpPr>
            <p:cNvPr id="21587" name="Rectangle 317">
              <a:extLst>
                <a:ext uri="{FF2B5EF4-FFF2-40B4-BE49-F238E27FC236}">
                  <a16:creationId xmlns:a16="http://schemas.microsoft.com/office/drawing/2014/main" id="{9E7C9E72-D93A-1449-8E93-396EF02183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" y="2697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dos clientes </a:t>
              </a:r>
              <a:endParaRPr lang="pt-BR" altLang="pt-BR" sz="2000"/>
            </a:p>
          </p:txBody>
        </p:sp>
        <p:sp>
          <p:nvSpPr>
            <p:cNvPr id="21588" name="Rectangle 318">
              <a:extLst>
                <a:ext uri="{FF2B5EF4-FFF2-40B4-BE49-F238E27FC236}">
                  <a16:creationId xmlns:a16="http://schemas.microsoft.com/office/drawing/2014/main" id="{A99B114B-7FDD-E346-AFE5-60F13DED0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" y="2001"/>
              <a:ext cx="531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589" name="Rectangle 319">
              <a:extLst>
                <a:ext uri="{FF2B5EF4-FFF2-40B4-BE49-F238E27FC236}">
                  <a16:creationId xmlns:a16="http://schemas.microsoft.com/office/drawing/2014/main" id="{2F45EE5B-87B6-A644-974E-07E349EA5F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" y="2012"/>
              <a:ext cx="51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Requisitos </a:t>
              </a:r>
              <a:endParaRPr lang="pt-BR" altLang="pt-BR" sz="2000"/>
            </a:p>
          </p:txBody>
        </p:sp>
        <p:sp>
          <p:nvSpPr>
            <p:cNvPr id="21590" name="Rectangle 320">
              <a:extLst>
                <a:ext uri="{FF2B5EF4-FFF2-40B4-BE49-F238E27FC236}">
                  <a16:creationId xmlns:a16="http://schemas.microsoft.com/office/drawing/2014/main" id="{A4CEC2ED-6310-D343-ABDF-8043B51264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" y="2127"/>
              <a:ext cx="22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dos </a:t>
              </a:r>
              <a:endParaRPr lang="pt-BR" altLang="pt-BR" sz="2000"/>
            </a:p>
          </p:txBody>
        </p:sp>
        <p:sp>
          <p:nvSpPr>
            <p:cNvPr id="21591" name="Rectangle 321">
              <a:extLst>
                <a:ext uri="{FF2B5EF4-FFF2-40B4-BE49-F238E27FC236}">
                  <a16:creationId xmlns:a16="http://schemas.microsoft.com/office/drawing/2014/main" id="{68A64E59-EC68-5444-8A10-256489A9F4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" y="2241"/>
              <a:ext cx="36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clientes</a:t>
              </a:r>
              <a:endParaRPr lang="pt-BR" altLang="pt-BR" sz="2000"/>
            </a:p>
          </p:txBody>
        </p:sp>
        <p:sp>
          <p:nvSpPr>
            <p:cNvPr id="21592" name="Rectangle 322">
              <a:extLst>
                <a:ext uri="{FF2B5EF4-FFF2-40B4-BE49-F238E27FC236}">
                  <a16:creationId xmlns:a16="http://schemas.microsoft.com/office/drawing/2014/main" id="{73C06B62-FA2B-2B4A-8A31-8EC9F9528B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9" y="1970"/>
              <a:ext cx="682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593" name="Rectangle 323">
              <a:extLst>
                <a:ext uri="{FF2B5EF4-FFF2-40B4-BE49-F238E27FC236}">
                  <a16:creationId xmlns:a16="http://schemas.microsoft.com/office/drawing/2014/main" id="{94FAC2F9-BA41-EE46-A582-62D601038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6" y="1981"/>
              <a:ext cx="45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Estrutura </a:t>
              </a:r>
              <a:endParaRPr lang="pt-BR" altLang="pt-BR" sz="2000"/>
            </a:p>
          </p:txBody>
        </p:sp>
        <p:sp>
          <p:nvSpPr>
            <p:cNvPr id="21594" name="Rectangle 324">
              <a:extLst>
                <a:ext uri="{FF2B5EF4-FFF2-40B4-BE49-F238E27FC236}">
                  <a16:creationId xmlns:a16="http://schemas.microsoft.com/office/drawing/2014/main" id="{DDD0F217-EFF4-334F-A442-71B3A08A75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2" y="2096"/>
              <a:ext cx="58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funcional do </a:t>
              </a:r>
              <a:endParaRPr lang="pt-BR" altLang="pt-BR" sz="2000"/>
            </a:p>
          </p:txBody>
        </p:sp>
        <p:sp>
          <p:nvSpPr>
            <p:cNvPr id="21595" name="Rectangle 325">
              <a:extLst>
                <a:ext uri="{FF2B5EF4-FFF2-40B4-BE49-F238E27FC236}">
                  <a16:creationId xmlns:a16="http://schemas.microsoft.com/office/drawing/2014/main" id="{4AA3A770-71CC-274A-9D97-D6F32C815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8" y="2211"/>
              <a:ext cx="36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produto</a:t>
              </a:r>
              <a:endParaRPr lang="pt-BR" altLang="pt-BR" sz="2000"/>
            </a:p>
          </p:txBody>
        </p:sp>
        <p:sp>
          <p:nvSpPr>
            <p:cNvPr id="21596" name="Rectangle 326">
              <a:extLst>
                <a:ext uri="{FF2B5EF4-FFF2-40B4-BE49-F238E27FC236}">
                  <a16:creationId xmlns:a16="http://schemas.microsoft.com/office/drawing/2014/main" id="{FCF04232-676E-C040-820D-521104F16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6" y="2585"/>
              <a:ext cx="717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597" name="Rectangle 327">
              <a:extLst>
                <a:ext uri="{FF2B5EF4-FFF2-40B4-BE49-F238E27FC236}">
                  <a16:creationId xmlns:a16="http://schemas.microsoft.com/office/drawing/2014/main" id="{51120BAE-E14F-D84E-A8D3-0C006A7E43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8" y="2596"/>
              <a:ext cx="423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Lista dos</a:t>
              </a:r>
              <a:endParaRPr lang="pt-BR" altLang="pt-BR" sz="2000"/>
            </a:p>
          </p:txBody>
        </p:sp>
        <p:sp>
          <p:nvSpPr>
            <p:cNvPr id="21598" name="Rectangle 328">
              <a:extLst>
                <a:ext uri="{FF2B5EF4-FFF2-40B4-BE49-F238E27FC236}">
                  <a16:creationId xmlns:a16="http://schemas.microsoft.com/office/drawing/2014/main" id="{5453A9FB-4487-A245-A860-795AA25DE7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5" y="2596"/>
              <a:ext cx="28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SSCs</a:t>
              </a:r>
              <a:endParaRPr lang="pt-BR" altLang="pt-BR" sz="2000"/>
            </a:p>
          </p:txBody>
        </p:sp>
        <p:sp>
          <p:nvSpPr>
            <p:cNvPr id="21599" name="Rectangle 329">
              <a:extLst>
                <a:ext uri="{FF2B5EF4-FFF2-40B4-BE49-F238E27FC236}">
                  <a16:creationId xmlns:a16="http://schemas.microsoft.com/office/drawing/2014/main" id="{BB337C4C-808A-DF4B-93C2-8FBBD77350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3" y="2710"/>
              <a:ext cx="44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principais</a:t>
              </a:r>
              <a:endParaRPr lang="pt-BR" altLang="pt-BR" sz="2000"/>
            </a:p>
          </p:txBody>
        </p:sp>
        <p:sp>
          <p:nvSpPr>
            <p:cNvPr id="21600" name="Rectangle 330">
              <a:extLst>
                <a:ext uri="{FF2B5EF4-FFF2-40B4-BE49-F238E27FC236}">
                  <a16:creationId xmlns:a16="http://schemas.microsoft.com/office/drawing/2014/main" id="{BA5ACB1B-0C87-224C-8642-FCDDEB1D4B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1" y="3390"/>
              <a:ext cx="1004" cy="122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01" name="Rectangle 331">
              <a:extLst>
                <a:ext uri="{FF2B5EF4-FFF2-40B4-BE49-F238E27FC236}">
                  <a16:creationId xmlns:a16="http://schemas.microsoft.com/office/drawing/2014/main" id="{9445322B-EE6F-D54B-A07C-3FEDC0F57D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9" y="3401"/>
              <a:ext cx="98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Arquitetura do produto</a:t>
              </a:r>
              <a:endParaRPr lang="pt-BR" altLang="pt-BR" sz="2000"/>
            </a:p>
          </p:txBody>
        </p:sp>
        <p:sp>
          <p:nvSpPr>
            <p:cNvPr id="21602" name="Rectangle 332">
              <a:extLst>
                <a:ext uri="{FF2B5EF4-FFF2-40B4-BE49-F238E27FC236}">
                  <a16:creationId xmlns:a16="http://schemas.microsoft.com/office/drawing/2014/main" id="{0D3BF9FC-F3B2-D842-8945-373629C6EB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1" y="3059"/>
              <a:ext cx="526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03" name="Rectangle 333">
              <a:extLst>
                <a:ext uri="{FF2B5EF4-FFF2-40B4-BE49-F238E27FC236}">
                  <a16:creationId xmlns:a16="http://schemas.microsoft.com/office/drawing/2014/main" id="{A3523820-B276-0B47-9FEB-22085F541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2" y="3070"/>
              <a:ext cx="51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Modelo do </a:t>
              </a:r>
              <a:endParaRPr lang="pt-BR" altLang="pt-BR" sz="2000"/>
            </a:p>
          </p:txBody>
        </p:sp>
        <p:sp>
          <p:nvSpPr>
            <p:cNvPr id="21604" name="Rectangle 334">
              <a:extLst>
                <a:ext uri="{FF2B5EF4-FFF2-40B4-BE49-F238E27FC236}">
                  <a16:creationId xmlns:a16="http://schemas.microsoft.com/office/drawing/2014/main" id="{7E407212-237A-0B4B-BEFE-6804F61C41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3" y="3184"/>
              <a:ext cx="36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produto</a:t>
              </a:r>
              <a:endParaRPr lang="pt-BR" altLang="pt-BR" sz="2000"/>
            </a:p>
          </p:txBody>
        </p:sp>
        <p:sp>
          <p:nvSpPr>
            <p:cNvPr id="21605" name="Rectangle 335">
              <a:extLst>
                <a:ext uri="{FF2B5EF4-FFF2-40B4-BE49-F238E27FC236}">
                  <a16:creationId xmlns:a16="http://schemas.microsoft.com/office/drawing/2014/main" id="{42207199-3F7F-624B-A9C7-EC7B025EE4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3" y="3438"/>
              <a:ext cx="717" cy="236"/>
            </a:xfrm>
            <a:prstGeom prst="rect">
              <a:avLst/>
            </a:prstGeom>
            <a:solidFill>
              <a:srgbClr val="FFCC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06" name="Rectangle 336">
              <a:extLst>
                <a:ext uri="{FF2B5EF4-FFF2-40B4-BE49-F238E27FC236}">
                  <a16:creationId xmlns:a16="http://schemas.microsoft.com/office/drawing/2014/main" id="{88E357BA-6F58-0148-84EC-AA7F81AF56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3449"/>
              <a:ext cx="68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Concepção do </a:t>
              </a:r>
              <a:endParaRPr lang="pt-BR" altLang="pt-BR" sz="2000"/>
            </a:p>
          </p:txBody>
        </p:sp>
        <p:sp>
          <p:nvSpPr>
            <p:cNvPr id="21607" name="Rectangle 337">
              <a:extLst>
                <a:ext uri="{FF2B5EF4-FFF2-40B4-BE49-F238E27FC236}">
                  <a16:creationId xmlns:a16="http://schemas.microsoft.com/office/drawing/2014/main" id="{6DED56F2-4099-AE45-9EA8-912112AB66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0" y="3563"/>
              <a:ext cx="41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produto  </a:t>
              </a:r>
              <a:endParaRPr lang="pt-BR" altLang="pt-BR" sz="2000"/>
            </a:p>
          </p:txBody>
        </p:sp>
        <p:sp>
          <p:nvSpPr>
            <p:cNvPr id="21608" name="Rectangle 338">
              <a:extLst>
                <a:ext uri="{FF2B5EF4-FFF2-40B4-BE49-F238E27FC236}">
                  <a16:creationId xmlns:a16="http://schemas.microsoft.com/office/drawing/2014/main" id="{270E1D5C-69F6-C041-9EA6-BCF995E3BF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0" y="3059"/>
              <a:ext cx="382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09" name="Rectangle 339">
              <a:extLst>
                <a:ext uri="{FF2B5EF4-FFF2-40B4-BE49-F238E27FC236}">
                  <a16:creationId xmlns:a16="http://schemas.microsoft.com/office/drawing/2014/main" id="{A67EEDBF-52B5-D742-85C6-04EC263F1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2" y="3070"/>
              <a:ext cx="28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BOM </a:t>
              </a:r>
              <a:endParaRPr lang="pt-BR" altLang="pt-BR" sz="2000"/>
            </a:p>
          </p:txBody>
        </p:sp>
        <p:sp>
          <p:nvSpPr>
            <p:cNvPr id="21610" name="Rectangle 340">
              <a:extLst>
                <a:ext uri="{FF2B5EF4-FFF2-40B4-BE49-F238E27FC236}">
                  <a16:creationId xmlns:a16="http://schemas.microsoft.com/office/drawing/2014/main" id="{331B2562-798E-0448-99EC-A9CA017BA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2" y="3184"/>
              <a:ext cx="30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inicial </a:t>
              </a:r>
              <a:endParaRPr lang="pt-BR" altLang="pt-BR" sz="2000"/>
            </a:p>
          </p:txBody>
        </p:sp>
        <p:sp>
          <p:nvSpPr>
            <p:cNvPr id="21611" name="Rectangle 341">
              <a:extLst>
                <a:ext uri="{FF2B5EF4-FFF2-40B4-BE49-F238E27FC236}">
                  <a16:creationId xmlns:a16="http://schemas.microsoft.com/office/drawing/2014/main" id="{168BFFE0-12C8-2342-926E-756D0FE181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7" y="3059"/>
              <a:ext cx="499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12" name="Rectangle 342">
              <a:extLst>
                <a:ext uri="{FF2B5EF4-FFF2-40B4-BE49-F238E27FC236}">
                  <a16:creationId xmlns:a16="http://schemas.microsoft.com/office/drawing/2014/main" id="{633FD2C3-C4D1-2346-B76C-BA7E45A6C2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2" y="3070"/>
              <a:ext cx="4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Desenhos </a:t>
              </a:r>
              <a:endParaRPr lang="pt-BR" altLang="pt-BR" sz="2000"/>
            </a:p>
          </p:txBody>
        </p:sp>
        <p:sp>
          <p:nvSpPr>
            <p:cNvPr id="21613" name="Rectangle 343">
              <a:extLst>
                <a:ext uri="{FF2B5EF4-FFF2-40B4-BE49-F238E27FC236}">
                  <a16:creationId xmlns:a16="http://schemas.microsoft.com/office/drawing/2014/main" id="{CAEB2486-3528-9644-BDFF-3E1BD95613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3" y="3184"/>
              <a:ext cx="32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iniciais</a:t>
              </a:r>
              <a:endParaRPr lang="pt-BR" altLang="pt-BR" sz="2000"/>
            </a:p>
          </p:txBody>
        </p:sp>
        <p:sp>
          <p:nvSpPr>
            <p:cNvPr id="21614" name="Freeform 344">
              <a:extLst>
                <a:ext uri="{FF2B5EF4-FFF2-40B4-BE49-F238E27FC236}">
                  <a16:creationId xmlns:a16="http://schemas.microsoft.com/office/drawing/2014/main" id="{DD9FEFDC-F756-B041-B064-F43FCD5B4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0" y="1810"/>
              <a:ext cx="2005" cy="1053"/>
            </a:xfrm>
            <a:custGeom>
              <a:avLst/>
              <a:gdLst>
                <a:gd name="T0" fmla="*/ 1 w 4008"/>
                <a:gd name="T1" fmla="*/ 0 h 2107"/>
                <a:gd name="T2" fmla="*/ 1 w 4008"/>
                <a:gd name="T3" fmla="*/ 0 h 2107"/>
                <a:gd name="T4" fmla="*/ 1 w 4008"/>
                <a:gd name="T5" fmla="*/ 0 h 2107"/>
                <a:gd name="T6" fmla="*/ 1 w 4008"/>
                <a:gd name="T7" fmla="*/ 0 h 2107"/>
                <a:gd name="T8" fmla="*/ 1 w 4008"/>
                <a:gd name="T9" fmla="*/ 0 h 2107"/>
                <a:gd name="T10" fmla="*/ 1 w 4008"/>
                <a:gd name="T11" fmla="*/ 0 h 2107"/>
                <a:gd name="T12" fmla="*/ 1 w 4008"/>
                <a:gd name="T13" fmla="*/ 0 h 2107"/>
                <a:gd name="T14" fmla="*/ 1 w 4008"/>
                <a:gd name="T15" fmla="*/ 0 h 2107"/>
                <a:gd name="T16" fmla="*/ 0 w 4008"/>
                <a:gd name="T17" fmla="*/ 0 h 2107"/>
                <a:gd name="T18" fmla="*/ 1 w 4008"/>
                <a:gd name="T19" fmla="*/ 0 h 2107"/>
                <a:gd name="T20" fmla="*/ 1 w 4008"/>
                <a:gd name="T21" fmla="*/ 0 h 2107"/>
                <a:gd name="T22" fmla="*/ 1 w 4008"/>
                <a:gd name="T23" fmla="*/ 0 h 2107"/>
                <a:gd name="T24" fmla="*/ 1 w 4008"/>
                <a:gd name="T25" fmla="*/ 0 h 2107"/>
                <a:gd name="T26" fmla="*/ 1 w 4008"/>
                <a:gd name="T27" fmla="*/ 0 h 2107"/>
                <a:gd name="T28" fmla="*/ 1 w 4008"/>
                <a:gd name="T29" fmla="*/ 0 h 2107"/>
                <a:gd name="T30" fmla="*/ 1 w 4008"/>
                <a:gd name="T31" fmla="*/ 0 h 2107"/>
                <a:gd name="T32" fmla="*/ 1 w 4008"/>
                <a:gd name="T33" fmla="*/ 0 h 2107"/>
                <a:gd name="T34" fmla="*/ 1 w 4008"/>
                <a:gd name="T35" fmla="*/ 0 h 2107"/>
                <a:gd name="T36" fmla="*/ 1 w 4008"/>
                <a:gd name="T37" fmla="*/ 0 h 2107"/>
                <a:gd name="T38" fmla="*/ 1 w 4008"/>
                <a:gd name="T39" fmla="*/ 0 h 2107"/>
                <a:gd name="T40" fmla="*/ 1 w 4008"/>
                <a:gd name="T41" fmla="*/ 0 h 2107"/>
                <a:gd name="T42" fmla="*/ 1 w 4008"/>
                <a:gd name="T43" fmla="*/ 0 h 2107"/>
                <a:gd name="T44" fmla="*/ 1 w 4008"/>
                <a:gd name="T45" fmla="*/ 0 h 2107"/>
                <a:gd name="T46" fmla="*/ 1 w 4008"/>
                <a:gd name="T47" fmla="*/ 0 h 2107"/>
                <a:gd name="T48" fmla="*/ 1 w 4008"/>
                <a:gd name="T49" fmla="*/ 0 h 2107"/>
                <a:gd name="T50" fmla="*/ 1 w 4008"/>
                <a:gd name="T51" fmla="*/ 0 h 2107"/>
                <a:gd name="T52" fmla="*/ 1 w 4008"/>
                <a:gd name="T53" fmla="*/ 0 h 2107"/>
                <a:gd name="T54" fmla="*/ 1 w 4008"/>
                <a:gd name="T55" fmla="*/ 0 h 2107"/>
                <a:gd name="T56" fmla="*/ 1 w 4008"/>
                <a:gd name="T57" fmla="*/ 0 h 2107"/>
                <a:gd name="T58" fmla="*/ 1 w 4008"/>
                <a:gd name="T59" fmla="*/ 0 h 2107"/>
                <a:gd name="T60" fmla="*/ 1 w 4008"/>
                <a:gd name="T61" fmla="*/ 0 h 2107"/>
                <a:gd name="T62" fmla="*/ 1 w 4008"/>
                <a:gd name="T63" fmla="*/ 0 h 2107"/>
                <a:gd name="T64" fmla="*/ 1 w 4008"/>
                <a:gd name="T65" fmla="*/ 0 h 2107"/>
                <a:gd name="T66" fmla="*/ 1 w 4008"/>
                <a:gd name="T67" fmla="*/ 0 h 210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4008"/>
                <a:gd name="T103" fmla="*/ 0 h 2107"/>
                <a:gd name="T104" fmla="*/ 4008 w 4008"/>
                <a:gd name="T105" fmla="*/ 2107 h 2107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4008" h="2107">
                  <a:moveTo>
                    <a:pt x="350" y="0"/>
                  </a:moveTo>
                  <a:lnTo>
                    <a:pt x="314" y="2"/>
                  </a:lnTo>
                  <a:lnTo>
                    <a:pt x="280" y="8"/>
                  </a:lnTo>
                  <a:lnTo>
                    <a:pt x="246" y="16"/>
                  </a:lnTo>
                  <a:lnTo>
                    <a:pt x="215" y="28"/>
                  </a:lnTo>
                  <a:lnTo>
                    <a:pt x="183" y="42"/>
                  </a:lnTo>
                  <a:lnTo>
                    <a:pt x="155" y="60"/>
                  </a:lnTo>
                  <a:lnTo>
                    <a:pt x="127" y="80"/>
                  </a:lnTo>
                  <a:lnTo>
                    <a:pt x="103" y="104"/>
                  </a:lnTo>
                  <a:lnTo>
                    <a:pt x="79" y="128"/>
                  </a:lnTo>
                  <a:lnTo>
                    <a:pt x="59" y="156"/>
                  </a:lnTo>
                  <a:lnTo>
                    <a:pt x="42" y="184"/>
                  </a:lnTo>
                  <a:lnTo>
                    <a:pt x="28" y="216"/>
                  </a:lnTo>
                  <a:lnTo>
                    <a:pt x="16" y="248"/>
                  </a:lnTo>
                  <a:lnTo>
                    <a:pt x="8" y="282"/>
                  </a:lnTo>
                  <a:lnTo>
                    <a:pt x="2" y="316"/>
                  </a:lnTo>
                  <a:lnTo>
                    <a:pt x="0" y="352"/>
                  </a:lnTo>
                  <a:lnTo>
                    <a:pt x="0" y="1756"/>
                  </a:lnTo>
                  <a:lnTo>
                    <a:pt x="2" y="1792"/>
                  </a:lnTo>
                  <a:lnTo>
                    <a:pt x="8" y="1826"/>
                  </a:lnTo>
                  <a:lnTo>
                    <a:pt x="16" y="1860"/>
                  </a:lnTo>
                  <a:lnTo>
                    <a:pt x="28" y="1892"/>
                  </a:lnTo>
                  <a:lnTo>
                    <a:pt x="42" y="1924"/>
                  </a:lnTo>
                  <a:lnTo>
                    <a:pt x="59" y="1952"/>
                  </a:lnTo>
                  <a:lnTo>
                    <a:pt x="79" y="1980"/>
                  </a:lnTo>
                  <a:lnTo>
                    <a:pt x="103" y="2004"/>
                  </a:lnTo>
                  <a:lnTo>
                    <a:pt x="127" y="2028"/>
                  </a:lnTo>
                  <a:lnTo>
                    <a:pt x="155" y="2048"/>
                  </a:lnTo>
                  <a:lnTo>
                    <a:pt x="183" y="2066"/>
                  </a:lnTo>
                  <a:lnTo>
                    <a:pt x="215" y="2080"/>
                  </a:lnTo>
                  <a:lnTo>
                    <a:pt x="246" y="2091"/>
                  </a:lnTo>
                  <a:lnTo>
                    <a:pt x="280" y="2099"/>
                  </a:lnTo>
                  <a:lnTo>
                    <a:pt x="314" y="2105"/>
                  </a:lnTo>
                  <a:lnTo>
                    <a:pt x="350" y="2107"/>
                  </a:lnTo>
                  <a:lnTo>
                    <a:pt x="3658" y="2107"/>
                  </a:lnTo>
                  <a:lnTo>
                    <a:pt x="3694" y="2105"/>
                  </a:lnTo>
                  <a:lnTo>
                    <a:pt x="3728" y="2099"/>
                  </a:lnTo>
                  <a:lnTo>
                    <a:pt x="3762" y="2091"/>
                  </a:lnTo>
                  <a:lnTo>
                    <a:pt x="3793" y="2080"/>
                  </a:lnTo>
                  <a:lnTo>
                    <a:pt x="3825" y="2066"/>
                  </a:lnTo>
                  <a:lnTo>
                    <a:pt x="3853" y="2048"/>
                  </a:lnTo>
                  <a:lnTo>
                    <a:pt x="3881" y="2028"/>
                  </a:lnTo>
                  <a:lnTo>
                    <a:pt x="3905" y="2004"/>
                  </a:lnTo>
                  <a:lnTo>
                    <a:pt x="3929" y="1980"/>
                  </a:lnTo>
                  <a:lnTo>
                    <a:pt x="3949" y="1952"/>
                  </a:lnTo>
                  <a:lnTo>
                    <a:pt x="3966" y="1924"/>
                  </a:lnTo>
                  <a:lnTo>
                    <a:pt x="3980" y="1892"/>
                  </a:lnTo>
                  <a:lnTo>
                    <a:pt x="3992" y="1860"/>
                  </a:lnTo>
                  <a:lnTo>
                    <a:pt x="4000" y="1826"/>
                  </a:lnTo>
                  <a:lnTo>
                    <a:pt x="4006" y="1792"/>
                  </a:lnTo>
                  <a:lnTo>
                    <a:pt x="4008" y="1756"/>
                  </a:lnTo>
                  <a:lnTo>
                    <a:pt x="4008" y="352"/>
                  </a:lnTo>
                  <a:lnTo>
                    <a:pt x="4006" y="316"/>
                  </a:lnTo>
                  <a:lnTo>
                    <a:pt x="4000" y="282"/>
                  </a:lnTo>
                  <a:lnTo>
                    <a:pt x="3992" y="248"/>
                  </a:lnTo>
                  <a:lnTo>
                    <a:pt x="3980" y="216"/>
                  </a:lnTo>
                  <a:lnTo>
                    <a:pt x="3966" y="184"/>
                  </a:lnTo>
                  <a:lnTo>
                    <a:pt x="3949" y="156"/>
                  </a:lnTo>
                  <a:lnTo>
                    <a:pt x="3929" y="128"/>
                  </a:lnTo>
                  <a:lnTo>
                    <a:pt x="3905" y="104"/>
                  </a:lnTo>
                  <a:lnTo>
                    <a:pt x="3881" y="80"/>
                  </a:lnTo>
                  <a:lnTo>
                    <a:pt x="3853" y="60"/>
                  </a:lnTo>
                  <a:lnTo>
                    <a:pt x="3825" y="42"/>
                  </a:lnTo>
                  <a:lnTo>
                    <a:pt x="3793" y="28"/>
                  </a:lnTo>
                  <a:lnTo>
                    <a:pt x="3762" y="16"/>
                  </a:lnTo>
                  <a:lnTo>
                    <a:pt x="3728" y="8"/>
                  </a:lnTo>
                  <a:lnTo>
                    <a:pt x="3694" y="2"/>
                  </a:lnTo>
                  <a:lnTo>
                    <a:pt x="3658" y="0"/>
                  </a:lnTo>
                  <a:lnTo>
                    <a:pt x="350" y="0"/>
                  </a:lnTo>
                  <a:close/>
                </a:path>
              </a:pathLst>
            </a:custGeom>
            <a:solidFill>
              <a:srgbClr val="FFFFFF"/>
            </a:solidFill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21615" name="Group 362">
              <a:extLst>
                <a:ext uri="{FF2B5EF4-FFF2-40B4-BE49-F238E27FC236}">
                  <a16:creationId xmlns:a16="http://schemas.microsoft.com/office/drawing/2014/main" id="{A8D73E4A-C9DC-AC4C-96F9-23E7E5CB59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18" y="1858"/>
              <a:ext cx="907" cy="924"/>
              <a:chOff x="3618" y="1858"/>
              <a:chExt cx="907" cy="924"/>
            </a:xfrm>
          </p:grpSpPr>
          <p:sp>
            <p:nvSpPr>
              <p:cNvPr id="21831" name="Freeform 345">
                <a:extLst>
                  <a:ext uri="{FF2B5EF4-FFF2-40B4-BE49-F238E27FC236}">
                    <a16:creationId xmlns:a16="http://schemas.microsoft.com/office/drawing/2014/main" id="{FC135859-20BA-6448-821F-63FD8D7CCA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8" y="1858"/>
                <a:ext cx="907" cy="814"/>
              </a:xfrm>
              <a:custGeom>
                <a:avLst/>
                <a:gdLst>
                  <a:gd name="T0" fmla="*/ 1 w 1814"/>
                  <a:gd name="T1" fmla="*/ 1 h 1628"/>
                  <a:gd name="T2" fmla="*/ 1 w 1814"/>
                  <a:gd name="T3" fmla="*/ 1 h 1628"/>
                  <a:gd name="T4" fmla="*/ 1 w 1814"/>
                  <a:gd name="T5" fmla="*/ 1 h 1628"/>
                  <a:gd name="T6" fmla="*/ 1 w 1814"/>
                  <a:gd name="T7" fmla="*/ 1 h 1628"/>
                  <a:gd name="T8" fmla="*/ 1 w 1814"/>
                  <a:gd name="T9" fmla="*/ 1 h 1628"/>
                  <a:gd name="T10" fmla="*/ 1 w 1814"/>
                  <a:gd name="T11" fmla="*/ 1 h 1628"/>
                  <a:gd name="T12" fmla="*/ 1 w 1814"/>
                  <a:gd name="T13" fmla="*/ 1 h 1628"/>
                  <a:gd name="T14" fmla="*/ 1 w 1814"/>
                  <a:gd name="T15" fmla="*/ 1 h 1628"/>
                  <a:gd name="T16" fmla="*/ 0 w 1814"/>
                  <a:gd name="T17" fmla="*/ 1 h 1628"/>
                  <a:gd name="T18" fmla="*/ 1 w 1814"/>
                  <a:gd name="T19" fmla="*/ 1 h 1628"/>
                  <a:gd name="T20" fmla="*/ 1 w 1814"/>
                  <a:gd name="T21" fmla="*/ 1 h 1628"/>
                  <a:gd name="T22" fmla="*/ 1 w 1814"/>
                  <a:gd name="T23" fmla="*/ 1 h 1628"/>
                  <a:gd name="T24" fmla="*/ 1 w 1814"/>
                  <a:gd name="T25" fmla="*/ 1 h 1628"/>
                  <a:gd name="T26" fmla="*/ 1 w 1814"/>
                  <a:gd name="T27" fmla="*/ 1 h 1628"/>
                  <a:gd name="T28" fmla="*/ 1 w 1814"/>
                  <a:gd name="T29" fmla="*/ 1 h 1628"/>
                  <a:gd name="T30" fmla="*/ 1 w 1814"/>
                  <a:gd name="T31" fmla="*/ 1 h 1628"/>
                  <a:gd name="T32" fmla="*/ 1 w 1814"/>
                  <a:gd name="T33" fmla="*/ 1 h 1628"/>
                  <a:gd name="T34" fmla="*/ 1 w 1814"/>
                  <a:gd name="T35" fmla="*/ 1 h 1628"/>
                  <a:gd name="T36" fmla="*/ 1 w 1814"/>
                  <a:gd name="T37" fmla="*/ 1 h 1628"/>
                  <a:gd name="T38" fmla="*/ 1 w 1814"/>
                  <a:gd name="T39" fmla="*/ 1 h 1628"/>
                  <a:gd name="T40" fmla="*/ 1 w 1814"/>
                  <a:gd name="T41" fmla="*/ 1 h 1628"/>
                  <a:gd name="T42" fmla="*/ 1 w 1814"/>
                  <a:gd name="T43" fmla="*/ 1 h 1628"/>
                  <a:gd name="T44" fmla="*/ 1 w 1814"/>
                  <a:gd name="T45" fmla="*/ 1 h 1628"/>
                  <a:gd name="T46" fmla="*/ 1 w 1814"/>
                  <a:gd name="T47" fmla="*/ 1 h 1628"/>
                  <a:gd name="T48" fmla="*/ 1 w 1814"/>
                  <a:gd name="T49" fmla="*/ 1 h 1628"/>
                  <a:gd name="T50" fmla="*/ 1 w 1814"/>
                  <a:gd name="T51" fmla="*/ 1 h 1628"/>
                  <a:gd name="T52" fmla="*/ 1 w 1814"/>
                  <a:gd name="T53" fmla="*/ 1 h 1628"/>
                  <a:gd name="T54" fmla="*/ 1 w 1814"/>
                  <a:gd name="T55" fmla="*/ 1 h 1628"/>
                  <a:gd name="T56" fmla="*/ 1 w 1814"/>
                  <a:gd name="T57" fmla="*/ 1 h 1628"/>
                  <a:gd name="T58" fmla="*/ 1 w 1814"/>
                  <a:gd name="T59" fmla="*/ 1 h 1628"/>
                  <a:gd name="T60" fmla="*/ 1 w 1814"/>
                  <a:gd name="T61" fmla="*/ 1 h 1628"/>
                  <a:gd name="T62" fmla="*/ 1 w 1814"/>
                  <a:gd name="T63" fmla="*/ 1 h 1628"/>
                  <a:gd name="T64" fmla="*/ 1 w 1814"/>
                  <a:gd name="T65" fmla="*/ 1 h 1628"/>
                  <a:gd name="T66" fmla="*/ 1 w 1814"/>
                  <a:gd name="T67" fmla="*/ 0 h 1628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814"/>
                  <a:gd name="T103" fmla="*/ 0 h 1628"/>
                  <a:gd name="T104" fmla="*/ 1814 w 1814"/>
                  <a:gd name="T105" fmla="*/ 1628 h 1628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814" h="1628">
                    <a:moveTo>
                      <a:pt x="271" y="0"/>
                    </a:moveTo>
                    <a:lnTo>
                      <a:pt x="243" y="2"/>
                    </a:lnTo>
                    <a:lnTo>
                      <a:pt x="217" y="6"/>
                    </a:lnTo>
                    <a:lnTo>
                      <a:pt x="191" y="12"/>
                    </a:lnTo>
                    <a:lnTo>
                      <a:pt x="165" y="22"/>
                    </a:lnTo>
                    <a:lnTo>
                      <a:pt x="141" y="32"/>
                    </a:lnTo>
                    <a:lnTo>
                      <a:pt x="120" y="46"/>
                    </a:lnTo>
                    <a:lnTo>
                      <a:pt x="100" y="62"/>
                    </a:lnTo>
                    <a:lnTo>
                      <a:pt x="80" y="80"/>
                    </a:lnTo>
                    <a:lnTo>
                      <a:pt x="62" y="100"/>
                    </a:lnTo>
                    <a:lnTo>
                      <a:pt x="46" y="120"/>
                    </a:lnTo>
                    <a:lnTo>
                      <a:pt x="32" y="142"/>
                    </a:lnTo>
                    <a:lnTo>
                      <a:pt x="22" y="166"/>
                    </a:lnTo>
                    <a:lnTo>
                      <a:pt x="12" y="192"/>
                    </a:lnTo>
                    <a:lnTo>
                      <a:pt x="6" y="218"/>
                    </a:lnTo>
                    <a:lnTo>
                      <a:pt x="2" y="244"/>
                    </a:lnTo>
                    <a:lnTo>
                      <a:pt x="0" y="271"/>
                    </a:lnTo>
                    <a:lnTo>
                      <a:pt x="0" y="1357"/>
                    </a:lnTo>
                    <a:lnTo>
                      <a:pt x="2" y="1385"/>
                    </a:lnTo>
                    <a:lnTo>
                      <a:pt x="6" y="1411"/>
                    </a:lnTo>
                    <a:lnTo>
                      <a:pt x="12" y="1437"/>
                    </a:lnTo>
                    <a:lnTo>
                      <a:pt x="22" y="1463"/>
                    </a:lnTo>
                    <a:lnTo>
                      <a:pt x="32" y="1487"/>
                    </a:lnTo>
                    <a:lnTo>
                      <a:pt x="46" y="1509"/>
                    </a:lnTo>
                    <a:lnTo>
                      <a:pt x="62" y="1529"/>
                    </a:lnTo>
                    <a:lnTo>
                      <a:pt x="80" y="1549"/>
                    </a:lnTo>
                    <a:lnTo>
                      <a:pt x="100" y="1566"/>
                    </a:lnTo>
                    <a:lnTo>
                      <a:pt x="120" y="1582"/>
                    </a:lnTo>
                    <a:lnTo>
                      <a:pt x="141" y="1596"/>
                    </a:lnTo>
                    <a:lnTo>
                      <a:pt x="165" y="1606"/>
                    </a:lnTo>
                    <a:lnTo>
                      <a:pt x="191" y="1616"/>
                    </a:lnTo>
                    <a:lnTo>
                      <a:pt x="217" y="1622"/>
                    </a:lnTo>
                    <a:lnTo>
                      <a:pt x="243" y="1626"/>
                    </a:lnTo>
                    <a:lnTo>
                      <a:pt x="271" y="1628"/>
                    </a:lnTo>
                    <a:lnTo>
                      <a:pt x="1543" y="1628"/>
                    </a:lnTo>
                    <a:lnTo>
                      <a:pt x="1571" y="1626"/>
                    </a:lnTo>
                    <a:lnTo>
                      <a:pt x="1597" y="1622"/>
                    </a:lnTo>
                    <a:lnTo>
                      <a:pt x="1623" y="1616"/>
                    </a:lnTo>
                    <a:lnTo>
                      <a:pt x="1649" y="1606"/>
                    </a:lnTo>
                    <a:lnTo>
                      <a:pt x="1672" y="1596"/>
                    </a:lnTo>
                    <a:lnTo>
                      <a:pt x="1694" y="1582"/>
                    </a:lnTo>
                    <a:lnTo>
                      <a:pt x="1714" y="1566"/>
                    </a:lnTo>
                    <a:lnTo>
                      <a:pt x="1734" y="1549"/>
                    </a:lnTo>
                    <a:lnTo>
                      <a:pt x="1752" y="1529"/>
                    </a:lnTo>
                    <a:lnTo>
                      <a:pt x="1768" y="1509"/>
                    </a:lnTo>
                    <a:lnTo>
                      <a:pt x="1782" y="1487"/>
                    </a:lnTo>
                    <a:lnTo>
                      <a:pt x="1792" y="1463"/>
                    </a:lnTo>
                    <a:lnTo>
                      <a:pt x="1802" y="1437"/>
                    </a:lnTo>
                    <a:lnTo>
                      <a:pt x="1808" y="1411"/>
                    </a:lnTo>
                    <a:lnTo>
                      <a:pt x="1812" y="1385"/>
                    </a:lnTo>
                    <a:lnTo>
                      <a:pt x="1814" y="1357"/>
                    </a:lnTo>
                    <a:lnTo>
                      <a:pt x="1814" y="271"/>
                    </a:lnTo>
                    <a:lnTo>
                      <a:pt x="1812" y="244"/>
                    </a:lnTo>
                    <a:lnTo>
                      <a:pt x="1808" y="218"/>
                    </a:lnTo>
                    <a:lnTo>
                      <a:pt x="1802" y="192"/>
                    </a:lnTo>
                    <a:lnTo>
                      <a:pt x="1792" y="166"/>
                    </a:lnTo>
                    <a:lnTo>
                      <a:pt x="1782" y="142"/>
                    </a:lnTo>
                    <a:lnTo>
                      <a:pt x="1768" y="120"/>
                    </a:lnTo>
                    <a:lnTo>
                      <a:pt x="1752" y="100"/>
                    </a:lnTo>
                    <a:lnTo>
                      <a:pt x="1734" y="80"/>
                    </a:lnTo>
                    <a:lnTo>
                      <a:pt x="1714" y="62"/>
                    </a:lnTo>
                    <a:lnTo>
                      <a:pt x="1694" y="46"/>
                    </a:lnTo>
                    <a:lnTo>
                      <a:pt x="1672" y="32"/>
                    </a:lnTo>
                    <a:lnTo>
                      <a:pt x="1649" y="22"/>
                    </a:lnTo>
                    <a:lnTo>
                      <a:pt x="1623" y="12"/>
                    </a:lnTo>
                    <a:lnTo>
                      <a:pt x="1597" y="6"/>
                    </a:lnTo>
                    <a:lnTo>
                      <a:pt x="1571" y="2"/>
                    </a:lnTo>
                    <a:lnTo>
                      <a:pt x="1543" y="0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EAEAEA"/>
              </a:solidFill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21832" name="Group 358">
                <a:extLst>
                  <a:ext uri="{FF2B5EF4-FFF2-40B4-BE49-F238E27FC236}">
                    <a16:creationId xmlns:a16="http://schemas.microsoft.com/office/drawing/2014/main" id="{AC54B851-A54C-9A47-BAEF-0248092940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66" y="1953"/>
                <a:ext cx="797" cy="464"/>
                <a:chOff x="3666" y="1953"/>
                <a:chExt cx="797" cy="464"/>
              </a:xfrm>
            </p:grpSpPr>
            <p:sp>
              <p:nvSpPr>
                <p:cNvPr id="21836" name="Rectangle 346">
                  <a:extLst>
                    <a:ext uri="{FF2B5EF4-FFF2-40B4-BE49-F238E27FC236}">
                      <a16:creationId xmlns:a16="http://schemas.microsoft.com/office/drawing/2014/main" id="{E60D7423-D339-4F42-AD35-DAA03F2543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57" y="1953"/>
                  <a:ext cx="573" cy="352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21837" name="Rectangle 347">
                  <a:extLst>
                    <a:ext uri="{FF2B5EF4-FFF2-40B4-BE49-F238E27FC236}">
                      <a16:creationId xmlns:a16="http://schemas.microsoft.com/office/drawing/2014/main" id="{9C36965C-F3E8-304C-820B-614AC16E4A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92" y="1964"/>
                  <a:ext cx="57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Princípio de </a:t>
                  </a:r>
                  <a:endParaRPr lang="pt-BR" altLang="pt-BR" sz="2000"/>
                </a:p>
              </p:txBody>
            </p:sp>
            <p:sp>
              <p:nvSpPr>
                <p:cNvPr id="21838" name="Rectangle 348">
                  <a:extLst>
                    <a:ext uri="{FF2B5EF4-FFF2-40B4-BE49-F238E27FC236}">
                      <a16:creationId xmlns:a16="http://schemas.microsoft.com/office/drawing/2014/main" id="{C57C9075-E8DF-A449-A722-D7B5A06E9F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79" y="2079"/>
                  <a:ext cx="39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solução </a:t>
                  </a:r>
                  <a:endParaRPr lang="pt-BR" altLang="pt-BR" sz="2000"/>
                </a:p>
              </p:txBody>
            </p:sp>
            <p:sp>
              <p:nvSpPr>
                <p:cNvPr id="21839" name="Rectangle 349">
                  <a:extLst>
                    <a:ext uri="{FF2B5EF4-FFF2-40B4-BE49-F238E27FC236}">
                      <a16:creationId xmlns:a16="http://schemas.microsoft.com/office/drawing/2014/main" id="{C0C2607E-F778-DE40-B7F3-5E82B9A62C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46" y="2194"/>
                  <a:ext cx="435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individual</a:t>
                  </a:r>
                  <a:endParaRPr lang="pt-BR" altLang="pt-BR" sz="2000"/>
                </a:p>
              </p:txBody>
            </p:sp>
            <p:sp>
              <p:nvSpPr>
                <p:cNvPr id="21840" name="Rectangle 350">
                  <a:extLst>
                    <a:ext uri="{FF2B5EF4-FFF2-40B4-BE49-F238E27FC236}">
                      <a16:creationId xmlns:a16="http://schemas.microsoft.com/office/drawing/2014/main" id="{8D625D34-9DF4-0F42-8297-672850F5F8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61" y="2001"/>
                  <a:ext cx="574" cy="351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21841" name="Rectangle 351">
                  <a:extLst>
                    <a:ext uri="{FF2B5EF4-FFF2-40B4-BE49-F238E27FC236}">
                      <a16:creationId xmlns:a16="http://schemas.microsoft.com/office/drawing/2014/main" id="{641417A5-8A39-004A-A31A-54CF50DFBF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96" y="2012"/>
                  <a:ext cx="57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Princípio de </a:t>
                  </a:r>
                  <a:endParaRPr lang="pt-BR" altLang="pt-BR" sz="2000"/>
                </a:p>
              </p:txBody>
            </p:sp>
            <p:sp>
              <p:nvSpPr>
                <p:cNvPr id="21842" name="Rectangle 352">
                  <a:extLst>
                    <a:ext uri="{FF2B5EF4-FFF2-40B4-BE49-F238E27FC236}">
                      <a16:creationId xmlns:a16="http://schemas.microsoft.com/office/drawing/2014/main" id="{CE487A94-3051-7541-8758-EB59FFC728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84" y="2127"/>
                  <a:ext cx="39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solução </a:t>
                  </a:r>
                  <a:endParaRPr lang="pt-BR" altLang="pt-BR" sz="2000"/>
                </a:p>
              </p:txBody>
            </p:sp>
            <p:sp>
              <p:nvSpPr>
                <p:cNvPr id="21843" name="Rectangle 353">
                  <a:extLst>
                    <a:ext uri="{FF2B5EF4-FFF2-40B4-BE49-F238E27FC236}">
                      <a16:creationId xmlns:a16="http://schemas.microsoft.com/office/drawing/2014/main" id="{8ACDD548-ED43-D441-BB75-B21DF17430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51" y="2241"/>
                  <a:ext cx="435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individual</a:t>
                  </a:r>
                  <a:endParaRPr lang="pt-BR" altLang="pt-BR" sz="2000"/>
                </a:p>
              </p:txBody>
            </p:sp>
            <p:sp>
              <p:nvSpPr>
                <p:cNvPr id="21844" name="Rectangle 354">
                  <a:extLst>
                    <a:ext uri="{FF2B5EF4-FFF2-40B4-BE49-F238E27FC236}">
                      <a16:creationId xmlns:a16="http://schemas.microsoft.com/office/drawing/2014/main" id="{A2C54B35-30A5-1F4A-939C-8720619EB2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66" y="2049"/>
                  <a:ext cx="573" cy="351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21845" name="Rectangle 355">
                  <a:extLst>
                    <a:ext uri="{FF2B5EF4-FFF2-40B4-BE49-F238E27FC236}">
                      <a16:creationId xmlns:a16="http://schemas.microsoft.com/office/drawing/2014/main" id="{85B43BFD-5460-5546-B9D3-D244632197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01" y="2060"/>
                  <a:ext cx="57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Princípio de </a:t>
                  </a:r>
                  <a:endParaRPr lang="pt-BR" altLang="pt-BR" sz="2000"/>
                </a:p>
              </p:txBody>
            </p:sp>
            <p:sp>
              <p:nvSpPr>
                <p:cNvPr id="21846" name="Rectangle 356">
                  <a:extLst>
                    <a:ext uri="{FF2B5EF4-FFF2-40B4-BE49-F238E27FC236}">
                      <a16:creationId xmlns:a16="http://schemas.microsoft.com/office/drawing/2014/main" id="{B4C94811-5981-664C-AB70-FE98E9D630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88" y="2175"/>
                  <a:ext cx="39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solução </a:t>
                  </a:r>
                  <a:endParaRPr lang="pt-BR" altLang="pt-BR" sz="2000"/>
                </a:p>
              </p:txBody>
            </p:sp>
            <p:sp>
              <p:nvSpPr>
                <p:cNvPr id="21847" name="Rectangle 357">
                  <a:extLst>
                    <a:ext uri="{FF2B5EF4-FFF2-40B4-BE49-F238E27FC236}">
                      <a16:creationId xmlns:a16="http://schemas.microsoft.com/office/drawing/2014/main" id="{2D4906D2-D2E0-794D-A4BE-DFE85F716C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55" y="2289"/>
                  <a:ext cx="435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individual</a:t>
                  </a:r>
                  <a:endParaRPr lang="pt-BR" altLang="pt-BR" sz="2000"/>
                </a:p>
              </p:txBody>
            </p:sp>
          </p:grpSp>
          <p:sp>
            <p:nvSpPr>
              <p:cNvPr id="21833" name="Rectangle 359">
                <a:extLst>
                  <a:ext uri="{FF2B5EF4-FFF2-40B4-BE49-F238E27FC236}">
                    <a16:creationId xmlns:a16="http://schemas.microsoft.com/office/drawing/2014/main" id="{3EF367B6-52DC-0A42-9AC2-C47178F4A2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1" y="2528"/>
                <a:ext cx="587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834" name="Rectangle 360">
                <a:extLst>
                  <a:ext uri="{FF2B5EF4-FFF2-40B4-BE49-F238E27FC236}">
                    <a16:creationId xmlns:a16="http://schemas.microsoft.com/office/drawing/2014/main" id="{52E7508D-31EC-7843-8AD5-2C952E4BE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03" y="2539"/>
                <a:ext cx="57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Princípio de </a:t>
                </a:r>
                <a:endParaRPr lang="pt-BR" altLang="pt-BR" sz="2000"/>
              </a:p>
            </p:txBody>
          </p:sp>
          <p:sp>
            <p:nvSpPr>
              <p:cNvPr id="21835" name="Rectangle 361">
                <a:extLst>
                  <a:ext uri="{FF2B5EF4-FFF2-40B4-BE49-F238E27FC236}">
                    <a16:creationId xmlns:a16="http://schemas.microsoft.com/office/drawing/2014/main" id="{9859A506-D63A-184B-A56B-8FC7F422A8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87" y="2654"/>
                <a:ext cx="57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solução total</a:t>
                </a:r>
                <a:endParaRPr lang="pt-BR" altLang="pt-BR" sz="2000"/>
              </a:p>
            </p:txBody>
          </p:sp>
        </p:grpSp>
        <p:sp>
          <p:nvSpPr>
            <p:cNvPr id="21616" name="Rectangle 363">
              <a:extLst>
                <a:ext uri="{FF2B5EF4-FFF2-40B4-BE49-F238E27FC236}">
                  <a16:creationId xmlns:a16="http://schemas.microsoft.com/office/drawing/2014/main" id="{24ADE67B-648E-F547-8679-F7FA3071E8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4" y="2815"/>
              <a:ext cx="1385" cy="122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17" name="Rectangle 364">
              <a:extLst>
                <a:ext uri="{FF2B5EF4-FFF2-40B4-BE49-F238E27FC236}">
                  <a16:creationId xmlns:a16="http://schemas.microsoft.com/office/drawing/2014/main" id="{C3ABC77A-9F3B-CD41-93EF-5F7929F8D1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5" y="2826"/>
              <a:ext cx="102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Alternativas de solução</a:t>
              </a:r>
              <a:endParaRPr lang="pt-BR" altLang="pt-BR" sz="2000"/>
            </a:p>
          </p:txBody>
        </p:sp>
        <p:grpSp>
          <p:nvGrpSpPr>
            <p:cNvPr id="21618" name="Group 382">
              <a:extLst>
                <a:ext uri="{FF2B5EF4-FFF2-40B4-BE49-F238E27FC236}">
                  <a16:creationId xmlns:a16="http://schemas.microsoft.com/office/drawing/2014/main" id="{A1AC5401-51D4-404B-BC98-FFB9C27B46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20" y="1858"/>
              <a:ext cx="907" cy="924"/>
              <a:chOff x="4620" y="1858"/>
              <a:chExt cx="907" cy="924"/>
            </a:xfrm>
          </p:grpSpPr>
          <p:sp>
            <p:nvSpPr>
              <p:cNvPr id="21814" name="Freeform 365">
                <a:extLst>
                  <a:ext uri="{FF2B5EF4-FFF2-40B4-BE49-F238E27FC236}">
                    <a16:creationId xmlns:a16="http://schemas.microsoft.com/office/drawing/2014/main" id="{69E11E29-1433-D94A-8EDA-27615FD358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" y="1858"/>
                <a:ext cx="907" cy="814"/>
              </a:xfrm>
              <a:custGeom>
                <a:avLst/>
                <a:gdLst>
                  <a:gd name="T0" fmla="*/ 1 w 1814"/>
                  <a:gd name="T1" fmla="*/ 1 h 1628"/>
                  <a:gd name="T2" fmla="*/ 1 w 1814"/>
                  <a:gd name="T3" fmla="*/ 1 h 1628"/>
                  <a:gd name="T4" fmla="*/ 1 w 1814"/>
                  <a:gd name="T5" fmla="*/ 1 h 1628"/>
                  <a:gd name="T6" fmla="*/ 1 w 1814"/>
                  <a:gd name="T7" fmla="*/ 1 h 1628"/>
                  <a:gd name="T8" fmla="*/ 1 w 1814"/>
                  <a:gd name="T9" fmla="*/ 1 h 1628"/>
                  <a:gd name="T10" fmla="*/ 1 w 1814"/>
                  <a:gd name="T11" fmla="*/ 1 h 1628"/>
                  <a:gd name="T12" fmla="*/ 1 w 1814"/>
                  <a:gd name="T13" fmla="*/ 1 h 1628"/>
                  <a:gd name="T14" fmla="*/ 1 w 1814"/>
                  <a:gd name="T15" fmla="*/ 1 h 1628"/>
                  <a:gd name="T16" fmla="*/ 0 w 1814"/>
                  <a:gd name="T17" fmla="*/ 1 h 1628"/>
                  <a:gd name="T18" fmla="*/ 1 w 1814"/>
                  <a:gd name="T19" fmla="*/ 1 h 1628"/>
                  <a:gd name="T20" fmla="*/ 1 w 1814"/>
                  <a:gd name="T21" fmla="*/ 1 h 1628"/>
                  <a:gd name="T22" fmla="*/ 1 w 1814"/>
                  <a:gd name="T23" fmla="*/ 1 h 1628"/>
                  <a:gd name="T24" fmla="*/ 1 w 1814"/>
                  <a:gd name="T25" fmla="*/ 1 h 1628"/>
                  <a:gd name="T26" fmla="*/ 1 w 1814"/>
                  <a:gd name="T27" fmla="*/ 1 h 1628"/>
                  <a:gd name="T28" fmla="*/ 1 w 1814"/>
                  <a:gd name="T29" fmla="*/ 1 h 1628"/>
                  <a:gd name="T30" fmla="*/ 1 w 1814"/>
                  <a:gd name="T31" fmla="*/ 1 h 1628"/>
                  <a:gd name="T32" fmla="*/ 1 w 1814"/>
                  <a:gd name="T33" fmla="*/ 1 h 1628"/>
                  <a:gd name="T34" fmla="*/ 1 w 1814"/>
                  <a:gd name="T35" fmla="*/ 1 h 1628"/>
                  <a:gd name="T36" fmla="*/ 1 w 1814"/>
                  <a:gd name="T37" fmla="*/ 1 h 1628"/>
                  <a:gd name="T38" fmla="*/ 1 w 1814"/>
                  <a:gd name="T39" fmla="*/ 1 h 1628"/>
                  <a:gd name="T40" fmla="*/ 1 w 1814"/>
                  <a:gd name="T41" fmla="*/ 1 h 1628"/>
                  <a:gd name="T42" fmla="*/ 1 w 1814"/>
                  <a:gd name="T43" fmla="*/ 1 h 1628"/>
                  <a:gd name="T44" fmla="*/ 1 w 1814"/>
                  <a:gd name="T45" fmla="*/ 1 h 1628"/>
                  <a:gd name="T46" fmla="*/ 1 w 1814"/>
                  <a:gd name="T47" fmla="*/ 1 h 1628"/>
                  <a:gd name="T48" fmla="*/ 1 w 1814"/>
                  <a:gd name="T49" fmla="*/ 1 h 1628"/>
                  <a:gd name="T50" fmla="*/ 1 w 1814"/>
                  <a:gd name="T51" fmla="*/ 1 h 1628"/>
                  <a:gd name="T52" fmla="*/ 1 w 1814"/>
                  <a:gd name="T53" fmla="*/ 1 h 1628"/>
                  <a:gd name="T54" fmla="*/ 1 w 1814"/>
                  <a:gd name="T55" fmla="*/ 1 h 1628"/>
                  <a:gd name="T56" fmla="*/ 1 w 1814"/>
                  <a:gd name="T57" fmla="*/ 1 h 1628"/>
                  <a:gd name="T58" fmla="*/ 1 w 1814"/>
                  <a:gd name="T59" fmla="*/ 1 h 1628"/>
                  <a:gd name="T60" fmla="*/ 1 w 1814"/>
                  <a:gd name="T61" fmla="*/ 1 h 1628"/>
                  <a:gd name="T62" fmla="*/ 1 w 1814"/>
                  <a:gd name="T63" fmla="*/ 1 h 1628"/>
                  <a:gd name="T64" fmla="*/ 1 w 1814"/>
                  <a:gd name="T65" fmla="*/ 1 h 1628"/>
                  <a:gd name="T66" fmla="*/ 1 w 1814"/>
                  <a:gd name="T67" fmla="*/ 0 h 1628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814"/>
                  <a:gd name="T103" fmla="*/ 0 h 1628"/>
                  <a:gd name="T104" fmla="*/ 1814 w 1814"/>
                  <a:gd name="T105" fmla="*/ 1628 h 1628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814" h="1628">
                    <a:moveTo>
                      <a:pt x="271" y="0"/>
                    </a:moveTo>
                    <a:lnTo>
                      <a:pt x="243" y="2"/>
                    </a:lnTo>
                    <a:lnTo>
                      <a:pt x="217" y="6"/>
                    </a:lnTo>
                    <a:lnTo>
                      <a:pt x="191" y="12"/>
                    </a:lnTo>
                    <a:lnTo>
                      <a:pt x="165" y="22"/>
                    </a:lnTo>
                    <a:lnTo>
                      <a:pt x="142" y="32"/>
                    </a:lnTo>
                    <a:lnTo>
                      <a:pt x="120" y="46"/>
                    </a:lnTo>
                    <a:lnTo>
                      <a:pt x="100" y="62"/>
                    </a:lnTo>
                    <a:lnTo>
                      <a:pt x="80" y="80"/>
                    </a:lnTo>
                    <a:lnTo>
                      <a:pt x="62" y="100"/>
                    </a:lnTo>
                    <a:lnTo>
                      <a:pt x="46" y="120"/>
                    </a:lnTo>
                    <a:lnTo>
                      <a:pt x="32" y="142"/>
                    </a:lnTo>
                    <a:lnTo>
                      <a:pt x="22" y="166"/>
                    </a:lnTo>
                    <a:lnTo>
                      <a:pt x="12" y="192"/>
                    </a:lnTo>
                    <a:lnTo>
                      <a:pt x="6" y="218"/>
                    </a:lnTo>
                    <a:lnTo>
                      <a:pt x="2" y="244"/>
                    </a:lnTo>
                    <a:lnTo>
                      <a:pt x="0" y="271"/>
                    </a:lnTo>
                    <a:lnTo>
                      <a:pt x="0" y="1357"/>
                    </a:lnTo>
                    <a:lnTo>
                      <a:pt x="2" y="1385"/>
                    </a:lnTo>
                    <a:lnTo>
                      <a:pt x="6" y="1411"/>
                    </a:lnTo>
                    <a:lnTo>
                      <a:pt x="12" y="1437"/>
                    </a:lnTo>
                    <a:lnTo>
                      <a:pt x="22" y="1463"/>
                    </a:lnTo>
                    <a:lnTo>
                      <a:pt x="32" y="1487"/>
                    </a:lnTo>
                    <a:lnTo>
                      <a:pt x="46" y="1509"/>
                    </a:lnTo>
                    <a:lnTo>
                      <a:pt x="62" y="1529"/>
                    </a:lnTo>
                    <a:lnTo>
                      <a:pt x="80" y="1549"/>
                    </a:lnTo>
                    <a:lnTo>
                      <a:pt x="100" y="1566"/>
                    </a:lnTo>
                    <a:lnTo>
                      <a:pt x="120" y="1582"/>
                    </a:lnTo>
                    <a:lnTo>
                      <a:pt x="142" y="1596"/>
                    </a:lnTo>
                    <a:lnTo>
                      <a:pt x="165" y="1606"/>
                    </a:lnTo>
                    <a:lnTo>
                      <a:pt x="191" y="1616"/>
                    </a:lnTo>
                    <a:lnTo>
                      <a:pt x="217" y="1622"/>
                    </a:lnTo>
                    <a:lnTo>
                      <a:pt x="243" y="1626"/>
                    </a:lnTo>
                    <a:lnTo>
                      <a:pt x="271" y="1628"/>
                    </a:lnTo>
                    <a:lnTo>
                      <a:pt x="1543" y="1628"/>
                    </a:lnTo>
                    <a:lnTo>
                      <a:pt x="1571" y="1626"/>
                    </a:lnTo>
                    <a:lnTo>
                      <a:pt x="1597" y="1622"/>
                    </a:lnTo>
                    <a:lnTo>
                      <a:pt x="1623" y="1616"/>
                    </a:lnTo>
                    <a:lnTo>
                      <a:pt x="1649" y="1606"/>
                    </a:lnTo>
                    <a:lnTo>
                      <a:pt x="1673" y="1596"/>
                    </a:lnTo>
                    <a:lnTo>
                      <a:pt x="1694" y="1582"/>
                    </a:lnTo>
                    <a:lnTo>
                      <a:pt x="1714" y="1566"/>
                    </a:lnTo>
                    <a:lnTo>
                      <a:pt x="1734" y="1549"/>
                    </a:lnTo>
                    <a:lnTo>
                      <a:pt x="1752" y="1529"/>
                    </a:lnTo>
                    <a:lnTo>
                      <a:pt x="1768" y="1509"/>
                    </a:lnTo>
                    <a:lnTo>
                      <a:pt x="1782" y="1487"/>
                    </a:lnTo>
                    <a:lnTo>
                      <a:pt x="1792" y="1463"/>
                    </a:lnTo>
                    <a:lnTo>
                      <a:pt x="1802" y="1437"/>
                    </a:lnTo>
                    <a:lnTo>
                      <a:pt x="1808" y="1411"/>
                    </a:lnTo>
                    <a:lnTo>
                      <a:pt x="1812" y="1385"/>
                    </a:lnTo>
                    <a:lnTo>
                      <a:pt x="1814" y="1357"/>
                    </a:lnTo>
                    <a:lnTo>
                      <a:pt x="1814" y="271"/>
                    </a:lnTo>
                    <a:lnTo>
                      <a:pt x="1812" y="244"/>
                    </a:lnTo>
                    <a:lnTo>
                      <a:pt x="1808" y="218"/>
                    </a:lnTo>
                    <a:lnTo>
                      <a:pt x="1802" y="192"/>
                    </a:lnTo>
                    <a:lnTo>
                      <a:pt x="1792" y="166"/>
                    </a:lnTo>
                    <a:lnTo>
                      <a:pt x="1782" y="142"/>
                    </a:lnTo>
                    <a:lnTo>
                      <a:pt x="1768" y="120"/>
                    </a:lnTo>
                    <a:lnTo>
                      <a:pt x="1752" y="100"/>
                    </a:lnTo>
                    <a:lnTo>
                      <a:pt x="1734" y="80"/>
                    </a:lnTo>
                    <a:lnTo>
                      <a:pt x="1714" y="62"/>
                    </a:lnTo>
                    <a:lnTo>
                      <a:pt x="1694" y="46"/>
                    </a:lnTo>
                    <a:lnTo>
                      <a:pt x="1673" y="32"/>
                    </a:lnTo>
                    <a:lnTo>
                      <a:pt x="1649" y="22"/>
                    </a:lnTo>
                    <a:lnTo>
                      <a:pt x="1623" y="12"/>
                    </a:lnTo>
                    <a:lnTo>
                      <a:pt x="1597" y="6"/>
                    </a:lnTo>
                    <a:lnTo>
                      <a:pt x="1571" y="2"/>
                    </a:lnTo>
                    <a:lnTo>
                      <a:pt x="1543" y="0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EAEAEA"/>
              </a:solidFill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21815" name="Group 378">
                <a:extLst>
                  <a:ext uri="{FF2B5EF4-FFF2-40B4-BE49-F238E27FC236}">
                    <a16:creationId xmlns:a16="http://schemas.microsoft.com/office/drawing/2014/main" id="{2C0E83C2-FD96-AF4C-A5B6-99C9C9F9C3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68" y="1953"/>
                <a:ext cx="797" cy="464"/>
                <a:chOff x="4668" y="1953"/>
                <a:chExt cx="797" cy="464"/>
              </a:xfrm>
            </p:grpSpPr>
            <p:sp>
              <p:nvSpPr>
                <p:cNvPr id="21819" name="Rectangle 366">
                  <a:extLst>
                    <a:ext uri="{FF2B5EF4-FFF2-40B4-BE49-F238E27FC236}">
                      <a16:creationId xmlns:a16="http://schemas.microsoft.com/office/drawing/2014/main" id="{3E058379-5758-104A-97B0-F33A19C1AC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59" y="1953"/>
                  <a:ext cx="573" cy="352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21820" name="Rectangle 367">
                  <a:extLst>
                    <a:ext uri="{FF2B5EF4-FFF2-40B4-BE49-F238E27FC236}">
                      <a16:creationId xmlns:a16="http://schemas.microsoft.com/office/drawing/2014/main" id="{AF239807-C516-304D-8AE0-79DB1BB6BB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94" y="1964"/>
                  <a:ext cx="57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Princípio de </a:t>
                  </a:r>
                  <a:endParaRPr lang="pt-BR" altLang="pt-BR" sz="2000"/>
                </a:p>
              </p:txBody>
            </p:sp>
            <p:sp>
              <p:nvSpPr>
                <p:cNvPr id="21821" name="Rectangle 368">
                  <a:extLst>
                    <a:ext uri="{FF2B5EF4-FFF2-40B4-BE49-F238E27FC236}">
                      <a16:creationId xmlns:a16="http://schemas.microsoft.com/office/drawing/2014/main" id="{C95A02FA-D528-C040-A9F6-6CD4AC6457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81" y="2079"/>
                  <a:ext cx="39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solução </a:t>
                  </a:r>
                  <a:endParaRPr lang="pt-BR" altLang="pt-BR" sz="2000"/>
                </a:p>
              </p:txBody>
            </p:sp>
            <p:sp>
              <p:nvSpPr>
                <p:cNvPr id="21822" name="Rectangle 369">
                  <a:extLst>
                    <a:ext uri="{FF2B5EF4-FFF2-40B4-BE49-F238E27FC236}">
                      <a16:creationId xmlns:a16="http://schemas.microsoft.com/office/drawing/2014/main" id="{7ED7ABD6-060F-CC42-A0BA-4A6DFFE913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48" y="2194"/>
                  <a:ext cx="435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individual</a:t>
                  </a:r>
                  <a:endParaRPr lang="pt-BR" altLang="pt-BR" sz="2000"/>
                </a:p>
              </p:txBody>
            </p:sp>
            <p:sp>
              <p:nvSpPr>
                <p:cNvPr id="21823" name="Rectangle 370">
                  <a:extLst>
                    <a:ext uri="{FF2B5EF4-FFF2-40B4-BE49-F238E27FC236}">
                      <a16:creationId xmlns:a16="http://schemas.microsoft.com/office/drawing/2014/main" id="{14233F19-725F-BF4A-8BDC-315A6FE5C3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63" y="2001"/>
                  <a:ext cx="574" cy="351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21824" name="Rectangle 371">
                  <a:extLst>
                    <a:ext uri="{FF2B5EF4-FFF2-40B4-BE49-F238E27FC236}">
                      <a16:creationId xmlns:a16="http://schemas.microsoft.com/office/drawing/2014/main" id="{0F95F918-0F3A-5C4E-B9DA-F3A165EA96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98" y="2012"/>
                  <a:ext cx="57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Princípio de </a:t>
                  </a:r>
                  <a:endParaRPr lang="pt-BR" altLang="pt-BR" sz="2000"/>
                </a:p>
              </p:txBody>
            </p:sp>
            <p:sp>
              <p:nvSpPr>
                <p:cNvPr id="21825" name="Rectangle 372">
                  <a:extLst>
                    <a:ext uri="{FF2B5EF4-FFF2-40B4-BE49-F238E27FC236}">
                      <a16:creationId xmlns:a16="http://schemas.microsoft.com/office/drawing/2014/main" id="{43C9B168-56CA-5B4B-AFE3-F62A816184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86" y="2127"/>
                  <a:ext cx="39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solução </a:t>
                  </a:r>
                  <a:endParaRPr lang="pt-BR" altLang="pt-BR" sz="2000"/>
                </a:p>
              </p:txBody>
            </p:sp>
            <p:sp>
              <p:nvSpPr>
                <p:cNvPr id="21826" name="Rectangle 373">
                  <a:extLst>
                    <a:ext uri="{FF2B5EF4-FFF2-40B4-BE49-F238E27FC236}">
                      <a16:creationId xmlns:a16="http://schemas.microsoft.com/office/drawing/2014/main" id="{D78CD3A8-1C43-264B-BA92-A3B389399C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53" y="2241"/>
                  <a:ext cx="435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individual</a:t>
                  </a:r>
                  <a:endParaRPr lang="pt-BR" altLang="pt-BR" sz="2000"/>
                </a:p>
              </p:txBody>
            </p:sp>
            <p:sp>
              <p:nvSpPr>
                <p:cNvPr id="21827" name="Rectangle 374">
                  <a:extLst>
                    <a:ext uri="{FF2B5EF4-FFF2-40B4-BE49-F238E27FC236}">
                      <a16:creationId xmlns:a16="http://schemas.microsoft.com/office/drawing/2014/main" id="{C973528D-C533-B247-A79C-009A9C0F5A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8" y="2049"/>
                  <a:ext cx="574" cy="351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21828" name="Rectangle 375">
                  <a:extLst>
                    <a:ext uri="{FF2B5EF4-FFF2-40B4-BE49-F238E27FC236}">
                      <a16:creationId xmlns:a16="http://schemas.microsoft.com/office/drawing/2014/main" id="{2449F5F3-E482-E943-896A-E849575F4C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03" y="2060"/>
                  <a:ext cx="57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Princípio de </a:t>
                  </a:r>
                  <a:endParaRPr lang="pt-BR" altLang="pt-BR" sz="2000"/>
                </a:p>
              </p:txBody>
            </p:sp>
            <p:sp>
              <p:nvSpPr>
                <p:cNvPr id="21829" name="Rectangle 376">
                  <a:extLst>
                    <a:ext uri="{FF2B5EF4-FFF2-40B4-BE49-F238E27FC236}">
                      <a16:creationId xmlns:a16="http://schemas.microsoft.com/office/drawing/2014/main" id="{5144A284-6677-D14E-97B3-5D93D3016E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90" y="2175"/>
                  <a:ext cx="39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solução </a:t>
                  </a:r>
                  <a:endParaRPr lang="pt-BR" altLang="pt-BR" sz="2000"/>
                </a:p>
              </p:txBody>
            </p:sp>
            <p:sp>
              <p:nvSpPr>
                <p:cNvPr id="21830" name="Rectangle 377">
                  <a:extLst>
                    <a:ext uri="{FF2B5EF4-FFF2-40B4-BE49-F238E27FC236}">
                      <a16:creationId xmlns:a16="http://schemas.microsoft.com/office/drawing/2014/main" id="{F059C0CA-1BED-314E-B772-CB09998826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57" y="2289"/>
                  <a:ext cx="435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individual</a:t>
                  </a:r>
                  <a:endParaRPr lang="pt-BR" altLang="pt-BR" sz="2000"/>
                </a:p>
              </p:txBody>
            </p:sp>
          </p:grpSp>
          <p:sp>
            <p:nvSpPr>
              <p:cNvPr id="21816" name="Rectangle 379">
                <a:extLst>
                  <a:ext uri="{FF2B5EF4-FFF2-40B4-BE49-F238E27FC236}">
                    <a16:creationId xmlns:a16="http://schemas.microsoft.com/office/drawing/2014/main" id="{1564593E-9C2B-6741-815D-1650D61049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3" y="2528"/>
                <a:ext cx="587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817" name="Rectangle 380">
                <a:extLst>
                  <a:ext uri="{FF2B5EF4-FFF2-40B4-BE49-F238E27FC236}">
                    <a16:creationId xmlns:a16="http://schemas.microsoft.com/office/drawing/2014/main" id="{CD5A80D0-8D4E-3146-BDC6-794EF15F0B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5" y="2539"/>
                <a:ext cx="57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Princípio de </a:t>
                </a:r>
                <a:endParaRPr lang="pt-BR" altLang="pt-BR" sz="2000"/>
              </a:p>
            </p:txBody>
          </p:sp>
          <p:sp>
            <p:nvSpPr>
              <p:cNvPr id="21818" name="Rectangle 381">
                <a:extLst>
                  <a:ext uri="{FF2B5EF4-FFF2-40B4-BE49-F238E27FC236}">
                    <a16:creationId xmlns:a16="http://schemas.microsoft.com/office/drawing/2014/main" id="{59C71DC3-CA5F-BA45-984A-397C2331EF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9" y="2654"/>
                <a:ext cx="57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solução total</a:t>
                </a:r>
                <a:endParaRPr lang="pt-BR" altLang="pt-BR" sz="2000"/>
              </a:p>
            </p:txBody>
          </p:sp>
        </p:grpSp>
        <p:sp>
          <p:nvSpPr>
            <p:cNvPr id="21619" name="Freeform 383">
              <a:extLst>
                <a:ext uri="{FF2B5EF4-FFF2-40B4-BE49-F238E27FC236}">
                  <a16:creationId xmlns:a16="http://schemas.microsoft.com/office/drawing/2014/main" id="{19C46CE5-D561-4A4C-BC1A-5C9A8530EB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0" y="1810"/>
              <a:ext cx="2005" cy="1053"/>
            </a:xfrm>
            <a:custGeom>
              <a:avLst/>
              <a:gdLst>
                <a:gd name="T0" fmla="*/ 1 w 4008"/>
                <a:gd name="T1" fmla="*/ 0 h 2107"/>
                <a:gd name="T2" fmla="*/ 1 w 4008"/>
                <a:gd name="T3" fmla="*/ 0 h 2107"/>
                <a:gd name="T4" fmla="*/ 1 w 4008"/>
                <a:gd name="T5" fmla="*/ 0 h 2107"/>
                <a:gd name="T6" fmla="*/ 1 w 4008"/>
                <a:gd name="T7" fmla="*/ 0 h 2107"/>
                <a:gd name="T8" fmla="*/ 1 w 4008"/>
                <a:gd name="T9" fmla="*/ 0 h 2107"/>
                <a:gd name="T10" fmla="*/ 1 w 4008"/>
                <a:gd name="T11" fmla="*/ 0 h 2107"/>
                <a:gd name="T12" fmla="*/ 1 w 4008"/>
                <a:gd name="T13" fmla="*/ 0 h 2107"/>
                <a:gd name="T14" fmla="*/ 1 w 4008"/>
                <a:gd name="T15" fmla="*/ 0 h 2107"/>
                <a:gd name="T16" fmla="*/ 0 w 4008"/>
                <a:gd name="T17" fmla="*/ 0 h 2107"/>
                <a:gd name="T18" fmla="*/ 1 w 4008"/>
                <a:gd name="T19" fmla="*/ 0 h 2107"/>
                <a:gd name="T20" fmla="*/ 1 w 4008"/>
                <a:gd name="T21" fmla="*/ 0 h 2107"/>
                <a:gd name="T22" fmla="*/ 1 w 4008"/>
                <a:gd name="T23" fmla="*/ 0 h 2107"/>
                <a:gd name="T24" fmla="*/ 1 w 4008"/>
                <a:gd name="T25" fmla="*/ 0 h 2107"/>
                <a:gd name="T26" fmla="*/ 1 w 4008"/>
                <a:gd name="T27" fmla="*/ 0 h 2107"/>
                <a:gd name="T28" fmla="*/ 1 w 4008"/>
                <a:gd name="T29" fmla="*/ 0 h 2107"/>
                <a:gd name="T30" fmla="*/ 1 w 4008"/>
                <a:gd name="T31" fmla="*/ 0 h 2107"/>
                <a:gd name="T32" fmla="*/ 1 w 4008"/>
                <a:gd name="T33" fmla="*/ 0 h 2107"/>
                <a:gd name="T34" fmla="*/ 1 w 4008"/>
                <a:gd name="T35" fmla="*/ 0 h 2107"/>
                <a:gd name="T36" fmla="*/ 1 w 4008"/>
                <a:gd name="T37" fmla="*/ 0 h 2107"/>
                <a:gd name="T38" fmla="*/ 1 w 4008"/>
                <a:gd name="T39" fmla="*/ 0 h 2107"/>
                <a:gd name="T40" fmla="*/ 1 w 4008"/>
                <a:gd name="T41" fmla="*/ 0 h 2107"/>
                <a:gd name="T42" fmla="*/ 1 w 4008"/>
                <a:gd name="T43" fmla="*/ 0 h 2107"/>
                <a:gd name="T44" fmla="*/ 1 w 4008"/>
                <a:gd name="T45" fmla="*/ 0 h 2107"/>
                <a:gd name="T46" fmla="*/ 1 w 4008"/>
                <a:gd name="T47" fmla="*/ 0 h 2107"/>
                <a:gd name="T48" fmla="*/ 1 w 4008"/>
                <a:gd name="T49" fmla="*/ 0 h 2107"/>
                <a:gd name="T50" fmla="*/ 1 w 4008"/>
                <a:gd name="T51" fmla="*/ 0 h 2107"/>
                <a:gd name="T52" fmla="*/ 1 w 4008"/>
                <a:gd name="T53" fmla="*/ 0 h 2107"/>
                <a:gd name="T54" fmla="*/ 1 w 4008"/>
                <a:gd name="T55" fmla="*/ 0 h 2107"/>
                <a:gd name="T56" fmla="*/ 1 w 4008"/>
                <a:gd name="T57" fmla="*/ 0 h 2107"/>
                <a:gd name="T58" fmla="*/ 1 w 4008"/>
                <a:gd name="T59" fmla="*/ 0 h 2107"/>
                <a:gd name="T60" fmla="*/ 1 w 4008"/>
                <a:gd name="T61" fmla="*/ 0 h 2107"/>
                <a:gd name="T62" fmla="*/ 1 w 4008"/>
                <a:gd name="T63" fmla="*/ 0 h 2107"/>
                <a:gd name="T64" fmla="*/ 1 w 4008"/>
                <a:gd name="T65" fmla="*/ 0 h 2107"/>
                <a:gd name="T66" fmla="*/ 1 w 4008"/>
                <a:gd name="T67" fmla="*/ 0 h 210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4008"/>
                <a:gd name="T103" fmla="*/ 0 h 2107"/>
                <a:gd name="T104" fmla="*/ 4008 w 4008"/>
                <a:gd name="T105" fmla="*/ 2107 h 2107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4008" h="2107">
                  <a:moveTo>
                    <a:pt x="350" y="0"/>
                  </a:moveTo>
                  <a:lnTo>
                    <a:pt x="314" y="2"/>
                  </a:lnTo>
                  <a:lnTo>
                    <a:pt x="280" y="8"/>
                  </a:lnTo>
                  <a:lnTo>
                    <a:pt x="246" y="16"/>
                  </a:lnTo>
                  <a:lnTo>
                    <a:pt x="215" y="28"/>
                  </a:lnTo>
                  <a:lnTo>
                    <a:pt x="183" y="42"/>
                  </a:lnTo>
                  <a:lnTo>
                    <a:pt x="155" y="60"/>
                  </a:lnTo>
                  <a:lnTo>
                    <a:pt x="127" y="80"/>
                  </a:lnTo>
                  <a:lnTo>
                    <a:pt x="103" y="104"/>
                  </a:lnTo>
                  <a:lnTo>
                    <a:pt x="79" y="128"/>
                  </a:lnTo>
                  <a:lnTo>
                    <a:pt x="59" y="156"/>
                  </a:lnTo>
                  <a:lnTo>
                    <a:pt x="42" y="184"/>
                  </a:lnTo>
                  <a:lnTo>
                    <a:pt x="28" y="216"/>
                  </a:lnTo>
                  <a:lnTo>
                    <a:pt x="16" y="248"/>
                  </a:lnTo>
                  <a:lnTo>
                    <a:pt x="8" y="282"/>
                  </a:lnTo>
                  <a:lnTo>
                    <a:pt x="2" y="316"/>
                  </a:lnTo>
                  <a:lnTo>
                    <a:pt x="0" y="352"/>
                  </a:lnTo>
                  <a:lnTo>
                    <a:pt x="0" y="1756"/>
                  </a:lnTo>
                  <a:lnTo>
                    <a:pt x="2" y="1792"/>
                  </a:lnTo>
                  <a:lnTo>
                    <a:pt x="8" y="1826"/>
                  </a:lnTo>
                  <a:lnTo>
                    <a:pt x="16" y="1860"/>
                  </a:lnTo>
                  <a:lnTo>
                    <a:pt x="28" y="1892"/>
                  </a:lnTo>
                  <a:lnTo>
                    <a:pt x="42" y="1924"/>
                  </a:lnTo>
                  <a:lnTo>
                    <a:pt x="59" y="1952"/>
                  </a:lnTo>
                  <a:lnTo>
                    <a:pt x="79" y="1980"/>
                  </a:lnTo>
                  <a:lnTo>
                    <a:pt x="103" y="2004"/>
                  </a:lnTo>
                  <a:lnTo>
                    <a:pt x="127" y="2028"/>
                  </a:lnTo>
                  <a:lnTo>
                    <a:pt x="155" y="2048"/>
                  </a:lnTo>
                  <a:lnTo>
                    <a:pt x="183" y="2066"/>
                  </a:lnTo>
                  <a:lnTo>
                    <a:pt x="215" y="2080"/>
                  </a:lnTo>
                  <a:lnTo>
                    <a:pt x="246" y="2091"/>
                  </a:lnTo>
                  <a:lnTo>
                    <a:pt x="280" y="2099"/>
                  </a:lnTo>
                  <a:lnTo>
                    <a:pt x="314" y="2105"/>
                  </a:lnTo>
                  <a:lnTo>
                    <a:pt x="350" y="2107"/>
                  </a:lnTo>
                  <a:lnTo>
                    <a:pt x="3658" y="2107"/>
                  </a:lnTo>
                  <a:lnTo>
                    <a:pt x="3694" y="2105"/>
                  </a:lnTo>
                  <a:lnTo>
                    <a:pt x="3728" y="2099"/>
                  </a:lnTo>
                  <a:lnTo>
                    <a:pt x="3762" y="2091"/>
                  </a:lnTo>
                  <a:lnTo>
                    <a:pt x="3793" y="2080"/>
                  </a:lnTo>
                  <a:lnTo>
                    <a:pt x="3825" y="2066"/>
                  </a:lnTo>
                  <a:lnTo>
                    <a:pt x="3853" y="2048"/>
                  </a:lnTo>
                  <a:lnTo>
                    <a:pt x="3881" y="2028"/>
                  </a:lnTo>
                  <a:lnTo>
                    <a:pt x="3905" y="2004"/>
                  </a:lnTo>
                  <a:lnTo>
                    <a:pt x="3929" y="1980"/>
                  </a:lnTo>
                  <a:lnTo>
                    <a:pt x="3949" y="1952"/>
                  </a:lnTo>
                  <a:lnTo>
                    <a:pt x="3966" y="1924"/>
                  </a:lnTo>
                  <a:lnTo>
                    <a:pt x="3980" y="1892"/>
                  </a:lnTo>
                  <a:lnTo>
                    <a:pt x="3992" y="1860"/>
                  </a:lnTo>
                  <a:lnTo>
                    <a:pt x="4000" y="1826"/>
                  </a:lnTo>
                  <a:lnTo>
                    <a:pt x="4006" y="1792"/>
                  </a:lnTo>
                  <a:lnTo>
                    <a:pt x="4008" y="1756"/>
                  </a:lnTo>
                  <a:lnTo>
                    <a:pt x="4008" y="352"/>
                  </a:lnTo>
                  <a:lnTo>
                    <a:pt x="4006" y="316"/>
                  </a:lnTo>
                  <a:lnTo>
                    <a:pt x="4000" y="282"/>
                  </a:lnTo>
                  <a:lnTo>
                    <a:pt x="3992" y="248"/>
                  </a:lnTo>
                  <a:lnTo>
                    <a:pt x="3980" y="216"/>
                  </a:lnTo>
                  <a:lnTo>
                    <a:pt x="3966" y="184"/>
                  </a:lnTo>
                  <a:lnTo>
                    <a:pt x="3949" y="156"/>
                  </a:lnTo>
                  <a:lnTo>
                    <a:pt x="3929" y="128"/>
                  </a:lnTo>
                  <a:lnTo>
                    <a:pt x="3905" y="104"/>
                  </a:lnTo>
                  <a:lnTo>
                    <a:pt x="3881" y="80"/>
                  </a:lnTo>
                  <a:lnTo>
                    <a:pt x="3853" y="60"/>
                  </a:lnTo>
                  <a:lnTo>
                    <a:pt x="3825" y="42"/>
                  </a:lnTo>
                  <a:lnTo>
                    <a:pt x="3793" y="28"/>
                  </a:lnTo>
                  <a:lnTo>
                    <a:pt x="3762" y="16"/>
                  </a:lnTo>
                  <a:lnTo>
                    <a:pt x="3728" y="8"/>
                  </a:lnTo>
                  <a:lnTo>
                    <a:pt x="3694" y="2"/>
                  </a:lnTo>
                  <a:lnTo>
                    <a:pt x="3658" y="0"/>
                  </a:lnTo>
                  <a:lnTo>
                    <a:pt x="350" y="0"/>
                  </a:lnTo>
                  <a:close/>
                </a:path>
              </a:pathLst>
            </a:custGeom>
            <a:solidFill>
              <a:srgbClr val="FFFFFF"/>
            </a:solidFill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620" name="Freeform 384">
              <a:extLst>
                <a:ext uri="{FF2B5EF4-FFF2-40B4-BE49-F238E27FC236}">
                  <a16:creationId xmlns:a16="http://schemas.microsoft.com/office/drawing/2014/main" id="{0E81CFA4-2920-FF4D-A20E-0CF8DA13D4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8" y="1858"/>
              <a:ext cx="907" cy="814"/>
            </a:xfrm>
            <a:custGeom>
              <a:avLst/>
              <a:gdLst>
                <a:gd name="T0" fmla="*/ 1 w 1814"/>
                <a:gd name="T1" fmla="*/ 1 h 1628"/>
                <a:gd name="T2" fmla="*/ 1 w 1814"/>
                <a:gd name="T3" fmla="*/ 1 h 1628"/>
                <a:gd name="T4" fmla="*/ 1 w 1814"/>
                <a:gd name="T5" fmla="*/ 1 h 1628"/>
                <a:gd name="T6" fmla="*/ 1 w 1814"/>
                <a:gd name="T7" fmla="*/ 1 h 1628"/>
                <a:gd name="T8" fmla="*/ 1 w 1814"/>
                <a:gd name="T9" fmla="*/ 1 h 1628"/>
                <a:gd name="T10" fmla="*/ 1 w 1814"/>
                <a:gd name="T11" fmla="*/ 1 h 1628"/>
                <a:gd name="T12" fmla="*/ 1 w 1814"/>
                <a:gd name="T13" fmla="*/ 1 h 1628"/>
                <a:gd name="T14" fmla="*/ 1 w 1814"/>
                <a:gd name="T15" fmla="*/ 1 h 1628"/>
                <a:gd name="T16" fmla="*/ 0 w 1814"/>
                <a:gd name="T17" fmla="*/ 1 h 1628"/>
                <a:gd name="T18" fmla="*/ 1 w 1814"/>
                <a:gd name="T19" fmla="*/ 1 h 1628"/>
                <a:gd name="T20" fmla="*/ 1 w 1814"/>
                <a:gd name="T21" fmla="*/ 1 h 1628"/>
                <a:gd name="T22" fmla="*/ 1 w 1814"/>
                <a:gd name="T23" fmla="*/ 1 h 1628"/>
                <a:gd name="T24" fmla="*/ 1 w 1814"/>
                <a:gd name="T25" fmla="*/ 1 h 1628"/>
                <a:gd name="T26" fmla="*/ 1 w 1814"/>
                <a:gd name="T27" fmla="*/ 1 h 1628"/>
                <a:gd name="T28" fmla="*/ 1 w 1814"/>
                <a:gd name="T29" fmla="*/ 1 h 1628"/>
                <a:gd name="T30" fmla="*/ 1 w 1814"/>
                <a:gd name="T31" fmla="*/ 1 h 1628"/>
                <a:gd name="T32" fmla="*/ 1 w 1814"/>
                <a:gd name="T33" fmla="*/ 1 h 1628"/>
                <a:gd name="T34" fmla="*/ 1 w 1814"/>
                <a:gd name="T35" fmla="*/ 1 h 1628"/>
                <a:gd name="T36" fmla="*/ 1 w 1814"/>
                <a:gd name="T37" fmla="*/ 1 h 1628"/>
                <a:gd name="T38" fmla="*/ 1 w 1814"/>
                <a:gd name="T39" fmla="*/ 1 h 1628"/>
                <a:gd name="T40" fmla="*/ 1 w 1814"/>
                <a:gd name="T41" fmla="*/ 1 h 1628"/>
                <a:gd name="T42" fmla="*/ 1 w 1814"/>
                <a:gd name="T43" fmla="*/ 1 h 1628"/>
                <a:gd name="T44" fmla="*/ 1 w 1814"/>
                <a:gd name="T45" fmla="*/ 1 h 1628"/>
                <a:gd name="T46" fmla="*/ 1 w 1814"/>
                <a:gd name="T47" fmla="*/ 1 h 1628"/>
                <a:gd name="T48" fmla="*/ 1 w 1814"/>
                <a:gd name="T49" fmla="*/ 1 h 1628"/>
                <a:gd name="T50" fmla="*/ 1 w 1814"/>
                <a:gd name="T51" fmla="*/ 1 h 1628"/>
                <a:gd name="T52" fmla="*/ 1 w 1814"/>
                <a:gd name="T53" fmla="*/ 1 h 1628"/>
                <a:gd name="T54" fmla="*/ 1 w 1814"/>
                <a:gd name="T55" fmla="*/ 1 h 1628"/>
                <a:gd name="T56" fmla="*/ 1 w 1814"/>
                <a:gd name="T57" fmla="*/ 1 h 1628"/>
                <a:gd name="T58" fmla="*/ 1 w 1814"/>
                <a:gd name="T59" fmla="*/ 1 h 1628"/>
                <a:gd name="T60" fmla="*/ 1 w 1814"/>
                <a:gd name="T61" fmla="*/ 1 h 1628"/>
                <a:gd name="T62" fmla="*/ 1 w 1814"/>
                <a:gd name="T63" fmla="*/ 1 h 1628"/>
                <a:gd name="T64" fmla="*/ 1 w 1814"/>
                <a:gd name="T65" fmla="*/ 1 h 1628"/>
                <a:gd name="T66" fmla="*/ 1 w 1814"/>
                <a:gd name="T67" fmla="*/ 0 h 162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814"/>
                <a:gd name="T103" fmla="*/ 0 h 1628"/>
                <a:gd name="T104" fmla="*/ 1814 w 1814"/>
                <a:gd name="T105" fmla="*/ 1628 h 1628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814" h="1628">
                  <a:moveTo>
                    <a:pt x="271" y="0"/>
                  </a:moveTo>
                  <a:lnTo>
                    <a:pt x="243" y="2"/>
                  </a:lnTo>
                  <a:lnTo>
                    <a:pt x="217" y="6"/>
                  </a:lnTo>
                  <a:lnTo>
                    <a:pt x="191" y="12"/>
                  </a:lnTo>
                  <a:lnTo>
                    <a:pt x="165" y="22"/>
                  </a:lnTo>
                  <a:lnTo>
                    <a:pt x="141" y="32"/>
                  </a:lnTo>
                  <a:lnTo>
                    <a:pt x="120" y="46"/>
                  </a:lnTo>
                  <a:lnTo>
                    <a:pt x="100" y="62"/>
                  </a:lnTo>
                  <a:lnTo>
                    <a:pt x="80" y="80"/>
                  </a:lnTo>
                  <a:lnTo>
                    <a:pt x="62" y="100"/>
                  </a:lnTo>
                  <a:lnTo>
                    <a:pt x="46" y="120"/>
                  </a:lnTo>
                  <a:lnTo>
                    <a:pt x="32" y="142"/>
                  </a:lnTo>
                  <a:lnTo>
                    <a:pt x="22" y="166"/>
                  </a:lnTo>
                  <a:lnTo>
                    <a:pt x="12" y="192"/>
                  </a:lnTo>
                  <a:lnTo>
                    <a:pt x="6" y="218"/>
                  </a:lnTo>
                  <a:lnTo>
                    <a:pt x="2" y="244"/>
                  </a:lnTo>
                  <a:lnTo>
                    <a:pt x="0" y="271"/>
                  </a:lnTo>
                  <a:lnTo>
                    <a:pt x="0" y="1357"/>
                  </a:lnTo>
                  <a:lnTo>
                    <a:pt x="2" y="1385"/>
                  </a:lnTo>
                  <a:lnTo>
                    <a:pt x="6" y="1411"/>
                  </a:lnTo>
                  <a:lnTo>
                    <a:pt x="12" y="1437"/>
                  </a:lnTo>
                  <a:lnTo>
                    <a:pt x="22" y="1463"/>
                  </a:lnTo>
                  <a:lnTo>
                    <a:pt x="32" y="1487"/>
                  </a:lnTo>
                  <a:lnTo>
                    <a:pt x="46" y="1509"/>
                  </a:lnTo>
                  <a:lnTo>
                    <a:pt x="62" y="1529"/>
                  </a:lnTo>
                  <a:lnTo>
                    <a:pt x="80" y="1549"/>
                  </a:lnTo>
                  <a:lnTo>
                    <a:pt x="100" y="1566"/>
                  </a:lnTo>
                  <a:lnTo>
                    <a:pt x="120" y="1582"/>
                  </a:lnTo>
                  <a:lnTo>
                    <a:pt x="141" y="1596"/>
                  </a:lnTo>
                  <a:lnTo>
                    <a:pt x="165" y="1606"/>
                  </a:lnTo>
                  <a:lnTo>
                    <a:pt x="191" y="1616"/>
                  </a:lnTo>
                  <a:lnTo>
                    <a:pt x="217" y="1622"/>
                  </a:lnTo>
                  <a:lnTo>
                    <a:pt x="243" y="1626"/>
                  </a:lnTo>
                  <a:lnTo>
                    <a:pt x="271" y="1628"/>
                  </a:lnTo>
                  <a:lnTo>
                    <a:pt x="1543" y="1628"/>
                  </a:lnTo>
                  <a:lnTo>
                    <a:pt x="1571" y="1626"/>
                  </a:lnTo>
                  <a:lnTo>
                    <a:pt x="1597" y="1622"/>
                  </a:lnTo>
                  <a:lnTo>
                    <a:pt x="1623" y="1616"/>
                  </a:lnTo>
                  <a:lnTo>
                    <a:pt x="1649" y="1606"/>
                  </a:lnTo>
                  <a:lnTo>
                    <a:pt x="1672" y="1596"/>
                  </a:lnTo>
                  <a:lnTo>
                    <a:pt x="1694" y="1582"/>
                  </a:lnTo>
                  <a:lnTo>
                    <a:pt x="1714" y="1566"/>
                  </a:lnTo>
                  <a:lnTo>
                    <a:pt x="1734" y="1549"/>
                  </a:lnTo>
                  <a:lnTo>
                    <a:pt x="1752" y="1529"/>
                  </a:lnTo>
                  <a:lnTo>
                    <a:pt x="1768" y="1509"/>
                  </a:lnTo>
                  <a:lnTo>
                    <a:pt x="1782" y="1487"/>
                  </a:lnTo>
                  <a:lnTo>
                    <a:pt x="1792" y="1463"/>
                  </a:lnTo>
                  <a:lnTo>
                    <a:pt x="1802" y="1437"/>
                  </a:lnTo>
                  <a:lnTo>
                    <a:pt x="1808" y="1411"/>
                  </a:lnTo>
                  <a:lnTo>
                    <a:pt x="1812" y="1385"/>
                  </a:lnTo>
                  <a:lnTo>
                    <a:pt x="1814" y="1357"/>
                  </a:lnTo>
                  <a:lnTo>
                    <a:pt x="1814" y="271"/>
                  </a:lnTo>
                  <a:lnTo>
                    <a:pt x="1812" y="244"/>
                  </a:lnTo>
                  <a:lnTo>
                    <a:pt x="1808" y="218"/>
                  </a:lnTo>
                  <a:lnTo>
                    <a:pt x="1802" y="192"/>
                  </a:lnTo>
                  <a:lnTo>
                    <a:pt x="1792" y="166"/>
                  </a:lnTo>
                  <a:lnTo>
                    <a:pt x="1782" y="142"/>
                  </a:lnTo>
                  <a:lnTo>
                    <a:pt x="1768" y="120"/>
                  </a:lnTo>
                  <a:lnTo>
                    <a:pt x="1752" y="100"/>
                  </a:lnTo>
                  <a:lnTo>
                    <a:pt x="1734" y="80"/>
                  </a:lnTo>
                  <a:lnTo>
                    <a:pt x="1714" y="62"/>
                  </a:lnTo>
                  <a:lnTo>
                    <a:pt x="1694" y="46"/>
                  </a:lnTo>
                  <a:lnTo>
                    <a:pt x="1672" y="32"/>
                  </a:lnTo>
                  <a:lnTo>
                    <a:pt x="1649" y="22"/>
                  </a:lnTo>
                  <a:lnTo>
                    <a:pt x="1623" y="12"/>
                  </a:lnTo>
                  <a:lnTo>
                    <a:pt x="1597" y="6"/>
                  </a:lnTo>
                  <a:lnTo>
                    <a:pt x="1571" y="2"/>
                  </a:lnTo>
                  <a:lnTo>
                    <a:pt x="1543" y="0"/>
                  </a:lnTo>
                  <a:lnTo>
                    <a:pt x="271" y="0"/>
                  </a:lnTo>
                  <a:close/>
                </a:path>
              </a:pathLst>
            </a:custGeom>
            <a:solidFill>
              <a:srgbClr val="EAEAEA"/>
            </a:solidFill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21621" name="Group 397">
              <a:extLst>
                <a:ext uri="{FF2B5EF4-FFF2-40B4-BE49-F238E27FC236}">
                  <a16:creationId xmlns:a16="http://schemas.microsoft.com/office/drawing/2014/main" id="{2414B35E-D234-1B42-934A-D47DA2F980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66" y="1953"/>
              <a:ext cx="797" cy="464"/>
              <a:chOff x="3666" y="1953"/>
              <a:chExt cx="797" cy="464"/>
            </a:xfrm>
          </p:grpSpPr>
          <p:sp>
            <p:nvSpPr>
              <p:cNvPr id="21802" name="Rectangle 385">
                <a:extLst>
                  <a:ext uri="{FF2B5EF4-FFF2-40B4-BE49-F238E27FC236}">
                    <a16:creationId xmlns:a16="http://schemas.microsoft.com/office/drawing/2014/main" id="{A18D655C-3604-7648-B55A-21B5C3AE26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7" y="1953"/>
                <a:ext cx="573" cy="352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803" name="Rectangle 386">
                <a:extLst>
                  <a:ext uri="{FF2B5EF4-FFF2-40B4-BE49-F238E27FC236}">
                    <a16:creationId xmlns:a16="http://schemas.microsoft.com/office/drawing/2014/main" id="{D7524489-8D8F-CB41-90D5-B6A03CB497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92" y="1964"/>
                <a:ext cx="57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Princípio de </a:t>
                </a:r>
                <a:endParaRPr lang="pt-BR" altLang="pt-BR" sz="2000"/>
              </a:p>
            </p:txBody>
          </p:sp>
          <p:sp>
            <p:nvSpPr>
              <p:cNvPr id="21804" name="Rectangle 387">
                <a:extLst>
                  <a:ext uri="{FF2B5EF4-FFF2-40B4-BE49-F238E27FC236}">
                    <a16:creationId xmlns:a16="http://schemas.microsoft.com/office/drawing/2014/main" id="{A5670199-79D7-C14E-8893-7AD16521D1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9" y="2079"/>
                <a:ext cx="39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solução </a:t>
                </a:r>
                <a:endParaRPr lang="pt-BR" altLang="pt-BR" sz="2000"/>
              </a:p>
            </p:txBody>
          </p:sp>
          <p:sp>
            <p:nvSpPr>
              <p:cNvPr id="21805" name="Rectangle 388">
                <a:extLst>
                  <a:ext uri="{FF2B5EF4-FFF2-40B4-BE49-F238E27FC236}">
                    <a16:creationId xmlns:a16="http://schemas.microsoft.com/office/drawing/2014/main" id="{E57210B9-F854-924F-9D4F-B907F31C86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6" y="2194"/>
                <a:ext cx="43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individual</a:t>
                </a:r>
                <a:endParaRPr lang="pt-BR" altLang="pt-BR" sz="2000"/>
              </a:p>
            </p:txBody>
          </p:sp>
          <p:sp>
            <p:nvSpPr>
              <p:cNvPr id="21806" name="Rectangle 389">
                <a:extLst>
                  <a:ext uri="{FF2B5EF4-FFF2-40B4-BE49-F238E27FC236}">
                    <a16:creationId xmlns:a16="http://schemas.microsoft.com/office/drawing/2014/main" id="{70AB188A-97FD-EE4B-A55E-C7CEC32B49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1" y="2001"/>
                <a:ext cx="574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807" name="Rectangle 390">
                <a:extLst>
                  <a:ext uri="{FF2B5EF4-FFF2-40B4-BE49-F238E27FC236}">
                    <a16:creationId xmlns:a16="http://schemas.microsoft.com/office/drawing/2014/main" id="{6B20C841-145C-8049-B73B-B973637C1A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6" y="2012"/>
                <a:ext cx="57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Princípio de </a:t>
                </a:r>
                <a:endParaRPr lang="pt-BR" altLang="pt-BR" sz="2000"/>
              </a:p>
            </p:txBody>
          </p:sp>
          <p:sp>
            <p:nvSpPr>
              <p:cNvPr id="21808" name="Rectangle 391">
                <a:extLst>
                  <a:ext uri="{FF2B5EF4-FFF2-40B4-BE49-F238E27FC236}">
                    <a16:creationId xmlns:a16="http://schemas.microsoft.com/office/drawing/2014/main" id="{8EC4B404-64C7-BD46-AD97-642C446C03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4" y="2127"/>
                <a:ext cx="39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solução </a:t>
                </a:r>
                <a:endParaRPr lang="pt-BR" altLang="pt-BR" sz="2000"/>
              </a:p>
            </p:txBody>
          </p:sp>
          <p:sp>
            <p:nvSpPr>
              <p:cNvPr id="21809" name="Rectangle 392">
                <a:extLst>
                  <a:ext uri="{FF2B5EF4-FFF2-40B4-BE49-F238E27FC236}">
                    <a16:creationId xmlns:a16="http://schemas.microsoft.com/office/drawing/2014/main" id="{7A33DAC1-0019-7541-A188-D18ACB614B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1" y="2241"/>
                <a:ext cx="43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individual</a:t>
                </a:r>
                <a:endParaRPr lang="pt-BR" altLang="pt-BR" sz="2000"/>
              </a:p>
            </p:txBody>
          </p:sp>
          <p:sp>
            <p:nvSpPr>
              <p:cNvPr id="21810" name="Rectangle 393">
                <a:extLst>
                  <a:ext uri="{FF2B5EF4-FFF2-40B4-BE49-F238E27FC236}">
                    <a16:creationId xmlns:a16="http://schemas.microsoft.com/office/drawing/2014/main" id="{3D3327C0-50D7-1546-8B1C-42FF83318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6" y="2049"/>
                <a:ext cx="573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811" name="Rectangle 394">
                <a:extLst>
                  <a:ext uri="{FF2B5EF4-FFF2-40B4-BE49-F238E27FC236}">
                    <a16:creationId xmlns:a16="http://schemas.microsoft.com/office/drawing/2014/main" id="{D8B118FD-06AF-7542-8B95-0C89FF789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1" y="2060"/>
                <a:ext cx="57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Princípio de </a:t>
                </a:r>
                <a:endParaRPr lang="pt-BR" altLang="pt-BR" sz="2000"/>
              </a:p>
            </p:txBody>
          </p:sp>
          <p:sp>
            <p:nvSpPr>
              <p:cNvPr id="21812" name="Rectangle 395">
                <a:extLst>
                  <a:ext uri="{FF2B5EF4-FFF2-40B4-BE49-F238E27FC236}">
                    <a16:creationId xmlns:a16="http://schemas.microsoft.com/office/drawing/2014/main" id="{6FC09DE5-66EA-D54C-8E7F-1A379E089F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88" y="2175"/>
                <a:ext cx="39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solução </a:t>
                </a:r>
                <a:endParaRPr lang="pt-BR" altLang="pt-BR" sz="2000"/>
              </a:p>
            </p:txBody>
          </p:sp>
          <p:sp>
            <p:nvSpPr>
              <p:cNvPr id="21813" name="Rectangle 396">
                <a:extLst>
                  <a:ext uri="{FF2B5EF4-FFF2-40B4-BE49-F238E27FC236}">
                    <a16:creationId xmlns:a16="http://schemas.microsoft.com/office/drawing/2014/main" id="{FC54F615-D80B-8943-9412-860987EFF0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5" y="2289"/>
                <a:ext cx="43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individual</a:t>
                </a:r>
                <a:endParaRPr lang="pt-BR" altLang="pt-BR" sz="2000"/>
              </a:p>
            </p:txBody>
          </p:sp>
        </p:grpSp>
        <p:sp>
          <p:nvSpPr>
            <p:cNvPr id="21622" name="Rectangle 398">
              <a:extLst>
                <a:ext uri="{FF2B5EF4-FFF2-40B4-BE49-F238E27FC236}">
                  <a16:creationId xmlns:a16="http://schemas.microsoft.com/office/drawing/2014/main" id="{252872B5-87A4-0C42-BA13-38E26393A5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1" y="2528"/>
              <a:ext cx="587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23" name="Rectangle 399">
              <a:extLst>
                <a:ext uri="{FF2B5EF4-FFF2-40B4-BE49-F238E27FC236}">
                  <a16:creationId xmlns:a16="http://schemas.microsoft.com/office/drawing/2014/main" id="{7CF05B4E-A461-F84F-90F5-959EBD90F8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3" y="2539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1624" name="Rectangle 400">
              <a:extLst>
                <a:ext uri="{FF2B5EF4-FFF2-40B4-BE49-F238E27FC236}">
                  <a16:creationId xmlns:a16="http://schemas.microsoft.com/office/drawing/2014/main" id="{96F2208B-C5C2-E646-9877-929A343DA1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7" y="2654"/>
              <a:ext cx="57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total</a:t>
              </a:r>
              <a:endParaRPr lang="pt-BR" altLang="pt-BR" sz="2000"/>
            </a:p>
          </p:txBody>
        </p:sp>
        <p:sp>
          <p:nvSpPr>
            <p:cNvPr id="21625" name="Freeform 401">
              <a:extLst>
                <a:ext uri="{FF2B5EF4-FFF2-40B4-BE49-F238E27FC236}">
                  <a16:creationId xmlns:a16="http://schemas.microsoft.com/office/drawing/2014/main" id="{CA74CAD3-E024-1B48-B205-471317BF8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8" y="1858"/>
              <a:ext cx="907" cy="814"/>
            </a:xfrm>
            <a:custGeom>
              <a:avLst/>
              <a:gdLst>
                <a:gd name="T0" fmla="*/ 1 w 1814"/>
                <a:gd name="T1" fmla="*/ 1 h 1628"/>
                <a:gd name="T2" fmla="*/ 1 w 1814"/>
                <a:gd name="T3" fmla="*/ 1 h 1628"/>
                <a:gd name="T4" fmla="*/ 1 w 1814"/>
                <a:gd name="T5" fmla="*/ 1 h 1628"/>
                <a:gd name="T6" fmla="*/ 1 w 1814"/>
                <a:gd name="T7" fmla="*/ 1 h 1628"/>
                <a:gd name="T8" fmla="*/ 1 w 1814"/>
                <a:gd name="T9" fmla="*/ 1 h 1628"/>
                <a:gd name="T10" fmla="*/ 1 w 1814"/>
                <a:gd name="T11" fmla="*/ 1 h 1628"/>
                <a:gd name="T12" fmla="*/ 1 w 1814"/>
                <a:gd name="T13" fmla="*/ 1 h 1628"/>
                <a:gd name="T14" fmla="*/ 1 w 1814"/>
                <a:gd name="T15" fmla="*/ 1 h 1628"/>
                <a:gd name="T16" fmla="*/ 0 w 1814"/>
                <a:gd name="T17" fmla="*/ 1 h 1628"/>
                <a:gd name="T18" fmla="*/ 1 w 1814"/>
                <a:gd name="T19" fmla="*/ 1 h 1628"/>
                <a:gd name="T20" fmla="*/ 1 w 1814"/>
                <a:gd name="T21" fmla="*/ 1 h 1628"/>
                <a:gd name="T22" fmla="*/ 1 w 1814"/>
                <a:gd name="T23" fmla="*/ 1 h 1628"/>
                <a:gd name="T24" fmla="*/ 1 w 1814"/>
                <a:gd name="T25" fmla="*/ 1 h 1628"/>
                <a:gd name="T26" fmla="*/ 1 w 1814"/>
                <a:gd name="T27" fmla="*/ 1 h 1628"/>
                <a:gd name="T28" fmla="*/ 1 w 1814"/>
                <a:gd name="T29" fmla="*/ 1 h 1628"/>
                <a:gd name="T30" fmla="*/ 1 w 1814"/>
                <a:gd name="T31" fmla="*/ 1 h 1628"/>
                <a:gd name="T32" fmla="*/ 1 w 1814"/>
                <a:gd name="T33" fmla="*/ 1 h 1628"/>
                <a:gd name="T34" fmla="*/ 1 w 1814"/>
                <a:gd name="T35" fmla="*/ 1 h 1628"/>
                <a:gd name="T36" fmla="*/ 1 w 1814"/>
                <a:gd name="T37" fmla="*/ 1 h 1628"/>
                <a:gd name="T38" fmla="*/ 1 w 1814"/>
                <a:gd name="T39" fmla="*/ 1 h 1628"/>
                <a:gd name="T40" fmla="*/ 1 w 1814"/>
                <a:gd name="T41" fmla="*/ 1 h 1628"/>
                <a:gd name="T42" fmla="*/ 1 w 1814"/>
                <a:gd name="T43" fmla="*/ 1 h 1628"/>
                <a:gd name="T44" fmla="*/ 1 w 1814"/>
                <a:gd name="T45" fmla="*/ 1 h 1628"/>
                <a:gd name="T46" fmla="*/ 1 w 1814"/>
                <a:gd name="T47" fmla="*/ 1 h 1628"/>
                <a:gd name="T48" fmla="*/ 1 w 1814"/>
                <a:gd name="T49" fmla="*/ 1 h 1628"/>
                <a:gd name="T50" fmla="*/ 1 w 1814"/>
                <a:gd name="T51" fmla="*/ 1 h 1628"/>
                <a:gd name="T52" fmla="*/ 1 w 1814"/>
                <a:gd name="T53" fmla="*/ 1 h 1628"/>
                <a:gd name="T54" fmla="*/ 1 w 1814"/>
                <a:gd name="T55" fmla="*/ 1 h 1628"/>
                <a:gd name="T56" fmla="*/ 1 w 1814"/>
                <a:gd name="T57" fmla="*/ 1 h 1628"/>
                <a:gd name="T58" fmla="*/ 1 w 1814"/>
                <a:gd name="T59" fmla="*/ 1 h 1628"/>
                <a:gd name="T60" fmla="*/ 1 w 1814"/>
                <a:gd name="T61" fmla="*/ 1 h 1628"/>
                <a:gd name="T62" fmla="*/ 1 w 1814"/>
                <a:gd name="T63" fmla="*/ 1 h 1628"/>
                <a:gd name="T64" fmla="*/ 1 w 1814"/>
                <a:gd name="T65" fmla="*/ 1 h 1628"/>
                <a:gd name="T66" fmla="*/ 1 w 1814"/>
                <a:gd name="T67" fmla="*/ 0 h 162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814"/>
                <a:gd name="T103" fmla="*/ 0 h 1628"/>
                <a:gd name="T104" fmla="*/ 1814 w 1814"/>
                <a:gd name="T105" fmla="*/ 1628 h 1628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814" h="1628">
                  <a:moveTo>
                    <a:pt x="271" y="0"/>
                  </a:moveTo>
                  <a:lnTo>
                    <a:pt x="243" y="2"/>
                  </a:lnTo>
                  <a:lnTo>
                    <a:pt x="217" y="6"/>
                  </a:lnTo>
                  <a:lnTo>
                    <a:pt x="191" y="12"/>
                  </a:lnTo>
                  <a:lnTo>
                    <a:pt x="165" y="22"/>
                  </a:lnTo>
                  <a:lnTo>
                    <a:pt x="141" y="32"/>
                  </a:lnTo>
                  <a:lnTo>
                    <a:pt x="120" y="46"/>
                  </a:lnTo>
                  <a:lnTo>
                    <a:pt x="100" y="62"/>
                  </a:lnTo>
                  <a:lnTo>
                    <a:pt x="80" y="80"/>
                  </a:lnTo>
                  <a:lnTo>
                    <a:pt x="62" y="100"/>
                  </a:lnTo>
                  <a:lnTo>
                    <a:pt x="46" y="120"/>
                  </a:lnTo>
                  <a:lnTo>
                    <a:pt x="32" y="142"/>
                  </a:lnTo>
                  <a:lnTo>
                    <a:pt x="22" y="166"/>
                  </a:lnTo>
                  <a:lnTo>
                    <a:pt x="12" y="192"/>
                  </a:lnTo>
                  <a:lnTo>
                    <a:pt x="6" y="218"/>
                  </a:lnTo>
                  <a:lnTo>
                    <a:pt x="2" y="244"/>
                  </a:lnTo>
                  <a:lnTo>
                    <a:pt x="0" y="271"/>
                  </a:lnTo>
                  <a:lnTo>
                    <a:pt x="0" y="1357"/>
                  </a:lnTo>
                  <a:lnTo>
                    <a:pt x="2" y="1385"/>
                  </a:lnTo>
                  <a:lnTo>
                    <a:pt x="6" y="1411"/>
                  </a:lnTo>
                  <a:lnTo>
                    <a:pt x="12" y="1437"/>
                  </a:lnTo>
                  <a:lnTo>
                    <a:pt x="22" y="1463"/>
                  </a:lnTo>
                  <a:lnTo>
                    <a:pt x="32" y="1487"/>
                  </a:lnTo>
                  <a:lnTo>
                    <a:pt x="46" y="1509"/>
                  </a:lnTo>
                  <a:lnTo>
                    <a:pt x="62" y="1529"/>
                  </a:lnTo>
                  <a:lnTo>
                    <a:pt x="80" y="1549"/>
                  </a:lnTo>
                  <a:lnTo>
                    <a:pt x="100" y="1566"/>
                  </a:lnTo>
                  <a:lnTo>
                    <a:pt x="120" y="1582"/>
                  </a:lnTo>
                  <a:lnTo>
                    <a:pt x="141" y="1596"/>
                  </a:lnTo>
                  <a:lnTo>
                    <a:pt x="165" y="1606"/>
                  </a:lnTo>
                  <a:lnTo>
                    <a:pt x="191" y="1616"/>
                  </a:lnTo>
                  <a:lnTo>
                    <a:pt x="217" y="1622"/>
                  </a:lnTo>
                  <a:lnTo>
                    <a:pt x="243" y="1626"/>
                  </a:lnTo>
                  <a:lnTo>
                    <a:pt x="271" y="1628"/>
                  </a:lnTo>
                  <a:lnTo>
                    <a:pt x="1543" y="1628"/>
                  </a:lnTo>
                  <a:lnTo>
                    <a:pt x="1571" y="1626"/>
                  </a:lnTo>
                  <a:lnTo>
                    <a:pt x="1597" y="1622"/>
                  </a:lnTo>
                  <a:lnTo>
                    <a:pt x="1623" y="1616"/>
                  </a:lnTo>
                  <a:lnTo>
                    <a:pt x="1649" y="1606"/>
                  </a:lnTo>
                  <a:lnTo>
                    <a:pt x="1672" y="1596"/>
                  </a:lnTo>
                  <a:lnTo>
                    <a:pt x="1694" y="1582"/>
                  </a:lnTo>
                  <a:lnTo>
                    <a:pt x="1714" y="1566"/>
                  </a:lnTo>
                  <a:lnTo>
                    <a:pt x="1734" y="1549"/>
                  </a:lnTo>
                  <a:lnTo>
                    <a:pt x="1752" y="1529"/>
                  </a:lnTo>
                  <a:lnTo>
                    <a:pt x="1768" y="1509"/>
                  </a:lnTo>
                  <a:lnTo>
                    <a:pt x="1782" y="1487"/>
                  </a:lnTo>
                  <a:lnTo>
                    <a:pt x="1792" y="1463"/>
                  </a:lnTo>
                  <a:lnTo>
                    <a:pt x="1802" y="1437"/>
                  </a:lnTo>
                  <a:lnTo>
                    <a:pt x="1808" y="1411"/>
                  </a:lnTo>
                  <a:lnTo>
                    <a:pt x="1812" y="1385"/>
                  </a:lnTo>
                  <a:lnTo>
                    <a:pt x="1814" y="1357"/>
                  </a:lnTo>
                  <a:lnTo>
                    <a:pt x="1814" y="271"/>
                  </a:lnTo>
                  <a:lnTo>
                    <a:pt x="1812" y="244"/>
                  </a:lnTo>
                  <a:lnTo>
                    <a:pt x="1808" y="218"/>
                  </a:lnTo>
                  <a:lnTo>
                    <a:pt x="1802" y="192"/>
                  </a:lnTo>
                  <a:lnTo>
                    <a:pt x="1792" y="166"/>
                  </a:lnTo>
                  <a:lnTo>
                    <a:pt x="1782" y="142"/>
                  </a:lnTo>
                  <a:lnTo>
                    <a:pt x="1768" y="120"/>
                  </a:lnTo>
                  <a:lnTo>
                    <a:pt x="1752" y="100"/>
                  </a:lnTo>
                  <a:lnTo>
                    <a:pt x="1734" y="80"/>
                  </a:lnTo>
                  <a:lnTo>
                    <a:pt x="1714" y="62"/>
                  </a:lnTo>
                  <a:lnTo>
                    <a:pt x="1694" y="46"/>
                  </a:lnTo>
                  <a:lnTo>
                    <a:pt x="1672" y="32"/>
                  </a:lnTo>
                  <a:lnTo>
                    <a:pt x="1649" y="22"/>
                  </a:lnTo>
                  <a:lnTo>
                    <a:pt x="1623" y="12"/>
                  </a:lnTo>
                  <a:lnTo>
                    <a:pt x="1597" y="6"/>
                  </a:lnTo>
                  <a:lnTo>
                    <a:pt x="1571" y="2"/>
                  </a:lnTo>
                  <a:lnTo>
                    <a:pt x="1543" y="0"/>
                  </a:lnTo>
                  <a:lnTo>
                    <a:pt x="271" y="0"/>
                  </a:lnTo>
                  <a:close/>
                </a:path>
              </a:pathLst>
            </a:custGeom>
            <a:solidFill>
              <a:srgbClr val="EAEAEA"/>
            </a:solidFill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626" name="Rectangle 402">
              <a:extLst>
                <a:ext uri="{FF2B5EF4-FFF2-40B4-BE49-F238E27FC236}">
                  <a16:creationId xmlns:a16="http://schemas.microsoft.com/office/drawing/2014/main" id="{98AFDF7D-F271-494C-B1AF-EE59C2EE37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7" y="1953"/>
              <a:ext cx="573" cy="352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27" name="Rectangle 403">
              <a:extLst>
                <a:ext uri="{FF2B5EF4-FFF2-40B4-BE49-F238E27FC236}">
                  <a16:creationId xmlns:a16="http://schemas.microsoft.com/office/drawing/2014/main" id="{09B77764-9C88-0746-912B-C8EB218B3E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2" y="1964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1628" name="Rectangle 404">
              <a:extLst>
                <a:ext uri="{FF2B5EF4-FFF2-40B4-BE49-F238E27FC236}">
                  <a16:creationId xmlns:a16="http://schemas.microsoft.com/office/drawing/2014/main" id="{09BFA7C1-9CD7-EF41-9883-738CC35950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9" y="2079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 sz="2000"/>
            </a:p>
          </p:txBody>
        </p:sp>
        <p:sp>
          <p:nvSpPr>
            <p:cNvPr id="21629" name="Rectangle 405">
              <a:extLst>
                <a:ext uri="{FF2B5EF4-FFF2-40B4-BE49-F238E27FC236}">
                  <a16:creationId xmlns:a16="http://schemas.microsoft.com/office/drawing/2014/main" id="{2ACED0CC-DB4E-C74F-B507-C4EA01D2BD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6" y="2194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 sz="2000"/>
            </a:p>
          </p:txBody>
        </p:sp>
        <p:sp>
          <p:nvSpPr>
            <p:cNvPr id="21630" name="Rectangle 406">
              <a:extLst>
                <a:ext uri="{FF2B5EF4-FFF2-40B4-BE49-F238E27FC236}">
                  <a16:creationId xmlns:a16="http://schemas.microsoft.com/office/drawing/2014/main" id="{95787FD4-33D8-0A47-A90E-458E699702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1" y="2001"/>
              <a:ext cx="574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31" name="Rectangle 407">
              <a:extLst>
                <a:ext uri="{FF2B5EF4-FFF2-40B4-BE49-F238E27FC236}">
                  <a16:creationId xmlns:a16="http://schemas.microsoft.com/office/drawing/2014/main" id="{0087A714-852A-AD49-BEFD-64E36836C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6" y="2012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1632" name="Rectangle 408">
              <a:extLst>
                <a:ext uri="{FF2B5EF4-FFF2-40B4-BE49-F238E27FC236}">
                  <a16:creationId xmlns:a16="http://schemas.microsoft.com/office/drawing/2014/main" id="{625ADDF9-F25D-F148-8B0F-2FF52F03D1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4" y="2127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 sz="2000"/>
            </a:p>
          </p:txBody>
        </p:sp>
        <p:sp>
          <p:nvSpPr>
            <p:cNvPr id="21633" name="Rectangle 409">
              <a:extLst>
                <a:ext uri="{FF2B5EF4-FFF2-40B4-BE49-F238E27FC236}">
                  <a16:creationId xmlns:a16="http://schemas.microsoft.com/office/drawing/2014/main" id="{CA07ED0F-20CE-2B4D-BB27-B1D49DF674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1" y="2241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 sz="2000"/>
            </a:p>
          </p:txBody>
        </p:sp>
        <p:sp>
          <p:nvSpPr>
            <p:cNvPr id="21634" name="Rectangle 410">
              <a:extLst>
                <a:ext uri="{FF2B5EF4-FFF2-40B4-BE49-F238E27FC236}">
                  <a16:creationId xmlns:a16="http://schemas.microsoft.com/office/drawing/2014/main" id="{7173E909-8845-024B-8AAD-9451EE332B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6" y="2049"/>
              <a:ext cx="573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35" name="Rectangle 411">
              <a:extLst>
                <a:ext uri="{FF2B5EF4-FFF2-40B4-BE49-F238E27FC236}">
                  <a16:creationId xmlns:a16="http://schemas.microsoft.com/office/drawing/2014/main" id="{BDEAAB88-ADFE-E449-8A81-97AC26674F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1" y="2060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1636" name="Rectangle 412">
              <a:extLst>
                <a:ext uri="{FF2B5EF4-FFF2-40B4-BE49-F238E27FC236}">
                  <a16:creationId xmlns:a16="http://schemas.microsoft.com/office/drawing/2014/main" id="{F2468B32-8674-2F43-97C2-89E53197FF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8" y="2175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 sz="2000"/>
            </a:p>
          </p:txBody>
        </p:sp>
        <p:sp>
          <p:nvSpPr>
            <p:cNvPr id="21637" name="Rectangle 413">
              <a:extLst>
                <a:ext uri="{FF2B5EF4-FFF2-40B4-BE49-F238E27FC236}">
                  <a16:creationId xmlns:a16="http://schemas.microsoft.com/office/drawing/2014/main" id="{123DF9CF-678E-634C-9AFB-0AD1072C82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5" y="2289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 sz="2000"/>
            </a:p>
          </p:txBody>
        </p:sp>
        <p:sp>
          <p:nvSpPr>
            <p:cNvPr id="21638" name="Rectangle 414">
              <a:extLst>
                <a:ext uri="{FF2B5EF4-FFF2-40B4-BE49-F238E27FC236}">
                  <a16:creationId xmlns:a16="http://schemas.microsoft.com/office/drawing/2014/main" id="{4F5A07B5-05BB-6E40-8BC7-58CEAD3FD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7" y="1953"/>
              <a:ext cx="573" cy="352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39" name="Rectangle 415">
              <a:extLst>
                <a:ext uri="{FF2B5EF4-FFF2-40B4-BE49-F238E27FC236}">
                  <a16:creationId xmlns:a16="http://schemas.microsoft.com/office/drawing/2014/main" id="{DAFC77A6-BAB5-7B4F-AA46-CA90651D94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2" y="1964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1640" name="Rectangle 416">
              <a:extLst>
                <a:ext uri="{FF2B5EF4-FFF2-40B4-BE49-F238E27FC236}">
                  <a16:creationId xmlns:a16="http://schemas.microsoft.com/office/drawing/2014/main" id="{FA1C03E3-9E78-5B4E-A7D5-2185F3F762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9" y="2079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 sz="2000"/>
            </a:p>
          </p:txBody>
        </p:sp>
        <p:sp>
          <p:nvSpPr>
            <p:cNvPr id="21641" name="Rectangle 417">
              <a:extLst>
                <a:ext uri="{FF2B5EF4-FFF2-40B4-BE49-F238E27FC236}">
                  <a16:creationId xmlns:a16="http://schemas.microsoft.com/office/drawing/2014/main" id="{E634FFD5-0C19-2A41-9366-A99D5A9EAD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6" y="2194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 sz="2000"/>
            </a:p>
          </p:txBody>
        </p:sp>
        <p:sp>
          <p:nvSpPr>
            <p:cNvPr id="21642" name="Rectangle 418">
              <a:extLst>
                <a:ext uri="{FF2B5EF4-FFF2-40B4-BE49-F238E27FC236}">
                  <a16:creationId xmlns:a16="http://schemas.microsoft.com/office/drawing/2014/main" id="{9D0AE761-18A5-254E-80D9-9C19E9FEA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1" y="2001"/>
              <a:ext cx="574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43" name="Rectangle 419">
              <a:extLst>
                <a:ext uri="{FF2B5EF4-FFF2-40B4-BE49-F238E27FC236}">
                  <a16:creationId xmlns:a16="http://schemas.microsoft.com/office/drawing/2014/main" id="{677ADEA8-CD97-E145-9603-1E473B5E51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6" y="2012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1644" name="Rectangle 420">
              <a:extLst>
                <a:ext uri="{FF2B5EF4-FFF2-40B4-BE49-F238E27FC236}">
                  <a16:creationId xmlns:a16="http://schemas.microsoft.com/office/drawing/2014/main" id="{2F581BB5-F8EF-FD46-8D20-4808222C30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4" y="2127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 sz="2000"/>
            </a:p>
          </p:txBody>
        </p:sp>
        <p:sp>
          <p:nvSpPr>
            <p:cNvPr id="21645" name="Rectangle 421">
              <a:extLst>
                <a:ext uri="{FF2B5EF4-FFF2-40B4-BE49-F238E27FC236}">
                  <a16:creationId xmlns:a16="http://schemas.microsoft.com/office/drawing/2014/main" id="{955FDE68-0A0F-8B44-81AE-87BEAED807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1" y="2241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 sz="2000"/>
            </a:p>
          </p:txBody>
        </p:sp>
        <p:sp>
          <p:nvSpPr>
            <p:cNvPr id="21646" name="Rectangle 422">
              <a:extLst>
                <a:ext uri="{FF2B5EF4-FFF2-40B4-BE49-F238E27FC236}">
                  <a16:creationId xmlns:a16="http://schemas.microsoft.com/office/drawing/2014/main" id="{CEB02D34-FD53-6041-A6D7-7E9C9008CE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6" y="2049"/>
              <a:ext cx="573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47" name="Rectangle 423">
              <a:extLst>
                <a:ext uri="{FF2B5EF4-FFF2-40B4-BE49-F238E27FC236}">
                  <a16:creationId xmlns:a16="http://schemas.microsoft.com/office/drawing/2014/main" id="{6E9072CB-5613-044A-AC6F-7DE2A04C5A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1" y="2060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1648" name="Rectangle 424">
              <a:extLst>
                <a:ext uri="{FF2B5EF4-FFF2-40B4-BE49-F238E27FC236}">
                  <a16:creationId xmlns:a16="http://schemas.microsoft.com/office/drawing/2014/main" id="{23C0A7CF-F3E2-0F42-A361-33C65749E3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8" y="2175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 sz="2000"/>
            </a:p>
          </p:txBody>
        </p:sp>
        <p:sp>
          <p:nvSpPr>
            <p:cNvPr id="21649" name="Rectangle 425">
              <a:extLst>
                <a:ext uri="{FF2B5EF4-FFF2-40B4-BE49-F238E27FC236}">
                  <a16:creationId xmlns:a16="http://schemas.microsoft.com/office/drawing/2014/main" id="{B0562E4D-954F-C04E-99BC-C408A6F4E7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5" y="2289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 sz="2000"/>
            </a:p>
          </p:txBody>
        </p:sp>
        <p:sp>
          <p:nvSpPr>
            <p:cNvPr id="21650" name="Rectangle 426">
              <a:extLst>
                <a:ext uri="{FF2B5EF4-FFF2-40B4-BE49-F238E27FC236}">
                  <a16:creationId xmlns:a16="http://schemas.microsoft.com/office/drawing/2014/main" id="{FB9A2A1C-107E-C34A-ADA1-5C549F75DA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1" y="2528"/>
              <a:ext cx="587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51" name="Rectangle 427">
              <a:extLst>
                <a:ext uri="{FF2B5EF4-FFF2-40B4-BE49-F238E27FC236}">
                  <a16:creationId xmlns:a16="http://schemas.microsoft.com/office/drawing/2014/main" id="{96A9926E-234E-9E45-87F2-B464523781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3" y="2539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1652" name="Rectangle 428">
              <a:extLst>
                <a:ext uri="{FF2B5EF4-FFF2-40B4-BE49-F238E27FC236}">
                  <a16:creationId xmlns:a16="http://schemas.microsoft.com/office/drawing/2014/main" id="{2AE5E286-44B0-B042-A567-C7DAFF5E0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7" y="2654"/>
              <a:ext cx="57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total</a:t>
              </a:r>
              <a:endParaRPr lang="pt-BR" altLang="pt-BR" sz="2000"/>
            </a:p>
          </p:txBody>
        </p:sp>
        <p:sp>
          <p:nvSpPr>
            <p:cNvPr id="21653" name="Rectangle 429">
              <a:extLst>
                <a:ext uri="{FF2B5EF4-FFF2-40B4-BE49-F238E27FC236}">
                  <a16:creationId xmlns:a16="http://schemas.microsoft.com/office/drawing/2014/main" id="{5173F70B-1405-0E48-96AE-2BB90A7C14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4" y="2815"/>
              <a:ext cx="1385" cy="122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54" name="Rectangle 430">
              <a:extLst>
                <a:ext uri="{FF2B5EF4-FFF2-40B4-BE49-F238E27FC236}">
                  <a16:creationId xmlns:a16="http://schemas.microsoft.com/office/drawing/2014/main" id="{8BD000B3-0F6F-F64B-83B2-99D942E06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5" y="2826"/>
              <a:ext cx="102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Alternativas de solução</a:t>
              </a:r>
              <a:endParaRPr lang="pt-BR" altLang="pt-BR" sz="2000"/>
            </a:p>
          </p:txBody>
        </p:sp>
        <p:sp>
          <p:nvSpPr>
            <p:cNvPr id="21655" name="Freeform 431">
              <a:extLst>
                <a:ext uri="{FF2B5EF4-FFF2-40B4-BE49-F238E27FC236}">
                  <a16:creationId xmlns:a16="http://schemas.microsoft.com/office/drawing/2014/main" id="{F3DC1AC2-EB6A-EA48-937F-7B4D4DC23A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0" y="1858"/>
              <a:ext cx="907" cy="814"/>
            </a:xfrm>
            <a:custGeom>
              <a:avLst/>
              <a:gdLst>
                <a:gd name="T0" fmla="*/ 1 w 1814"/>
                <a:gd name="T1" fmla="*/ 1 h 1628"/>
                <a:gd name="T2" fmla="*/ 1 w 1814"/>
                <a:gd name="T3" fmla="*/ 1 h 1628"/>
                <a:gd name="T4" fmla="*/ 1 w 1814"/>
                <a:gd name="T5" fmla="*/ 1 h 1628"/>
                <a:gd name="T6" fmla="*/ 1 w 1814"/>
                <a:gd name="T7" fmla="*/ 1 h 1628"/>
                <a:gd name="T8" fmla="*/ 1 w 1814"/>
                <a:gd name="T9" fmla="*/ 1 h 1628"/>
                <a:gd name="T10" fmla="*/ 1 w 1814"/>
                <a:gd name="T11" fmla="*/ 1 h 1628"/>
                <a:gd name="T12" fmla="*/ 1 w 1814"/>
                <a:gd name="T13" fmla="*/ 1 h 1628"/>
                <a:gd name="T14" fmla="*/ 1 w 1814"/>
                <a:gd name="T15" fmla="*/ 1 h 1628"/>
                <a:gd name="T16" fmla="*/ 0 w 1814"/>
                <a:gd name="T17" fmla="*/ 1 h 1628"/>
                <a:gd name="T18" fmla="*/ 1 w 1814"/>
                <a:gd name="T19" fmla="*/ 1 h 1628"/>
                <a:gd name="T20" fmla="*/ 1 w 1814"/>
                <a:gd name="T21" fmla="*/ 1 h 1628"/>
                <a:gd name="T22" fmla="*/ 1 w 1814"/>
                <a:gd name="T23" fmla="*/ 1 h 1628"/>
                <a:gd name="T24" fmla="*/ 1 w 1814"/>
                <a:gd name="T25" fmla="*/ 1 h 1628"/>
                <a:gd name="T26" fmla="*/ 1 w 1814"/>
                <a:gd name="T27" fmla="*/ 1 h 1628"/>
                <a:gd name="T28" fmla="*/ 1 w 1814"/>
                <a:gd name="T29" fmla="*/ 1 h 1628"/>
                <a:gd name="T30" fmla="*/ 1 w 1814"/>
                <a:gd name="T31" fmla="*/ 1 h 1628"/>
                <a:gd name="T32" fmla="*/ 1 w 1814"/>
                <a:gd name="T33" fmla="*/ 1 h 1628"/>
                <a:gd name="T34" fmla="*/ 1 w 1814"/>
                <a:gd name="T35" fmla="*/ 1 h 1628"/>
                <a:gd name="T36" fmla="*/ 1 w 1814"/>
                <a:gd name="T37" fmla="*/ 1 h 1628"/>
                <a:gd name="T38" fmla="*/ 1 w 1814"/>
                <a:gd name="T39" fmla="*/ 1 h 1628"/>
                <a:gd name="T40" fmla="*/ 1 w 1814"/>
                <a:gd name="T41" fmla="*/ 1 h 1628"/>
                <a:gd name="T42" fmla="*/ 1 w 1814"/>
                <a:gd name="T43" fmla="*/ 1 h 1628"/>
                <a:gd name="T44" fmla="*/ 1 w 1814"/>
                <a:gd name="T45" fmla="*/ 1 h 1628"/>
                <a:gd name="T46" fmla="*/ 1 w 1814"/>
                <a:gd name="T47" fmla="*/ 1 h 1628"/>
                <a:gd name="T48" fmla="*/ 1 w 1814"/>
                <a:gd name="T49" fmla="*/ 1 h 1628"/>
                <a:gd name="T50" fmla="*/ 1 w 1814"/>
                <a:gd name="T51" fmla="*/ 1 h 1628"/>
                <a:gd name="T52" fmla="*/ 1 w 1814"/>
                <a:gd name="T53" fmla="*/ 1 h 1628"/>
                <a:gd name="T54" fmla="*/ 1 w 1814"/>
                <a:gd name="T55" fmla="*/ 1 h 1628"/>
                <a:gd name="T56" fmla="*/ 1 w 1814"/>
                <a:gd name="T57" fmla="*/ 1 h 1628"/>
                <a:gd name="T58" fmla="*/ 1 w 1814"/>
                <a:gd name="T59" fmla="*/ 1 h 1628"/>
                <a:gd name="T60" fmla="*/ 1 w 1814"/>
                <a:gd name="T61" fmla="*/ 1 h 1628"/>
                <a:gd name="T62" fmla="*/ 1 w 1814"/>
                <a:gd name="T63" fmla="*/ 1 h 1628"/>
                <a:gd name="T64" fmla="*/ 1 w 1814"/>
                <a:gd name="T65" fmla="*/ 1 h 1628"/>
                <a:gd name="T66" fmla="*/ 1 w 1814"/>
                <a:gd name="T67" fmla="*/ 0 h 162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814"/>
                <a:gd name="T103" fmla="*/ 0 h 1628"/>
                <a:gd name="T104" fmla="*/ 1814 w 1814"/>
                <a:gd name="T105" fmla="*/ 1628 h 1628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814" h="1628">
                  <a:moveTo>
                    <a:pt x="271" y="0"/>
                  </a:moveTo>
                  <a:lnTo>
                    <a:pt x="243" y="2"/>
                  </a:lnTo>
                  <a:lnTo>
                    <a:pt x="217" y="6"/>
                  </a:lnTo>
                  <a:lnTo>
                    <a:pt x="191" y="12"/>
                  </a:lnTo>
                  <a:lnTo>
                    <a:pt x="165" y="22"/>
                  </a:lnTo>
                  <a:lnTo>
                    <a:pt x="142" y="32"/>
                  </a:lnTo>
                  <a:lnTo>
                    <a:pt x="120" y="46"/>
                  </a:lnTo>
                  <a:lnTo>
                    <a:pt x="100" y="62"/>
                  </a:lnTo>
                  <a:lnTo>
                    <a:pt x="80" y="80"/>
                  </a:lnTo>
                  <a:lnTo>
                    <a:pt x="62" y="100"/>
                  </a:lnTo>
                  <a:lnTo>
                    <a:pt x="46" y="120"/>
                  </a:lnTo>
                  <a:lnTo>
                    <a:pt x="32" y="142"/>
                  </a:lnTo>
                  <a:lnTo>
                    <a:pt x="22" y="166"/>
                  </a:lnTo>
                  <a:lnTo>
                    <a:pt x="12" y="192"/>
                  </a:lnTo>
                  <a:lnTo>
                    <a:pt x="6" y="218"/>
                  </a:lnTo>
                  <a:lnTo>
                    <a:pt x="2" y="244"/>
                  </a:lnTo>
                  <a:lnTo>
                    <a:pt x="0" y="271"/>
                  </a:lnTo>
                  <a:lnTo>
                    <a:pt x="0" y="1357"/>
                  </a:lnTo>
                  <a:lnTo>
                    <a:pt x="2" y="1385"/>
                  </a:lnTo>
                  <a:lnTo>
                    <a:pt x="6" y="1411"/>
                  </a:lnTo>
                  <a:lnTo>
                    <a:pt x="12" y="1437"/>
                  </a:lnTo>
                  <a:lnTo>
                    <a:pt x="22" y="1463"/>
                  </a:lnTo>
                  <a:lnTo>
                    <a:pt x="32" y="1487"/>
                  </a:lnTo>
                  <a:lnTo>
                    <a:pt x="46" y="1509"/>
                  </a:lnTo>
                  <a:lnTo>
                    <a:pt x="62" y="1529"/>
                  </a:lnTo>
                  <a:lnTo>
                    <a:pt x="80" y="1549"/>
                  </a:lnTo>
                  <a:lnTo>
                    <a:pt x="100" y="1566"/>
                  </a:lnTo>
                  <a:lnTo>
                    <a:pt x="120" y="1582"/>
                  </a:lnTo>
                  <a:lnTo>
                    <a:pt x="142" y="1596"/>
                  </a:lnTo>
                  <a:lnTo>
                    <a:pt x="165" y="1606"/>
                  </a:lnTo>
                  <a:lnTo>
                    <a:pt x="191" y="1616"/>
                  </a:lnTo>
                  <a:lnTo>
                    <a:pt x="217" y="1622"/>
                  </a:lnTo>
                  <a:lnTo>
                    <a:pt x="243" y="1626"/>
                  </a:lnTo>
                  <a:lnTo>
                    <a:pt x="271" y="1628"/>
                  </a:lnTo>
                  <a:lnTo>
                    <a:pt x="1543" y="1628"/>
                  </a:lnTo>
                  <a:lnTo>
                    <a:pt x="1571" y="1626"/>
                  </a:lnTo>
                  <a:lnTo>
                    <a:pt x="1597" y="1622"/>
                  </a:lnTo>
                  <a:lnTo>
                    <a:pt x="1623" y="1616"/>
                  </a:lnTo>
                  <a:lnTo>
                    <a:pt x="1649" y="1606"/>
                  </a:lnTo>
                  <a:lnTo>
                    <a:pt x="1673" y="1596"/>
                  </a:lnTo>
                  <a:lnTo>
                    <a:pt x="1694" y="1582"/>
                  </a:lnTo>
                  <a:lnTo>
                    <a:pt x="1714" y="1566"/>
                  </a:lnTo>
                  <a:lnTo>
                    <a:pt x="1734" y="1549"/>
                  </a:lnTo>
                  <a:lnTo>
                    <a:pt x="1752" y="1529"/>
                  </a:lnTo>
                  <a:lnTo>
                    <a:pt x="1768" y="1509"/>
                  </a:lnTo>
                  <a:lnTo>
                    <a:pt x="1782" y="1487"/>
                  </a:lnTo>
                  <a:lnTo>
                    <a:pt x="1792" y="1463"/>
                  </a:lnTo>
                  <a:lnTo>
                    <a:pt x="1802" y="1437"/>
                  </a:lnTo>
                  <a:lnTo>
                    <a:pt x="1808" y="1411"/>
                  </a:lnTo>
                  <a:lnTo>
                    <a:pt x="1812" y="1385"/>
                  </a:lnTo>
                  <a:lnTo>
                    <a:pt x="1814" y="1357"/>
                  </a:lnTo>
                  <a:lnTo>
                    <a:pt x="1814" y="271"/>
                  </a:lnTo>
                  <a:lnTo>
                    <a:pt x="1812" y="244"/>
                  </a:lnTo>
                  <a:lnTo>
                    <a:pt x="1808" y="218"/>
                  </a:lnTo>
                  <a:lnTo>
                    <a:pt x="1802" y="192"/>
                  </a:lnTo>
                  <a:lnTo>
                    <a:pt x="1792" y="166"/>
                  </a:lnTo>
                  <a:lnTo>
                    <a:pt x="1782" y="142"/>
                  </a:lnTo>
                  <a:lnTo>
                    <a:pt x="1768" y="120"/>
                  </a:lnTo>
                  <a:lnTo>
                    <a:pt x="1752" y="100"/>
                  </a:lnTo>
                  <a:lnTo>
                    <a:pt x="1734" y="80"/>
                  </a:lnTo>
                  <a:lnTo>
                    <a:pt x="1714" y="62"/>
                  </a:lnTo>
                  <a:lnTo>
                    <a:pt x="1694" y="46"/>
                  </a:lnTo>
                  <a:lnTo>
                    <a:pt x="1673" y="32"/>
                  </a:lnTo>
                  <a:lnTo>
                    <a:pt x="1649" y="22"/>
                  </a:lnTo>
                  <a:lnTo>
                    <a:pt x="1623" y="12"/>
                  </a:lnTo>
                  <a:lnTo>
                    <a:pt x="1597" y="6"/>
                  </a:lnTo>
                  <a:lnTo>
                    <a:pt x="1571" y="2"/>
                  </a:lnTo>
                  <a:lnTo>
                    <a:pt x="1543" y="0"/>
                  </a:lnTo>
                  <a:lnTo>
                    <a:pt x="271" y="0"/>
                  </a:lnTo>
                  <a:close/>
                </a:path>
              </a:pathLst>
            </a:custGeom>
            <a:solidFill>
              <a:srgbClr val="EAEAEA"/>
            </a:solidFill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21656" name="Group 444">
              <a:extLst>
                <a:ext uri="{FF2B5EF4-FFF2-40B4-BE49-F238E27FC236}">
                  <a16:creationId xmlns:a16="http://schemas.microsoft.com/office/drawing/2014/main" id="{853B4CA7-4C88-3745-8E33-C14322EADA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68" y="1953"/>
              <a:ext cx="797" cy="464"/>
              <a:chOff x="4668" y="1953"/>
              <a:chExt cx="797" cy="464"/>
            </a:xfrm>
          </p:grpSpPr>
          <p:sp>
            <p:nvSpPr>
              <p:cNvPr id="21790" name="Rectangle 432">
                <a:extLst>
                  <a:ext uri="{FF2B5EF4-FFF2-40B4-BE49-F238E27FC236}">
                    <a16:creationId xmlns:a16="http://schemas.microsoft.com/office/drawing/2014/main" id="{AE3D2490-8E85-4644-8250-BDAC4F577D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59" y="1953"/>
                <a:ext cx="573" cy="352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791" name="Rectangle 433">
                <a:extLst>
                  <a:ext uri="{FF2B5EF4-FFF2-40B4-BE49-F238E27FC236}">
                    <a16:creationId xmlns:a16="http://schemas.microsoft.com/office/drawing/2014/main" id="{0FAA0907-E4FC-454F-9D1D-3C60A77EE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" y="1964"/>
                <a:ext cx="57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Princípio de </a:t>
                </a:r>
                <a:endParaRPr lang="pt-BR" altLang="pt-BR" sz="2000"/>
              </a:p>
            </p:txBody>
          </p:sp>
          <p:sp>
            <p:nvSpPr>
              <p:cNvPr id="21792" name="Rectangle 434">
                <a:extLst>
                  <a:ext uri="{FF2B5EF4-FFF2-40B4-BE49-F238E27FC236}">
                    <a16:creationId xmlns:a16="http://schemas.microsoft.com/office/drawing/2014/main" id="{DEABC263-F102-C44B-9478-B55164A5B4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81" y="2079"/>
                <a:ext cx="39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solução </a:t>
                </a:r>
                <a:endParaRPr lang="pt-BR" altLang="pt-BR" sz="2000"/>
              </a:p>
            </p:txBody>
          </p:sp>
          <p:sp>
            <p:nvSpPr>
              <p:cNvPr id="21793" name="Rectangle 435">
                <a:extLst>
                  <a:ext uri="{FF2B5EF4-FFF2-40B4-BE49-F238E27FC236}">
                    <a16:creationId xmlns:a16="http://schemas.microsoft.com/office/drawing/2014/main" id="{89160B1C-F348-1E4B-81B8-F40B399A11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48" y="2194"/>
                <a:ext cx="43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individual</a:t>
                </a:r>
                <a:endParaRPr lang="pt-BR" altLang="pt-BR" sz="2000"/>
              </a:p>
            </p:txBody>
          </p:sp>
          <p:sp>
            <p:nvSpPr>
              <p:cNvPr id="21794" name="Rectangle 436">
                <a:extLst>
                  <a:ext uri="{FF2B5EF4-FFF2-40B4-BE49-F238E27FC236}">
                    <a16:creationId xmlns:a16="http://schemas.microsoft.com/office/drawing/2014/main" id="{E280DE96-DE92-DA45-8982-E81ECECACC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3" y="2001"/>
                <a:ext cx="574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795" name="Rectangle 437">
                <a:extLst>
                  <a:ext uri="{FF2B5EF4-FFF2-40B4-BE49-F238E27FC236}">
                    <a16:creationId xmlns:a16="http://schemas.microsoft.com/office/drawing/2014/main" id="{2AF3FC17-08CD-5248-93A0-DC80438510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8" y="2012"/>
                <a:ext cx="57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Princípio de </a:t>
                </a:r>
                <a:endParaRPr lang="pt-BR" altLang="pt-BR" sz="2000"/>
              </a:p>
            </p:txBody>
          </p:sp>
          <p:sp>
            <p:nvSpPr>
              <p:cNvPr id="21796" name="Rectangle 438">
                <a:extLst>
                  <a:ext uri="{FF2B5EF4-FFF2-40B4-BE49-F238E27FC236}">
                    <a16:creationId xmlns:a16="http://schemas.microsoft.com/office/drawing/2014/main" id="{630D4C1B-D980-A64E-ABE6-3684D9C265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6" y="2127"/>
                <a:ext cx="39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solução </a:t>
                </a:r>
                <a:endParaRPr lang="pt-BR" altLang="pt-BR" sz="2000"/>
              </a:p>
            </p:txBody>
          </p:sp>
          <p:sp>
            <p:nvSpPr>
              <p:cNvPr id="21797" name="Rectangle 439">
                <a:extLst>
                  <a:ext uri="{FF2B5EF4-FFF2-40B4-BE49-F238E27FC236}">
                    <a16:creationId xmlns:a16="http://schemas.microsoft.com/office/drawing/2014/main" id="{A2EC338E-6F9A-894F-A7FE-8FBF959E0C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53" y="2241"/>
                <a:ext cx="43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individual</a:t>
                </a:r>
                <a:endParaRPr lang="pt-BR" altLang="pt-BR" sz="2000"/>
              </a:p>
            </p:txBody>
          </p:sp>
          <p:sp>
            <p:nvSpPr>
              <p:cNvPr id="21798" name="Rectangle 440">
                <a:extLst>
                  <a:ext uri="{FF2B5EF4-FFF2-40B4-BE49-F238E27FC236}">
                    <a16:creationId xmlns:a16="http://schemas.microsoft.com/office/drawing/2014/main" id="{C7FA7600-3972-5543-8345-CBAF32F8B8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8" y="2049"/>
                <a:ext cx="574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799" name="Rectangle 441">
                <a:extLst>
                  <a:ext uri="{FF2B5EF4-FFF2-40B4-BE49-F238E27FC236}">
                    <a16:creationId xmlns:a16="http://schemas.microsoft.com/office/drawing/2014/main" id="{EFA2362D-02CD-7344-949E-50A3EDE271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3" y="2060"/>
                <a:ext cx="57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Princípio de </a:t>
                </a:r>
                <a:endParaRPr lang="pt-BR" altLang="pt-BR" sz="2000"/>
              </a:p>
            </p:txBody>
          </p:sp>
          <p:sp>
            <p:nvSpPr>
              <p:cNvPr id="21800" name="Rectangle 442">
                <a:extLst>
                  <a:ext uri="{FF2B5EF4-FFF2-40B4-BE49-F238E27FC236}">
                    <a16:creationId xmlns:a16="http://schemas.microsoft.com/office/drawing/2014/main" id="{503F0436-6774-2D46-9545-AF2D64594E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0" y="2175"/>
                <a:ext cx="39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solução </a:t>
                </a:r>
                <a:endParaRPr lang="pt-BR" altLang="pt-BR" sz="2000"/>
              </a:p>
            </p:txBody>
          </p:sp>
          <p:sp>
            <p:nvSpPr>
              <p:cNvPr id="21801" name="Rectangle 443">
                <a:extLst>
                  <a:ext uri="{FF2B5EF4-FFF2-40B4-BE49-F238E27FC236}">
                    <a16:creationId xmlns:a16="http://schemas.microsoft.com/office/drawing/2014/main" id="{A86078F7-39D6-3C4B-BA67-006F8EED0E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7" y="2289"/>
                <a:ext cx="43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individual</a:t>
                </a:r>
                <a:endParaRPr lang="pt-BR" altLang="pt-BR" sz="2000"/>
              </a:p>
            </p:txBody>
          </p:sp>
        </p:grpSp>
        <p:sp>
          <p:nvSpPr>
            <p:cNvPr id="21657" name="Rectangle 445">
              <a:extLst>
                <a:ext uri="{FF2B5EF4-FFF2-40B4-BE49-F238E27FC236}">
                  <a16:creationId xmlns:a16="http://schemas.microsoft.com/office/drawing/2014/main" id="{B0EC98CB-7A32-844B-8262-C6F0E3D391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3" y="2528"/>
              <a:ext cx="587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58" name="Rectangle 446">
              <a:extLst>
                <a:ext uri="{FF2B5EF4-FFF2-40B4-BE49-F238E27FC236}">
                  <a16:creationId xmlns:a16="http://schemas.microsoft.com/office/drawing/2014/main" id="{A44CDFC9-D05C-874C-81F9-448BF7A3E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5" y="2539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1659" name="Rectangle 447">
              <a:extLst>
                <a:ext uri="{FF2B5EF4-FFF2-40B4-BE49-F238E27FC236}">
                  <a16:creationId xmlns:a16="http://schemas.microsoft.com/office/drawing/2014/main" id="{230A513C-71C2-7A4E-8010-9984F1843F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9" y="2654"/>
              <a:ext cx="57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total</a:t>
              </a:r>
              <a:endParaRPr lang="pt-BR" altLang="pt-BR" sz="2000"/>
            </a:p>
          </p:txBody>
        </p:sp>
        <p:sp>
          <p:nvSpPr>
            <p:cNvPr id="21660" name="Freeform 448">
              <a:extLst>
                <a:ext uri="{FF2B5EF4-FFF2-40B4-BE49-F238E27FC236}">
                  <a16:creationId xmlns:a16="http://schemas.microsoft.com/office/drawing/2014/main" id="{D1D1CEF3-1F53-6F4C-A940-BFE2AAB142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0" y="1858"/>
              <a:ext cx="907" cy="814"/>
            </a:xfrm>
            <a:custGeom>
              <a:avLst/>
              <a:gdLst>
                <a:gd name="T0" fmla="*/ 1 w 1814"/>
                <a:gd name="T1" fmla="*/ 1 h 1628"/>
                <a:gd name="T2" fmla="*/ 1 w 1814"/>
                <a:gd name="T3" fmla="*/ 1 h 1628"/>
                <a:gd name="T4" fmla="*/ 1 w 1814"/>
                <a:gd name="T5" fmla="*/ 1 h 1628"/>
                <a:gd name="T6" fmla="*/ 1 w 1814"/>
                <a:gd name="T7" fmla="*/ 1 h 1628"/>
                <a:gd name="T8" fmla="*/ 1 w 1814"/>
                <a:gd name="T9" fmla="*/ 1 h 1628"/>
                <a:gd name="T10" fmla="*/ 1 w 1814"/>
                <a:gd name="T11" fmla="*/ 1 h 1628"/>
                <a:gd name="T12" fmla="*/ 1 w 1814"/>
                <a:gd name="T13" fmla="*/ 1 h 1628"/>
                <a:gd name="T14" fmla="*/ 1 w 1814"/>
                <a:gd name="T15" fmla="*/ 1 h 1628"/>
                <a:gd name="T16" fmla="*/ 0 w 1814"/>
                <a:gd name="T17" fmla="*/ 1 h 1628"/>
                <a:gd name="T18" fmla="*/ 1 w 1814"/>
                <a:gd name="T19" fmla="*/ 1 h 1628"/>
                <a:gd name="T20" fmla="*/ 1 w 1814"/>
                <a:gd name="T21" fmla="*/ 1 h 1628"/>
                <a:gd name="T22" fmla="*/ 1 w 1814"/>
                <a:gd name="T23" fmla="*/ 1 h 1628"/>
                <a:gd name="T24" fmla="*/ 1 w 1814"/>
                <a:gd name="T25" fmla="*/ 1 h 1628"/>
                <a:gd name="T26" fmla="*/ 1 w 1814"/>
                <a:gd name="T27" fmla="*/ 1 h 1628"/>
                <a:gd name="T28" fmla="*/ 1 w 1814"/>
                <a:gd name="T29" fmla="*/ 1 h 1628"/>
                <a:gd name="T30" fmla="*/ 1 w 1814"/>
                <a:gd name="T31" fmla="*/ 1 h 1628"/>
                <a:gd name="T32" fmla="*/ 1 w 1814"/>
                <a:gd name="T33" fmla="*/ 1 h 1628"/>
                <a:gd name="T34" fmla="*/ 1 w 1814"/>
                <a:gd name="T35" fmla="*/ 1 h 1628"/>
                <a:gd name="T36" fmla="*/ 1 w 1814"/>
                <a:gd name="T37" fmla="*/ 1 h 1628"/>
                <a:gd name="T38" fmla="*/ 1 w 1814"/>
                <a:gd name="T39" fmla="*/ 1 h 1628"/>
                <a:gd name="T40" fmla="*/ 1 w 1814"/>
                <a:gd name="T41" fmla="*/ 1 h 1628"/>
                <a:gd name="T42" fmla="*/ 1 w 1814"/>
                <a:gd name="T43" fmla="*/ 1 h 1628"/>
                <a:gd name="T44" fmla="*/ 1 w 1814"/>
                <a:gd name="T45" fmla="*/ 1 h 1628"/>
                <a:gd name="T46" fmla="*/ 1 w 1814"/>
                <a:gd name="T47" fmla="*/ 1 h 1628"/>
                <a:gd name="T48" fmla="*/ 1 w 1814"/>
                <a:gd name="T49" fmla="*/ 1 h 1628"/>
                <a:gd name="T50" fmla="*/ 1 w 1814"/>
                <a:gd name="T51" fmla="*/ 1 h 1628"/>
                <a:gd name="T52" fmla="*/ 1 w 1814"/>
                <a:gd name="T53" fmla="*/ 1 h 1628"/>
                <a:gd name="T54" fmla="*/ 1 w 1814"/>
                <a:gd name="T55" fmla="*/ 1 h 1628"/>
                <a:gd name="T56" fmla="*/ 1 w 1814"/>
                <a:gd name="T57" fmla="*/ 1 h 1628"/>
                <a:gd name="T58" fmla="*/ 1 w 1814"/>
                <a:gd name="T59" fmla="*/ 1 h 1628"/>
                <a:gd name="T60" fmla="*/ 1 w 1814"/>
                <a:gd name="T61" fmla="*/ 1 h 1628"/>
                <a:gd name="T62" fmla="*/ 1 w 1814"/>
                <a:gd name="T63" fmla="*/ 1 h 1628"/>
                <a:gd name="T64" fmla="*/ 1 w 1814"/>
                <a:gd name="T65" fmla="*/ 1 h 1628"/>
                <a:gd name="T66" fmla="*/ 1 w 1814"/>
                <a:gd name="T67" fmla="*/ 0 h 162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814"/>
                <a:gd name="T103" fmla="*/ 0 h 1628"/>
                <a:gd name="T104" fmla="*/ 1814 w 1814"/>
                <a:gd name="T105" fmla="*/ 1628 h 1628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814" h="1628">
                  <a:moveTo>
                    <a:pt x="271" y="0"/>
                  </a:moveTo>
                  <a:lnTo>
                    <a:pt x="243" y="2"/>
                  </a:lnTo>
                  <a:lnTo>
                    <a:pt x="217" y="6"/>
                  </a:lnTo>
                  <a:lnTo>
                    <a:pt x="191" y="12"/>
                  </a:lnTo>
                  <a:lnTo>
                    <a:pt x="165" y="22"/>
                  </a:lnTo>
                  <a:lnTo>
                    <a:pt x="142" y="32"/>
                  </a:lnTo>
                  <a:lnTo>
                    <a:pt x="120" y="46"/>
                  </a:lnTo>
                  <a:lnTo>
                    <a:pt x="100" y="62"/>
                  </a:lnTo>
                  <a:lnTo>
                    <a:pt x="80" y="80"/>
                  </a:lnTo>
                  <a:lnTo>
                    <a:pt x="62" y="100"/>
                  </a:lnTo>
                  <a:lnTo>
                    <a:pt x="46" y="120"/>
                  </a:lnTo>
                  <a:lnTo>
                    <a:pt x="32" y="142"/>
                  </a:lnTo>
                  <a:lnTo>
                    <a:pt x="22" y="166"/>
                  </a:lnTo>
                  <a:lnTo>
                    <a:pt x="12" y="192"/>
                  </a:lnTo>
                  <a:lnTo>
                    <a:pt x="6" y="218"/>
                  </a:lnTo>
                  <a:lnTo>
                    <a:pt x="2" y="244"/>
                  </a:lnTo>
                  <a:lnTo>
                    <a:pt x="0" y="271"/>
                  </a:lnTo>
                  <a:lnTo>
                    <a:pt x="0" y="1357"/>
                  </a:lnTo>
                  <a:lnTo>
                    <a:pt x="2" y="1385"/>
                  </a:lnTo>
                  <a:lnTo>
                    <a:pt x="6" y="1411"/>
                  </a:lnTo>
                  <a:lnTo>
                    <a:pt x="12" y="1437"/>
                  </a:lnTo>
                  <a:lnTo>
                    <a:pt x="22" y="1463"/>
                  </a:lnTo>
                  <a:lnTo>
                    <a:pt x="32" y="1487"/>
                  </a:lnTo>
                  <a:lnTo>
                    <a:pt x="46" y="1509"/>
                  </a:lnTo>
                  <a:lnTo>
                    <a:pt x="62" y="1529"/>
                  </a:lnTo>
                  <a:lnTo>
                    <a:pt x="80" y="1549"/>
                  </a:lnTo>
                  <a:lnTo>
                    <a:pt x="100" y="1566"/>
                  </a:lnTo>
                  <a:lnTo>
                    <a:pt x="120" y="1582"/>
                  </a:lnTo>
                  <a:lnTo>
                    <a:pt x="142" y="1596"/>
                  </a:lnTo>
                  <a:lnTo>
                    <a:pt x="165" y="1606"/>
                  </a:lnTo>
                  <a:lnTo>
                    <a:pt x="191" y="1616"/>
                  </a:lnTo>
                  <a:lnTo>
                    <a:pt x="217" y="1622"/>
                  </a:lnTo>
                  <a:lnTo>
                    <a:pt x="243" y="1626"/>
                  </a:lnTo>
                  <a:lnTo>
                    <a:pt x="271" y="1628"/>
                  </a:lnTo>
                  <a:lnTo>
                    <a:pt x="1543" y="1628"/>
                  </a:lnTo>
                  <a:lnTo>
                    <a:pt x="1571" y="1626"/>
                  </a:lnTo>
                  <a:lnTo>
                    <a:pt x="1597" y="1622"/>
                  </a:lnTo>
                  <a:lnTo>
                    <a:pt x="1623" y="1616"/>
                  </a:lnTo>
                  <a:lnTo>
                    <a:pt x="1649" y="1606"/>
                  </a:lnTo>
                  <a:lnTo>
                    <a:pt x="1673" y="1596"/>
                  </a:lnTo>
                  <a:lnTo>
                    <a:pt x="1694" y="1582"/>
                  </a:lnTo>
                  <a:lnTo>
                    <a:pt x="1714" y="1566"/>
                  </a:lnTo>
                  <a:lnTo>
                    <a:pt x="1734" y="1549"/>
                  </a:lnTo>
                  <a:lnTo>
                    <a:pt x="1752" y="1529"/>
                  </a:lnTo>
                  <a:lnTo>
                    <a:pt x="1768" y="1509"/>
                  </a:lnTo>
                  <a:lnTo>
                    <a:pt x="1782" y="1487"/>
                  </a:lnTo>
                  <a:lnTo>
                    <a:pt x="1792" y="1463"/>
                  </a:lnTo>
                  <a:lnTo>
                    <a:pt x="1802" y="1437"/>
                  </a:lnTo>
                  <a:lnTo>
                    <a:pt x="1808" y="1411"/>
                  </a:lnTo>
                  <a:lnTo>
                    <a:pt x="1812" y="1385"/>
                  </a:lnTo>
                  <a:lnTo>
                    <a:pt x="1814" y="1357"/>
                  </a:lnTo>
                  <a:lnTo>
                    <a:pt x="1814" y="271"/>
                  </a:lnTo>
                  <a:lnTo>
                    <a:pt x="1812" y="244"/>
                  </a:lnTo>
                  <a:lnTo>
                    <a:pt x="1808" y="218"/>
                  </a:lnTo>
                  <a:lnTo>
                    <a:pt x="1802" y="192"/>
                  </a:lnTo>
                  <a:lnTo>
                    <a:pt x="1792" y="166"/>
                  </a:lnTo>
                  <a:lnTo>
                    <a:pt x="1782" y="142"/>
                  </a:lnTo>
                  <a:lnTo>
                    <a:pt x="1768" y="120"/>
                  </a:lnTo>
                  <a:lnTo>
                    <a:pt x="1752" y="100"/>
                  </a:lnTo>
                  <a:lnTo>
                    <a:pt x="1734" y="80"/>
                  </a:lnTo>
                  <a:lnTo>
                    <a:pt x="1714" y="62"/>
                  </a:lnTo>
                  <a:lnTo>
                    <a:pt x="1694" y="46"/>
                  </a:lnTo>
                  <a:lnTo>
                    <a:pt x="1673" y="32"/>
                  </a:lnTo>
                  <a:lnTo>
                    <a:pt x="1649" y="22"/>
                  </a:lnTo>
                  <a:lnTo>
                    <a:pt x="1623" y="12"/>
                  </a:lnTo>
                  <a:lnTo>
                    <a:pt x="1597" y="6"/>
                  </a:lnTo>
                  <a:lnTo>
                    <a:pt x="1571" y="2"/>
                  </a:lnTo>
                  <a:lnTo>
                    <a:pt x="1543" y="0"/>
                  </a:lnTo>
                  <a:lnTo>
                    <a:pt x="271" y="0"/>
                  </a:lnTo>
                  <a:close/>
                </a:path>
              </a:pathLst>
            </a:custGeom>
            <a:solidFill>
              <a:srgbClr val="EAEAEA"/>
            </a:solidFill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661" name="Rectangle 449">
              <a:extLst>
                <a:ext uri="{FF2B5EF4-FFF2-40B4-BE49-F238E27FC236}">
                  <a16:creationId xmlns:a16="http://schemas.microsoft.com/office/drawing/2014/main" id="{6A2F4112-8DF0-1240-BE4D-069AE9710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9" y="1953"/>
              <a:ext cx="573" cy="352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62" name="Rectangle 450">
              <a:extLst>
                <a:ext uri="{FF2B5EF4-FFF2-40B4-BE49-F238E27FC236}">
                  <a16:creationId xmlns:a16="http://schemas.microsoft.com/office/drawing/2014/main" id="{37325568-8BDF-7341-9861-C8912C6273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4" y="1964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1663" name="Rectangle 451">
              <a:extLst>
                <a:ext uri="{FF2B5EF4-FFF2-40B4-BE49-F238E27FC236}">
                  <a16:creationId xmlns:a16="http://schemas.microsoft.com/office/drawing/2014/main" id="{504CAD51-6371-444F-BCF3-2AE0B880ED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1" y="2079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 sz="2000"/>
            </a:p>
          </p:txBody>
        </p:sp>
        <p:sp>
          <p:nvSpPr>
            <p:cNvPr id="21664" name="Rectangle 452">
              <a:extLst>
                <a:ext uri="{FF2B5EF4-FFF2-40B4-BE49-F238E27FC236}">
                  <a16:creationId xmlns:a16="http://schemas.microsoft.com/office/drawing/2014/main" id="{F336BD1E-6291-FB40-A6A6-5C1A29618B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8" y="2194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 sz="2000"/>
            </a:p>
          </p:txBody>
        </p:sp>
        <p:sp>
          <p:nvSpPr>
            <p:cNvPr id="21665" name="Rectangle 453">
              <a:extLst>
                <a:ext uri="{FF2B5EF4-FFF2-40B4-BE49-F238E27FC236}">
                  <a16:creationId xmlns:a16="http://schemas.microsoft.com/office/drawing/2014/main" id="{F56DEBB7-FA09-754F-8832-92140C2FDF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3" y="2001"/>
              <a:ext cx="574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66" name="Rectangle 454">
              <a:extLst>
                <a:ext uri="{FF2B5EF4-FFF2-40B4-BE49-F238E27FC236}">
                  <a16:creationId xmlns:a16="http://schemas.microsoft.com/office/drawing/2014/main" id="{13CF40DE-CC63-9046-BCDC-B6D890D14D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8" y="2012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1667" name="Rectangle 455">
              <a:extLst>
                <a:ext uri="{FF2B5EF4-FFF2-40B4-BE49-F238E27FC236}">
                  <a16:creationId xmlns:a16="http://schemas.microsoft.com/office/drawing/2014/main" id="{08055C52-E826-0248-ADB3-BE7C480B94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6" y="2127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 sz="2000"/>
            </a:p>
          </p:txBody>
        </p:sp>
        <p:sp>
          <p:nvSpPr>
            <p:cNvPr id="21668" name="Rectangle 456">
              <a:extLst>
                <a:ext uri="{FF2B5EF4-FFF2-40B4-BE49-F238E27FC236}">
                  <a16:creationId xmlns:a16="http://schemas.microsoft.com/office/drawing/2014/main" id="{90CA738C-5231-164F-85AA-CDBAEBC610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3" y="2241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 sz="2000"/>
            </a:p>
          </p:txBody>
        </p:sp>
        <p:sp>
          <p:nvSpPr>
            <p:cNvPr id="21669" name="Rectangle 457">
              <a:extLst>
                <a:ext uri="{FF2B5EF4-FFF2-40B4-BE49-F238E27FC236}">
                  <a16:creationId xmlns:a16="http://schemas.microsoft.com/office/drawing/2014/main" id="{66B07338-61EC-BC46-B7D4-E65CF1C92E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8" y="2049"/>
              <a:ext cx="574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70" name="Rectangle 458">
              <a:extLst>
                <a:ext uri="{FF2B5EF4-FFF2-40B4-BE49-F238E27FC236}">
                  <a16:creationId xmlns:a16="http://schemas.microsoft.com/office/drawing/2014/main" id="{27340A04-A878-B944-B54B-624FC71DA2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3" y="2060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1671" name="Rectangle 459">
              <a:extLst>
                <a:ext uri="{FF2B5EF4-FFF2-40B4-BE49-F238E27FC236}">
                  <a16:creationId xmlns:a16="http://schemas.microsoft.com/office/drawing/2014/main" id="{1F801C34-24FD-3C4B-8C31-4265137408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0" y="2175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 sz="2000"/>
            </a:p>
          </p:txBody>
        </p:sp>
        <p:sp>
          <p:nvSpPr>
            <p:cNvPr id="21672" name="Rectangle 460">
              <a:extLst>
                <a:ext uri="{FF2B5EF4-FFF2-40B4-BE49-F238E27FC236}">
                  <a16:creationId xmlns:a16="http://schemas.microsoft.com/office/drawing/2014/main" id="{FF24EF1E-8E64-A241-98C4-E5B70CFF9B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7" y="2289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 sz="2000"/>
            </a:p>
          </p:txBody>
        </p:sp>
        <p:sp>
          <p:nvSpPr>
            <p:cNvPr id="21673" name="Rectangle 461">
              <a:extLst>
                <a:ext uri="{FF2B5EF4-FFF2-40B4-BE49-F238E27FC236}">
                  <a16:creationId xmlns:a16="http://schemas.microsoft.com/office/drawing/2014/main" id="{42BCA399-642C-5040-8F34-3339A623F1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9" y="1953"/>
              <a:ext cx="573" cy="352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74" name="Rectangle 462">
              <a:extLst>
                <a:ext uri="{FF2B5EF4-FFF2-40B4-BE49-F238E27FC236}">
                  <a16:creationId xmlns:a16="http://schemas.microsoft.com/office/drawing/2014/main" id="{89812C38-A27F-5242-B44D-C7BA111496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4" y="1964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1675" name="Rectangle 463">
              <a:extLst>
                <a:ext uri="{FF2B5EF4-FFF2-40B4-BE49-F238E27FC236}">
                  <a16:creationId xmlns:a16="http://schemas.microsoft.com/office/drawing/2014/main" id="{D8D58139-BAC2-1C45-98A3-7B2D829291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1" y="2079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 sz="2000"/>
            </a:p>
          </p:txBody>
        </p:sp>
        <p:sp>
          <p:nvSpPr>
            <p:cNvPr id="21676" name="Rectangle 464">
              <a:extLst>
                <a:ext uri="{FF2B5EF4-FFF2-40B4-BE49-F238E27FC236}">
                  <a16:creationId xmlns:a16="http://schemas.microsoft.com/office/drawing/2014/main" id="{5111AC01-C7E0-C044-A384-E880B0205B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8" y="2194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 sz="2000"/>
            </a:p>
          </p:txBody>
        </p:sp>
        <p:sp>
          <p:nvSpPr>
            <p:cNvPr id="21677" name="Rectangle 465">
              <a:extLst>
                <a:ext uri="{FF2B5EF4-FFF2-40B4-BE49-F238E27FC236}">
                  <a16:creationId xmlns:a16="http://schemas.microsoft.com/office/drawing/2014/main" id="{7BACD9EE-5130-7045-ADF7-54CF954CAB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3" y="2001"/>
              <a:ext cx="574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78" name="Rectangle 466">
              <a:extLst>
                <a:ext uri="{FF2B5EF4-FFF2-40B4-BE49-F238E27FC236}">
                  <a16:creationId xmlns:a16="http://schemas.microsoft.com/office/drawing/2014/main" id="{FF0F9C88-6F1A-B046-893C-3B9B43FB14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8" y="2012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1679" name="Rectangle 467">
              <a:extLst>
                <a:ext uri="{FF2B5EF4-FFF2-40B4-BE49-F238E27FC236}">
                  <a16:creationId xmlns:a16="http://schemas.microsoft.com/office/drawing/2014/main" id="{B59BD3BE-C954-A34A-AA7D-04963D437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6" y="2127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 sz="2000"/>
            </a:p>
          </p:txBody>
        </p:sp>
        <p:sp>
          <p:nvSpPr>
            <p:cNvPr id="21680" name="Rectangle 468">
              <a:extLst>
                <a:ext uri="{FF2B5EF4-FFF2-40B4-BE49-F238E27FC236}">
                  <a16:creationId xmlns:a16="http://schemas.microsoft.com/office/drawing/2014/main" id="{0BEE634C-88C9-984C-B561-6D3AF27991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3" y="2241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 sz="2000"/>
            </a:p>
          </p:txBody>
        </p:sp>
        <p:sp>
          <p:nvSpPr>
            <p:cNvPr id="21681" name="Rectangle 469">
              <a:extLst>
                <a:ext uri="{FF2B5EF4-FFF2-40B4-BE49-F238E27FC236}">
                  <a16:creationId xmlns:a16="http://schemas.microsoft.com/office/drawing/2014/main" id="{5CF77B9E-E084-0C4A-8378-6A7161BA0E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8" y="2049"/>
              <a:ext cx="574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82" name="Rectangle 470">
              <a:extLst>
                <a:ext uri="{FF2B5EF4-FFF2-40B4-BE49-F238E27FC236}">
                  <a16:creationId xmlns:a16="http://schemas.microsoft.com/office/drawing/2014/main" id="{24EC4B6E-D263-3A4A-A4BA-C8135A89B5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3" y="2060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1683" name="Rectangle 471">
              <a:extLst>
                <a:ext uri="{FF2B5EF4-FFF2-40B4-BE49-F238E27FC236}">
                  <a16:creationId xmlns:a16="http://schemas.microsoft.com/office/drawing/2014/main" id="{A7976A99-3395-DA4B-B99A-1B58A5A479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0" y="2175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 sz="2000"/>
            </a:p>
          </p:txBody>
        </p:sp>
        <p:sp>
          <p:nvSpPr>
            <p:cNvPr id="21684" name="Rectangle 472">
              <a:extLst>
                <a:ext uri="{FF2B5EF4-FFF2-40B4-BE49-F238E27FC236}">
                  <a16:creationId xmlns:a16="http://schemas.microsoft.com/office/drawing/2014/main" id="{A77D0B44-A003-3141-8BF9-3A70186EBE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7" y="2289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 sz="2000"/>
            </a:p>
          </p:txBody>
        </p:sp>
        <p:sp>
          <p:nvSpPr>
            <p:cNvPr id="21685" name="Rectangle 473">
              <a:extLst>
                <a:ext uri="{FF2B5EF4-FFF2-40B4-BE49-F238E27FC236}">
                  <a16:creationId xmlns:a16="http://schemas.microsoft.com/office/drawing/2014/main" id="{C86D2D11-F71E-404C-ACC6-41C726E75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3" y="2528"/>
              <a:ext cx="587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86" name="Rectangle 474">
              <a:extLst>
                <a:ext uri="{FF2B5EF4-FFF2-40B4-BE49-F238E27FC236}">
                  <a16:creationId xmlns:a16="http://schemas.microsoft.com/office/drawing/2014/main" id="{6121DA74-D3DA-EF4F-8184-2E31C5E20D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5" y="2539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1687" name="Rectangle 475">
              <a:extLst>
                <a:ext uri="{FF2B5EF4-FFF2-40B4-BE49-F238E27FC236}">
                  <a16:creationId xmlns:a16="http://schemas.microsoft.com/office/drawing/2014/main" id="{36A9943E-842E-7044-82FE-27E0280A5B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9" y="2654"/>
              <a:ext cx="57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total</a:t>
              </a:r>
              <a:endParaRPr lang="pt-BR" altLang="pt-BR" sz="2000"/>
            </a:p>
          </p:txBody>
        </p:sp>
        <p:sp>
          <p:nvSpPr>
            <p:cNvPr id="21688" name="Freeform 476">
              <a:extLst>
                <a:ext uri="{FF2B5EF4-FFF2-40B4-BE49-F238E27FC236}">
                  <a16:creationId xmlns:a16="http://schemas.microsoft.com/office/drawing/2014/main" id="{501D58B5-32A1-6641-94DF-FCDAA149BE8D}"/>
                </a:ext>
              </a:extLst>
            </p:cNvPr>
            <p:cNvSpPr>
              <a:spLocks/>
            </p:cNvSpPr>
            <p:nvPr/>
          </p:nvSpPr>
          <p:spPr bwMode="auto">
            <a:xfrm>
              <a:off x="994" y="1858"/>
              <a:ext cx="1431" cy="574"/>
            </a:xfrm>
            <a:custGeom>
              <a:avLst/>
              <a:gdLst>
                <a:gd name="T0" fmla="*/ 0 w 2863"/>
                <a:gd name="T1" fmla="*/ 0 h 1149"/>
                <a:gd name="T2" fmla="*/ 0 w 2863"/>
                <a:gd name="T3" fmla="*/ 0 h 1149"/>
                <a:gd name="T4" fmla="*/ 0 w 2863"/>
                <a:gd name="T5" fmla="*/ 0 h 1149"/>
                <a:gd name="T6" fmla="*/ 0 w 2863"/>
                <a:gd name="T7" fmla="*/ 0 h 1149"/>
                <a:gd name="T8" fmla="*/ 0 w 2863"/>
                <a:gd name="T9" fmla="*/ 0 h 1149"/>
                <a:gd name="T10" fmla="*/ 0 w 2863"/>
                <a:gd name="T11" fmla="*/ 0 h 1149"/>
                <a:gd name="T12" fmla="*/ 0 w 2863"/>
                <a:gd name="T13" fmla="*/ 0 h 1149"/>
                <a:gd name="T14" fmla="*/ 0 w 2863"/>
                <a:gd name="T15" fmla="*/ 0 h 1149"/>
                <a:gd name="T16" fmla="*/ 0 w 2863"/>
                <a:gd name="T17" fmla="*/ 0 h 1149"/>
                <a:gd name="T18" fmla="*/ 0 w 2863"/>
                <a:gd name="T19" fmla="*/ 0 h 1149"/>
                <a:gd name="T20" fmla="*/ 0 w 2863"/>
                <a:gd name="T21" fmla="*/ 0 h 1149"/>
                <a:gd name="T22" fmla="*/ 0 w 2863"/>
                <a:gd name="T23" fmla="*/ 0 h 1149"/>
                <a:gd name="T24" fmla="*/ 0 w 2863"/>
                <a:gd name="T25" fmla="*/ 0 h 1149"/>
                <a:gd name="T26" fmla="*/ 0 w 2863"/>
                <a:gd name="T27" fmla="*/ 0 h 1149"/>
                <a:gd name="T28" fmla="*/ 0 w 2863"/>
                <a:gd name="T29" fmla="*/ 0 h 1149"/>
                <a:gd name="T30" fmla="*/ 0 w 2863"/>
                <a:gd name="T31" fmla="*/ 0 h 1149"/>
                <a:gd name="T32" fmla="*/ 0 w 2863"/>
                <a:gd name="T33" fmla="*/ 0 h 1149"/>
                <a:gd name="T34" fmla="*/ 0 w 2863"/>
                <a:gd name="T35" fmla="*/ 0 h 1149"/>
                <a:gd name="T36" fmla="*/ 0 w 2863"/>
                <a:gd name="T37" fmla="*/ 0 h 1149"/>
                <a:gd name="T38" fmla="*/ 0 w 2863"/>
                <a:gd name="T39" fmla="*/ 0 h 1149"/>
                <a:gd name="T40" fmla="*/ 0 w 2863"/>
                <a:gd name="T41" fmla="*/ 0 h 1149"/>
                <a:gd name="T42" fmla="*/ 0 w 2863"/>
                <a:gd name="T43" fmla="*/ 0 h 1149"/>
                <a:gd name="T44" fmla="*/ 0 w 2863"/>
                <a:gd name="T45" fmla="*/ 0 h 1149"/>
                <a:gd name="T46" fmla="*/ 0 w 2863"/>
                <a:gd name="T47" fmla="*/ 0 h 1149"/>
                <a:gd name="T48" fmla="*/ 0 w 2863"/>
                <a:gd name="T49" fmla="*/ 0 h 1149"/>
                <a:gd name="T50" fmla="*/ 0 w 2863"/>
                <a:gd name="T51" fmla="*/ 0 h 1149"/>
                <a:gd name="T52" fmla="*/ 0 w 2863"/>
                <a:gd name="T53" fmla="*/ 0 h 1149"/>
                <a:gd name="T54" fmla="*/ 0 w 2863"/>
                <a:gd name="T55" fmla="*/ 0 h 1149"/>
                <a:gd name="T56" fmla="*/ 0 w 2863"/>
                <a:gd name="T57" fmla="*/ 0 h 1149"/>
                <a:gd name="T58" fmla="*/ 0 w 2863"/>
                <a:gd name="T59" fmla="*/ 0 h 1149"/>
                <a:gd name="T60" fmla="*/ 0 w 2863"/>
                <a:gd name="T61" fmla="*/ 0 h 1149"/>
                <a:gd name="T62" fmla="*/ 0 w 2863"/>
                <a:gd name="T63" fmla="*/ 0 h 1149"/>
                <a:gd name="T64" fmla="*/ 0 w 2863"/>
                <a:gd name="T65" fmla="*/ 0 h 1149"/>
                <a:gd name="T66" fmla="*/ 0 w 2863"/>
                <a:gd name="T67" fmla="*/ 0 h 1149"/>
                <a:gd name="T68" fmla="*/ 0 w 2863"/>
                <a:gd name="T69" fmla="*/ 0 h 1149"/>
                <a:gd name="T70" fmla="*/ 0 w 2863"/>
                <a:gd name="T71" fmla="*/ 0 h 1149"/>
                <a:gd name="T72" fmla="*/ 0 w 2863"/>
                <a:gd name="T73" fmla="*/ 0 h 1149"/>
                <a:gd name="T74" fmla="*/ 0 w 2863"/>
                <a:gd name="T75" fmla="*/ 0 h 1149"/>
                <a:gd name="T76" fmla="*/ 0 w 2863"/>
                <a:gd name="T77" fmla="*/ 0 h 1149"/>
                <a:gd name="T78" fmla="*/ 0 w 2863"/>
                <a:gd name="T79" fmla="*/ 0 h 1149"/>
                <a:gd name="T80" fmla="*/ 0 w 2863"/>
                <a:gd name="T81" fmla="*/ 0 h 1149"/>
                <a:gd name="T82" fmla="*/ 0 w 2863"/>
                <a:gd name="T83" fmla="*/ 0 h 1149"/>
                <a:gd name="T84" fmla="*/ 0 w 2863"/>
                <a:gd name="T85" fmla="*/ 0 h 1149"/>
                <a:gd name="T86" fmla="*/ 0 w 2863"/>
                <a:gd name="T87" fmla="*/ 0 h 1149"/>
                <a:gd name="T88" fmla="*/ 0 w 2863"/>
                <a:gd name="T89" fmla="*/ 0 h 114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2863"/>
                <a:gd name="T136" fmla="*/ 0 h 1149"/>
                <a:gd name="T137" fmla="*/ 2863 w 2863"/>
                <a:gd name="T138" fmla="*/ 1149 h 1149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2863" h="1149">
                  <a:moveTo>
                    <a:pt x="191" y="0"/>
                  </a:moveTo>
                  <a:lnTo>
                    <a:pt x="171" y="2"/>
                  </a:lnTo>
                  <a:lnTo>
                    <a:pt x="153" y="4"/>
                  </a:lnTo>
                  <a:lnTo>
                    <a:pt x="117" y="16"/>
                  </a:lnTo>
                  <a:lnTo>
                    <a:pt x="84" y="32"/>
                  </a:lnTo>
                  <a:lnTo>
                    <a:pt x="56" y="56"/>
                  </a:lnTo>
                  <a:lnTo>
                    <a:pt x="32" y="84"/>
                  </a:lnTo>
                  <a:lnTo>
                    <a:pt x="16" y="118"/>
                  </a:lnTo>
                  <a:lnTo>
                    <a:pt x="4" y="154"/>
                  </a:lnTo>
                  <a:lnTo>
                    <a:pt x="2" y="172"/>
                  </a:lnTo>
                  <a:lnTo>
                    <a:pt x="0" y="192"/>
                  </a:lnTo>
                  <a:lnTo>
                    <a:pt x="0" y="958"/>
                  </a:lnTo>
                  <a:lnTo>
                    <a:pt x="2" y="978"/>
                  </a:lnTo>
                  <a:lnTo>
                    <a:pt x="4" y="996"/>
                  </a:lnTo>
                  <a:lnTo>
                    <a:pt x="16" y="1032"/>
                  </a:lnTo>
                  <a:lnTo>
                    <a:pt x="32" y="1066"/>
                  </a:lnTo>
                  <a:lnTo>
                    <a:pt x="56" y="1094"/>
                  </a:lnTo>
                  <a:lnTo>
                    <a:pt x="84" y="1118"/>
                  </a:lnTo>
                  <a:lnTo>
                    <a:pt x="117" y="1133"/>
                  </a:lnTo>
                  <a:lnTo>
                    <a:pt x="153" y="1145"/>
                  </a:lnTo>
                  <a:lnTo>
                    <a:pt x="171" y="1149"/>
                  </a:lnTo>
                  <a:lnTo>
                    <a:pt x="191" y="1149"/>
                  </a:lnTo>
                  <a:lnTo>
                    <a:pt x="2672" y="1149"/>
                  </a:lnTo>
                  <a:lnTo>
                    <a:pt x="2692" y="1149"/>
                  </a:lnTo>
                  <a:lnTo>
                    <a:pt x="2710" y="1145"/>
                  </a:lnTo>
                  <a:lnTo>
                    <a:pt x="2746" y="1133"/>
                  </a:lnTo>
                  <a:lnTo>
                    <a:pt x="2780" y="1118"/>
                  </a:lnTo>
                  <a:lnTo>
                    <a:pt x="2808" y="1094"/>
                  </a:lnTo>
                  <a:lnTo>
                    <a:pt x="2831" y="1066"/>
                  </a:lnTo>
                  <a:lnTo>
                    <a:pt x="2847" y="1032"/>
                  </a:lnTo>
                  <a:lnTo>
                    <a:pt x="2859" y="996"/>
                  </a:lnTo>
                  <a:lnTo>
                    <a:pt x="2863" y="978"/>
                  </a:lnTo>
                  <a:lnTo>
                    <a:pt x="2863" y="958"/>
                  </a:lnTo>
                  <a:lnTo>
                    <a:pt x="2863" y="192"/>
                  </a:lnTo>
                  <a:lnTo>
                    <a:pt x="2863" y="172"/>
                  </a:lnTo>
                  <a:lnTo>
                    <a:pt x="2859" y="154"/>
                  </a:lnTo>
                  <a:lnTo>
                    <a:pt x="2847" y="118"/>
                  </a:lnTo>
                  <a:lnTo>
                    <a:pt x="2831" y="84"/>
                  </a:lnTo>
                  <a:lnTo>
                    <a:pt x="2808" y="56"/>
                  </a:lnTo>
                  <a:lnTo>
                    <a:pt x="2780" y="32"/>
                  </a:lnTo>
                  <a:lnTo>
                    <a:pt x="2746" y="16"/>
                  </a:lnTo>
                  <a:lnTo>
                    <a:pt x="2710" y="4"/>
                  </a:lnTo>
                  <a:lnTo>
                    <a:pt x="2692" y="2"/>
                  </a:lnTo>
                  <a:lnTo>
                    <a:pt x="2672" y="0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EAEAEA"/>
            </a:solidFill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689" name="Rectangle 477">
              <a:extLst>
                <a:ext uri="{FF2B5EF4-FFF2-40B4-BE49-F238E27FC236}">
                  <a16:creationId xmlns:a16="http://schemas.microsoft.com/office/drawing/2014/main" id="{0AA5D981-8631-E64E-9BAC-B30CF8358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7" y="1810"/>
              <a:ext cx="926" cy="12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90" name="Rectangle 478">
              <a:extLst>
                <a:ext uri="{FF2B5EF4-FFF2-40B4-BE49-F238E27FC236}">
                  <a16:creationId xmlns:a16="http://schemas.microsoft.com/office/drawing/2014/main" id="{052AF938-3990-834C-9BFB-7A20B87F52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3" y="1820"/>
              <a:ext cx="91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Especificações meta</a:t>
              </a:r>
              <a:endParaRPr lang="pt-BR" altLang="pt-BR" sz="2000"/>
            </a:p>
          </p:txBody>
        </p:sp>
        <p:grpSp>
          <p:nvGrpSpPr>
            <p:cNvPr id="21691" name="Group 487">
              <a:extLst>
                <a:ext uri="{FF2B5EF4-FFF2-40B4-BE49-F238E27FC236}">
                  <a16:creationId xmlns:a16="http://schemas.microsoft.com/office/drawing/2014/main" id="{2ABFAE22-166E-314C-B086-3DA475D558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1" y="2001"/>
              <a:ext cx="1360" cy="368"/>
              <a:chOff x="1041" y="2001"/>
              <a:chExt cx="1360" cy="368"/>
            </a:xfrm>
          </p:grpSpPr>
          <p:sp>
            <p:nvSpPr>
              <p:cNvPr id="21782" name="Rectangle 479">
                <a:extLst>
                  <a:ext uri="{FF2B5EF4-FFF2-40B4-BE49-F238E27FC236}">
                    <a16:creationId xmlns:a16="http://schemas.microsoft.com/office/drawing/2014/main" id="{C2A7F46F-F684-6B44-A740-9D77F1C0D4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1" y="2001"/>
                <a:ext cx="638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783" name="Rectangle 480">
                <a:extLst>
                  <a:ext uri="{FF2B5EF4-FFF2-40B4-BE49-F238E27FC236}">
                    <a16:creationId xmlns:a16="http://schemas.microsoft.com/office/drawing/2014/main" id="{31BE5C20-D170-2D4C-8D59-36D1047B64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" y="2012"/>
                <a:ext cx="64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Requisitos do </a:t>
                </a:r>
                <a:endParaRPr lang="pt-BR" altLang="pt-BR" sz="2000"/>
              </a:p>
            </p:txBody>
          </p:sp>
          <p:sp>
            <p:nvSpPr>
              <p:cNvPr id="21784" name="Rectangle 481">
                <a:extLst>
                  <a:ext uri="{FF2B5EF4-FFF2-40B4-BE49-F238E27FC236}">
                    <a16:creationId xmlns:a16="http://schemas.microsoft.com/office/drawing/2014/main" id="{2394D769-5A38-5C42-B3F6-3AB175A713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8" y="2127"/>
                <a:ext cx="39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produto </a:t>
                </a:r>
                <a:endParaRPr lang="pt-BR" altLang="pt-BR" sz="2000"/>
              </a:p>
            </p:txBody>
          </p:sp>
          <p:sp>
            <p:nvSpPr>
              <p:cNvPr id="21785" name="Rectangle 482">
                <a:extLst>
                  <a:ext uri="{FF2B5EF4-FFF2-40B4-BE49-F238E27FC236}">
                    <a16:creationId xmlns:a16="http://schemas.microsoft.com/office/drawing/2014/main" id="{9F156049-D556-D74C-9B13-8F37D0BE8C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5" y="2241"/>
                <a:ext cx="55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(valor meta)</a:t>
                </a:r>
                <a:endParaRPr lang="pt-BR" altLang="pt-BR" sz="2000"/>
              </a:p>
            </p:txBody>
          </p:sp>
          <p:sp>
            <p:nvSpPr>
              <p:cNvPr id="21786" name="Rectangle 483">
                <a:extLst>
                  <a:ext uri="{FF2B5EF4-FFF2-40B4-BE49-F238E27FC236}">
                    <a16:creationId xmlns:a16="http://schemas.microsoft.com/office/drawing/2014/main" id="{D20A89DD-4674-4948-94CD-81559F640E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7" y="2001"/>
                <a:ext cx="621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787" name="Rectangle 484">
                <a:extLst>
                  <a:ext uri="{FF2B5EF4-FFF2-40B4-BE49-F238E27FC236}">
                    <a16:creationId xmlns:a16="http://schemas.microsoft.com/office/drawing/2014/main" id="{79430B46-E907-8A4F-A5F8-6138E8051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5" y="2012"/>
                <a:ext cx="59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Informações </a:t>
                </a:r>
                <a:endParaRPr lang="pt-BR" altLang="pt-BR" sz="2000"/>
              </a:p>
            </p:txBody>
          </p:sp>
          <p:sp>
            <p:nvSpPr>
              <p:cNvPr id="21788" name="Rectangle 485">
                <a:extLst>
                  <a:ext uri="{FF2B5EF4-FFF2-40B4-BE49-F238E27FC236}">
                    <a16:creationId xmlns:a16="http://schemas.microsoft.com/office/drawing/2014/main" id="{557FBB9F-BF8C-CF49-B969-51EF4ED12D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56" y="2127"/>
                <a:ext cx="490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adicionais </a:t>
                </a:r>
                <a:endParaRPr lang="pt-BR" altLang="pt-BR" sz="2000"/>
              </a:p>
            </p:txBody>
          </p:sp>
          <p:sp>
            <p:nvSpPr>
              <p:cNvPr id="21789" name="Rectangle 486">
                <a:extLst>
                  <a:ext uri="{FF2B5EF4-FFF2-40B4-BE49-F238E27FC236}">
                    <a16:creationId xmlns:a16="http://schemas.microsoft.com/office/drawing/2014/main" id="{DE07C106-128D-EB41-B66F-BADF575BB6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0" y="2241"/>
                <a:ext cx="51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qualitativas</a:t>
                </a:r>
                <a:endParaRPr lang="pt-BR" altLang="pt-BR" sz="2000"/>
              </a:p>
            </p:txBody>
          </p:sp>
        </p:grpSp>
        <p:sp>
          <p:nvSpPr>
            <p:cNvPr id="21692" name="Freeform 488">
              <a:extLst>
                <a:ext uri="{FF2B5EF4-FFF2-40B4-BE49-F238E27FC236}">
                  <a16:creationId xmlns:a16="http://schemas.microsoft.com/office/drawing/2014/main" id="{149BEA3B-6AEB-6744-9C17-972F688F1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994" y="1858"/>
              <a:ext cx="1431" cy="574"/>
            </a:xfrm>
            <a:custGeom>
              <a:avLst/>
              <a:gdLst>
                <a:gd name="T0" fmla="*/ 0 w 2863"/>
                <a:gd name="T1" fmla="*/ 0 h 1149"/>
                <a:gd name="T2" fmla="*/ 0 w 2863"/>
                <a:gd name="T3" fmla="*/ 0 h 1149"/>
                <a:gd name="T4" fmla="*/ 0 w 2863"/>
                <a:gd name="T5" fmla="*/ 0 h 1149"/>
                <a:gd name="T6" fmla="*/ 0 w 2863"/>
                <a:gd name="T7" fmla="*/ 0 h 1149"/>
                <a:gd name="T8" fmla="*/ 0 w 2863"/>
                <a:gd name="T9" fmla="*/ 0 h 1149"/>
                <a:gd name="T10" fmla="*/ 0 w 2863"/>
                <a:gd name="T11" fmla="*/ 0 h 1149"/>
                <a:gd name="T12" fmla="*/ 0 w 2863"/>
                <a:gd name="T13" fmla="*/ 0 h 1149"/>
                <a:gd name="T14" fmla="*/ 0 w 2863"/>
                <a:gd name="T15" fmla="*/ 0 h 1149"/>
                <a:gd name="T16" fmla="*/ 0 w 2863"/>
                <a:gd name="T17" fmla="*/ 0 h 1149"/>
                <a:gd name="T18" fmla="*/ 0 w 2863"/>
                <a:gd name="T19" fmla="*/ 0 h 1149"/>
                <a:gd name="T20" fmla="*/ 0 w 2863"/>
                <a:gd name="T21" fmla="*/ 0 h 1149"/>
                <a:gd name="T22" fmla="*/ 0 w 2863"/>
                <a:gd name="T23" fmla="*/ 0 h 1149"/>
                <a:gd name="T24" fmla="*/ 0 w 2863"/>
                <a:gd name="T25" fmla="*/ 0 h 1149"/>
                <a:gd name="T26" fmla="*/ 0 w 2863"/>
                <a:gd name="T27" fmla="*/ 0 h 1149"/>
                <a:gd name="T28" fmla="*/ 0 w 2863"/>
                <a:gd name="T29" fmla="*/ 0 h 1149"/>
                <a:gd name="T30" fmla="*/ 0 w 2863"/>
                <a:gd name="T31" fmla="*/ 0 h 1149"/>
                <a:gd name="T32" fmla="*/ 0 w 2863"/>
                <a:gd name="T33" fmla="*/ 0 h 1149"/>
                <a:gd name="T34" fmla="*/ 0 w 2863"/>
                <a:gd name="T35" fmla="*/ 0 h 1149"/>
                <a:gd name="T36" fmla="*/ 0 w 2863"/>
                <a:gd name="T37" fmla="*/ 0 h 1149"/>
                <a:gd name="T38" fmla="*/ 0 w 2863"/>
                <a:gd name="T39" fmla="*/ 0 h 1149"/>
                <a:gd name="T40" fmla="*/ 0 w 2863"/>
                <a:gd name="T41" fmla="*/ 0 h 1149"/>
                <a:gd name="T42" fmla="*/ 0 w 2863"/>
                <a:gd name="T43" fmla="*/ 0 h 1149"/>
                <a:gd name="T44" fmla="*/ 0 w 2863"/>
                <a:gd name="T45" fmla="*/ 0 h 1149"/>
                <a:gd name="T46" fmla="*/ 0 w 2863"/>
                <a:gd name="T47" fmla="*/ 0 h 1149"/>
                <a:gd name="T48" fmla="*/ 0 w 2863"/>
                <a:gd name="T49" fmla="*/ 0 h 1149"/>
                <a:gd name="T50" fmla="*/ 0 w 2863"/>
                <a:gd name="T51" fmla="*/ 0 h 1149"/>
                <a:gd name="T52" fmla="*/ 0 w 2863"/>
                <a:gd name="T53" fmla="*/ 0 h 1149"/>
                <a:gd name="T54" fmla="*/ 0 w 2863"/>
                <a:gd name="T55" fmla="*/ 0 h 1149"/>
                <a:gd name="T56" fmla="*/ 0 w 2863"/>
                <a:gd name="T57" fmla="*/ 0 h 1149"/>
                <a:gd name="T58" fmla="*/ 0 w 2863"/>
                <a:gd name="T59" fmla="*/ 0 h 1149"/>
                <a:gd name="T60" fmla="*/ 0 w 2863"/>
                <a:gd name="T61" fmla="*/ 0 h 1149"/>
                <a:gd name="T62" fmla="*/ 0 w 2863"/>
                <a:gd name="T63" fmla="*/ 0 h 1149"/>
                <a:gd name="T64" fmla="*/ 0 w 2863"/>
                <a:gd name="T65" fmla="*/ 0 h 1149"/>
                <a:gd name="T66" fmla="*/ 0 w 2863"/>
                <a:gd name="T67" fmla="*/ 0 h 1149"/>
                <a:gd name="T68" fmla="*/ 0 w 2863"/>
                <a:gd name="T69" fmla="*/ 0 h 1149"/>
                <a:gd name="T70" fmla="*/ 0 w 2863"/>
                <a:gd name="T71" fmla="*/ 0 h 1149"/>
                <a:gd name="T72" fmla="*/ 0 w 2863"/>
                <a:gd name="T73" fmla="*/ 0 h 1149"/>
                <a:gd name="T74" fmla="*/ 0 w 2863"/>
                <a:gd name="T75" fmla="*/ 0 h 1149"/>
                <a:gd name="T76" fmla="*/ 0 w 2863"/>
                <a:gd name="T77" fmla="*/ 0 h 1149"/>
                <a:gd name="T78" fmla="*/ 0 w 2863"/>
                <a:gd name="T79" fmla="*/ 0 h 1149"/>
                <a:gd name="T80" fmla="*/ 0 w 2863"/>
                <a:gd name="T81" fmla="*/ 0 h 1149"/>
                <a:gd name="T82" fmla="*/ 0 w 2863"/>
                <a:gd name="T83" fmla="*/ 0 h 1149"/>
                <a:gd name="T84" fmla="*/ 0 w 2863"/>
                <a:gd name="T85" fmla="*/ 0 h 1149"/>
                <a:gd name="T86" fmla="*/ 0 w 2863"/>
                <a:gd name="T87" fmla="*/ 0 h 1149"/>
                <a:gd name="T88" fmla="*/ 0 w 2863"/>
                <a:gd name="T89" fmla="*/ 0 h 114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2863"/>
                <a:gd name="T136" fmla="*/ 0 h 1149"/>
                <a:gd name="T137" fmla="*/ 2863 w 2863"/>
                <a:gd name="T138" fmla="*/ 1149 h 1149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2863" h="1149">
                  <a:moveTo>
                    <a:pt x="191" y="0"/>
                  </a:moveTo>
                  <a:lnTo>
                    <a:pt x="171" y="2"/>
                  </a:lnTo>
                  <a:lnTo>
                    <a:pt x="153" y="4"/>
                  </a:lnTo>
                  <a:lnTo>
                    <a:pt x="117" y="16"/>
                  </a:lnTo>
                  <a:lnTo>
                    <a:pt x="84" y="32"/>
                  </a:lnTo>
                  <a:lnTo>
                    <a:pt x="56" y="56"/>
                  </a:lnTo>
                  <a:lnTo>
                    <a:pt x="32" y="84"/>
                  </a:lnTo>
                  <a:lnTo>
                    <a:pt x="16" y="118"/>
                  </a:lnTo>
                  <a:lnTo>
                    <a:pt x="4" y="154"/>
                  </a:lnTo>
                  <a:lnTo>
                    <a:pt x="2" y="172"/>
                  </a:lnTo>
                  <a:lnTo>
                    <a:pt x="0" y="192"/>
                  </a:lnTo>
                  <a:lnTo>
                    <a:pt x="0" y="958"/>
                  </a:lnTo>
                  <a:lnTo>
                    <a:pt x="2" y="978"/>
                  </a:lnTo>
                  <a:lnTo>
                    <a:pt x="4" y="996"/>
                  </a:lnTo>
                  <a:lnTo>
                    <a:pt x="16" y="1032"/>
                  </a:lnTo>
                  <a:lnTo>
                    <a:pt x="32" y="1066"/>
                  </a:lnTo>
                  <a:lnTo>
                    <a:pt x="56" y="1094"/>
                  </a:lnTo>
                  <a:lnTo>
                    <a:pt x="84" y="1118"/>
                  </a:lnTo>
                  <a:lnTo>
                    <a:pt x="117" y="1133"/>
                  </a:lnTo>
                  <a:lnTo>
                    <a:pt x="153" y="1145"/>
                  </a:lnTo>
                  <a:lnTo>
                    <a:pt x="171" y="1149"/>
                  </a:lnTo>
                  <a:lnTo>
                    <a:pt x="191" y="1149"/>
                  </a:lnTo>
                  <a:lnTo>
                    <a:pt x="2672" y="1149"/>
                  </a:lnTo>
                  <a:lnTo>
                    <a:pt x="2692" y="1149"/>
                  </a:lnTo>
                  <a:lnTo>
                    <a:pt x="2710" y="1145"/>
                  </a:lnTo>
                  <a:lnTo>
                    <a:pt x="2746" y="1133"/>
                  </a:lnTo>
                  <a:lnTo>
                    <a:pt x="2780" y="1118"/>
                  </a:lnTo>
                  <a:lnTo>
                    <a:pt x="2808" y="1094"/>
                  </a:lnTo>
                  <a:lnTo>
                    <a:pt x="2831" y="1066"/>
                  </a:lnTo>
                  <a:lnTo>
                    <a:pt x="2847" y="1032"/>
                  </a:lnTo>
                  <a:lnTo>
                    <a:pt x="2859" y="996"/>
                  </a:lnTo>
                  <a:lnTo>
                    <a:pt x="2863" y="978"/>
                  </a:lnTo>
                  <a:lnTo>
                    <a:pt x="2863" y="958"/>
                  </a:lnTo>
                  <a:lnTo>
                    <a:pt x="2863" y="192"/>
                  </a:lnTo>
                  <a:lnTo>
                    <a:pt x="2863" y="172"/>
                  </a:lnTo>
                  <a:lnTo>
                    <a:pt x="2859" y="154"/>
                  </a:lnTo>
                  <a:lnTo>
                    <a:pt x="2847" y="118"/>
                  </a:lnTo>
                  <a:lnTo>
                    <a:pt x="2831" y="84"/>
                  </a:lnTo>
                  <a:lnTo>
                    <a:pt x="2808" y="56"/>
                  </a:lnTo>
                  <a:lnTo>
                    <a:pt x="2780" y="32"/>
                  </a:lnTo>
                  <a:lnTo>
                    <a:pt x="2746" y="16"/>
                  </a:lnTo>
                  <a:lnTo>
                    <a:pt x="2710" y="4"/>
                  </a:lnTo>
                  <a:lnTo>
                    <a:pt x="2692" y="2"/>
                  </a:lnTo>
                  <a:lnTo>
                    <a:pt x="2672" y="0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EAEAEA"/>
            </a:solidFill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693" name="Rectangle 489">
              <a:extLst>
                <a:ext uri="{FF2B5EF4-FFF2-40B4-BE49-F238E27FC236}">
                  <a16:creationId xmlns:a16="http://schemas.microsoft.com/office/drawing/2014/main" id="{1CD077A0-AC56-3647-8846-558CE479F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7" y="1810"/>
              <a:ext cx="926" cy="12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94" name="Rectangle 490">
              <a:extLst>
                <a:ext uri="{FF2B5EF4-FFF2-40B4-BE49-F238E27FC236}">
                  <a16:creationId xmlns:a16="http://schemas.microsoft.com/office/drawing/2014/main" id="{6E007497-4357-7341-83B5-6F18474153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3" y="1820"/>
              <a:ext cx="91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Especificações meta</a:t>
              </a:r>
              <a:endParaRPr lang="pt-BR" altLang="pt-BR" sz="2000"/>
            </a:p>
          </p:txBody>
        </p:sp>
        <p:grpSp>
          <p:nvGrpSpPr>
            <p:cNvPr id="21695" name="Group 577">
              <a:extLst>
                <a:ext uri="{FF2B5EF4-FFF2-40B4-BE49-F238E27FC236}">
                  <a16:creationId xmlns:a16="http://schemas.microsoft.com/office/drawing/2014/main" id="{423AD169-1468-BF4C-B6CD-342EA5FEFA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" y="1231"/>
              <a:ext cx="4509" cy="2413"/>
              <a:chOff x="87" y="1231"/>
              <a:chExt cx="4509" cy="2413"/>
            </a:xfrm>
          </p:grpSpPr>
          <p:sp>
            <p:nvSpPr>
              <p:cNvPr id="21696" name="Rectangle 491">
                <a:extLst>
                  <a:ext uri="{FF2B5EF4-FFF2-40B4-BE49-F238E27FC236}">
                    <a16:creationId xmlns:a16="http://schemas.microsoft.com/office/drawing/2014/main" id="{FC347F70-2DD7-384A-86C8-A8F4CE6078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1" y="2001"/>
                <a:ext cx="638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697" name="Rectangle 492">
                <a:extLst>
                  <a:ext uri="{FF2B5EF4-FFF2-40B4-BE49-F238E27FC236}">
                    <a16:creationId xmlns:a16="http://schemas.microsoft.com/office/drawing/2014/main" id="{B7BF4D7B-9547-274A-9058-776E7E6543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" y="2012"/>
                <a:ext cx="64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Requisitos do </a:t>
                </a:r>
                <a:endParaRPr lang="pt-BR" altLang="pt-BR" sz="2000"/>
              </a:p>
            </p:txBody>
          </p:sp>
          <p:sp>
            <p:nvSpPr>
              <p:cNvPr id="21698" name="Rectangle 493">
                <a:extLst>
                  <a:ext uri="{FF2B5EF4-FFF2-40B4-BE49-F238E27FC236}">
                    <a16:creationId xmlns:a16="http://schemas.microsoft.com/office/drawing/2014/main" id="{18A4451E-6054-2D4B-BC17-CCEF3C7E0A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8" y="2127"/>
                <a:ext cx="39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produto </a:t>
                </a:r>
                <a:endParaRPr lang="pt-BR" altLang="pt-BR" sz="2000"/>
              </a:p>
            </p:txBody>
          </p:sp>
          <p:sp>
            <p:nvSpPr>
              <p:cNvPr id="21699" name="Rectangle 494">
                <a:extLst>
                  <a:ext uri="{FF2B5EF4-FFF2-40B4-BE49-F238E27FC236}">
                    <a16:creationId xmlns:a16="http://schemas.microsoft.com/office/drawing/2014/main" id="{44553086-4F3C-F445-B08C-29D280F433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5" y="2241"/>
                <a:ext cx="55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(valor meta)</a:t>
                </a:r>
                <a:endParaRPr lang="pt-BR" altLang="pt-BR" sz="2000"/>
              </a:p>
            </p:txBody>
          </p:sp>
          <p:sp>
            <p:nvSpPr>
              <p:cNvPr id="21700" name="Rectangle 495">
                <a:extLst>
                  <a:ext uri="{FF2B5EF4-FFF2-40B4-BE49-F238E27FC236}">
                    <a16:creationId xmlns:a16="http://schemas.microsoft.com/office/drawing/2014/main" id="{4A466ACB-8411-8B4E-9EC7-DECF23A641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7" y="2001"/>
                <a:ext cx="621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701" name="Rectangle 496">
                <a:extLst>
                  <a:ext uri="{FF2B5EF4-FFF2-40B4-BE49-F238E27FC236}">
                    <a16:creationId xmlns:a16="http://schemas.microsoft.com/office/drawing/2014/main" id="{B301BFCF-BFC9-D145-8F61-72B127A027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5" y="2012"/>
                <a:ext cx="59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Informações </a:t>
                </a:r>
                <a:endParaRPr lang="pt-BR" altLang="pt-BR" sz="2000"/>
              </a:p>
            </p:txBody>
          </p:sp>
          <p:sp>
            <p:nvSpPr>
              <p:cNvPr id="21702" name="Rectangle 497">
                <a:extLst>
                  <a:ext uri="{FF2B5EF4-FFF2-40B4-BE49-F238E27FC236}">
                    <a16:creationId xmlns:a16="http://schemas.microsoft.com/office/drawing/2014/main" id="{C5A2FE4D-DCBC-9048-8509-A493D6E9D3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56" y="2127"/>
                <a:ext cx="490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adicionais </a:t>
                </a:r>
                <a:endParaRPr lang="pt-BR" altLang="pt-BR" sz="2000"/>
              </a:p>
            </p:txBody>
          </p:sp>
          <p:sp>
            <p:nvSpPr>
              <p:cNvPr id="21703" name="Rectangle 498">
                <a:extLst>
                  <a:ext uri="{FF2B5EF4-FFF2-40B4-BE49-F238E27FC236}">
                    <a16:creationId xmlns:a16="http://schemas.microsoft.com/office/drawing/2014/main" id="{A1CA4389-02D1-4942-A908-C1A48B62A3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0" y="2241"/>
                <a:ext cx="51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qualitativas</a:t>
                </a:r>
                <a:endParaRPr lang="pt-BR" altLang="pt-BR" sz="2000"/>
              </a:p>
            </p:txBody>
          </p:sp>
          <p:sp>
            <p:nvSpPr>
              <p:cNvPr id="21704" name="Rectangle 499">
                <a:extLst>
                  <a:ext uri="{FF2B5EF4-FFF2-40B4-BE49-F238E27FC236}">
                    <a16:creationId xmlns:a16="http://schemas.microsoft.com/office/drawing/2014/main" id="{BDD5D545-6E3E-0443-8876-B4F9DED50D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1" y="2001"/>
                <a:ext cx="638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705" name="Rectangle 500">
                <a:extLst>
                  <a:ext uri="{FF2B5EF4-FFF2-40B4-BE49-F238E27FC236}">
                    <a16:creationId xmlns:a16="http://schemas.microsoft.com/office/drawing/2014/main" id="{6DE442B1-51C7-0441-AA2E-EC0FAC0627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" y="2012"/>
                <a:ext cx="64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Requisitos do </a:t>
                </a:r>
                <a:endParaRPr lang="pt-BR" altLang="pt-BR" sz="2000"/>
              </a:p>
            </p:txBody>
          </p:sp>
          <p:sp>
            <p:nvSpPr>
              <p:cNvPr id="21706" name="Rectangle 501">
                <a:extLst>
                  <a:ext uri="{FF2B5EF4-FFF2-40B4-BE49-F238E27FC236}">
                    <a16:creationId xmlns:a16="http://schemas.microsoft.com/office/drawing/2014/main" id="{71C0FCCF-C59E-1145-BD92-530C747208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8" y="2127"/>
                <a:ext cx="39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produto </a:t>
                </a:r>
                <a:endParaRPr lang="pt-BR" altLang="pt-BR" sz="2000"/>
              </a:p>
            </p:txBody>
          </p:sp>
          <p:sp>
            <p:nvSpPr>
              <p:cNvPr id="21707" name="Rectangle 502">
                <a:extLst>
                  <a:ext uri="{FF2B5EF4-FFF2-40B4-BE49-F238E27FC236}">
                    <a16:creationId xmlns:a16="http://schemas.microsoft.com/office/drawing/2014/main" id="{EE3EC59E-0CAB-5A4C-A339-F01FEDEA34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5" y="2241"/>
                <a:ext cx="55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(valor meta)</a:t>
                </a:r>
                <a:endParaRPr lang="pt-BR" altLang="pt-BR" sz="2000"/>
              </a:p>
            </p:txBody>
          </p:sp>
          <p:sp>
            <p:nvSpPr>
              <p:cNvPr id="21708" name="Rectangle 503">
                <a:extLst>
                  <a:ext uri="{FF2B5EF4-FFF2-40B4-BE49-F238E27FC236}">
                    <a16:creationId xmlns:a16="http://schemas.microsoft.com/office/drawing/2014/main" id="{D1F07235-E51B-F54E-A90F-5819BE4017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7" y="2001"/>
                <a:ext cx="621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709" name="Rectangle 504">
                <a:extLst>
                  <a:ext uri="{FF2B5EF4-FFF2-40B4-BE49-F238E27FC236}">
                    <a16:creationId xmlns:a16="http://schemas.microsoft.com/office/drawing/2014/main" id="{D33525AB-25B0-9E44-8DBF-D38E17B8FF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5" y="2012"/>
                <a:ext cx="59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Informações </a:t>
                </a:r>
                <a:endParaRPr lang="pt-BR" altLang="pt-BR" sz="2000"/>
              </a:p>
            </p:txBody>
          </p:sp>
          <p:sp>
            <p:nvSpPr>
              <p:cNvPr id="21710" name="Rectangle 505">
                <a:extLst>
                  <a:ext uri="{FF2B5EF4-FFF2-40B4-BE49-F238E27FC236}">
                    <a16:creationId xmlns:a16="http://schemas.microsoft.com/office/drawing/2014/main" id="{E4A21987-7B0E-EA4B-8814-5C4B66670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56" y="2127"/>
                <a:ext cx="490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adicionais </a:t>
                </a:r>
                <a:endParaRPr lang="pt-BR" altLang="pt-BR" sz="2000"/>
              </a:p>
            </p:txBody>
          </p:sp>
          <p:sp>
            <p:nvSpPr>
              <p:cNvPr id="21711" name="Rectangle 506">
                <a:extLst>
                  <a:ext uri="{FF2B5EF4-FFF2-40B4-BE49-F238E27FC236}">
                    <a16:creationId xmlns:a16="http://schemas.microsoft.com/office/drawing/2014/main" id="{92A60E98-CF21-1041-AAAE-A091B8921A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0" y="2241"/>
                <a:ext cx="51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qualitativas</a:t>
                </a:r>
                <a:endParaRPr lang="pt-BR" altLang="pt-BR" sz="2000"/>
              </a:p>
            </p:txBody>
          </p:sp>
          <p:sp>
            <p:nvSpPr>
              <p:cNvPr id="21712" name="Rectangle 507">
                <a:extLst>
                  <a:ext uri="{FF2B5EF4-FFF2-40B4-BE49-F238E27FC236}">
                    <a16:creationId xmlns:a16="http://schemas.microsoft.com/office/drawing/2014/main" id="{946E2045-80D0-4041-BFF8-A1FEBD51A9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0" y="2528"/>
                <a:ext cx="669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713" name="Rectangle 508">
                <a:extLst>
                  <a:ext uri="{FF2B5EF4-FFF2-40B4-BE49-F238E27FC236}">
                    <a16:creationId xmlns:a16="http://schemas.microsoft.com/office/drawing/2014/main" id="{BA597B51-45EE-CA4F-95A8-A6A5592305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2" y="2539"/>
                <a:ext cx="51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Requisitos </a:t>
                </a:r>
                <a:endParaRPr lang="pt-BR" altLang="pt-BR" sz="2000"/>
              </a:p>
            </p:txBody>
          </p:sp>
          <p:sp>
            <p:nvSpPr>
              <p:cNvPr id="21714" name="Rectangle 509">
                <a:extLst>
                  <a:ext uri="{FF2B5EF4-FFF2-40B4-BE49-F238E27FC236}">
                    <a16:creationId xmlns:a16="http://schemas.microsoft.com/office/drawing/2014/main" id="{5A188658-420F-8148-8E88-BD866FD585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2" y="2654"/>
                <a:ext cx="22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dos </a:t>
                </a:r>
                <a:endParaRPr lang="pt-BR" altLang="pt-BR" sz="2000"/>
              </a:p>
            </p:txBody>
          </p:sp>
          <p:sp>
            <p:nvSpPr>
              <p:cNvPr id="21715" name="Rectangle 510">
                <a:extLst>
                  <a:ext uri="{FF2B5EF4-FFF2-40B4-BE49-F238E27FC236}">
                    <a16:creationId xmlns:a16="http://schemas.microsoft.com/office/drawing/2014/main" id="{D0A1A912-DB12-4446-B20B-FDED8B3DA9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2" y="2654"/>
                <a:ext cx="28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SSCs</a:t>
                </a:r>
                <a:endParaRPr lang="pt-BR" altLang="pt-BR" sz="2000"/>
              </a:p>
            </p:txBody>
          </p:sp>
          <p:sp>
            <p:nvSpPr>
              <p:cNvPr id="21716" name="Rectangle 511">
                <a:extLst>
                  <a:ext uri="{FF2B5EF4-FFF2-40B4-BE49-F238E27FC236}">
                    <a16:creationId xmlns:a16="http://schemas.microsoft.com/office/drawing/2014/main" id="{88FA6520-2993-CE47-9A5A-E4FD18968A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8" y="2768"/>
                <a:ext cx="65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(desdobrados)</a:t>
                </a:r>
                <a:endParaRPr lang="pt-BR" altLang="pt-BR" sz="2000"/>
              </a:p>
            </p:txBody>
          </p:sp>
          <p:sp>
            <p:nvSpPr>
              <p:cNvPr id="21717" name="Rectangle 512">
                <a:extLst>
                  <a:ext uri="{FF2B5EF4-FFF2-40B4-BE49-F238E27FC236}">
                    <a16:creationId xmlns:a16="http://schemas.microsoft.com/office/drawing/2014/main" id="{25EFE6CC-3ECE-3442-9D69-F68200D724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8" y="3059"/>
                <a:ext cx="812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718" name="Rectangle 513">
                <a:extLst>
                  <a:ext uri="{FF2B5EF4-FFF2-40B4-BE49-F238E27FC236}">
                    <a16:creationId xmlns:a16="http://schemas.microsoft.com/office/drawing/2014/main" id="{80F86C23-24AB-094C-A2DA-0A97857BCD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6" y="3070"/>
                <a:ext cx="70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Especificações </a:t>
                </a:r>
                <a:endParaRPr lang="pt-BR" altLang="pt-BR" sz="2000"/>
              </a:p>
            </p:txBody>
          </p:sp>
          <p:sp>
            <p:nvSpPr>
              <p:cNvPr id="21719" name="Rectangle 514">
                <a:extLst>
                  <a:ext uri="{FF2B5EF4-FFF2-40B4-BE49-F238E27FC236}">
                    <a16:creationId xmlns:a16="http://schemas.microsoft.com/office/drawing/2014/main" id="{C1ABF39B-6F50-EA40-9BFA-E1182458D4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6" y="3184"/>
                <a:ext cx="533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iniciais dos </a:t>
                </a:r>
                <a:endParaRPr lang="pt-BR" altLang="pt-BR" sz="2000"/>
              </a:p>
            </p:txBody>
          </p:sp>
          <p:sp>
            <p:nvSpPr>
              <p:cNvPr id="21720" name="Rectangle 515">
                <a:extLst>
                  <a:ext uri="{FF2B5EF4-FFF2-40B4-BE49-F238E27FC236}">
                    <a16:creationId xmlns:a16="http://schemas.microsoft.com/office/drawing/2014/main" id="{0C36016E-DC05-9747-B149-CF802CD1C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7" y="3184"/>
                <a:ext cx="31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SSCs </a:t>
                </a:r>
                <a:endParaRPr lang="pt-BR" altLang="pt-BR" sz="2000"/>
              </a:p>
            </p:txBody>
          </p:sp>
          <p:sp>
            <p:nvSpPr>
              <p:cNvPr id="21721" name="Rectangle 516">
                <a:extLst>
                  <a:ext uri="{FF2B5EF4-FFF2-40B4-BE49-F238E27FC236}">
                    <a16:creationId xmlns:a16="http://schemas.microsoft.com/office/drawing/2014/main" id="{77571455-D430-1745-A995-A086C9ECD3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28" y="3390"/>
                <a:ext cx="623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722" name="Rectangle 517">
                <a:extLst>
                  <a:ext uri="{FF2B5EF4-FFF2-40B4-BE49-F238E27FC236}">
                    <a16:creationId xmlns:a16="http://schemas.microsoft.com/office/drawing/2014/main" id="{3FFC6517-E0AA-D847-89EA-017A629775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1" y="3401"/>
                <a:ext cx="60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Plano macro </a:t>
                </a:r>
                <a:endParaRPr lang="pt-BR" altLang="pt-BR" sz="2000"/>
              </a:p>
            </p:txBody>
          </p:sp>
          <p:sp>
            <p:nvSpPr>
              <p:cNvPr id="21723" name="Rectangle 518">
                <a:extLst>
                  <a:ext uri="{FF2B5EF4-FFF2-40B4-BE49-F238E27FC236}">
                    <a16:creationId xmlns:a16="http://schemas.microsoft.com/office/drawing/2014/main" id="{2491B58F-EF49-404F-B3B9-3F18E7EF0B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9" y="3516"/>
                <a:ext cx="560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de processo</a:t>
                </a:r>
                <a:endParaRPr lang="pt-BR" altLang="pt-BR" sz="2000"/>
              </a:p>
            </p:txBody>
          </p:sp>
          <p:grpSp>
            <p:nvGrpSpPr>
              <p:cNvPr id="21724" name="Group 521">
                <a:extLst>
                  <a:ext uri="{FF2B5EF4-FFF2-40B4-BE49-F238E27FC236}">
                    <a16:creationId xmlns:a16="http://schemas.microsoft.com/office/drawing/2014/main" id="{E2910193-88E2-B240-B6FC-10333830EB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29" y="2146"/>
                <a:ext cx="212" cy="63"/>
                <a:chOff x="829" y="2146"/>
                <a:chExt cx="212" cy="63"/>
              </a:xfrm>
            </p:grpSpPr>
            <p:sp>
              <p:nvSpPr>
                <p:cNvPr id="21780" name="Line 519">
                  <a:extLst>
                    <a:ext uri="{FF2B5EF4-FFF2-40B4-BE49-F238E27FC236}">
                      <a16:creationId xmlns:a16="http://schemas.microsoft.com/office/drawing/2014/main" id="{F8D9C226-EA4C-1A44-BDC9-F11E481673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9" y="2177"/>
                  <a:ext cx="153" cy="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781" name="Freeform 520">
                  <a:extLst>
                    <a:ext uri="{FF2B5EF4-FFF2-40B4-BE49-F238E27FC236}">
                      <a16:creationId xmlns:a16="http://schemas.microsoft.com/office/drawing/2014/main" id="{7541AF1E-5A55-2644-8A8F-5B5FA644DF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80" y="2146"/>
                  <a:ext cx="61" cy="63"/>
                </a:xfrm>
                <a:custGeom>
                  <a:avLst/>
                  <a:gdLst>
                    <a:gd name="T0" fmla="*/ 0 w 124"/>
                    <a:gd name="T1" fmla="*/ 1 h 125"/>
                    <a:gd name="T2" fmla="*/ 0 w 124"/>
                    <a:gd name="T3" fmla="*/ 1 h 125"/>
                    <a:gd name="T4" fmla="*/ 0 w 124"/>
                    <a:gd name="T5" fmla="*/ 0 h 125"/>
                    <a:gd name="T6" fmla="*/ 0 w 124"/>
                    <a:gd name="T7" fmla="*/ 1 h 12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4"/>
                    <a:gd name="T13" fmla="*/ 0 h 125"/>
                    <a:gd name="T14" fmla="*/ 124 w 124"/>
                    <a:gd name="T15" fmla="*/ 125 h 12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4" h="125">
                      <a:moveTo>
                        <a:pt x="0" y="125"/>
                      </a:moveTo>
                      <a:lnTo>
                        <a:pt x="124" y="62"/>
                      </a:lnTo>
                      <a:lnTo>
                        <a:pt x="0" y="0"/>
                      </a:lnTo>
                      <a:lnTo>
                        <a:pt x="0" y="1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725" name="Group 524">
                <a:extLst>
                  <a:ext uri="{FF2B5EF4-FFF2-40B4-BE49-F238E27FC236}">
                    <a16:creationId xmlns:a16="http://schemas.microsoft.com/office/drawing/2014/main" id="{E1DBF65F-E05A-2942-850C-40ED7BA79C1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25" y="2115"/>
                <a:ext cx="215" cy="63"/>
                <a:chOff x="2425" y="2115"/>
                <a:chExt cx="215" cy="63"/>
              </a:xfrm>
            </p:grpSpPr>
            <p:sp>
              <p:nvSpPr>
                <p:cNvPr id="21778" name="Line 522">
                  <a:extLst>
                    <a:ext uri="{FF2B5EF4-FFF2-40B4-BE49-F238E27FC236}">
                      <a16:creationId xmlns:a16="http://schemas.microsoft.com/office/drawing/2014/main" id="{2DDD1A03-C2C2-9241-A72D-55BA115C74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25" y="2145"/>
                  <a:ext cx="154" cy="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779" name="Freeform 523">
                  <a:extLst>
                    <a:ext uri="{FF2B5EF4-FFF2-40B4-BE49-F238E27FC236}">
                      <a16:creationId xmlns:a16="http://schemas.microsoft.com/office/drawing/2014/main" id="{5133BDEF-7CAE-DA4E-AC3B-99FEB5977E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77" y="2115"/>
                  <a:ext cx="63" cy="63"/>
                </a:xfrm>
                <a:custGeom>
                  <a:avLst/>
                  <a:gdLst>
                    <a:gd name="T0" fmla="*/ 0 w 126"/>
                    <a:gd name="T1" fmla="*/ 1 h 126"/>
                    <a:gd name="T2" fmla="*/ 1 w 126"/>
                    <a:gd name="T3" fmla="*/ 1 h 126"/>
                    <a:gd name="T4" fmla="*/ 0 w 126"/>
                    <a:gd name="T5" fmla="*/ 0 h 126"/>
                    <a:gd name="T6" fmla="*/ 0 w 126"/>
                    <a:gd name="T7" fmla="*/ 1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6"/>
                    <a:gd name="T13" fmla="*/ 0 h 126"/>
                    <a:gd name="T14" fmla="*/ 126 w 126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6" h="126">
                      <a:moveTo>
                        <a:pt x="0" y="126"/>
                      </a:moveTo>
                      <a:lnTo>
                        <a:pt x="126" y="64"/>
                      </a:lnTo>
                      <a:lnTo>
                        <a:pt x="0" y="0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726" name="Group 527">
                <a:extLst>
                  <a:ext uri="{FF2B5EF4-FFF2-40B4-BE49-F238E27FC236}">
                    <a16:creationId xmlns:a16="http://schemas.microsoft.com/office/drawing/2014/main" id="{A4B95401-D587-F54F-A55A-BBACF4667E3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20" y="2146"/>
                <a:ext cx="346" cy="96"/>
                <a:chOff x="3320" y="2146"/>
                <a:chExt cx="346" cy="96"/>
              </a:xfrm>
            </p:grpSpPr>
            <p:sp>
              <p:nvSpPr>
                <p:cNvPr id="21776" name="Line 525">
                  <a:extLst>
                    <a:ext uri="{FF2B5EF4-FFF2-40B4-BE49-F238E27FC236}">
                      <a16:creationId xmlns:a16="http://schemas.microsoft.com/office/drawing/2014/main" id="{56CDEBCC-9FAC-F34C-A31C-C1E24837AE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20" y="2146"/>
                  <a:ext cx="288" cy="65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777" name="Freeform 526">
                  <a:extLst>
                    <a:ext uri="{FF2B5EF4-FFF2-40B4-BE49-F238E27FC236}">
                      <a16:creationId xmlns:a16="http://schemas.microsoft.com/office/drawing/2014/main" id="{6265DA85-6049-984F-9278-582227C478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98" y="2181"/>
                  <a:ext cx="68" cy="61"/>
                </a:xfrm>
                <a:custGeom>
                  <a:avLst/>
                  <a:gdLst>
                    <a:gd name="T0" fmla="*/ 0 w 136"/>
                    <a:gd name="T1" fmla="*/ 1 h 121"/>
                    <a:gd name="T2" fmla="*/ 1 w 136"/>
                    <a:gd name="T3" fmla="*/ 1 h 121"/>
                    <a:gd name="T4" fmla="*/ 1 w 136"/>
                    <a:gd name="T5" fmla="*/ 0 h 121"/>
                    <a:gd name="T6" fmla="*/ 0 w 136"/>
                    <a:gd name="T7" fmla="*/ 1 h 12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6"/>
                    <a:gd name="T13" fmla="*/ 0 h 121"/>
                    <a:gd name="T14" fmla="*/ 136 w 136"/>
                    <a:gd name="T15" fmla="*/ 121 h 12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6" h="121">
                      <a:moveTo>
                        <a:pt x="0" y="121"/>
                      </a:moveTo>
                      <a:lnTo>
                        <a:pt x="136" y="87"/>
                      </a:lnTo>
                      <a:lnTo>
                        <a:pt x="28" y="0"/>
                      </a:lnTo>
                      <a:lnTo>
                        <a:pt x="0" y="1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727" name="Group 530">
                <a:extLst>
                  <a:ext uri="{FF2B5EF4-FFF2-40B4-BE49-F238E27FC236}">
                    <a16:creationId xmlns:a16="http://schemas.microsoft.com/office/drawing/2014/main" id="{6B5F23CC-6AB6-EB43-83E3-9791D28DEA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94" y="2351"/>
                <a:ext cx="65" cy="177"/>
                <a:chOff x="1294" y="2351"/>
                <a:chExt cx="65" cy="177"/>
              </a:xfrm>
            </p:grpSpPr>
            <p:sp>
              <p:nvSpPr>
                <p:cNvPr id="21774" name="Line 528">
                  <a:extLst>
                    <a:ext uri="{FF2B5EF4-FFF2-40B4-BE49-F238E27FC236}">
                      <a16:creationId xmlns:a16="http://schemas.microsoft.com/office/drawing/2014/main" id="{85380327-BF85-CA45-B935-2BDBD6276E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23" y="2351"/>
                  <a:ext cx="36" cy="120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775" name="Freeform 529">
                  <a:extLst>
                    <a:ext uri="{FF2B5EF4-FFF2-40B4-BE49-F238E27FC236}">
                      <a16:creationId xmlns:a16="http://schemas.microsoft.com/office/drawing/2014/main" id="{C4BA7284-2203-094B-A58D-C280458EE6F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94" y="2459"/>
                  <a:ext cx="59" cy="69"/>
                </a:xfrm>
                <a:custGeom>
                  <a:avLst/>
                  <a:gdLst>
                    <a:gd name="T0" fmla="*/ 0 w 119"/>
                    <a:gd name="T1" fmla="*/ 0 h 138"/>
                    <a:gd name="T2" fmla="*/ 0 w 119"/>
                    <a:gd name="T3" fmla="*/ 1 h 138"/>
                    <a:gd name="T4" fmla="*/ 0 w 119"/>
                    <a:gd name="T5" fmla="*/ 1 h 138"/>
                    <a:gd name="T6" fmla="*/ 0 w 119"/>
                    <a:gd name="T7" fmla="*/ 0 h 13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19"/>
                    <a:gd name="T13" fmla="*/ 0 h 138"/>
                    <a:gd name="T14" fmla="*/ 119 w 119"/>
                    <a:gd name="T15" fmla="*/ 138 h 13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19" h="138">
                      <a:moveTo>
                        <a:pt x="0" y="0"/>
                      </a:moveTo>
                      <a:lnTo>
                        <a:pt x="19" y="138"/>
                      </a:lnTo>
                      <a:lnTo>
                        <a:pt x="119" y="3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728" name="Group 533">
                <a:extLst>
                  <a:ext uri="{FF2B5EF4-FFF2-40B4-BE49-F238E27FC236}">
                    <a16:creationId xmlns:a16="http://schemas.microsoft.com/office/drawing/2014/main" id="{3CFCD857-96FD-1C40-9EA9-F2B540B2A3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38" y="2672"/>
                <a:ext cx="978" cy="63"/>
                <a:chOff x="1638" y="2672"/>
                <a:chExt cx="978" cy="63"/>
              </a:xfrm>
            </p:grpSpPr>
            <p:sp>
              <p:nvSpPr>
                <p:cNvPr id="21772" name="Line 531">
                  <a:extLst>
                    <a:ext uri="{FF2B5EF4-FFF2-40B4-BE49-F238E27FC236}">
                      <a16:creationId xmlns:a16="http://schemas.microsoft.com/office/drawing/2014/main" id="{F9F192F4-13CD-B24C-B84E-D76B5385A1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638" y="2703"/>
                  <a:ext cx="918" cy="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773" name="Freeform 532">
                  <a:extLst>
                    <a:ext uri="{FF2B5EF4-FFF2-40B4-BE49-F238E27FC236}">
                      <a16:creationId xmlns:a16="http://schemas.microsoft.com/office/drawing/2014/main" id="{CE994B47-07D4-3846-8302-F0A3F27662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54" y="2672"/>
                  <a:ext cx="62" cy="63"/>
                </a:xfrm>
                <a:custGeom>
                  <a:avLst/>
                  <a:gdLst>
                    <a:gd name="T0" fmla="*/ 0 w 123"/>
                    <a:gd name="T1" fmla="*/ 1 h 126"/>
                    <a:gd name="T2" fmla="*/ 1 w 123"/>
                    <a:gd name="T3" fmla="*/ 1 h 126"/>
                    <a:gd name="T4" fmla="*/ 0 w 123"/>
                    <a:gd name="T5" fmla="*/ 0 h 126"/>
                    <a:gd name="T6" fmla="*/ 0 w 123"/>
                    <a:gd name="T7" fmla="*/ 1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3"/>
                    <a:gd name="T13" fmla="*/ 0 h 126"/>
                    <a:gd name="T14" fmla="*/ 123 w 123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3" h="126">
                      <a:moveTo>
                        <a:pt x="0" y="126"/>
                      </a:moveTo>
                      <a:lnTo>
                        <a:pt x="123" y="64"/>
                      </a:lnTo>
                      <a:lnTo>
                        <a:pt x="0" y="0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729" name="Group 536">
                <a:extLst>
                  <a:ext uri="{FF2B5EF4-FFF2-40B4-BE49-F238E27FC236}">
                    <a16:creationId xmlns:a16="http://schemas.microsoft.com/office/drawing/2014/main" id="{7F953274-FDF9-3740-A6B4-7D544623DB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44" y="2320"/>
                <a:ext cx="63" cy="266"/>
                <a:chOff x="2944" y="2320"/>
                <a:chExt cx="63" cy="266"/>
              </a:xfrm>
            </p:grpSpPr>
            <p:sp>
              <p:nvSpPr>
                <p:cNvPr id="21770" name="Line 534">
                  <a:extLst>
                    <a:ext uri="{FF2B5EF4-FFF2-40B4-BE49-F238E27FC236}">
                      <a16:creationId xmlns:a16="http://schemas.microsoft.com/office/drawing/2014/main" id="{FDEA22D0-D22D-8C4E-86CF-B4998144F2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975" y="2320"/>
                  <a:ext cx="5" cy="205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771" name="Freeform 535">
                  <a:extLst>
                    <a:ext uri="{FF2B5EF4-FFF2-40B4-BE49-F238E27FC236}">
                      <a16:creationId xmlns:a16="http://schemas.microsoft.com/office/drawing/2014/main" id="{DB193DE6-445B-874E-AD6E-D4002F754B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44" y="2522"/>
                  <a:ext cx="63" cy="64"/>
                </a:xfrm>
                <a:custGeom>
                  <a:avLst/>
                  <a:gdLst>
                    <a:gd name="T0" fmla="*/ 0 w 125"/>
                    <a:gd name="T1" fmla="*/ 0 h 128"/>
                    <a:gd name="T2" fmla="*/ 1 w 125"/>
                    <a:gd name="T3" fmla="*/ 1 h 128"/>
                    <a:gd name="T4" fmla="*/ 1 w 125"/>
                    <a:gd name="T5" fmla="*/ 1 h 128"/>
                    <a:gd name="T6" fmla="*/ 0 w 125"/>
                    <a:gd name="T7" fmla="*/ 0 h 12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8"/>
                    <a:gd name="T14" fmla="*/ 125 w 125"/>
                    <a:gd name="T15" fmla="*/ 128 h 12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8">
                      <a:moveTo>
                        <a:pt x="0" y="0"/>
                      </a:moveTo>
                      <a:lnTo>
                        <a:pt x="60" y="128"/>
                      </a:lnTo>
                      <a:lnTo>
                        <a:pt x="125" y="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730" name="Group 539">
                <a:extLst>
                  <a:ext uri="{FF2B5EF4-FFF2-40B4-BE49-F238E27FC236}">
                    <a16:creationId xmlns:a16="http://schemas.microsoft.com/office/drawing/2014/main" id="{BB0C856C-597C-404E-9897-1335400C23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46" y="2820"/>
                <a:ext cx="828" cy="239"/>
                <a:chOff x="2146" y="2820"/>
                <a:chExt cx="828" cy="239"/>
              </a:xfrm>
            </p:grpSpPr>
            <p:sp>
              <p:nvSpPr>
                <p:cNvPr id="21768" name="Freeform 537">
                  <a:extLst>
                    <a:ext uri="{FF2B5EF4-FFF2-40B4-BE49-F238E27FC236}">
                      <a16:creationId xmlns:a16="http://schemas.microsoft.com/office/drawing/2014/main" id="{D69F46F0-C52C-1F4D-95BB-7BFF555DC2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77" y="2820"/>
                  <a:ext cx="797" cy="179"/>
                </a:xfrm>
                <a:custGeom>
                  <a:avLst/>
                  <a:gdLst>
                    <a:gd name="T0" fmla="*/ 0 w 1595"/>
                    <a:gd name="T1" fmla="*/ 0 h 357"/>
                    <a:gd name="T2" fmla="*/ 0 w 1595"/>
                    <a:gd name="T3" fmla="*/ 1 h 357"/>
                    <a:gd name="T4" fmla="*/ 0 w 1595"/>
                    <a:gd name="T5" fmla="*/ 1 h 357"/>
                    <a:gd name="T6" fmla="*/ 0 w 1595"/>
                    <a:gd name="T7" fmla="*/ 1 h 35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95"/>
                    <a:gd name="T13" fmla="*/ 0 h 357"/>
                    <a:gd name="T14" fmla="*/ 1595 w 1595"/>
                    <a:gd name="T15" fmla="*/ 357 h 35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95" h="357">
                      <a:moveTo>
                        <a:pt x="1595" y="0"/>
                      </a:moveTo>
                      <a:lnTo>
                        <a:pt x="1595" y="237"/>
                      </a:lnTo>
                      <a:lnTo>
                        <a:pt x="0" y="237"/>
                      </a:lnTo>
                      <a:lnTo>
                        <a:pt x="0" y="357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769" name="Freeform 538">
                  <a:extLst>
                    <a:ext uri="{FF2B5EF4-FFF2-40B4-BE49-F238E27FC236}">
                      <a16:creationId xmlns:a16="http://schemas.microsoft.com/office/drawing/2014/main" id="{36655521-07DD-E54B-ADB8-C692D3EE6F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46" y="2997"/>
                  <a:ext cx="62" cy="62"/>
                </a:xfrm>
                <a:custGeom>
                  <a:avLst/>
                  <a:gdLst>
                    <a:gd name="T0" fmla="*/ 0 w 125"/>
                    <a:gd name="T1" fmla="*/ 0 h 124"/>
                    <a:gd name="T2" fmla="*/ 0 w 125"/>
                    <a:gd name="T3" fmla="*/ 1 h 124"/>
                    <a:gd name="T4" fmla="*/ 0 w 125"/>
                    <a:gd name="T5" fmla="*/ 0 h 124"/>
                    <a:gd name="T6" fmla="*/ 0 w 125"/>
                    <a:gd name="T7" fmla="*/ 0 h 1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4"/>
                    <a:gd name="T14" fmla="*/ 125 w 125"/>
                    <a:gd name="T15" fmla="*/ 124 h 1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4">
                      <a:moveTo>
                        <a:pt x="0" y="0"/>
                      </a:moveTo>
                      <a:lnTo>
                        <a:pt x="61" y="124"/>
                      </a:lnTo>
                      <a:lnTo>
                        <a:pt x="12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731" name="Group 542">
                <a:extLst>
                  <a:ext uri="{FF2B5EF4-FFF2-40B4-BE49-F238E27FC236}">
                    <a16:creationId xmlns:a16="http://schemas.microsoft.com/office/drawing/2014/main" id="{9091F57F-C4A4-A54F-91F5-BC7070355CD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4" y="2820"/>
                <a:ext cx="628" cy="239"/>
                <a:chOff x="2974" y="2820"/>
                <a:chExt cx="628" cy="239"/>
              </a:xfrm>
            </p:grpSpPr>
            <p:sp>
              <p:nvSpPr>
                <p:cNvPr id="21766" name="Freeform 540">
                  <a:extLst>
                    <a:ext uri="{FF2B5EF4-FFF2-40B4-BE49-F238E27FC236}">
                      <a16:creationId xmlns:a16="http://schemas.microsoft.com/office/drawing/2014/main" id="{15E1788F-5F9D-1444-B6E7-C4DBE22C07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74" y="2820"/>
                  <a:ext cx="596" cy="179"/>
                </a:xfrm>
                <a:custGeom>
                  <a:avLst/>
                  <a:gdLst>
                    <a:gd name="T0" fmla="*/ 0 w 1193"/>
                    <a:gd name="T1" fmla="*/ 0 h 357"/>
                    <a:gd name="T2" fmla="*/ 0 w 1193"/>
                    <a:gd name="T3" fmla="*/ 1 h 357"/>
                    <a:gd name="T4" fmla="*/ 0 w 1193"/>
                    <a:gd name="T5" fmla="*/ 1 h 357"/>
                    <a:gd name="T6" fmla="*/ 0 w 1193"/>
                    <a:gd name="T7" fmla="*/ 1 h 35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193"/>
                    <a:gd name="T13" fmla="*/ 0 h 357"/>
                    <a:gd name="T14" fmla="*/ 1193 w 1193"/>
                    <a:gd name="T15" fmla="*/ 357 h 35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193" h="357">
                      <a:moveTo>
                        <a:pt x="0" y="0"/>
                      </a:moveTo>
                      <a:lnTo>
                        <a:pt x="0" y="237"/>
                      </a:lnTo>
                      <a:lnTo>
                        <a:pt x="1193" y="237"/>
                      </a:lnTo>
                      <a:lnTo>
                        <a:pt x="1193" y="357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767" name="Freeform 541">
                  <a:extLst>
                    <a:ext uri="{FF2B5EF4-FFF2-40B4-BE49-F238E27FC236}">
                      <a16:creationId xmlns:a16="http://schemas.microsoft.com/office/drawing/2014/main" id="{E7A0060C-6ECD-A340-B5E6-1B70486CCD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40" y="2997"/>
                  <a:ext cx="62" cy="62"/>
                </a:xfrm>
                <a:custGeom>
                  <a:avLst/>
                  <a:gdLst>
                    <a:gd name="T0" fmla="*/ 0 w 125"/>
                    <a:gd name="T1" fmla="*/ 0 h 124"/>
                    <a:gd name="T2" fmla="*/ 0 w 125"/>
                    <a:gd name="T3" fmla="*/ 1 h 124"/>
                    <a:gd name="T4" fmla="*/ 0 w 125"/>
                    <a:gd name="T5" fmla="*/ 0 h 124"/>
                    <a:gd name="T6" fmla="*/ 0 w 125"/>
                    <a:gd name="T7" fmla="*/ 0 h 1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4"/>
                    <a:gd name="T14" fmla="*/ 125 w 125"/>
                    <a:gd name="T15" fmla="*/ 124 h 1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4">
                      <a:moveTo>
                        <a:pt x="0" y="0"/>
                      </a:moveTo>
                      <a:lnTo>
                        <a:pt x="62" y="124"/>
                      </a:lnTo>
                      <a:lnTo>
                        <a:pt x="12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732" name="Group 545">
                <a:extLst>
                  <a:ext uri="{FF2B5EF4-FFF2-40B4-BE49-F238E27FC236}">
                    <a16:creationId xmlns:a16="http://schemas.microsoft.com/office/drawing/2014/main" id="{60FED257-DEF1-F545-8572-B70688D186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61" y="2936"/>
                <a:ext cx="835" cy="272"/>
                <a:chOff x="3761" y="2936"/>
                <a:chExt cx="835" cy="272"/>
              </a:xfrm>
            </p:grpSpPr>
            <p:sp>
              <p:nvSpPr>
                <p:cNvPr id="21764" name="Freeform 543">
                  <a:extLst>
                    <a:ext uri="{FF2B5EF4-FFF2-40B4-BE49-F238E27FC236}">
                      <a16:creationId xmlns:a16="http://schemas.microsoft.com/office/drawing/2014/main" id="{8130715A-19E8-4E4D-BFAA-E869C06B40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21" y="2936"/>
                  <a:ext cx="775" cy="241"/>
                </a:xfrm>
                <a:custGeom>
                  <a:avLst/>
                  <a:gdLst>
                    <a:gd name="T0" fmla="*/ 0 w 1551"/>
                    <a:gd name="T1" fmla="*/ 0 h 481"/>
                    <a:gd name="T2" fmla="*/ 0 w 1551"/>
                    <a:gd name="T3" fmla="*/ 1 h 481"/>
                    <a:gd name="T4" fmla="*/ 0 w 1551"/>
                    <a:gd name="T5" fmla="*/ 1 h 481"/>
                    <a:gd name="T6" fmla="*/ 0 60000 65536"/>
                    <a:gd name="T7" fmla="*/ 0 60000 65536"/>
                    <a:gd name="T8" fmla="*/ 0 60000 65536"/>
                    <a:gd name="T9" fmla="*/ 0 w 1551"/>
                    <a:gd name="T10" fmla="*/ 0 h 481"/>
                    <a:gd name="T11" fmla="*/ 1551 w 1551"/>
                    <a:gd name="T12" fmla="*/ 481 h 48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551" h="481">
                      <a:moveTo>
                        <a:pt x="1551" y="0"/>
                      </a:moveTo>
                      <a:lnTo>
                        <a:pt x="1551" y="481"/>
                      </a:lnTo>
                      <a:lnTo>
                        <a:pt x="0" y="481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765" name="Freeform 544">
                  <a:extLst>
                    <a:ext uri="{FF2B5EF4-FFF2-40B4-BE49-F238E27FC236}">
                      <a16:creationId xmlns:a16="http://schemas.microsoft.com/office/drawing/2014/main" id="{6FD36F2C-36A5-1A4D-A7EE-4DFA669557D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61" y="3146"/>
                  <a:ext cx="63" cy="62"/>
                </a:xfrm>
                <a:custGeom>
                  <a:avLst/>
                  <a:gdLst>
                    <a:gd name="T0" fmla="*/ 1 w 125"/>
                    <a:gd name="T1" fmla="*/ 0 h 126"/>
                    <a:gd name="T2" fmla="*/ 0 w 125"/>
                    <a:gd name="T3" fmla="*/ 0 h 126"/>
                    <a:gd name="T4" fmla="*/ 1 w 125"/>
                    <a:gd name="T5" fmla="*/ 0 h 126"/>
                    <a:gd name="T6" fmla="*/ 1 w 125"/>
                    <a:gd name="T7" fmla="*/ 0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6"/>
                    <a:gd name="T14" fmla="*/ 125 w 125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6">
                      <a:moveTo>
                        <a:pt x="125" y="0"/>
                      </a:moveTo>
                      <a:lnTo>
                        <a:pt x="0" y="62"/>
                      </a:lnTo>
                      <a:lnTo>
                        <a:pt x="125" y="126"/>
                      </a:ln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733" name="Group 548">
                <a:extLst>
                  <a:ext uri="{FF2B5EF4-FFF2-40B4-BE49-F238E27FC236}">
                    <a16:creationId xmlns:a16="http://schemas.microsoft.com/office/drawing/2014/main" id="{AFEF0327-4BA2-4A4C-9437-A84924E3CD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146"/>
                <a:ext cx="219" cy="62"/>
                <a:chOff x="1709" y="3146"/>
                <a:chExt cx="219" cy="62"/>
              </a:xfrm>
            </p:grpSpPr>
            <p:sp>
              <p:nvSpPr>
                <p:cNvPr id="21762" name="Line 546">
                  <a:extLst>
                    <a:ext uri="{FF2B5EF4-FFF2-40B4-BE49-F238E27FC236}">
                      <a16:creationId xmlns:a16="http://schemas.microsoft.com/office/drawing/2014/main" id="{99F1A477-41B8-C24F-BDB4-FAB5EB8642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09" y="3177"/>
                  <a:ext cx="158" cy="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763" name="Freeform 547">
                  <a:extLst>
                    <a:ext uri="{FF2B5EF4-FFF2-40B4-BE49-F238E27FC236}">
                      <a16:creationId xmlns:a16="http://schemas.microsoft.com/office/drawing/2014/main" id="{1938CACD-96B1-3D48-9905-05D54926A7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65" y="3146"/>
                  <a:ext cx="63" cy="62"/>
                </a:xfrm>
                <a:custGeom>
                  <a:avLst/>
                  <a:gdLst>
                    <a:gd name="T0" fmla="*/ 0 w 125"/>
                    <a:gd name="T1" fmla="*/ 0 h 126"/>
                    <a:gd name="T2" fmla="*/ 1 w 125"/>
                    <a:gd name="T3" fmla="*/ 0 h 126"/>
                    <a:gd name="T4" fmla="*/ 0 w 125"/>
                    <a:gd name="T5" fmla="*/ 0 h 126"/>
                    <a:gd name="T6" fmla="*/ 0 w 125"/>
                    <a:gd name="T7" fmla="*/ 0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6"/>
                    <a:gd name="T14" fmla="*/ 125 w 125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6">
                      <a:moveTo>
                        <a:pt x="0" y="126"/>
                      </a:moveTo>
                      <a:lnTo>
                        <a:pt x="125" y="62"/>
                      </a:lnTo>
                      <a:lnTo>
                        <a:pt x="0" y="0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734" name="Group 551">
                <a:extLst>
                  <a:ext uri="{FF2B5EF4-FFF2-40B4-BE49-F238E27FC236}">
                    <a16:creationId xmlns:a16="http://schemas.microsoft.com/office/drawing/2014/main" id="{5CBC598A-1413-024F-BFB7-C552A93517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25" y="3146"/>
                <a:ext cx="286" cy="62"/>
                <a:chOff x="2425" y="3146"/>
                <a:chExt cx="286" cy="62"/>
              </a:xfrm>
            </p:grpSpPr>
            <p:sp>
              <p:nvSpPr>
                <p:cNvPr id="21760" name="Line 549">
                  <a:extLst>
                    <a:ext uri="{FF2B5EF4-FFF2-40B4-BE49-F238E27FC236}">
                      <a16:creationId xmlns:a16="http://schemas.microsoft.com/office/drawing/2014/main" id="{1519C079-22FF-0E4D-96B9-59DAD6AB81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25" y="3177"/>
                  <a:ext cx="227" cy="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761" name="Freeform 550">
                  <a:extLst>
                    <a:ext uri="{FF2B5EF4-FFF2-40B4-BE49-F238E27FC236}">
                      <a16:creationId xmlns:a16="http://schemas.microsoft.com/office/drawing/2014/main" id="{954D7066-9FE5-A04A-9548-363C70852C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50" y="3146"/>
                  <a:ext cx="61" cy="62"/>
                </a:xfrm>
                <a:custGeom>
                  <a:avLst/>
                  <a:gdLst>
                    <a:gd name="T0" fmla="*/ 0 w 123"/>
                    <a:gd name="T1" fmla="*/ 0 h 126"/>
                    <a:gd name="T2" fmla="*/ 0 w 123"/>
                    <a:gd name="T3" fmla="*/ 0 h 126"/>
                    <a:gd name="T4" fmla="*/ 0 w 123"/>
                    <a:gd name="T5" fmla="*/ 0 h 126"/>
                    <a:gd name="T6" fmla="*/ 0 w 123"/>
                    <a:gd name="T7" fmla="*/ 0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3"/>
                    <a:gd name="T13" fmla="*/ 0 h 126"/>
                    <a:gd name="T14" fmla="*/ 123 w 123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3" h="126">
                      <a:moveTo>
                        <a:pt x="0" y="126"/>
                      </a:moveTo>
                      <a:lnTo>
                        <a:pt x="123" y="62"/>
                      </a:lnTo>
                      <a:lnTo>
                        <a:pt x="0" y="0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735" name="Group 554">
                <a:extLst>
                  <a:ext uri="{FF2B5EF4-FFF2-40B4-BE49-F238E27FC236}">
                    <a16:creationId xmlns:a16="http://schemas.microsoft.com/office/drawing/2014/main" id="{11E6A99F-F1A2-A44D-AB54-EDBE7E4260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73" y="2878"/>
                <a:ext cx="63" cy="181"/>
                <a:chOff x="1273" y="2878"/>
                <a:chExt cx="63" cy="181"/>
              </a:xfrm>
            </p:grpSpPr>
            <p:sp>
              <p:nvSpPr>
                <p:cNvPr id="21758" name="Line 552">
                  <a:extLst>
                    <a:ext uri="{FF2B5EF4-FFF2-40B4-BE49-F238E27FC236}">
                      <a16:creationId xmlns:a16="http://schemas.microsoft.com/office/drawing/2014/main" id="{76508144-1D40-DF4B-AD90-02C0BDE110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04" y="2878"/>
                  <a:ext cx="1" cy="12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759" name="Freeform 553">
                  <a:extLst>
                    <a:ext uri="{FF2B5EF4-FFF2-40B4-BE49-F238E27FC236}">
                      <a16:creationId xmlns:a16="http://schemas.microsoft.com/office/drawing/2014/main" id="{3501384B-0E9D-AF49-9370-EE28ED59AC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73" y="2997"/>
                  <a:ext cx="63" cy="62"/>
                </a:xfrm>
                <a:custGeom>
                  <a:avLst/>
                  <a:gdLst>
                    <a:gd name="T0" fmla="*/ 0 w 125"/>
                    <a:gd name="T1" fmla="*/ 0 h 124"/>
                    <a:gd name="T2" fmla="*/ 1 w 125"/>
                    <a:gd name="T3" fmla="*/ 1 h 124"/>
                    <a:gd name="T4" fmla="*/ 1 w 125"/>
                    <a:gd name="T5" fmla="*/ 0 h 124"/>
                    <a:gd name="T6" fmla="*/ 0 w 125"/>
                    <a:gd name="T7" fmla="*/ 0 h 1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4"/>
                    <a:gd name="T14" fmla="*/ 125 w 125"/>
                    <a:gd name="T15" fmla="*/ 124 h 1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4">
                      <a:moveTo>
                        <a:pt x="0" y="0"/>
                      </a:moveTo>
                      <a:lnTo>
                        <a:pt x="61" y="124"/>
                      </a:lnTo>
                      <a:lnTo>
                        <a:pt x="12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736" name="Group 557">
                <a:extLst>
                  <a:ext uri="{FF2B5EF4-FFF2-40B4-BE49-F238E27FC236}">
                    <a16:creationId xmlns:a16="http://schemas.microsoft.com/office/drawing/2014/main" id="{628CDDE1-FE92-1944-B6C8-88E52FB276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3" y="2352"/>
                <a:ext cx="63" cy="220"/>
                <a:chOff x="533" y="2352"/>
                <a:chExt cx="63" cy="220"/>
              </a:xfrm>
            </p:grpSpPr>
            <p:sp>
              <p:nvSpPr>
                <p:cNvPr id="21756" name="Line 555">
                  <a:extLst>
                    <a:ext uri="{FF2B5EF4-FFF2-40B4-BE49-F238E27FC236}">
                      <a16:creationId xmlns:a16="http://schemas.microsoft.com/office/drawing/2014/main" id="{1A4CFE2F-A480-6948-81D0-950CB744FA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64" y="2411"/>
                  <a:ext cx="1" cy="16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757" name="Freeform 556">
                  <a:extLst>
                    <a:ext uri="{FF2B5EF4-FFF2-40B4-BE49-F238E27FC236}">
                      <a16:creationId xmlns:a16="http://schemas.microsoft.com/office/drawing/2014/main" id="{FAE32281-AD8C-1C4F-B927-43A38E5A8E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3" y="2352"/>
                  <a:ext cx="63" cy="62"/>
                </a:xfrm>
                <a:custGeom>
                  <a:avLst/>
                  <a:gdLst>
                    <a:gd name="T0" fmla="*/ 1 w 126"/>
                    <a:gd name="T1" fmla="*/ 1 h 124"/>
                    <a:gd name="T2" fmla="*/ 1 w 126"/>
                    <a:gd name="T3" fmla="*/ 0 h 124"/>
                    <a:gd name="T4" fmla="*/ 0 w 126"/>
                    <a:gd name="T5" fmla="*/ 1 h 124"/>
                    <a:gd name="T6" fmla="*/ 1 w 126"/>
                    <a:gd name="T7" fmla="*/ 1 h 1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6"/>
                    <a:gd name="T13" fmla="*/ 0 h 124"/>
                    <a:gd name="T14" fmla="*/ 126 w 126"/>
                    <a:gd name="T15" fmla="*/ 124 h 1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6" h="124">
                      <a:moveTo>
                        <a:pt x="126" y="124"/>
                      </a:moveTo>
                      <a:lnTo>
                        <a:pt x="62" y="0"/>
                      </a:lnTo>
                      <a:lnTo>
                        <a:pt x="0" y="124"/>
                      </a:lnTo>
                      <a:lnTo>
                        <a:pt x="126" y="1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21737" name="Rectangle 558">
                <a:extLst>
                  <a:ext uri="{FF2B5EF4-FFF2-40B4-BE49-F238E27FC236}">
                    <a16:creationId xmlns:a16="http://schemas.microsoft.com/office/drawing/2014/main" id="{1F75BDD5-3004-FA43-BE68-D39444C8D0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4" y="1288"/>
                <a:ext cx="717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738" name="Rectangle 559">
                <a:extLst>
                  <a:ext uri="{FF2B5EF4-FFF2-40B4-BE49-F238E27FC236}">
                    <a16:creationId xmlns:a16="http://schemas.microsoft.com/office/drawing/2014/main" id="{A3DFC446-B437-5040-9B72-55FBD58C77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8" y="1299"/>
                <a:ext cx="51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Escopo do </a:t>
                </a:r>
                <a:endParaRPr lang="pt-BR" altLang="pt-BR" sz="2000"/>
              </a:p>
            </p:txBody>
          </p:sp>
          <p:sp>
            <p:nvSpPr>
              <p:cNvPr id="21739" name="Rectangle 560">
                <a:extLst>
                  <a:ext uri="{FF2B5EF4-FFF2-40B4-BE49-F238E27FC236}">
                    <a16:creationId xmlns:a16="http://schemas.microsoft.com/office/drawing/2014/main" id="{E2620B16-7D59-A64D-920E-1C0AE67801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5" y="1413"/>
                <a:ext cx="37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Produto</a:t>
                </a:r>
                <a:endParaRPr lang="pt-BR" altLang="pt-BR" sz="2000"/>
              </a:p>
            </p:txBody>
          </p:sp>
          <p:sp>
            <p:nvSpPr>
              <p:cNvPr id="21740" name="Rectangle 561">
                <a:extLst>
                  <a:ext uri="{FF2B5EF4-FFF2-40B4-BE49-F238E27FC236}">
                    <a16:creationId xmlns:a16="http://schemas.microsoft.com/office/drawing/2014/main" id="{6050B4FA-50E3-3540-981A-587D41852F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" y="1231"/>
                <a:ext cx="554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741" name="Rectangle 562">
                <a:extLst>
                  <a:ext uri="{FF2B5EF4-FFF2-40B4-BE49-F238E27FC236}">
                    <a16:creationId xmlns:a16="http://schemas.microsoft.com/office/drawing/2014/main" id="{C5BDBFD4-CC3D-494D-8E07-B543CD3486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" y="1242"/>
                <a:ext cx="41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Ciclo de </a:t>
                </a:r>
                <a:endParaRPr lang="pt-BR" altLang="pt-BR" sz="2000"/>
              </a:p>
            </p:txBody>
          </p:sp>
          <p:sp>
            <p:nvSpPr>
              <p:cNvPr id="21742" name="Rectangle 563">
                <a:extLst>
                  <a:ext uri="{FF2B5EF4-FFF2-40B4-BE49-F238E27FC236}">
                    <a16:creationId xmlns:a16="http://schemas.microsoft.com/office/drawing/2014/main" id="{74723EA1-554F-F348-B550-4D7B36E6DD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" y="1357"/>
                <a:ext cx="37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vida do </a:t>
                </a:r>
                <a:endParaRPr lang="pt-BR" altLang="pt-BR" sz="2000"/>
              </a:p>
            </p:txBody>
          </p:sp>
          <p:sp>
            <p:nvSpPr>
              <p:cNvPr id="21743" name="Rectangle 564">
                <a:extLst>
                  <a:ext uri="{FF2B5EF4-FFF2-40B4-BE49-F238E27FC236}">
                    <a16:creationId xmlns:a16="http://schemas.microsoft.com/office/drawing/2014/main" id="{31A4F83F-4831-7A41-817F-B6E48E8BE4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" y="1471"/>
                <a:ext cx="36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produto</a:t>
                </a:r>
                <a:endParaRPr lang="pt-BR" altLang="pt-BR" sz="2000"/>
              </a:p>
            </p:txBody>
          </p:sp>
          <p:grpSp>
            <p:nvGrpSpPr>
              <p:cNvPr id="21744" name="Group 567">
                <a:extLst>
                  <a:ext uri="{FF2B5EF4-FFF2-40B4-BE49-F238E27FC236}">
                    <a16:creationId xmlns:a16="http://schemas.microsoft.com/office/drawing/2014/main" id="{EB69A9AC-A575-354B-BE8D-9D23A49DCD7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78" y="1376"/>
                <a:ext cx="296" cy="63"/>
                <a:chOff x="878" y="1376"/>
                <a:chExt cx="296" cy="63"/>
              </a:xfrm>
            </p:grpSpPr>
            <p:sp>
              <p:nvSpPr>
                <p:cNvPr id="21754" name="Freeform 565">
                  <a:extLst>
                    <a:ext uri="{FF2B5EF4-FFF2-40B4-BE49-F238E27FC236}">
                      <a16:creationId xmlns:a16="http://schemas.microsoft.com/office/drawing/2014/main" id="{AF7FFB0E-D6CD-A244-8970-258AF60C6B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38" y="1406"/>
                  <a:ext cx="236" cy="1"/>
                </a:xfrm>
                <a:custGeom>
                  <a:avLst/>
                  <a:gdLst>
                    <a:gd name="T0" fmla="*/ 0 w 473"/>
                    <a:gd name="T1" fmla="*/ 0 h 2"/>
                    <a:gd name="T2" fmla="*/ 0 w 473"/>
                    <a:gd name="T3" fmla="*/ 0 h 2"/>
                    <a:gd name="T4" fmla="*/ 0 w 473"/>
                    <a:gd name="T5" fmla="*/ 1 h 2"/>
                    <a:gd name="T6" fmla="*/ 0 w 473"/>
                    <a:gd name="T7" fmla="*/ 1 h 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73"/>
                    <a:gd name="T13" fmla="*/ 0 h 2"/>
                    <a:gd name="T14" fmla="*/ 473 w 473"/>
                    <a:gd name="T15" fmla="*/ 2 h 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73" h="2">
                      <a:moveTo>
                        <a:pt x="473" y="0"/>
                      </a:moveTo>
                      <a:lnTo>
                        <a:pt x="177" y="0"/>
                      </a:lnTo>
                      <a:lnTo>
                        <a:pt x="177" y="2"/>
                      </a:lnTo>
                      <a:lnTo>
                        <a:pt x="0" y="2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755" name="Freeform 566">
                  <a:extLst>
                    <a:ext uri="{FF2B5EF4-FFF2-40B4-BE49-F238E27FC236}">
                      <a16:creationId xmlns:a16="http://schemas.microsoft.com/office/drawing/2014/main" id="{A22FACB5-ECCF-024B-9E67-EC23A27AB4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78" y="1376"/>
                  <a:ext cx="63" cy="63"/>
                </a:xfrm>
                <a:custGeom>
                  <a:avLst/>
                  <a:gdLst>
                    <a:gd name="T0" fmla="*/ 1 w 126"/>
                    <a:gd name="T1" fmla="*/ 0 h 126"/>
                    <a:gd name="T2" fmla="*/ 0 w 126"/>
                    <a:gd name="T3" fmla="*/ 1 h 126"/>
                    <a:gd name="T4" fmla="*/ 1 w 126"/>
                    <a:gd name="T5" fmla="*/ 1 h 126"/>
                    <a:gd name="T6" fmla="*/ 1 w 126"/>
                    <a:gd name="T7" fmla="*/ 0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6"/>
                    <a:gd name="T13" fmla="*/ 0 h 126"/>
                    <a:gd name="T14" fmla="*/ 126 w 126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6" h="126">
                      <a:moveTo>
                        <a:pt x="126" y="0"/>
                      </a:moveTo>
                      <a:lnTo>
                        <a:pt x="0" y="62"/>
                      </a:lnTo>
                      <a:lnTo>
                        <a:pt x="126" y="126"/>
                      </a:lnTo>
                      <a:lnTo>
                        <a:pt x="12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745" name="Group 570">
                <a:extLst>
                  <a:ext uri="{FF2B5EF4-FFF2-40B4-BE49-F238E27FC236}">
                    <a16:creationId xmlns:a16="http://schemas.microsoft.com/office/drawing/2014/main" id="{6DAF2649-3382-DF45-8BE2-6B1F8304E2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7" y="1407"/>
                <a:ext cx="238" cy="1315"/>
                <a:chOff x="87" y="1407"/>
                <a:chExt cx="238" cy="1315"/>
              </a:xfrm>
            </p:grpSpPr>
            <p:sp>
              <p:nvSpPr>
                <p:cNvPr id="21752" name="Freeform 568">
                  <a:extLst>
                    <a:ext uri="{FF2B5EF4-FFF2-40B4-BE49-F238E27FC236}">
                      <a16:creationId xmlns:a16="http://schemas.microsoft.com/office/drawing/2014/main" id="{9A7557CE-D7AF-7545-A319-6804279E93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7" y="1407"/>
                  <a:ext cx="238" cy="1283"/>
                </a:xfrm>
                <a:custGeom>
                  <a:avLst/>
                  <a:gdLst>
                    <a:gd name="T0" fmla="*/ 0 w 477"/>
                    <a:gd name="T1" fmla="*/ 0 h 2566"/>
                    <a:gd name="T2" fmla="*/ 0 w 477"/>
                    <a:gd name="T3" fmla="*/ 0 h 2566"/>
                    <a:gd name="T4" fmla="*/ 0 w 477"/>
                    <a:gd name="T5" fmla="*/ 1 h 2566"/>
                    <a:gd name="T6" fmla="*/ 0 w 477"/>
                    <a:gd name="T7" fmla="*/ 1 h 256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77"/>
                    <a:gd name="T13" fmla="*/ 0 h 2566"/>
                    <a:gd name="T14" fmla="*/ 477 w 477"/>
                    <a:gd name="T15" fmla="*/ 2566 h 256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77" h="2566">
                      <a:moveTo>
                        <a:pt x="477" y="0"/>
                      </a:moveTo>
                      <a:lnTo>
                        <a:pt x="0" y="0"/>
                      </a:lnTo>
                      <a:lnTo>
                        <a:pt x="0" y="2566"/>
                      </a:lnTo>
                      <a:lnTo>
                        <a:pt x="167" y="2566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753" name="Freeform 569">
                  <a:extLst>
                    <a:ext uri="{FF2B5EF4-FFF2-40B4-BE49-F238E27FC236}">
                      <a16:creationId xmlns:a16="http://schemas.microsoft.com/office/drawing/2014/main" id="{D24ECA01-1DCE-B84A-AE49-4CEE5D34FB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8" y="2659"/>
                  <a:ext cx="62" cy="63"/>
                </a:xfrm>
                <a:custGeom>
                  <a:avLst/>
                  <a:gdLst>
                    <a:gd name="T0" fmla="*/ 0 w 123"/>
                    <a:gd name="T1" fmla="*/ 1 h 126"/>
                    <a:gd name="T2" fmla="*/ 1 w 123"/>
                    <a:gd name="T3" fmla="*/ 1 h 126"/>
                    <a:gd name="T4" fmla="*/ 0 w 123"/>
                    <a:gd name="T5" fmla="*/ 0 h 126"/>
                    <a:gd name="T6" fmla="*/ 0 w 123"/>
                    <a:gd name="T7" fmla="*/ 1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3"/>
                    <a:gd name="T13" fmla="*/ 0 h 126"/>
                    <a:gd name="T14" fmla="*/ 123 w 123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3" h="126">
                      <a:moveTo>
                        <a:pt x="0" y="126"/>
                      </a:moveTo>
                      <a:lnTo>
                        <a:pt x="123" y="62"/>
                      </a:lnTo>
                      <a:lnTo>
                        <a:pt x="0" y="0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746" name="Group 573">
                <a:extLst>
                  <a:ext uri="{FF2B5EF4-FFF2-40B4-BE49-F238E27FC236}">
                    <a16:creationId xmlns:a16="http://schemas.microsoft.com/office/drawing/2014/main" id="{4A23B913-793F-674C-9AB7-A90E79ABA9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3" y="1523"/>
                <a:ext cx="999" cy="478"/>
                <a:chOff x="533" y="1523"/>
                <a:chExt cx="999" cy="478"/>
              </a:xfrm>
            </p:grpSpPr>
            <p:sp>
              <p:nvSpPr>
                <p:cNvPr id="21750" name="Freeform 571">
                  <a:extLst>
                    <a:ext uri="{FF2B5EF4-FFF2-40B4-BE49-F238E27FC236}">
                      <a16:creationId xmlns:a16="http://schemas.microsoft.com/office/drawing/2014/main" id="{D1EFB69A-7E46-FB41-8DB3-B85856D651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4" y="1523"/>
                  <a:ext cx="968" cy="418"/>
                </a:xfrm>
                <a:custGeom>
                  <a:avLst/>
                  <a:gdLst>
                    <a:gd name="T0" fmla="*/ 0 w 1937"/>
                    <a:gd name="T1" fmla="*/ 0 h 836"/>
                    <a:gd name="T2" fmla="*/ 0 w 1937"/>
                    <a:gd name="T3" fmla="*/ 1 h 836"/>
                    <a:gd name="T4" fmla="*/ 0 w 1937"/>
                    <a:gd name="T5" fmla="*/ 1 h 836"/>
                    <a:gd name="T6" fmla="*/ 0 w 1937"/>
                    <a:gd name="T7" fmla="*/ 1 h 8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937"/>
                    <a:gd name="T13" fmla="*/ 0 h 836"/>
                    <a:gd name="T14" fmla="*/ 1937 w 1937"/>
                    <a:gd name="T15" fmla="*/ 836 h 8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937" h="836">
                      <a:moveTo>
                        <a:pt x="1937" y="0"/>
                      </a:moveTo>
                      <a:lnTo>
                        <a:pt x="1937" y="477"/>
                      </a:lnTo>
                      <a:lnTo>
                        <a:pt x="0" y="477"/>
                      </a:lnTo>
                      <a:lnTo>
                        <a:pt x="0" y="836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751" name="Freeform 572">
                  <a:extLst>
                    <a:ext uri="{FF2B5EF4-FFF2-40B4-BE49-F238E27FC236}">
                      <a16:creationId xmlns:a16="http://schemas.microsoft.com/office/drawing/2014/main" id="{5F1F6627-C806-6443-AB0B-E664540D0D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3" y="1939"/>
                  <a:ext cx="63" cy="62"/>
                </a:xfrm>
                <a:custGeom>
                  <a:avLst/>
                  <a:gdLst>
                    <a:gd name="T0" fmla="*/ 0 w 126"/>
                    <a:gd name="T1" fmla="*/ 0 h 123"/>
                    <a:gd name="T2" fmla="*/ 1 w 126"/>
                    <a:gd name="T3" fmla="*/ 1 h 123"/>
                    <a:gd name="T4" fmla="*/ 1 w 126"/>
                    <a:gd name="T5" fmla="*/ 0 h 123"/>
                    <a:gd name="T6" fmla="*/ 0 w 126"/>
                    <a:gd name="T7" fmla="*/ 0 h 12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6"/>
                    <a:gd name="T13" fmla="*/ 0 h 123"/>
                    <a:gd name="T14" fmla="*/ 126 w 126"/>
                    <a:gd name="T15" fmla="*/ 123 h 12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6" h="123">
                      <a:moveTo>
                        <a:pt x="0" y="0"/>
                      </a:moveTo>
                      <a:lnTo>
                        <a:pt x="62" y="123"/>
                      </a:lnTo>
                      <a:lnTo>
                        <a:pt x="12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21747" name="Rectangle 574">
                <a:extLst>
                  <a:ext uri="{FF2B5EF4-FFF2-40B4-BE49-F238E27FC236}">
                    <a16:creationId xmlns:a16="http://schemas.microsoft.com/office/drawing/2014/main" id="{150B4B13-FCBD-644E-BCC6-52E068151B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21" y="1423"/>
                <a:ext cx="860" cy="390"/>
              </a:xfrm>
              <a:prstGeom prst="rect">
                <a:avLst/>
              </a:prstGeom>
              <a:solidFill>
                <a:srgbClr val="EAEAEA"/>
              </a:solidFill>
              <a:ln w="24">
                <a:solidFill>
                  <a:srgbClr val="FF33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748" name="Rectangle 575">
                <a:extLst>
                  <a:ext uri="{FF2B5EF4-FFF2-40B4-BE49-F238E27FC236}">
                    <a16:creationId xmlns:a16="http://schemas.microsoft.com/office/drawing/2014/main" id="{834175DC-A151-8E43-A5C8-A8CF12E4C5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0" y="1469"/>
                <a:ext cx="535" cy="1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600" b="1">
                    <a:solidFill>
                      <a:srgbClr val="FF3300"/>
                    </a:solidFill>
                  </a:rPr>
                  <a:t>Projeto </a:t>
                </a:r>
                <a:endParaRPr lang="pt-BR" altLang="pt-BR" sz="2000"/>
              </a:p>
            </p:txBody>
          </p:sp>
          <p:sp>
            <p:nvSpPr>
              <p:cNvPr id="21749" name="Rectangle 576">
                <a:extLst>
                  <a:ext uri="{FF2B5EF4-FFF2-40B4-BE49-F238E27FC236}">
                    <a16:creationId xmlns:a16="http://schemas.microsoft.com/office/drawing/2014/main" id="{0C306883-266E-A943-883A-CD6FBF429C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5" y="1623"/>
                <a:ext cx="711" cy="1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600" b="1">
                    <a:solidFill>
                      <a:srgbClr val="FF3300"/>
                    </a:solidFill>
                  </a:rPr>
                  <a:t>Conceitual</a:t>
                </a:r>
                <a:endParaRPr lang="pt-BR" altLang="pt-BR" sz="2000"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49" name="Object 4">
            <a:extLst>
              <a:ext uri="{FF2B5EF4-FFF2-40B4-BE49-F238E27FC236}">
                <a16:creationId xmlns:a16="http://schemas.microsoft.com/office/drawing/2014/main" id="{B84AFB1A-2520-744A-ACA2-8E0E094305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44450" y="473075"/>
          <a:ext cx="9188450" cy="613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2" imgW="5422900" imgH="3619500" progId="Word.Picture.8">
                  <p:embed/>
                </p:oleObj>
              </mc:Choice>
              <mc:Fallback>
                <p:oleObj name="Figura" r:id="rId2" imgW="5422900" imgH="3619500" progId="Word.Picture.8">
                  <p:embed/>
                  <p:pic>
                    <p:nvPicPr>
                      <p:cNvPr id="27649" name="Object 4">
                        <a:extLst>
                          <a:ext uri="{FF2B5EF4-FFF2-40B4-BE49-F238E27FC236}">
                            <a16:creationId xmlns:a16="http://schemas.microsoft.com/office/drawing/2014/main" id="{B84AFB1A-2520-744A-ACA2-8E0E094305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44450" y="473075"/>
                        <a:ext cx="9188450" cy="6138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tângulo 7">
            <a:extLst>
              <a:ext uri="{FF2B5EF4-FFF2-40B4-BE49-F238E27FC236}">
                <a16:creationId xmlns:a16="http://schemas.microsoft.com/office/drawing/2014/main" id="{0C084CA5-43AC-C24D-A9A2-5BE13F89FDDE}"/>
              </a:ext>
            </a:extLst>
          </p:cNvPr>
          <p:cNvSpPr/>
          <p:nvPr/>
        </p:nvSpPr>
        <p:spPr>
          <a:xfrm>
            <a:off x="323850" y="311150"/>
            <a:ext cx="3167063" cy="3397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b="1" kern="0">
                <a:solidFill>
                  <a:srgbClr val="000096"/>
                </a:solidFill>
                <a:latin typeface="Arial" charset="0"/>
                <a:ea typeface="+mn-ea"/>
              </a:rPr>
              <a:t>PROJETO CONCEITUAL</a:t>
            </a:r>
            <a:endParaRPr lang="pt-BR">
              <a:latin typeface="Arial" charset="0"/>
              <a:ea typeface="+mn-ea"/>
            </a:endParaRPr>
          </a:p>
        </p:txBody>
      </p:sp>
      <p:grpSp>
        <p:nvGrpSpPr>
          <p:cNvPr id="2" name="Group 106">
            <a:extLst>
              <a:ext uri="{FF2B5EF4-FFF2-40B4-BE49-F238E27FC236}">
                <a16:creationId xmlns:a16="http://schemas.microsoft.com/office/drawing/2014/main" id="{44F849A6-EB46-064C-BDB0-0465E12E9552}"/>
              </a:ext>
            </a:extLst>
          </p:cNvPr>
          <p:cNvGrpSpPr>
            <a:grpSpLocks/>
          </p:cNvGrpSpPr>
          <p:nvPr/>
        </p:nvGrpSpPr>
        <p:grpSpPr bwMode="auto">
          <a:xfrm rot="-4531404">
            <a:off x="4843549" y="-711999"/>
            <a:ext cx="1685925" cy="4075112"/>
            <a:chOff x="2181" y="1183"/>
            <a:chExt cx="1419" cy="1966"/>
          </a:xfrm>
        </p:grpSpPr>
        <p:grpSp>
          <p:nvGrpSpPr>
            <p:cNvPr id="27652" name="Group 107">
              <a:extLst>
                <a:ext uri="{FF2B5EF4-FFF2-40B4-BE49-F238E27FC236}">
                  <a16:creationId xmlns:a16="http://schemas.microsoft.com/office/drawing/2014/main" id="{78784498-C990-F045-88EA-0D707EE993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1" y="1183"/>
              <a:ext cx="1203" cy="1195"/>
              <a:chOff x="2181" y="1183"/>
              <a:chExt cx="1203" cy="1195"/>
            </a:xfrm>
          </p:grpSpPr>
          <p:grpSp>
            <p:nvGrpSpPr>
              <p:cNvPr id="27689" name="Group 108">
                <a:extLst>
                  <a:ext uri="{FF2B5EF4-FFF2-40B4-BE49-F238E27FC236}">
                    <a16:creationId xmlns:a16="http://schemas.microsoft.com/office/drawing/2014/main" id="{57B618FA-8198-BC45-BDFF-06E3787D11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3" y="1197"/>
                <a:ext cx="1181" cy="1180"/>
                <a:chOff x="2203" y="1197"/>
                <a:chExt cx="1181" cy="1180"/>
              </a:xfrm>
            </p:grpSpPr>
            <p:grpSp>
              <p:nvGrpSpPr>
                <p:cNvPr id="27695" name="Group 109">
                  <a:extLst>
                    <a:ext uri="{FF2B5EF4-FFF2-40B4-BE49-F238E27FC236}">
                      <a16:creationId xmlns:a16="http://schemas.microsoft.com/office/drawing/2014/main" id="{CCE11FE5-1D4B-1647-BA8F-8128876C8CC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03" y="1197"/>
                  <a:ext cx="1181" cy="1180"/>
                  <a:chOff x="2203" y="1197"/>
                  <a:chExt cx="1181" cy="1180"/>
                </a:xfrm>
              </p:grpSpPr>
              <p:sp>
                <p:nvSpPr>
                  <p:cNvPr id="27701" name="Freeform 110">
                    <a:extLst>
                      <a:ext uri="{FF2B5EF4-FFF2-40B4-BE49-F238E27FC236}">
                        <a16:creationId xmlns:a16="http://schemas.microsoft.com/office/drawing/2014/main" id="{85C2A6FA-A235-C041-8616-FC60E0C9A75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3" y="1197"/>
                    <a:ext cx="1003" cy="685"/>
                  </a:xfrm>
                  <a:custGeom>
                    <a:avLst/>
                    <a:gdLst>
                      <a:gd name="T0" fmla="*/ 21 w 1003"/>
                      <a:gd name="T1" fmla="*/ 685 h 685"/>
                      <a:gd name="T2" fmla="*/ 6 w 1003"/>
                      <a:gd name="T3" fmla="*/ 604 h 685"/>
                      <a:gd name="T4" fmla="*/ 0 w 1003"/>
                      <a:gd name="T5" fmla="*/ 526 h 685"/>
                      <a:gd name="T6" fmla="*/ 3 w 1003"/>
                      <a:gd name="T7" fmla="*/ 472 h 685"/>
                      <a:gd name="T8" fmla="*/ 12 w 1003"/>
                      <a:gd name="T9" fmla="*/ 423 h 685"/>
                      <a:gd name="T10" fmla="*/ 27 w 1003"/>
                      <a:gd name="T11" fmla="*/ 369 h 685"/>
                      <a:gd name="T12" fmla="*/ 51 w 1003"/>
                      <a:gd name="T13" fmla="*/ 315 h 685"/>
                      <a:gd name="T14" fmla="*/ 81 w 1003"/>
                      <a:gd name="T15" fmla="*/ 258 h 685"/>
                      <a:gd name="T16" fmla="*/ 111 w 1003"/>
                      <a:gd name="T17" fmla="*/ 213 h 685"/>
                      <a:gd name="T18" fmla="*/ 147 w 1003"/>
                      <a:gd name="T19" fmla="*/ 168 h 685"/>
                      <a:gd name="T20" fmla="*/ 189 w 1003"/>
                      <a:gd name="T21" fmla="*/ 129 h 685"/>
                      <a:gd name="T22" fmla="*/ 231 w 1003"/>
                      <a:gd name="T23" fmla="*/ 96 h 685"/>
                      <a:gd name="T24" fmla="*/ 276 w 1003"/>
                      <a:gd name="T25" fmla="*/ 69 h 685"/>
                      <a:gd name="T26" fmla="*/ 331 w 1003"/>
                      <a:gd name="T27" fmla="*/ 45 h 685"/>
                      <a:gd name="T28" fmla="*/ 394 w 1003"/>
                      <a:gd name="T29" fmla="*/ 24 h 685"/>
                      <a:gd name="T30" fmla="*/ 448 w 1003"/>
                      <a:gd name="T31" fmla="*/ 9 h 685"/>
                      <a:gd name="T32" fmla="*/ 514 w 1003"/>
                      <a:gd name="T33" fmla="*/ 0 h 685"/>
                      <a:gd name="T34" fmla="*/ 598 w 1003"/>
                      <a:gd name="T35" fmla="*/ 0 h 685"/>
                      <a:gd name="T36" fmla="*/ 661 w 1003"/>
                      <a:gd name="T37" fmla="*/ 12 h 685"/>
                      <a:gd name="T38" fmla="*/ 736 w 1003"/>
                      <a:gd name="T39" fmla="*/ 30 h 685"/>
                      <a:gd name="T40" fmla="*/ 811 w 1003"/>
                      <a:gd name="T41" fmla="*/ 63 h 685"/>
                      <a:gd name="T42" fmla="*/ 877 w 1003"/>
                      <a:gd name="T43" fmla="*/ 102 h 685"/>
                      <a:gd name="T44" fmla="*/ 922 w 1003"/>
                      <a:gd name="T45" fmla="*/ 141 h 685"/>
                      <a:gd name="T46" fmla="*/ 967 w 1003"/>
                      <a:gd name="T47" fmla="*/ 186 h 685"/>
                      <a:gd name="T48" fmla="*/ 1003 w 1003"/>
                      <a:gd name="T49" fmla="*/ 231 h 685"/>
                      <a:gd name="T50" fmla="*/ 907 w 1003"/>
                      <a:gd name="T51" fmla="*/ 159 h 685"/>
                      <a:gd name="T52" fmla="*/ 856 w 1003"/>
                      <a:gd name="T53" fmla="*/ 129 h 685"/>
                      <a:gd name="T54" fmla="*/ 802 w 1003"/>
                      <a:gd name="T55" fmla="*/ 108 h 685"/>
                      <a:gd name="T56" fmla="*/ 733 w 1003"/>
                      <a:gd name="T57" fmla="*/ 87 h 685"/>
                      <a:gd name="T58" fmla="*/ 667 w 1003"/>
                      <a:gd name="T59" fmla="*/ 78 h 685"/>
                      <a:gd name="T60" fmla="*/ 595 w 1003"/>
                      <a:gd name="T61" fmla="*/ 75 h 685"/>
                      <a:gd name="T62" fmla="*/ 541 w 1003"/>
                      <a:gd name="T63" fmla="*/ 78 h 685"/>
                      <a:gd name="T64" fmla="*/ 484 w 1003"/>
                      <a:gd name="T65" fmla="*/ 87 h 685"/>
                      <a:gd name="T66" fmla="*/ 427 w 1003"/>
                      <a:gd name="T67" fmla="*/ 102 h 685"/>
                      <a:gd name="T68" fmla="*/ 373 w 1003"/>
                      <a:gd name="T69" fmla="*/ 120 h 685"/>
                      <a:gd name="T70" fmla="*/ 313 w 1003"/>
                      <a:gd name="T71" fmla="*/ 150 h 685"/>
                      <a:gd name="T72" fmla="*/ 267 w 1003"/>
                      <a:gd name="T73" fmla="*/ 177 h 685"/>
                      <a:gd name="T74" fmla="*/ 228 w 1003"/>
                      <a:gd name="T75" fmla="*/ 210 h 685"/>
                      <a:gd name="T76" fmla="*/ 183 w 1003"/>
                      <a:gd name="T77" fmla="*/ 246 h 685"/>
                      <a:gd name="T78" fmla="*/ 147 w 1003"/>
                      <a:gd name="T79" fmla="*/ 285 h 685"/>
                      <a:gd name="T80" fmla="*/ 111 w 1003"/>
                      <a:gd name="T81" fmla="*/ 339 h 685"/>
                      <a:gd name="T82" fmla="*/ 78 w 1003"/>
                      <a:gd name="T83" fmla="*/ 396 h 685"/>
                      <a:gd name="T84" fmla="*/ 57 w 1003"/>
                      <a:gd name="T85" fmla="*/ 450 h 685"/>
                      <a:gd name="T86" fmla="*/ 39 w 1003"/>
                      <a:gd name="T87" fmla="*/ 514 h 685"/>
                      <a:gd name="T88" fmla="*/ 27 w 1003"/>
                      <a:gd name="T89" fmla="*/ 592 h 685"/>
                      <a:gd name="T90" fmla="*/ 21 w 1003"/>
                      <a:gd name="T91" fmla="*/ 685 h 685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w 1003"/>
                      <a:gd name="T139" fmla="*/ 0 h 685"/>
                      <a:gd name="T140" fmla="*/ 1003 w 1003"/>
                      <a:gd name="T141" fmla="*/ 685 h 685"/>
                    </a:gdLst>
                    <a:ahLst/>
                    <a:cxnLst>
                      <a:cxn ang="T92">
                        <a:pos x="T0" y="T1"/>
                      </a:cxn>
                      <a:cxn ang="T93">
                        <a:pos x="T2" y="T3"/>
                      </a:cxn>
                      <a:cxn ang="T94">
                        <a:pos x="T4" y="T5"/>
                      </a:cxn>
                      <a:cxn ang="T95">
                        <a:pos x="T6" y="T7"/>
                      </a:cxn>
                      <a:cxn ang="T96">
                        <a:pos x="T8" y="T9"/>
                      </a:cxn>
                      <a:cxn ang="T97">
                        <a:pos x="T10" y="T11"/>
                      </a:cxn>
                      <a:cxn ang="T98">
                        <a:pos x="T12" y="T13"/>
                      </a:cxn>
                      <a:cxn ang="T99">
                        <a:pos x="T14" y="T15"/>
                      </a:cxn>
                      <a:cxn ang="T100">
                        <a:pos x="T16" y="T17"/>
                      </a:cxn>
                      <a:cxn ang="T101">
                        <a:pos x="T18" y="T19"/>
                      </a:cxn>
                      <a:cxn ang="T102">
                        <a:pos x="T20" y="T21"/>
                      </a:cxn>
                      <a:cxn ang="T103">
                        <a:pos x="T22" y="T23"/>
                      </a:cxn>
                      <a:cxn ang="T104">
                        <a:pos x="T24" y="T25"/>
                      </a:cxn>
                      <a:cxn ang="T105">
                        <a:pos x="T26" y="T27"/>
                      </a:cxn>
                      <a:cxn ang="T106">
                        <a:pos x="T28" y="T29"/>
                      </a:cxn>
                      <a:cxn ang="T107">
                        <a:pos x="T30" y="T31"/>
                      </a:cxn>
                      <a:cxn ang="T108">
                        <a:pos x="T32" y="T33"/>
                      </a:cxn>
                      <a:cxn ang="T109">
                        <a:pos x="T34" y="T35"/>
                      </a:cxn>
                      <a:cxn ang="T110">
                        <a:pos x="T36" y="T37"/>
                      </a:cxn>
                      <a:cxn ang="T111">
                        <a:pos x="T38" y="T39"/>
                      </a:cxn>
                      <a:cxn ang="T112">
                        <a:pos x="T40" y="T41"/>
                      </a:cxn>
                      <a:cxn ang="T113">
                        <a:pos x="T42" y="T43"/>
                      </a:cxn>
                      <a:cxn ang="T114">
                        <a:pos x="T44" y="T45"/>
                      </a:cxn>
                      <a:cxn ang="T115">
                        <a:pos x="T46" y="T47"/>
                      </a:cxn>
                      <a:cxn ang="T116">
                        <a:pos x="T48" y="T49"/>
                      </a:cxn>
                      <a:cxn ang="T117">
                        <a:pos x="T50" y="T51"/>
                      </a:cxn>
                      <a:cxn ang="T118">
                        <a:pos x="T52" y="T53"/>
                      </a:cxn>
                      <a:cxn ang="T119">
                        <a:pos x="T54" y="T55"/>
                      </a:cxn>
                      <a:cxn ang="T120">
                        <a:pos x="T56" y="T57"/>
                      </a:cxn>
                      <a:cxn ang="T121">
                        <a:pos x="T58" y="T59"/>
                      </a:cxn>
                      <a:cxn ang="T122">
                        <a:pos x="T60" y="T61"/>
                      </a:cxn>
                      <a:cxn ang="T123">
                        <a:pos x="T62" y="T63"/>
                      </a:cxn>
                      <a:cxn ang="T124">
                        <a:pos x="T64" y="T65"/>
                      </a:cxn>
                      <a:cxn ang="T125">
                        <a:pos x="T66" y="T67"/>
                      </a:cxn>
                      <a:cxn ang="T126">
                        <a:pos x="T68" y="T69"/>
                      </a:cxn>
                      <a:cxn ang="T127">
                        <a:pos x="T70" y="T71"/>
                      </a:cxn>
                      <a:cxn ang="T128">
                        <a:pos x="T72" y="T73"/>
                      </a:cxn>
                      <a:cxn ang="T129">
                        <a:pos x="T74" y="T75"/>
                      </a:cxn>
                      <a:cxn ang="T130">
                        <a:pos x="T76" y="T77"/>
                      </a:cxn>
                      <a:cxn ang="T131">
                        <a:pos x="T78" y="T79"/>
                      </a:cxn>
                      <a:cxn ang="T132">
                        <a:pos x="T80" y="T81"/>
                      </a:cxn>
                      <a:cxn ang="T133">
                        <a:pos x="T82" y="T83"/>
                      </a:cxn>
                      <a:cxn ang="T134">
                        <a:pos x="T84" y="T85"/>
                      </a:cxn>
                      <a:cxn ang="T135">
                        <a:pos x="T86" y="T87"/>
                      </a:cxn>
                      <a:cxn ang="T136">
                        <a:pos x="T88" y="T89"/>
                      </a:cxn>
                      <a:cxn ang="T137">
                        <a:pos x="T90" y="T91"/>
                      </a:cxn>
                    </a:cxnLst>
                    <a:rect l="T138" t="T139" r="T140" b="T141"/>
                    <a:pathLst>
                      <a:path w="1003" h="685">
                        <a:moveTo>
                          <a:pt x="21" y="685"/>
                        </a:moveTo>
                        <a:lnTo>
                          <a:pt x="6" y="604"/>
                        </a:lnTo>
                        <a:lnTo>
                          <a:pt x="0" y="526"/>
                        </a:lnTo>
                        <a:lnTo>
                          <a:pt x="3" y="472"/>
                        </a:lnTo>
                        <a:lnTo>
                          <a:pt x="12" y="423"/>
                        </a:lnTo>
                        <a:lnTo>
                          <a:pt x="27" y="369"/>
                        </a:lnTo>
                        <a:lnTo>
                          <a:pt x="51" y="315"/>
                        </a:lnTo>
                        <a:lnTo>
                          <a:pt x="81" y="258"/>
                        </a:lnTo>
                        <a:lnTo>
                          <a:pt x="111" y="213"/>
                        </a:lnTo>
                        <a:lnTo>
                          <a:pt x="147" y="168"/>
                        </a:lnTo>
                        <a:lnTo>
                          <a:pt x="189" y="129"/>
                        </a:lnTo>
                        <a:lnTo>
                          <a:pt x="231" y="96"/>
                        </a:lnTo>
                        <a:lnTo>
                          <a:pt x="276" y="69"/>
                        </a:lnTo>
                        <a:lnTo>
                          <a:pt x="331" y="45"/>
                        </a:lnTo>
                        <a:lnTo>
                          <a:pt x="394" y="24"/>
                        </a:lnTo>
                        <a:lnTo>
                          <a:pt x="448" y="9"/>
                        </a:lnTo>
                        <a:lnTo>
                          <a:pt x="514" y="0"/>
                        </a:lnTo>
                        <a:lnTo>
                          <a:pt x="598" y="0"/>
                        </a:lnTo>
                        <a:lnTo>
                          <a:pt x="661" y="12"/>
                        </a:lnTo>
                        <a:lnTo>
                          <a:pt x="736" y="30"/>
                        </a:lnTo>
                        <a:lnTo>
                          <a:pt x="811" y="63"/>
                        </a:lnTo>
                        <a:lnTo>
                          <a:pt x="877" y="102"/>
                        </a:lnTo>
                        <a:lnTo>
                          <a:pt x="922" y="141"/>
                        </a:lnTo>
                        <a:lnTo>
                          <a:pt x="967" y="186"/>
                        </a:lnTo>
                        <a:lnTo>
                          <a:pt x="1003" y="231"/>
                        </a:lnTo>
                        <a:lnTo>
                          <a:pt x="907" y="159"/>
                        </a:lnTo>
                        <a:lnTo>
                          <a:pt x="856" y="129"/>
                        </a:lnTo>
                        <a:lnTo>
                          <a:pt x="802" y="108"/>
                        </a:lnTo>
                        <a:lnTo>
                          <a:pt x="733" y="87"/>
                        </a:lnTo>
                        <a:lnTo>
                          <a:pt x="667" y="78"/>
                        </a:lnTo>
                        <a:lnTo>
                          <a:pt x="595" y="75"/>
                        </a:lnTo>
                        <a:lnTo>
                          <a:pt x="541" y="78"/>
                        </a:lnTo>
                        <a:lnTo>
                          <a:pt x="484" y="87"/>
                        </a:lnTo>
                        <a:lnTo>
                          <a:pt x="427" y="102"/>
                        </a:lnTo>
                        <a:lnTo>
                          <a:pt x="373" y="120"/>
                        </a:lnTo>
                        <a:lnTo>
                          <a:pt x="313" y="150"/>
                        </a:lnTo>
                        <a:lnTo>
                          <a:pt x="267" y="177"/>
                        </a:lnTo>
                        <a:lnTo>
                          <a:pt x="228" y="210"/>
                        </a:lnTo>
                        <a:lnTo>
                          <a:pt x="183" y="246"/>
                        </a:lnTo>
                        <a:lnTo>
                          <a:pt x="147" y="285"/>
                        </a:lnTo>
                        <a:lnTo>
                          <a:pt x="111" y="339"/>
                        </a:lnTo>
                        <a:lnTo>
                          <a:pt x="78" y="396"/>
                        </a:lnTo>
                        <a:lnTo>
                          <a:pt x="57" y="450"/>
                        </a:lnTo>
                        <a:lnTo>
                          <a:pt x="39" y="514"/>
                        </a:lnTo>
                        <a:lnTo>
                          <a:pt x="27" y="592"/>
                        </a:lnTo>
                        <a:lnTo>
                          <a:pt x="21" y="68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7702" name="Freeform 111">
                    <a:extLst>
                      <a:ext uri="{FF2B5EF4-FFF2-40B4-BE49-F238E27FC236}">
                        <a16:creationId xmlns:a16="http://schemas.microsoft.com/office/drawing/2014/main" id="{9DE56E1D-64E7-0C46-9AAC-F9D497BDF6E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78" y="1536"/>
                    <a:ext cx="1106" cy="841"/>
                  </a:xfrm>
                  <a:custGeom>
                    <a:avLst/>
                    <a:gdLst>
                      <a:gd name="T0" fmla="*/ 0 w 1106"/>
                      <a:gd name="T1" fmla="*/ 511 h 841"/>
                      <a:gd name="T2" fmla="*/ 63 w 1106"/>
                      <a:gd name="T3" fmla="*/ 583 h 841"/>
                      <a:gd name="T4" fmla="*/ 132 w 1106"/>
                      <a:gd name="T5" fmla="*/ 646 h 841"/>
                      <a:gd name="T6" fmla="*/ 195 w 1106"/>
                      <a:gd name="T7" fmla="*/ 682 h 841"/>
                      <a:gd name="T8" fmla="*/ 286 w 1106"/>
                      <a:gd name="T9" fmla="*/ 721 h 841"/>
                      <a:gd name="T10" fmla="*/ 358 w 1106"/>
                      <a:gd name="T11" fmla="*/ 742 h 841"/>
                      <a:gd name="T12" fmla="*/ 424 w 1106"/>
                      <a:gd name="T13" fmla="*/ 751 h 841"/>
                      <a:gd name="T14" fmla="*/ 502 w 1106"/>
                      <a:gd name="T15" fmla="*/ 751 h 841"/>
                      <a:gd name="T16" fmla="*/ 559 w 1106"/>
                      <a:gd name="T17" fmla="*/ 745 h 841"/>
                      <a:gd name="T18" fmla="*/ 628 w 1106"/>
                      <a:gd name="T19" fmla="*/ 733 h 841"/>
                      <a:gd name="T20" fmla="*/ 697 w 1106"/>
                      <a:gd name="T21" fmla="*/ 712 h 841"/>
                      <a:gd name="T22" fmla="*/ 754 w 1106"/>
                      <a:gd name="T23" fmla="*/ 682 h 841"/>
                      <a:gd name="T24" fmla="*/ 808 w 1106"/>
                      <a:gd name="T25" fmla="*/ 649 h 841"/>
                      <a:gd name="T26" fmla="*/ 856 w 1106"/>
                      <a:gd name="T27" fmla="*/ 616 h 841"/>
                      <a:gd name="T28" fmla="*/ 904 w 1106"/>
                      <a:gd name="T29" fmla="*/ 568 h 841"/>
                      <a:gd name="T30" fmla="*/ 952 w 1106"/>
                      <a:gd name="T31" fmla="*/ 514 h 841"/>
                      <a:gd name="T32" fmla="*/ 989 w 1106"/>
                      <a:gd name="T33" fmla="*/ 463 h 841"/>
                      <a:gd name="T34" fmla="*/ 1010 w 1106"/>
                      <a:gd name="T35" fmla="*/ 412 h 841"/>
                      <a:gd name="T36" fmla="*/ 1037 w 1106"/>
                      <a:gd name="T37" fmla="*/ 331 h 841"/>
                      <a:gd name="T38" fmla="*/ 1055 w 1106"/>
                      <a:gd name="T39" fmla="*/ 247 h 841"/>
                      <a:gd name="T40" fmla="*/ 1058 w 1106"/>
                      <a:gd name="T41" fmla="*/ 172 h 841"/>
                      <a:gd name="T42" fmla="*/ 1046 w 1106"/>
                      <a:gd name="T43" fmla="*/ 90 h 841"/>
                      <a:gd name="T44" fmla="*/ 1019 w 1106"/>
                      <a:gd name="T45" fmla="*/ 0 h 841"/>
                      <a:gd name="T46" fmla="*/ 1046 w 1106"/>
                      <a:gd name="T47" fmla="*/ 48 h 841"/>
                      <a:gd name="T48" fmla="*/ 1076 w 1106"/>
                      <a:gd name="T49" fmla="*/ 117 h 841"/>
                      <a:gd name="T50" fmla="*/ 1091 w 1106"/>
                      <a:gd name="T51" fmla="*/ 181 h 841"/>
                      <a:gd name="T52" fmla="*/ 1106 w 1106"/>
                      <a:gd name="T53" fmla="*/ 241 h 841"/>
                      <a:gd name="T54" fmla="*/ 1103 w 1106"/>
                      <a:gd name="T55" fmla="*/ 292 h 841"/>
                      <a:gd name="T56" fmla="*/ 1100 w 1106"/>
                      <a:gd name="T57" fmla="*/ 361 h 841"/>
                      <a:gd name="T58" fmla="*/ 1064 w 1106"/>
                      <a:gd name="T59" fmla="*/ 493 h 841"/>
                      <a:gd name="T60" fmla="*/ 1028 w 1106"/>
                      <a:gd name="T61" fmla="*/ 565 h 841"/>
                      <a:gd name="T62" fmla="*/ 983 w 1106"/>
                      <a:gd name="T63" fmla="*/ 628 h 841"/>
                      <a:gd name="T64" fmla="*/ 934 w 1106"/>
                      <a:gd name="T65" fmla="*/ 682 h 841"/>
                      <a:gd name="T66" fmla="*/ 886 w 1106"/>
                      <a:gd name="T67" fmla="*/ 721 h 841"/>
                      <a:gd name="T68" fmla="*/ 820 w 1106"/>
                      <a:gd name="T69" fmla="*/ 766 h 841"/>
                      <a:gd name="T70" fmla="*/ 754 w 1106"/>
                      <a:gd name="T71" fmla="*/ 796 h 841"/>
                      <a:gd name="T72" fmla="*/ 691 w 1106"/>
                      <a:gd name="T73" fmla="*/ 817 h 841"/>
                      <a:gd name="T74" fmla="*/ 610 w 1106"/>
                      <a:gd name="T75" fmla="*/ 838 h 841"/>
                      <a:gd name="T76" fmla="*/ 550 w 1106"/>
                      <a:gd name="T77" fmla="*/ 841 h 841"/>
                      <a:gd name="T78" fmla="*/ 484 w 1106"/>
                      <a:gd name="T79" fmla="*/ 841 h 841"/>
                      <a:gd name="T80" fmla="*/ 418 w 1106"/>
                      <a:gd name="T81" fmla="*/ 829 h 841"/>
                      <a:gd name="T82" fmla="*/ 346 w 1106"/>
                      <a:gd name="T83" fmla="*/ 814 h 841"/>
                      <a:gd name="T84" fmla="*/ 298 w 1106"/>
                      <a:gd name="T85" fmla="*/ 796 h 841"/>
                      <a:gd name="T86" fmla="*/ 234 w 1106"/>
                      <a:gd name="T87" fmla="*/ 763 h 841"/>
                      <a:gd name="T88" fmla="*/ 180 w 1106"/>
                      <a:gd name="T89" fmla="*/ 733 h 841"/>
                      <a:gd name="T90" fmla="*/ 129 w 1106"/>
                      <a:gd name="T91" fmla="*/ 691 h 841"/>
                      <a:gd name="T92" fmla="*/ 75 w 1106"/>
                      <a:gd name="T93" fmla="*/ 634 h 841"/>
                      <a:gd name="T94" fmla="*/ 24 w 1106"/>
                      <a:gd name="T95" fmla="*/ 562 h 841"/>
                      <a:gd name="T96" fmla="*/ 0 w 1106"/>
                      <a:gd name="T97" fmla="*/ 511 h 841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w 1106"/>
                      <a:gd name="T148" fmla="*/ 0 h 841"/>
                      <a:gd name="T149" fmla="*/ 1106 w 1106"/>
                      <a:gd name="T150" fmla="*/ 841 h 841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T147" t="T148" r="T149" b="T150"/>
                    <a:pathLst>
                      <a:path w="1106" h="841">
                        <a:moveTo>
                          <a:pt x="0" y="511"/>
                        </a:moveTo>
                        <a:lnTo>
                          <a:pt x="63" y="583"/>
                        </a:lnTo>
                        <a:lnTo>
                          <a:pt x="132" y="646"/>
                        </a:lnTo>
                        <a:lnTo>
                          <a:pt x="195" y="682"/>
                        </a:lnTo>
                        <a:lnTo>
                          <a:pt x="286" y="721"/>
                        </a:lnTo>
                        <a:lnTo>
                          <a:pt x="358" y="742"/>
                        </a:lnTo>
                        <a:lnTo>
                          <a:pt x="424" y="751"/>
                        </a:lnTo>
                        <a:lnTo>
                          <a:pt x="502" y="751"/>
                        </a:lnTo>
                        <a:lnTo>
                          <a:pt x="559" y="745"/>
                        </a:lnTo>
                        <a:lnTo>
                          <a:pt x="628" y="733"/>
                        </a:lnTo>
                        <a:lnTo>
                          <a:pt x="697" y="712"/>
                        </a:lnTo>
                        <a:lnTo>
                          <a:pt x="754" y="682"/>
                        </a:lnTo>
                        <a:lnTo>
                          <a:pt x="808" y="649"/>
                        </a:lnTo>
                        <a:lnTo>
                          <a:pt x="856" y="616"/>
                        </a:lnTo>
                        <a:lnTo>
                          <a:pt x="904" y="568"/>
                        </a:lnTo>
                        <a:lnTo>
                          <a:pt x="952" y="514"/>
                        </a:lnTo>
                        <a:lnTo>
                          <a:pt x="989" y="463"/>
                        </a:lnTo>
                        <a:lnTo>
                          <a:pt x="1010" y="412"/>
                        </a:lnTo>
                        <a:lnTo>
                          <a:pt x="1037" y="331"/>
                        </a:lnTo>
                        <a:lnTo>
                          <a:pt x="1055" y="247"/>
                        </a:lnTo>
                        <a:lnTo>
                          <a:pt x="1058" y="172"/>
                        </a:lnTo>
                        <a:lnTo>
                          <a:pt x="1046" y="90"/>
                        </a:lnTo>
                        <a:lnTo>
                          <a:pt x="1019" y="0"/>
                        </a:lnTo>
                        <a:lnTo>
                          <a:pt x="1046" y="48"/>
                        </a:lnTo>
                        <a:lnTo>
                          <a:pt x="1076" y="117"/>
                        </a:lnTo>
                        <a:lnTo>
                          <a:pt x="1091" y="181"/>
                        </a:lnTo>
                        <a:lnTo>
                          <a:pt x="1106" y="241"/>
                        </a:lnTo>
                        <a:lnTo>
                          <a:pt x="1103" y="292"/>
                        </a:lnTo>
                        <a:lnTo>
                          <a:pt x="1100" y="361"/>
                        </a:lnTo>
                        <a:lnTo>
                          <a:pt x="1064" y="493"/>
                        </a:lnTo>
                        <a:lnTo>
                          <a:pt x="1028" y="565"/>
                        </a:lnTo>
                        <a:lnTo>
                          <a:pt x="983" y="628"/>
                        </a:lnTo>
                        <a:lnTo>
                          <a:pt x="934" y="682"/>
                        </a:lnTo>
                        <a:lnTo>
                          <a:pt x="886" y="721"/>
                        </a:lnTo>
                        <a:lnTo>
                          <a:pt x="820" y="766"/>
                        </a:lnTo>
                        <a:lnTo>
                          <a:pt x="754" y="796"/>
                        </a:lnTo>
                        <a:lnTo>
                          <a:pt x="691" y="817"/>
                        </a:lnTo>
                        <a:lnTo>
                          <a:pt x="610" y="838"/>
                        </a:lnTo>
                        <a:lnTo>
                          <a:pt x="550" y="841"/>
                        </a:lnTo>
                        <a:lnTo>
                          <a:pt x="484" y="841"/>
                        </a:lnTo>
                        <a:lnTo>
                          <a:pt x="418" y="829"/>
                        </a:lnTo>
                        <a:lnTo>
                          <a:pt x="346" y="814"/>
                        </a:lnTo>
                        <a:lnTo>
                          <a:pt x="298" y="796"/>
                        </a:lnTo>
                        <a:lnTo>
                          <a:pt x="234" y="763"/>
                        </a:lnTo>
                        <a:lnTo>
                          <a:pt x="180" y="733"/>
                        </a:lnTo>
                        <a:lnTo>
                          <a:pt x="129" y="691"/>
                        </a:lnTo>
                        <a:lnTo>
                          <a:pt x="75" y="634"/>
                        </a:lnTo>
                        <a:lnTo>
                          <a:pt x="24" y="562"/>
                        </a:lnTo>
                        <a:lnTo>
                          <a:pt x="0" y="511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27696" name="Group 112">
                  <a:extLst>
                    <a:ext uri="{FF2B5EF4-FFF2-40B4-BE49-F238E27FC236}">
                      <a16:creationId xmlns:a16="http://schemas.microsoft.com/office/drawing/2014/main" id="{1808F814-2B50-F942-BDC2-F14DD7EA62F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10" y="1213"/>
                  <a:ext cx="1172" cy="1113"/>
                  <a:chOff x="2210" y="1213"/>
                  <a:chExt cx="1172" cy="1113"/>
                </a:xfrm>
              </p:grpSpPr>
              <p:sp>
                <p:nvSpPr>
                  <p:cNvPr id="27697" name="Freeform 113">
                    <a:extLst>
                      <a:ext uri="{FF2B5EF4-FFF2-40B4-BE49-F238E27FC236}">
                        <a16:creationId xmlns:a16="http://schemas.microsoft.com/office/drawing/2014/main" id="{08B500FE-6795-2648-9881-D506127EB1E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76" y="2048"/>
                    <a:ext cx="287" cy="278"/>
                  </a:xfrm>
                  <a:custGeom>
                    <a:avLst/>
                    <a:gdLst>
                      <a:gd name="T0" fmla="*/ 0 w 287"/>
                      <a:gd name="T1" fmla="*/ 0 h 278"/>
                      <a:gd name="T2" fmla="*/ 30 w 287"/>
                      <a:gd name="T3" fmla="*/ 56 h 278"/>
                      <a:gd name="T4" fmla="*/ 59 w 287"/>
                      <a:gd name="T5" fmla="*/ 99 h 278"/>
                      <a:gd name="T6" fmla="*/ 90 w 287"/>
                      <a:gd name="T7" fmla="*/ 138 h 278"/>
                      <a:gd name="T8" fmla="*/ 138 w 287"/>
                      <a:gd name="T9" fmla="*/ 185 h 278"/>
                      <a:gd name="T10" fmla="*/ 174 w 287"/>
                      <a:gd name="T11" fmla="*/ 215 h 278"/>
                      <a:gd name="T12" fmla="*/ 220 w 287"/>
                      <a:gd name="T13" fmla="*/ 244 h 278"/>
                      <a:gd name="T14" fmla="*/ 287 w 287"/>
                      <a:gd name="T15" fmla="*/ 278 h 278"/>
                      <a:gd name="T16" fmla="*/ 212 w 287"/>
                      <a:gd name="T17" fmla="*/ 176 h 278"/>
                      <a:gd name="T18" fmla="*/ 170 w 287"/>
                      <a:gd name="T19" fmla="*/ 152 h 278"/>
                      <a:gd name="T20" fmla="*/ 140 w 287"/>
                      <a:gd name="T21" fmla="*/ 131 h 278"/>
                      <a:gd name="T22" fmla="*/ 96 w 287"/>
                      <a:gd name="T23" fmla="*/ 101 h 278"/>
                      <a:gd name="T24" fmla="*/ 62 w 287"/>
                      <a:gd name="T25" fmla="*/ 69 h 278"/>
                      <a:gd name="T26" fmla="*/ 35 w 287"/>
                      <a:gd name="T27" fmla="*/ 42 h 278"/>
                      <a:gd name="T28" fmla="*/ 0 w 287"/>
                      <a:gd name="T29" fmla="*/ 0 h 278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287"/>
                      <a:gd name="T46" fmla="*/ 0 h 278"/>
                      <a:gd name="T47" fmla="*/ 287 w 287"/>
                      <a:gd name="T48" fmla="*/ 278 h 278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287" h="278">
                        <a:moveTo>
                          <a:pt x="0" y="0"/>
                        </a:moveTo>
                        <a:lnTo>
                          <a:pt x="30" y="56"/>
                        </a:lnTo>
                        <a:lnTo>
                          <a:pt x="59" y="99"/>
                        </a:lnTo>
                        <a:lnTo>
                          <a:pt x="90" y="138"/>
                        </a:lnTo>
                        <a:lnTo>
                          <a:pt x="138" y="185"/>
                        </a:lnTo>
                        <a:lnTo>
                          <a:pt x="174" y="215"/>
                        </a:lnTo>
                        <a:lnTo>
                          <a:pt x="220" y="244"/>
                        </a:lnTo>
                        <a:lnTo>
                          <a:pt x="287" y="278"/>
                        </a:lnTo>
                        <a:lnTo>
                          <a:pt x="212" y="176"/>
                        </a:lnTo>
                        <a:lnTo>
                          <a:pt x="170" y="152"/>
                        </a:lnTo>
                        <a:lnTo>
                          <a:pt x="140" y="131"/>
                        </a:lnTo>
                        <a:lnTo>
                          <a:pt x="96" y="101"/>
                        </a:lnTo>
                        <a:lnTo>
                          <a:pt x="62" y="69"/>
                        </a:lnTo>
                        <a:lnTo>
                          <a:pt x="35" y="4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7698" name="Freeform 114">
                    <a:extLst>
                      <a:ext uri="{FF2B5EF4-FFF2-40B4-BE49-F238E27FC236}">
                        <a16:creationId xmlns:a16="http://schemas.microsoft.com/office/drawing/2014/main" id="{F7C6FFFC-4D9F-524A-B72F-FEF7A6E5D1B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79" y="1530"/>
                    <a:ext cx="103" cy="546"/>
                  </a:xfrm>
                  <a:custGeom>
                    <a:avLst/>
                    <a:gdLst>
                      <a:gd name="T0" fmla="*/ 19 w 103"/>
                      <a:gd name="T1" fmla="*/ 0 h 546"/>
                      <a:gd name="T2" fmla="*/ 39 w 103"/>
                      <a:gd name="T3" fmla="*/ 37 h 546"/>
                      <a:gd name="T4" fmla="*/ 52 w 103"/>
                      <a:gd name="T5" fmla="*/ 69 h 546"/>
                      <a:gd name="T6" fmla="*/ 66 w 103"/>
                      <a:gd name="T7" fmla="*/ 102 h 546"/>
                      <a:gd name="T8" fmla="*/ 76 w 103"/>
                      <a:gd name="T9" fmla="*/ 134 h 546"/>
                      <a:gd name="T10" fmla="*/ 84 w 103"/>
                      <a:gd name="T11" fmla="*/ 164 h 546"/>
                      <a:gd name="T12" fmla="*/ 99 w 103"/>
                      <a:gd name="T13" fmla="*/ 217 h 546"/>
                      <a:gd name="T14" fmla="*/ 103 w 103"/>
                      <a:gd name="T15" fmla="*/ 269 h 546"/>
                      <a:gd name="T16" fmla="*/ 100 w 103"/>
                      <a:gd name="T17" fmla="*/ 349 h 546"/>
                      <a:gd name="T18" fmla="*/ 93 w 103"/>
                      <a:gd name="T19" fmla="*/ 403 h 546"/>
                      <a:gd name="T20" fmla="*/ 82 w 103"/>
                      <a:gd name="T21" fmla="*/ 447 h 546"/>
                      <a:gd name="T22" fmla="*/ 65 w 103"/>
                      <a:gd name="T23" fmla="*/ 493 h 546"/>
                      <a:gd name="T24" fmla="*/ 42 w 103"/>
                      <a:gd name="T25" fmla="*/ 546 h 546"/>
                      <a:gd name="T26" fmla="*/ 0 w 103"/>
                      <a:gd name="T27" fmla="*/ 443 h 546"/>
                      <a:gd name="T28" fmla="*/ 19 w 103"/>
                      <a:gd name="T29" fmla="*/ 398 h 546"/>
                      <a:gd name="T30" fmla="*/ 28 w 103"/>
                      <a:gd name="T31" fmla="*/ 374 h 546"/>
                      <a:gd name="T32" fmla="*/ 39 w 103"/>
                      <a:gd name="T33" fmla="*/ 343 h 546"/>
                      <a:gd name="T34" fmla="*/ 46 w 103"/>
                      <a:gd name="T35" fmla="*/ 311 h 546"/>
                      <a:gd name="T36" fmla="*/ 52 w 103"/>
                      <a:gd name="T37" fmla="*/ 262 h 546"/>
                      <a:gd name="T38" fmla="*/ 55 w 103"/>
                      <a:gd name="T39" fmla="*/ 221 h 546"/>
                      <a:gd name="T40" fmla="*/ 55 w 103"/>
                      <a:gd name="T41" fmla="*/ 160 h 546"/>
                      <a:gd name="T42" fmla="*/ 46 w 103"/>
                      <a:gd name="T43" fmla="*/ 105 h 546"/>
                      <a:gd name="T44" fmla="*/ 36 w 103"/>
                      <a:gd name="T45" fmla="*/ 60 h 546"/>
                      <a:gd name="T46" fmla="*/ 30 w 103"/>
                      <a:gd name="T47" fmla="*/ 36 h 546"/>
                      <a:gd name="T48" fmla="*/ 19 w 103"/>
                      <a:gd name="T49" fmla="*/ 0 h 54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103"/>
                      <a:gd name="T76" fmla="*/ 0 h 546"/>
                      <a:gd name="T77" fmla="*/ 103 w 103"/>
                      <a:gd name="T78" fmla="*/ 546 h 546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103" h="546">
                        <a:moveTo>
                          <a:pt x="19" y="0"/>
                        </a:moveTo>
                        <a:lnTo>
                          <a:pt x="39" y="37"/>
                        </a:lnTo>
                        <a:lnTo>
                          <a:pt x="52" y="69"/>
                        </a:lnTo>
                        <a:lnTo>
                          <a:pt x="66" y="102"/>
                        </a:lnTo>
                        <a:lnTo>
                          <a:pt x="76" y="134"/>
                        </a:lnTo>
                        <a:lnTo>
                          <a:pt x="84" y="164"/>
                        </a:lnTo>
                        <a:lnTo>
                          <a:pt x="99" y="217"/>
                        </a:lnTo>
                        <a:lnTo>
                          <a:pt x="103" y="269"/>
                        </a:lnTo>
                        <a:lnTo>
                          <a:pt x="100" y="349"/>
                        </a:lnTo>
                        <a:lnTo>
                          <a:pt x="93" y="403"/>
                        </a:lnTo>
                        <a:lnTo>
                          <a:pt x="82" y="447"/>
                        </a:lnTo>
                        <a:lnTo>
                          <a:pt x="65" y="493"/>
                        </a:lnTo>
                        <a:lnTo>
                          <a:pt x="42" y="546"/>
                        </a:lnTo>
                        <a:lnTo>
                          <a:pt x="0" y="443"/>
                        </a:lnTo>
                        <a:lnTo>
                          <a:pt x="19" y="398"/>
                        </a:lnTo>
                        <a:lnTo>
                          <a:pt x="28" y="374"/>
                        </a:lnTo>
                        <a:lnTo>
                          <a:pt x="39" y="343"/>
                        </a:lnTo>
                        <a:lnTo>
                          <a:pt x="46" y="311"/>
                        </a:lnTo>
                        <a:lnTo>
                          <a:pt x="52" y="262"/>
                        </a:lnTo>
                        <a:lnTo>
                          <a:pt x="55" y="221"/>
                        </a:lnTo>
                        <a:lnTo>
                          <a:pt x="55" y="160"/>
                        </a:lnTo>
                        <a:lnTo>
                          <a:pt x="46" y="105"/>
                        </a:lnTo>
                        <a:lnTo>
                          <a:pt x="36" y="60"/>
                        </a:lnTo>
                        <a:lnTo>
                          <a:pt x="30" y="36"/>
                        </a:lnTo>
                        <a:lnTo>
                          <a:pt x="19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7699" name="Freeform 115">
                    <a:extLst>
                      <a:ext uri="{FF2B5EF4-FFF2-40B4-BE49-F238E27FC236}">
                        <a16:creationId xmlns:a16="http://schemas.microsoft.com/office/drawing/2014/main" id="{66C725EC-7CC0-EF4D-A191-68381FED9E1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41" y="1213"/>
                    <a:ext cx="408" cy="165"/>
                  </a:xfrm>
                  <a:custGeom>
                    <a:avLst/>
                    <a:gdLst>
                      <a:gd name="T0" fmla="*/ 0 w 408"/>
                      <a:gd name="T1" fmla="*/ 0 h 165"/>
                      <a:gd name="T2" fmla="*/ 31 w 408"/>
                      <a:gd name="T3" fmla="*/ 60 h 165"/>
                      <a:gd name="T4" fmla="*/ 79 w 408"/>
                      <a:gd name="T5" fmla="*/ 57 h 165"/>
                      <a:gd name="T6" fmla="*/ 123 w 408"/>
                      <a:gd name="T7" fmla="*/ 60 h 165"/>
                      <a:gd name="T8" fmla="*/ 164 w 408"/>
                      <a:gd name="T9" fmla="*/ 66 h 165"/>
                      <a:gd name="T10" fmla="*/ 202 w 408"/>
                      <a:gd name="T11" fmla="*/ 73 h 165"/>
                      <a:gd name="T12" fmla="*/ 240 w 408"/>
                      <a:gd name="T13" fmla="*/ 83 h 165"/>
                      <a:gd name="T14" fmla="*/ 266 w 408"/>
                      <a:gd name="T15" fmla="*/ 91 h 165"/>
                      <a:gd name="T16" fmla="*/ 300 w 408"/>
                      <a:gd name="T17" fmla="*/ 105 h 165"/>
                      <a:gd name="T18" fmla="*/ 339 w 408"/>
                      <a:gd name="T19" fmla="*/ 124 h 165"/>
                      <a:gd name="T20" fmla="*/ 408 w 408"/>
                      <a:gd name="T21" fmla="*/ 165 h 165"/>
                      <a:gd name="T22" fmla="*/ 368 w 408"/>
                      <a:gd name="T23" fmla="*/ 123 h 165"/>
                      <a:gd name="T24" fmla="*/ 340 w 408"/>
                      <a:gd name="T25" fmla="*/ 102 h 165"/>
                      <a:gd name="T26" fmla="*/ 303 w 408"/>
                      <a:gd name="T27" fmla="*/ 78 h 165"/>
                      <a:gd name="T28" fmla="*/ 280 w 408"/>
                      <a:gd name="T29" fmla="*/ 64 h 165"/>
                      <a:gd name="T30" fmla="*/ 229 w 408"/>
                      <a:gd name="T31" fmla="*/ 40 h 165"/>
                      <a:gd name="T32" fmla="*/ 196 w 408"/>
                      <a:gd name="T33" fmla="*/ 28 h 165"/>
                      <a:gd name="T34" fmla="*/ 169 w 408"/>
                      <a:gd name="T35" fmla="*/ 19 h 165"/>
                      <a:gd name="T36" fmla="*/ 144 w 408"/>
                      <a:gd name="T37" fmla="*/ 13 h 165"/>
                      <a:gd name="T38" fmla="*/ 105 w 408"/>
                      <a:gd name="T39" fmla="*/ 6 h 165"/>
                      <a:gd name="T40" fmla="*/ 64 w 408"/>
                      <a:gd name="T41" fmla="*/ 1 h 165"/>
                      <a:gd name="T42" fmla="*/ 18 w 408"/>
                      <a:gd name="T43" fmla="*/ 0 h 165"/>
                      <a:gd name="T44" fmla="*/ 0 w 408"/>
                      <a:gd name="T45" fmla="*/ 0 h 165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408"/>
                      <a:gd name="T70" fmla="*/ 0 h 165"/>
                      <a:gd name="T71" fmla="*/ 408 w 408"/>
                      <a:gd name="T72" fmla="*/ 165 h 165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408" h="165">
                        <a:moveTo>
                          <a:pt x="0" y="0"/>
                        </a:moveTo>
                        <a:lnTo>
                          <a:pt x="31" y="60"/>
                        </a:lnTo>
                        <a:lnTo>
                          <a:pt x="79" y="57"/>
                        </a:lnTo>
                        <a:lnTo>
                          <a:pt x="123" y="60"/>
                        </a:lnTo>
                        <a:lnTo>
                          <a:pt x="164" y="66"/>
                        </a:lnTo>
                        <a:lnTo>
                          <a:pt x="202" y="73"/>
                        </a:lnTo>
                        <a:lnTo>
                          <a:pt x="240" y="83"/>
                        </a:lnTo>
                        <a:lnTo>
                          <a:pt x="266" y="91"/>
                        </a:lnTo>
                        <a:lnTo>
                          <a:pt x="300" y="105"/>
                        </a:lnTo>
                        <a:lnTo>
                          <a:pt x="339" y="124"/>
                        </a:lnTo>
                        <a:lnTo>
                          <a:pt x="408" y="165"/>
                        </a:lnTo>
                        <a:lnTo>
                          <a:pt x="368" y="123"/>
                        </a:lnTo>
                        <a:lnTo>
                          <a:pt x="340" y="102"/>
                        </a:lnTo>
                        <a:lnTo>
                          <a:pt x="303" y="78"/>
                        </a:lnTo>
                        <a:lnTo>
                          <a:pt x="280" y="64"/>
                        </a:lnTo>
                        <a:lnTo>
                          <a:pt x="229" y="40"/>
                        </a:lnTo>
                        <a:lnTo>
                          <a:pt x="196" y="28"/>
                        </a:lnTo>
                        <a:lnTo>
                          <a:pt x="169" y="19"/>
                        </a:lnTo>
                        <a:lnTo>
                          <a:pt x="144" y="13"/>
                        </a:lnTo>
                        <a:lnTo>
                          <a:pt x="105" y="6"/>
                        </a:lnTo>
                        <a:lnTo>
                          <a:pt x="64" y="1"/>
                        </a:lnTo>
                        <a:lnTo>
                          <a:pt x="18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7700" name="Freeform 116">
                    <a:extLst>
                      <a:ext uri="{FF2B5EF4-FFF2-40B4-BE49-F238E27FC236}">
                        <a16:creationId xmlns:a16="http://schemas.microsoft.com/office/drawing/2014/main" id="{0A1C3960-243E-6040-A910-9BB071292F9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10" y="1445"/>
                    <a:ext cx="130" cy="387"/>
                  </a:xfrm>
                  <a:custGeom>
                    <a:avLst/>
                    <a:gdLst>
                      <a:gd name="T0" fmla="*/ 0 w 130"/>
                      <a:gd name="T1" fmla="*/ 297 h 387"/>
                      <a:gd name="T2" fmla="*/ 3 w 130"/>
                      <a:gd name="T3" fmla="*/ 267 h 387"/>
                      <a:gd name="T4" fmla="*/ 5 w 130"/>
                      <a:gd name="T5" fmla="*/ 234 h 387"/>
                      <a:gd name="T6" fmla="*/ 14 w 130"/>
                      <a:gd name="T7" fmla="*/ 181 h 387"/>
                      <a:gd name="T8" fmla="*/ 24 w 130"/>
                      <a:gd name="T9" fmla="*/ 139 h 387"/>
                      <a:gd name="T10" fmla="*/ 38 w 130"/>
                      <a:gd name="T11" fmla="*/ 101 h 387"/>
                      <a:gd name="T12" fmla="*/ 56 w 130"/>
                      <a:gd name="T13" fmla="*/ 62 h 387"/>
                      <a:gd name="T14" fmla="*/ 72 w 130"/>
                      <a:gd name="T15" fmla="*/ 32 h 387"/>
                      <a:gd name="T16" fmla="*/ 92 w 130"/>
                      <a:gd name="T17" fmla="*/ 0 h 387"/>
                      <a:gd name="T18" fmla="*/ 130 w 130"/>
                      <a:gd name="T19" fmla="*/ 50 h 387"/>
                      <a:gd name="T20" fmla="*/ 108 w 130"/>
                      <a:gd name="T21" fmla="*/ 80 h 387"/>
                      <a:gd name="T22" fmla="*/ 92 w 130"/>
                      <a:gd name="T23" fmla="*/ 107 h 387"/>
                      <a:gd name="T24" fmla="*/ 79 w 130"/>
                      <a:gd name="T25" fmla="*/ 132 h 387"/>
                      <a:gd name="T26" fmla="*/ 60 w 130"/>
                      <a:gd name="T27" fmla="*/ 167 h 387"/>
                      <a:gd name="T28" fmla="*/ 48 w 130"/>
                      <a:gd name="T29" fmla="*/ 198 h 387"/>
                      <a:gd name="T30" fmla="*/ 41 w 130"/>
                      <a:gd name="T31" fmla="*/ 228 h 387"/>
                      <a:gd name="T32" fmla="*/ 32 w 130"/>
                      <a:gd name="T33" fmla="*/ 258 h 387"/>
                      <a:gd name="T34" fmla="*/ 26 w 130"/>
                      <a:gd name="T35" fmla="*/ 291 h 387"/>
                      <a:gd name="T36" fmla="*/ 21 w 130"/>
                      <a:gd name="T37" fmla="*/ 331 h 387"/>
                      <a:gd name="T38" fmla="*/ 17 w 130"/>
                      <a:gd name="T39" fmla="*/ 371 h 387"/>
                      <a:gd name="T40" fmla="*/ 10 w 130"/>
                      <a:gd name="T41" fmla="*/ 387 h 387"/>
                      <a:gd name="T42" fmla="*/ 0 w 130"/>
                      <a:gd name="T43" fmla="*/ 297 h 387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130"/>
                      <a:gd name="T67" fmla="*/ 0 h 387"/>
                      <a:gd name="T68" fmla="*/ 130 w 130"/>
                      <a:gd name="T69" fmla="*/ 387 h 387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130" h="387">
                        <a:moveTo>
                          <a:pt x="0" y="297"/>
                        </a:moveTo>
                        <a:lnTo>
                          <a:pt x="3" y="267"/>
                        </a:lnTo>
                        <a:lnTo>
                          <a:pt x="5" y="234"/>
                        </a:lnTo>
                        <a:lnTo>
                          <a:pt x="14" y="181"/>
                        </a:lnTo>
                        <a:lnTo>
                          <a:pt x="24" y="139"/>
                        </a:lnTo>
                        <a:lnTo>
                          <a:pt x="38" y="101"/>
                        </a:lnTo>
                        <a:lnTo>
                          <a:pt x="56" y="62"/>
                        </a:lnTo>
                        <a:lnTo>
                          <a:pt x="72" y="32"/>
                        </a:lnTo>
                        <a:lnTo>
                          <a:pt x="92" y="0"/>
                        </a:lnTo>
                        <a:lnTo>
                          <a:pt x="130" y="50"/>
                        </a:lnTo>
                        <a:lnTo>
                          <a:pt x="108" y="80"/>
                        </a:lnTo>
                        <a:lnTo>
                          <a:pt x="92" y="107"/>
                        </a:lnTo>
                        <a:lnTo>
                          <a:pt x="79" y="132"/>
                        </a:lnTo>
                        <a:lnTo>
                          <a:pt x="60" y="167"/>
                        </a:lnTo>
                        <a:lnTo>
                          <a:pt x="48" y="198"/>
                        </a:lnTo>
                        <a:lnTo>
                          <a:pt x="41" y="228"/>
                        </a:lnTo>
                        <a:lnTo>
                          <a:pt x="32" y="258"/>
                        </a:lnTo>
                        <a:lnTo>
                          <a:pt x="26" y="291"/>
                        </a:lnTo>
                        <a:lnTo>
                          <a:pt x="21" y="331"/>
                        </a:lnTo>
                        <a:lnTo>
                          <a:pt x="17" y="371"/>
                        </a:lnTo>
                        <a:lnTo>
                          <a:pt x="10" y="387"/>
                        </a:lnTo>
                        <a:lnTo>
                          <a:pt x="0" y="297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</p:grpSp>
          <p:sp>
            <p:nvSpPr>
              <p:cNvPr id="27690" name="Oval 117">
                <a:extLst>
                  <a:ext uri="{FF2B5EF4-FFF2-40B4-BE49-F238E27FC236}">
                    <a16:creationId xmlns:a16="http://schemas.microsoft.com/office/drawing/2014/main" id="{4F905C35-C961-3B41-92EF-CDA7B4A895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9" y="1273"/>
                <a:ext cx="1154" cy="1105"/>
              </a:xfrm>
              <a:prstGeom prst="ellips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grpSp>
            <p:nvGrpSpPr>
              <p:cNvPr id="27691" name="Group 118">
                <a:extLst>
                  <a:ext uri="{FF2B5EF4-FFF2-40B4-BE49-F238E27FC236}">
                    <a16:creationId xmlns:a16="http://schemas.microsoft.com/office/drawing/2014/main" id="{4A751BB6-368A-D440-9F9B-BB7579D70F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81" y="1183"/>
                <a:ext cx="1154" cy="1105"/>
                <a:chOff x="2181" y="1183"/>
                <a:chExt cx="1154" cy="1105"/>
              </a:xfrm>
            </p:grpSpPr>
            <p:sp>
              <p:nvSpPr>
                <p:cNvPr id="27692" name="Oval 119">
                  <a:extLst>
                    <a:ext uri="{FF2B5EF4-FFF2-40B4-BE49-F238E27FC236}">
                      <a16:creationId xmlns:a16="http://schemas.microsoft.com/office/drawing/2014/main" id="{5916CCEA-1022-9F49-8BCC-CDB7D6DE35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4" y="1198"/>
                  <a:ext cx="1127" cy="1078"/>
                </a:xfrm>
                <a:prstGeom prst="ellipse">
                  <a:avLst/>
                </a:prstGeom>
                <a:noFill/>
                <a:ln w="63500">
                  <a:solidFill>
                    <a:srgbClr val="9F9F9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27693" name="Oval 120">
                  <a:extLst>
                    <a:ext uri="{FF2B5EF4-FFF2-40B4-BE49-F238E27FC236}">
                      <a16:creationId xmlns:a16="http://schemas.microsoft.com/office/drawing/2014/main" id="{2EF11F4A-2014-8248-A15E-647FC737FC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81" y="1183"/>
                  <a:ext cx="1154" cy="1105"/>
                </a:xfrm>
                <a:prstGeom prst="ellips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27694" name="Oval 121">
                  <a:extLst>
                    <a:ext uri="{FF2B5EF4-FFF2-40B4-BE49-F238E27FC236}">
                      <a16:creationId xmlns:a16="http://schemas.microsoft.com/office/drawing/2014/main" id="{AC697955-05E1-EF42-9C94-5BC7C25B12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13" y="1213"/>
                  <a:ext cx="1090" cy="1046"/>
                </a:xfrm>
                <a:prstGeom prst="ellips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</p:grpSp>
        </p:grpSp>
        <p:grpSp>
          <p:nvGrpSpPr>
            <p:cNvPr id="27653" name="Group 122">
              <a:extLst>
                <a:ext uri="{FF2B5EF4-FFF2-40B4-BE49-F238E27FC236}">
                  <a16:creationId xmlns:a16="http://schemas.microsoft.com/office/drawing/2014/main" id="{14958567-E478-0C43-8F25-9C9B02B846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8" y="2225"/>
              <a:ext cx="592" cy="924"/>
              <a:chOff x="3008" y="2225"/>
              <a:chExt cx="592" cy="924"/>
            </a:xfrm>
          </p:grpSpPr>
          <p:sp>
            <p:nvSpPr>
              <p:cNvPr id="27654" name="Freeform 123">
                <a:extLst>
                  <a:ext uri="{FF2B5EF4-FFF2-40B4-BE49-F238E27FC236}">
                    <a16:creationId xmlns:a16="http://schemas.microsoft.com/office/drawing/2014/main" id="{4D3FEDD4-700B-0249-9CC1-177ED5D017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2272"/>
                <a:ext cx="564" cy="808"/>
              </a:xfrm>
              <a:custGeom>
                <a:avLst/>
                <a:gdLst>
                  <a:gd name="T0" fmla="*/ 0 w 564"/>
                  <a:gd name="T1" fmla="*/ 60 h 808"/>
                  <a:gd name="T2" fmla="*/ 400 w 564"/>
                  <a:gd name="T3" fmla="*/ 808 h 808"/>
                  <a:gd name="T4" fmla="*/ 564 w 564"/>
                  <a:gd name="T5" fmla="*/ 725 h 808"/>
                  <a:gd name="T6" fmla="*/ 162 w 564"/>
                  <a:gd name="T7" fmla="*/ 0 h 808"/>
                  <a:gd name="T8" fmla="*/ 0 w 564"/>
                  <a:gd name="T9" fmla="*/ 60 h 8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4"/>
                  <a:gd name="T16" fmla="*/ 0 h 808"/>
                  <a:gd name="T17" fmla="*/ 564 w 564"/>
                  <a:gd name="T18" fmla="*/ 808 h 8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4" h="808">
                    <a:moveTo>
                      <a:pt x="0" y="60"/>
                    </a:moveTo>
                    <a:lnTo>
                      <a:pt x="400" y="808"/>
                    </a:lnTo>
                    <a:lnTo>
                      <a:pt x="564" y="725"/>
                    </a:lnTo>
                    <a:lnTo>
                      <a:pt x="162" y="0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7655" name="Arc 124">
                <a:extLst>
                  <a:ext uri="{FF2B5EF4-FFF2-40B4-BE49-F238E27FC236}">
                    <a16:creationId xmlns:a16="http://schemas.microsoft.com/office/drawing/2014/main" id="{A051D71C-29A2-0042-8707-FAEABCB02D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0" y="2225"/>
                <a:ext cx="170" cy="105"/>
              </a:xfrm>
              <a:custGeom>
                <a:avLst/>
                <a:gdLst>
                  <a:gd name="T0" fmla="*/ 0 w 42152"/>
                  <a:gd name="T1" fmla="*/ 0 h 27693"/>
                  <a:gd name="T2" fmla="*/ 0 w 42152"/>
                  <a:gd name="T3" fmla="*/ 0 h 27693"/>
                  <a:gd name="T4" fmla="*/ 0 w 42152"/>
                  <a:gd name="T5" fmla="*/ 0 h 27693"/>
                  <a:gd name="T6" fmla="*/ 0 60000 65536"/>
                  <a:gd name="T7" fmla="*/ 0 60000 65536"/>
                  <a:gd name="T8" fmla="*/ 0 60000 65536"/>
                  <a:gd name="T9" fmla="*/ 0 w 42152"/>
                  <a:gd name="T10" fmla="*/ 0 h 27693"/>
                  <a:gd name="T11" fmla="*/ 42152 w 42152"/>
                  <a:gd name="T12" fmla="*/ 27693 h 276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152" h="27693" fill="none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</a:path>
                  <a:path w="42152" h="27693" stroke="0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  <a:lnTo>
                      <a:pt x="21600" y="21600"/>
                    </a:lnTo>
                    <a:lnTo>
                      <a:pt x="877" y="27692"/>
                    </a:lnTo>
                    <a:close/>
                  </a:path>
                </a:pathLst>
              </a:custGeom>
              <a:solidFill>
                <a:srgbClr val="5F3F1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7656" name="Arc 125">
                <a:extLst>
                  <a:ext uri="{FF2B5EF4-FFF2-40B4-BE49-F238E27FC236}">
                    <a16:creationId xmlns:a16="http://schemas.microsoft.com/office/drawing/2014/main" id="{81C35205-3D67-E448-B744-58CA53096A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4" y="2236"/>
                <a:ext cx="172" cy="100"/>
              </a:xfrm>
              <a:custGeom>
                <a:avLst/>
                <a:gdLst>
                  <a:gd name="T0" fmla="*/ 0 w 42065"/>
                  <a:gd name="T1" fmla="*/ 0 h 24039"/>
                  <a:gd name="T2" fmla="*/ 0 w 42065"/>
                  <a:gd name="T3" fmla="*/ 0 h 24039"/>
                  <a:gd name="T4" fmla="*/ 0 w 42065"/>
                  <a:gd name="T5" fmla="*/ 0 h 24039"/>
                  <a:gd name="T6" fmla="*/ 0 60000 65536"/>
                  <a:gd name="T7" fmla="*/ 0 60000 65536"/>
                  <a:gd name="T8" fmla="*/ 0 60000 65536"/>
                  <a:gd name="T9" fmla="*/ 0 w 42065"/>
                  <a:gd name="T10" fmla="*/ 0 h 24039"/>
                  <a:gd name="T11" fmla="*/ 42065 w 42065"/>
                  <a:gd name="T12" fmla="*/ 24039 h 240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065" h="24039" fill="none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</a:path>
                  <a:path w="42065" h="24039" stroke="0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  <a:lnTo>
                      <a:pt x="21600" y="21600"/>
                    </a:lnTo>
                    <a:lnTo>
                      <a:pt x="138" y="24038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7657" name="Freeform 126">
                <a:extLst>
                  <a:ext uri="{FF2B5EF4-FFF2-40B4-BE49-F238E27FC236}">
                    <a16:creationId xmlns:a16="http://schemas.microsoft.com/office/drawing/2014/main" id="{EF63E706-3752-8347-BA12-1DD252B823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8" y="2237"/>
                <a:ext cx="107" cy="207"/>
              </a:xfrm>
              <a:custGeom>
                <a:avLst/>
                <a:gdLst>
                  <a:gd name="T0" fmla="*/ 3 w 107"/>
                  <a:gd name="T1" fmla="*/ 96 h 207"/>
                  <a:gd name="T2" fmla="*/ 0 w 107"/>
                  <a:gd name="T3" fmla="*/ 82 h 207"/>
                  <a:gd name="T4" fmla="*/ 0 w 107"/>
                  <a:gd name="T5" fmla="*/ 69 h 207"/>
                  <a:gd name="T6" fmla="*/ 2 w 107"/>
                  <a:gd name="T7" fmla="*/ 58 h 207"/>
                  <a:gd name="T8" fmla="*/ 6 w 107"/>
                  <a:gd name="T9" fmla="*/ 42 h 207"/>
                  <a:gd name="T10" fmla="*/ 12 w 107"/>
                  <a:gd name="T11" fmla="*/ 29 h 207"/>
                  <a:gd name="T12" fmla="*/ 21 w 107"/>
                  <a:gd name="T13" fmla="*/ 17 h 207"/>
                  <a:gd name="T14" fmla="*/ 31 w 107"/>
                  <a:gd name="T15" fmla="*/ 7 h 207"/>
                  <a:gd name="T16" fmla="*/ 41 w 107"/>
                  <a:gd name="T17" fmla="*/ 0 h 207"/>
                  <a:gd name="T18" fmla="*/ 107 w 107"/>
                  <a:gd name="T19" fmla="*/ 112 h 207"/>
                  <a:gd name="T20" fmla="*/ 95 w 107"/>
                  <a:gd name="T21" fmla="*/ 119 h 207"/>
                  <a:gd name="T22" fmla="*/ 87 w 107"/>
                  <a:gd name="T23" fmla="*/ 127 h 207"/>
                  <a:gd name="T24" fmla="*/ 79 w 107"/>
                  <a:gd name="T25" fmla="*/ 135 h 207"/>
                  <a:gd name="T26" fmla="*/ 73 w 107"/>
                  <a:gd name="T27" fmla="*/ 145 h 207"/>
                  <a:gd name="T28" fmla="*/ 66 w 107"/>
                  <a:gd name="T29" fmla="*/ 163 h 207"/>
                  <a:gd name="T30" fmla="*/ 62 w 107"/>
                  <a:gd name="T31" fmla="*/ 187 h 207"/>
                  <a:gd name="T32" fmla="*/ 62 w 107"/>
                  <a:gd name="T33" fmla="*/ 207 h 207"/>
                  <a:gd name="T34" fmla="*/ 3 w 107"/>
                  <a:gd name="T35" fmla="*/ 96 h 20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7"/>
                  <a:gd name="T55" fmla="*/ 0 h 207"/>
                  <a:gd name="T56" fmla="*/ 107 w 107"/>
                  <a:gd name="T57" fmla="*/ 207 h 20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7" h="207">
                    <a:moveTo>
                      <a:pt x="3" y="96"/>
                    </a:moveTo>
                    <a:lnTo>
                      <a:pt x="0" y="82"/>
                    </a:lnTo>
                    <a:lnTo>
                      <a:pt x="0" y="69"/>
                    </a:lnTo>
                    <a:lnTo>
                      <a:pt x="2" y="58"/>
                    </a:lnTo>
                    <a:lnTo>
                      <a:pt x="6" y="42"/>
                    </a:lnTo>
                    <a:lnTo>
                      <a:pt x="12" y="29"/>
                    </a:lnTo>
                    <a:lnTo>
                      <a:pt x="21" y="17"/>
                    </a:lnTo>
                    <a:lnTo>
                      <a:pt x="31" y="7"/>
                    </a:lnTo>
                    <a:lnTo>
                      <a:pt x="41" y="0"/>
                    </a:lnTo>
                    <a:lnTo>
                      <a:pt x="107" y="112"/>
                    </a:lnTo>
                    <a:lnTo>
                      <a:pt x="95" y="119"/>
                    </a:lnTo>
                    <a:lnTo>
                      <a:pt x="87" y="127"/>
                    </a:lnTo>
                    <a:lnTo>
                      <a:pt x="79" y="135"/>
                    </a:lnTo>
                    <a:lnTo>
                      <a:pt x="73" y="145"/>
                    </a:lnTo>
                    <a:lnTo>
                      <a:pt x="66" y="163"/>
                    </a:lnTo>
                    <a:lnTo>
                      <a:pt x="62" y="187"/>
                    </a:lnTo>
                    <a:lnTo>
                      <a:pt x="62" y="207"/>
                    </a:lnTo>
                    <a:lnTo>
                      <a:pt x="3" y="96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7658" name="Arc 127">
                <a:extLst>
                  <a:ext uri="{FF2B5EF4-FFF2-40B4-BE49-F238E27FC236}">
                    <a16:creationId xmlns:a16="http://schemas.microsoft.com/office/drawing/2014/main" id="{2EEAD92A-0180-9149-A962-7704602111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9" y="2229"/>
                <a:ext cx="87" cy="99"/>
              </a:xfrm>
              <a:custGeom>
                <a:avLst/>
                <a:gdLst>
                  <a:gd name="T0" fmla="*/ 0 w 21600"/>
                  <a:gd name="T1" fmla="*/ 0 h 26092"/>
                  <a:gd name="T2" fmla="*/ 0 w 21600"/>
                  <a:gd name="T3" fmla="*/ 0 h 26092"/>
                  <a:gd name="T4" fmla="*/ 0 w 21600"/>
                  <a:gd name="T5" fmla="*/ 0 h 26092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6092"/>
                  <a:gd name="T11" fmla="*/ 21600 w 21600"/>
                  <a:gd name="T12" fmla="*/ 26092 h 260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6092" fill="none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</a:path>
                  <a:path w="21600" h="26092" stroke="0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  <a:lnTo>
                      <a:pt x="21600" y="20244"/>
                    </a:lnTo>
                    <a:lnTo>
                      <a:pt x="806" y="26092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7659" name="Arc 128">
                <a:extLst>
                  <a:ext uri="{FF2B5EF4-FFF2-40B4-BE49-F238E27FC236}">
                    <a16:creationId xmlns:a16="http://schemas.microsoft.com/office/drawing/2014/main" id="{E62CE0C6-4E66-5C41-B6AD-D0F2BE275E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2" y="2338"/>
                <a:ext cx="171" cy="103"/>
              </a:xfrm>
              <a:custGeom>
                <a:avLst/>
                <a:gdLst>
                  <a:gd name="T0" fmla="*/ 0 w 42293"/>
                  <a:gd name="T1" fmla="*/ 0 h 27167"/>
                  <a:gd name="T2" fmla="*/ 0 w 42293"/>
                  <a:gd name="T3" fmla="*/ 0 h 27167"/>
                  <a:gd name="T4" fmla="*/ 0 w 42293"/>
                  <a:gd name="T5" fmla="*/ 0 h 27167"/>
                  <a:gd name="T6" fmla="*/ 0 60000 65536"/>
                  <a:gd name="T7" fmla="*/ 0 60000 65536"/>
                  <a:gd name="T8" fmla="*/ 0 60000 65536"/>
                  <a:gd name="T9" fmla="*/ 0 w 42293"/>
                  <a:gd name="T10" fmla="*/ 0 h 27167"/>
                  <a:gd name="T11" fmla="*/ 42293 w 42293"/>
                  <a:gd name="T12" fmla="*/ 27167 h 271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293" h="27167" fill="none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</a:path>
                  <a:path w="42293" h="27167" stroke="0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  <a:lnTo>
                      <a:pt x="21600" y="21600"/>
                    </a:lnTo>
                    <a:lnTo>
                      <a:pt x="729" y="27167"/>
                    </a:lnTo>
                    <a:close/>
                  </a:path>
                </a:pathLst>
              </a:custGeom>
              <a:solidFill>
                <a:srgbClr val="7F3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27660" name="Group 129">
                <a:extLst>
                  <a:ext uri="{FF2B5EF4-FFF2-40B4-BE49-F238E27FC236}">
                    <a16:creationId xmlns:a16="http://schemas.microsoft.com/office/drawing/2014/main" id="{8AE292D2-1E8C-CB4A-9C0C-912D22291C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8" y="2354"/>
                <a:ext cx="182" cy="119"/>
                <a:chOff x="3078" y="2354"/>
                <a:chExt cx="182" cy="119"/>
              </a:xfrm>
            </p:grpSpPr>
            <p:grpSp>
              <p:nvGrpSpPr>
                <p:cNvPr id="27684" name="Group 130">
                  <a:extLst>
                    <a:ext uri="{FF2B5EF4-FFF2-40B4-BE49-F238E27FC236}">
                      <a16:creationId xmlns:a16="http://schemas.microsoft.com/office/drawing/2014/main" id="{A67D22C8-1E16-4249-8A14-6E771BE6415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78" y="2354"/>
                  <a:ext cx="173" cy="101"/>
                  <a:chOff x="3078" y="2354"/>
                  <a:chExt cx="173" cy="101"/>
                </a:xfrm>
              </p:grpSpPr>
              <p:sp>
                <p:nvSpPr>
                  <p:cNvPr id="27686" name="Arc 131">
                    <a:extLst>
                      <a:ext uri="{FF2B5EF4-FFF2-40B4-BE49-F238E27FC236}">
                        <a16:creationId xmlns:a16="http://schemas.microsoft.com/office/drawing/2014/main" id="{7907E933-3792-3846-B10F-920E11B07F7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8" y="2354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0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lnTo>
                          <a:pt x="531" y="2636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7687" name="Arc 132">
                    <a:extLst>
                      <a:ext uri="{FF2B5EF4-FFF2-40B4-BE49-F238E27FC236}">
                        <a16:creationId xmlns:a16="http://schemas.microsoft.com/office/drawing/2014/main" id="{5F05D160-61AF-9648-BC11-3614EF46978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8" y="2364"/>
                    <a:ext cx="88" cy="90"/>
                  </a:xfrm>
                  <a:custGeom>
                    <a:avLst/>
                    <a:gdLst>
                      <a:gd name="T0" fmla="*/ 0 w 21600"/>
                      <a:gd name="T1" fmla="*/ 0 h 23652"/>
                      <a:gd name="T2" fmla="*/ 0 w 21600"/>
                      <a:gd name="T3" fmla="*/ 0 h 23652"/>
                      <a:gd name="T4" fmla="*/ 0 w 21600"/>
                      <a:gd name="T5" fmla="*/ 0 h 23652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652"/>
                      <a:gd name="T11" fmla="*/ 21600 w 21600"/>
                      <a:gd name="T12" fmla="*/ 23652 h 23652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652" fill="none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652" stroke="0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lnTo>
                          <a:pt x="531" y="2365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7688" name="Arc 133">
                    <a:extLst>
                      <a:ext uri="{FF2B5EF4-FFF2-40B4-BE49-F238E27FC236}">
                        <a16:creationId xmlns:a16="http://schemas.microsoft.com/office/drawing/2014/main" id="{7425904C-C5A7-C64A-874C-40C90F08F8B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9" y="2354"/>
                    <a:ext cx="172" cy="101"/>
                  </a:xfrm>
                  <a:custGeom>
                    <a:avLst/>
                    <a:gdLst>
                      <a:gd name="T0" fmla="*/ 0 w 42453"/>
                      <a:gd name="T1" fmla="*/ 0 h 26668"/>
                      <a:gd name="T2" fmla="*/ 0 w 42453"/>
                      <a:gd name="T3" fmla="*/ 0 h 26668"/>
                      <a:gd name="T4" fmla="*/ 0 w 42453"/>
                      <a:gd name="T5" fmla="*/ 0 h 26668"/>
                      <a:gd name="T6" fmla="*/ 0 60000 65536"/>
                      <a:gd name="T7" fmla="*/ 0 60000 65536"/>
                      <a:gd name="T8" fmla="*/ 0 60000 65536"/>
                      <a:gd name="T9" fmla="*/ 0 w 42453"/>
                      <a:gd name="T10" fmla="*/ 0 h 26668"/>
                      <a:gd name="T11" fmla="*/ 42453 w 42453"/>
                      <a:gd name="T12" fmla="*/ 26668 h 2666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453" h="26668" fill="none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</a:path>
                      <a:path w="42453" h="26668" stroke="0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  <a:lnTo>
                          <a:pt x="21600" y="21600"/>
                        </a:lnTo>
                        <a:lnTo>
                          <a:pt x="602" y="26668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27685" name="Arc 134">
                  <a:extLst>
                    <a:ext uri="{FF2B5EF4-FFF2-40B4-BE49-F238E27FC236}">
                      <a16:creationId xmlns:a16="http://schemas.microsoft.com/office/drawing/2014/main" id="{88D80998-2132-974B-939D-73421C18AF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8" y="2372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0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lnTo>
                        <a:pt x="602" y="26668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7661" name="Group 135">
                <a:extLst>
                  <a:ext uri="{FF2B5EF4-FFF2-40B4-BE49-F238E27FC236}">
                    <a16:creationId xmlns:a16="http://schemas.microsoft.com/office/drawing/2014/main" id="{411D527A-8919-B64B-8601-E8F5F4D56C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95" y="2388"/>
                <a:ext cx="182" cy="118"/>
                <a:chOff x="3095" y="2388"/>
                <a:chExt cx="182" cy="118"/>
              </a:xfrm>
            </p:grpSpPr>
            <p:grpSp>
              <p:nvGrpSpPr>
                <p:cNvPr id="27679" name="Group 136">
                  <a:extLst>
                    <a:ext uri="{FF2B5EF4-FFF2-40B4-BE49-F238E27FC236}">
                      <a16:creationId xmlns:a16="http://schemas.microsoft.com/office/drawing/2014/main" id="{B3BE48A7-93D4-084C-879E-EE5ED8AA673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95" y="2388"/>
                  <a:ext cx="173" cy="100"/>
                  <a:chOff x="3095" y="2388"/>
                  <a:chExt cx="173" cy="100"/>
                </a:xfrm>
              </p:grpSpPr>
              <p:sp>
                <p:nvSpPr>
                  <p:cNvPr id="27681" name="Arc 137">
                    <a:extLst>
                      <a:ext uri="{FF2B5EF4-FFF2-40B4-BE49-F238E27FC236}">
                        <a16:creationId xmlns:a16="http://schemas.microsoft.com/office/drawing/2014/main" id="{328C1491-244B-B04D-A939-4629EA48D7A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5" y="2388"/>
                    <a:ext cx="173" cy="99"/>
                  </a:xfrm>
                  <a:custGeom>
                    <a:avLst/>
                    <a:gdLst>
                      <a:gd name="T0" fmla="*/ 0 w 42583"/>
                      <a:gd name="T1" fmla="*/ 0 h 26108"/>
                      <a:gd name="T2" fmla="*/ 0 w 42583"/>
                      <a:gd name="T3" fmla="*/ 0 h 26108"/>
                      <a:gd name="T4" fmla="*/ 0 w 42583"/>
                      <a:gd name="T5" fmla="*/ 0 h 26108"/>
                      <a:gd name="T6" fmla="*/ 0 60000 65536"/>
                      <a:gd name="T7" fmla="*/ 0 60000 65536"/>
                      <a:gd name="T8" fmla="*/ 0 60000 65536"/>
                      <a:gd name="T9" fmla="*/ 0 w 42583"/>
                      <a:gd name="T10" fmla="*/ 0 h 26108"/>
                      <a:gd name="T11" fmla="*/ 42583 w 42583"/>
                      <a:gd name="T12" fmla="*/ 26108 h 2610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83" h="26108" fill="none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</a:path>
                      <a:path w="42583" h="26108" stroke="0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  <a:lnTo>
                          <a:pt x="21600" y="21600"/>
                        </a:lnTo>
                        <a:lnTo>
                          <a:pt x="475" y="26108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7682" name="Arc 138">
                    <a:extLst>
                      <a:ext uri="{FF2B5EF4-FFF2-40B4-BE49-F238E27FC236}">
                        <a16:creationId xmlns:a16="http://schemas.microsoft.com/office/drawing/2014/main" id="{CB441D65-1A6A-BE43-A67C-3E574BD7E08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5" y="2398"/>
                    <a:ext cx="88" cy="89"/>
                  </a:xfrm>
                  <a:custGeom>
                    <a:avLst/>
                    <a:gdLst>
                      <a:gd name="T0" fmla="*/ 0 w 21600"/>
                      <a:gd name="T1" fmla="*/ 0 h 23399"/>
                      <a:gd name="T2" fmla="*/ 0 w 21600"/>
                      <a:gd name="T3" fmla="*/ 0 h 23399"/>
                      <a:gd name="T4" fmla="*/ 0 w 21600"/>
                      <a:gd name="T5" fmla="*/ 0 h 23399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399"/>
                      <a:gd name="T11" fmla="*/ 21600 w 21600"/>
                      <a:gd name="T12" fmla="*/ 23399 h 23399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399" fill="none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399" stroke="0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lnTo>
                          <a:pt x="475" y="23399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7683" name="Arc 139">
                    <a:extLst>
                      <a:ext uri="{FF2B5EF4-FFF2-40B4-BE49-F238E27FC236}">
                        <a16:creationId xmlns:a16="http://schemas.microsoft.com/office/drawing/2014/main" id="{E21E128D-CC31-504C-8BDE-E2A86201ACA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6" y="2388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0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lnTo>
                          <a:pt x="531" y="2636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27680" name="Arc 140">
                  <a:extLst>
                    <a:ext uri="{FF2B5EF4-FFF2-40B4-BE49-F238E27FC236}">
                      <a16:creationId xmlns:a16="http://schemas.microsoft.com/office/drawing/2014/main" id="{2B36960B-4E60-3041-A56A-3FF66A7BDB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5" y="2406"/>
                  <a:ext cx="172" cy="100"/>
                </a:xfrm>
                <a:custGeom>
                  <a:avLst/>
                  <a:gdLst>
                    <a:gd name="T0" fmla="*/ 0 w 42520"/>
                    <a:gd name="T1" fmla="*/ 0 h 26361"/>
                    <a:gd name="T2" fmla="*/ 0 w 42520"/>
                    <a:gd name="T3" fmla="*/ 0 h 26361"/>
                    <a:gd name="T4" fmla="*/ 0 w 42520"/>
                    <a:gd name="T5" fmla="*/ 0 h 26361"/>
                    <a:gd name="T6" fmla="*/ 0 60000 65536"/>
                    <a:gd name="T7" fmla="*/ 0 60000 65536"/>
                    <a:gd name="T8" fmla="*/ 0 60000 65536"/>
                    <a:gd name="T9" fmla="*/ 0 w 42520"/>
                    <a:gd name="T10" fmla="*/ 0 h 26361"/>
                    <a:gd name="T11" fmla="*/ 42520 w 42520"/>
                    <a:gd name="T12" fmla="*/ 26361 h 2636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20" h="26361" fill="none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</a:path>
                    <a:path w="42520" h="26361" stroke="0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  <a:lnTo>
                        <a:pt x="21600" y="21600"/>
                      </a:lnTo>
                      <a:lnTo>
                        <a:pt x="531" y="2636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7662" name="Group 141">
                <a:extLst>
                  <a:ext uri="{FF2B5EF4-FFF2-40B4-BE49-F238E27FC236}">
                    <a16:creationId xmlns:a16="http://schemas.microsoft.com/office/drawing/2014/main" id="{062B76F9-517C-CE45-BA0F-1D4D3436B1E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13" y="2420"/>
                <a:ext cx="173" cy="98"/>
                <a:chOff x="3113" y="2420"/>
                <a:chExt cx="173" cy="98"/>
              </a:xfrm>
            </p:grpSpPr>
            <p:sp>
              <p:nvSpPr>
                <p:cNvPr id="27677" name="Arc 142">
                  <a:extLst>
                    <a:ext uri="{FF2B5EF4-FFF2-40B4-BE49-F238E27FC236}">
                      <a16:creationId xmlns:a16="http://schemas.microsoft.com/office/drawing/2014/main" id="{011D5D0A-1213-D746-91E5-8EF5D5802B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2420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0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lnTo>
                        <a:pt x="423" y="25853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7678" name="Arc 143">
                  <a:extLst>
                    <a:ext uri="{FF2B5EF4-FFF2-40B4-BE49-F238E27FC236}">
                      <a16:creationId xmlns:a16="http://schemas.microsoft.com/office/drawing/2014/main" id="{CD0EA0EE-AF77-3D4B-87E3-5516E4CE5F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2430"/>
                  <a:ext cx="88" cy="88"/>
                </a:xfrm>
                <a:custGeom>
                  <a:avLst/>
                  <a:gdLst>
                    <a:gd name="T0" fmla="*/ 0 w 21600"/>
                    <a:gd name="T1" fmla="*/ 0 h 23145"/>
                    <a:gd name="T2" fmla="*/ 0 w 21600"/>
                    <a:gd name="T3" fmla="*/ 0 h 23145"/>
                    <a:gd name="T4" fmla="*/ 0 w 21600"/>
                    <a:gd name="T5" fmla="*/ 0 h 23145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3145"/>
                    <a:gd name="T11" fmla="*/ 21600 w 21600"/>
                    <a:gd name="T12" fmla="*/ 23145 h 231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3145" fill="none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</a:path>
                    <a:path w="21600" h="23145" stroke="0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  <a:lnTo>
                        <a:pt x="21600" y="18891"/>
                      </a:lnTo>
                      <a:lnTo>
                        <a:pt x="423" y="23144"/>
                      </a:lnTo>
                      <a:close/>
                    </a:path>
                  </a:pathLst>
                </a:custGeom>
                <a:solidFill>
                  <a:srgbClr val="3F1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7663" name="Group 144">
                <a:extLst>
                  <a:ext uri="{FF2B5EF4-FFF2-40B4-BE49-F238E27FC236}">
                    <a16:creationId xmlns:a16="http://schemas.microsoft.com/office/drawing/2014/main" id="{536B1C45-2A7E-DD46-B2B4-3F91A73D4D8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14" y="2420"/>
                <a:ext cx="182" cy="117"/>
                <a:chOff x="3114" y="2420"/>
                <a:chExt cx="182" cy="117"/>
              </a:xfrm>
            </p:grpSpPr>
            <p:sp>
              <p:nvSpPr>
                <p:cNvPr id="27675" name="Arc 145">
                  <a:extLst>
                    <a:ext uri="{FF2B5EF4-FFF2-40B4-BE49-F238E27FC236}">
                      <a16:creationId xmlns:a16="http://schemas.microsoft.com/office/drawing/2014/main" id="{0E495FEA-3FFA-7A40-B560-7D56AD130D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4" y="2420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0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lnTo>
                        <a:pt x="475" y="26108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7676" name="Arc 146">
                  <a:extLst>
                    <a:ext uri="{FF2B5EF4-FFF2-40B4-BE49-F238E27FC236}">
                      <a16:creationId xmlns:a16="http://schemas.microsoft.com/office/drawing/2014/main" id="{D9082FB4-88C2-B54A-B4ED-DAD49F55362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3" y="2438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0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lnTo>
                        <a:pt x="475" y="26108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7664" name="Group 147">
                <a:extLst>
                  <a:ext uri="{FF2B5EF4-FFF2-40B4-BE49-F238E27FC236}">
                    <a16:creationId xmlns:a16="http://schemas.microsoft.com/office/drawing/2014/main" id="{F4F1849A-63B9-AD4F-BBF6-89D699D532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14" y="2275"/>
                <a:ext cx="565" cy="811"/>
                <a:chOff x="3014" y="2275"/>
                <a:chExt cx="565" cy="811"/>
              </a:xfrm>
            </p:grpSpPr>
            <p:sp>
              <p:nvSpPr>
                <p:cNvPr id="27673" name="Line 148">
                  <a:extLst>
                    <a:ext uri="{FF2B5EF4-FFF2-40B4-BE49-F238E27FC236}">
                      <a16:creationId xmlns:a16="http://schemas.microsoft.com/office/drawing/2014/main" id="{4867E241-34D5-0B46-B824-8F5C62FE06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8" y="2275"/>
                  <a:ext cx="401" cy="72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7674" name="Line 149">
                  <a:extLst>
                    <a:ext uri="{FF2B5EF4-FFF2-40B4-BE49-F238E27FC236}">
                      <a16:creationId xmlns:a16="http://schemas.microsoft.com/office/drawing/2014/main" id="{4D8EE905-06E3-3541-8CAD-B16B141985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14" y="2333"/>
                  <a:ext cx="402" cy="75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7665" name="Group 150">
                <a:extLst>
                  <a:ext uri="{FF2B5EF4-FFF2-40B4-BE49-F238E27FC236}">
                    <a16:creationId xmlns:a16="http://schemas.microsoft.com/office/drawing/2014/main" id="{06E38973-4169-8043-93A7-2237DDFF64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31" y="2452"/>
                <a:ext cx="181" cy="116"/>
                <a:chOff x="3131" y="2452"/>
                <a:chExt cx="181" cy="116"/>
              </a:xfrm>
            </p:grpSpPr>
            <p:grpSp>
              <p:nvGrpSpPr>
                <p:cNvPr id="27668" name="Group 151">
                  <a:extLst>
                    <a:ext uri="{FF2B5EF4-FFF2-40B4-BE49-F238E27FC236}">
                      <a16:creationId xmlns:a16="http://schemas.microsoft.com/office/drawing/2014/main" id="{4A32D759-0617-ED4B-8C1D-2CB035AAB2C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31" y="2452"/>
                  <a:ext cx="173" cy="97"/>
                  <a:chOff x="3131" y="2452"/>
                  <a:chExt cx="173" cy="97"/>
                </a:xfrm>
              </p:grpSpPr>
              <p:sp>
                <p:nvSpPr>
                  <p:cNvPr id="27671" name="Arc 152">
                    <a:extLst>
                      <a:ext uri="{FF2B5EF4-FFF2-40B4-BE49-F238E27FC236}">
                        <a16:creationId xmlns:a16="http://schemas.microsoft.com/office/drawing/2014/main" id="{7EE070C7-0A7F-6B49-866B-435241F3B47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31" y="2452"/>
                    <a:ext cx="173" cy="97"/>
                  </a:xfrm>
                  <a:custGeom>
                    <a:avLst/>
                    <a:gdLst>
                      <a:gd name="T0" fmla="*/ 0 w 42713"/>
                      <a:gd name="T1" fmla="*/ 0 h 25597"/>
                      <a:gd name="T2" fmla="*/ 0 w 42713"/>
                      <a:gd name="T3" fmla="*/ 0 h 25597"/>
                      <a:gd name="T4" fmla="*/ 0 w 42713"/>
                      <a:gd name="T5" fmla="*/ 0 h 25597"/>
                      <a:gd name="T6" fmla="*/ 0 60000 65536"/>
                      <a:gd name="T7" fmla="*/ 0 60000 65536"/>
                      <a:gd name="T8" fmla="*/ 0 60000 65536"/>
                      <a:gd name="T9" fmla="*/ 0 w 42713"/>
                      <a:gd name="T10" fmla="*/ 0 h 25597"/>
                      <a:gd name="T11" fmla="*/ 42713 w 42713"/>
                      <a:gd name="T12" fmla="*/ 25597 h 25597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713" h="25597" fill="none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</a:path>
                      <a:path w="42713" h="25597" stroke="0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  <a:lnTo>
                          <a:pt x="21600" y="21600"/>
                        </a:lnTo>
                        <a:lnTo>
                          <a:pt x="373" y="25596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7672" name="Arc 153">
                    <a:extLst>
                      <a:ext uri="{FF2B5EF4-FFF2-40B4-BE49-F238E27FC236}">
                        <a16:creationId xmlns:a16="http://schemas.microsoft.com/office/drawing/2014/main" id="{2598F702-71BC-0245-9707-632C37E4DF9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31" y="2462"/>
                    <a:ext cx="88" cy="87"/>
                  </a:xfrm>
                  <a:custGeom>
                    <a:avLst/>
                    <a:gdLst>
                      <a:gd name="T0" fmla="*/ 0 w 21600"/>
                      <a:gd name="T1" fmla="*/ 0 h 22888"/>
                      <a:gd name="T2" fmla="*/ 0 w 21600"/>
                      <a:gd name="T3" fmla="*/ 0 h 22888"/>
                      <a:gd name="T4" fmla="*/ 0 w 21600"/>
                      <a:gd name="T5" fmla="*/ 0 h 22888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2888"/>
                      <a:gd name="T11" fmla="*/ 21600 w 21600"/>
                      <a:gd name="T12" fmla="*/ 22888 h 2288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2888" fill="none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2888" stroke="0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lnTo>
                          <a:pt x="373" y="22887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27669" name="Arc 154">
                  <a:extLst>
                    <a:ext uri="{FF2B5EF4-FFF2-40B4-BE49-F238E27FC236}">
                      <a16:creationId xmlns:a16="http://schemas.microsoft.com/office/drawing/2014/main" id="{36C6F08E-EEDB-0641-BD7D-0A0054C3CE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2" y="2452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0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lnTo>
                        <a:pt x="423" y="25853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7670" name="Arc 155">
                  <a:extLst>
                    <a:ext uri="{FF2B5EF4-FFF2-40B4-BE49-F238E27FC236}">
                      <a16:creationId xmlns:a16="http://schemas.microsoft.com/office/drawing/2014/main" id="{C57304BF-BD52-6243-89B8-FFAEE78681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0" y="2467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0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lnTo>
                        <a:pt x="602" y="26668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27666" name="Freeform 156">
                <a:extLst>
                  <a:ext uri="{FF2B5EF4-FFF2-40B4-BE49-F238E27FC236}">
                    <a16:creationId xmlns:a16="http://schemas.microsoft.com/office/drawing/2014/main" id="{79C70739-F3FB-E949-BE95-36E038E0F8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6" y="2471"/>
                <a:ext cx="348" cy="597"/>
              </a:xfrm>
              <a:custGeom>
                <a:avLst/>
                <a:gdLst>
                  <a:gd name="T0" fmla="*/ 44 w 348"/>
                  <a:gd name="T1" fmla="*/ 0 h 597"/>
                  <a:gd name="T2" fmla="*/ 31 w 348"/>
                  <a:gd name="T3" fmla="*/ 8 h 597"/>
                  <a:gd name="T4" fmla="*/ 21 w 348"/>
                  <a:gd name="T5" fmla="*/ 16 h 597"/>
                  <a:gd name="T6" fmla="*/ 12 w 348"/>
                  <a:gd name="T7" fmla="*/ 26 h 597"/>
                  <a:gd name="T8" fmla="*/ 8 w 348"/>
                  <a:gd name="T9" fmla="*/ 36 h 597"/>
                  <a:gd name="T10" fmla="*/ 4 w 348"/>
                  <a:gd name="T11" fmla="*/ 47 h 597"/>
                  <a:gd name="T12" fmla="*/ 1 w 348"/>
                  <a:gd name="T13" fmla="*/ 58 h 597"/>
                  <a:gd name="T14" fmla="*/ 0 w 348"/>
                  <a:gd name="T15" fmla="*/ 71 h 597"/>
                  <a:gd name="T16" fmla="*/ 0 w 348"/>
                  <a:gd name="T17" fmla="*/ 86 h 597"/>
                  <a:gd name="T18" fmla="*/ 270 w 348"/>
                  <a:gd name="T19" fmla="*/ 597 h 597"/>
                  <a:gd name="T20" fmla="*/ 348 w 348"/>
                  <a:gd name="T21" fmla="*/ 543 h 597"/>
                  <a:gd name="T22" fmla="*/ 44 w 348"/>
                  <a:gd name="T23" fmla="*/ 0 h 59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48"/>
                  <a:gd name="T37" fmla="*/ 0 h 597"/>
                  <a:gd name="T38" fmla="*/ 348 w 348"/>
                  <a:gd name="T39" fmla="*/ 597 h 59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48" h="597">
                    <a:moveTo>
                      <a:pt x="44" y="0"/>
                    </a:moveTo>
                    <a:lnTo>
                      <a:pt x="31" y="8"/>
                    </a:lnTo>
                    <a:lnTo>
                      <a:pt x="21" y="16"/>
                    </a:lnTo>
                    <a:lnTo>
                      <a:pt x="12" y="26"/>
                    </a:lnTo>
                    <a:lnTo>
                      <a:pt x="8" y="36"/>
                    </a:lnTo>
                    <a:lnTo>
                      <a:pt x="4" y="47"/>
                    </a:lnTo>
                    <a:lnTo>
                      <a:pt x="1" y="58"/>
                    </a:lnTo>
                    <a:lnTo>
                      <a:pt x="0" y="71"/>
                    </a:lnTo>
                    <a:lnTo>
                      <a:pt x="0" y="86"/>
                    </a:lnTo>
                    <a:lnTo>
                      <a:pt x="270" y="597"/>
                    </a:lnTo>
                    <a:lnTo>
                      <a:pt x="348" y="543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7667" name="Oval 157">
                <a:extLst>
                  <a:ext uri="{FF2B5EF4-FFF2-40B4-BE49-F238E27FC236}">
                    <a16:creationId xmlns:a16="http://schemas.microsoft.com/office/drawing/2014/main" id="{182D7C08-F3BC-9B45-A911-E73325E0BD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0" y="2966"/>
                <a:ext cx="190" cy="183"/>
              </a:xfrm>
              <a:prstGeom prst="ellipse">
                <a:avLst/>
              </a:prstGeom>
              <a:solidFill>
                <a:srgbClr val="7F5F3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321A01BE-4C9C-3249-B353-EAF347B930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7388225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400">
                <a:solidFill>
                  <a:srgbClr val="000096"/>
                </a:solidFill>
              </a:rPr>
              <a:t>Informações e tarefas da atividade: Modelar funcionalmente o produto</a:t>
            </a:r>
            <a:r>
              <a:rPr lang="pt-BR" altLang="pt-BR" sz="2400">
                <a:solidFill>
                  <a:srgbClr val="0033CC"/>
                </a:solidFill>
                <a:latin typeface="Comic Sans MS" panose="030F0902030302020204" pitchFamily="66" charset="0"/>
              </a:rPr>
              <a:t> </a:t>
            </a:r>
            <a:r>
              <a:rPr lang="pt-BR" altLang="pt-BR" sz="2400">
                <a:solidFill>
                  <a:srgbClr val="000096"/>
                </a:solidFill>
              </a:rPr>
              <a:t>1/4</a:t>
            </a:r>
          </a:p>
        </p:txBody>
      </p:sp>
      <p:sp>
        <p:nvSpPr>
          <p:cNvPr id="28674" name="Rectangle 6">
            <a:extLst>
              <a:ext uri="{FF2B5EF4-FFF2-40B4-BE49-F238E27FC236}">
                <a16:creationId xmlns:a16="http://schemas.microsoft.com/office/drawing/2014/main" id="{073754A4-16EE-0644-BDEC-45BE60B56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335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graphicFrame>
        <p:nvGraphicFramePr>
          <p:cNvPr id="28675" name="Object 2">
            <a:extLst>
              <a:ext uri="{FF2B5EF4-FFF2-40B4-BE49-F238E27FC236}">
                <a16:creationId xmlns:a16="http://schemas.microsoft.com/office/drawing/2014/main" id="{5FDEB418-5FF9-2A4D-9D1C-B9661C68AA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0888" y="898525"/>
          <a:ext cx="7005637" cy="574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2" imgW="4775200" imgH="3924300" progId="Word.Picture.8">
                  <p:embed/>
                </p:oleObj>
              </mc:Choice>
              <mc:Fallback>
                <p:oleObj name="Figura" r:id="rId2" imgW="4775200" imgH="3924300" progId="Word.Picture.8">
                  <p:embed/>
                  <p:pic>
                    <p:nvPicPr>
                      <p:cNvPr id="28675" name="Object 2">
                        <a:extLst>
                          <a:ext uri="{FF2B5EF4-FFF2-40B4-BE49-F238E27FC236}">
                            <a16:creationId xmlns:a16="http://schemas.microsoft.com/office/drawing/2014/main" id="{5FDEB418-5FF9-2A4D-9D1C-B9661C68AA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888" y="898525"/>
                        <a:ext cx="7005637" cy="574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4">
            <a:extLst>
              <a:ext uri="{FF2B5EF4-FFF2-40B4-BE49-F238E27FC236}">
                <a16:creationId xmlns:a16="http://schemas.microsoft.com/office/drawing/2014/main" id="{75EE9926-5BDC-6044-96FB-4E03F3D0B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5538" y="1958975"/>
            <a:ext cx="4343400" cy="3429000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513C78-30B0-174C-8D46-F39E4E3584DD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2800" cy="86677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pt-BR" sz="2400" kern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A fase de projeto conceitual</a:t>
            </a:r>
          </a:p>
        </p:txBody>
      </p:sp>
      <p:sp>
        <p:nvSpPr>
          <p:cNvPr id="29699" name="Text Box 17">
            <a:extLst>
              <a:ext uri="{FF2B5EF4-FFF2-40B4-BE49-F238E27FC236}">
                <a16:creationId xmlns:a16="http://schemas.microsoft.com/office/drawing/2014/main" id="{A21A9CD3-57E3-664A-B662-C83335333D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6388" y="2197100"/>
            <a:ext cx="1060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800" b="1"/>
              <a:t>Função Total</a:t>
            </a:r>
          </a:p>
        </p:txBody>
      </p:sp>
      <p:sp>
        <p:nvSpPr>
          <p:cNvPr id="29700" name="Text Box 18">
            <a:extLst>
              <a:ext uri="{FF2B5EF4-FFF2-40B4-BE49-F238E27FC236}">
                <a16:creationId xmlns:a16="http://schemas.microsoft.com/office/drawing/2014/main" id="{0A7A9DF7-6F19-7444-939D-8BCBC8AD6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275" y="4478338"/>
            <a:ext cx="15652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800" b="1"/>
              <a:t>Funções parciais</a:t>
            </a:r>
          </a:p>
        </p:txBody>
      </p:sp>
      <p:sp>
        <p:nvSpPr>
          <p:cNvPr id="29701" name="Text Box 19">
            <a:extLst>
              <a:ext uri="{FF2B5EF4-FFF2-40B4-BE49-F238E27FC236}">
                <a16:creationId xmlns:a16="http://schemas.microsoft.com/office/drawing/2014/main" id="{442B6F4E-2EC4-D941-A485-159CA1B290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4775" y="5145088"/>
            <a:ext cx="15367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000"/>
              <a:t>(Campo das funções)</a:t>
            </a:r>
          </a:p>
        </p:txBody>
      </p:sp>
      <p:sp>
        <p:nvSpPr>
          <p:cNvPr id="29702" name="Text Box 20">
            <a:extLst>
              <a:ext uri="{FF2B5EF4-FFF2-40B4-BE49-F238E27FC236}">
                <a16:creationId xmlns:a16="http://schemas.microsoft.com/office/drawing/2014/main" id="{335F0650-9C93-4549-A889-5FECBF3743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3588" y="5121275"/>
            <a:ext cx="22479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000"/>
              <a:t>(Campo dos princípios de soluções)</a:t>
            </a:r>
          </a:p>
        </p:txBody>
      </p:sp>
      <p:sp>
        <p:nvSpPr>
          <p:cNvPr id="29703" name="Text Box 24">
            <a:extLst>
              <a:ext uri="{FF2B5EF4-FFF2-40B4-BE49-F238E27FC236}">
                <a16:creationId xmlns:a16="http://schemas.microsoft.com/office/drawing/2014/main" id="{D3CA55C6-16C0-2144-8F3D-5F3B1F21B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1913" y="4479925"/>
            <a:ext cx="1390650" cy="66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pt-BR" altLang="pt-BR" sz="1800" b="1"/>
              <a:t>Princípios de Soluções</a:t>
            </a:r>
          </a:p>
        </p:txBody>
      </p:sp>
      <p:sp>
        <p:nvSpPr>
          <p:cNvPr id="29704" name="Text Box 28">
            <a:extLst>
              <a:ext uri="{FF2B5EF4-FFF2-40B4-BE49-F238E27FC236}">
                <a16:creationId xmlns:a16="http://schemas.microsoft.com/office/drawing/2014/main" id="{DA9282D9-0F3F-E646-AF39-B47B04B0A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3475" y="2235200"/>
            <a:ext cx="17399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800" b="1"/>
              <a:t>Princípios de Solução Total</a:t>
            </a:r>
          </a:p>
        </p:txBody>
      </p:sp>
      <p:grpSp>
        <p:nvGrpSpPr>
          <p:cNvPr id="29705" name="Group 5">
            <a:extLst>
              <a:ext uri="{FF2B5EF4-FFF2-40B4-BE49-F238E27FC236}">
                <a16:creationId xmlns:a16="http://schemas.microsoft.com/office/drawing/2014/main" id="{15139139-96F6-FB43-B7CB-116027524AF7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1287463"/>
            <a:ext cx="1649413" cy="4724400"/>
            <a:chOff x="2880" y="747"/>
            <a:chExt cx="1039" cy="2976"/>
          </a:xfrm>
        </p:grpSpPr>
        <p:sp>
          <p:nvSpPr>
            <p:cNvPr id="29731" name="Line 6">
              <a:extLst>
                <a:ext uri="{FF2B5EF4-FFF2-40B4-BE49-F238E27FC236}">
                  <a16:creationId xmlns:a16="http://schemas.microsoft.com/office/drawing/2014/main" id="{99820EA1-1F98-8849-B6C7-89C47DB165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747"/>
              <a:ext cx="0" cy="2976"/>
            </a:xfrm>
            <a:prstGeom prst="line">
              <a:avLst/>
            </a:prstGeom>
            <a:noFill/>
            <a:ln w="76200">
              <a:solidFill>
                <a:srgbClr val="333399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9732" name="Text Box 7">
              <a:extLst>
                <a:ext uri="{FF2B5EF4-FFF2-40B4-BE49-F238E27FC236}">
                  <a16:creationId xmlns:a16="http://schemas.microsoft.com/office/drawing/2014/main" id="{89B1CB1F-DB24-8548-BE86-7FA476FF10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8" y="805"/>
              <a:ext cx="86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complexo</a:t>
              </a:r>
            </a:p>
          </p:txBody>
        </p:sp>
        <p:sp>
          <p:nvSpPr>
            <p:cNvPr id="29733" name="Text Box 8">
              <a:extLst>
                <a:ext uri="{FF2B5EF4-FFF2-40B4-BE49-F238E27FC236}">
                  <a16:creationId xmlns:a16="http://schemas.microsoft.com/office/drawing/2014/main" id="{6C30B51E-1F3B-754E-8DCE-4D29A8AA75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1" y="3442"/>
              <a:ext cx="86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simples</a:t>
              </a:r>
            </a:p>
          </p:txBody>
        </p:sp>
      </p:grpSp>
      <p:grpSp>
        <p:nvGrpSpPr>
          <p:cNvPr id="29706" name="Group 9">
            <a:extLst>
              <a:ext uri="{FF2B5EF4-FFF2-40B4-BE49-F238E27FC236}">
                <a16:creationId xmlns:a16="http://schemas.microsoft.com/office/drawing/2014/main" id="{93D4711D-BE71-3E45-9EE2-A88FCE41E801}"/>
              </a:ext>
            </a:extLst>
          </p:cNvPr>
          <p:cNvGrpSpPr>
            <a:grpSpLocks/>
          </p:cNvGrpSpPr>
          <p:nvPr/>
        </p:nvGrpSpPr>
        <p:grpSpPr bwMode="auto">
          <a:xfrm>
            <a:off x="1052513" y="3117850"/>
            <a:ext cx="7116762" cy="565150"/>
            <a:chOff x="663" y="1900"/>
            <a:chExt cx="4483" cy="356"/>
          </a:xfrm>
        </p:grpSpPr>
        <p:sp>
          <p:nvSpPr>
            <p:cNvPr id="29728" name="Line 10">
              <a:extLst>
                <a:ext uri="{FF2B5EF4-FFF2-40B4-BE49-F238E27FC236}">
                  <a16:creationId xmlns:a16="http://schemas.microsoft.com/office/drawing/2014/main" id="{167D8A5D-B279-5F48-8037-627A887C85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256"/>
              <a:ext cx="4272" cy="0"/>
            </a:xfrm>
            <a:prstGeom prst="line">
              <a:avLst/>
            </a:prstGeom>
            <a:noFill/>
            <a:ln w="76200">
              <a:solidFill>
                <a:srgbClr val="000080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9729" name="Text Box 11">
              <a:extLst>
                <a:ext uri="{FF2B5EF4-FFF2-40B4-BE49-F238E27FC236}">
                  <a16:creationId xmlns:a16="http://schemas.microsoft.com/office/drawing/2014/main" id="{C32ED888-C74B-A049-A458-46294D2A01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3" y="1900"/>
              <a:ext cx="71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abstrato</a:t>
              </a:r>
            </a:p>
          </p:txBody>
        </p:sp>
        <p:sp>
          <p:nvSpPr>
            <p:cNvPr id="29730" name="Text Box 12">
              <a:extLst>
                <a:ext uri="{FF2B5EF4-FFF2-40B4-BE49-F238E27FC236}">
                  <a16:creationId xmlns:a16="http://schemas.microsoft.com/office/drawing/2014/main" id="{6AAC7617-1EF8-E542-8959-80E12EC695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1" y="1916"/>
              <a:ext cx="79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concreto</a:t>
              </a:r>
            </a:p>
          </p:txBody>
        </p:sp>
      </p:grpSp>
      <p:sp>
        <p:nvSpPr>
          <p:cNvPr id="29707" name="Text Box 13">
            <a:extLst>
              <a:ext uri="{FF2B5EF4-FFF2-40B4-BE49-F238E27FC236}">
                <a16:creationId xmlns:a16="http://schemas.microsoft.com/office/drawing/2014/main" id="{812E753D-5996-CB40-A3DD-8D946A3DB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8475" y="1349375"/>
            <a:ext cx="162718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50000"/>
              </a:spcAft>
              <a:buFontTx/>
              <a:buNone/>
            </a:pPr>
            <a:r>
              <a:rPr lang="pt-BR" altLang="pt-BR" sz="2000" b="1"/>
              <a:t>Projeto Conceitual</a:t>
            </a:r>
          </a:p>
        </p:txBody>
      </p:sp>
      <p:grpSp>
        <p:nvGrpSpPr>
          <p:cNvPr id="29708" name="Group 14">
            <a:extLst>
              <a:ext uri="{FF2B5EF4-FFF2-40B4-BE49-F238E27FC236}">
                <a16:creationId xmlns:a16="http://schemas.microsoft.com/office/drawing/2014/main" id="{C76BFA3E-18A2-484B-8268-285662E949EB}"/>
              </a:ext>
            </a:extLst>
          </p:cNvPr>
          <p:cNvGrpSpPr>
            <a:grpSpLocks/>
          </p:cNvGrpSpPr>
          <p:nvPr/>
        </p:nvGrpSpPr>
        <p:grpSpPr bwMode="auto">
          <a:xfrm>
            <a:off x="3027363" y="2854325"/>
            <a:ext cx="665162" cy="1595438"/>
            <a:chOff x="1988" y="1815"/>
            <a:chExt cx="419" cy="1005"/>
          </a:xfrm>
        </p:grpSpPr>
        <p:sp>
          <p:nvSpPr>
            <p:cNvPr id="29726" name="AutoShape 15">
              <a:extLst>
                <a:ext uri="{FF2B5EF4-FFF2-40B4-BE49-F238E27FC236}">
                  <a16:creationId xmlns:a16="http://schemas.microsoft.com/office/drawing/2014/main" id="{BFEDADE9-DECE-7A41-9079-5BFD470448A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695" y="2108"/>
              <a:ext cx="1005" cy="419"/>
            </a:xfrm>
            <a:prstGeom prst="rightArrow">
              <a:avLst>
                <a:gd name="adj1" fmla="val 58713"/>
                <a:gd name="adj2" fmla="val 60320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9727" name="Text Box 16">
              <a:extLst>
                <a:ext uri="{FF2B5EF4-FFF2-40B4-BE49-F238E27FC236}">
                  <a16:creationId xmlns:a16="http://schemas.microsoft.com/office/drawing/2014/main" id="{F9F1C10F-C2F1-7048-B05F-9865BC9A1B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767" y="2178"/>
              <a:ext cx="86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400"/>
                <a:t>decomposição</a:t>
              </a:r>
            </a:p>
          </p:txBody>
        </p:sp>
      </p:grpSp>
      <p:grpSp>
        <p:nvGrpSpPr>
          <p:cNvPr id="29709" name="Group 21">
            <a:extLst>
              <a:ext uri="{FF2B5EF4-FFF2-40B4-BE49-F238E27FC236}">
                <a16:creationId xmlns:a16="http://schemas.microsoft.com/office/drawing/2014/main" id="{6FCCADBD-297C-5241-950A-5C52136A23D1}"/>
              </a:ext>
            </a:extLst>
          </p:cNvPr>
          <p:cNvGrpSpPr>
            <a:grpSpLocks/>
          </p:cNvGrpSpPr>
          <p:nvPr/>
        </p:nvGrpSpPr>
        <p:grpSpPr bwMode="auto">
          <a:xfrm>
            <a:off x="4122738" y="4441825"/>
            <a:ext cx="973137" cy="638175"/>
            <a:chOff x="4590" y="1024"/>
            <a:chExt cx="613" cy="402"/>
          </a:xfrm>
        </p:grpSpPr>
        <p:sp>
          <p:nvSpPr>
            <p:cNvPr id="29724" name="AutoShape 22">
              <a:extLst>
                <a:ext uri="{FF2B5EF4-FFF2-40B4-BE49-F238E27FC236}">
                  <a16:creationId xmlns:a16="http://schemas.microsoft.com/office/drawing/2014/main" id="{0D4E01C1-8A88-594C-A824-97EECF361A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1024"/>
              <a:ext cx="585" cy="402"/>
            </a:xfrm>
            <a:prstGeom prst="rightArrow">
              <a:avLst>
                <a:gd name="adj1" fmla="val 58704"/>
                <a:gd name="adj2" fmla="val 38031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9725" name="Text Box 23">
              <a:extLst>
                <a:ext uri="{FF2B5EF4-FFF2-40B4-BE49-F238E27FC236}">
                  <a16:creationId xmlns:a16="http://schemas.microsoft.com/office/drawing/2014/main" id="{23B88129-BB9E-174D-B18E-351E219980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0" y="1134"/>
              <a:ext cx="6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400"/>
                <a:t>resolução</a:t>
              </a:r>
            </a:p>
          </p:txBody>
        </p:sp>
      </p:grpSp>
      <p:grpSp>
        <p:nvGrpSpPr>
          <p:cNvPr id="29710" name="Group 25">
            <a:extLst>
              <a:ext uri="{FF2B5EF4-FFF2-40B4-BE49-F238E27FC236}">
                <a16:creationId xmlns:a16="http://schemas.microsoft.com/office/drawing/2014/main" id="{DAA5C234-8713-164D-8E33-CC8D4E246102}"/>
              </a:ext>
            </a:extLst>
          </p:cNvPr>
          <p:cNvGrpSpPr>
            <a:grpSpLocks/>
          </p:cNvGrpSpPr>
          <p:nvPr/>
        </p:nvGrpSpPr>
        <p:grpSpPr bwMode="auto">
          <a:xfrm>
            <a:off x="5472113" y="2919413"/>
            <a:ext cx="665162" cy="1408112"/>
            <a:chOff x="4965" y="915"/>
            <a:chExt cx="419" cy="887"/>
          </a:xfrm>
        </p:grpSpPr>
        <p:sp>
          <p:nvSpPr>
            <p:cNvPr id="29722" name="AutoShape 26">
              <a:extLst>
                <a:ext uri="{FF2B5EF4-FFF2-40B4-BE49-F238E27FC236}">
                  <a16:creationId xmlns:a16="http://schemas.microsoft.com/office/drawing/2014/main" id="{8225B7DC-43BA-D34D-8EA3-A43E0A8E156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4731" y="1149"/>
              <a:ext cx="887" cy="419"/>
            </a:xfrm>
            <a:prstGeom prst="rightArrow">
              <a:avLst>
                <a:gd name="adj1" fmla="val 58713"/>
                <a:gd name="adj2" fmla="val 53237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9723" name="Text Box 27">
              <a:extLst>
                <a:ext uri="{FF2B5EF4-FFF2-40B4-BE49-F238E27FC236}">
                  <a16:creationId xmlns:a16="http://schemas.microsoft.com/office/drawing/2014/main" id="{08CD189C-34D6-B44B-9DA7-4EBC6BE2A8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 flipV="1">
              <a:off x="4760" y="1264"/>
              <a:ext cx="83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400"/>
                <a:t>composição</a:t>
              </a:r>
            </a:p>
          </p:txBody>
        </p:sp>
      </p:grpSp>
      <p:sp>
        <p:nvSpPr>
          <p:cNvPr id="29711" name="Text Box 29">
            <a:extLst>
              <a:ext uri="{FF2B5EF4-FFF2-40B4-BE49-F238E27FC236}">
                <a16:creationId xmlns:a16="http://schemas.microsoft.com/office/drawing/2014/main" id="{F58061B2-CC35-0547-BA24-92AA15E07D79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3890962" y="2671763"/>
            <a:ext cx="1349375" cy="342900"/>
          </a:xfrm>
          <a:prstGeom prst="rect">
            <a:avLst/>
          </a:prstGeom>
          <a:solidFill>
            <a:srgbClr val="FF0000"/>
          </a:solidFill>
          <a:ln w="38100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400"/>
              <a:t>complexidade</a:t>
            </a:r>
          </a:p>
        </p:txBody>
      </p:sp>
      <p:grpSp>
        <p:nvGrpSpPr>
          <p:cNvPr id="29712" name="Group 30">
            <a:extLst>
              <a:ext uri="{FF2B5EF4-FFF2-40B4-BE49-F238E27FC236}">
                <a16:creationId xmlns:a16="http://schemas.microsoft.com/office/drawing/2014/main" id="{53E828C2-6B19-9E41-B33C-3FBBE50908C5}"/>
              </a:ext>
            </a:extLst>
          </p:cNvPr>
          <p:cNvGrpSpPr>
            <a:grpSpLocks/>
          </p:cNvGrpSpPr>
          <p:nvPr/>
        </p:nvGrpSpPr>
        <p:grpSpPr bwMode="auto">
          <a:xfrm>
            <a:off x="-68263" y="2316163"/>
            <a:ext cx="2470151" cy="638175"/>
            <a:chOff x="-43" y="1395"/>
            <a:chExt cx="1556" cy="402"/>
          </a:xfrm>
        </p:grpSpPr>
        <p:sp>
          <p:nvSpPr>
            <p:cNvPr id="29720" name="AutoShape 31">
              <a:extLst>
                <a:ext uri="{FF2B5EF4-FFF2-40B4-BE49-F238E27FC236}">
                  <a16:creationId xmlns:a16="http://schemas.microsoft.com/office/drawing/2014/main" id="{DE31D380-B912-EA47-B0BF-E9EE870958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" y="1395"/>
              <a:ext cx="384" cy="402"/>
            </a:xfrm>
            <a:prstGeom prst="rightArrow">
              <a:avLst>
                <a:gd name="adj1" fmla="val 58546"/>
                <a:gd name="adj2" fmla="val 31435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9721" name="Text Box 32">
              <a:extLst>
                <a:ext uri="{FF2B5EF4-FFF2-40B4-BE49-F238E27FC236}">
                  <a16:creationId xmlns:a16="http://schemas.microsoft.com/office/drawing/2014/main" id="{ADE94AD3-79B3-F04B-BA0F-AF7CD937E7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43" y="1462"/>
              <a:ext cx="11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800" b="1"/>
                <a:t>Especificações</a:t>
              </a:r>
            </a:p>
          </p:txBody>
        </p:sp>
      </p:grpSp>
      <p:grpSp>
        <p:nvGrpSpPr>
          <p:cNvPr id="29713" name="Group 33">
            <a:extLst>
              <a:ext uri="{FF2B5EF4-FFF2-40B4-BE49-F238E27FC236}">
                <a16:creationId xmlns:a16="http://schemas.microsoft.com/office/drawing/2014/main" id="{D84FC11D-7362-6442-AF40-056034C217A5}"/>
              </a:ext>
            </a:extLst>
          </p:cNvPr>
          <p:cNvGrpSpPr>
            <a:grpSpLocks/>
          </p:cNvGrpSpPr>
          <p:nvPr/>
        </p:nvGrpSpPr>
        <p:grpSpPr bwMode="auto">
          <a:xfrm>
            <a:off x="6835775" y="2322513"/>
            <a:ext cx="2047875" cy="638175"/>
            <a:chOff x="4306" y="1399"/>
            <a:chExt cx="1290" cy="402"/>
          </a:xfrm>
        </p:grpSpPr>
        <p:sp>
          <p:nvSpPr>
            <p:cNvPr id="29718" name="AutoShape 34">
              <a:extLst>
                <a:ext uri="{FF2B5EF4-FFF2-40B4-BE49-F238E27FC236}">
                  <a16:creationId xmlns:a16="http://schemas.microsoft.com/office/drawing/2014/main" id="{3E436ED5-3A80-CC4A-9147-D4A0CA02CB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1399"/>
              <a:ext cx="384" cy="402"/>
            </a:xfrm>
            <a:prstGeom prst="rightArrow">
              <a:avLst>
                <a:gd name="adj1" fmla="val 58546"/>
                <a:gd name="adj2" fmla="val 31435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9719" name="Text Box 35">
              <a:extLst>
                <a:ext uri="{FF2B5EF4-FFF2-40B4-BE49-F238E27FC236}">
                  <a16:creationId xmlns:a16="http://schemas.microsoft.com/office/drawing/2014/main" id="{C8528F5A-7FAD-FC4C-8995-F7ED140CFB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1" y="1490"/>
              <a:ext cx="9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800" b="1"/>
                <a:t>Concepção</a:t>
              </a:r>
            </a:p>
          </p:txBody>
        </p:sp>
      </p:grpSp>
      <p:grpSp>
        <p:nvGrpSpPr>
          <p:cNvPr id="10" name="Group 39">
            <a:extLst>
              <a:ext uri="{FF2B5EF4-FFF2-40B4-BE49-F238E27FC236}">
                <a16:creationId xmlns:a16="http://schemas.microsoft.com/office/drawing/2014/main" id="{E2033DAF-598F-7F40-AC46-41A5FD1B055F}"/>
              </a:ext>
            </a:extLst>
          </p:cNvPr>
          <p:cNvGrpSpPr>
            <a:grpSpLocks/>
          </p:cNvGrpSpPr>
          <p:nvPr/>
        </p:nvGrpSpPr>
        <p:grpSpPr bwMode="auto">
          <a:xfrm>
            <a:off x="0" y="1754188"/>
            <a:ext cx="4057650" cy="4737100"/>
            <a:chOff x="165" y="1145"/>
            <a:chExt cx="2362" cy="2984"/>
          </a:xfrm>
        </p:grpSpPr>
        <p:sp>
          <p:nvSpPr>
            <p:cNvPr id="29715" name="Text Box 36">
              <a:extLst>
                <a:ext uri="{FF2B5EF4-FFF2-40B4-BE49-F238E27FC236}">
                  <a16:creationId xmlns:a16="http://schemas.microsoft.com/office/drawing/2014/main" id="{1BD370BB-135F-9048-9C49-E30D091C1E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" y="3611"/>
              <a:ext cx="1133" cy="518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2000">
                  <a:solidFill>
                    <a:schemeClr val="bg1"/>
                  </a:solidFill>
                </a:rPr>
                <a:t>Modelagem funcional</a:t>
              </a:r>
            </a:p>
          </p:txBody>
        </p:sp>
        <p:sp>
          <p:nvSpPr>
            <p:cNvPr id="29716" name="Oval 37">
              <a:extLst>
                <a:ext uri="{FF2B5EF4-FFF2-40B4-BE49-F238E27FC236}">
                  <a16:creationId xmlns:a16="http://schemas.microsoft.com/office/drawing/2014/main" id="{EF399663-C1DD-6944-8CA2-F35FAB6484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7" y="1145"/>
              <a:ext cx="860" cy="2368"/>
            </a:xfrm>
            <a:prstGeom prst="ellipse">
              <a:avLst/>
            </a:prstGeom>
            <a:noFill/>
            <a:ln w="3175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9717" name="Line 38">
              <a:extLst>
                <a:ext uri="{FF2B5EF4-FFF2-40B4-BE49-F238E27FC236}">
                  <a16:creationId xmlns:a16="http://schemas.microsoft.com/office/drawing/2014/main" id="{1B0960DF-E701-6340-9D76-C5C38EDDEF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4" y="2871"/>
              <a:ext cx="877" cy="74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pt-B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56C786-B8D7-FE6A-22DC-09D372A8B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758" y="25399"/>
            <a:ext cx="7388225" cy="706438"/>
          </a:xfrm>
        </p:spPr>
        <p:txBody>
          <a:bodyPr/>
          <a:lstStyle/>
          <a:p>
            <a:r>
              <a:rPr lang="pt-BR" dirty="0"/>
              <a:t>FUNDAMENTOS DE SISTEMAS TÉCNICOS</a:t>
            </a:r>
          </a:p>
        </p:txBody>
      </p:sp>
      <p:pic>
        <p:nvPicPr>
          <p:cNvPr id="1026" name="Picture 2" descr="Como escolher o motor pro seu barco ...">
            <a:extLst>
              <a:ext uri="{FF2B5EF4-FFF2-40B4-BE49-F238E27FC236}">
                <a16:creationId xmlns:a16="http://schemas.microsoft.com/office/drawing/2014/main" id="{334FD46D-CF0A-1A33-E414-EAFBFF1B09C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3025" y="963135"/>
            <a:ext cx="3560540" cy="2365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áquina de Lavar Electrolux 15kg Branca Essential Care com Cesto Inox e Jet&amp;Clean (LED15) 127V">
            <a:extLst>
              <a:ext uri="{FF2B5EF4-FFF2-40B4-BE49-F238E27FC236}">
                <a16:creationId xmlns:a16="http://schemas.microsoft.com/office/drawing/2014/main" id="{7A0A6524-05F8-2D8D-180B-D448FF540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891" y="1063970"/>
            <a:ext cx="2398816" cy="2365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onheça a colhedora de cana que é líder ...">
            <a:extLst>
              <a:ext uri="{FF2B5EF4-FFF2-40B4-BE49-F238E27FC236}">
                <a16:creationId xmlns:a16="http://schemas.microsoft.com/office/drawing/2014/main" id="{8CBD591A-5D46-F252-6573-EF0C33231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4559" y="3826164"/>
            <a:ext cx="3492500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Espremedor de laranja industrial ...">
            <a:extLst>
              <a:ext uri="{FF2B5EF4-FFF2-40B4-BE49-F238E27FC236}">
                <a16:creationId xmlns:a16="http://schemas.microsoft.com/office/drawing/2014/main" id="{C826F1AE-81BD-F518-A6AB-3BA596733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041" y="3559464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8099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5F5C43-29A6-194D-C531-86489BD10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716" y="1172420"/>
            <a:ext cx="8045635" cy="5238750"/>
          </a:xfrm>
        </p:spPr>
        <p:txBody>
          <a:bodyPr/>
          <a:lstStyle/>
          <a:p>
            <a:r>
              <a:rPr lang="pt-BR" sz="2400" dirty="0"/>
              <a:t>Consistem em uma combinação de elementos ou partes um todo complexo que </a:t>
            </a:r>
            <a:r>
              <a:rPr lang="pt-BR" sz="2400" b="1" dirty="0">
                <a:solidFill>
                  <a:srgbClr val="FF0000"/>
                </a:solidFill>
              </a:rPr>
              <a:t>TEM ALGUM PROPÓSITO;</a:t>
            </a:r>
          </a:p>
          <a:p>
            <a:pPr lvl="1"/>
            <a:r>
              <a:rPr lang="pt-BR" dirty="0">
                <a:solidFill>
                  <a:srgbClr val="0070C0"/>
                </a:solidFill>
              </a:rPr>
              <a:t>Esse propósito pode ser declaro como função global;</a:t>
            </a:r>
          </a:p>
          <a:p>
            <a:pPr lvl="1"/>
            <a:r>
              <a:rPr lang="pt-BR" dirty="0">
                <a:solidFill>
                  <a:srgbClr val="0070C0"/>
                </a:solidFill>
              </a:rPr>
              <a:t>Essa função global pode ser desdobrada, sucessivamente em funções de complexidade de menor até o nível de funções elementares;</a:t>
            </a:r>
          </a:p>
          <a:p>
            <a:pPr lvl="1"/>
            <a:r>
              <a:rPr lang="pt-BR" dirty="0">
                <a:solidFill>
                  <a:srgbClr val="0070C0"/>
                </a:solidFill>
              </a:rPr>
              <a:t>Normalmente, os sistemas técnicos podem ser considerados como processos de transformação de estado e das propriedades de grandezas do tipo energia, material e informações.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A0B93D58-BF73-F7D9-6E88-49CE58F63210}"/>
              </a:ext>
            </a:extLst>
          </p:cNvPr>
          <p:cNvSpPr txBox="1">
            <a:spLocks/>
          </p:cNvSpPr>
          <p:nvPr/>
        </p:nvSpPr>
        <p:spPr bwMode="auto">
          <a:xfrm>
            <a:off x="308758" y="25399"/>
            <a:ext cx="7388225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+mj-lt"/>
                <a:ea typeface="ＭＳ Ｐゴシック" charset="0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  <a:ea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  <a:ea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  <a:ea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  <a:ea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9pPr>
          </a:lstStyle>
          <a:p>
            <a:pPr lvl="1">
              <a:spcBef>
                <a:spcPct val="20000"/>
              </a:spcBef>
            </a:pPr>
            <a:r>
              <a:rPr lang="pt-BR" b="1" dirty="0">
                <a:solidFill>
                  <a:srgbClr val="002060"/>
                </a:solidFill>
                <a:latin typeface="+mn-lt"/>
              </a:rPr>
              <a:t>1. FUNDAMENTOS DE SISTEMAS TÉCNICOS</a:t>
            </a:r>
          </a:p>
        </p:txBody>
      </p:sp>
    </p:spTree>
    <p:extLst>
      <p:ext uri="{BB962C8B-B14F-4D97-AF65-F5344CB8AC3E}">
        <p14:creationId xmlns:p14="http://schemas.microsoft.com/office/powerpoint/2010/main" val="2420656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17CD48-B1CB-21D8-2D91-CE9825F53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69860"/>
            <a:ext cx="7388225" cy="706438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pt-BR" dirty="0">
                <a:latin typeface="+mj-lt"/>
                <a:ea typeface="ＭＳ Ｐゴシック" charset="0"/>
                <a:cs typeface="+mj-cs"/>
              </a:rPr>
              <a:t>Funções das máquina de lavar roupa</a:t>
            </a:r>
          </a:p>
        </p:txBody>
      </p:sp>
      <p:pic>
        <p:nvPicPr>
          <p:cNvPr id="6" name="Picture 4" descr="Máquina de Lavar Electrolux 15kg Branca Essential Care com Cesto Inox e Jet&amp;Clean (LED15) 127V">
            <a:extLst>
              <a:ext uri="{FF2B5EF4-FFF2-40B4-BE49-F238E27FC236}">
                <a16:creationId xmlns:a16="http://schemas.microsoft.com/office/drawing/2014/main" id="{02B9CE10-9746-261B-8D61-3AED755E99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97" r="5672" b="1"/>
          <a:stretch>
            <a:fillRect/>
          </a:stretch>
        </p:blipFill>
        <p:spPr bwMode="auto">
          <a:xfrm>
            <a:off x="843148" y="1961985"/>
            <a:ext cx="3132850" cy="3898343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FD487A5-6BA9-FEE7-6741-ECF28AD3138C}"/>
              </a:ext>
            </a:extLst>
          </p:cNvPr>
          <p:cNvSpPr txBox="1"/>
          <p:nvPr/>
        </p:nvSpPr>
        <p:spPr bwMode="auto">
          <a:xfrm>
            <a:off x="4819650" y="1196171"/>
            <a:ext cx="4211637" cy="52387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pt-BR" sz="1100" dirty="0">
                <a:latin typeface="+mn-lt"/>
                <a:ea typeface="ＭＳ Ｐゴシック" charset="0"/>
              </a:rPr>
              <a:t>Lavar roupas automaticamente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pt-BR" sz="1100" dirty="0">
                <a:latin typeface="+mn-lt"/>
                <a:ea typeface="ＭＳ Ｐゴシック" charset="0"/>
              </a:rPr>
              <a:t>│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pt-BR" sz="1100" dirty="0">
                <a:latin typeface="+mn-lt"/>
                <a:ea typeface="ＭＳ Ｐゴシック" charset="0"/>
              </a:rPr>
              <a:t>├── Remover sujeira das roupas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pt-BR" sz="1100" dirty="0">
                <a:latin typeface="+mn-lt"/>
                <a:ea typeface="ＭＳ Ｐゴシック" charset="0"/>
              </a:rPr>
              <a:t>│   ├── Dosar água e detergente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pt-BR" sz="1100" dirty="0">
                <a:latin typeface="+mn-lt"/>
                <a:ea typeface="ＭＳ Ｐゴシック" charset="0"/>
              </a:rPr>
              <a:t>│   ├── Molhar roupas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pt-BR" sz="1100" dirty="0">
                <a:latin typeface="+mn-lt"/>
                <a:ea typeface="ＭＳ Ｐゴシック" charset="0"/>
              </a:rPr>
              <a:t>│   ├── Agitar roupas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pt-BR" sz="1100" dirty="0">
                <a:latin typeface="+mn-lt"/>
                <a:ea typeface="ＭＳ Ｐゴシック" charset="0"/>
              </a:rPr>
              <a:t>│   ├── Enxaguar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pt-BR" sz="1100" dirty="0">
                <a:latin typeface="+mn-lt"/>
                <a:ea typeface="ＭＳ Ｐゴシック" charset="0"/>
              </a:rPr>
              <a:t>│   └── Extrair água suja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pt-BR" sz="1100" dirty="0">
                <a:latin typeface="+mn-lt"/>
                <a:ea typeface="ＭＳ Ｐゴシック" charset="0"/>
              </a:rPr>
              <a:t>│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pt-BR" sz="1100" dirty="0">
                <a:latin typeface="+mn-lt"/>
                <a:ea typeface="ＭＳ Ｐゴシック" charset="0"/>
              </a:rPr>
              <a:t>├── Preservar integridade das roupas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pt-BR" sz="1100" dirty="0">
                <a:latin typeface="+mn-lt"/>
                <a:ea typeface="ＭＳ Ｐゴシック" charset="0"/>
              </a:rPr>
              <a:t>│   ├── Controlar rotação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pt-BR" sz="1100" dirty="0">
                <a:latin typeface="+mn-lt"/>
                <a:ea typeface="ＭＳ Ｐゴシック" charset="0"/>
              </a:rPr>
              <a:t>│   ├── Ajustar nível de água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pt-BR" sz="1100" dirty="0">
                <a:latin typeface="+mn-lt"/>
                <a:ea typeface="ＭＳ Ｐゴシック" charset="0"/>
              </a:rPr>
              <a:t>│   └── Detectar sobrecarga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pt-BR" sz="1100" dirty="0">
                <a:latin typeface="+mn-lt"/>
                <a:ea typeface="ＭＳ Ｐゴシック" charset="0"/>
              </a:rPr>
              <a:t>│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pt-BR" sz="1100" dirty="0">
                <a:latin typeface="+mn-lt"/>
                <a:ea typeface="ＭＳ Ｐゴシック" charset="0"/>
              </a:rPr>
              <a:t>├── Economizar recursos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pt-BR" sz="1100" dirty="0">
                <a:latin typeface="+mn-lt"/>
                <a:ea typeface="ＭＳ Ｐゴシック" charset="0"/>
              </a:rPr>
              <a:t>│   ├── Ajustar tempo de ciclo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pt-BR" sz="1100" dirty="0">
                <a:latin typeface="+mn-lt"/>
                <a:ea typeface="ＭＳ Ｐゴシック" charset="0"/>
              </a:rPr>
              <a:t>│   ├── Controlar temperatura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pt-BR" sz="1100" dirty="0">
                <a:latin typeface="+mn-lt"/>
                <a:ea typeface="ＭＳ Ｐゴシック" charset="0"/>
              </a:rPr>
              <a:t>│   └── Otimizar detergente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pt-BR" sz="1100" dirty="0">
                <a:latin typeface="+mn-lt"/>
                <a:ea typeface="ＭＳ Ｐゴシック" charset="0"/>
              </a:rPr>
              <a:t>│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pt-BR" sz="1100" dirty="0">
                <a:latin typeface="+mn-lt"/>
                <a:ea typeface="ＭＳ Ｐゴシック" charset="0"/>
              </a:rPr>
              <a:t>├── Garantir segurança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pt-BR" sz="1100" dirty="0">
                <a:latin typeface="+mn-lt"/>
                <a:ea typeface="ＭＳ Ｐゴシック" charset="0"/>
              </a:rPr>
              <a:t>│   ├── Bloquear tampa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pt-BR" sz="1100" dirty="0">
                <a:latin typeface="+mn-lt"/>
                <a:ea typeface="ＭＳ Ｐゴシック" charset="0"/>
              </a:rPr>
              <a:t>│   ├── Monitorar falhas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pt-BR" sz="1100" dirty="0">
                <a:latin typeface="+mn-lt"/>
                <a:ea typeface="ＭＳ Ｐゴシック" charset="0"/>
              </a:rPr>
              <a:t>│   └── Drenagem segura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pt-BR" sz="1100" dirty="0">
                <a:latin typeface="+mn-lt"/>
                <a:ea typeface="ＭＳ Ｐゴシック" charset="0"/>
              </a:rPr>
              <a:t>│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pt-BR" sz="1100" dirty="0">
                <a:latin typeface="+mn-lt"/>
                <a:ea typeface="ＭＳ Ｐゴシック" charset="0"/>
              </a:rPr>
              <a:t>└── Facilitar uso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pt-BR" sz="1100" dirty="0">
                <a:latin typeface="+mn-lt"/>
                <a:ea typeface="ＭＳ Ｐゴシック" charset="0"/>
              </a:rPr>
              <a:t>    ├── Exibir painel de controle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pt-BR" sz="1100" dirty="0">
                <a:latin typeface="+mn-lt"/>
                <a:ea typeface="ＭＳ Ｐゴシック" charset="0"/>
              </a:rPr>
              <a:t>    ├── Selecionar programas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pt-BR" sz="1100" dirty="0">
                <a:latin typeface="+mn-lt"/>
                <a:ea typeface="ＭＳ Ｐゴシック" charset="0"/>
              </a:rPr>
              <a:t>    └── Sinalizar fim do ciclo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1580A8D-E4BE-7DAC-3DDB-5DED3C10169F}"/>
              </a:ext>
            </a:extLst>
          </p:cNvPr>
          <p:cNvSpPr txBox="1"/>
          <p:nvPr/>
        </p:nvSpPr>
        <p:spPr>
          <a:xfrm>
            <a:off x="843148" y="1196171"/>
            <a:ext cx="37288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Modelo de Árvore</a:t>
            </a:r>
          </a:p>
        </p:txBody>
      </p:sp>
    </p:spTree>
    <p:extLst>
      <p:ext uri="{BB962C8B-B14F-4D97-AF65-F5344CB8AC3E}">
        <p14:creationId xmlns:p14="http://schemas.microsoft.com/office/powerpoint/2010/main" val="1146243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AC3050-F59F-0CAC-8DE4-1DA7A867D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0" y="93611"/>
            <a:ext cx="7388225" cy="706438"/>
          </a:xfrm>
        </p:spPr>
        <p:txBody>
          <a:bodyPr/>
          <a:lstStyle/>
          <a:p>
            <a:pPr algn="ctr"/>
            <a:r>
              <a:rPr lang="pt-BR" dirty="0"/>
              <a:t>FUNÇÕES PARCIAIS E  FUNÇÕES ELEMENTARES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39FFB2-6766-DACA-BDFF-C62EDBCEFE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1950" y="1172420"/>
            <a:ext cx="4210050" cy="5238750"/>
          </a:xfrm>
        </p:spPr>
        <p:txBody>
          <a:bodyPr/>
          <a:lstStyle/>
          <a:p>
            <a:r>
              <a:rPr lang="pt-BR" b="1" dirty="0"/>
              <a:t>Remover sujeira das roupas</a:t>
            </a:r>
          </a:p>
          <a:p>
            <a:pPr lvl="1"/>
            <a:r>
              <a:rPr lang="pt-BR" dirty="0"/>
              <a:t>Dosar água e detergente</a:t>
            </a:r>
          </a:p>
          <a:p>
            <a:pPr lvl="1"/>
            <a:r>
              <a:rPr lang="pt-BR" dirty="0"/>
              <a:t>Molhar roupas</a:t>
            </a:r>
          </a:p>
          <a:p>
            <a:pPr lvl="1"/>
            <a:r>
              <a:rPr lang="pt-BR" dirty="0"/>
              <a:t>Agitar roupas</a:t>
            </a:r>
          </a:p>
          <a:p>
            <a:pPr lvl="1"/>
            <a:r>
              <a:rPr lang="pt-BR" dirty="0"/>
              <a:t>Enxaguar roupas</a:t>
            </a:r>
          </a:p>
          <a:p>
            <a:pPr lvl="1"/>
            <a:r>
              <a:rPr lang="pt-BR" dirty="0"/>
              <a:t>Extrair água suja</a:t>
            </a:r>
          </a:p>
          <a:p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746CFB6-ED6F-4256-D4EF-8674A8C5DB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32363" y="1172420"/>
            <a:ext cx="4211637" cy="5238750"/>
          </a:xfrm>
        </p:spPr>
        <p:txBody>
          <a:bodyPr/>
          <a:lstStyle/>
          <a:p>
            <a:r>
              <a:rPr lang="pt-BR" b="1" dirty="0"/>
              <a:t>Preservar a integridade das roupas</a:t>
            </a:r>
          </a:p>
          <a:p>
            <a:pPr lvl="1"/>
            <a:r>
              <a:rPr lang="pt-BR" dirty="0"/>
              <a:t>Controlar rotação do tambor</a:t>
            </a:r>
          </a:p>
          <a:p>
            <a:pPr lvl="1"/>
            <a:r>
              <a:rPr lang="pt-BR" dirty="0"/>
              <a:t>Ajustar nível de água</a:t>
            </a:r>
          </a:p>
          <a:p>
            <a:pPr lvl="1"/>
            <a:r>
              <a:rPr lang="pt-BR" dirty="0"/>
              <a:t>Ajustar tempo de ciclo</a:t>
            </a:r>
          </a:p>
          <a:p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996423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F8E3A-0B41-8310-8D74-E3B842CAF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F1C3CB-6C02-DA08-9B31-6E7A416B0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COMPLEMENTARES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C198F95-C55F-EB57-D523-10B03D2E340A}"/>
              </a:ext>
            </a:extLst>
          </p:cNvPr>
          <p:cNvSpPr txBox="1"/>
          <p:nvPr/>
        </p:nvSpPr>
        <p:spPr>
          <a:xfrm>
            <a:off x="863085" y="1323424"/>
            <a:ext cx="3162650" cy="1881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pt-BR" b="1" dirty="0"/>
              <a:t>Facilidade de uso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Exibir painel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Selecionar programa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Sinalizar fim do ciclo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BCFB5B6-CE3C-A9BB-70EE-E002D19409AE}"/>
              </a:ext>
            </a:extLst>
          </p:cNvPr>
          <p:cNvSpPr txBox="1"/>
          <p:nvPr/>
        </p:nvSpPr>
        <p:spPr>
          <a:xfrm>
            <a:off x="4946072" y="1323423"/>
            <a:ext cx="2927267" cy="2343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pt-BR" b="1" dirty="0"/>
              <a:t>Garantir segurança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Bloquear tampa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Monitorar falhas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Drenar água com segurança</a:t>
            </a:r>
          </a:p>
        </p:txBody>
      </p:sp>
    </p:spTree>
    <p:extLst>
      <p:ext uri="{BB962C8B-B14F-4D97-AF65-F5344CB8AC3E}">
        <p14:creationId xmlns:p14="http://schemas.microsoft.com/office/powerpoint/2010/main" val="494760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85D58F-8C46-8B10-B453-F5DB69F86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1" y="332509"/>
            <a:ext cx="7773389" cy="706438"/>
          </a:xfrm>
        </p:spPr>
        <p:txBody>
          <a:bodyPr/>
          <a:lstStyle/>
          <a:p>
            <a:r>
              <a:rPr lang="pt-BR" b="1" dirty="0"/>
              <a:t>2. FUNÇÕES DE ESTILO (ESTÉTICAS OU EMOCIONAIS)</a:t>
            </a:r>
            <a:br>
              <a:rPr lang="pt-BR" b="1" dirty="0"/>
            </a:b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9793865-9789-A189-987F-60B0615EFD31}"/>
              </a:ext>
            </a:extLst>
          </p:cNvPr>
          <p:cNvSpPr txBox="1"/>
          <p:nvPr/>
        </p:nvSpPr>
        <p:spPr>
          <a:xfrm>
            <a:off x="767936" y="3225958"/>
            <a:ext cx="8496796" cy="2793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400" dirty="0"/>
              <a:t>Estas funções </a:t>
            </a:r>
            <a:r>
              <a:rPr lang="pt-BR" sz="2400" dirty="0">
                <a:solidFill>
                  <a:srgbClr val="C00000"/>
                </a:solidFill>
              </a:rPr>
              <a:t>não são diretamente responsáveis pelo desempenho técnico</a:t>
            </a:r>
            <a:r>
              <a:rPr lang="pt-BR" sz="2400" dirty="0"/>
              <a:t>, mas são cruciais para:</a:t>
            </a:r>
          </a:p>
          <a:p>
            <a:pPr>
              <a:buNone/>
            </a:pPr>
            <a:endParaRPr lang="pt-BR" sz="24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Atração visual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Identidade de marca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Satisfação emocional do usuário</a:t>
            </a:r>
            <a:endParaRPr lang="pt-BR" sz="18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9502A3D-FDEB-905D-D4DF-11A66F0A7C7E}"/>
              </a:ext>
            </a:extLst>
          </p:cNvPr>
          <p:cNvSpPr txBox="1"/>
          <p:nvPr/>
        </p:nvSpPr>
        <p:spPr>
          <a:xfrm>
            <a:off x="380011" y="1347292"/>
            <a:ext cx="849679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b="1" dirty="0">
                <a:solidFill>
                  <a:srgbClr val="FF0000"/>
                </a:solidFill>
              </a:rPr>
              <a:t>Requisitos Não Funcionais</a:t>
            </a:r>
          </a:p>
          <a:p>
            <a:r>
              <a:rPr lang="pt-BR" dirty="0"/>
              <a:t>São condições e restrições que o produto deve </a:t>
            </a:r>
            <a:r>
              <a:rPr lang="pt-BR" b="1" dirty="0"/>
              <a:t>atender</a:t>
            </a:r>
            <a:r>
              <a:rPr lang="pt-BR" dirty="0"/>
              <a:t>, mas que </a:t>
            </a:r>
            <a:r>
              <a:rPr lang="pt-BR" b="1" dirty="0"/>
              <a:t>não especificam comportamentos ou funções diretas</a:t>
            </a:r>
            <a:r>
              <a:rPr lang="pt-BR" dirty="0"/>
              <a:t>. </a:t>
            </a:r>
          </a:p>
          <a:p>
            <a:r>
              <a:rPr lang="pt-BR" dirty="0">
                <a:solidFill>
                  <a:srgbClr val="0070C0"/>
                </a:solidFill>
              </a:rPr>
              <a:t>Eles garantem qualidade, segurança, compatibilidade e regulamentação.</a:t>
            </a:r>
          </a:p>
        </p:txBody>
      </p:sp>
    </p:spTree>
    <p:extLst>
      <p:ext uri="{BB962C8B-B14F-4D97-AF65-F5344CB8AC3E}">
        <p14:creationId xmlns:p14="http://schemas.microsoft.com/office/powerpoint/2010/main" val="508916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1086E-3B23-D5A4-1042-47AFC7D91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4511DC65-135C-A245-C894-BD9689E29FFC}"/>
              </a:ext>
            </a:extLst>
          </p:cNvPr>
          <p:cNvSpPr txBox="1"/>
          <p:nvPr/>
        </p:nvSpPr>
        <p:spPr>
          <a:xfrm>
            <a:off x="516453" y="1564882"/>
            <a:ext cx="8111093" cy="317009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dirty="0"/>
              <a:t>São funções que expressam e provocam </a:t>
            </a:r>
            <a:r>
              <a:rPr lang="pt-BR" b="1" dirty="0"/>
              <a:t>sentimentos, valores ou percepções</a:t>
            </a:r>
            <a:r>
              <a:rPr lang="pt-BR" dirty="0"/>
              <a:t> no usuário, como: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Confiança</a:t>
            </a: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Status</a:t>
            </a: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Acolhimento</a:t>
            </a: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Facilidade</a:t>
            </a: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Prazer estético</a:t>
            </a:r>
            <a:endParaRPr lang="pt-BR" dirty="0"/>
          </a:p>
          <a:p>
            <a:endParaRPr lang="pt-BR" dirty="0"/>
          </a:p>
          <a:p>
            <a:pPr algn="ctr"/>
            <a:r>
              <a:rPr lang="pt-BR" i="1" dirty="0"/>
              <a:t>Estas funções são muitas vezes subjetivas, mas podem ser </a:t>
            </a:r>
            <a:r>
              <a:rPr lang="pt-BR" b="1" i="1" dirty="0"/>
              <a:t>traduzidas em requisitos de projeto</a:t>
            </a:r>
            <a:r>
              <a:rPr lang="pt-BR" i="1" dirty="0"/>
              <a:t> concretos.</a:t>
            </a:r>
          </a:p>
        </p:txBody>
      </p:sp>
    </p:spTree>
    <p:extLst>
      <p:ext uri="{BB962C8B-B14F-4D97-AF65-F5344CB8AC3E}">
        <p14:creationId xmlns:p14="http://schemas.microsoft.com/office/powerpoint/2010/main" val="27542415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88EC3-571E-F0FB-B477-D4623A99B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FCC500-596C-09BC-ECAE-826BFA549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3944"/>
            <a:ext cx="7388225" cy="706438"/>
          </a:xfrm>
        </p:spPr>
        <p:txBody>
          <a:bodyPr/>
          <a:lstStyle/>
          <a:p>
            <a:r>
              <a:rPr lang="pt-BR" b="1" dirty="0"/>
              <a:t>EXEMPLO: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C253FF9-A225-757C-89F6-7FE08915628A}"/>
              </a:ext>
            </a:extLst>
          </p:cNvPr>
          <p:cNvSpPr txBox="1"/>
          <p:nvPr/>
        </p:nvSpPr>
        <p:spPr>
          <a:xfrm>
            <a:off x="374071" y="987637"/>
            <a:ext cx="831866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A. Desempenho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Lavar X kg de roupas em até </a:t>
            </a:r>
            <a:r>
              <a:rPr lang="pt-BR" dirty="0" err="1"/>
              <a:t>Y</a:t>
            </a:r>
            <a:r>
              <a:rPr lang="pt-BR" dirty="0"/>
              <a:t> minutos.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Consumo máximo de água: </a:t>
            </a:r>
            <a:r>
              <a:rPr lang="pt-BR" dirty="0" err="1"/>
              <a:t>Z</a:t>
            </a:r>
            <a:r>
              <a:rPr lang="pt-BR" dirty="0"/>
              <a:t> litros por ciclo.</a:t>
            </a:r>
          </a:p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b="1" dirty="0"/>
              <a:t>B. Segurança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Nível de ruído inferior a 50 dB.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Sistema </a:t>
            </a:r>
            <a:r>
              <a:rPr lang="pt-BR" dirty="0" err="1"/>
              <a:t>anti-choque</a:t>
            </a:r>
            <a:r>
              <a:rPr lang="pt-BR" dirty="0"/>
              <a:t> elétrico.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Bloqueio automático da tampa.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A8742D3-0D71-1F0F-B614-46723CAEEFFA}"/>
              </a:ext>
            </a:extLst>
          </p:cNvPr>
          <p:cNvSpPr txBox="1"/>
          <p:nvPr/>
        </p:nvSpPr>
        <p:spPr>
          <a:xfrm>
            <a:off x="374070" y="3689437"/>
            <a:ext cx="844929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C. Conformidade legal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Atender normas de eficiência energética (ex.: INMETRO, Energy Star).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Materiais recicláveis conforme ISO 14001.</a:t>
            </a:r>
          </a:p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b="1" dirty="0"/>
              <a:t>D. Usabilidade e ergonomia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Altura máxima para facilitar o carregamento.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Painel com linguagem acessível.</a:t>
            </a:r>
          </a:p>
        </p:txBody>
      </p:sp>
    </p:spTree>
    <p:extLst>
      <p:ext uri="{BB962C8B-B14F-4D97-AF65-F5344CB8AC3E}">
        <p14:creationId xmlns:p14="http://schemas.microsoft.com/office/powerpoint/2010/main" val="14521468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B61F04-E6BE-A38B-035A-3F692B457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18B9F9C-B5C8-5543-4B71-57B2513B7FF6}"/>
              </a:ext>
            </a:extLst>
          </p:cNvPr>
          <p:cNvSpPr txBox="1"/>
          <p:nvPr/>
        </p:nvSpPr>
        <p:spPr>
          <a:xfrm>
            <a:off x="718457" y="959752"/>
            <a:ext cx="7950530" cy="1266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E. Manutenção e confiabilidade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Vida útil mínima de 10 anos ou 5.000 ciclos.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Peças modulares e de fácil substituição.</a:t>
            </a:r>
          </a:p>
        </p:txBody>
      </p:sp>
    </p:spTree>
    <p:extLst>
      <p:ext uri="{BB962C8B-B14F-4D97-AF65-F5344CB8AC3E}">
        <p14:creationId xmlns:p14="http://schemas.microsoft.com/office/powerpoint/2010/main" val="3127527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BB58C7-3CC7-20FD-7F20-F87E1BC35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999" y="1378403"/>
            <a:ext cx="7388225" cy="706438"/>
          </a:xfrm>
        </p:spPr>
        <p:txBody>
          <a:bodyPr/>
          <a:lstStyle/>
          <a:p>
            <a:r>
              <a:rPr lang="pt-BR" b="1" dirty="0"/>
              <a:t>COMO INCLUIR NA ANÁLISE FUNCIONAL E SÍNTESE:</a:t>
            </a:r>
            <a:br>
              <a:rPr lang="pt-BR" b="1" dirty="0"/>
            </a:b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7531285-F04E-588F-1153-587BE8E919D1}"/>
              </a:ext>
            </a:extLst>
          </p:cNvPr>
          <p:cNvSpPr txBox="1"/>
          <p:nvPr/>
        </p:nvSpPr>
        <p:spPr>
          <a:xfrm>
            <a:off x="993569" y="2493733"/>
            <a:ext cx="663236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>
                <a:solidFill>
                  <a:srgbClr val="0070C0"/>
                </a:solidFill>
              </a:rPr>
              <a:t>FUNÇÕES DE ESTILO</a:t>
            </a:r>
            <a:r>
              <a:rPr lang="pt-BR" dirty="0">
                <a:solidFill>
                  <a:srgbClr val="0070C0"/>
                </a:solidFill>
              </a:rPr>
              <a:t> </a:t>
            </a:r>
            <a:r>
              <a:rPr lang="pt-BR" dirty="0"/>
              <a:t>→ podem ser representadas como </a:t>
            </a:r>
            <a:r>
              <a:rPr lang="pt-BR" b="1" dirty="0"/>
              <a:t>funções emocionais</a:t>
            </a:r>
            <a:r>
              <a:rPr lang="pt-BR" dirty="0"/>
              <a:t> em diagramas complementares ou notas associadas a cada módulo.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endParaRPr lang="pt-BR" dirty="0"/>
          </a:p>
          <a:p>
            <a:r>
              <a:rPr lang="pt-BR" b="1" dirty="0">
                <a:solidFill>
                  <a:srgbClr val="0070C0"/>
                </a:solidFill>
              </a:rPr>
              <a:t>REQUISITOS NÃO FUNCIONAIS</a:t>
            </a:r>
            <a:r>
              <a:rPr lang="pt-BR" dirty="0">
                <a:solidFill>
                  <a:srgbClr val="0070C0"/>
                </a:solidFill>
              </a:rPr>
              <a:t> </a:t>
            </a:r>
            <a:r>
              <a:rPr lang="pt-BR" dirty="0"/>
              <a:t>→ são indicados como </a:t>
            </a:r>
            <a:r>
              <a:rPr lang="pt-BR" b="1" dirty="0"/>
              <a:t>parâmetros</a:t>
            </a:r>
            <a:r>
              <a:rPr lang="pt-BR" dirty="0"/>
              <a:t> ou </a:t>
            </a:r>
            <a:r>
              <a:rPr lang="pt-BR" b="1" dirty="0"/>
              <a:t>restrições</a:t>
            </a:r>
            <a:r>
              <a:rPr lang="pt-BR" dirty="0"/>
              <a:t> associadas a cada função ou ao sistema como um todo.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AB18BDA-7A16-4EC4-DF0B-E2681E01CA06}"/>
              </a:ext>
            </a:extLst>
          </p:cNvPr>
          <p:cNvSpPr txBox="1"/>
          <p:nvPr/>
        </p:nvSpPr>
        <p:spPr>
          <a:xfrm>
            <a:off x="354281" y="171831"/>
            <a:ext cx="67382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FF0000"/>
                </a:solidFill>
              </a:rPr>
              <a:t>IMPORTANTE</a:t>
            </a:r>
          </a:p>
        </p:txBody>
      </p:sp>
    </p:spTree>
    <p:extLst>
      <p:ext uri="{BB962C8B-B14F-4D97-AF65-F5344CB8AC3E}">
        <p14:creationId xmlns:p14="http://schemas.microsoft.com/office/powerpoint/2010/main" val="2390951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96C1D806-D42F-6E93-D221-227CAC9E8EAE}"/>
              </a:ext>
            </a:extLst>
          </p:cNvPr>
          <p:cNvSpPr txBox="1"/>
          <p:nvPr/>
        </p:nvSpPr>
        <p:spPr>
          <a:xfrm>
            <a:off x="516453" y="1564882"/>
            <a:ext cx="8111093" cy="317009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dirty="0"/>
              <a:t>São funções que expressam e provocam </a:t>
            </a:r>
            <a:r>
              <a:rPr lang="pt-BR" b="1" dirty="0"/>
              <a:t>sentimentos, valores ou percepções</a:t>
            </a:r>
            <a:r>
              <a:rPr lang="pt-BR" dirty="0"/>
              <a:t> no usuário, como: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Confiança</a:t>
            </a: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Status</a:t>
            </a: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Acolhimento</a:t>
            </a: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Facilidade</a:t>
            </a: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Prazer estético</a:t>
            </a:r>
            <a:endParaRPr lang="pt-BR" dirty="0"/>
          </a:p>
          <a:p>
            <a:endParaRPr lang="pt-BR" dirty="0"/>
          </a:p>
          <a:p>
            <a:pPr algn="ctr"/>
            <a:r>
              <a:rPr lang="pt-BR" i="1" dirty="0"/>
              <a:t>Estas funções são muitas vezes subjetivas, mas podem ser </a:t>
            </a:r>
            <a:r>
              <a:rPr lang="pt-BR" b="1" i="1" dirty="0"/>
              <a:t>traduzidas em requisitos de projeto</a:t>
            </a:r>
            <a:r>
              <a:rPr lang="pt-BR" i="1" dirty="0"/>
              <a:t> concretos.</a:t>
            </a:r>
          </a:p>
        </p:txBody>
      </p:sp>
    </p:spTree>
    <p:extLst>
      <p:ext uri="{BB962C8B-B14F-4D97-AF65-F5344CB8AC3E}">
        <p14:creationId xmlns:p14="http://schemas.microsoft.com/office/powerpoint/2010/main" val="42442158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5DD281-B8EE-D7B6-0BCB-EB67012FA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C96E080F-2D3D-4B2A-C16F-9FEE2358EB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07846"/>
              </p:ext>
            </p:extLst>
          </p:nvPr>
        </p:nvGraphicFramePr>
        <p:xfrm>
          <a:off x="112714" y="1449387"/>
          <a:ext cx="8900658" cy="4156753"/>
        </p:xfrm>
        <a:graphic>
          <a:graphicData uri="http://schemas.openxmlformats.org/drawingml/2006/table">
            <a:tbl>
              <a:tblPr/>
              <a:tblGrid>
                <a:gridCol w="2966886">
                  <a:extLst>
                    <a:ext uri="{9D8B030D-6E8A-4147-A177-3AD203B41FA5}">
                      <a16:colId xmlns:a16="http://schemas.microsoft.com/office/drawing/2014/main" val="4270541139"/>
                    </a:ext>
                  </a:extLst>
                </a:gridCol>
                <a:gridCol w="2966886">
                  <a:extLst>
                    <a:ext uri="{9D8B030D-6E8A-4147-A177-3AD203B41FA5}">
                      <a16:colId xmlns:a16="http://schemas.microsoft.com/office/drawing/2014/main" val="1828136365"/>
                    </a:ext>
                  </a:extLst>
                </a:gridCol>
                <a:gridCol w="2966886">
                  <a:extLst>
                    <a:ext uri="{9D8B030D-6E8A-4147-A177-3AD203B41FA5}">
                      <a16:colId xmlns:a16="http://schemas.microsoft.com/office/drawing/2014/main" val="139157555"/>
                    </a:ext>
                  </a:extLst>
                </a:gridCol>
              </a:tblGrid>
              <a:tr h="646606">
                <a:tc>
                  <a:txBody>
                    <a:bodyPr/>
                    <a:lstStyle/>
                    <a:p>
                      <a:r>
                        <a:rPr lang="pt-BR" b="1"/>
                        <a:t>Função</a:t>
                      </a:r>
                      <a:endParaRPr lang="pt-B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b="1"/>
                        <a:t>Estilo associado</a:t>
                      </a:r>
                      <a:endParaRPr lang="pt-B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b="1" dirty="0"/>
                        <a:t>Requisito Não Funcional/ Especificação Meta</a:t>
                      </a:r>
                      <a:endParaRPr lang="pt-B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3295917"/>
                  </a:ext>
                </a:extLst>
              </a:tr>
              <a:tr h="646606">
                <a:tc>
                  <a:txBody>
                    <a:bodyPr/>
                    <a:lstStyle/>
                    <a:p>
                      <a:r>
                        <a:rPr lang="pt-BR"/>
                        <a:t>Facilitar lavagem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Visual moderno, robusto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Consumo máx. 0,5 kWh/ciclo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9097716"/>
                  </a:ext>
                </a:extLst>
              </a:tr>
              <a:tr h="646606">
                <a:tc>
                  <a:txBody>
                    <a:bodyPr/>
                    <a:lstStyle/>
                    <a:p>
                      <a:r>
                        <a:rPr lang="pt-BR"/>
                        <a:t>Dosar água e detergente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Botões intuitivos, ícones claros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Precisão de ±5% na dosagem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561495"/>
                  </a:ext>
                </a:extLst>
              </a:tr>
              <a:tr h="646606">
                <a:tc>
                  <a:txBody>
                    <a:bodyPr/>
                    <a:lstStyle/>
                    <a:p>
                      <a:r>
                        <a:rPr lang="pt-BR"/>
                        <a:t>Exibir painel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Touchscreen elegante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Painel resistente à água (IPX4)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2265656"/>
                  </a:ext>
                </a:extLst>
              </a:tr>
              <a:tr h="646606">
                <a:tc>
                  <a:txBody>
                    <a:bodyPr/>
                    <a:lstStyle/>
                    <a:p>
                      <a:r>
                        <a:rPr lang="pt-BR"/>
                        <a:t>Centrifugar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Silencioso, sem vibrações excessivas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Nível de ruído &lt; 50 dB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2880626"/>
                  </a:ext>
                </a:extLst>
              </a:tr>
              <a:tr h="923723">
                <a:tc>
                  <a:txBody>
                    <a:bodyPr/>
                    <a:lstStyle/>
                    <a:p>
                      <a:r>
                        <a:rPr lang="pt-BR"/>
                        <a:t>Bloquear tampa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Sinalização visual (LED) do bloqueio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Tempo máx. de desbloqueio: 3 </a:t>
                      </a:r>
                      <a:r>
                        <a:rPr lang="pt-BR" dirty="0" err="1"/>
                        <a:t>s</a:t>
                      </a:r>
                      <a:r>
                        <a:rPr lang="pt-BR" dirty="0"/>
                        <a:t> após fim do ciclo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6498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89829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CaixaDeTexto 32">
            <a:extLst>
              <a:ext uri="{FF2B5EF4-FFF2-40B4-BE49-F238E27FC236}">
                <a16:creationId xmlns:a16="http://schemas.microsoft.com/office/drawing/2014/main" id="{05D60EF5-9524-1E8C-6322-059A6EF96F41}"/>
              </a:ext>
            </a:extLst>
          </p:cNvPr>
          <p:cNvSpPr txBox="1"/>
          <p:nvPr/>
        </p:nvSpPr>
        <p:spPr>
          <a:xfrm>
            <a:off x="271181" y="2012170"/>
            <a:ext cx="34943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prstClr val="black"/>
                </a:solidFill>
                <a:latin typeface="+mn-lt"/>
              </a:rPr>
              <a:t>Bloquear a tampa durante o funcionamento	</a:t>
            </a:r>
            <a:endParaRPr lang="pt-BR" b="0" dirty="0">
              <a:solidFill>
                <a:prstClr val="black"/>
              </a:solidFill>
              <a:latin typeface="+mn-lt"/>
            </a:endParaRP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FAFE468A-9422-2CD2-6C61-B862CDFAECC5}"/>
              </a:ext>
            </a:extLst>
          </p:cNvPr>
          <p:cNvSpPr txBox="1"/>
          <p:nvPr/>
        </p:nvSpPr>
        <p:spPr>
          <a:xfrm>
            <a:off x="4560150" y="1834084"/>
            <a:ext cx="37446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prstClr val="black"/>
                </a:solidFill>
                <a:latin typeface="+mn-lt"/>
              </a:rPr>
              <a:t>Percepção de segurança Proteção familiar</a:t>
            </a:r>
            <a:r>
              <a:rPr lang="pt-BR" sz="1600" b="0" dirty="0">
                <a:solidFill>
                  <a:prstClr val="black"/>
                </a:solidFill>
                <a:latin typeface="+mn-lt"/>
              </a:rPr>
              <a:t>	</a:t>
            </a:r>
            <a:endParaRPr lang="pt-BR" sz="1600" dirty="0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D74C97E7-BEDB-5095-46F6-B2E91FE269F7}"/>
              </a:ext>
            </a:extLst>
          </p:cNvPr>
          <p:cNvSpPr txBox="1"/>
          <p:nvPr/>
        </p:nvSpPr>
        <p:spPr>
          <a:xfrm>
            <a:off x="-267662" y="3246995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prstClr val="black"/>
                </a:solidFill>
                <a:latin typeface="+mn-lt"/>
              </a:rPr>
              <a:t>Controlar rotação do tambor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5ABC6D60-42B7-2077-C229-89FE6582639B}"/>
              </a:ext>
            </a:extLst>
          </p:cNvPr>
          <p:cNvSpPr txBox="1"/>
          <p:nvPr/>
        </p:nvSpPr>
        <p:spPr>
          <a:xfrm>
            <a:off x="4592806" y="3123885"/>
            <a:ext cx="46645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prstClr val="black"/>
                </a:solidFill>
                <a:latin typeface="+mn-lt"/>
              </a:rPr>
              <a:t>Proteção das roupas</a:t>
            </a:r>
            <a:br>
              <a:rPr lang="pt-BR" sz="1800" b="1" dirty="0">
                <a:solidFill>
                  <a:prstClr val="black"/>
                </a:solidFill>
                <a:latin typeface="+mn-lt"/>
              </a:rPr>
            </a:br>
            <a:r>
              <a:rPr lang="pt-BR" sz="1800" b="1" dirty="0">
                <a:solidFill>
                  <a:prstClr val="black"/>
                </a:solidFill>
                <a:latin typeface="+mn-lt"/>
              </a:rPr>
              <a:t>Confiança na durabilidade</a:t>
            </a:r>
          </a:p>
        </p:txBody>
      </p:sp>
      <p:graphicFrame>
        <p:nvGraphicFramePr>
          <p:cNvPr id="42" name="Tabela 41">
            <a:extLst>
              <a:ext uri="{FF2B5EF4-FFF2-40B4-BE49-F238E27FC236}">
                <a16:creationId xmlns:a16="http://schemas.microsoft.com/office/drawing/2014/main" id="{E45C16FE-9567-2EE7-7D55-119ECC851F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1529132"/>
              </p:ext>
            </p:extLst>
          </p:nvPr>
        </p:nvGraphicFramePr>
        <p:xfrm>
          <a:off x="510666" y="4215948"/>
          <a:ext cx="3793672" cy="822960"/>
        </p:xfrm>
        <a:graphic>
          <a:graphicData uri="http://schemas.openxmlformats.org/drawingml/2006/table">
            <a:tbl>
              <a:tblPr/>
              <a:tblGrid>
                <a:gridCol w="3793672">
                  <a:extLst>
                    <a:ext uri="{9D8B030D-6E8A-4147-A177-3AD203B41FA5}">
                      <a16:colId xmlns:a16="http://schemas.microsoft.com/office/drawing/2014/main" val="21660567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sz="2400" dirty="0"/>
                        <a:t>Dosar água e detergente automaticamente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7338898"/>
                  </a:ext>
                </a:extLst>
              </a:tr>
            </a:tbl>
          </a:graphicData>
        </a:graphic>
      </p:graphicFrame>
      <p:graphicFrame>
        <p:nvGraphicFramePr>
          <p:cNvPr id="43" name="Tabela 42">
            <a:extLst>
              <a:ext uri="{FF2B5EF4-FFF2-40B4-BE49-F238E27FC236}">
                <a16:creationId xmlns:a16="http://schemas.microsoft.com/office/drawing/2014/main" id="{EB442818-C298-3455-2BA5-D6975F9A3D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6296611"/>
              </p:ext>
            </p:extLst>
          </p:nvPr>
        </p:nvGraphicFramePr>
        <p:xfrm>
          <a:off x="4839664" y="4413686"/>
          <a:ext cx="6627472" cy="640080"/>
        </p:xfrm>
        <a:graphic>
          <a:graphicData uri="http://schemas.openxmlformats.org/drawingml/2006/table">
            <a:tbl>
              <a:tblPr/>
              <a:tblGrid>
                <a:gridCol w="6627472">
                  <a:extLst>
                    <a:ext uri="{9D8B030D-6E8A-4147-A177-3AD203B41FA5}">
                      <a16:colId xmlns:a16="http://schemas.microsoft.com/office/drawing/2014/main" val="676284450"/>
                    </a:ext>
                  </a:extLst>
                </a:gridCol>
              </a:tblGrid>
              <a:tr h="603658">
                <a:tc>
                  <a:txBody>
                    <a:bodyPr/>
                    <a:lstStyle/>
                    <a:p>
                      <a:pPr algn="l" rt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pt-BR" sz="1800" b="1" kern="1200" dirty="0">
                          <a:solidFill>
                            <a:prstClr val="black"/>
                          </a:solidFill>
                          <a:latin typeface="+mn-lt"/>
                          <a:ea typeface="ＭＳ Ｐゴシック" panose="020B0600070205080204" pitchFamily="34" charset="-128"/>
                          <a:cs typeface="+mn-cs"/>
                        </a:rPr>
                        <a:t>Confiança na eficiência</a:t>
                      </a:r>
                      <a:br>
                        <a:rPr lang="pt-BR" sz="1800" b="1" kern="1200" dirty="0">
                          <a:solidFill>
                            <a:prstClr val="black"/>
                          </a:solidFill>
                          <a:latin typeface="+mn-lt"/>
                          <a:ea typeface="ＭＳ Ｐゴシック" panose="020B0600070205080204" pitchFamily="34" charset="-128"/>
                          <a:cs typeface="+mn-cs"/>
                        </a:rPr>
                      </a:br>
                      <a:r>
                        <a:rPr lang="pt-BR" sz="1800" b="1" kern="1200" dirty="0">
                          <a:solidFill>
                            <a:prstClr val="black"/>
                          </a:solidFill>
                          <a:latin typeface="+mn-lt"/>
                          <a:ea typeface="ＭＳ Ｐゴシック" panose="020B0600070205080204" pitchFamily="34" charset="-128"/>
                          <a:cs typeface="+mn-cs"/>
                        </a:rPr>
                        <a:t>Tranquilidade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6071314"/>
                  </a:ext>
                </a:extLst>
              </a:tr>
            </a:tbl>
          </a:graphicData>
        </a:graphic>
      </p:graphicFrame>
      <p:sp>
        <p:nvSpPr>
          <p:cNvPr id="44" name="CaixaDeTexto 43">
            <a:extLst>
              <a:ext uri="{FF2B5EF4-FFF2-40B4-BE49-F238E27FC236}">
                <a16:creationId xmlns:a16="http://schemas.microsoft.com/office/drawing/2014/main" id="{45FE47DD-5B11-20FC-00C0-EB9C543B3814}"/>
              </a:ext>
            </a:extLst>
          </p:cNvPr>
          <p:cNvSpPr txBox="1"/>
          <p:nvPr/>
        </p:nvSpPr>
        <p:spPr>
          <a:xfrm>
            <a:off x="1088568" y="831422"/>
            <a:ext cx="2590800" cy="40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FUNÇÕES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68213A49-FEA9-2DD4-9318-92D446A09F04}"/>
              </a:ext>
            </a:extLst>
          </p:cNvPr>
          <p:cNvSpPr txBox="1"/>
          <p:nvPr/>
        </p:nvSpPr>
        <p:spPr>
          <a:xfrm>
            <a:off x="4419601" y="797940"/>
            <a:ext cx="49148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REQUISITOS NÃO FUNCIONAIS</a:t>
            </a:r>
          </a:p>
        </p:txBody>
      </p:sp>
    </p:spTree>
    <p:extLst>
      <p:ext uri="{BB962C8B-B14F-4D97-AF65-F5344CB8AC3E}">
        <p14:creationId xmlns:p14="http://schemas.microsoft.com/office/powerpoint/2010/main" val="18019863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995D6476-B7F7-B56E-B428-9952F40ADF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070420"/>
              </p:ext>
            </p:extLst>
          </p:nvPr>
        </p:nvGraphicFramePr>
        <p:xfrm>
          <a:off x="284957" y="2627222"/>
          <a:ext cx="8574086" cy="3566160"/>
        </p:xfrm>
        <a:graphic>
          <a:graphicData uri="http://schemas.openxmlformats.org/drawingml/2006/table">
            <a:tbl>
              <a:tblPr/>
              <a:tblGrid>
                <a:gridCol w="4287043">
                  <a:extLst>
                    <a:ext uri="{9D8B030D-6E8A-4147-A177-3AD203B41FA5}">
                      <a16:colId xmlns:a16="http://schemas.microsoft.com/office/drawing/2014/main" val="2550299418"/>
                    </a:ext>
                  </a:extLst>
                </a:gridCol>
                <a:gridCol w="4287043">
                  <a:extLst>
                    <a:ext uri="{9D8B030D-6E8A-4147-A177-3AD203B41FA5}">
                      <a16:colId xmlns:a16="http://schemas.microsoft.com/office/drawing/2014/main" val="34016971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pt-BR" sz="1800" b="1"/>
                        <a:t>Função Emocional</a:t>
                      </a:r>
                      <a:endParaRPr lang="pt-BR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Requisitos do Clientes (</a:t>
                      </a:r>
                      <a:r>
                        <a:rPr lang="pt-BR" sz="1800" dirty="0">
                          <a:solidFill>
                            <a:srgbClr val="0070C0"/>
                          </a:solidFill>
                        </a:rPr>
                        <a:t>Pelo Projetista</a:t>
                      </a:r>
                      <a:r>
                        <a:rPr lang="pt-BR" sz="1800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65267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pt-BR" sz="1800"/>
                        <a:t>Gerar confiança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/>
                        <a:t>Uso de materiais robustos e acabamentos de qualidade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067271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pt-BR" sz="1800"/>
                        <a:t>Estimular orgulho estético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/>
                        <a:t>Design com linhas elegantes, cores atrativas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92455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pt-BR" sz="1800"/>
                        <a:t>Criar conforto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/>
                        <a:t>Redução do nível de ruído, ciclos suaves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190905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pt-BR" sz="1800"/>
                        <a:t>Proporcionar autonomia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/>
                        <a:t>Interface intuitiva com programas personalizáveis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051550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pt-BR" sz="1800" dirty="0"/>
                        <a:t>Transmitir modernidade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Uso de tecnologias como touchscreen, conectividade via app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0561214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DEE06682-D7F4-172A-8B0A-02C90ACDD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966680"/>
            <a:ext cx="68580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Cada função emocional pode ser traduzida em elementos de design ou especificações: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0450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3">
            <a:extLst>
              <a:ext uri="{FF2B5EF4-FFF2-40B4-BE49-F238E27FC236}">
                <a16:creationId xmlns:a16="http://schemas.microsoft.com/office/drawing/2014/main" id="{148458C2-B133-AC48-ADA1-E62BEFA4D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75" y="1749425"/>
            <a:ext cx="8856663" cy="372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</a:pPr>
            <a:r>
              <a:rPr lang="pt-BR" altLang="pt-BR">
                <a:sym typeface="Webdings" pitchFamily="2" charset="2"/>
              </a:rPr>
              <a:t>Analisar as especificações-meta do produto</a:t>
            </a:r>
            <a:endParaRPr lang="pt-BR" altLang="pt-BR" sz="2000"/>
          </a:p>
          <a:p>
            <a:pPr lvl="1">
              <a:lnSpc>
                <a:spcPct val="80000"/>
              </a:lnSpc>
            </a:pPr>
            <a:r>
              <a:rPr lang="pt-BR" altLang="pt-BR" sz="2000"/>
              <a:t>As especificações contém requisitos que possam gerar função (verbo + substantivo)?</a:t>
            </a:r>
          </a:p>
          <a:p>
            <a:pPr>
              <a:lnSpc>
                <a:spcPct val="120000"/>
              </a:lnSpc>
            </a:pPr>
            <a:r>
              <a:rPr lang="pt-BR" altLang="pt-BR"/>
              <a:t>Identificar as funções do produto;</a:t>
            </a:r>
          </a:p>
          <a:p>
            <a:pPr>
              <a:lnSpc>
                <a:spcPct val="120000"/>
              </a:lnSpc>
            </a:pPr>
            <a:r>
              <a:rPr lang="pt-BR" altLang="pt-BR"/>
              <a:t>Estabelecer a função global;</a:t>
            </a:r>
          </a:p>
          <a:p>
            <a:pPr>
              <a:lnSpc>
                <a:spcPct val="120000"/>
              </a:lnSpc>
            </a:pPr>
            <a:r>
              <a:rPr lang="pt-BR" altLang="pt-BR"/>
              <a:t>Estabelecer estruturas funcionais alternativas;</a:t>
            </a:r>
          </a:p>
          <a:p>
            <a:pPr>
              <a:lnSpc>
                <a:spcPct val="120000"/>
              </a:lnSpc>
            </a:pPr>
            <a:r>
              <a:rPr lang="pt-BR" altLang="pt-BR"/>
              <a:t>Selecionar a estrutura funcional.</a:t>
            </a:r>
          </a:p>
          <a:p>
            <a:pPr>
              <a:lnSpc>
                <a:spcPct val="80000"/>
              </a:lnSpc>
              <a:buFontTx/>
              <a:buNone/>
            </a:pPr>
            <a:endParaRPr lang="pt-BR" altLang="pt-BR" sz="2000"/>
          </a:p>
        </p:txBody>
      </p:sp>
      <p:sp>
        <p:nvSpPr>
          <p:cNvPr id="30722" name="CaixaDeTexto 2">
            <a:extLst>
              <a:ext uri="{FF2B5EF4-FFF2-40B4-BE49-F238E27FC236}">
                <a16:creationId xmlns:a16="http://schemas.microsoft.com/office/drawing/2014/main" id="{6A504498-4F4B-3D42-BFD7-9742F1E07D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3" y="361950"/>
            <a:ext cx="728345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/>
              <a:t>MODELAR FUNCIONALMENTE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F017E1CA-2FBC-8346-849C-7957AA29E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1138"/>
            <a:ext cx="7388225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>
                <a:solidFill>
                  <a:srgbClr val="000096"/>
                </a:solidFill>
              </a:rPr>
              <a:t>Tarefas da atividade: Modelar funcionalmente o produto</a:t>
            </a:r>
          </a:p>
        </p:txBody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3C46CF88-C5C9-9942-91BC-7373F77E6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75" y="887413"/>
            <a:ext cx="8856663" cy="574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</a:pPr>
            <a:r>
              <a:rPr lang="pt-BR" altLang="pt-BR">
                <a:sym typeface="Webdings" pitchFamily="2" charset="2"/>
              </a:rPr>
              <a:t>Analisar as especificações-meta do produto</a:t>
            </a:r>
            <a:endParaRPr lang="pt-BR" altLang="pt-BR" sz="2000"/>
          </a:p>
          <a:p>
            <a:pPr>
              <a:lnSpc>
                <a:spcPct val="120000"/>
              </a:lnSpc>
            </a:pPr>
            <a:r>
              <a:rPr lang="pt-BR" altLang="pt-BR"/>
              <a:t>Identificar as funções do produto;</a:t>
            </a:r>
          </a:p>
          <a:p>
            <a:pPr lvl="1">
              <a:lnSpc>
                <a:spcPct val="90000"/>
              </a:lnSpc>
            </a:pPr>
            <a:r>
              <a:rPr lang="pt-BR" altLang="pt-BR" sz="2000"/>
              <a:t>Funções técnicas</a:t>
            </a:r>
          </a:p>
          <a:p>
            <a:pPr lvl="2">
              <a:lnSpc>
                <a:spcPct val="90000"/>
              </a:lnSpc>
            </a:pPr>
            <a:r>
              <a:rPr lang="pt-BR" altLang="pt-BR"/>
              <a:t>Funções estruturais</a:t>
            </a:r>
          </a:p>
          <a:p>
            <a:pPr lvl="2">
              <a:lnSpc>
                <a:spcPct val="90000"/>
              </a:lnSpc>
            </a:pPr>
            <a:r>
              <a:rPr lang="pt-BR" altLang="pt-BR"/>
              <a:t>Funções de transformação</a:t>
            </a:r>
          </a:p>
          <a:p>
            <a:pPr lvl="2">
              <a:lnSpc>
                <a:spcPct val="90000"/>
              </a:lnSpc>
            </a:pPr>
            <a:r>
              <a:rPr lang="pt-BR" altLang="pt-BR"/>
              <a:t>Funções adicionais</a:t>
            </a:r>
          </a:p>
          <a:p>
            <a:pPr lvl="1">
              <a:lnSpc>
                <a:spcPct val="90000"/>
              </a:lnSpc>
            </a:pPr>
            <a:r>
              <a:rPr lang="pt-BR" altLang="pt-BR" sz="2000"/>
              <a:t>Funções interativas</a:t>
            </a:r>
          </a:p>
          <a:p>
            <a:pPr lvl="2">
              <a:lnSpc>
                <a:spcPct val="90000"/>
              </a:lnSpc>
            </a:pPr>
            <a:r>
              <a:rPr lang="pt-BR" altLang="pt-BR"/>
              <a:t>Funções ergonômicas</a:t>
            </a:r>
          </a:p>
          <a:p>
            <a:pPr lvl="2">
              <a:lnSpc>
                <a:spcPct val="90000"/>
              </a:lnSpc>
            </a:pPr>
            <a:r>
              <a:rPr lang="pt-BR" altLang="pt-BR"/>
              <a:t>Funções sintáticas</a:t>
            </a:r>
          </a:p>
          <a:p>
            <a:pPr lvl="2">
              <a:lnSpc>
                <a:spcPct val="90000"/>
              </a:lnSpc>
            </a:pPr>
            <a:r>
              <a:rPr lang="pt-BR" altLang="pt-BR"/>
              <a:t>Funções semânticas</a:t>
            </a:r>
          </a:p>
          <a:p>
            <a:pPr>
              <a:lnSpc>
                <a:spcPct val="120000"/>
              </a:lnSpc>
            </a:pPr>
            <a:r>
              <a:rPr lang="pt-BR" altLang="pt-BR"/>
              <a:t>Estabelecer a função global;</a:t>
            </a:r>
          </a:p>
          <a:p>
            <a:pPr>
              <a:lnSpc>
                <a:spcPct val="120000"/>
              </a:lnSpc>
            </a:pPr>
            <a:r>
              <a:rPr lang="pt-BR" altLang="pt-BR"/>
              <a:t>Estabelecer estruturas funcionais alternativas;</a:t>
            </a:r>
          </a:p>
          <a:p>
            <a:pPr>
              <a:lnSpc>
                <a:spcPct val="120000"/>
              </a:lnSpc>
            </a:pPr>
            <a:r>
              <a:rPr lang="pt-BR" altLang="pt-BR"/>
              <a:t>Selecionar a estrutura funcional.</a:t>
            </a:r>
            <a:endParaRPr lang="pt-BR" altLang="pt-BR" sz="2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26E5F390-6D16-2843-ADC7-11987FB06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" y="38100"/>
            <a:ext cx="7388225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>
                <a:solidFill>
                  <a:srgbClr val="000096"/>
                </a:solidFill>
              </a:rPr>
              <a:t>Tarefas da atividade: Modelar funcionalmente o produto</a:t>
            </a:r>
            <a:r>
              <a:rPr lang="pt-BR" altLang="pt-BR">
                <a:solidFill>
                  <a:srgbClr val="0033CC"/>
                </a:solidFill>
                <a:latin typeface="Comic Sans MS" panose="030F0902030302020204" pitchFamily="66" charset="0"/>
              </a:rPr>
              <a:t> </a:t>
            </a:r>
            <a:r>
              <a:rPr lang="pt-BR" altLang="pt-BR" sz="2000">
                <a:solidFill>
                  <a:srgbClr val="000096"/>
                </a:solidFill>
              </a:rPr>
              <a:t>4/4</a:t>
            </a:r>
          </a:p>
        </p:txBody>
      </p:sp>
      <p:sp>
        <p:nvSpPr>
          <p:cNvPr id="32770" name="Rectangle 3">
            <a:extLst>
              <a:ext uri="{FF2B5EF4-FFF2-40B4-BE49-F238E27FC236}">
                <a16:creationId xmlns:a16="http://schemas.microsoft.com/office/drawing/2014/main" id="{5722631C-055F-8041-AA7F-E8F37F857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111250"/>
            <a:ext cx="8856662" cy="574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</a:pPr>
            <a:r>
              <a:rPr lang="pt-BR" altLang="pt-BR">
                <a:sym typeface="Webdings" pitchFamily="2" charset="2"/>
              </a:rPr>
              <a:t>Analisar as especificações-meta do produto</a:t>
            </a:r>
            <a:endParaRPr lang="pt-BR" altLang="pt-BR" sz="2000"/>
          </a:p>
          <a:p>
            <a:pPr>
              <a:lnSpc>
                <a:spcPct val="120000"/>
              </a:lnSpc>
            </a:pPr>
            <a:r>
              <a:rPr lang="pt-BR" altLang="pt-BR"/>
              <a:t>Identificar as funções do produto;</a:t>
            </a:r>
          </a:p>
          <a:p>
            <a:pPr>
              <a:lnSpc>
                <a:spcPct val="120000"/>
              </a:lnSpc>
            </a:pPr>
            <a:r>
              <a:rPr lang="pt-BR" altLang="pt-BR"/>
              <a:t>Estabelecer a função global;</a:t>
            </a:r>
          </a:p>
          <a:p>
            <a:pPr lvl="1">
              <a:lnSpc>
                <a:spcPct val="120000"/>
              </a:lnSpc>
            </a:pPr>
            <a:r>
              <a:rPr lang="pt-BR" altLang="pt-BR" sz="2000"/>
              <a:t>Todos os produtos possuem uma função mais importante</a:t>
            </a:r>
          </a:p>
          <a:p>
            <a:pPr lvl="1">
              <a:lnSpc>
                <a:spcPct val="120000"/>
              </a:lnSpc>
            </a:pPr>
            <a:r>
              <a:rPr lang="pt-BR" altLang="pt-BR" sz="2000"/>
              <a:t>Fornece, de forma condensada, o que se deve esperar do produto</a:t>
            </a:r>
          </a:p>
          <a:p>
            <a:pPr>
              <a:lnSpc>
                <a:spcPct val="120000"/>
              </a:lnSpc>
            </a:pPr>
            <a:r>
              <a:rPr lang="pt-BR" altLang="pt-BR"/>
              <a:t>Estabelecer estruturas funcionais alternativas;</a:t>
            </a:r>
          </a:p>
          <a:p>
            <a:pPr>
              <a:lnSpc>
                <a:spcPct val="120000"/>
              </a:lnSpc>
            </a:pPr>
            <a:r>
              <a:rPr lang="pt-BR" altLang="pt-BR"/>
              <a:t>Selecionar a estrutura funcional.</a:t>
            </a:r>
            <a:endParaRPr lang="pt-BR" altLang="pt-BR" sz="2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EEEBDB31-8B57-054B-A54E-639E3A93CE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" y="28575"/>
            <a:ext cx="7388225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400" b="1">
                <a:solidFill>
                  <a:srgbClr val="000096"/>
                </a:solidFill>
              </a:rPr>
              <a:t>ELABORAÇÃO DA FUNÇÃO GLOBAL (OU TOTAL) A PARTIR DAS ESPECIFICAÇÕES-META</a:t>
            </a:r>
          </a:p>
        </p:txBody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89DBB9E7-0432-E54D-A6E3-0553CC7E54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288" y="887413"/>
            <a:ext cx="9002712" cy="564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pt-BR" altLang="pt-BR" sz="2400"/>
              <a:t>Localizar, dentre as especificações-meta, aquelas que dizem </a:t>
            </a:r>
            <a:r>
              <a:rPr lang="pt-BR" altLang="pt-BR" sz="2400">
                <a:solidFill>
                  <a:srgbClr val="FF0000"/>
                </a:solidFill>
              </a:rPr>
              <a:t>respeito às funções do produto.</a:t>
            </a:r>
          </a:p>
          <a:p>
            <a:r>
              <a:rPr lang="pt-BR" altLang="pt-BR" sz="2400"/>
              <a:t>Detectar, nessas especificações funcionais, as principais entradas e saídas do sistema em termos de fluxos de energia, material e sinal.</a:t>
            </a:r>
          </a:p>
          <a:p>
            <a:r>
              <a:rPr lang="pt-BR" altLang="pt-BR" sz="2400"/>
              <a:t>Estabelecer os estados das principais entradas e saídas listadas no item anterior.</a:t>
            </a:r>
          </a:p>
          <a:p>
            <a:r>
              <a:rPr lang="pt-BR" altLang="pt-BR" sz="2400"/>
              <a:t>Detectar, dentre os fluxos listados, quais os fluxos principais de entrada e de saída do sistema.</a:t>
            </a:r>
          </a:p>
          <a:p>
            <a:r>
              <a:rPr lang="pt-BR" altLang="pt-BR" sz="2400"/>
              <a:t>Do relacionamento entre os fluxos principais de entrada e de saída do sistema (e de seus estados), tentar expressar a função total em termos de um par verbo+substantivo.</a:t>
            </a:r>
          </a:p>
          <a:p>
            <a:r>
              <a:rPr lang="pt-BR" altLang="pt-BR" sz="2400"/>
              <a:t>Representar os dados levantados nos itens acima na forma de um diagrama de blocos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BBE39E4D-C839-4C48-90BA-BF51FECB81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8" y="204788"/>
            <a:ext cx="7867650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400">
                <a:solidFill>
                  <a:srgbClr val="000096"/>
                </a:solidFill>
              </a:rPr>
              <a:t>Representação da Função total e seu desdobramento</a:t>
            </a:r>
          </a:p>
        </p:txBody>
      </p:sp>
      <p:sp>
        <p:nvSpPr>
          <p:cNvPr id="34818" name="Rectangle 5">
            <a:extLst>
              <a:ext uri="{FF2B5EF4-FFF2-40B4-BE49-F238E27FC236}">
                <a16:creationId xmlns:a16="http://schemas.microsoft.com/office/drawing/2014/main" id="{E02A1B65-C0C3-6846-A0C0-B6DFA686B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43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graphicFrame>
        <p:nvGraphicFramePr>
          <p:cNvPr id="34819" name="Object 2">
            <a:extLst>
              <a:ext uri="{FF2B5EF4-FFF2-40B4-BE49-F238E27FC236}">
                <a16:creationId xmlns:a16="http://schemas.microsoft.com/office/drawing/2014/main" id="{CE77FBAE-96BA-AE45-A413-711AB43B51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6925" y="1065213"/>
          <a:ext cx="6810375" cy="429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2" imgW="5270500" imgH="3327400" progId="Word.Picture.8">
                  <p:embed/>
                </p:oleObj>
              </mc:Choice>
              <mc:Fallback>
                <p:oleObj name="Figura" r:id="rId2" imgW="5270500" imgH="3327400" progId="Word.Picture.8">
                  <p:embed/>
                  <p:pic>
                    <p:nvPicPr>
                      <p:cNvPr id="34819" name="Object 2">
                        <a:extLst>
                          <a:ext uri="{FF2B5EF4-FFF2-40B4-BE49-F238E27FC236}">
                            <a16:creationId xmlns:a16="http://schemas.microsoft.com/office/drawing/2014/main" id="{CE77FBAE-96BA-AE45-A413-711AB43B51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925" y="1065213"/>
                        <a:ext cx="6810375" cy="429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9">
            <a:extLst>
              <a:ext uri="{FF2B5EF4-FFF2-40B4-BE49-F238E27FC236}">
                <a16:creationId xmlns:a16="http://schemas.microsoft.com/office/drawing/2014/main" id="{F3E002C4-9DE8-224A-A997-1EF66606BD93}"/>
              </a:ext>
            </a:extLst>
          </p:cNvPr>
          <p:cNvGrpSpPr>
            <a:grpSpLocks/>
          </p:cNvGrpSpPr>
          <p:nvPr/>
        </p:nvGrpSpPr>
        <p:grpSpPr bwMode="auto">
          <a:xfrm>
            <a:off x="1123950" y="2682875"/>
            <a:ext cx="7840663" cy="3833813"/>
            <a:chOff x="708" y="1690"/>
            <a:chExt cx="4939" cy="2415"/>
          </a:xfrm>
        </p:grpSpPr>
        <p:sp>
          <p:nvSpPr>
            <p:cNvPr id="34821" name="Rectangle 6">
              <a:extLst>
                <a:ext uri="{FF2B5EF4-FFF2-40B4-BE49-F238E27FC236}">
                  <a16:creationId xmlns:a16="http://schemas.microsoft.com/office/drawing/2014/main" id="{95E8EC7C-585A-6444-AF72-F38C5DAEF4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" y="1690"/>
              <a:ext cx="3815" cy="186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4822" name="AutoShape 8">
              <a:extLst>
                <a:ext uri="{FF2B5EF4-FFF2-40B4-BE49-F238E27FC236}">
                  <a16:creationId xmlns:a16="http://schemas.microsoft.com/office/drawing/2014/main" id="{3747F387-7E82-C944-9656-C696B8216B5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8704195">
              <a:off x="4001" y="3283"/>
              <a:ext cx="918" cy="369"/>
            </a:xfrm>
            <a:prstGeom prst="rightArrow">
              <a:avLst>
                <a:gd name="adj1" fmla="val 50000"/>
                <a:gd name="adj2" fmla="val 62195"/>
              </a:avLst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4823" name="Text Box 7">
              <a:extLst>
                <a:ext uri="{FF2B5EF4-FFF2-40B4-BE49-F238E27FC236}">
                  <a16:creationId xmlns:a16="http://schemas.microsoft.com/office/drawing/2014/main" id="{B4943019-F6D1-F742-B74F-DFBECD33E1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3" y="3663"/>
              <a:ext cx="1454" cy="442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50000"/>
                </a:spcBef>
                <a:buFontTx/>
                <a:buNone/>
              </a:pPr>
              <a:r>
                <a:rPr lang="pt-BR" altLang="pt-BR" sz="2000"/>
                <a:t>Funções de menor complexidade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1" name="Picture 1">
            <a:extLst>
              <a:ext uri="{FF2B5EF4-FFF2-40B4-BE49-F238E27FC236}">
                <a16:creationId xmlns:a16="http://schemas.microsoft.com/office/drawing/2014/main" id="{545FAC56-44E4-194D-9320-AA6DBC0442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8900"/>
            <a:ext cx="9144000" cy="667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5" name="Picture 1">
            <a:extLst>
              <a:ext uri="{FF2B5EF4-FFF2-40B4-BE49-F238E27FC236}">
                <a16:creationId xmlns:a16="http://schemas.microsoft.com/office/drawing/2014/main" id="{918A7209-3AFD-F343-86DA-14F41DFB13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700"/>
            <a:ext cx="9144000" cy="682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40CBC972-2326-F54F-95F4-B212F70D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788" y="1054100"/>
            <a:ext cx="7388225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400">
                <a:solidFill>
                  <a:srgbClr val="000096"/>
                </a:solidFill>
              </a:rPr>
              <a:t>Exemplo: Máquina para lavar roupas</a:t>
            </a:r>
          </a:p>
        </p:txBody>
      </p:sp>
      <p:sp>
        <p:nvSpPr>
          <p:cNvPr id="37890" name="Rectangle 5">
            <a:extLst>
              <a:ext uri="{FF2B5EF4-FFF2-40B4-BE49-F238E27FC236}">
                <a16:creationId xmlns:a16="http://schemas.microsoft.com/office/drawing/2014/main" id="{E03448F1-5E08-7747-8A4A-06AD125B4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813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graphicFrame>
        <p:nvGraphicFramePr>
          <p:cNvPr id="37891" name="Object 2">
            <a:extLst>
              <a:ext uri="{FF2B5EF4-FFF2-40B4-BE49-F238E27FC236}">
                <a16:creationId xmlns:a16="http://schemas.microsoft.com/office/drawing/2014/main" id="{1B30D0BF-3123-5746-A123-3BB585F201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2147888"/>
          <a:ext cx="8936038" cy="2373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2" imgW="5130800" imgH="1358900" progId="Word.Picture.8">
                  <p:embed/>
                </p:oleObj>
              </mc:Choice>
              <mc:Fallback>
                <p:oleObj name="Figura" r:id="rId2" imgW="5130800" imgH="1358900" progId="Word.Picture.8">
                  <p:embed/>
                  <p:pic>
                    <p:nvPicPr>
                      <p:cNvPr id="37891" name="Object 2">
                        <a:extLst>
                          <a:ext uri="{FF2B5EF4-FFF2-40B4-BE49-F238E27FC236}">
                            <a16:creationId xmlns:a16="http://schemas.microsoft.com/office/drawing/2014/main" id="{1B30D0BF-3123-5746-A123-3BB585F201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147888"/>
                        <a:ext cx="8936038" cy="2373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3">
            <a:extLst>
              <a:ext uri="{FF2B5EF4-FFF2-40B4-BE49-F238E27FC236}">
                <a16:creationId xmlns:a16="http://schemas.microsoft.com/office/drawing/2014/main" id="{535ED135-CC6F-1947-A387-ABC38E7D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413" y="3370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graphicFrame>
        <p:nvGraphicFramePr>
          <p:cNvPr id="38914" name="Object 2">
            <a:extLst>
              <a:ext uri="{FF2B5EF4-FFF2-40B4-BE49-F238E27FC236}">
                <a16:creationId xmlns:a16="http://schemas.microsoft.com/office/drawing/2014/main" id="{E0FDF877-711C-0F43-8E08-F054D32FF6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28713" y="1489075"/>
          <a:ext cx="6694487" cy="190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2" imgW="5461000" imgH="1549400" progId="Word.Picture.8">
                  <p:embed/>
                </p:oleObj>
              </mc:Choice>
              <mc:Fallback>
                <p:oleObj name="Figura" r:id="rId2" imgW="5461000" imgH="1549400" progId="Word.Picture.8">
                  <p:embed/>
                  <p:pic>
                    <p:nvPicPr>
                      <p:cNvPr id="38914" name="Object 2">
                        <a:extLst>
                          <a:ext uri="{FF2B5EF4-FFF2-40B4-BE49-F238E27FC236}">
                            <a16:creationId xmlns:a16="http://schemas.microsoft.com/office/drawing/2014/main" id="{E0FDF877-711C-0F43-8E08-F054D32FF6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8713" y="1489075"/>
                        <a:ext cx="6694487" cy="190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5" name="Rectangle 8">
            <a:extLst>
              <a:ext uri="{FF2B5EF4-FFF2-40B4-BE49-F238E27FC236}">
                <a16:creationId xmlns:a16="http://schemas.microsoft.com/office/drawing/2014/main" id="{08D033F7-18C7-AF45-8D29-91D3639BE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413" y="31750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DB26ABA3-13E0-5A43-9B9F-5716106467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4445285"/>
              </p:ext>
            </p:extLst>
          </p:nvPr>
        </p:nvGraphicFramePr>
        <p:xfrm>
          <a:off x="12247" y="3541713"/>
          <a:ext cx="9369425" cy="2519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4" imgW="34899600" imgH="8775700" progId="Word.Picture.8">
                  <p:embed/>
                </p:oleObj>
              </mc:Choice>
              <mc:Fallback>
                <p:oleObj name="Figura" r:id="rId4" imgW="34899600" imgH="8775700" progId="Word.Picture.8">
                  <p:embed/>
                  <p:pic>
                    <p:nvPicPr>
                      <p:cNvPr id="5" name="Object 3">
                        <a:extLst>
                          <a:ext uri="{FF2B5EF4-FFF2-40B4-BE49-F238E27FC236}">
                            <a16:creationId xmlns:a16="http://schemas.microsoft.com/office/drawing/2014/main" id="{DB26ABA3-13E0-5A43-9B9F-5716106467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712" r="52"/>
                      <a:stretch>
                        <a:fillRect/>
                      </a:stretch>
                    </p:blipFill>
                    <p:spPr bwMode="auto">
                      <a:xfrm>
                        <a:off x="12247" y="3541713"/>
                        <a:ext cx="9369425" cy="2519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7" name="Rectangle 2">
            <a:extLst>
              <a:ext uri="{FF2B5EF4-FFF2-40B4-BE49-F238E27FC236}">
                <a16:creationId xmlns:a16="http://schemas.microsoft.com/office/drawing/2014/main" id="{3405FCB9-DB89-BF4D-B03F-A99CA0DAEE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163" y="831850"/>
            <a:ext cx="7388225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400">
                <a:solidFill>
                  <a:srgbClr val="000096"/>
                </a:solidFill>
              </a:rPr>
              <a:t>Exemplo: Máquina para lavar roupas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3">
            <a:extLst>
              <a:ext uri="{FF2B5EF4-FFF2-40B4-BE49-F238E27FC236}">
                <a16:creationId xmlns:a16="http://schemas.microsoft.com/office/drawing/2014/main" id="{02B02E5C-960C-244C-9DE5-30BA82727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813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39938" name="Rectangle 4">
            <a:extLst>
              <a:ext uri="{FF2B5EF4-FFF2-40B4-BE49-F238E27FC236}">
                <a16:creationId xmlns:a16="http://schemas.microsoft.com/office/drawing/2014/main" id="{16ADECA9-5632-1B42-8725-AC12910E0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575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39939" name="Rectangle 9">
            <a:extLst>
              <a:ext uri="{FF2B5EF4-FFF2-40B4-BE49-F238E27FC236}">
                <a16:creationId xmlns:a16="http://schemas.microsoft.com/office/drawing/2014/main" id="{1402ECF6-5710-6249-A364-FFB459D1A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336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graphicFrame>
        <p:nvGraphicFramePr>
          <p:cNvPr id="39940" name="Object 2">
            <a:extLst>
              <a:ext uri="{FF2B5EF4-FFF2-40B4-BE49-F238E27FC236}">
                <a16:creationId xmlns:a16="http://schemas.microsoft.com/office/drawing/2014/main" id="{11D7A0CA-C415-5A4D-8DFD-DCE75897C3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1879600"/>
          <a:ext cx="9144000" cy="328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2" imgW="39649400" imgH="14452600" progId="Word.Picture.8">
                  <p:embed/>
                </p:oleObj>
              </mc:Choice>
              <mc:Fallback>
                <p:oleObj name="Figura" r:id="rId2" imgW="39649400" imgH="14452600" progId="Word.Picture.8">
                  <p:embed/>
                  <p:pic>
                    <p:nvPicPr>
                      <p:cNvPr id="39940" name="Object 2">
                        <a:extLst>
                          <a:ext uri="{FF2B5EF4-FFF2-40B4-BE49-F238E27FC236}">
                            <a16:creationId xmlns:a16="http://schemas.microsoft.com/office/drawing/2014/main" id="{11D7A0CA-C415-5A4D-8DFD-DCE75897C3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879600"/>
                        <a:ext cx="9144000" cy="328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0">
            <a:extLst>
              <a:ext uri="{FF2B5EF4-FFF2-40B4-BE49-F238E27FC236}">
                <a16:creationId xmlns:a16="http://schemas.microsoft.com/office/drawing/2014/main" id="{ADFB7BDF-9F35-6345-BA9E-B8790DA85F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2746" y="5839924"/>
            <a:ext cx="5680075" cy="457200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2000">
                <a:solidFill>
                  <a:schemeClr val="bg1"/>
                </a:solidFill>
              </a:rPr>
              <a:t>Ver também Método FAST, quadro 7.2</a:t>
            </a:r>
          </a:p>
        </p:txBody>
      </p:sp>
      <p:sp>
        <p:nvSpPr>
          <p:cNvPr id="39942" name="Rectangle 2">
            <a:extLst>
              <a:ext uri="{FF2B5EF4-FFF2-40B4-BE49-F238E27FC236}">
                <a16:creationId xmlns:a16="http://schemas.microsoft.com/office/drawing/2014/main" id="{CE65812F-5AAB-2044-920F-F8E5F61D36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788" y="1054100"/>
            <a:ext cx="7388225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400">
                <a:solidFill>
                  <a:srgbClr val="000096"/>
                </a:solidFill>
              </a:rPr>
              <a:t>Exemplo: Máquina para lavar roupas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18DABBE3-4F63-304A-8870-5E1B424375E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7388225" cy="706438"/>
          </a:xfrm>
        </p:spPr>
        <p:txBody>
          <a:bodyPr/>
          <a:lstStyle/>
          <a:p>
            <a:r>
              <a:rPr lang="pt-BR" dirty="0"/>
              <a:t>Diagrama FAST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91B011E-2251-1697-5DD5-0AEED7BD9BC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946150"/>
            <a:ext cx="8034338" cy="5238750"/>
          </a:xfrm>
        </p:spPr>
        <p:txBody>
          <a:bodyPr/>
          <a:lstStyle/>
          <a:p>
            <a:r>
              <a:rPr lang="pt-BR" sz="2000" dirty="0"/>
              <a:t>O </a:t>
            </a:r>
            <a:r>
              <a:rPr lang="pt-BR" sz="2000" b="1" dirty="0"/>
              <a:t>Diagrama FAST (</a:t>
            </a:r>
            <a:r>
              <a:rPr lang="pt-BR" sz="2000" b="1" i="1" dirty="0" err="1"/>
              <a:t>Function</a:t>
            </a:r>
            <a:r>
              <a:rPr lang="pt-BR" sz="2000" b="1" i="1" dirty="0"/>
              <a:t> </a:t>
            </a:r>
            <a:r>
              <a:rPr lang="pt-BR" sz="2000" b="1" i="1" dirty="0" err="1"/>
              <a:t>Analysis</a:t>
            </a:r>
            <a:r>
              <a:rPr lang="pt-BR" sz="2000" b="1" i="1" dirty="0"/>
              <a:t> System </a:t>
            </a:r>
            <a:r>
              <a:rPr lang="pt-BR" sz="2000" b="1" i="1" dirty="0" err="1"/>
              <a:t>Technique</a:t>
            </a:r>
            <a:r>
              <a:rPr lang="pt-BR" sz="2000" b="1" dirty="0"/>
              <a:t>)</a:t>
            </a:r>
            <a:r>
              <a:rPr lang="pt-BR" sz="2000" dirty="0"/>
              <a:t> é uma ferramenta de engenharia de valor usada para organizar e visualizar funções de um sistema ou produto, mostrando </a:t>
            </a:r>
            <a:r>
              <a:rPr lang="pt-BR" sz="2000" b="1" dirty="0"/>
              <a:t>como</a:t>
            </a:r>
            <a:r>
              <a:rPr lang="pt-BR" sz="2000" dirty="0"/>
              <a:t> elas são realizadas e </a:t>
            </a:r>
            <a:r>
              <a:rPr lang="pt-BR" sz="2000" b="1" dirty="0"/>
              <a:t>por que</a:t>
            </a:r>
            <a:r>
              <a:rPr lang="pt-BR" sz="2000" dirty="0"/>
              <a:t> elas existem. Ele ajuda na análise funcional e na busca </a:t>
            </a:r>
            <a:r>
              <a:rPr lang="pt-BR" sz="2000" dirty="0" err="1"/>
              <a:t>de</a:t>
            </a:r>
            <a:r>
              <a:rPr lang="pt-BR" sz="2000" b="1" dirty="0" err="1"/>
              <a:t>Como</a:t>
            </a:r>
            <a:r>
              <a:rPr lang="pt-BR" sz="2000" b="1" dirty="0"/>
              <a:t> funciona o Diagrama FAST?</a:t>
            </a:r>
          </a:p>
          <a:p>
            <a:endParaRPr lang="pt-BR" sz="2000" b="1" dirty="0"/>
          </a:p>
          <a:p>
            <a:r>
              <a:rPr lang="pt-BR" sz="1800" b="1" dirty="0"/>
              <a:t>Por que?</a:t>
            </a:r>
            <a:r>
              <a:rPr lang="pt-BR" sz="1800" dirty="0"/>
              <a:t> — Motivações ou justificativas da função.</a:t>
            </a:r>
          </a:p>
          <a:p>
            <a:r>
              <a:rPr lang="pt-BR" sz="1800" b="1" dirty="0"/>
              <a:t>Como?</a:t>
            </a:r>
            <a:r>
              <a:rPr lang="pt-BR" sz="1800" dirty="0"/>
              <a:t> — Ações que realizam a função.</a:t>
            </a:r>
          </a:p>
          <a:p>
            <a:r>
              <a:rPr lang="pt-BR" sz="1800" b="1" dirty="0"/>
              <a:t>Quando?</a:t>
            </a:r>
            <a:r>
              <a:rPr lang="pt-BR" sz="1800" dirty="0"/>
              <a:t> — Sequência lógica (não obrigatório, mas possível).</a:t>
            </a:r>
          </a:p>
          <a:p>
            <a:r>
              <a:rPr lang="pt-BR" sz="1800" b="1" dirty="0"/>
              <a:t>Funções básicas</a:t>
            </a:r>
            <a:r>
              <a:rPr lang="pt-BR" sz="1800" dirty="0"/>
              <a:t> — Funções essenciais para o funcionamento.</a:t>
            </a:r>
          </a:p>
          <a:p>
            <a:r>
              <a:rPr lang="pt-BR" sz="1800" b="1" dirty="0"/>
              <a:t>Funções secundárias</a:t>
            </a:r>
            <a:r>
              <a:rPr lang="pt-BR" sz="1800" dirty="0"/>
              <a:t> — Funções que agregam valor, mas não são indispensáveis.</a:t>
            </a:r>
          </a:p>
        </p:txBody>
      </p:sp>
    </p:spTree>
    <p:extLst>
      <p:ext uri="{BB962C8B-B14F-4D97-AF65-F5344CB8AC3E}">
        <p14:creationId xmlns:p14="http://schemas.microsoft.com/office/powerpoint/2010/main" val="20565794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7EF731-5401-B346-CCF7-02F576D03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BA40863-C6CE-F268-A415-BEB02520B041}"/>
              </a:ext>
            </a:extLst>
          </p:cNvPr>
          <p:cNvSpPr txBox="1"/>
          <p:nvPr/>
        </p:nvSpPr>
        <p:spPr>
          <a:xfrm>
            <a:off x="533486" y="2754043"/>
            <a:ext cx="1177159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800" b="1" dirty="0"/>
              <a:t>FUNÇÃO GLOBAL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A4E6ECE-6D7E-A3BB-613C-D89913DEDEA3}"/>
              </a:ext>
            </a:extLst>
          </p:cNvPr>
          <p:cNvSpPr txBox="1"/>
          <p:nvPr/>
        </p:nvSpPr>
        <p:spPr>
          <a:xfrm>
            <a:off x="3919743" y="1434545"/>
            <a:ext cx="1177159" cy="64633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800" dirty="0"/>
              <a:t>Outras Funções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134CAE6-812C-C2E7-11EC-B069B8742352}"/>
              </a:ext>
            </a:extLst>
          </p:cNvPr>
          <p:cNvSpPr txBox="1"/>
          <p:nvPr/>
        </p:nvSpPr>
        <p:spPr>
          <a:xfrm>
            <a:off x="2065708" y="2782669"/>
            <a:ext cx="1470471" cy="646331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800" dirty="0"/>
              <a:t>Função Secundária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256A17C-5F95-5525-6D81-9044C160D183}"/>
              </a:ext>
            </a:extLst>
          </p:cNvPr>
          <p:cNvSpPr txBox="1"/>
          <p:nvPr/>
        </p:nvSpPr>
        <p:spPr>
          <a:xfrm>
            <a:off x="3644845" y="2782668"/>
            <a:ext cx="1470471" cy="646331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1800"/>
            </a:lvl1pPr>
          </a:lstStyle>
          <a:p>
            <a:r>
              <a:rPr lang="pt-BR" dirty="0"/>
              <a:t>Função Secundária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1D2392B-5F8C-A347-1AFE-92EE3062A8F9}"/>
              </a:ext>
            </a:extLst>
          </p:cNvPr>
          <p:cNvSpPr txBox="1"/>
          <p:nvPr/>
        </p:nvSpPr>
        <p:spPr>
          <a:xfrm>
            <a:off x="5272683" y="2757851"/>
            <a:ext cx="1470471" cy="646331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1800"/>
            </a:lvl1pPr>
          </a:lstStyle>
          <a:p>
            <a:r>
              <a:rPr lang="pt-BR" dirty="0"/>
              <a:t>Função Secundária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5A6B78A-448F-016A-D56D-E678703031E6}"/>
              </a:ext>
            </a:extLst>
          </p:cNvPr>
          <p:cNvSpPr txBox="1"/>
          <p:nvPr/>
        </p:nvSpPr>
        <p:spPr>
          <a:xfrm>
            <a:off x="6935833" y="2757850"/>
            <a:ext cx="1470471" cy="646331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1800"/>
            </a:lvl1pPr>
          </a:lstStyle>
          <a:p>
            <a:r>
              <a:rPr lang="pt-BR" dirty="0"/>
              <a:t>Função</a:t>
            </a:r>
          </a:p>
          <a:p>
            <a:r>
              <a:rPr lang="pt-BR" dirty="0"/>
              <a:t>Assumida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BE7CC69C-953F-D197-87E0-719A5DE74161}"/>
              </a:ext>
            </a:extLst>
          </p:cNvPr>
          <p:cNvCxnSpPr>
            <a:cxnSpLocks/>
          </p:cNvCxnSpPr>
          <p:nvPr/>
        </p:nvCxnSpPr>
        <p:spPr bwMode="auto">
          <a:xfrm>
            <a:off x="1888176" y="1574752"/>
            <a:ext cx="0" cy="391885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5ED7F01B-4BBA-DA20-CEE2-86D193E10BBC}"/>
              </a:ext>
            </a:extLst>
          </p:cNvPr>
          <p:cNvCxnSpPr>
            <a:cxnSpLocks/>
          </p:cNvCxnSpPr>
          <p:nvPr/>
        </p:nvCxnSpPr>
        <p:spPr bwMode="auto">
          <a:xfrm>
            <a:off x="6850083" y="1574753"/>
            <a:ext cx="0" cy="391885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9B17DC2-6950-A45C-876B-04C17043DC76}"/>
              </a:ext>
            </a:extLst>
          </p:cNvPr>
          <p:cNvSpPr txBox="1"/>
          <p:nvPr/>
        </p:nvSpPr>
        <p:spPr>
          <a:xfrm>
            <a:off x="368135" y="1175657"/>
            <a:ext cx="1342509" cy="399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C00000"/>
                </a:solidFill>
              </a:rPr>
              <a:t>COMO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5BC5608-92CA-0124-03A3-69672DB94AAB}"/>
              </a:ext>
            </a:extLst>
          </p:cNvPr>
          <p:cNvSpPr txBox="1"/>
          <p:nvPr/>
        </p:nvSpPr>
        <p:spPr>
          <a:xfrm>
            <a:off x="7218284" y="1116950"/>
            <a:ext cx="16473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C00000"/>
                </a:solidFill>
              </a:rPr>
              <a:t>POR QUÊ?</a:t>
            </a:r>
          </a:p>
        </p:txBody>
      </p:sp>
      <p:sp>
        <p:nvSpPr>
          <p:cNvPr id="17" name="Seta para a Esquerda 16">
            <a:extLst>
              <a:ext uri="{FF2B5EF4-FFF2-40B4-BE49-F238E27FC236}">
                <a16:creationId xmlns:a16="http://schemas.microsoft.com/office/drawing/2014/main" id="{B94A4860-E1B1-252E-30F2-0A9663F3C96C}"/>
              </a:ext>
            </a:extLst>
          </p:cNvPr>
          <p:cNvSpPr/>
          <p:nvPr/>
        </p:nvSpPr>
        <p:spPr bwMode="auto">
          <a:xfrm>
            <a:off x="5869683" y="1087280"/>
            <a:ext cx="1258785" cy="459450"/>
          </a:xfrm>
          <a:prstGeom prst="left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Seta para a Direita 17">
            <a:extLst>
              <a:ext uri="{FF2B5EF4-FFF2-40B4-BE49-F238E27FC236}">
                <a16:creationId xmlns:a16="http://schemas.microsoft.com/office/drawing/2014/main" id="{409376A6-2453-F6B8-E287-E5A3FA46D601}"/>
              </a:ext>
            </a:extLst>
          </p:cNvPr>
          <p:cNvSpPr/>
          <p:nvPr/>
        </p:nvSpPr>
        <p:spPr bwMode="auto">
          <a:xfrm>
            <a:off x="1425039" y="1175657"/>
            <a:ext cx="1413164" cy="399095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26405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2604C-9A2E-FA38-8FCF-F9872629D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3">
            <a:extLst>
              <a:ext uri="{FF2B5EF4-FFF2-40B4-BE49-F238E27FC236}">
                <a16:creationId xmlns:a16="http://schemas.microsoft.com/office/drawing/2014/main" id="{3B2449D6-8A4D-0EEE-9C30-8648758084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813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39938" name="Rectangle 4">
            <a:extLst>
              <a:ext uri="{FF2B5EF4-FFF2-40B4-BE49-F238E27FC236}">
                <a16:creationId xmlns:a16="http://schemas.microsoft.com/office/drawing/2014/main" id="{18075E87-43C7-72AF-0E10-5770E1AE8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575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39939" name="Rectangle 9">
            <a:extLst>
              <a:ext uri="{FF2B5EF4-FFF2-40B4-BE49-F238E27FC236}">
                <a16:creationId xmlns:a16="http://schemas.microsoft.com/office/drawing/2014/main" id="{CD679BFB-C1F4-434A-0279-02B6AA69A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336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graphicFrame>
        <p:nvGraphicFramePr>
          <p:cNvPr id="39940" name="Object 2">
            <a:extLst>
              <a:ext uri="{FF2B5EF4-FFF2-40B4-BE49-F238E27FC236}">
                <a16:creationId xmlns:a16="http://schemas.microsoft.com/office/drawing/2014/main" id="{A97027AA-EEC9-1437-0B7E-DB68C267BA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1879600"/>
          <a:ext cx="9144000" cy="328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2" imgW="39649400" imgH="14452600" progId="Word.Picture.8">
                  <p:embed/>
                </p:oleObj>
              </mc:Choice>
              <mc:Fallback>
                <p:oleObj name="Figura" r:id="rId2" imgW="39649400" imgH="14452600" progId="Word.Picture.8">
                  <p:embed/>
                  <p:pic>
                    <p:nvPicPr>
                      <p:cNvPr id="39940" name="Object 2">
                        <a:extLst>
                          <a:ext uri="{FF2B5EF4-FFF2-40B4-BE49-F238E27FC236}">
                            <a16:creationId xmlns:a16="http://schemas.microsoft.com/office/drawing/2014/main" id="{A97027AA-EEC9-1437-0B7E-DB68C267BA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879600"/>
                        <a:ext cx="9144000" cy="328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0">
            <a:extLst>
              <a:ext uri="{FF2B5EF4-FFF2-40B4-BE49-F238E27FC236}">
                <a16:creationId xmlns:a16="http://schemas.microsoft.com/office/drawing/2014/main" id="{AE67FFD4-56F2-3104-84C3-C868A3CE41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2746" y="5839924"/>
            <a:ext cx="5680075" cy="457200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2000">
                <a:solidFill>
                  <a:schemeClr val="bg1"/>
                </a:solidFill>
              </a:rPr>
              <a:t>Ver também Método FAST, quadro 7.2</a:t>
            </a:r>
          </a:p>
        </p:txBody>
      </p:sp>
      <p:sp>
        <p:nvSpPr>
          <p:cNvPr id="39942" name="Rectangle 2">
            <a:extLst>
              <a:ext uri="{FF2B5EF4-FFF2-40B4-BE49-F238E27FC236}">
                <a16:creationId xmlns:a16="http://schemas.microsoft.com/office/drawing/2014/main" id="{F8A8BE70-C9B2-AD8E-974C-9359D3344F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788" y="1054100"/>
            <a:ext cx="7388225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400">
                <a:solidFill>
                  <a:srgbClr val="000096"/>
                </a:solidFill>
              </a:rPr>
              <a:t>Exemplo: Máquina para lavar roupas</a:t>
            </a:r>
          </a:p>
        </p:txBody>
      </p:sp>
    </p:spTree>
    <p:extLst>
      <p:ext uri="{BB962C8B-B14F-4D97-AF65-F5344CB8AC3E}">
        <p14:creationId xmlns:p14="http://schemas.microsoft.com/office/powerpoint/2010/main" val="488820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B93E8-8B98-DC22-5575-9AC5B3D1A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3">
            <a:extLst>
              <a:ext uri="{FF2B5EF4-FFF2-40B4-BE49-F238E27FC236}">
                <a16:creationId xmlns:a16="http://schemas.microsoft.com/office/drawing/2014/main" id="{3F1ACA0E-EBAC-7E34-3680-EE2113728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413" y="3370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graphicFrame>
        <p:nvGraphicFramePr>
          <p:cNvPr id="38914" name="Object 2">
            <a:extLst>
              <a:ext uri="{FF2B5EF4-FFF2-40B4-BE49-F238E27FC236}">
                <a16:creationId xmlns:a16="http://schemas.microsoft.com/office/drawing/2014/main" id="{2CE6CD9E-E7DE-2456-6296-BE64C56464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28713" y="1489075"/>
          <a:ext cx="6694487" cy="190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2" imgW="5461000" imgH="1549400" progId="Word.Picture.8">
                  <p:embed/>
                </p:oleObj>
              </mc:Choice>
              <mc:Fallback>
                <p:oleObj name="Figura" r:id="rId2" imgW="5461000" imgH="1549400" progId="Word.Picture.8">
                  <p:embed/>
                  <p:pic>
                    <p:nvPicPr>
                      <p:cNvPr id="38914" name="Object 2">
                        <a:extLst>
                          <a:ext uri="{FF2B5EF4-FFF2-40B4-BE49-F238E27FC236}">
                            <a16:creationId xmlns:a16="http://schemas.microsoft.com/office/drawing/2014/main" id="{2CE6CD9E-E7DE-2456-6296-BE64C56464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8713" y="1489075"/>
                        <a:ext cx="6694487" cy="190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5" name="Rectangle 8">
            <a:extLst>
              <a:ext uri="{FF2B5EF4-FFF2-40B4-BE49-F238E27FC236}">
                <a16:creationId xmlns:a16="http://schemas.microsoft.com/office/drawing/2014/main" id="{3F3B14C0-17D5-89A8-F35C-255B2B1B08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413" y="31750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BF35C081-D311-B461-0817-68EE620DC0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247" y="3541713"/>
          <a:ext cx="9369425" cy="2519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4" imgW="34899600" imgH="8775700" progId="Word.Picture.8">
                  <p:embed/>
                </p:oleObj>
              </mc:Choice>
              <mc:Fallback>
                <p:oleObj name="Figura" r:id="rId4" imgW="34899600" imgH="8775700" progId="Word.Picture.8">
                  <p:embed/>
                  <p:pic>
                    <p:nvPicPr>
                      <p:cNvPr id="5" name="Object 3">
                        <a:extLst>
                          <a:ext uri="{FF2B5EF4-FFF2-40B4-BE49-F238E27FC236}">
                            <a16:creationId xmlns:a16="http://schemas.microsoft.com/office/drawing/2014/main" id="{BF35C081-D311-B461-0817-68EE620DC0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712" r="52"/>
                      <a:stretch>
                        <a:fillRect/>
                      </a:stretch>
                    </p:blipFill>
                    <p:spPr bwMode="auto">
                      <a:xfrm>
                        <a:off x="12247" y="3541713"/>
                        <a:ext cx="9369425" cy="2519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7" name="Rectangle 2">
            <a:extLst>
              <a:ext uri="{FF2B5EF4-FFF2-40B4-BE49-F238E27FC236}">
                <a16:creationId xmlns:a16="http://schemas.microsoft.com/office/drawing/2014/main" id="{CD88A0F4-1693-62F5-AB62-3F61DFCE4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163" y="831850"/>
            <a:ext cx="7388225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400">
                <a:solidFill>
                  <a:srgbClr val="000096"/>
                </a:solidFill>
              </a:rPr>
              <a:t>Exemplo: Máquina para lavar roupas</a:t>
            </a:r>
          </a:p>
        </p:txBody>
      </p:sp>
    </p:spTree>
    <p:extLst>
      <p:ext uri="{BB962C8B-B14F-4D97-AF65-F5344CB8AC3E}">
        <p14:creationId xmlns:p14="http://schemas.microsoft.com/office/powerpoint/2010/main" val="1796245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1AFE0-1C63-C469-19EA-716F1B978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3">
            <a:extLst>
              <a:ext uri="{FF2B5EF4-FFF2-40B4-BE49-F238E27FC236}">
                <a16:creationId xmlns:a16="http://schemas.microsoft.com/office/drawing/2014/main" id="{89F26848-8AD2-C3A8-7D59-00F0F28A7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813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39938" name="Rectangle 4">
            <a:extLst>
              <a:ext uri="{FF2B5EF4-FFF2-40B4-BE49-F238E27FC236}">
                <a16:creationId xmlns:a16="http://schemas.microsoft.com/office/drawing/2014/main" id="{D63D2241-FF85-52A3-B6EA-BDC33C95B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575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39939" name="Rectangle 9">
            <a:extLst>
              <a:ext uri="{FF2B5EF4-FFF2-40B4-BE49-F238E27FC236}">
                <a16:creationId xmlns:a16="http://schemas.microsoft.com/office/drawing/2014/main" id="{D7DE7578-5A7C-93D2-0EB2-E7C83EDB9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336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graphicFrame>
        <p:nvGraphicFramePr>
          <p:cNvPr id="39940" name="Object 2">
            <a:extLst>
              <a:ext uri="{FF2B5EF4-FFF2-40B4-BE49-F238E27FC236}">
                <a16:creationId xmlns:a16="http://schemas.microsoft.com/office/drawing/2014/main" id="{FD59C8A3-59B5-7FCC-B684-3EB6D5FCF6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1879600"/>
          <a:ext cx="9144000" cy="328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2" imgW="39649400" imgH="14452600" progId="Word.Picture.8">
                  <p:embed/>
                </p:oleObj>
              </mc:Choice>
              <mc:Fallback>
                <p:oleObj name="Figura" r:id="rId2" imgW="39649400" imgH="14452600" progId="Word.Picture.8">
                  <p:embed/>
                  <p:pic>
                    <p:nvPicPr>
                      <p:cNvPr id="39940" name="Object 2">
                        <a:extLst>
                          <a:ext uri="{FF2B5EF4-FFF2-40B4-BE49-F238E27FC236}">
                            <a16:creationId xmlns:a16="http://schemas.microsoft.com/office/drawing/2014/main" id="{FD59C8A3-59B5-7FCC-B684-3EB6D5FCF6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879600"/>
                        <a:ext cx="9144000" cy="328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0">
            <a:extLst>
              <a:ext uri="{FF2B5EF4-FFF2-40B4-BE49-F238E27FC236}">
                <a16:creationId xmlns:a16="http://schemas.microsoft.com/office/drawing/2014/main" id="{9739A5CA-D5A0-3031-0441-DAD7CC8213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2746" y="5839924"/>
            <a:ext cx="5680075" cy="457200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2000">
                <a:solidFill>
                  <a:schemeClr val="bg1"/>
                </a:solidFill>
              </a:rPr>
              <a:t>Ver também Método FAST, quadro 7.2</a:t>
            </a:r>
          </a:p>
        </p:txBody>
      </p:sp>
      <p:sp>
        <p:nvSpPr>
          <p:cNvPr id="39942" name="Rectangle 2">
            <a:extLst>
              <a:ext uri="{FF2B5EF4-FFF2-40B4-BE49-F238E27FC236}">
                <a16:creationId xmlns:a16="http://schemas.microsoft.com/office/drawing/2014/main" id="{3E21E708-F762-2964-CC3B-5C79CB9068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287" y="198582"/>
            <a:ext cx="7388225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400" dirty="0">
                <a:solidFill>
                  <a:srgbClr val="000096"/>
                </a:solidFill>
              </a:rPr>
              <a:t>Exemplo: Máquina para lavar roupas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7505731-D1D1-2FE6-4729-EA72F0752423}"/>
              </a:ext>
            </a:extLst>
          </p:cNvPr>
          <p:cNvSpPr txBox="1"/>
          <p:nvPr/>
        </p:nvSpPr>
        <p:spPr>
          <a:xfrm>
            <a:off x="368135" y="1175657"/>
            <a:ext cx="1342509" cy="399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C00000"/>
                </a:solidFill>
              </a:rPr>
              <a:t>COMO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31EBB32-CB95-38AF-9C7B-98C1A04DC62A}"/>
              </a:ext>
            </a:extLst>
          </p:cNvPr>
          <p:cNvSpPr txBox="1"/>
          <p:nvPr/>
        </p:nvSpPr>
        <p:spPr>
          <a:xfrm>
            <a:off x="7218284" y="1116950"/>
            <a:ext cx="16473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C00000"/>
                </a:solidFill>
              </a:rPr>
              <a:t>POR QUÊ?</a:t>
            </a:r>
          </a:p>
        </p:txBody>
      </p:sp>
      <p:sp>
        <p:nvSpPr>
          <p:cNvPr id="4" name="Seta para a Esquerda 3">
            <a:extLst>
              <a:ext uri="{FF2B5EF4-FFF2-40B4-BE49-F238E27FC236}">
                <a16:creationId xmlns:a16="http://schemas.microsoft.com/office/drawing/2014/main" id="{D94AB27E-12F5-FDAC-050A-F5BDF8BF2682}"/>
              </a:ext>
            </a:extLst>
          </p:cNvPr>
          <p:cNvSpPr/>
          <p:nvPr/>
        </p:nvSpPr>
        <p:spPr bwMode="auto">
          <a:xfrm>
            <a:off x="5869683" y="1087280"/>
            <a:ext cx="1258785" cy="459450"/>
          </a:xfrm>
          <a:prstGeom prst="left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Seta para a Direita 4">
            <a:extLst>
              <a:ext uri="{FF2B5EF4-FFF2-40B4-BE49-F238E27FC236}">
                <a16:creationId xmlns:a16="http://schemas.microsoft.com/office/drawing/2014/main" id="{D2007BB5-C788-A1E6-094E-9A32F7226F7D}"/>
              </a:ext>
            </a:extLst>
          </p:cNvPr>
          <p:cNvSpPr/>
          <p:nvPr/>
        </p:nvSpPr>
        <p:spPr bwMode="auto">
          <a:xfrm>
            <a:off x="1425039" y="1175657"/>
            <a:ext cx="1413164" cy="399095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4378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2EE224-D0C4-D6F1-0489-D183AB912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935843"/>
            <a:ext cx="7772400" cy="1362075"/>
          </a:xfrm>
        </p:spPr>
        <p:txBody>
          <a:bodyPr/>
          <a:lstStyle/>
          <a:p>
            <a:r>
              <a:rPr lang="pt-BR" cap="none" dirty="0"/>
              <a:t>Desenvolver Um Secador De Roupas Domésticos Que Funcione De Forma Eficiente, Segura, Fácil De Usar, Mesmo Em Apartamentos Pequenos.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E19592-35EF-ACC1-5F4F-42BCC9F74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7256" y="338931"/>
            <a:ext cx="7772400" cy="1500187"/>
          </a:xfrm>
        </p:spPr>
        <p:txBody>
          <a:bodyPr/>
          <a:lstStyle/>
          <a:p>
            <a:pPr algn="ctr"/>
            <a:r>
              <a:rPr lang="pt-BR" sz="3600" dirty="0"/>
              <a:t>EXERCÍCIO 01</a:t>
            </a:r>
          </a:p>
        </p:txBody>
      </p:sp>
    </p:spTree>
    <p:extLst>
      <p:ext uri="{BB962C8B-B14F-4D97-AF65-F5344CB8AC3E}">
        <p14:creationId xmlns:p14="http://schemas.microsoft.com/office/powerpoint/2010/main" val="13864223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F9280B3F-130F-A289-3421-2D5A66159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527A2F6C-ED43-AE1B-25CA-E1E6026C6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t-BR" dirty="0"/>
              <a:t>Qual a função principal do produto?</a:t>
            </a:r>
          </a:p>
          <a:p>
            <a:pPr marL="514350" indent="-514350">
              <a:buFont typeface="+mj-lt"/>
              <a:buAutoNum type="arabicPeriod"/>
            </a:pPr>
            <a:endParaRPr lang="pt-BR" dirty="0"/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Quais funções parciais (Secundárias) para realizar estas funções?</a:t>
            </a:r>
          </a:p>
          <a:p>
            <a:endParaRPr lang="pt-BR" dirty="0"/>
          </a:p>
          <a:p>
            <a:endParaRPr lang="pt-BR" dirty="0"/>
          </a:p>
          <a:p>
            <a:pPr marL="457200" lvl="1" indent="0">
              <a:buNone/>
            </a:pPr>
            <a:endParaRPr lang="pt-BR" dirty="0">
              <a:solidFill>
                <a:srgbClr val="0070C0"/>
              </a:solidFill>
            </a:endParaRPr>
          </a:p>
          <a:p>
            <a:pPr lvl="1"/>
            <a:endParaRPr lang="pt-BR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03226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64F05-788E-89B7-295F-1224736DC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5B72EE5F-6932-C02E-703D-0C6471FAB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8C5C0ECB-81F8-2B30-6715-30DFC70FA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57" y="898413"/>
            <a:ext cx="9031286" cy="523875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t-BR" dirty="0"/>
              <a:t>Qual a função principal do produto?</a:t>
            </a:r>
          </a:p>
          <a:p>
            <a:pPr marL="400050" lvl="1" indent="0">
              <a:buNone/>
            </a:pPr>
            <a:r>
              <a:rPr lang="pt-BR" dirty="0">
                <a:solidFill>
                  <a:srgbClr val="0070C0"/>
                </a:solidFill>
              </a:rPr>
              <a:t>Secar roupas</a:t>
            </a:r>
          </a:p>
          <a:p>
            <a:pPr marL="514350" indent="-514350">
              <a:buFont typeface="+mj-lt"/>
              <a:buAutoNum type="arabicPeriod"/>
            </a:pPr>
            <a:endParaRPr lang="pt-BR" dirty="0"/>
          </a:p>
          <a:p>
            <a:pPr marL="514350" indent="-514350">
              <a:buFont typeface="+mj-lt"/>
              <a:buAutoNum type="arabicPeriod"/>
            </a:pPr>
            <a:r>
              <a:rPr lang="pt-BR" sz="2400" dirty="0"/>
              <a:t>Quais funções parciais (Secundárias) para realizar estas funções?</a:t>
            </a:r>
          </a:p>
          <a:p>
            <a:pPr marL="400050" lvl="1" indent="0">
              <a:buNone/>
            </a:pPr>
            <a:r>
              <a:rPr lang="pt-BR" sz="1800" dirty="0">
                <a:solidFill>
                  <a:srgbClr val="0070C0"/>
                </a:solidFill>
              </a:rPr>
              <a:t>Remover umidade das roupas – </a:t>
            </a:r>
          </a:p>
          <a:p>
            <a:pPr marL="400050" lvl="1" indent="0">
              <a:buNone/>
            </a:pPr>
            <a:endParaRPr lang="pt-BR" sz="1800" dirty="0">
              <a:solidFill>
                <a:srgbClr val="0070C0"/>
              </a:solidFill>
            </a:endParaRPr>
          </a:p>
          <a:p>
            <a:pPr marL="400050" lvl="1" indent="0">
              <a:buNone/>
            </a:pPr>
            <a:r>
              <a:rPr lang="pt-BR" sz="1800" dirty="0">
                <a:solidFill>
                  <a:srgbClr val="0070C0"/>
                </a:solidFill>
              </a:rPr>
              <a:t>(</a:t>
            </a:r>
            <a:r>
              <a:rPr lang="pt-BR" sz="1800" dirty="0">
                <a:solidFill>
                  <a:srgbClr val="00B050"/>
                </a:solidFill>
              </a:rPr>
              <a:t>Garantir segurança do usuário)</a:t>
            </a:r>
          </a:p>
          <a:p>
            <a:pPr marL="400050" lvl="1" indent="0">
              <a:buNone/>
            </a:pPr>
            <a:endParaRPr lang="pt-BR" sz="1800" dirty="0">
              <a:solidFill>
                <a:srgbClr val="00B050"/>
              </a:solidFill>
            </a:endParaRPr>
          </a:p>
          <a:p>
            <a:pPr marL="400050" lvl="1" indent="0">
              <a:buNone/>
            </a:pPr>
            <a:endParaRPr lang="pt-BR" sz="1800" dirty="0">
              <a:solidFill>
                <a:srgbClr val="00B050"/>
              </a:solidFill>
            </a:endParaRPr>
          </a:p>
          <a:p>
            <a:pPr marL="400050" lvl="1" indent="0">
              <a:buNone/>
            </a:pPr>
            <a:endParaRPr lang="pt-BR" sz="1800" dirty="0">
              <a:solidFill>
                <a:srgbClr val="00B050"/>
              </a:solidFill>
            </a:endParaRPr>
          </a:p>
          <a:p>
            <a:pPr marL="400050" lvl="1" indent="0">
              <a:buNone/>
            </a:pPr>
            <a:endParaRPr lang="pt-BR" sz="1800" dirty="0">
              <a:solidFill>
                <a:srgbClr val="00B050"/>
              </a:solidFill>
            </a:endParaRPr>
          </a:p>
          <a:p>
            <a:pPr marL="400050" lvl="1" indent="0">
              <a:buNone/>
            </a:pPr>
            <a:r>
              <a:rPr lang="pt-BR" sz="1800" dirty="0">
                <a:solidFill>
                  <a:srgbClr val="00B050"/>
                </a:solidFill>
              </a:rPr>
              <a:t>(Facilitar operação do usuário)</a:t>
            </a:r>
            <a:endParaRPr lang="pt-BR" sz="1800" dirty="0"/>
          </a:p>
          <a:p>
            <a:endParaRPr lang="pt-BR" sz="1800" dirty="0"/>
          </a:p>
          <a:p>
            <a:endParaRPr lang="pt-BR" dirty="0"/>
          </a:p>
          <a:p>
            <a:pPr marL="457200" lvl="1" indent="0">
              <a:buNone/>
            </a:pPr>
            <a:endParaRPr lang="pt-BR" dirty="0">
              <a:solidFill>
                <a:srgbClr val="0070C0"/>
              </a:solidFill>
            </a:endParaRPr>
          </a:p>
          <a:p>
            <a:pPr lvl="1"/>
            <a:endParaRPr lang="pt-BR" dirty="0">
              <a:solidFill>
                <a:srgbClr val="0070C0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202AD1A-3874-151F-8B07-E4F9ABDEB637}"/>
              </a:ext>
            </a:extLst>
          </p:cNvPr>
          <p:cNvSpPr txBox="1"/>
          <p:nvPr/>
        </p:nvSpPr>
        <p:spPr>
          <a:xfrm>
            <a:off x="4748439" y="2761543"/>
            <a:ext cx="52795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pt-BR" dirty="0">
                <a:solidFill>
                  <a:srgbClr val="0070C0"/>
                </a:solidFill>
              </a:rPr>
              <a:t>Aquecer o ar</a:t>
            </a:r>
          </a:p>
          <a:p>
            <a:pPr marL="342900" indent="-342900">
              <a:buFontTx/>
              <a:buChar char="-"/>
            </a:pPr>
            <a:r>
              <a:rPr lang="pt-BR" dirty="0">
                <a:solidFill>
                  <a:srgbClr val="0070C0"/>
                </a:solidFill>
              </a:rPr>
              <a:t>Circular o ar pelo compartimento</a:t>
            </a:r>
          </a:p>
          <a:p>
            <a:pPr marL="342900" indent="-342900">
              <a:buFontTx/>
              <a:buChar char="-"/>
            </a:pPr>
            <a:r>
              <a:rPr lang="pt-BR" dirty="0">
                <a:solidFill>
                  <a:srgbClr val="0070C0"/>
                </a:solidFill>
              </a:rPr>
              <a:t>Extrair o ar úmido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905B9FD-C0F1-5571-0300-0C73E2B8F314}"/>
              </a:ext>
            </a:extLst>
          </p:cNvPr>
          <p:cNvSpPr txBox="1"/>
          <p:nvPr/>
        </p:nvSpPr>
        <p:spPr>
          <a:xfrm>
            <a:off x="4961957" y="3809795"/>
            <a:ext cx="41256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pt-BR" dirty="0">
                <a:solidFill>
                  <a:srgbClr val="0070C0"/>
                </a:solidFill>
              </a:rPr>
              <a:t>Monitora a temperatura</a:t>
            </a:r>
          </a:p>
          <a:p>
            <a:pPr marL="342900" indent="-342900">
              <a:buFontTx/>
              <a:buChar char="-"/>
            </a:pPr>
            <a:r>
              <a:rPr lang="pt-BR" dirty="0">
                <a:solidFill>
                  <a:srgbClr val="0070C0"/>
                </a:solidFill>
              </a:rPr>
              <a:t>Bloquear acesso</a:t>
            </a:r>
          </a:p>
          <a:p>
            <a:pPr marL="342900" indent="-342900">
              <a:buFontTx/>
              <a:buChar char="-"/>
            </a:pPr>
            <a:r>
              <a:rPr lang="pt-BR" dirty="0">
                <a:solidFill>
                  <a:srgbClr val="0070C0"/>
                </a:solidFill>
              </a:rPr>
              <a:t>Desligar automaticamente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85692CF-456D-B11B-0255-E47F2989A6D1}"/>
              </a:ext>
            </a:extLst>
          </p:cNvPr>
          <p:cNvSpPr txBox="1"/>
          <p:nvPr/>
        </p:nvSpPr>
        <p:spPr>
          <a:xfrm>
            <a:off x="4666114" y="5124987"/>
            <a:ext cx="412568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pt-BR" dirty="0">
                <a:solidFill>
                  <a:srgbClr val="0070C0"/>
                </a:solidFill>
              </a:rPr>
              <a:t>Exibir painel com status do programa</a:t>
            </a:r>
          </a:p>
          <a:p>
            <a:pPr marL="342900" indent="-342900">
              <a:buFontTx/>
              <a:buChar char="-"/>
            </a:pPr>
            <a:r>
              <a:rPr lang="pt-BR" dirty="0">
                <a:solidFill>
                  <a:srgbClr val="0070C0"/>
                </a:solidFill>
              </a:rPr>
              <a:t>Oferecer ciclos de operação</a:t>
            </a:r>
          </a:p>
          <a:p>
            <a:pPr marL="342900" indent="-342900">
              <a:buFontTx/>
              <a:buChar char="-"/>
            </a:pPr>
            <a:r>
              <a:rPr lang="pt-BR" dirty="0">
                <a:solidFill>
                  <a:srgbClr val="0070C0"/>
                </a:solidFill>
              </a:rPr>
              <a:t>Sinalizar o fim do ciclo		</a:t>
            </a:r>
          </a:p>
        </p:txBody>
      </p:sp>
    </p:spTree>
    <p:extLst>
      <p:ext uri="{BB962C8B-B14F-4D97-AF65-F5344CB8AC3E}">
        <p14:creationId xmlns:p14="http://schemas.microsoft.com/office/powerpoint/2010/main" val="28311258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AE0090-5277-F524-A423-FD00FF5F3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9C8249-835E-1264-5FD5-EA8362E08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3. Quais emoções ou percepções devem ser associadas ao produto?</a:t>
            </a:r>
          </a:p>
          <a:p>
            <a:pPr marL="0" indent="0">
              <a:buNone/>
            </a:pPr>
            <a:r>
              <a:rPr lang="pt-BR" sz="2000" b="1" dirty="0">
                <a:solidFill>
                  <a:srgbClr val="0070C0"/>
                </a:solidFill>
              </a:rPr>
              <a:t>Funções Emocionais:</a:t>
            </a:r>
            <a:endParaRPr lang="pt-BR" sz="20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0070C0"/>
                </a:solidFill>
              </a:rPr>
              <a:t>	Transmitir confiança e segurança.</a:t>
            </a:r>
          </a:p>
          <a:p>
            <a:pPr marL="0" indent="0">
              <a:buNone/>
            </a:pPr>
            <a:r>
              <a:rPr lang="pt-BR" sz="2000" dirty="0">
                <a:solidFill>
                  <a:srgbClr val="0070C0"/>
                </a:solidFill>
              </a:rPr>
              <a:t>	Expressar modernidade e inovação.</a:t>
            </a:r>
          </a:p>
          <a:p>
            <a:pPr marL="0" indent="0">
              <a:buNone/>
            </a:pPr>
            <a:r>
              <a:rPr lang="pt-BR" sz="2000" dirty="0">
                <a:solidFill>
                  <a:srgbClr val="0070C0"/>
                </a:solidFill>
              </a:rPr>
              <a:t>	Integrar-se visualmente ao ambiente doméstico.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50602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22A40D-C9E0-AE58-AA7F-C2CB1EF5C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6848AD-7C51-9EAD-537E-AF4BF1E7D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4. Elabore o diagrama Fast</a:t>
            </a:r>
          </a:p>
          <a:p>
            <a:endParaRPr lang="pt-BR" dirty="0"/>
          </a:p>
          <a:p>
            <a:r>
              <a:rPr lang="pt-BR" dirty="0"/>
              <a:t>5. Elabore um quadro das funções técnicas e os requisitos não funcionais</a:t>
            </a:r>
          </a:p>
          <a:p>
            <a:endParaRPr lang="pt-BR" dirty="0"/>
          </a:p>
          <a:p>
            <a:r>
              <a:rPr lang="pt-BR" dirty="0"/>
              <a:t>6. Elabore uma lista de novos requisitos não funcionais</a:t>
            </a:r>
          </a:p>
        </p:txBody>
      </p:sp>
    </p:spTree>
    <p:extLst>
      <p:ext uri="{BB962C8B-B14F-4D97-AF65-F5344CB8AC3E}">
        <p14:creationId xmlns:p14="http://schemas.microsoft.com/office/powerpoint/2010/main" val="3139122408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8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8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FB952CF52B7DE4ABAC1D5EF85AB9ACF" ma:contentTypeVersion="8" ma:contentTypeDescription="Crie um novo documento." ma:contentTypeScope="" ma:versionID="4012478236954615fd655ec24943ae3a">
  <xsd:schema xmlns:xsd="http://www.w3.org/2001/XMLSchema" xmlns:xs="http://www.w3.org/2001/XMLSchema" xmlns:p="http://schemas.microsoft.com/office/2006/metadata/properties" xmlns:ns2="0616edac-8b85-431d-b1bb-a5cc9cdccc91" targetNamespace="http://schemas.microsoft.com/office/2006/metadata/properties" ma:root="true" ma:fieldsID="e7b2c68f65d9ff28806c01b3f086190d" ns2:_="">
    <xsd:import namespace="0616edac-8b85-431d-b1bb-a5cc9cdccc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16edac-8b85-431d-b1bb-a5cc9cdccc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866C485-A490-4BD4-9A65-D8B1651A1AFA}">
  <ds:schemaRefs>
    <ds:schemaRef ds:uri="http://purl.org/dc/dcmitype/"/>
    <ds:schemaRef ds:uri="http://purl.org/dc/terms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0616edac-8b85-431d-b1bb-a5cc9cdccc91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6529BB8C-2DA4-4D51-848E-44BDBD6B387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4A05564-11CB-4F8E-B186-E8A27722FABF}"/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1991</Words>
  <Application>Microsoft Macintosh PowerPoint</Application>
  <PresentationFormat>Apresentação na tela (4:3)</PresentationFormat>
  <Paragraphs>573</Paragraphs>
  <Slides>42</Slides>
  <Notes>1</Notes>
  <HiddenSlides>0</HiddenSlides>
  <MMClips>0</MMClips>
  <ScaleCrop>false</ScaleCrop>
  <HeadingPairs>
    <vt:vector size="8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48" baseType="lpstr">
      <vt:lpstr>ＭＳ Ｐゴシック</vt:lpstr>
      <vt:lpstr>Arial</vt:lpstr>
      <vt:lpstr>Comic Sans MS</vt:lpstr>
      <vt:lpstr>Webdings</vt:lpstr>
      <vt:lpstr>Design padrão</vt:lpstr>
      <vt:lpstr>Figura</vt:lpstr>
      <vt:lpstr>Universidade de Brasília Departamento de Engenharia de Produção Disciplina: Engenharia de Produto    </vt:lpstr>
      <vt:lpstr>PROJETO CONCEITUAL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FUNDAMENTOS DE SISTEMAS TÉCNICOS</vt:lpstr>
      <vt:lpstr>Apresentação do PowerPoint</vt:lpstr>
      <vt:lpstr>Funções das máquina de lavar roupa</vt:lpstr>
      <vt:lpstr>FUNÇÕES PARCIAIS E  FUNÇÕES ELEMENTARES</vt:lpstr>
      <vt:lpstr>FUNÇÕES COMPLEMENTARES</vt:lpstr>
      <vt:lpstr>2. FUNÇÕES DE ESTILO (ESTÉTICAS OU EMOCIONAIS) </vt:lpstr>
      <vt:lpstr>Apresentação do PowerPoint</vt:lpstr>
      <vt:lpstr>EXEMPLO:</vt:lpstr>
      <vt:lpstr>Apresentação do PowerPoint</vt:lpstr>
      <vt:lpstr>COMO INCLUIR NA ANÁLISE FUNCIONAL E SÍNTESE: </vt:lpstr>
      <vt:lpstr>Apresentação do PowerPoint</vt:lpstr>
      <vt:lpstr>EXEMPLO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Diagrama FAST</vt:lpstr>
      <vt:lpstr>Apresentação do PowerPoint</vt:lpstr>
      <vt:lpstr>Apresentação do PowerPoint</vt:lpstr>
      <vt:lpstr>Apresentação do PowerPoint</vt:lpstr>
      <vt:lpstr>Apresentação do PowerPoint</vt:lpstr>
      <vt:lpstr>Desenvolver Um Secador De Roupas Domésticos Que Funcione De Forma Eficiente, Segura, Fácil De Usar, Mesmo Em Apartamentos Pequenos.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Universidade de Brasília Departamento de Engenharia de Produção Disciplina: Engenharia de Produto    </dc:title>
  <dc:creator>Andrea Cristina dos Santos</dc:creator>
  <cp:lastModifiedBy>Andrea Cristina dos Santos</cp:lastModifiedBy>
  <cp:revision>4</cp:revision>
  <dcterms:created xsi:type="dcterms:W3CDTF">2016-05-02T17:02:20Z</dcterms:created>
  <dcterms:modified xsi:type="dcterms:W3CDTF">2025-05-26T17:36:01Z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0x010100FFB952CF52B7DE4ABAC1D5EF85AB9ACF</vt:lpwstr>
  </property>
</Properties>
</file>