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5"/>
  </p:notesMasterIdLst>
  <p:handoutMasterIdLst>
    <p:handoutMasterId r:id="rId56"/>
  </p:handoutMasterIdLst>
  <p:sldIdLst>
    <p:sldId id="655" r:id="rId5"/>
    <p:sldId id="581" r:id="rId6"/>
    <p:sldId id="591" r:id="rId7"/>
    <p:sldId id="700" r:id="rId8"/>
    <p:sldId id="484" r:id="rId9"/>
    <p:sldId id="515" r:id="rId10"/>
    <p:sldId id="702" r:id="rId11"/>
    <p:sldId id="513" r:id="rId12"/>
    <p:sldId id="703" r:id="rId13"/>
    <p:sldId id="701" r:id="rId14"/>
    <p:sldId id="704" r:id="rId15"/>
    <p:sldId id="634" r:id="rId16"/>
    <p:sldId id="713" r:id="rId17"/>
    <p:sldId id="657" r:id="rId18"/>
    <p:sldId id="637" r:id="rId19"/>
    <p:sldId id="638" r:id="rId20"/>
    <p:sldId id="711" r:id="rId21"/>
    <p:sldId id="639" r:id="rId22"/>
    <p:sldId id="640" r:id="rId23"/>
    <p:sldId id="641" r:id="rId24"/>
    <p:sldId id="642" r:id="rId25"/>
    <p:sldId id="643" r:id="rId26"/>
    <p:sldId id="644" r:id="rId27"/>
    <p:sldId id="645" r:id="rId28"/>
    <p:sldId id="646" r:id="rId29"/>
    <p:sldId id="708" r:id="rId30"/>
    <p:sldId id="712" r:id="rId31"/>
    <p:sldId id="709" r:id="rId32"/>
    <p:sldId id="710" r:id="rId33"/>
    <p:sldId id="647" r:id="rId34"/>
    <p:sldId id="648" r:id="rId35"/>
    <p:sldId id="649" r:id="rId36"/>
    <p:sldId id="650" r:id="rId37"/>
    <p:sldId id="651" r:id="rId38"/>
    <p:sldId id="652" r:id="rId39"/>
    <p:sldId id="653" r:id="rId40"/>
    <p:sldId id="705" r:id="rId41"/>
    <p:sldId id="666" r:id="rId42"/>
    <p:sldId id="667" r:id="rId43"/>
    <p:sldId id="668" r:id="rId44"/>
    <p:sldId id="669" r:id="rId45"/>
    <p:sldId id="670" r:id="rId46"/>
    <p:sldId id="671" r:id="rId47"/>
    <p:sldId id="672" r:id="rId48"/>
    <p:sldId id="673" r:id="rId49"/>
    <p:sldId id="674" r:id="rId50"/>
    <p:sldId id="675" r:id="rId51"/>
    <p:sldId id="676" r:id="rId52"/>
    <p:sldId id="677" r:id="rId53"/>
    <p:sldId id="706" r:id="rId54"/>
  </p:sldIdLst>
  <p:sldSz cx="9144000" cy="6858000" type="screen4x3"/>
  <p:notesSz cx="7315200" cy="96012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08" autoAdjust="0"/>
    <p:restoredTop sz="87030" autoAdjust="0"/>
  </p:normalViewPr>
  <p:slideViewPr>
    <p:cSldViewPr snapToGrid="0" showGuides="1">
      <p:cViewPr varScale="1">
        <p:scale>
          <a:sx n="107" d="100"/>
          <a:sy n="107" d="100"/>
        </p:scale>
        <p:origin x="2160" y="176"/>
      </p:cViewPr>
      <p:guideLst>
        <p:guide orient="horz" pos="2168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604"/>
    </p:cViewPr>
  </p:sorter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microsoft.com/office/2016/11/relationships/changesInfo" Target="changesInfos/changesInfo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presProps" Target="pres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 Cristina Dos Santos" userId="S::andreasantos@unb.br::c1f965dc-8845-4afc-9e32-8f70830fffd6" providerId="AD" clId="Web-{D469D3AA-4F85-4347-A10D-2404DA332341}"/>
    <pc:docChg chg="modSld">
      <pc:chgData name="Andrea Cristina Dos Santos" userId="S::andreasantos@unb.br::c1f965dc-8845-4afc-9e32-8f70830fffd6" providerId="AD" clId="Web-{D469D3AA-4F85-4347-A10D-2404DA332341}" dt="2023-05-10T13:51:03.578" v="3"/>
      <pc:docMkLst>
        <pc:docMk/>
      </pc:docMkLst>
      <pc:sldChg chg="modSp">
        <pc:chgData name="Andrea Cristina Dos Santos" userId="S::andreasantos@unb.br::c1f965dc-8845-4afc-9e32-8f70830fffd6" providerId="AD" clId="Web-{D469D3AA-4F85-4347-A10D-2404DA332341}" dt="2023-05-10T13:51:03.578" v="3"/>
        <pc:sldMkLst>
          <pc:docMk/>
          <pc:sldMk cId="4041089956" sldId="700"/>
        </pc:sldMkLst>
      </pc:sldChg>
    </pc:docChg>
  </pc:docChgLst>
  <pc:docChgLst>
    <pc:chgData name="Andrea Cristina Dos Santos" userId="c1f965dc-8845-4afc-9e32-8f70830fffd6" providerId="ADAL" clId="{1AB955C4-ADE1-EB44-9631-4E7A9078FAF4}"/>
    <pc:docChg chg="addSld modSld sldOrd">
      <pc:chgData name="Andrea Cristina Dos Santos" userId="c1f965dc-8845-4afc-9e32-8f70830fffd6" providerId="ADAL" clId="{1AB955C4-ADE1-EB44-9631-4E7A9078FAF4}" dt="2023-05-10T14:26:28.199" v="157"/>
      <pc:docMkLst>
        <pc:docMk/>
      </pc:docMkLst>
      <pc:sldChg chg="addSp delSp modSp new">
        <pc:chgData name="Andrea Cristina Dos Santos" userId="c1f965dc-8845-4afc-9e32-8f70830fffd6" providerId="ADAL" clId="{1AB955C4-ADE1-EB44-9631-4E7A9078FAF4}" dt="2023-05-10T14:09:27.756" v="8" actId="14100"/>
        <pc:sldMkLst>
          <pc:docMk/>
          <pc:sldMk cId="2999500604" sldId="707"/>
        </pc:sldMkLst>
      </pc:sldChg>
      <pc:sldChg chg="addSp delSp modSp new mod ord">
        <pc:chgData name="Andrea Cristina Dos Santos" userId="c1f965dc-8845-4afc-9e32-8f70830fffd6" providerId="ADAL" clId="{1AB955C4-ADE1-EB44-9631-4E7A9078FAF4}" dt="2023-05-10T14:16:12.092" v="61" actId="20578"/>
        <pc:sldMkLst>
          <pc:docMk/>
          <pc:sldMk cId="2459121201" sldId="708"/>
        </pc:sldMkLst>
      </pc:sldChg>
      <pc:sldChg chg="addSp delSp modSp new mod">
        <pc:chgData name="Andrea Cristina Dos Santos" userId="c1f965dc-8845-4afc-9e32-8f70830fffd6" providerId="ADAL" clId="{1AB955C4-ADE1-EB44-9631-4E7A9078FAF4}" dt="2023-05-10T14:20:46.611" v="89" actId="1076"/>
        <pc:sldMkLst>
          <pc:docMk/>
          <pc:sldMk cId="3929079209" sldId="709"/>
        </pc:sldMkLst>
      </pc:sldChg>
      <pc:sldChg chg="addSp delSp modSp new mod">
        <pc:chgData name="Andrea Cristina Dos Santos" userId="c1f965dc-8845-4afc-9e32-8f70830fffd6" providerId="ADAL" clId="{1AB955C4-ADE1-EB44-9631-4E7A9078FAF4}" dt="2023-05-10T14:26:10.203" v="156" actId="1076"/>
        <pc:sldMkLst>
          <pc:docMk/>
          <pc:sldMk cId="1557880032" sldId="710"/>
        </pc:sldMkLst>
      </pc:sldChg>
      <pc:sldChg chg="add">
        <pc:chgData name="Andrea Cristina Dos Santos" userId="c1f965dc-8845-4afc-9e32-8f70830fffd6" providerId="ADAL" clId="{1AB955C4-ADE1-EB44-9631-4E7A9078FAF4}" dt="2023-05-10T14:26:28.199" v="157"/>
        <pc:sldMkLst>
          <pc:docMk/>
          <pc:sldMk cId="1950109308" sldId="711"/>
        </pc:sldMkLst>
      </pc:sldChg>
    </pc:docChg>
  </pc:docChgLst>
  <pc:docChgLst>
    <pc:chgData name="Andrea Cristina Dos Santos" userId="c1f965dc-8845-4afc-9e32-8f70830fffd6" providerId="ADAL" clId="{F8793A71-F0CC-7A4C-A254-62FD4FDA598B}"/>
    <pc:docChg chg="delSld">
      <pc:chgData name="Andrea Cristina Dos Santos" userId="c1f965dc-8845-4afc-9e32-8f70830fffd6" providerId="ADAL" clId="{F8793A71-F0CC-7A4C-A254-62FD4FDA598B}" dt="2023-10-04T14:54:50.229" v="0" actId="2696"/>
      <pc:docMkLst>
        <pc:docMk/>
      </pc:docMkLst>
      <pc:sldChg chg="del">
        <pc:chgData name="Andrea Cristina Dos Santos" userId="c1f965dc-8845-4afc-9e32-8f70830fffd6" providerId="ADAL" clId="{F8793A71-F0CC-7A4C-A254-62FD4FDA598B}" dt="2023-10-04T14:54:50.229" v="0" actId="2696"/>
        <pc:sldMkLst>
          <pc:docMk/>
          <pc:sldMk cId="2999500604" sldId="707"/>
        </pc:sldMkLst>
      </pc:sldChg>
    </pc:docChg>
  </pc:docChgLst>
  <pc:docChgLst>
    <pc:chgData name="Andrea Cristina Dos Santos" userId="c1f965dc-8845-4afc-9e32-8f70830fffd6" providerId="ADAL" clId="{09C33DCB-8421-7E46-8797-C5669967D776}"/>
    <pc:docChg chg="custSel addSld delSld modSld">
      <pc:chgData name="Andrea Cristina Dos Santos" userId="c1f965dc-8845-4afc-9e32-8f70830fffd6" providerId="ADAL" clId="{09C33DCB-8421-7E46-8797-C5669967D776}" dt="2024-05-08T14:57:17.680" v="149" actId="1076"/>
      <pc:docMkLst>
        <pc:docMk/>
      </pc:docMkLst>
      <pc:sldChg chg="del">
        <pc:chgData name="Andrea Cristina Dos Santos" userId="c1f965dc-8845-4afc-9e32-8f70830fffd6" providerId="ADAL" clId="{09C33DCB-8421-7E46-8797-C5669967D776}" dt="2024-05-08T14:56:54.726" v="145" actId="2696"/>
        <pc:sldMkLst>
          <pc:docMk/>
          <pc:sldMk cId="0" sldId="633"/>
        </pc:sldMkLst>
      </pc:sldChg>
      <pc:sldChg chg="addSp delSp modSp modAnim">
        <pc:chgData name="Andrea Cristina Dos Santos" userId="c1f965dc-8845-4afc-9e32-8f70830fffd6" providerId="ADAL" clId="{09C33DCB-8421-7E46-8797-C5669967D776}" dt="2024-05-08T14:31:01.616" v="13" actId="14100"/>
        <pc:sldMkLst>
          <pc:docMk/>
          <pc:sldMk cId="0" sldId="645"/>
        </pc:sldMkLst>
      </pc:sldChg>
      <pc:sldChg chg="addSp delSp modSp modAnim">
        <pc:chgData name="Andrea Cristina Dos Santos" userId="c1f965dc-8845-4afc-9e32-8f70830fffd6" providerId="ADAL" clId="{09C33DCB-8421-7E46-8797-C5669967D776}" dt="2024-05-08T14:32:49.593" v="19" actId="1076"/>
        <pc:sldMkLst>
          <pc:docMk/>
          <pc:sldMk cId="0" sldId="646"/>
        </pc:sldMkLst>
      </pc:sldChg>
      <pc:sldChg chg="addSp delSp modSp mod delAnim modAnim">
        <pc:chgData name="Andrea Cristina Dos Santos" userId="c1f965dc-8845-4afc-9e32-8f70830fffd6" providerId="ADAL" clId="{09C33DCB-8421-7E46-8797-C5669967D776}" dt="2024-05-08T14:29:16.723" v="5" actId="478"/>
        <pc:sldMkLst>
          <pc:docMk/>
          <pc:sldMk cId="3521628696" sldId="701"/>
        </pc:sldMkLst>
      </pc:sldChg>
      <pc:sldChg chg="modSp">
        <pc:chgData name="Andrea Cristina Dos Santos" userId="c1f965dc-8845-4afc-9e32-8f70830fffd6" providerId="ADAL" clId="{09C33DCB-8421-7E46-8797-C5669967D776}" dt="2024-05-08T14:51:06.028" v="144" actId="1076"/>
        <pc:sldMkLst>
          <pc:docMk/>
          <pc:sldMk cId="3422358269" sldId="705"/>
        </pc:sldMkLst>
      </pc:sldChg>
      <pc:sldChg chg="modSp mod">
        <pc:chgData name="Andrea Cristina Dos Santos" userId="c1f965dc-8845-4afc-9e32-8f70830fffd6" providerId="ADAL" clId="{09C33DCB-8421-7E46-8797-C5669967D776}" dt="2024-05-08T14:33:21.889" v="51" actId="20577"/>
        <pc:sldMkLst>
          <pc:docMk/>
          <pc:sldMk cId="2459121201" sldId="708"/>
        </pc:sldMkLst>
      </pc:sldChg>
      <pc:sldChg chg="modSp mod">
        <pc:chgData name="Andrea Cristina Dos Santos" userId="c1f965dc-8845-4afc-9e32-8f70830fffd6" providerId="ADAL" clId="{09C33DCB-8421-7E46-8797-C5669967D776}" dt="2024-05-08T14:38:51.194" v="126" actId="20577"/>
        <pc:sldMkLst>
          <pc:docMk/>
          <pc:sldMk cId="3929079209" sldId="709"/>
        </pc:sldMkLst>
      </pc:sldChg>
      <pc:sldChg chg="modSp mod">
        <pc:chgData name="Andrea Cristina Dos Santos" userId="c1f965dc-8845-4afc-9e32-8f70830fffd6" providerId="ADAL" clId="{09C33DCB-8421-7E46-8797-C5669967D776}" dt="2024-05-08T14:38:59.274" v="142" actId="20577"/>
        <pc:sldMkLst>
          <pc:docMk/>
          <pc:sldMk cId="1557880032" sldId="710"/>
        </pc:sldMkLst>
      </pc:sldChg>
      <pc:sldChg chg="addSp delSp modSp new mod">
        <pc:chgData name="Andrea Cristina Dos Santos" userId="c1f965dc-8845-4afc-9e32-8f70830fffd6" providerId="ADAL" clId="{09C33DCB-8421-7E46-8797-C5669967D776}" dt="2024-05-08T14:38:24.417" v="99" actId="1076"/>
        <pc:sldMkLst>
          <pc:docMk/>
          <pc:sldMk cId="2594136038" sldId="712"/>
        </pc:sldMkLst>
      </pc:sldChg>
      <pc:sldChg chg="addSp modSp add mod">
        <pc:chgData name="Andrea Cristina Dos Santos" userId="c1f965dc-8845-4afc-9e32-8f70830fffd6" providerId="ADAL" clId="{09C33DCB-8421-7E46-8797-C5669967D776}" dt="2024-05-08T14:57:17.680" v="149" actId="1076"/>
        <pc:sldMkLst>
          <pc:docMk/>
          <pc:sldMk cId="2792584982" sldId="713"/>
        </pc:sldMkLst>
      </pc:sldChg>
    </pc:docChg>
  </pc:docChgLst>
  <pc:docChgLst>
    <pc:chgData name="Andrea Cristina Dos Santos" userId="c1f965dc-8845-4afc-9e32-8f70830fffd6" providerId="ADAL" clId="{0A935FFE-965E-3447-BD77-94911BC398F2}"/>
    <pc:docChg chg="delSld modSld">
      <pc:chgData name="Andrea Cristina Dos Santos" userId="c1f965dc-8845-4afc-9e32-8f70830fffd6" providerId="ADAL" clId="{0A935FFE-965E-3447-BD77-94911BC398F2}" dt="2024-12-03T18:50:58.621" v="7" actId="1076"/>
      <pc:docMkLst>
        <pc:docMk/>
      </pc:docMkLst>
      <pc:sldChg chg="del">
        <pc:chgData name="Andrea Cristina Dos Santos" userId="c1f965dc-8845-4afc-9e32-8f70830fffd6" providerId="ADAL" clId="{0A935FFE-965E-3447-BD77-94911BC398F2}" dt="2024-12-03T18:50:43.380" v="4" actId="2696"/>
        <pc:sldMkLst>
          <pc:docMk/>
          <pc:sldMk cId="0" sldId="678"/>
        </pc:sldMkLst>
      </pc:sldChg>
      <pc:sldChg chg="del">
        <pc:chgData name="Andrea Cristina Dos Santos" userId="c1f965dc-8845-4afc-9e32-8f70830fffd6" providerId="ADAL" clId="{0A935FFE-965E-3447-BD77-94911BC398F2}" dt="2024-12-03T18:50:38.466" v="1" actId="2696"/>
        <pc:sldMkLst>
          <pc:docMk/>
          <pc:sldMk cId="0" sldId="679"/>
        </pc:sldMkLst>
      </pc:sldChg>
      <pc:sldChg chg="del">
        <pc:chgData name="Andrea Cristina Dos Santos" userId="c1f965dc-8845-4afc-9e32-8f70830fffd6" providerId="ADAL" clId="{0A935FFE-965E-3447-BD77-94911BC398F2}" dt="2024-12-03T18:50:37.863" v="0" actId="2696"/>
        <pc:sldMkLst>
          <pc:docMk/>
          <pc:sldMk cId="0" sldId="680"/>
        </pc:sldMkLst>
      </pc:sldChg>
      <pc:sldChg chg="del">
        <pc:chgData name="Andrea Cristina Dos Santos" userId="c1f965dc-8845-4afc-9e32-8f70830fffd6" providerId="ADAL" clId="{0A935FFE-965E-3447-BD77-94911BC398F2}" dt="2024-12-03T18:50:39.837" v="2" actId="2696"/>
        <pc:sldMkLst>
          <pc:docMk/>
          <pc:sldMk cId="0" sldId="681"/>
        </pc:sldMkLst>
      </pc:sldChg>
      <pc:sldChg chg="del">
        <pc:chgData name="Andrea Cristina Dos Santos" userId="c1f965dc-8845-4afc-9e32-8f70830fffd6" providerId="ADAL" clId="{0A935FFE-965E-3447-BD77-94911BC398F2}" dt="2024-12-03T18:50:40.300" v="3" actId="2696"/>
        <pc:sldMkLst>
          <pc:docMk/>
          <pc:sldMk cId="0" sldId="682"/>
        </pc:sldMkLst>
      </pc:sldChg>
      <pc:sldChg chg="del">
        <pc:chgData name="Andrea Cristina Dos Santos" userId="c1f965dc-8845-4afc-9e32-8f70830fffd6" providerId="ADAL" clId="{0A935FFE-965E-3447-BD77-94911BC398F2}" dt="2024-12-03T18:50:45.750" v="5" actId="2696"/>
        <pc:sldMkLst>
          <pc:docMk/>
          <pc:sldMk cId="0" sldId="683"/>
        </pc:sldMkLst>
      </pc:sldChg>
      <pc:sldChg chg="modSp mod">
        <pc:chgData name="Andrea Cristina Dos Santos" userId="c1f965dc-8845-4afc-9e32-8f70830fffd6" providerId="ADAL" clId="{0A935FFE-965E-3447-BD77-94911BC398F2}" dt="2024-12-03T18:50:58.621" v="7" actId="1076"/>
        <pc:sldMkLst>
          <pc:docMk/>
          <pc:sldMk cId="230152407" sldId="706"/>
        </pc:sldMkLst>
        <pc:spChg chg="mod">
          <ac:chgData name="Andrea Cristina Dos Santos" userId="c1f965dc-8845-4afc-9e32-8f70830fffd6" providerId="ADAL" clId="{0A935FFE-965E-3447-BD77-94911BC398F2}" dt="2024-12-03T18:50:58.621" v="7" actId="1076"/>
          <ac:spMkLst>
            <pc:docMk/>
            <pc:sldMk cId="230152407" sldId="706"/>
            <ac:spMk id="2" creationId="{D5DEE0E5-9622-B15B-5C29-B95E0F2C1281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D87DDA9E-8B16-5566-63CC-9072F39F1B1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lnSpc>
                <a:spcPct val="80000"/>
              </a:lnSpc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0EF0098-258E-01E6-25E7-98DBCE6D0A5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lnSpc>
                <a:spcPct val="80000"/>
              </a:lnSpc>
              <a:defRPr sz="1300">
                <a:latin typeface="Arial" charset="0"/>
              </a:defRPr>
            </a:lvl1pPr>
          </a:lstStyle>
          <a:p>
            <a:pPr>
              <a:defRPr/>
            </a:pPr>
            <a:fld id="{8C45C120-4CFA-FC40-9FD3-43052D987E25}" type="datetimeFigureOut">
              <a:rPr lang="pt-BR"/>
              <a:pPr>
                <a:defRPr/>
              </a:pPr>
              <a:t>03/12/2024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DD96A3B-2388-4110-7514-0F7DEEA7A83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lnSpc>
                <a:spcPct val="80000"/>
              </a:lnSpc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F4024A6-2878-15E4-0831-A6325754EAE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80000"/>
              </a:lnSpc>
              <a:defRPr sz="1300" smtClean="0"/>
            </a:lvl1pPr>
          </a:lstStyle>
          <a:p>
            <a:pPr>
              <a:defRPr/>
            </a:pPr>
            <a:fld id="{97AEC746-8108-124F-ADF1-C9F38CB56FE4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6C545F38-54F8-1C05-B815-7F1822CC6C1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E97ADA30-8DE4-EBB5-BFD9-AC2826D2A7C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1508" name="Rectangle 4">
            <a:extLst>
              <a:ext uri="{FF2B5EF4-FFF2-40B4-BE49-F238E27FC236}">
                <a16:creationId xmlns:a16="http://schemas.microsoft.com/office/drawing/2014/main" id="{6347E44F-640C-82CB-64F4-3A8FAADFA1E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8888" y="720725"/>
            <a:ext cx="4797425" cy="3598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5" name="Rectangle 5">
            <a:extLst>
              <a:ext uri="{FF2B5EF4-FFF2-40B4-BE49-F238E27FC236}">
                <a16:creationId xmlns:a16="http://schemas.microsoft.com/office/drawing/2014/main" id="{B577328F-8861-9285-B7D1-5FF112F7B66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59300"/>
            <a:ext cx="5851525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30726" name="Rectangle 6">
            <a:extLst>
              <a:ext uri="{FF2B5EF4-FFF2-40B4-BE49-F238E27FC236}">
                <a16:creationId xmlns:a16="http://schemas.microsoft.com/office/drawing/2014/main" id="{27A0D046-F7C6-D840-DCF4-4D0AC57B1F2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27" name="Rectangle 7">
            <a:extLst>
              <a:ext uri="{FF2B5EF4-FFF2-40B4-BE49-F238E27FC236}">
                <a16:creationId xmlns:a16="http://schemas.microsoft.com/office/drawing/2014/main" id="{397727EA-B43B-9CF7-7D39-96BBBBA016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 smtClean="0"/>
            </a:lvl1pPr>
          </a:lstStyle>
          <a:p>
            <a:pPr>
              <a:defRPr/>
            </a:pPr>
            <a:fld id="{8480A3E9-4BA0-8C43-8C3C-99E6BB7DD864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>
            <a:extLst>
              <a:ext uri="{FF2B5EF4-FFF2-40B4-BE49-F238E27FC236}">
                <a16:creationId xmlns:a16="http://schemas.microsoft.com/office/drawing/2014/main" id="{44916FCF-D115-2841-FBD6-45290395F7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0B696A8-67E6-E340-84E3-60B8AD0098C4}" type="slidenum">
              <a:rPr lang="pt-BR" altLang="pt-BR" sz="1300"/>
              <a:pPr/>
              <a:t>2</a:t>
            </a:fld>
            <a:endParaRPr lang="pt-BR" altLang="pt-BR" sz="1300"/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3D4726C7-FF5A-D3BC-058F-5DD1FF1845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4531E266-94C1-C2FF-46EB-EDD8AFC754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>
            <a:extLst>
              <a:ext uri="{FF2B5EF4-FFF2-40B4-BE49-F238E27FC236}">
                <a16:creationId xmlns:a16="http://schemas.microsoft.com/office/drawing/2014/main" id="{4C23778C-6C4E-089C-6F34-CE906C83DB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DED68CB-4A72-0648-9BA7-4133E7D578F8}" type="slidenum">
              <a:rPr lang="pt-BR" altLang="pt-BR" sz="1300"/>
              <a:pPr/>
              <a:t>3</a:t>
            </a:fld>
            <a:endParaRPr lang="pt-BR" altLang="pt-BR" sz="1300"/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7C2540CC-9916-E726-A74E-55F9D830B8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99C90577-C3DB-1A01-CE94-9F4673D3DF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FD40788-2AE1-413E-8C58-A8EBF6CDFC41}" type="slidenum">
              <a:rPr lang="pt-BR" smtClean="0"/>
              <a:pPr/>
              <a:t>5</a:t>
            </a:fld>
            <a:endParaRPr lang="pt-BR"/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>
            <a:extLst>
              <a:ext uri="{FF2B5EF4-FFF2-40B4-BE49-F238E27FC236}">
                <a16:creationId xmlns:a16="http://schemas.microsoft.com/office/drawing/2014/main" id="{4C23778C-6C4E-089C-6F34-CE906C83DB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DED68CB-4A72-0648-9BA7-4133E7D578F8}" type="slidenum">
              <a:rPr lang="pt-BR" altLang="pt-BR" sz="1300"/>
              <a:pPr/>
              <a:t>7</a:t>
            </a:fld>
            <a:endParaRPr lang="pt-BR" altLang="pt-BR" sz="1300"/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7C2540CC-9916-E726-A74E-55F9D830B8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99C90577-C3DB-1A01-CE94-9F4673D3DF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38964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4138B19-2BA6-4888-B0DC-238C6F8011A0}" type="slidenum">
              <a:rPr lang="pt-BR" smtClean="0"/>
              <a:pPr/>
              <a:t>8</a:t>
            </a:fld>
            <a:endParaRPr lang="pt-BR"/>
          </a:p>
        </p:txBody>
      </p:sp>
      <p:sp>
        <p:nvSpPr>
          <p:cNvPr id="155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2EB9F0F-2F02-49E3-8F79-FB80BA62C885}" type="slidenum">
              <a:rPr lang="pt-BR" smtClean="0"/>
              <a:pPr/>
              <a:t>9</a:t>
            </a:fld>
            <a:endParaRPr lang="pt-BR"/>
          </a:p>
        </p:txBody>
      </p:sp>
      <p:sp>
        <p:nvSpPr>
          <p:cNvPr id="136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>
            <a:extLst>
              <a:ext uri="{FF2B5EF4-FFF2-40B4-BE49-F238E27FC236}">
                <a16:creationId xmlns:a16="http://schemas.microsoft.com/office/drawing/2014/main" id="{4C23778C-6C4E-089C-6F34-CE906C83DB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DED68CB-4A72-0648-9BA7-4133E7D578F8}" type="slidenum">
              <a:rPr lang="pt-BR" altLang="pt-BR" sz="1300"/>
              <a:pPr/>
              <a:t>11</a:t>
            </a:fld>
            <a:endParaRPr lang="pt-BR" altLang="pt-BR" sz="1300"/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7C2540CC-9916-E726-A74E-55F9D830B8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99C90577-C3DB-1A01-CE94-9F4673D3DF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50234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>
            <a:extLst>
              <a:ext uri="{FF2B5EF4-FFF2-40B4-BE49-F238E27FC236}">
                <a16:creationId xmlns:a16="http://schemas.microsoft.com/office/drawing/2014/main" id="{18ADFACA-09F3-9817-DF76-7884E71C7B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54A6FCE-6838-9743-A165-0DF9D97B1EEC}" type="slidenum">
              <a:rPr lang="pt-BR" altLang="pt-BR" sz="1300"/>
              <a:pPr/>
              <a:t>12</a:t>
            </a:fld>
            <a:endParaRPr lang="pt-BR" altLang="pt-BR" sz="1300"/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5ED886BA-794B-A2A3-DCFC-D1FBA13FAE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450931A7-AC20-4A66-F882-26CB75F21F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>
            <a:extLst>
              <a:ext uri="{FF2B5EF4-FFF2-40B4-BE49-F238E27FC236}">
                <a16:creationId xmlns:a16="http://schemas.microsoft.com/office/drawing/2014/main" id="{90B580C1-8750-5B69-3BD5-5112720FA0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433ED73-ECAE-B94B-9E4F-3D44F63CD849}" type="slidenum">
              <a:rPr lang="pt-BR" altLang="pt-BR" sz="1300"/>
              <a:pPr/>
              <a:t>15</a:t>
            </a:fld>
            <a:endParaRPr lang="pt-BR" altLang="pt-BR" sz="1300"/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557D6743-9B39-E2EE-39B5-AAEACF5CDD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0570C848-6D86-D22D-4FDA-3F1DA6FB60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>
            <a:extLst>
              <a:ext uri="{FF2B5EF4-FFF2-40B4-BE49-F238E27FC236}">
                <a16:creationId xmlns:a16="http://schemas.microsoft.com/office/drawing/2014/main" id="{A18F216F-373B-BDC3-CB0E-51F30D286C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1FEEE18-5617-5F4B-9166-666C38A28540}" type="slidenum">
              <a:rPr lang="pt-BR" altLang="pt-BR" sz="1300"/>
              <a:pPr/>
              <a:t>16</a:t>
            </a:fld>
            <a:endParaRPr lang="pt-BR" altLang="pt-BR" sz="1300"/>
          </a:p>
        </p:txBody>
      </p:sp>
      <p:sp>
        <p:nvSpPr>
          <p:cNvPr id="48130" name="Rectangle 2">
            <a:extLst>
              <a:ext uri="{FF2B5EF4-FFF2-40B4-BE49-F238E27FC236}">
                <a16:creationId xmlns:a16="http://schemas.microsoft.com/office/drawing/2014/main" id="{8FECC548-B546-B180-F6AF-AA516131A6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0F64E87F-DDA1-542C-6028-A661E02B24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>
            <a:extLst>
              <a:ext uri="{FF2B5EF4-FFF2-40B4-BE49-F238E27FC236}">
                <a16:creationId xmlns:a16="http://schemas.microsoft.com/office/drawing/2014/main" id="{3C023135-C08D-BAF0-1B97-EB193071F1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197DD3D-79CE-7C40-A8B5-918D6272F0BC}" type="slidenum">
              <a:rPr lang="pt-BR" altLang="pt-BR" sz="1300"/>
              <a:pPr/>
              <a:t>18</a:t>
            </a:fld>
            <a:endParaRPr lang="pt-BR" altLang="pt-BR" sz="1300"/>
          </a:p>
        </p:txBody>
      </p:sp>
      <p:sp>
        <p:nvSpPr>
          <p:cNvPr id="50178" name="Rectangle 2">
            <a:extLst>
              <a:ext uri="{FF2B5EF4-FFF2-40B4-BE49-F238E27FC236}">
                <a16:creationId xmlns:a16="http://schemas.microsoft.com/office/drawing/2014/main" id="{BA8347EF-14BE-9B90-7B8A-16B39FC8E3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644B3611-FCE8-5221-FA62-083439F678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>
            <a:extLst>
              <a:ext uri="{FF2B5EF4-FFF2-40B4-BE49-F238E27FC236}">
                <a16:creationId xmlns:a16="http://schemas.microsoft.com/office/drawing/2014/main" id="{23DDB806-00CE-EFD6-A8E5-8CEE0133C9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FF6E8B7-7AA4-5F43-A9EF-045C0D29285B}" type="slidenum">
              <a:rPr lang="pt-BR" altLang="pt-BR" sz="1300"/>
              <a:pPr/>
              <a:t>19</a:t>
            </a:fld>
            <a:endParaRPr lang="pt-BR" altLang="pt-BR" sz="1300"/>
          </a:p>
        </p:txBody>
      </p:sp>
      <p:sp>
        <p:nvSpPr>
          <p:cNvPr id="52226" name="Rectangle 2">
            <a:extLst>
              <a:ext uri="{FF2B5EF4-FFF2-40B4-BE49-F238E27FC236}">
                <a16:creationId xmlns:a16="http://schemas.microsoft.com/office/drawing/2014/main" id="{B0FBB101-3555-588E-36B6-EADE623CEB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7AE3FED0-4EB4-50DD-0054-A9A6B5605D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>
            <a:extLst>
              <a:ext uri="{FF2B5EF4-FFF2-40B4-BE49-F238E27FC236}">
                <a16:creationId xmlns:a16="http://schemas.microsoft.com/office/drawing/2014/main" id="{61EE7603-EEBF-A3D9-5A94-84E50DC9FB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2E1FBAB-CB0D-5346-872D-2C407C51F827}" type="slidenum">
              <a:rPr lang="pt-BR" altLang="pt-BR" sz="1300"/>
              <a:pPr/>
              <a:t>20</a:t>
            </a:fld>
            <a:endParaRPr lang="pt-BR" altLang="pt-BR" sz="1300"/>
          </a:p>
        </p:txBody>
      </p:sp>
      <p:sp>
        <p:nvSpPr>
          <p:cNvPr id="54274" name="Rectangle 2">
            <a:extLst>
              <a:ext uri="{FF2B5EF4-FFF2-40B4-BE49-F238E27FC236}">
                <a16:creationId xmlns:a16="http://schemas.microsoft.com/office/drawing/2014/main" id="{772877EF-DE21-DB76-5C28-6D9FC0F377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A899640E-F4F8-2DA0-B1BD-D2A7FD711C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7">
            <a:extLst>
              <a:ext uri="{FF2B5EF4-FFF2-40B4-BE49-F238E27FC236}">
                <a16:creationId xmlns:a16="http://schemas.microsoft.com/office/drawing/2014/main" id="{F507F7E4-8115-DA59-5878-638512D877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83B52A5-8E9F-304A-8B8A-2BC359A87FEF}" type="slidenum">
              <a:rPr lang="pt-BR" altLang="pt-BR" sz="1300"/>
              <a:pPr/>
              <a:t>21</a:t>
            </a:fld>
            <a:endParaRPr lang="pt-BR" altLang="pt-BR" sz="1300"/>
          </a:p>
        </p:txBody>
      </p:sp>
      <p:sp>
        <p:nvSpPr>
          <p:cNvPr id="56322" name="Rectangle 2">
            <a:extLst>
              <a:ext uri="{FF2B5EF4-FFF2-40B4-BE49-F238E27FC236}">
                <a16:creationId xmlns:a16="http://schemas.microsoft.com/office/drawing/2014/main" id="{496B0151-C3AD-0340-F46E-5A36A3C94E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8431EECC-2195-9D2D-C684-B505DAFA15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7">
            <a:extLst>
              <a:ext uri="{FF2B5EF4-FFF2-40B4-BE49-F238E27FC236}">
                <a16:creationId xmlns:a16="http://schemas.microsoft.com/office/drawing/2014/main" id="{E5A1A9DE-4F0B-5EE1-86A4-494576C5DB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9D176EC-3DA7-D042-89F2-D3CF658209A0}" type="slidenum">
              <a:rPr lang="pt-BR" altLang="pt-BR" sz="1300"/>
              <a:pPr/>
              <a:t>22</a:t>
            </a:fld>
            <a:endParaRPr lang="pt-BR" altLang="pt-BR" sz="1300"/>
          </a:p>
        </p:txBody>
      </p:sp>
      <p:sp>
        <p:nvSpPr>
          <p:cNvPr id="58370" name="Rectangle 2">
            <a:extLst>
              <a:ext uri="{FF2B5EF4-FFF2-40B4-BE49-F238E27FC236}">
                <a16:creationId xmlns:a16="http://schemas.microsoft.com/office/drawing/2014/main" id="{44ECA3D7-F8DA-19E4-70D5-5E251DCBD1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53F0002D-648F-8A6D-4D6D-94C14E8B61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7">
            <a:extLst>
              <a:ext uri="{FF2B5EF4-FFF2-40B4-BE49-F238E27FC236}">
                <a16:creationId xmlns:a16="http://schemas.microsoft.com/office/drawing/2014/main" id="{4302164C-6321-C134-E783-6B0633BBCF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5B916BB-A9C7-5349-85EF-80F5C3AACC22}" type="slidenum">
              <a:rPr lang="pt-BR" altLang="pt-BR" sz="1300"/>
              <a:pPr/>
              <a:t>23</a:t>
            </a:fld>
            <a:endParaRPr lang="pt-BR" altLang="pt-BR" sz="1300"/>
          </a:p>
        </p:txBody>
      </p:sp>
      <p:sp>
        <p:nvSpPr>
          <p:cNvPr id="60418" name="Rectangle 2">
            <a:extLst>
              <a:ext uri="{FF2B5EF4-FFF2-40B4-BE49-F238E27FC236}">
                <a16:creationId xmlns:a16="http://schemas.microsoft.com/office/drawing/2014/main" id="{7083A111-B410-AA2B-3734-FE1B042ACD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2BDB9CDD-0CEA-8190-99B6-797E75356D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>
            <a:extLst>
              <a:ext uri="{FF2B5EF4-FFF2-40B4-BE49-F238E27FC236}">
                <a16:creationId xmlns:a16="http://schemas.microsoft.com/office/drawing/2014/main" id="{AB15EDEF-265D-FC91-DC7C-5881D61EE0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10F1FD0-CDCA-9A48-94B7-41C0F1F31B3A}" type="slidenum">
              <a:rPr lang="pt-BR" altLang="pt-BR" sz="1300"/>
              <a:pPr/>
              <a:t>24</a:t>
            </a:fld>
            <a:endParaRPr lang="pt-BR" altLang="pt-BR" sz="1300"/>
          </a:p>
        </p:txBody>
      </p:sp>
      <p:sp>
        <p:nvSpPr>
          <p:cNvPr id="62466" name="Rectangle 2">
            <a:extLst>
              <a:ext uri="{FF2B5EF4-FFF2-40B4-BE49-F238E27FC236}">
                <a16:creationId xmlns:a16="http://schemas.microsoft.com/office/drawing/2014/main" id="{93EFD840-223C-28CB-79C8-19254DDD79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06C24794-2A23-AF41-E6D3-883EB70E57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7">
            <a:extLst>
              <a:ext uri="{FF2B5EF4-FFF2-40B4-BE49-F238E27FC236}">
                <a16:creationId xmlns:a16="http://schemas.microsoft.com/office/drawing/2014/main" id="{1526632E-5575-2D9C-41C6-5867BCA428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E09225F-31BE-0E48-84BD-9A4369911166}" type="slidenum">
              <a:rPr lang="pt-BR" altLang="pt-BR" sz="1300"/>
              <a:pPr/>
              <a:t>25</a:t>
            </a:fld>
            <a:endParaRPr lang="pt-BR" altLang="pt-BR" sz="1300"/>
          </a:p>
        </p:txBody>
      </p:sp>
      <p:sp>
        <p:nvSpPr>
          <p:cNvPr id="64514" name="Rectangle 2">
            <a:extLst>
              <a:ext uri="{FF2B5EF4-FFF2-40B4-BE49-F238E27FC236}">
                <a16:creationId xmlns:a16="http://schemas.microsoft.com/office/drawing/2014/main" id="{D60A1A99-0F2D-E21A-178B-067C2AB98F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5EDEB07C-EB6D-C51C-39B2-A06244E57E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7">
            <a:extLst>
              <a:ext uri="{FF2B5EF4-FFF2-40B4-BE49-F238E27FC236}">
                <a16:creationId xmlns:a16="http://schemas.microsoft.com/office/drawing/2014/main" id="{F2A3DE0C-9649-09DD-A28B-67D0703015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BCFACDB-D952-6245-9154-8093FD074D65}" type="slidenum">
              <a:rPr lang="pt-BR" altLang="pt-BR" sz="1300"/>
              <a:pPr/>
              <a:t>30</a:t>
            </a:fld>
            <a:endParaRPr lang="pt-BR" altLang="pt-BR" sz="1300"/>
          </a:p>
        </p:txBody>
      </p:sp>
      <p:sp>
        <p:nvSpPr>
          <p:cNvPr id="66562" name="Rectangle 2">
            <a:extLst>
              <a:ext uri="{FF2B5EF4-FFF2-40B4-BE49-F238E27FC236}">
                <a16:creationId xmlns:a16="http://schemas.microsoft.com/office/drawing/2014/main" id="{036B4DB5-5784-ED11-BDB3-5648C170EA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5D6E86D5-6E8F-7B7C-EEB6-2962D95519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7">
            <a:extLst>
              <a:ext uri="{FF2B5EF4-FFF2-40B4-BE49-F238E27FC236}">
                <a16:creationId xmlns:a16="http://schemas.microsoft.com/office/drawing/2014/main" id="{0E979101-C514-CBB6-3F7D-BA5B528F6F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4489199-5C79-1448-AE73-715A8A548451}" type="slidenum">
              <a:rPr lang="pt-BR" altLang="pt-BR" sz="1300"/>
              <a:pPr/>
              <a:t>31</a:t>
            </a:fld>
            <a:endParaRPr lang="pt-BR" altLang="pt-BR" sz="1300"/>
          </a:p>
        </p:txBody>
      </p:sp>
      <p:sp>
        <p:nvSpPr>
          <p:cNvPr id="68610" name="Rectangle 2">
            <a:extLst>
              <a:ext uri="{FF2B5EF4-FFF2-40B4-BE49-F238E27FC236}">
                <a16:creationId xmlns:a16="http://schemas.microsoft.com/office/drawing/2014/main" id="{E2FD4D17-3B92-0EAD-3F14-77CF50DEDC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73F7FB48-7B07-F1F4-CD45-D3A5228278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7">
            <a:extLst>
              <a:ext uri="{FF2B5EF4-FFF2-40B4-BE49-F238E27FC236}">
                <a16:creationId xmlns:a16="http://schemas.microsoft.com/office/drawing/2014/main" id="{19DED625-1475-3245-A35F-EBE0E170A3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E83ADE2-17F4-F84A-94E6-4683658C1333}" type="slidenum">
              <a:rPr lang="pt-BR" altLang="pt-BR" sz="1300"/>
              <a:pPr/>
              <a:t>32</a:t>
            </a:fld>
            <a:endParaRPr lang="pt-BR" altLang="pt-BR" sz="1300"/>
          </a:p>
        </p:txBody>
      </p:sp>
      <p:sp>
        <p:nvSpPr>
          <p:cNvPr id="70658" name="Rectangle 2">
            <a:extLst>
              <a:ext uri="{FF2B5EF4-FFF2-40B4-BE49-F238E27FC236}">
                <a16:creationId xmlns:a16="http://schemas.microsoft.com/office/drawing/2014/main" id="{C41939F9-9DFB-60AB-3A14-7AC817C14E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5E1FAE88-860C-8CC0-DE8F-E39002DB82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7">
            <a:extLst>
              <a:ext uri="{FF2B5EF4-FFF2-40B4-BE49-F238E27FC236}">
                <a16:creationId xmlns:a16="http://schemas.microsoft.com/office/drawing/2014/main" id="{8A4C6F4F-F829-8506-5F76-B46049BD01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63D34B9-33A0-8342-A1DE-0E86C551DA0D}" type="slidenum">
              <a:rPr lang="pt-BR" altLang="pt-BR" sz="1300"/>
              <a:pPr/>
              <a:t>33</a:t>
            </a:fld>
            <a:endParaRPr lang="pt-BR" altLang="pt-BR" sz="1300"/>
          </a:p>
        </p:txBody>
      </p:sp>
      <p:sp>
        <p:nvSpPr>
          <p:cNvPr id="72706" name="Rectangle 2">
            <a:extLst>
              <a:ext uri="{FF2B5EF4-FFF2-40B4-BE49-F238E27FC236}">
                <a16:creationId xmlns:a16="http://schemas.microsoft.com/office/drawing/2014/main" id="{9FBE823B-8221-2712-5BB6-89BC603491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8BBE607D-8479-5D1D-4FFF-4DAD7B0246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7">
            <a:extLst>
              <a:ext uri="{FF2B5EF4-FFF2-40B4-BE49-F238E27FC236}">
                <a16:creationId xmlns:a16="http://schemas.microsoft.com/office/drawing/2014/main" id="{B3D4B550-9690-8D96-AD24-6CE300580E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5A382B1-8B4D-5044-AC87-D4E1472E6E8D}" type="slidenum">
              <a:rPr lang="pt-BR" altLang="pt-BR" sz="1300"/>
              <a:pPr/>
              <a:t>34</a:t>
            </a:fld>
            <a:endParaRPr lang="pt-BR" altLang="pt-BR" sz="1300"/>
          </a:p>
        </p:txBody>
      </p:sp>
      <p:sp>
        <p:nvSpPr>
          <p:cNvPr id="74754" name="Rectangle 2">
            <a:extLst>
              <a:ext uri="{FF2B5EF4-FFF2-40B4-BE49-F238E27FC236}">
                <a16:creationId xmlns:a16="http://schemas.microsoft.com/office/drawing/2014/main" id="{AED847A9-91E6-EA0B-C9FE-C67DE8C53A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7439D65F-C98B-A72B-E8BD-FC5CCDB464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7">
            <a:extLst>
              <a:ext uri="{FF2B5EF4-FFF2-40B4-BE49-F238E27FC236}">
                <a16:creationId xmlns:a16="http://schemas.microsoft.com/office/drawing/2014/main" id="{DFD38B0D-1822-3759-E316-C21277CC7B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017FF8F-22EA-1C4E-8862-174529082CBB}" type="slidenum">
              <a:rPr lang="pt-BR" altLang="pt-BR" sz="1300"/>
              <a:pPr/>
              <a:t>35</a:t>
            </a:fld>
            <a:endParaRPr lang="pt-BR" altLang="pt-BR" sz="1300"/>
          </a:p>
        </p:txBody>
      </p:sp>
      <p:sp>
        <p:nvSpPr>
          <p:cNvPr id="76802" name="Rectangle 2">
            <a:extLst>
              <a:ext uri="{FF2B5EF4-FFF2-40B4-BE49-F238E27FC236}">
                <a16:creationId xmlns:a16="http://schemas.microsoft.com/office/drawing/2014/main" id="{CE5A2962-E392-06D9-C026-B8CC548C2D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39673C42-0B98-BCAF-4766-349CBFAEC1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7">
            <a:extLst>
              <a:ext uri="{FF2B5EF4-FFF2-40B4-BE49-F238E27FC236}">
                <a16:creationId xmlns:a16="http://schemas.microsoft.com/office/drawing/2014/main" id="{8A0D0B97-0CBD-ABFC-CECE-415A952AA8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616EC98-E36C-3843-9512-5E35C8B712BB}" type="slidenum">
              <a:rPr lang="pt-BR" altLang="pt-BR" sz="1300"/>
              <a:pPr/>
              <a:t>36</a:t>
            </a:fld>
            <a:endParaRPr lang="pt-BR" altLang="pt-BR" sz="1300"/>
          </a:p>
        </p:txBody>
      </p:sp>
      <p:sp>
        <p:nvSpPr>
          <p:cNvPr id="78850" name="Rectangle 2">
            <a:extLst>
              <a:ext uri="{FF2B5EF4-FFF2-40B4-BE49-F238E27FC236}">
                <a16:creationId xmlns:a16="http://schemas.microsoft.com/office/drawing/2014/main" id="{8F84082D-15F9-DE8F-4157-3E33AD0455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55AD2B36-A612-2B04-4839-4C0D34E3B3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7">
            <a:extLst>
              <a:ext uri="{FF2B5EF4-FFF2-40B4-BE49-F238E27FC236}">
                <a16:creationId xmlns:a16="http://schemas.microsoft.com/office/drawing/2014/main" id="{379BBA67-F44C-2C22-D560-AD53DAA15B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B7A6CBD-8738-1F47-9C7A-9DAE3DDDC384}" type="slidenum">
              <a:rPr lang="pt-BR" altLang="pt-BR" sz="1300"/>
              <a:pPr/>
              <a:t>38</a:t>
            </a:fld>
            <a:endParaRPr lang="pt-BR" altLang="pt-BR" sz="1300"/>
          </a:p>
        </p:txBody>
      </p:sp>
      <p:sp>
        <p:nvSpPr>
          <p:cNvPr id="82946" name="Rectangle 2">
            <a:extLst>
              <a:ext uri="{FF2B5EF4-FFF2-40B4-BE49-F238E27FC236}">
                <a16:creationId xmlns:a16="http://schemas.microsoft.com/office/drawing/2014/main" id="{04D0DBAB-32E2-44D3-0C25-91066E7E19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30D6618B-760D-2BE0-1342-70D95B6921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7">
            <a:extLst>
              <a:ext uri="{FF2B5EF4-FFF2-40B4-BE49-F238E27FC236}">
                <a16:creationId xmlns:a16="http://schemas.microsoft.com/office/drawing/2014/main" id="{9D23600B-07D8-6831-8D82-B7573E581E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0242BAA-A382-C245-9846-E9E48A1C7D5D}" type="slidenum">
              <a:rPr lang="pt-BR" altLang="pt-BR" sz="1300"/>
              <a:pPr/>
              <a:t>39</a:t>
            </a:fld>
            <a:endParaRPr lang="pt-BR" altLang="pt-BR" sz="1300"/>
          </a:p>
        </p:txBody>
      </p:sp>
      <p:sp>
        <p:nvSpPr>
          <p:cNvPr id="84994" name="Rectangle 2">
            <a:extLst>
              <a:ext uri="{FF2B5EF4-FFF2-40B4-BE49-F238E27FC236}">
                <a16:creationId xmlns:a16="http://schemas.microsoft.com/office/drawing/2014/main" id="{DFCD727F-AB87-32EF-FA38-9E748E2CA3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9A8D7310-8F34-DDF3-A9BC-0C2277DFA9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7">
            <a:extLst>
              <a:ext uri="{FF2B5EF4-FFF2-40B4-BE49-F238E27FC236}">
                <a16:creationId xmlns:a16="http://schemas.microsoft.com/office/drawing/2014/main" id="{35600538-66EF-8995-C082-76ED235B14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F030B7F-6EB6-6D48-8033-B15748AAB156}" type="slidenum">
              <a:rPr lang="pt-BR" altLang="pt-BR" sz="1300"/>
              <a:pPr/>
              <a:t>40</a:t>
            </a:fld>
            <a:endParaRPr lang="pt-BR" altLang="pt-BR" sz="1300"/>
          </a:p>
        </p:txBody>
      </p:sp>
      <p:sp>
        <p:nvSpPr>
          <p:cNvPr id="87042" name="Rectangle 2">
            <a:extLst>
              <a:ext uri="{FF2B5EF4-FFF2-40B4-BE49-F238E27FC236}">
                <a16:creationId xmlns:a16="http://schemas.microsoft.com/office/drawing/2014/main" id="{47B0FB6B-3FC3-44F3-7B94-45255658F3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D9711F8D-D815-3F0E-F18B-062C550EDC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7">
            <a:extLst>
              <a:ext uri="{FF2B5EF4-FFF2-40B4-BE49-F238E27FC236}">
                <a16:creationId xmlns:a16="http://schemas.microsoft.com/office/drawing/2014/main" id="{65A15098-EC01-10C3-F3AD-32604018D9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A0531AA-BD52-E446-8723-5E22728D4141}" type="slidenum">
              <a:rPr lang="pt-BR" altLang="pt-BR" sz="1300"/>
              <a:pPr/>
              <a:t>41</a:t>
            </a:fld>
            <a:endParaRPr lang="pt-BR" altLang="pt-BR" sz="1300"/>
          </a:p>
        </p:txBody>
      </p:sp>
      <p:sp>
        <p:nvSpPr>
          <p:cNvPr id="89090" name="Rectangle 2">
            <a:extLst>
              <a:ext uri="{FF2B5EF4-FFF2-40B4-BE49-F238E27FC236}">
                <a16:creationId xmlns:a16="http://schemas.microsoft.com/office/drawing/2014/main" id="{FA6CEA67-C2A5-2F52-A3E2-DE941F4706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B2EEC584-62DA-2351-82E8-2BF39E9C2F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7">
            <a:extLst>
              <a:ext uri="{FF2B5EF4-FFF2-40B4-BE49-F238E27FC236}">
                <a16:creationId xmlns:a16="http://schemas.microsoft.com/office/drawing/2014/main" id="{D8A11BA3-2631-EABE-88C2-5109B7C423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26BF572-E613-E64A-B661-948D447E719B}" type="slidenum">
              <a:rPr lang="pt-BR" altLang="pt-BR" sz="1300"/>
              <a:pPr/>
              <a:t>42</a:t>
            </a:fld>
            <a:endParaRPr lang="pt-BR" altLang="pt-BR" sz="1300"/>
          </a:p>
        </p:txBody>
      </p:sp>
      <p:sp>
        <p:nvSpPr>
          <p:cNvPr id="91138" name="Rectangle 2">
            <a:extLst>
              <a:ext uri="{FF2B5EF4-FFF2-40B4-BE49-F238E27FC236}">
                <a16:creationId xmlns:a16="http://schemas.microsoft.com/office/drawing/2014/main" id="{696A7EEB-8759-38E7-3D23-C7CD530C5C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A8300F74-5AE2-DDBE-21AC-09F194DAFD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>
            <a:extLst>
              <a:ext uri="{FF2B5EF4-FFF2-40B4-BE49-F238E27FC236}">
                <a16:creationId xmlns:a16="http://schemas.microsoft.com/office/drawing/2014/main" id="{4C23778C-6C4E-089C-6F34-CE906C83DB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DED68CB-4A72-0648-9BA7-4133E7D578F8}" type="slidenum">
              <a:rPr lang="pt-BR" altLang="pt-BR" sz="1300"/>
              <a:pPr/>
              <a:t>50</a:t>
            </a:fld>
            <a:endParaRPr lang="pt-BR" altLang="pt-BR" sz="1300"/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7C2540CC-9916-E726-A74E-55F9D830B8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99C90577-C3DB-1A01-CE94-9F4673D3DF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864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FDC305C-DFBA-5157-517A-0BCCCCD6E5F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AA331B4-3147-BA49-175B-A199337398B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A9C4363-FAA0-E017-6961-F8FEA8C8C4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8FBD1F-6A47-534F-88AB-93DCD672793E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682105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3AC2CA4-B08F-B5C1-C895-B64D7287EE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DF8AC10-7BBA-D2CC-CC33-1A6B8F8BD54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7CDEDB4-472D-BB87-6A2B-A10C52BAD9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F8D9EB-303C-914C-BCE5-D01A0B3F42AF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551907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0778BB7-0109-C562-E641-C1F4AC4414D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4EE9C9E-BF94-3EDC-054F-008B6A6AA91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24DB60A-AD00-5D2D-6FB5-C083449D10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526E31-3EE9-F045-861A-C6E402D6856C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21272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12713" y="887413"/>
            <a:ext cx="4210050" cy="5238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475163" y="887413"/>
            <a:ext cx="4211637" cy="5238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97F919-EEDB-679B-4A44-6090AB7DA4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F6BBF0-ED73-65EF-2595-95AAD0E1FB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DEB745-D628-F28D-81A9-D6C13AA1344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480205-E667-F943-BDD7-CAAE008268CB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900273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6556B42-902B-E837-F1FA-6A1C44EE09F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F17BBED-7BFC-C005-9ADA-8F98AF226E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261DF58-8133-F0EB-39FE-CABF364147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0FCDDE-FA10-1A47-B005-FB90D57C2946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087872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6E0A749-8AFC-0597-0076-E2C8EA0FF75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5D3D278-CD86-17FF-91FF-335E207DE3B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C652AE0-9C94-F5C7-2EAB-5AC6DC2B21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BB6466-50CA-414E-993A-D85A0EB8A191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062064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499A127-6A55-7BC4-82E1-2CA0CAABB19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2F823B7-F77E-6C94-7C00-D90DC9A8E6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B2D9BF0-0460-E409-E5B8-A94433F939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F52E79-5EA9-4843-9894-FD20E39E98B7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215358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9F0C1B-1F14-D79D-0611-F2C5487A4F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D6E2F5-4EEE-B212-D032-F4BBC0281B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ED4800-0856-B55E-6C31-1FA8098E282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218931-78E5-684C-85E4-4DC99018D195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873799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6CFCE6-34E5-60C3-54B5-CA612BF76F4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BF26DD-96B5-8A15-8BB2-E36C0FF6B56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8FE4F1-13A5-5B00-D913-968D819DDA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4D3836-75BB-5E41-A3DE-1338A8C66AB3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083762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137197B-4891-49F6-0934-0A77CC193BB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6BF0947-88EE-30AD-1183-76FA8AC257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E527102-E87E-626A-A9ED-4196D83EFB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0FA3C0-6D25-D04F-B62F-D8B5E28FACF6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558658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15100" y="0"/>
            <a:ext cx="2171700" cy="6126163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362700" cy="6126163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4CA4F7A-88F7-EFB8-5548-ED3644695E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B13C892-5AC6-BB92-7DF9-409B3EABA6C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A04ADF2-665F-373A-ADA9-2F4A2827F2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EE1D9E-8A4C-5546-8B85-6C54C6E6452C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9498305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Título, text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7388225" cy="706438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112713" y="887413"/>
            <a:ext cx="4210050" cy="5238750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Gráfico 3"/>
          <p:cNvSpPr>
            <a:spLocks noGrp="1"/>
          </p:cNvSpPr>
          <p:nvPr>
            <p:ph type="chart" sz="half" idx="2"/>
          </p:nvPr>
        </p:nvSpPr>
        <p:spPr>
          <a:xfrm>
            <a:off x="4475163" y="887413"/>
            <a:ext cx="4211637" cy="5238750"/>
          </a:xfrm>
        </p:spPr>
        <p:txBody>
          <a:bodyPr/>
          <a:lstStyle/>
          <a:p>
            <a:pPr lvl="0"/>
            <a:endParaRPr lang="pt-BR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4EF47A-5372-121D-4F7D-9C3168BE33F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C72218-32F0-93DC-06F3-7A2C6EEA14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C56D1C-DE56-70DD-9E93-F7540A603C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1F7310-D77C-3C4B-B15E-5F8D27C8E82E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8921284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ítulo, conteúdo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95288" y="188913"/>
            <a:ext cx="8229600" cy="1143000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539750" y="1484313"/>
            <a:ext cx="4038600" cy="4525962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730750" y="1484313"/>
            <a:ext cx="4038600" cy="4525962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20C09A-A63C-538B-C960-B820951197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1B2801-E839-6A8A-014B-8DAD3F2C129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F3E3BA-9E54-B49E-9660-C333006E1E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A7A55E-74CD-D840-B2CC-C6AB52CA567C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059485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ítulo e texto e 2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95288" y="188913"/>
            <a:ext cx="8229600" cy="1143000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539750" y="1484313"/>
            <a:ext cx="4038600" cy="4525962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2"/>
          </p:nvPr>
        </p:nvSpPr>
        <p:spPr>
          <a:xfrm>
            <a:off x="4730750" y="1484313"/>
            <a:ext cx="4038600" cy="2185987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3"/>
          </p:nvPr>
        </p:nvSpPr>
        <p:spPr>
          <a:xfrm>
            <a:off x="4730750" y="3822700"/>
            <a:ext cx="4038600" cy="2187575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A11D6165-CA77-6F31-B71B-6CE0207BAC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CB9BB942-913C-45D9-1CE9-311F0B714C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7B6549A5-2DA5-C4E6-4A8B-BF7D2742CD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811906-BB34-1847-A1CF-91E5F2B4AA08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8938418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ítulo, text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95288" y="188913"/>
            <a:ext cx="8229600" cy="1143000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539750" y="1484313"/>
            <a:ext cx="4038600" cy="4525962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730750" y="1484313"/>
            <a:ext cx="4038600" cy="4525962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A96956-FCAE-6F90-231E-1A5DF4CA7D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D12EE8-E89F-70E2-9932-FADA283698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11CFEE-AED7-556F-EC3E-FDA4F6FA88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E7B2AF-F1FA-1747-920C-3181A3BF551C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4491165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395288" y="188913"/>
            <a:ext cx="8374062" cy="5821362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6A0F3C4-13A2-C8A2-45DA-C967C8B46A6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E8FAF62-5935-0B36-F808-F5C50444648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D8F7030-B75E-1D77-D0DF-8E13DB3E15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22E844-2D76-3E49-924D-CB2087372761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2414254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ítulo e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95288" y="188913"/>
            <a:ext cx="8229600" cy="1143000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abela 2"/>
          <p:cNvSpPr>
            <a:spLocks noGrp="1"/>
          </p:cNvSpPr>
          <p:nvPr>
            <p:ph type="tbl" idx="1"/>
          </p:nvPr>
        </p:nvSpPr>
        <p:spPr>
          <a:xfrm>
            <a:off x="539750" y="1484313"/>
            <a:ext cx="8229600" cy="4525962"/>
          </a:xfrm>
        </p:spPr>
        <p:txBody>
          <a:bodyPr/>
          <a:lstStyle/>
          <a:p>
            <a:pPr lvl="0"/>
            <a:endParaRPr lang="pt-BR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808DCC8-6197-DE7A-A1C9-061E86167A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889145C-9EEA-F95A-E97E-E735A9292E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3A85727-A778-9A8E-BEE6-359ED33C17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C68B22-9668-234D-874E-4DF569D4B6F3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892961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ítulo e 4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sz="quarter"/>
          </p:nvPr>
        </p:nvSpPr>
        <p:spPr>
          <a:xfrm>
            <a:off x="395288" y="188913"/>
            <a:ext cx="8229600" cy="1143000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539750" y="1484313"/>
            <a:ext cx="4038600" cy="2185987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2"/>
          </p:nvPr>
        </p:nvSpPr>
        <p:spPr>
          <a:xfrm>
            <a:off x="4730750" y="1484313"/>
            <a:ext cx="4038600" cy="2185987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3"/>
          </p:nvPr>
        </p:nvSpPr>
        <p:spPr>
          <a:xfrm>
            <a:off x="539750" y="3822700"/>
            <a:ext cx="4038600" cy="2187575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730750" y="3822700"/>
            <a:ext cx="4038600" cy="2187575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55FB989-A236-E28F-5E5E-6739A763E74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A2F9FF3-9E3D-8905-6D09-21EC785E50F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62825494-1479-6D4E-B8A6-11B5AFEA4F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7A8220-C969-AA43-A99F-36C480C8D060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060225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ítulo, conteúdo e 2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95288" y="188913"/>
            <a:ext cx="8229600" cy="1143000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539750" y="1484313"/>
            <a:ext cx="4038600" cy="4525962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2"/>
          </p:nvPr>
        </p:nvSpPr>
        <p:spPr>
          <a:xfrm>
            <a:off x="4730750" y="1484313"/>
            <a:ext cx="4038600" cy="2185987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3"/>
          </p:nvPr>
        </p:nvSpPr>
        <p:spPr>
          <a:xfrm>
            <a:off x="4730750" y="3822700"/>
            <a:ext cx="4038600" cy="2187575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FB8DC995-3C7C-0B74-4424-5E57AB327C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255E7C92-66A0-2639-AFC0-56FE1D15450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02A79517-1D3D-E374-04EB-989C22268D7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76A89B-5672-7149-9340-22B8715293F1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9793211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ítulo e Texto em 2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1" name="Rectangle 11"/>
          <p:cNvSpPr>
            <a:spLocks noGrp="1"/>
          </p:cNvSpPr>
          <p:nvPr>
            <p:ph type="body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359465"/>
            <a:ext cx="8229600" cy="1143000"/>
          </a:xfrm>
          <a:prstGeom prst="rect">
            <a:avLst/>
          </a:prstGeom>
        </p:spPr>
        <p:txBody>
          <a:bodyPr anchor="b" anchorCtr="0">
            <a:normAutofit/>
          </a:bodyPr>
          <a:lstStyle/>
          <a:p>
            <a:pPr algn="l"/>
            <a:r>
              <a:rPr lang="pt-BR"/>
              <a:t>Clique para editar o estilo do título mestre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4FD69-4A85-4715-A222-ABB225B63BC6}" type="datetimeFigureOut">
              <a:rPr lang="en-US"/>
              <a:pPr/>
              <a:t>12/3/24</a:t>
            </a:fld>
            <a:endParaRPr lang="pt-BR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D4C49B74-5DB2-4B03-B1D2-7F6A3C51C318}" type="slidenum">
              <a:rPr/>
              <a:pPr algn="r"/>
              <a:t>‹nº›</a:t>
            </a:fld>
            <a:endParaRPr lang="pt-BR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7057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B5DCBAD-B68E-B00C-8F48-39EBD46B5D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7388225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9A0433B-4212-4EC9-5016-A3894DD30B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2713" y="887413"/>
            <a:ext cx="8574087" cy="523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45DA17F-FB52-3490-9D85-5702C66D4FD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B298FD9-91DF-5648-C936-F3C3754F019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lnSpc>
                <a:spcPct val="100000"/>
              </a:lnSpc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6405470-9C75-A5E4-D985-6DF9D96F913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8E926F5C-AA4B-6544-9596-B4082F174687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  <p:sp>
        <p:nvSpPr>
          <p:cNvPr id="1031" name="Rectangle 8">
            <a:extLst>
              <a:ext uri="{FF2B5EF4-FFF2-40B4-BE49-F238E27FC236}">
                <a16:creationId xmlns:a16="http://schemas.microsoft.com/office/drawing/2014/main" id="{11AC6FF5-DFDD-012D-A7C1-5F80CCDC5A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25413" y="808038"/>
            <a:ext cx="7861300" cy="47625"/>
          </a:xfrm>
          <a:prstGeom prst="rect">
            <a:avLst/>
          </a:prstGeom>
          <a:gradFill rotWithShape="0">
            <a:gsLst>
              <a:gs pos="0">
                <a:srgbClr val="6464BF"/>
              </a:gs>
              <a:gs pos="100000">
                <a:srgbClr val="000096"/>
              </a:gs>
            </a:gsLst>
            <a:lin ang="0" scaled="1"/>
          </a:gradFill>
          <a:ln>
            <a:noFill/>
          </a:ln>
        </p:spPr>
        <p:txBody>
          <a:bodyPr anchor="ctr">
            <a:spAutoFit/>
          </a:bodyPr>
          <a:lstStyle>
            <a:lvl1pPr>
              <a:lnSpc>
                <a:spcPct val="80000"/>
              </a:lnSpc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0000"/>
              </a:lnSpc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0000"/>
              </a:lnSpc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0000"/>
              </a:lnSpc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0000"/>
              </a:lnSpc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endParaRPr lang="pt-BR" altLang="pt-BR"/>
          </a:p>
        </p:txBody>
      </p:sp>
      <p:pic>
        <p:nvPicPr>
          <p:cNvPr id="1032" name="Picture 9">
            <a:extLst>
              <a:ext uri="{FF2B5EF4-FFF2-40B4-BE49-F238E27FC236}">
                <a16:creationId xmlns:a16="http://schemas.microsoft.com/office/drawing/2014/main" id="{0648560E-CFAD-103A-B56B-FB152D8D6EE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3863" y="0"/>
            <a:ext cx="1100137" cy="85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ndreasantos@gmail.com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5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wmf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4.emf"/><Relationship Id="rId5" Type="http://schemas.openxmlformats.org/officeDocument/2006/relationships/image" Target="../media/image23.emf"/><Relationship Id="rId4" Type="http://schemas.openxmlformats.org/officeDocument/2006/relationships/image" Target="../media/image22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4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8.png"/><Relationship Id="rId4" Type="http://schemas.openxmlformats.org/officeDocument/2006/relationships/image" Target="../media/image37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2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CaixaDeTexto 2">
            <a:extLst>
              <a:ext uri="{FF2B5EF4-FFF2-40B4-BE49-F238E27FC236}">
                <a16:creationId xmlns:a16="http://schemas.microsoft.com/office/drawing/2014/main" id="{0D2641BC-B82A-DB41-AF18-EE633B0E8F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913" y="3587750"/>
            <a:ext cx="7540625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b="1" dirty="0">
                <a:solidFill>
                  <a:srgbClr val="002060"/>
                </a:solidFill>
              </a:rPr>
              <a:t>Prof. Andréa Cristina dos Santos, Dr. Eng.</a:t>
            </a:r>
          </a:p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dirty="0" err="1">
                <a:solidFill>
                  <a:srgbClr val="002060"/>
                </a:solidFill>
                <a:hlinkClick r:id="rId2"/>
              </a:rPr>
              <a:t>andreasantos@unb.</a:t>
            </a:r>
            <a:r>
              <a:rPr lang="pt-BR" altLang="pt-BR" dirty="0" err="1">
                <a:solidFill>
                  <a:srgbClr val="002060"/>
                </a:solidFill>
              </a:rPr>
              <a:t>br</a:t>
            </a:r>
            <a:endParaRPr lang="pt-BR" altLang="pt-BR" dirty="0">
              <a:solidFill>
                <a:srgbClr val="002060"/>
              </a:solidFill>
            </a:endParaRPr>
          </a:p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dirty="0">
              <a:solidFill>
                <a:srgbClr val="002060"/>
              </a:solidFill>
            </a:endParaRPr>
          </a:p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dirty="0">
                <a:solidFill>
                  <a:srgbClr val="002060"/>
                </a:solidFill>
              </a:rPr>
              <a:t>Aula 11</a:t>
            </a:r>
          </a:p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dirty="0">
                <a:solidFill>
                  <a:srgbClr val="002060"/>
                </a:solidFill>
              </a:rPr>
              <a:t>PROJETO INFORMACIONAL</a:t>
            </a:r>
          </a:p>
        </p:txBody>
      </p:sp>
      <p:sp>
        <p:nvSpPr>
          <p:cNvPr id="23554" name="CaixaDeTexto 1">
            <a:extLst>
              <a:ext uri="{FF2B5EF4-FFF2-40B4-BE49-F238E27FC236}">
                <a16:creationId xmlns:a16="http://schemas.microsoft.com/office/drawing/2014/main" id="{9DA13EF8-34CA-972F-5B77-A255E4EFC6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463" y="1454150"/>
            <a:ext cx="7575550" cy="18161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b="1">
                <a:solidFill>
                  <a:schemeClr val="bg1"/>
                </a:solidFill>
              </a:rPr>
              <a:t>Universidade de Brasília</a:t>
            </a:r>
          </a:p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b="1">
                <a:solidFill>
                  <a:schemeClr val="bg1"/>
                </a:solidFill>
              </a:rPr>
              <a:t>Faculdade de Tecnologia</a:t>
            </a:r>
          </a:p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b="1">
                <a:solidFill>
                  <a:schemeClr val="bg1"/>
                </a:solidFill>
              </a:rPr>
              <a:t>Depart. de Engenharia de Produção </a:t>
            </a:r>
          </a:p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b="1">
                <a:solidFill>
                  <a:schemeClr val="bg1"/>
                </a:solidFill>
              </a:rPr>
              <a:t>Disciplina Engenharia de Produto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5">
            <a:extLst>
              <a:ext uri="{FF2B5EF4-FFF2-40B4-BE49-F238E27FC236}">
                <a16:creationId xmlns:a16="http://schemas.microsoft.com/office/drawing/2014/main" id="{5721DAE4-2896-318D-40FB-F77C7800C2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pt-BR"/>
              <a:t>Entradas e Saídas do PI</a:t>
            </a:r>
            <a:endParaRPr lang="pt-BR" altLang="pt-BR"/>
          </a:p>
        </p:txBody>
      </p:sp>
      <p:sp>
        <p:nvSpPr>
          <p:cNvPr id="24578" name="Text Box 4">
            <a:extLst>
              <a:ext uri="{FF2B5EF4-FFF2-40B4-BE49-F238E27FC236}">
                <a16:creationId xmlns:a16="http://schemas.microsoft.com/office/drawing/2014/main" id="{3FA11649-80E5-691F-1195-CB5791550B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pt-BR" altLang="pt-BR" sz="1600" i="1">
                <a:solidFill>
                  <a:srgbClr val="B40000"/>
                </a:solidFill>
                <a:latin typeface="Verdana" panose="020B0604030504040204" pitchFamily="34" charset="0"/>
              </a:rPr>
              <a:t>PI</a:t>
            </a:r>
          </a:p>
        </p:txBody>
      </p:sp>
      <p:pic>
        <p:nvPicPr>
          <p:cNvPr id="24579" name="Picture 7" descr="Figura1">
            <a:extLst>
              <a:ext uri="{FF2B5EF4-FFF2-40B4-BE49-F238E27FC236}">
                <a16:creationId xmlns:a16="http://schemas.microsoft.com/office/drawing/2014/main" id="{0AD3EDB6-7DFB-5B98-D330-27DE6844003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98563" y="973138"/>
            <a:ext cx="6273800" cy="5037137"/>
          </a:xfrm>
          <a:noFill/>
        </p:spPr>
      </p:pic>
      <p:sp>
        <p:nvSpPr>
          <p:cNvPr id="93192" name="Rectangle 8">
            <a:extLst>
              <a:ext uri="{FF2B5EF4-FFF2-40B4-BE49-F238E27FC236}">
                <a16:creationId xmlns:a16="http://schemas.microsoft.com/office/drawing/2014/main" id="{C29544C0-F618-128F-780E-3B7CC56211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9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4">
            <a:extLst>
              <a:ext uri="{FF2B5EF4-FFF2-40B4-BE49-F238E27FC236}">
                <a16:creationId xmlns:a16="http://schemas.microsoft.com/office/drawing/2014/main" id="{0D13BA30-7086-F392-DC56-C8BDEC0908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Principais Informações do PI</a:t>
            </a:r>
          </a:p>
        </p:txBody>
      </p:sp>
      <p:pic>
        <p:nvPicPr>
          <p:cNvPr id="17414" name="Picture 6" descr="Imagem4">
            <a:extLst>
              <a:ext uri="{FF2B5EF4-FFF2-40B4-BE49-F238E27FC236}">
                <a16:creationId xmlns:a16="http://schemas.microsoft.com/office/drawing/2014/main" id="{3EF88D95-FB99-A01D-40ED-6EC767040CD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00188" y="1646238"/>
            <a:ext cx="6308725" cy="4200525"/>
          </a:xfrm>
          <a:noFill/>
        </p:spPr>
      </p:pic>
      <p:sp>
        <p:nvSpPr>
          <p:cNvPr id="17415" name="Rectangle 7">
            <a:extLst>
              <a:ext uri="{FF2B5EF4-FFF2-40B4-BE49-F238E27FC236}">
                <a16:creationId xmlns:a16="http://schemas.microsoft.com/office/drawing/2014/main" id="{B32FCBC3-4430-EB9F-5F9F-87DD36F552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  <p:sp>
        <p:nvSpPr>
          <p:cNvPr id="17419" name="Freeform 11">
            <a:extLst>
              <a:ext uri="{FF2B5EF4-FFF2-40B4-BE49-F238E27FC236}">
                <a16:creationId xmlns:a16="http://schemas.microsoft.com/office/drawing/2014/main" id="{120D5975-5CA0-8F82-DC6F-88B79BC6DB59}"/>
              </a:ext>
            </a:extLst>
          </p:cNvPr>
          <p:cNvSpPr>
            <a:spLocks/>
          </p:cNvSpPr>
          <p:nvPr/>
        </p:nvSpPr>
        <p:spPr bwMode="auto">
          <a:xfrm>
            <a:off x="1054100" y="1249363"/>
            <a:ext cx="5946775" cy="4979987"/>
          </a:xfrm>
          <a:custGeom>
            <a:avLst/>
            <a:gdLst>
              <a:gd name="T0" fmla="*/ 2147483646 w 3746"/>
              <a:gd name="T1" fmla="*/ 2147483646 h 3137"/>
              <a:gd name="T2" fmla="*/ 2147483646 w 3746"/>
              <a:gd name="T3" fmla="*/ 2147483646 h 3137"/>
              <a:gd name="T4" fmla="*/ 2147483646 w 3746"/>
              <a:gd name="T5" fmla="*/ 2147483646 h 3137"/>
              <a:gd name="T6" fmla="*/ 2147483646 w 3746"/>
              <a:gd name="T7" fmla="*/ 2147483646 h 3137"/>
              <a:gd name="T8" fmla="*/ 2147483646 w 3746"/>
              <a:gd name="T9" fmla="*/ 2147483646 h 3137"/>
              <a:gd name="T10" fmla="*/ 2147483646 w 3746"/>
              <a:gd name="T11" fmla="*/ 2147483646 h 3137"/>
              <a:gd name="T12" fmla="*/ 2147483646 w 3746"/>
              <a:gd name="T13" fmla="*/ 2147483646 h 3137"/>
              <a:gd name="T14" fmla="*/ 2147483646 w 3746"/>
              <a:gd name="T15" fmla="*/ 2147483646 h 3137"/>
              <a:gd name="T16" fmla="*/ 2147483646 w 3746"/>
              <a:gd name="T17" fmla="*/ 2147483646 h 3137"/>
              <a:gd name="T18" fmla="*/ 2147483646 w 3746"/>
              <a:gd name="T19" fmla="*/ 2147483646 h 313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3746"/>
              <a:gd name="T31" fmla="*/ 0 h 3137"/>
              <a:gd name="T32" fmla="*/ 3746 w 3746"/>
              <a:gd name="T33" fmla="*/ 3137 h 313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3746" h="3137">
                <a:moveTo>
                  <a:pt x="766" y="3051"/>
                </a:moveTo>
                <a:cubicBezTo>
                  <a:pt x="494" y="3045"/>
                  <a:pt x="309" y="2989"/>
                  <a:pt x="183" y="2794"/>
                </a:cubicBezTo>
                <a:cubicBezTo>
                  <a:pt x="57" y="2599"/>
                  <a:pt x="11" y="2216"/>
                  <a:pt x="9" y="1878"/>
                </a:cubicBezTo>
                <a:cubicBezTo>
                  <a:pt x="7" y="1540"/>
                  <a:pt x="0" y="1064"/>
                  <a:pt x="169" y="768"/>
                </a:cubicBezTo>
                <a:cubicBezTo>
                  <a:pt x="338" y="472"/>
                  <a:pt x="494" y="202"/>
                  <a:pt x="1022" y="101"/>
                </a:cubicBezTo>
                <a:cubicBezTo>
                  <a:pt x="1550" y="0"/>
                  <a:pt x="2934" y="14"/>
                  <a:pt x="3340" y="164"/>
                </a:cubicBezTo>
                <a:cubicBezTo>
                  <a:pt x="3746" y="314"/>
                  <a:pt x="3715" y="830"/>
                  <a:pt x="3458" y="1003"/>
                </a:cubicBezTo>
                <a:cubicBezTo>
                  <a:pt x="3201" y="1176"/>
                  <a:pt x="2074" y="901"/>
                  <a:pt x="1800" y="1205"/>
                </a:cubicBezTo>
                <a:cubicBezTo>
                  <a:pt x="1526" y="1509"/>
                  <a:pt x="1985" y="2521"/>
                  <a:pt x="1813" y="2829"/>
                </a:cubicBezTo>
                <a:cubicBezTo>
                  <a:pt x="1641" y="3137"/>
                  <a:pt x="1038" y="3057"/>
                  <a:pt x="766" y="3051"/>
                </a:cubicBezTo>
                <a:close/>
              </a:path>
            </a:pathLst>
          </a:custGeom>
          <a:noFill/>
          <a:ln w="28575" cmpd="sng">
            <a:solidFill>
              <a:srgbClr val="B4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6629" name="Text Box 16">
            <a:extLst>
              <a:ext uri="{FF2B5EF4-FFF2-40B4-BE49-F238E27FC236}">
                <a16:creationId xmlns:a16="http://schemas.microsoft.com/office/drawing/2014/main" id="{13E6C058-23FA-A6C7-55A7-FA62687A93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pt-BR" altLang="pt-BR" sz="1600" i="1">
                <a:solidFill>
                  <a:srgbClr val="B40000"/>
                </a:solidFill>
                <a:latin typeface="Verdana" panose="020B0604030504040204" pitchFamily="34" charset="0"/>
              </a:rPr>
              <a:t>PI</a:t>
            </a:r>
          </a:p>
        </p:txBody>
      </p:sp>
      <p:sp>
        <p:nvSpPr>
          <p:cNvPr id="17425" name="AutoShape 17">
            <a:extLst>
              <a:ext uri="{FF2B5EF4-FFF2-40B4-BE49-F238E27FC236}">
                <a16:creationId xmlns:a16="http://schemas.microsoft.com/office/drawing/2014/main" id="{6C27F20B-F43C-9AF4-F1B9-6FAA76D202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688" y="1125538"/>
            <a:ext cx="2447925" cy="790575"/>
          </a:xfrm>
          <a:prstGeom prst="wedgeRectCallout">
            <a:avLst>
              <a:gd name="adj1" fmla="val -65630"/>
              <a:gd name="adj2" fmla="val 73694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100"/>
              <a:t>Primeira descrição do produto. Contém uma primeira versão dos req. do produto a serem reavaliadas e detalhadas.</a:t>
            </a:r>
          </a:p>
        </p:txBody>
      </p:sp>
      <p:sp>
        <p:nvSpPr>
          <p:cNvPr id="26631" name="Text Box 18">
            <a:extLst>
              <a:ext uri="{FF2B5EF4-FFF2-40B4-BE49-F238E27FC236}">
                <a16:creationId xmlns:a16="http://schemas.microsoft.com/office/drawing/2014/main" id="{6F3136E7-A4E3-EBFE-4DB5-7703AAD577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8350" y="5032375"/>
            <a:ext cx="1892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  <p:sp>
        <p:nvSpPr>
          <p:cNvPr id="17427" name="AutoShape 19">
            <a:extLst>
              <a:ext uri="{FF2B5EF4-FFF2-40B4-BE49-F238E27FC236}">
                <a16:creationId xmlns:a16="http://schemas.microsoft.com/office/drawing/2014/main" id="{BD49F2BA-ECDD-C30C-683A-915F463390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341438"/>
            <a:ext cx="1728787" cy="1295400"/>
          </a:xfrm>
          <a:prstGeom prst="wedgeRectCallout">
            <a:avLst>
              <a:gd name="adj1" fmla="val 74519"/>
              <a:gd name="adj2" fmla="val 7843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100">
                <a:latin typeface="Verdana" panose="020B0604030504040204" pitchFamily="34" charset="0"/>
              </a:rPr>
              <a:t>Representação gráfica da história do produto (estágios pelo qual o mesmo passa, das definições iniciais às fases finais). </a:t>
            </a:r>
          </a:p>
        </p:txBody>
      </p:sp>
      <p:sp>
        <p:nvSpPr>
          <p:cNvPr id="17428" name="AutoShape 20">
            <a:extLst>
              <a:ext uri="{FF2B5EF4-FFF2-40B4-BE49-F238E27FC236}">
                <a16:creationId xmlns:a16="http://schemas.microsoft.com/office/drawing/2014/main" id="{352D80CA-D304-3AE7-75D8-149FC85EC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4005263"/>
            <a:ext cx="1728787" cy="1152525"/>
          </a:xfrm>
          <a:prstGeom prst="wedgeRectCallout">
            <a:avLst>
              <a:gd name="adj1" fmla="val 55144"/>
              <a:gd name="adj2" fmla="val 71764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100">
                <a:latin typeface="Verdana" panose="020B0604030504040204" pitchFamily="34" charset="0"/>
              </a:rPr>
              <a:t>Desejos originais dos clientes. Podem ser redundantes ou expressar características do produto </a:t>
            </a:r>
          </a:p>
        </p:txBody>
      </p:sp>
      <p:sp>
        <p:nvSpPr>
          <p:cNvPr id="17429" name="AutoShape 21">
            <a:extLst>
              <a:ext uri="{FF2B5EF4-FFF2-40B4-BE49-F238E27FC236}">
                <a16:creationId xmlns:a16="http://schemas.microsoft.com/office/drawing/2014/main" id="{6C1E23B0-DA4F-4340-1E58-1EEA49EEA3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924175"/>
            <a:ext cx="1728787" cy="792163"/>
          </a:xfrm>
          <a:prstGeom prst="wedgeRectCallout">
            <a:avLst>
              <a:gd name="adj1" fmla="val 66162"/>
              <a:gd name="adj2" fmla="val 63028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100">
                <a:latin typeface="Verdana" panose="020B0604030504040204" pitchFamily="34" charset="0"/>
              </a:rPr>
              <a:t>Necessidades dos clientes organizadas, categorizadas e estruturadas</a:t>
            </a:r>
          </a:p>
        </p:txBody>
      </p:sp>
      <p:sp>
        <p:nvSpPr>
          <p:cNvPr id="17430" name="AutoShape 22">
            <a:extLst>
              <a:ext uri="{FF2B5EF4-FFF2-40B4-BE49-F238E27FC236}">
                <a16:creationId xmlns:a16="http://schemas.microsoft.com/office/drawing/2014/main" id="{BD882970-57CF-4B2B-5C55-826198D939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688" y="2133600"/>
            <a:ext cx="2447925" cy="935038"/>
          </a:xfrm>
          <a:prstGeom prst="wedgeRectCallout">
            <a:avLst>
              <a:gd name="adj1" fmla="val -65630"/>
              <a:gd name="adj2" fmla="val 54583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100"/>
              <a:t>Conj. de objetivos e metas que o produto deve atender. Deve refletir as características que o produto deve possuir para satisfazer os clientes.</a:t>
            </a:r>
          </a:p>
        </p:txBody>
      </p:sp>
      <p:sp>
        <p:nvSpPr>
          <p:cNvPr id="17431" name="AutoShape 23">
            <a:extLst>
              <a:ext uri="{FF2B5EF4-FFF2-40B4-BE49-F238E27FC236}">
                <a16:creationId xmlns:a16="http://schemas.microsoft.com/office/drawing/2014/main" id="{B795D76E-0D54-E521-CD36-DD3E5A29F5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5013325"/>
            <a:ext cx="2303463" cy="863600"/>
          </a:xfrm>
          <a:prstGeom prst="wedgeRectCallout">
            <a:avLst>
              <a:gd name="adj1" fmla="val -20435"/>
              <a:gd name="adj2" fmla="val -96875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100">
                <a:latin typeface="Verdana" panose="020B0604030504040204" pitchFamily="34" charset="0"/>
              </a:rPr>
              <a:t>Características que o produto deve atender com o valores-meta, desdobrados a partir dos req. dos clientes.</a:t>
            </a:r>
          </a:p>
        </p:txBody>
      </p:sp>
      <p:sp>
        <p:nvSpPr>
          <p:cNvPr id="17432" name="AutoShape 24">
            <a:extLst>
              <a:ext uri="{FF2B5EF4-FFF2-40B4-BE49-F238E27FC236}">
                <a16:creationId xmlns:a16="http://schemas.microsoft.com/office/drawing/2014/main" id="{3B6386F1-8107-B626-2CAC-EFD0951780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563" y="5013325"/>
            <a:ext cx="1873250" cy="863600"/>
          </a:xfrm>
          <a:prstGeom prst="wedgeRectCallout">
            <a:avLst>
              <a:gd name="adj1" fmla="val -21273"/>
              <a:gd name="adj2" fmla="val -96875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100"/>
              <a:t>Informações complementares aos req. de produto que forma as especificações metas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5" grpId="0" animBg="1"/>
      <p:bldP spid="17425" grpId="0" animBg="1"/>
      <p:bldP spid="17427" grpId="0" animBg="1"/>
      <p:bldP spid="17428" grpId="0" animBg="1"/>
      <p:bldP spid="17429" grpId="0" animBg="1"/>
      <p:bldP spid="17430" grpId="0" animBg="1"/>
      <p:bldP spid="17431" grpId="0" animBg="1"/>
      <p:bldP spid="1743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C78A64-3857-8BFB-30B3-E3CCD2DF5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839" y="141446"/>
            <a:ext cx="7388225" cy="706438"/>
          </a:xfrm>
        </p:spPr>
        <p:txBody>
          <a:bodyPr/>
          <a:lstStyle/>
          <a:p>
            <a:r>
              <a:rPr lang="pt-BR" dirty="0"/>
              <a:t>ESCOPO DO PRODUTO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6B8365-8DB8-08A9-73F2-2BF67BA9C8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0072" y="4221088"/>
            <a:ext cx="3551560" cy="2000264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65760" marR="0" lvl="0" indent="-283464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	Os diferenciais ou funcionalidades que caracterizam o </a:t>
            </a:r>
            <a:r>
              <a:rPr kumimoji="0" lang="pt-BR" sz="2400" b="0" i="0" u="sng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produto</a:t>
            </a:r>
            <a:r>
              <a:rPr kumimoji="0" lang="pt-BR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ou </a:t>
            </a:r>
            <a:r>
              <a:rPr kumimoji="0" lang="pt-BR" sz="2400" b="0" i="0" u="sng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serviço</a:t>
            </a:r>
            <a:r>
              <a:rPr kumimoji="0" lang="pt-BR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;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099A6E5-0CD2-F48B-19CE-2A20ACAC1DED}"/>
              </a:ext>
            </a:extLst>
          </p:cNvPr>
          <p:cNvGrpSpPr>
            <a:grpSpLocks/>
          </p:cNvGrpSpPr>
          <p:nvPr/>
        </p:nvGrpSpPr>
        <p:grpSpPr bwMode="auto">
          <a:xfrm>
            <a:off x="611560" y="1484784"/>
            <a:ext cx="3276600" cy="1955800"/>
            <a:chOff x="240" y="624"/>
            <a:chExt cx="2064" cy="123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D6794CE-8ED1-7C63-523D-0884DA3F6C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" y="624"/>
              <a:ext cx="2064" cy="960"/>
              <a:chOff x="624" y="576"/>
              <a:chExt cx="2064" cy="960"/>
            </a:xfrm>
          </p:grpSpPr>
          <p:sp>
            <p:nvSpPr>
              <p:cNvPr id="8" name="Rectangle 6">
                <a:extLst>
                  <a:ext uri="{FF2B5EF4-FFF2-40B4-BE49-F238E27FC236}">
                    <a16:creationId xmlns:a16="http://schemas.microsoft.com/office/drawing/2014/main" id="{C97FE6BD-36AE-F718-0CB3-0DE3E7557A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576"/>
                <a:ext cx="2064" cy="96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grpSp>
            <p:nvGrpSpPr>
              <p:cNvPr id="9" name="Group 7">
                <a:extLst>
                  <a:ext uri="{FF2B5EF4-FFF2-40B4-BE49-F238E27FC236}">
                    <a16:creationId xmlns:a16="http://schemas.microsoft.com/office/drawing/2014/main" id="{510159A8-1F71-B1D2-2660-79B546C712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72" y="624"/>
                <a:ext cx="1952" cy="864"/>
                <a:chOff x="816" y="528"/>
                <a:chExt cx="1952" cy="864"/>
              </a:xfrm>
            </p:grpSpPr>
            <p:grpSp>
              <p:nvGrpSpPr>
                <p:cNvPr id="10" name="Group 8">
                  <a:extLst>
                    <a:ext uri="{FF2B5EF4-FFF2-40B4-BE49-F238E27FC236}">
                      <a16:creationId xmlns:a16="http://schemas.microsoft.com/office/drawing/2014/main" id="{E8639BCC-5533-6E11-8445-51A0855ABFE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16" y="528"/>
                  <a:ext cx="706" cy="864"/>
                  <a:chOff x="720" y="761"/>
                  <a:chExt cx="879" cy="1075"/>
                </a:xfrm>
              </p:grpSpPr>
              <p:sp>
                <p:nvSpPr>
                  <p:cNvPr id="16" name="AutoShape 9">
                    <a:extLst>
                      <a:ext uri="{FF2B5EF4-FFF2-40B4-BE49-F238E27FC236}">
                        <a16:creationId xmlns:a16="http://schemas.microsoft.com/office/drawing/2014/main" id="{6574B121-0456-F5E5-3D2F-C36D1958009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0" y="761"/>
                    <a:ext cx="879" cy="1075"/>
                  </a:xfrm>
                  <a:prstGeom prst="foldedCorner">
                    <a:avLst>
                      <a:gd name="adj" fmla="val 18056"/>
                    </a:avLst>
                  </a:prstGeom>
                  <a:solidFill>
                    <a:srgbClr val="FFFFFF"/>
                  </a:solidFill>
                  <a:ln w="9525">
                    <a:solidFill>
                      <a:srgbClr val="333333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pt-BR"/>
                  </a:p>
                </p:txBody>
              </p:sp>
              <p:sp>
                <p:nvSpPr>
                  <p:cNvPr id="17" name="Line 10">
                    <a:extLst>
                      <a:ext uri="{FF2B5EF4-FFF2-40B4-BE49-F238E27FC236}">
                        <a16:creationId xmlns:a16="http://schemas.microsoft.com/office/drawing/2014/main" id="{F9AC4F0A-C21D-55AE-3611-7BC1D1313CD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818" y="1054"/>
                    <a:ext cx="684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333333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8" name="Line 11">
                    <a:extLst>
                      <a:ext uri="{FF2B5EF4-FFF2-40B4-BE49-F238E27FC236}">
                        <a16:creationId xmlns:a16="http://schemas.microsoft.com/office/drawing/2014/main" id="{8C5084CB-F75E-FD23-975B-DF2827EE1F6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818" y="1119"/>
                    <a:ext cx="684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333333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9" name="Line 12">
                    <a:extLst>
                      <a:ext uri="{FF2B5EF4-FFF2-40B4-BE49-F238E27FC236}">
                        <a16:creationId xmlns:a16="http://schemas.microsoft.com/office/drawing/2014/main" id="{9AD14212-E525-F9FC-4ECE-1B4F71C8140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818" y="1184"/>
                    <a:ext cx="684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333333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0" name="Line 13">
                    <a:extLst>
                      <a:ext uri="{FF2B5EF4-FFF2-40B4-BE49-F238E27FC236}">
                        <a16:creationId xmlns:a16="http://schemas.microsoft.com/office/drawing/2014/main" id="{F628DE15-86B5-E011-6B4D-2BEE432B5B0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818" y="1250"/>
                    <a:ext cx="684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333333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1" name="Line 14">
                    <a:extLst>
                      <a:ext uri="{FF2B5EF4-FFF2-40B4-BE49-F238E27FC236}">
                        <a16:creationId xmlns:a16="http://schemas.microsoft.com/office/drawing/2014/main" id="{DC285B33-0C66-0E5E-C058-13908582A46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818" y="1315"/>
                    <a:ext cx="684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333333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2" name="Line 15">
                    <a:extLst>
                      <a:ext uri="{FF2B5EF4-FFF2-40B4-BE49-F238E27FC236}">
                        <a16:creationId xmlns:a16="http://schemas.microsoft.com/office/drawing/2014/main" id="{D5A42A86-CDE5-97BA-B6B9-D072287093A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818" y="1380"/>
                    <a:ext cx="684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333333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3" name="Line 16">
                    <a:extLst>
                      <a:ext uri="{FF2B5EF4-FFF2-40B4-BE49-F238E27FC236}">
                        <a16:creationId xmlns:a16="http://schemas.microsoft.com/office/drawing/2014/main" id="{8E6C5A74-B5C2-3F5B-0152-57856329DBE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818" y="1445"/>
                    <a:ext cx="684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333333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4" name="Line 17">
                    <a:extLst>
                      <a:ext uri="{FF2B5EF4-FFF2-40B4-BE49-F238E27FC236}">
                        <a16:creationId xmlns:a16="http://schemas.microsoft.com/office/drawing/2014/main" id="{A16A5207-A4A8-5652-0A3F-A4FE41FA46B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818" y="1510"/>
                    <a:ext cx="684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333333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5" name="Line 18">
                    <a:extLst>
                      <a:ext uri="{FF2B5EF4-FFF2-40B4-BE49-F238E27FC236}">
                        <a16:creationId xmlns:a16="http://schemas.microsoft.com/office/drawing/2014/main" id="{9FD60C67-DE02-D1DE-BC03-AF6BC06034A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818" y="1575"/>
                    <a:ext cx="684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333333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6" name="Line 19">
                    <a:extLst>
                      <a:ext uri="{FF2B5EF4-FFF2-40B4-BE49-F238E27FC236}">
                        <a16:creationId xmlns:a16="http://schemas.microsoft.com/office/drawing/2014/main" id="{0A93B12B-01B7-E1BB-8B68-72496786E21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818" y="1641"/>
                    <a:ext cx="684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333333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7" name="Line 20">
                    <a:extLst>
                      <a:ext uri="{FF2B5EF4-FFF2-40B4-BE49-F238E27FC236}">
                        <a16:creationId xmlns:a16="http://schemas.microsoft.com/office/drawing/2014/main" id="{C654D7BE-004A-870F-0E69-19D3C3B6264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818" y="1706"/>
                    <a:ext cx="586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333333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11" name="AutoShape 21">
                  <a:extLst>
                    <a:ext uri="{FF2B5EF4-FFF2-40B4-BE49-F238E27FC236}">
                      <a16:creationId xmlns:a16="http://schemas.microsoft.com/office/drawing/2014/main" id="{65D11932-A552-8814-A986-D889C940B4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84" y="528"/>
                  <a:ext cx="432" cy="144"/>
                </a:xfrm>
                <a:prstGeom prst="chevron">
                  <a:avLst>
                    <a:gd name="adj" fmla="val 33333"/>
                  </a:avLst>
                </a:prstGeom>
                <a:solidFill>
                  <a:schemeClr val="accent2"/>
                </a:solidFill>
                <a:ln w="9525">
                  <a:solidFill>
                    <a:srgbClr val="333333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spcBef>
                      <a:spcPct val="20000"/>
                    </a:spcBef>
                    <a:buClr>
                      <a:schemeClr val="folHlink"/>
                    </a:buClr>
                  </a:pPr>
                  <a:endParaRPr kumimoji="1" lang="pt-BR" sz="2400">
                    <a:solidFill>
                      <a:srgbClr val="FFFFFF"/>
                    </a:solidFill>
                    <a:latin typeface="Tahoma" pitchFamily="34" charset="0"/>
                  </a:endParaRPr>
                </a:p>
              </p:txBody>
            </p:sp>
            <p:sp>
              <p:nvSpPr>
                <p:cNvPr id="12" name="AutoShape 22">
                  <a:extLst>
                    <a:ext uri="{FF2B5EF4-FFF2-40B4-BE49-F238E27FC236}">
                      <a16:creationId xmlns:a16="http://schemas.microsoft.com/office/drawing/2014/main" id="{2F64AD08-0B32-BADB-1371-0EB83500B6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47" y="692"/>
                  <a:ext cx="432" cy="144"/>
                </a:xfrm>
                <a:prstGeom prst="chevron">
                  <a:avLst>
                    <a:gd name="adj" fmla="val 33333"/>
                  </a:avLst>
                </a:prstGeom>
                <a:solidFill>
                  <a:schemeClr val="accent2"/>
                </a:solidFill>
                <a:ln w="9525">
                  <a:solidFill>
                    <a:srgbClr val="333333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spcBef>
                      <a:spcPct val="20000"/>
                    </a:spcBef>
                    <a:buClr>
                      <a:schemeClr val="folHlink"/>
                    </a:buClr>
                  </a:pPr>
                  <a:endParaRPr kumimoji="1" lang="pt-BR" sz="2400">
                    <a:solidFill>
                      <a:srgbClr val="FFFFFF"/>
                    </a:solidFill>
                    <a:latin typeface="Tahoma" pitchFamily="34" charset="0"/>
                  </a:endParaRPr>
                </a:p>
              </p:txBody>
            </p:sp>
            <p:sp>
              <p:nvSpPr>
                <p:cNvPr id="13" name="AutoShape 23">
                  <a:extLst>
                    <a:ext uri="{FF2B5EF4-FFF2-40B4-BE49-F238E27FC236}">
                      <a16:creationId xmlns:a16="http://schemas.microsoft.com/office/drawing/2014/main" id="{77438AD8-4BB8-6B8C-8A8B-A022170094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43" y="864"/>
                  <a:ext cx="432" cy="144"/>
                </a:xfrm>
                <a:prstGeom prst="chevron">
                  <a:avLst>
                    <a:gd name="adj" fmla="val 33333"/>
                  </a:avLst>
                </a:prstGeom>
                <a:solidFill>
                  <a:schemeClr val="accent2"/>
                </a:solidFill>
                <a:ln w="9525">
                  <a:solidFill>
                    <a:srgbClr val="333333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spcBef>
                      <a:spcPct val="20000"/>
                    </a:spcBef>
                    <a:buClr>
                      <a:schemeClr val="folHlink"/>
                    </a:buClr>
                  </a:pPr>
                  <a:endParaRPr kumimoji="1" lang="pt-BR" sz="2400">
                    <a:solidFill>
                      <a:srgbClr val="FFFFFF"/>
                    </a:solidFill>
                    <a:latin typeface="Tahoma" pitchFamily="34" charset="0"/>
                  </a:endParaRPr>
                </a:p>
              </p:txBody>
            </p:sp>
            <p:sp>
              <p:nvSpPr>
                <p:cNvPr id="14" name="AutoShape 24">
                  <a:extLst>
                    <a:ext uri="{FF2B5EF4-FFF2-40B4-BE49-F238E27FC236}">
                      <a16:creationId xmlns:a16="http://schemas.microsoft.com/office/drawing/2014/main" id="{075F63F3-EB73-15B2-E387-BF9E0F3AAC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60" y="1029"/>
                  <a:ext cx="432" cy="144"/>
                </a:xfrm>
                <a:prstGeom prst="chevron">
                  <a:avLst>
                    <a:gd name="adj" fmla="val 33333"/>
                  </a:avLst>
                </a:prstGeom>
                <a:solidFill>
                  <a:schemeClr val="accent2"/>
                </a:solidFill>
                <a:ln w="9525">
                  <a:solidFill>
                    <a:srgbClr val="333333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spcBef>
                      <a:spcPct val="20000"/>
                    </a:spcBef>
                    <a:buClr>
                      <a:schemeClr val="folHlink"/>
                    </a:buClr>
                  </a:pPr>
                  <a:endParaRPr kumimoji="1" lang="pt-BR" sz="2400">
                    <a:solidFill>
                      <a:srgbClr val="FFFFFF"/>
                    </a:solidFill>
                    <a:latin typeface="Tahoma" pitchFamily="34" charset="0"/>
                  </a:endParaRPr>
                </a:p>
              </p:txBody>
            </p:sp>
            <p:sp>
              <p:nvSpPr>
                <p:cNvPr id="15" name="AutoShape 25">
                  <a:extLst>
                    <a:ext uri="{FF2B5EF4-FFF2-40B4-BE49-F238E27FC236}">
                      <a16:creationId xmlns:a16="http://schemas.microsoft.com/office/drawing/2014/main" id="{912DF12D-3590-9F9F-F991-38DEF7E2E9E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36" y="1193"/>
                  <a:ext cx="432" cy="144"/>
                </a:xfrm>
                <a:prstGeom prst="chevron">
                  <a:avLst>
                    <a:gd name="adj" fmla="val 33333"/>
                  </a:avLst>
                </a:prstGeom>
                <a:solidFill>
                  <a:schemeClr val="accent2"/>
                </a:solidFill>
                <a:ln w="9525">
                  <a:solidFill>
                    <a:srgbClr val="333333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spcBef>
                      <a:spcPct val="20000"/>
                    </a:spcBef>
                    <a:buClr>
                      <a:schemeClr val="folHlink"/>
                    </a:buClr>
                  </a:pPr>
                  <a:endParaRPr kumimoji="1" lang="pt-BR" sz="2400">
                    <a:solidFill>
                      <a:srgbClr val="FFFFFF"/>
                    </a:solidFill>
                    <a:latin typeface="Tahoma" pitchFamily="34" charset="0"/>
                  </a:endParaRPr>
                </a:p>
              </p:txBody>
            </p:sp>
          </p:grpSp>
        </p:grpSp>
        <p:sp>
          <p:nvSpPr>
            <p:cNvPr id="7" name="Text Box 26">
              <a:extLst>
                <a:ext uri="{FF2B5EF4-FFF2-40B4-BE49-F238E27FC236}">
                  <a16:creationId xmlns:a16="http://schemas.microsoft.com/office/drawing/2014/main" id="{DB15B2B3-73C5-DA37-52E4-FC2217A381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9" y="1568"/>
              <a:ext cx="173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  <a:buClr>
                  <a:srgbClr val="009999"/>
                </a:buClr>
                <a:buFont typeface="Wingdings" pitchFamily="2" charset="2"/>
                <a:buNone/>
              </a:pPr>
              <a:r>
                <a:rPr kumimoji="1" lang="pt-BR" sz="2400">
                  <a:solidFill>
                    <a:srgbClr val="003399"/>
                  </a:solidFill>
                </a:rPr>
                <a:t>Escopo do Projeto: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4E86C5F-F5AF-4B4F-C453-9A37D85ACB81}"/>
              </a:ext>
            </a:extLst>
          </p:cNvPr>
          <p:cNvGrpSpPr>
            <a:grpSpLocks/>
          </p:cNvGrpSpPr>
          <p:nvPr/>
        </p:nvGrpSpPr>
        <p:grpSpPr bwMode="auto">
          <a:xfrm>
            <a:off x="5580112" y="1484784"/>
            <a:ext cx="3225800" cy="1960563"/>
            <a:chOff x="3269" y="624"/>
            <a:chExt cx="2032" cy="1235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FB66ECEF-E9FC-EE70-571E-C7F59B0FA6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5" y="624"/>
              <a:ext cx="2016" cy="960"/>
              <a:chOff x="3264" y="624"/>
              <a:chExt cx="2016" cy="960"/>
            </a:xfrm>
          </p:grpSpPr>
          <p:sp>
            <p:nvSpPr>
              <p:cNvPr id="31" name="Rectangle 29">
                <a:extLst>
                  <a:ext uri="{FF2B5EF4-FFF2-40B4-BE49-F238E27FC236}">
                    <a16:creationId xmlns:a16="http://schemas.microsoft.com/office/drawing/2014/main" id="{96EBEB88-F0D6-7867-0F8E-BBC89BFE7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64" y="624"/>
                <a:ext cx="2016" cy="960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pic>
            <p:nvPicPr>
              <p:cNvPr id="32" name="Picture 30" descr="TN00332_">
                <a:extLst>
                  <a:ext uri="{FF2B5EF4-FFF2-40B4-BE49-F238E27FC236}">
                    <a16:creationId xmlns:a16="http://schemas.microsoft.com/office/drawing/2014/main" id="{8136FAC9-9DFD-B3BA-2F67-9CD83552952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3554" y="788"/>
                <a:ext cx="1445" cy="718"/>
              </a:xfrm>
              <a:prstGeom prst="rect">
                <a:avLst/>
              </a:prstGeom>
              <a:solidFill>
                <a:srgbClr val="FFFF00"/>
              </a:solidFill>
            </p:spPr>
          </p:pic>
        </p:grpSp>
        <p:sp>
          <p:nvSpPr>
            <p:cNvPr id="30" name="Text Box 31">
              <a:extLst>
                <a:ext uri="{FF2B5EF4-FFF2-40B4-BE49-F238E27FC236}">
                  <a16:creationId xmlns:a16="http://schemas.microsoft.com/office/drawing/2014/main" id="{1ECC4EE0-51C1-55AD-883F-821C5AB2DA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9" y="1568"/>
              <a:ext cx="1955" cy="291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  <a:buClr>
                  <a:srgbClr val="009999"/>
                </a:buClr>
                <a:buFont typeface="Wingdings" pitchFamily="2" charset="2"/>
                <a:buNone/>
              </a:pPr>
              <a:r>
                <a:rPr kumimoji="1" lang="pt-BR" sz="2400" b="1" dirty="0">
                  <a:solidFill>
                    <a:srgbClr val="FF0000"/>
                  </a:solidFill>
                </a:rPr>
                <a:t>Escopo do Produto</a:t>
              </a:r>
              <a:r>
                <a:rPr kumimoji="1" lang="pt-BR" sz="2400" dirty="0">
                  <a:solidFill>
                    <a:srgbClr val="FF0000"/>
                  </a:solidFill>
                </a:rPr>
                <a:t>:</a:t>
              </a:r>
            </a:p>
          </p:txBody>
        </p:sp>
      </p:grpSp>
      <p:sp>
        <p:nvSpPr>
          <p:cNvPr id="33" name="AutoShape 32">
            <a:extLst>
              <a:ext uri="{FF2B5EF4-FFF2-40B4-BE49-F238E27FC236}">
                <a16:creationId xmlns:a16="http://schemas.microsoft.com/office/drawing/2014/main" id="{027FE7E7-5350-9DEF-74B2-4E6AC37904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936" y="2204864"/>
            <a:ext cx="1368152" cy="576064"/>
          </a:xfrm>
          <a:prstGeom prst="leftRightArrow">
            <a:avLst>
              <a:gd name="adj1" fmla="val 50000"/>
              <a:gd name="adj2" fmla="val 45947"/>
            </a:avLst>
          </a:prstGeom>
          <a:solidFill>
            <a:srgbClr val="00206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34" name="Text Box 33">
            <a:extLst>
              <a:ext uri="{FF2B5EF4-FFF2-40B4-BE49-F238E27FC236}">
                <a16:creationId xmlns:a16="http://schemas.microsoft.com/office/drawing/2014/main" id="{90F9E738-FB6C-E0B6-BED3-56A6ADEF8D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9952" y="1844824"/>
            <a:ext cx="2133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folHlink"/>
              </a:buClr>
            </a:pPr>
            <a:r>
              <a:rPr kumimoji="1" lang="pt-BR" sz="2400" b="1" dirty="0">
                <a:solidFill>
                  <a:srgbClr val="002060"/>
                </a:solidFill>
              </a:rPr>
              <a:t>Versus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23383EC-7AF4-8B89-CA5F-B1F3E864C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8" y="4221088"/>
            <a:ext cx="3888432" cy="201622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ctr">
              <a:spcBef>
                <a:spcPct val="20000"/>
              </a:spcBef>
            </a:pPr>
            <a:r>
              <a:rPr lang="pt-BR" sz="24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	O </a:t>
            </a:r>
            <a:r>
              <a:rPr lang="pt-BR" sz="2400" u="sng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trabalho necessário </a:t>
            </a:r>
            <a:r>
              <a:rPr lang="pt-BR" sz="24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para que o produto seja entregue com as características especificadas;</a:t>
            </a:r>
          </a:p>
        </p:txBody>
      </p:sp>
      <p:sp>
        <p:nvSpPr>
          <p:cNvPr id="36" name="AutoShape 35">
            <a:extLst>
              <a:ext uri="{FF2B5EF4-FFF2-40B4-BE49-F238E27FC236}">
                <a16:creationId xmlns:a16="http://schemas.microsoft.com/office/drawing/2014/main" id="{FF33BBB6-695A-9E8C-EBC0-B5F053CBA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688" y="3573016"/>
            <a:ext cx="1079500" cy="503238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00206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37" name="AutoShape 36">
            <a:extLst>
              <a:ext uri="{FF2B5EF4-FFF2-40B4-BE49-F238E27FC236}">
                <a16:creationId xmlns:a16="http://schemas.microsoft.com/office/drawing/2014/main" id="{B406E36E-06AB-16DB-F160-BE110D13E1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216" y="3501008"/>
            <a:ext cx="1079500" cy="503238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00206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39" name="Título 1">
            <a:extLst>
              <a:ext uri="{FF2B5EF4-FFF2-40B4-BE49-F238E27FC236}">
                <a16:creationId xmlns:a16="http://schemas.microsoft.com/office/drawing/2014/main" id="{34EDA0D9-633C-F303-AEB5-DF38BE76783B}"/>
              </a:ext>
            </a:extLst>
          </p:cNvPr>
          <p:cNvSpPr txBox="1">
            <a:spLocks/>
          </p:cNvSpPr>
          <p:nvPr/>
        </p:nvSpPr>
        <p:spPr>
          <a:xfrm>
            <a:off x="827584" y="188640"/>
            <a:ext cx="7862150" cy="64807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36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41089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16"/>
          <p:cNvGraphicFramePr>
            <a:graphicFrameLocks noGrp="1" noChangeAspect="1"/>
          </p:cNvGraphicFramePr>
          <p:nvPr>
            <p:ph/>
          </p:nvPr>
        </p:nvGraphicFramePr>
        <p:xfrm>
          <a:off x="917575" y="1012825"/>
          <a:ext cx="7053263" cy="524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igura" r:id="rId3" imgW="7053227" imgH="5242183" progId="Word.Picture.8">
                  <p:embed/>
                </p:oleObj>
              </mc:Choice>
              <mc:Fallback>
                <p:oleObj name="Figura" r:id="rId3" imgW="7053227" imgH="5242183" progId="Word.Picture.8">
                  <p:embed/>
                  <p:pic>
                    <p:nvPicPr>
                      <p:cNvPr id="1026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7575" y="1012825"/>
                        <a:ext cx="7053263" cy="5241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" name="Text Box 17"/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i="1">
                <a:solidFill>
                  <a:srgbClr val="B40000"/>
                </a:solidFill>
                <a:latin typeface="Verdana" pitchFamily="34" charset="0"/>
              </a:rPr>
              <a:t>PI / Revisar e Atualizar o Escopo do Produto </a:t>
            </a:r>
          </a:p>
        </p:txBody>
      </p:sp>
      <p:sp>
        <p:nvSpPr>
          <p:cNvPr id="20498" name="Rectangle 18"/>
          <p:cNvSpPr>
            <a:spLocks noChangeArrowheads="1"/>
          </p:cNvSpPr>
          <p:nvPr/>
        </p:nvSpPr>
        <p:spPr bwMode="auto">
          <a:xfrm>
            <a:off x="8407400" y="1012825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66452F2-235F-1845-64E4-A9E2EBEB34B1}"/>
              </a:ext>
            </a:extLst>
          </p:cNvPr>
          <p:cNvSpPr txBox="1">
            <a:spLocks/>
          </p:cNvSpPr>
          <p:nvPr/>
        </p:nvSpPr>
        <p:spPr bwMode="auto">
          <a:xfrm>
            <a:off x="445839" y="141446"/>
            <a:ext cx="7388225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pt-BR" kern="0"/>
              <a:t>ESCOPO DO PRODUTO</a:t>
            </a:r>
            <a:endParaRPr lang="pt-BR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9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-411163"/>
            <a:ext cx="8229600" cy="1143000"/>
          </a:xfrm>
        </p:spPr>
        <p:txBody>
          <a:bodyPr/>
          <a:lstStyle/>
          <a:p>
            <a:r>
              <a:rPr lang="pt-BR" dirty="0"/>
              <a:t>APRESENTAÇÃO DO PROBLEMA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pt-BR" dirty="0">
                <a:solidFill>
                  <a:srgbClr val="C00000"/>
                </a:solidFill>
              </a:rPr>
              <a:t>Devem ser esclarecidas informações quanto: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t-BR" dirty="0"/>
              <a:t>Tipo de projeto de produto;</a:t>
            </a:r>
          </a:p>
          <a:p>
            <a:r>
              <a:rPr lang="pt-BR" dirty="0"/>
              <a:t>Projeto é novo para empresa.</a:t>
            </a:r>
          </a:p>
          <a:p>
            <a:r>
              <a:rPr lang="pt-BR" dirty="0"/>
              <a:t>Volume de produção e a estratégia de produção;</a:t>
            </a:r>
          </a:p>
          <a:p>
            <a:r>
              <a:rPr lang="pt-BR" dirty="0"/>
              <a:t>Informações históricas já levantadas.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4">
            <a:extLst>
              <a:ext uri="{FF2B5EF4-FFF2-40B4-BE49-F238E27FC236}">
                <a16:creationId xmlns:a16="http://schemas.microsoft.com/office/drawing/2014/main" id="{0D13BA30-7086-F392-DC56-C8BDEC0908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Principais Informações do PI</a:t>
            </a:r>
          </a:p>
        </p:txBody>
      </p:sp>
      <p:pic>
        <p:nvPicPr>
          <p:cNvPr id="17414" name="Picture 6" descr="Imagem4">
            <a:extLst>
              <a:ext uri="{FF2B5EF4-FFF2-40B4-BE49-F238E27FC236}">
                <a16:creationId xmlns:a16="http://schemas.microsoft.com/office/drawing/2014/main" id="{3EF88D95-FB99-A01D-40ED-6EC767040CD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00188" y="1646238"/>
            <a:ext cx="6308725" cy="4200525"/>
          </a:xfrm>
          <a:noFill/>
        </p:spPr>
      </p:pic>
      <p:sp>
        <p:nvSpPr>
          <p:cNvPr id="17415" name="Rectangle 7">
            <a:extLst>
              <a:ext uri="{FF2B5EF4-FFF2-40B4-BE49-F238E27FC236}">
                <a16:creationId xmlns:a16="http://schemas.microsoft.com/office/drawing/2014/main" id="{B32FCBC3-4430-EB9F-5F9F-87DD36F552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  <p:sp>
        <p:nvSpPr>
          <p:cNvPr id="17419" name="Freeform 11">
            <a:extLst>
              <a:ext uri="{FF2B5EF4-FFF2-40B4-BE49-F238E27FC236}">
                <a16:creationId xmlns:a16="http://schemas.microsoft.com/office/drawing/2014/main" id="{120D5975-5CA0-8F82-DC6F-88B79BC6DB59}"/>
              </a:ext>
            </a:extLst>
          </p:cNvPr>
          <p:cNvSpPr>
            <a:spLocks/>
          </p:cNvSpPr>
          <p:nvPr/>
        </p:nvSpPr>
        <p:spPr bwMode="auto">
          <a:xfrm>
            <a:off x="1054100" y="1249363"/>
            <a:ext cx="5946775" cy="4979987"/>
          </a:xfrm>
          <a:custGeom>
            <a:avLst/>
            <a:gdLst>
              <a:gd name="T0" fmla="*/ 2147483646 w 3746"/>
              <a:gd name="T1" fmla="*/ 2147483646 h 3137"/>
              <a:gd name="T2" fmla="*/ 2147483646 w 3746"/>
              <a:gd name="T3" fmla="*/ 2147483646 h 3137"/>
              <a:gd name="T4" fmla="*/ 2147483646 w 3746"/>
              <a:gd name="T5" fmla="*/ 2147483646 h 3137"/>
              <a:gd name="T6" fmla="*/ 2147483646 w 3746"/>
              <a:gd name="T7" fmla="*/ 2147483646 h 3137"/>
              <a:gd name="T8" fmla="*/ 2147483646 w 3746"/>
              <a:gd name="T9" fmla="*/ 2147483646 h 3137"/>
              <a:gd name="T10" fmla="*/ 2147483646 w 3746"/>
              <a:gd name="T11" fmla="*/ 2147483646 h 3137"/>
              <a:gd name="T12" fmla="*/ 2147483646 w 3746"/>
              <a:gd name="T13" fmla="*/ 2147483646 h 3137"/>
              <a:gd name="T14" fmla="*/ 2147483646 w 3746"/>
              <a:gd name="T15" fmla="*/ 2147483646 h 3137"/>
              <a:gd name="T16" fmla="*/ 2147483646 w 3746"/>
              <a:gd name="T17" fmla="*/ 2147483646 h 3137"/>
              <a:gd name="T18" fmla="*/ 2147483646 w 3746"/>
              <a:gd name="T19" fmla="*/ 2147483646 h 313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3746"/>
              <a:gd name="T31" fmla="*/ 0 h 3137"/>
              <a:gd name="T32" fmla="*/ 3746 w 3746"/>
              <a:gd name="T33" fmla="*/ 3137 h 313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3746" h="3137">
                <a:moveTo>
                  <a:pt x="766" y="3051"/>
                </a:moveTo>
                <a:cubicBezTo>
                  <a:pt x="494" y="3045"/>
                  <a:pt x="309" y="2989"/>
                  <a:pt x="183" y="2794"/>
                </a:cubicBezTo>
                <a:cubicBezTo>
                  <a:pt x="57" y="2599"/>
                  <a:pt x="11" y="2216"/>
                  <a:pt x="9" y="1878"/>
                </a:cubicBezTo>
                <a:cubicBezTo>
                  <a:pt x="7" y="1540"/>
                  <a:pt x="0" y="1064"/>
                  <a:pt x="169" y="768"/>
                </a:cubicBezTo>
                <a:cubicBezTo>
                  <a:pt x="338" y="472"/>
                  <a:pt x="494" y="202"/>
                  <a:pt x="1022" y="101"/>
                </a:cubicBezTo>
                <a:cubicBezTo>
                  <a:pt x="1550" y="0"/>
                  <a:pt x="2934" y="14"/>
                  <a:pt x="3340" y="164"/>
                </a:cubicBezTo>
                <a:cubicBezTo>
                  <a:pt x="3746" y="314"/>
                  <a:pt x="3715" y="830"/>
                  <a:pt x="3458" y="1003"/>
                </a:cubicBezTo>
                <a:cubicBezTo>
                  <a:pt x="3201" y="1176"/>
                  <a:pt x="2074" y="901"/>
                  <a:pt x="1800" y="1205"/>
                </a:cubicBezTo>
                <a:cubicBezTo>
                  <a:pt x="1526" y="1509"/>
                  <a:pt x="1985" y="2521"/>
                  <a:pt x="1813" y="2829"/>
                </a:cubicBezTo>
                <a:cubicBezTo>
                  <a:pt x="1641" y="3137"/>
                  <a:pt x="1038" y="3057"/>
                  <a:pt x="766" y="3051"/>
                </a:cubicBezTo>
                <a:close/>
              </a:path>
            </a:pathLst>
          </a:custGeom>
          <a:noFill/>
          <a:ln w="28575" cmpd="sng">
            <a:solidFill>
              <a:srgbClr val="B4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6629" name="Text Box 16">
            <a:extLst>
              <a:ext uri="{FF2B5EF4-FFF2-40B4-BE49-F238E27FC236}">
                <a16:creationId xmlns:a16="http://schemas.microsoft.com/office/drawing/2014/main" id="{13E6C058-23FA-A6C7-55A7-FA62687A93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pt-BR" altLang="pt-BR" sz="1600" i="1">
                <a:solidFill>
                  <a:srgbClr val="B40000"/>
                </a:solidFill>
                <a:latin typeface="Verdana" panose="020B0604030504040204" pitchFamily="34" charset="0"/>
              </a:rPr>
              <a:t>PI</a:t>
            </a:r>
          </a:p>
        </p:txBody>
      </p:sp>
      <p:sp>
        <p:nvSpPr>
          <p:cNvPr id="26631" name="Text Box 18">
            <a:extLst>
              <a:ext uri="{FF2B5EF4-FFF2-40B4-BE49-F238E27FC236}">
                <a16:creationId xmlns:a16="http://schemas.microsoft.com/office/drawing/2014/main" id="{6F3136E7-A4E3-EBFE-4DB5-7703AAD577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8350" y="5032375"/>
            <a:ext cx="1892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  <p:sp>
        <p:nvSpPr>
          <p:cNvPr id="17427" name="AutoShape 19">
            <a:extLst>
              <a:ext uri="{FF2B5EF4-FFF2-40B4-BE49-F238E27FC236}">
                <a16:creationId xmlns:a16="http://schemas.microsoft.com/office/drawing/2014/main" id="{BD49F2BA-ECDD-C30C-683A-915F463390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341438"/>
            <a:ext cx="1728787" cy="1295400"/>
          </a:xfrm>
          <a:prstGeom prst="wedgeRectCallout">
            <a:avLst>
              <a:gd name="adj1" fmla="val 74519"/>
              <a:gd name="adj2" fmla="val 7843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100">
                <a:latin typeface="Verdana" panose="020B0604030504040204" pitchFamily="34" charset="0"/>
              </a:rPr>
              <a:t>Representação gráfica da história do produto (estágios pelo qual o mesmo passa, das definições iniciais às fases finais). 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EA78FB8-5779-D1CF-AD52-25B5C06B8F96}"/>
              </a:ext>
            </a:extLst>
          </p:cNvPr>
          <p:cNvSpPr/>
          <p:nvPr/>
        </p:nvSpPr>
        <p:spPr bwMode="auto">
          <a:xfrm>
            <a:off x="1908175" y="1125538"/>
            <a:ext cx="2232025" cy="1943100"/>
          </a:xfrm>
          <a:prstGeom prst="ellipse">
            <a:avLst/>
          </a:prstGeom>
          <a:noFill/>
          <a:ln w="5715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605047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5" grpId="0" animBg="1"/>
      <p:bldP spid="174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CV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Espiral</a:t>
            </a:r>
            <a:endParaRPr lang="pt-BR" dirty="0"/>
          </a:p>
        </p:txBody>
      </p:sp>
      <p:sp>
        <p:nvSpPr>
          <p:cNvPr id="5124" name="Text Box 3"/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i="1">
                <a:solidFill>
                  <a:srgbClr val="B40000"/>
                </a:solidFill>
                <a:latin typeface="Verdana" pitchFamily="34" charset="0"/>
              </a:rPr>
              <a:t>PI / Detalhar Ciclo de Vida do Produto e Definir Seus Clientes </a:t>
            </a:r>
          </a:p>
        </p:txBody>
      </p:sp>
      <p:graphicFrame>
        <p:nvGraphicFramePr>
          <p:cNvPr id="5122" name="Object 6"/>
          <p:cNvGraphicFramePr>
            <a:graphicFrameLocks noGrp="1" noChangeAspect="1"/>
          </p:cNvGraphicFramePr>
          <p:nvPr>
            <p:ph idx="1"/>
          </p:nvPr>
        </p:nvGraphicFramePr>
        <p:xfrm>
          <a:off x="1187450" y="1219200"/>
          <a:ext cx="7200900" cy="487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igura" r:id="rId3" imgW="6355131" imgH="4300043" progId="Word.Picture.8">
                  <p:embed/>
                </p:oleObj>
              </mc:Choice>
              <mc:Fallback>
                <p:oleObj name="Figura" r:id="rId3" imgW="6355131" imgH="4300043" progId="Word.Picture.8">
                  <p:embed/>
                  <p:pic>
                    <p:nvPicPr>
                      <p:cNvPr id="512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1219200"/>
                        <a:ext cx="7200900" cy="4873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5" name="Text Box 7"/>
          <p:cNvSpPr txBox="1">
            <a:spLocks noChangeArrowheads="1"/>
          </p:cNvSpPr>
          <p:nvPr/>
        </p:nvSpPr>
        <p:spPr bwMode="auto">
          <a:xfrm>
            <a:off x="1042988" y="5735638"/>
            <a:ext cx="1511300" cy="2143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800"/>
              <a:t>Adaptado de Fonseca (2000)</a:t>
            </a:r>
          </a:p>
        </p:txBody>
      </p:sp>
      <p:sp>
        <p:nvSpPr>
          <p:cNvPr id="52232" name="Rectangle 8"/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2233" name="AutoShape 9"/>
          <p:cNvSpPr>
            <a:spLocks noChangeArrowheads="1"/>
          </p:cNvSpPr>
          <p:nvPr/>
        </p:nvSpPr>
        <p:spPr bwMode="auto">
          <a:xfrm>
            <a:off x="7524750" y="3500438"/>
            <a:ext cx="1368425" cy="503237"/>
          </a:xfrm>
          <a:prstGeom prst="wedgeRectCallout">
            <a:avLst>
              <a:gd name="adj1" fmla="val -59514"/>
              <a:gd name="adj2" fmla="val -82806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pt-BR" sz="1100">
                <a:latin typeface="Verdana" pitchFamily="34" charset="0"/>
              </a:rPr>
              <a:t>Agregam valor ao produto.</a:t>
            </a:r>
          </a:p>
        </p:txBody>
      </p:sp>
      <p:sp>
        <p:nvSpPr>
          <p:cNvPr id="52234" name="AutoShape 10"/>
          <p:cNvSpPr>
            <a:spLocks noChangeArrowheads="1"/>
          </p:cNvSpPr>
          <p:nvPr/>
        </p:nvSpPr>
        <p:spPr bwMode="auto">
          <a:xfrm>
            <a:off x="1619250" y="5084763"/>
            <a:ext cx="1439863" cy="503237"/>
          </a:xfrm>
          <a:prstGeom prst="wedgeRectCallout">
            <a:avLst>
              <a:gd name="adj1" fmla="val 93111"/>
              <a:gd name="adj2" fmla="val 61356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pt-BR" sz="1100">
                <a:latin typeface="Verdana" pitchFamily="34" charset="0"/>
              </a:rPr>
              <a:t>Onde o produto </a:t>
            </a:r>
            <a:r>
              <a:rPr lang="en-US" sz="1100">
                <a:latin typeface="Verdana" pitchFamily="34" charset="0"/>
              </a:rPr>
              <a:t>é comercializado</a:t>
            </a:r>
            <a:r>
              <a:rPr lang="pt-BR" sz="1100">
                <a:latin typeface="Verdana" pitchFamily="34" charset="0"/>
              </a:rPr>
              <a:t>.</a:t>
            </a:r>
          </a:p>
        </p:txBody>
      </p:sp>
      <p:sp>
        <p:nvSpPr>
          <p:cNvPr id="52235" name="AutoShape 11"/>
          <p:cNvSpPr>
            <a:spLocks noChangeArrowheads="1"/>
          </p:cNvSpPr>
          <p:nvPr/>
        </p:nvSpPr>
        <p:spPr bwMode="auto">
          <a:xfrm>
            <a:off x="684213" y="4076700"/>
            <a:ext cx="935037" cy="647700"/>
          </a:xfrm>
          <a:prstGeom prst="wedgeRectCallout">
            <a:avLst>
              <a:gd name="adj1" fmla="val -2292"/>
              <a:gd name="adj2" fmla="val -124509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pt-BR" sz="1100">
                <a:latin typeface="Verdana" pitchFamily="34" charset="0"/>
              </a:rPr>
              <a:t>Onde o produto </a:t>
            </a:r>
            <a:r>
              <a:rPr lang="en-US" sz="1100">
                <a:latin typeface="Verdana" pitchFamily="34" charset="0"/>
              </a:rPr>
              <a:t>é utilizado</a:t>
            </a:r>
            <a:r>
              <a:rPr lang="pt-BR" sz="1100">
                <a:latin typeface="Verdana" pitchFamily="34" charset="0"/>
              </a:rPr>
              <a:t>.</a:t>
            </a:r>
          </a:p>
        </p:txBody>
      </p:sp>
      <p:sp>
        <p:nvSpPr>
          <p:cNvPr id="52238" name="AutoShape 14"/>
          <p:cNvSpPr>
            <a:spLocks noChangeArrowheads="1"/>
          </p:cNvSpPr>
          <p:nvPr/>
        </p:nvSpPr>
        <p:spPr bwMode="auto">
          <a:xfrm>
            <a:off x="6588125" y="1125538"/>
            <a:ext cx="2160588" cy="1512887"/>
          </a:xfrm>
          <a:prstGeom prst="wedgeRectCallout">
            <a:avLst>
              <a:gd name="adj1" fmla="val -38245"/>
              <a:gd name="adj2" fmla="val 22403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pt-BR" sz="1100">
                <a:latin typeface="Verdana" pitchFamily="34" charset="0"/>
              </a:rPr>
              <a:t>Os atributos relacionados as diferentes fases do ciclo de vida auxiliam na definição das características físicas, de forma, de materiais, de uso, de fabricação, entre outras, do produto.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32" grpId="0" animBg="1"/>
      <p:bldP spid="52233" grpId="0" animBg="1"/>
      <p:bldP spid="52234" grpId="0" animBg="1"/>
      <p:bldP spid="52235" grpId="0" animBg="1"/>
      <p:bldP spid="5223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268288" y="188913"/>
            <a:ext cx="7388225" cy="706437"/>
          </a:xfrm>
        </p:spPr>
        <p:txBody>
          <a:bodyPr/>
          <a:lstStyle/>
          <a:p>
            <a:pPr eaLnBrk="1" hangingPunct="1"/>
            <a:r>
              <a:rPr lang="en-US"/>
              <a:t>CLIENTES DO PROJETO</a:t>
            </a:r>
            <a:endParaRPr lang="pt-BR"/>
          </a:p>
        </p:txBody>
      </p:sp>
      <p:sp>
        <p:nvSpPr>
          <p:cNvPr id="54275" name="Text Box 5"/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i="1" dirty="0">
                <a:solidFill>
                  <a:srgbClr val="B40000"/>
                </a:solidFill>
                <a:latin typeface="Verdana" pitchFamily="34" charset="0"/>
              </a:rPr>
              <a:t>PI / Detalhar Ciclo de Vida do Produto e Definir Seus Clientes </a:t>
            </a:r>
          </a:p>
        </p:txBody>
      </p:sp>
      <p:pic>
        <p:nvPicPr>
          <p:cNvPr id="54276" name="Picture 11" descr="Untitled-1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2124075" y="1557338"/>
            <a:ext cx="4897438" cy="4114800"/>
          </a:xfrm>
          <a:noFill/>
        </p:spPr>
      </p:pic>
      <p:sp>
        <p:nvSpPr>
          <p:cNvPr id="60428" name="Rectangle 12"/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>
            <a:extLst>
              <a:ext uri="{FF2B5EF4-FFF2-40B4-BE49-F238E27FC236}">
                <a16:creationId xmlns:a16="http://schemas.microsoft.com/office/drawing/2014/main" id="{0EC4295B-743A-5CE5-BEF4-C5BDD72516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202" y="308896"/>
            <a:ext cx="69119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i="1" dirty="0">
                <a:latin typeface="Verdana" pitchFamily="34" charset="0"/>
              </a:rPr>
              <a:t>CLIENTES AO LONGO DO CICLO DE VIDA</a:t>
            </a:r>
          </a:p>
        </p:txBody>
      </p:sp>
      <p:pic>
        <p:nvPicPr>
          <p:cNvPr id="155650" name="Picture 2" descr="Transporte e movimentação de materiais - COTLOG">
            <a:extLst>
              <a:ext uri="{FF2B5EF4-FFF2-40B4-BE49-F238E27FC236}">
                <a16:creationId xmlns:a16="http://schemas.microsoft.com/office/drawing/2014/main" id="{FCF350D3-FC83-BA45-942E-B6D17199D8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5483" y="616275"/>
            <a:ext cx="2302977" cy="1644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652" name="Picture 4" descr="Homens 3d movimentação de materiais isolado sobre o branco | Foto Grátis">
            <a:extLst>
              <a:ext uri="{FF2B5EF4-FFF2-40B4-BE49-F238E27FC236}">
                <a16:creationId xmlns:a16="http://schemas.microsoft.com/office/drawing/2014/main" id="{0B322A37-2D13-5E73-6BAB-57E36C87B0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6142" y="2691742"/>
            <a:ext cx="42545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654" name="Picture 6" descr="Descartar o lixo infectado corretamente - Medlimp E-Commerce">
            <a:extLst>
              <a:ext uri="{FF2B5EF4-FFF2-40B4-BE49-F238E27FC236}">
                <a16:creationId xmlns:a16="http://schemas.microsoft.com/office/drawing/2014/main" id="{E2FCC619-3C7D-F55D-0E80-39CEEDE88F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045" y="3926807"/>
            <a:ext cx="2775565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656" name="Picture 8" descr="Saiba Mais – Refritech">
            <a:extLst>
              <a:ext uri="{FF2B5EF4-FFF2-40B4-BE49-F238E27FC236}">
                <a16:creationId xmlns:a16="http://schemas.microsoft.com/office/drawing/2014/main" id="{C6156C94-7A82-A941-2037-623A23BCD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4071" y="4343400"/>
            <a:ext cx="3225800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 descr="MCj02374860000[1]">
            <a:extLst>
              <a:ext uri="{FF2B5EF4-FFF2-40B4-BE49-F238E27FC236}">
                <a16:creationId xmlns:a16="http://schemas.microsoft.com/office/drawing/2014/main" id="{49BA91F2-E431-9FE6-9F7A-84D34286BB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>
          <a:xfrm>
            <a:off x="525045" y="1524000"/>
            <a:ext cx="2497342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628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4">
            <a:extLst>
              <a:ext uri="{FF2B5EF4-FFF2-40B4-BE49-F238E27FC236}">
                <a16:creationId xmlns:a16="http://schemas.microsoft.com/office/drawing/2014/main" id="{0D13BA30-7086-F392-DC56-C8BDEC0908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Principais Informações do PI</a:t>
            </a:r>
          </a:p>
        </p:txBody>
      </p:sp>
      <p:pic>
        <p:nvPicPr>
          <p:cNvPr id="17414" name="Picture 6" descr="Imagem4">
            <a:extLst>
              <a:ext uri="{FF2B5EF4-FFF2-40B4-BE49-F238E27FC236}">
                <a16:creationId xmlns:a16="http://schemas.microsoft.com/office/drawing/2014/main" id="{3EF88D95-FB99-A01D-40ED-6EC767040CD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66862" y="1700212"/>
            <a:ext cx="6308725" cy="4200525"/>
          </a:xfrm>
          <a:noFill/>
        </p:spPr>
      </p:pic>
      <p:sp>
        <p:nvSpPr>
          <p:cNvPr id="17415" name="Rectangle 7">
            <a:extLst>
              <a:ext uri="{FF2B5EF4-FFF2-40B4-BE49-F238E27FC236}">
                <a16:creationId xmlns:a16="http://schemas.microsoft.com/office/drawing/2014/main" id="{B32FCBC3-4430-EB9F-5F9F-87DD36F552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  <p:sp>
        <p:nvSpPr>
          <p:cNvPr id="17419" name="Freeform 11">
            <a:extLst>
              <a:ext uri="{FF2B5EF4-FFF2-40B4-BE49-F238E27FC236}">
                <a16:creationId xmlns:a16="http://schemas.microsoft.com/office/drawing/2014/main" id="{120D5975-5CA0-8F82-DC6F-88B79BC6DB59}"/>
              </a:ext>
            </a:extLst>
          </p:cNvPr>
          <p:cNvSpPr>
            <a:spLocks/>
          </p:cNvSpPr>
          <p:nvPr/>
        </p:nvSpPr>
        <p:spPr bwMode="auto">
          <a:xfrm>
            <a:off x="1054100" y="1249363"/>
            <a:ext cx="5946775" cy="4979987"/>
          </a:xfrm>
          <a:custGeom>
            <a:avLst/>
            <a:gdLst>
              <a:gd name="T0" fmla="*/ 2147483646 w 3746"/>
              <a:gd name="T1" fmla="*/ 2147483646 h 3137"/>
              <a:gd name="T2" fmla="*/ 2147483646 w 3746"/>
              <a:gd name="T3" fmla="*/ 2147483646 h 3137"/>
              <a:gd name="T4" fmla="*/ 2147483646 w 3746"/>
              <a:gd name="T5" fmla="*/ 2147483646 h 3137"/>
              <a:gd name="T6" fmla="*/ 2147483646 w 3746"/>
              <a:gd name="T7" fmla="*/ 2147483646 h 3137"/>
              <a:gd name="T8" fmla="*/ 2147483646 w 3746"/>
              <a:gd name="T9" fmla="*/ 2147483646 h 3137"/>
              <a:gd name="T10" fmla="*/ 2147483646 w 3746"/>
              <a:gd name="T11" fmla="*/ 2147483646 h 3137"/>
              <a:gd name="T12" fmla="*/ 2147483646 w 3746"/>
              <a:gd name="T13" fmla="*/ 2147483646 h 3137"/>
              <a:gd name="T14" fmla="*/ 2147483646 w 3746"/>
              <a:gd name="T15" fmla="*/ 2147483646 h 3137"/>
              <a:gd name="T16" fmla="*/ 2147483646 w 3746"/>
              <a:gd name="T17" fmla="*/ 2147483646 h 3137"/>
              <a:gd name="T18" fmla="*/ 2147483646 w 3746"/>
              <a:gd name="T19" fmla="*/ 2147483646 h 313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3746"/>
              <a:gd name="T31" fmla="*/ 0 h 3137"/>
              <a:gd name="T32" fmla="*/ 3746 w 3746"/>
              <a:gd name="T33" fmla="*/ 3137 h 313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3746" h="3137">
                <a:moveTo>
                  <a:pt x="766" y="3051"/>
                </a:moveTo>
                <a:cubicBezTo>
                  <a:pt x="494" y="3045"/>
                  <a:pt x="309" y="2989"/>
                  <a:pt x="183" y="2794"/>
                </a:cubicBezTo>
                <a:cubicBezTo>
                  <a:pt x="57" y="2599"/>
                  <a:pt x="11" y="2216"/>
                  <a:pt x="9" y="1878"/>
                </a:cubicBezTo>
                <a:cubicBezTo>
                  <a:pt x="7" y="1540"/>
                  <a:pt x="0" y="1064"/>
                  <a:pt x="169" y="768"/>
                </a:cubicBezTo>
                <a:cubicBezTo>
                  <a:pt x="338" y="472"/>
                  <a:pt x="494" y="202"/>
                  <a:pt x="1022" y="101"/>
                </a:cubicBezTo>
                <a:cubicBezTo>
                  <a:pt x="1550" y="0"/>
                  <a:pt x="2934" y="14"/>
                  <a:pt x="3340" y="164"/>
                </a:cubicBezTo>
                <a:cubicBezTo>
                  <a:pt x="3746" y="314"/>
                  <a:pt x="3715" y="830"/>
                  <a:pt x="3458" y="1003"/>
                </a:cubicBezTo>
                <a:cubicBezTo>
                  <a:pt x="3201" y="1176"/>
                  <a:pt x="2074" y="901"/>
                  <a:pt x="1800" y="1205"/>
                </a:cubicBezTo>
                <a:cubicBezTo>
                  <a:pt x="1526" y="1509"/>
                  <a:pt x="1985" y="2521"/>
                  <a:pt x="1813" y="2829"/>
                </a:cubicBezTo>
                <a:cubicBezTo>
                  <a:pt x="1641" y="3137"/>
                  <a:pt x="1038" y="3057"/>
                  <a:pt x="766" y="3051"/>
                </a:cubicBezTo>
                <a:close/>
              </a:path>
            </a:pathLst>
          </a:custGeom>
          <a:noFill/>
          <a:ln w="28575" cmpd="sng">
            <a:solidFill>
              <a:srgbClr val="B4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6629" name="Text Box 16">
            <a:extLst>
              <a:ext uri="{FF2B5EF4-FFF2-40B4-BE49-F238E27FC236}">
                <a16:creationId xmlns:a16="http://schemas.microsoft.com/office/drawing/2014/main" id="{13E6C058-23FA-A6C7-55A7-FA62687A93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pt-BR" altLang="pt-BR" sz="1600" i="1">
                <a:solidFill>
                  <a:srgbClr val="B40000"/>
                </a:solidFill>
                <a:latin typeface="Verdana" panose="020B0604030504040204" pitchFamily="34" charset="0"/>
              </a:rPr>
              <a:t>PI</a:t>
            </a:r>
          </a:p>
        </p:txBody>
      </p:sp>
      <p:sp>
        <p:nvSpPr>
          <p:cNvPr id="26631" name="Text Box 18">
            <a:extLst>
              <a:ext uri="{FF2B5EF4-FFF2-40B4-BE49-F238E27FC236}">
                <a16:creationId xmlns:a16="http://schemas.microsoft.com/office/drawing/2014/main" id="{6F3136E7-A4E3-EBFE-4DB5-7703AAD577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8350" y="5032375"/>
            <a:ext cx="1892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  <p:sp>
        <p:nvSpPr>
          <p:cNvPr id="17428" name="AutoShape 20">
            <a:extLst>
              <a:ext uri="{FF2B5EF4-FFF2-40B4-BE49-F238E27FC236}">
                <a16:creationId xmlns:a16="http://schemas.microsoft.com/office/drawing/2014/main" id="{352D80CA-D304-3AE7-75D8-149FC85EC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4005263"/>
            <a:ext cx="1728787" cy="1152525"/>
          </a:xfrm>
          <a:prstGeom prst="wedgeRectCallout">
            <a:avLst>
              <a:gd name="adj1" fmla="val 55144"/>
              <a:gd name="adj2" fmla="val 71764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100">
                <a:latin typeface="Verdana" panose="020B0604030504040204" pitchFamily="34" charset="0"/>
              </a:rPr>
              <a:t>Desejos originais dos clientes. Podem ser redundantes ou expressar características do produto 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6210EB5-A5E3-B300-C9DF-C885700BFB3F}"/>
              </a:ext>
            </a:extLst>
          </p:cNvPr>
          <p:cNvSpPr/>
          <p:nvPr/>
        </p:nvSpPr>
        <p:spPr bwMode="auto">
          <a:xfrm>
            <a:off x="1795462" y="4594226"/>
            <a:ext cx="2232025" cy="1943100"/>
          </a:xfrm>
          <a:prstGeom prst="ellipse">
            <a:avLst/>
          </a:prstGeom>
          <a:noFill/>
          <a:ln w="5715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775366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5" grpId="0" animBg="1"/>
      <p:bldP spid="1742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C81EFAD7-1527-3BBE-867C-9B9E2E34D1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3600" dirty="0"/>
              <a:t>Coletar Necessidades </a:t>
            </a:r>
            <a:br>
              <a:rPr lang="pt-BR" altLang="pt-BR" sz="3600" dirty="0"/>
            </a:br>
            <a:r>
              <a:rPr lang="pt-BR" altLang="pt-BR" sz="3600" dirty="0"/>
              <a:t>dos Clientes por Fase do CV</a:t>
            </a:r>
          </a:p>
        </p:txBody>
      </p:sp>
      <p:sp>
        <p:nvSpPr>
          <p:cNvPr id="205827" name="Rectangle 3">
            <a:extLst>
              <a:ext uri="{FF2B5EF4-FFF2-40B4-BE49-F238E27FC236}">
                <a16:creationId xmlns:a16="http://schemas.microsoft.com/office/drawing/2014/main" id="{F606B665-6FDC-EBDE-2C98-1D33466F221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92125" y="1862138"/>
            <a:ext cx="5057775" cy="4525962"/>
          </a:xfrm>
        </p:spPr>
        <p:txBody>
          <a:bodyPr/>
          <a:lstStyle/>
          <a:p>
            <a:pPr eaLnBrk="1" hangingPunct="1"/>
            <a:r>
              <a:rPr lang="pt-BR" altLang="pt-BR" sz="2400">
                <a:solidFill>
                  <a:srgbClr val="B40000"/>
                </a:solidFill>
              </a:rPr>
              <a:t>Levantar</a:t>
            </a:r>
            <a:r>
              <a:rPr lang="pt-BR" altLang="pt-BR" sz="2400"/>
              <a:t> as </a:t>
            </a:r>
            <a:r>
              <a:rPr lang="pt-BR" altLang="pt-BR" sz="2400">
                <a:solidFill>
                  <a:srgbClr val="B40000"/>
                </a:solidFill>
              </a:rPr>
              <a:t>necessidades “brutas”</a:t>
            </a:r>
            <a:r>
              <a:rPr lang="pt-BR" altLang="pt-BR" sz="2400"/>
              <a:t> (dados originais), por meio de observação direta, grupos focais, ...</a:t>
            </a:r>
          </a:p>
        </p:txBody>
      </p:sp>
      <p:sp>
        <p:nvSpPr>
          <p:cNvPr id="37891" name="Text Box 6">
            <a:extLst>
              <a:ext uri="{FF2B5EF4-FFF2-40B4-BE49-F238E27FC236}">
                <a16:creationId xmlns:a16="http://schemas.microsoft.com/office/drawing/2014/main" id="{5291058A-FD1B-06A1-929D-58EB1F0248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pt-BR" altLang="pt-BR" sz="1600" i="1">
                <a:solidFill>
                  <a:srgbClr val="B40000"/>
                </a:solidFill>
                <a:latin typeface="Verdana" panose="020B0604030504040204" pitchFamily="34" charset="0"/>
              </a:rPr>
              <a:t>PI / Identif. Req. dos Clientes / Coletar Necessidades</a:t>
            </a:r>
          </a:p>
        </p:txBody>
      </p:sp>
      <p:sp>
        <p:nvSpPr>
          <p:cNvPr id="205831" name="Rectangle 7">
            <a:extLst>
              <a:ext uri="{FF2B5EF4-FFF2-40B4-BE49-F238E27FC236}">
                <a16:creationId xmlns:a16="http://schemas.microsoft.com/office/drawing/2014/main" id="{E5D97270-03E7-8900-1E75-DF303B46D4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  <p:pic>
        <p:nvPicPr>
          <p:cNvPr id="205833" name="Picture 9" descr="MCj02961910000[1]">
            <a:extLst>
              <a:ext uri="{FF2B5EF4-FFF2-40B4-BE49-F238E27FC236}">
                <a16:creationId xmlns:a16="http://schemas.microsoft.com/office/drawing/2014/main" id="{9861099A-19E2-C30D-124D-7A2D3F27726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535613" y="2541588"/>
            <a:ext cx="2833687" cy="3109912"/>
          </a:xfr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83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724" name="Picture 4" descr="Técnicas e conhecimentos utilizados na etapa de Imersão do Design Thinking. Fonte: Sleeswijkvisser et al., 2005.">
            <a:extLst>
              <a:ext uri="{FF2B5EF4-FFF2-40B4-BE49-F238E27FC236}">
                <a16:creationId xmlns:a16="http://schemas.microsoft.com/office/drawing/2014/main" id="{4E575D9E-D428-D92B-EB59-BB2F484FE3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014" y="1614025"/>
            <a:ext cx="8746148" cy="4025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F8ECD0A4-EB5F-06CA-BAC9-6AC0C6BE5D07}"/>
              </a:ext>
            </a:extLst>
          </p:cNvPr>
          <p:cNvSpPr txBox="1"/>
          <p:nvPr/>
        </p:nvSpPr>
        <p:spPr>
          <a:xfrm>
            <a:off x="2286000" y="5921505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i="1" dirty="0">
                <a:solidFill>
                  <a:srgbClr val="515151"/>
                </a:solidFill>
                <a:effectLst/>
                <a:latin typeface="Georgia" panose="02040502050405020303" pitchFamily="18" charset="0"/>
              </a:rPr>
              <a:t>Fonte: </a:t>
            </a:r>
            <a:r>
              <a:rPr lang="pt-BR" b="0" i="1" dirty="0" err="1">
                <a:solidFill>
                  <a:srgbClr val="515151"/>
                </a:solidFill>
                <a:effectLst/>
                <a:latin typeface="Georgia" panose="02040502050405020303" pitchFamily="18" charset="0"/>
              </a:rPr>
              <a:t>Sleeswijkvisser</a:t>
            </a:r>
            <a:r>
              <a:rPr lang="pt-BR" b="0" i="1" dirty="0">
                <a:solidFill>
                  <a:srgbClr val="515151"/>
                </a:solidFill>
                <a:effectLst/>
                <a:latin typeface="Georgia" panose="02040502050405020303" pitchFamily="18" charset="0"/>
              </a:rPr>
              <a:t> et al., 2005.</a:t>
            </a:r>
            <a:endParaRPr lang="pt-BR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FCCC4C29-FCA6-4F6D-EE6B-B0C9CC144E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188913"/>
            <a:ext cx="8229600" cy="1143000"/>
          </a:xfrm>
        </p:spPr>
        <p:txBody>
          <a:bodyPr/>
          <a:lstStyle/>
          <a:p>
            <a:pPr eaLnBrk="1" hangingPunct="1"/>
            <a:r>
              <a:rPr lang="pt-BR" altLang="pt-BR" sz="3600" dirty="0"/>
              <a:t>Coletar Necessidades </a:t>
            </a:r>
            <a:br>
              <a:rPr lang="pt-BR" altLang="pt-BR" sz="3600" dirty="0"/>
            </a:br>
            <a:r>
              <a:rPr lang="pt-BR" altLang="pt-BR" sz="3600" dirty="0"/>
              <a:t>dos Clientes por Fase do CV</a:t>
            </a:r>
          </a:p>
        </p:txBody>
      </p:sp>
    </p:spTree>
    <p:extLst>
      <p:ext uri="{BB962C8B-B14F-4D97-AF65-F5344CB8AC3E}">
        <p14:creationId xmlns:p14="http://schemas.microsoft.com/office/powerpoint/2010/main" val="27925849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3" name="Imagem 5">
            <a:extLst>
              <a:ext uri="{FF2B5EF4-FFF2-40B4-BE49-F238E27FC236}">
                <a16:creationId xmlns:a16="http://schemas.microsoft.com/office/drawing/2014/main" id="{F04D1F2C-A8B9-0599-08E0-9EDCCEE35F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338" y="871538"/>
            <a:ext cx="4830762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4" name="Imagem 4">
            <a:extLst>
              <a:ext uri="{FF2B5EF4-FFF2-40B4-BE49-F238E27FC236}">
                <a16:creationId xmlns:a16="http://schemas.microsoft.com/office/drawing/2014/main" id="{6E56E88E-148F-32DB-65FB-B4A6B8B93C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5013" y="2233613"/>
            <a:ext cx="5070475" cy="3890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>
            <a:extLst>
              <a:ext uri="{FF2B5EF4-FFF2-40B4-BE49-F238E27FC236}">
                <a16:creationId xmlns:a16="http://schemas.microsoft.com/office/drawing/2014/main" id="{36B1F901-4B85-5134-2B37-196EDB6B03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Tipos de Necessidades</a:t>
            </a:r>
          </a:p>
        </p:txBody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DA928DCE-5F05-1037-21D4-0D01508CCEC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pt-BR" altLang="pt-BR" sz="2400"/>
              <a:t>Necessidades </a:t>
            </a:r>
            <a:r>
              <a:rPr lang="pt-BR" altLang="pt-BR" sz="2400">
                <a:solidFill>
                  <a:srgbClr val="B40000"/>
                </a:solidFill>
              </a:rPr>
              <a:t>manifestas</a:t>
            </a:r>
            <a:r>
              <a:rPr lang="pt-BR" altLang="pt-BR" sz="2400"/>
              <a:t>.</a:t>
            </a:r>
          </a:p>
          <a:p>
            <a:pPr eaLnBrk="1" hangingPunct="1"/>
            <a:r>
              <a:rPr lang="pt-BR" altLang="pt-BR" sz="2400"/>
              <a:t>Necessidades </a:t>
            </a:r>
            <a:r>
              <a:rPr lang="pt-BR" altLang="pt-BR" sz="2400">
                <a:solidFill>
                  <a:srgbClr val="B40000"/>
                </a:solidFill>
              </a:rPr>
              <a:t>reais</a:t>
            </a:r>
            <a:r>
              <a:rPr lang="pt-BR" altLang="pt-BR" sz="2400"/>
              <a:t>.</a:t>
            </a:r>
          </a:p>
          <a:p>
            <a:pPr eaLnBrk="1" hangingPunct="1"/>
            <a:r>
              <a:rPr lang="pt-BR" altLang="pt-BR" sz="2400"/>
              <a:t>Necessidades </a:t>
            </a:r>
            <a:r>
              <a:rPr lang="pt-BR" altLang="pt-BR" sz="2400">
                <a:solidFill>
                  <a:srgbClr val="B40000"/>
                </a:solidFill>
              </a:rPr>
              <a:t>latentes</a:t>
            </a:r>
            <a:r>
              <a:rPr lang="pt-BR" altLang="pt-BR" sz="2400"/>
              <a:t>.</a:t>
            </a:r>
          </a:p>
          <a:p>
            <a:pPr eaLnBrk="1" hangingPunct="1"/>
            <a:r>
              <a:rPr lang="pt-BR" altLang="pt-BR" sz="2400"/>
              <a:t>Necessidades </a:t>
            </a:r>
            <a:r>
              <a:rPr lang="pt-BR" altLang="pt-BR" sz="2400">
                <a:solidFill>
                  <a:srgbClr val="B40000"/>
                </a:solidFill>
              </a:rPr>
              <a:t>culturais</a:t>
            </a:r>
            <a:r>
              <a:rPr lang="pt-BR" altLang="pt-BR" sz="2400"/>
              <a:t>.</a:t>
            </a:r>
          </a:p>
        </p:txBody>
      </p:sp>
      <p:sp>
        <p:nvSpPr>
          <p:cNvPr id="124932" name="Rectangle 4">
            <a:extLst>
              <a:ext uri="{FF2B5EF4-FFF2-40B4-BE49-F238E27FC236}">
                <a16:creationId xmlns:a16="http://schemas.microsoft.com/office/drawing/2014/main" id="{34C272A8-202F-71A5-23B2-64D339E1834F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eaLnBrk="1" hangingPunct="1"/>
            <a:r>
              <a:rPr lang="pt-BR" altLang="pt-BR" sz="2400"/>
              <a:t>Necessidades </a:t>
            </a:r>
            <a:r>
              <a:rPr lang="pt-BR" altLang="pt-BR" sz="2400">
                <a:solidFill>
                  <a:srgbClr val="B40000"/>
                </a:solidFill>
              </a:rPr>
              <a:t>atribuíveis a usos inesperados</a:t>
            </a:r>
            <a:r>
              <a:rPr lang="pt-BR" altLang="pt-BR" sz="2400"/>
              <a:t>.</a:t>
            </a:r>
          </a:p>
          <a:p>
            <a:pPr eaLnBrk="1" hangingPunct="1"/>
            <a:r>
              <a:rPr lang="pt-BR" altLang="pt-BR" sz="2400"/>
              <a:t>Necessidades </a:t>
            </a:r>
            <a:r>
              <a:rPr lang="pt-BR" altLang="pt-BR" sz="2400">
                <a:solidFill>
                  <a:srgbClr val="B40000"/>
                </a:solidFill>
              </a:rPr>
              <a:t>relativas à satisfação do produto</a:t>
            </a:r>
            <a:r>
              <a:rPr lang="pt-BR" altLang="pt-BR" sz="2400"/>
              <a:t>.</a:t>
            </a:r>
          </a:p>
          <a:p>
            <a:pPr eaLnBrk="1" hangingPunct="1"/>
            <a:endParaRPr lang="pt-BR" altLang="pt-BR" sz="2400"/>
          </a:p>
        </p:txBody>
      </p:sp>
      <p:sp>
        <p:nvSpPr>
          <p:cNvPr id="124934" name="Rectangle 6">
            <a:extLst>
              <a:ext uri="{FF2B5EF4-FFF2-40B4-BE49-F238E27FC236}">
                <a16:creationId xmlns:a16="http://schemas.microsoft.com/office/drawing/2014/main" id="{3338FD68-C48D-E3AB-4012-854D44106E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  <p:sp>
        <p:nvSpPr>
          <p:cNvPr id="45061" name="Text Box 7">
            <a:extLst>
              <a:ext uri="{FF2B5EF4-FFF2-40B4-BE49-F238E27FC236}">
                <a16:creationId xmlns:a16="http://schemas.microsoft.com/office/drawing/2014/main" id="{7F2A3192-4470-F42A-033B-EAEB82AB0E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pt-BR" altLang="pt-BR" sz="1600" i="1">
                <a:solidFill>
                  <a:srgbClr val="B40000"/>
                </a:solidFill>
                <a:latin typeface="Verdana" panose="020B0604030504040204" pitchFamily="34" charset="0"/>
              </a:rPr>
              <a:t>PI / Identif. Req. dos Clientes / Coletar Necessidades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>
            <a:extLst>
              <a:ext uri="{FF2B5EF4-FFF2-40B4-BE49-F238E27FC236}">
                <a16:creationId xmlns:a16="http://schemas.microsoft.com/office/drawing/2014/main" id="{E0D6D04A-895A-1269-76FE-C6E30702FC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663" y="268288"/>
            <a:ext cx="8923337" cy="706437"/>
          </a:xfrm>
        </p:spPr>
        <p:txBody>
          <a:bodyPr/>
          <a:lstStyle/>
          <a:p>
            <a:pPr eaLnBrk="1" hangingPunct="1"/>
            <a:r>
              <a:rPr lang="pt-BR" altLang="pt-BR" sz="2800"/>
              <a:t>Necessidades  Manifestas e Reais</a:t>
            </a:r>
            <a:endParaRPr lang="pt-BR" altLang="pt-BR" sz="2800">
              <a:solidFill>
                <a:srgbClr val="B40000"/>
              </a:solidFill>
            </a:endParaRPr>
          </a:p>
        </p:txBody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18D5480B-6CE1-60FE-27C0-30A7ACA8E7F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8788" y="1619250"/>
            <a:ext cx="4210050" cy="5238750"/>
          </a:xfrm>
        </p:spPr>
        <p:txBody>
          <a:bodyPr/>
          <a:lstStyle/>
          <a:p>
            <a:pPr eaLnBrk="1" hangingPunct="1"/>
            <a:r>
              <a:rPr lang="pt-BR" altLang="pt-BR" sz="2000"/>
              <a:t>Os </a:t>
            </a:r>
            <a:r>
              <a:rPr lang="pt-BR" altLang="pt-BR" sz="2000">
                <a:solidFill>
                  <a:srgbClr val="B40000"/>
                </a:solidFill>
              </a:rPr>
              <a:t>clientes</a:t>
            </a:r>
            <a:r>
              <a:rPr lang="pt-BR" altLang="pt-BR" sz="2000"/>
              <a:t> normalmente </a:t>
            </a:r>
            <a:r>
              <a:rPr lang="pt-BR" altLang="pt-BR" sz="2000">
                <a:solidFill>
                  <a:srgbClr val="B40000"/>
                </a:solidFill>
              </a:rPr>
              <a:t>manifestam</a:t>
            </a:r>
            <a:r>
              <a:rPr lang="pt-BR" altLang="pt-BR" sz="2000"/>
              <a:t> suas </a:t>
            </a:r>
            <a:r>
              <a:rPr lang="pt-BR" altLang="pt-BR" sz="2000">
                <a:solidFill>
                  <a:srgbClr val="B40000"/>
                </a:solidFill>
              </a:rPr>
              <a:t>necessidades</a:t>
            </a:r>
            <a:r>
              <a:rPr lang="pt-BR" altLang="pt-BR" sz="2000"/>
              <a:t> segundo seus pontos de vista e </a:t>
            </a:r>
            <a:r>
              <a:rPr lang="pt-BR" altLang="pt-BR" sz="2000">
                <a:solidFill>
                  <a:srgbClr val="B40000"/>
                </a:solidFill>
              </a:rPr>
              <a:t>de acordo com a sua linguagem</a:t>
            </a:r>
            <a:r>
              <a:rPr lang="pt-BR" altLang="pt-BR" sz="2000"/>
              <a:t>.</a:t>
            </a:r>
          </a:p>
        </p:txBody>
      </p:sp>
      <p:sp>
        <p:nvSpPr>
          <p:cNvPr id="126980" name="Rectangle 4">
            <a:extLst>
              <a:ext uri="{FF2B5EF4-FFF2-40B4-BE49-F238E27FC236}">
                <a16:creationId xmlns:a16="http://schemas.microsoft.com/office/drawing/2014/main" id="{8988B86B-54EE-8069-398A-763E69D7A991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682331" y="1253289"/>
            <a:ext cx="4211638" cy="5238750"/>
          </a:xfrm>
        </p:spPr>
        <p:txBody>
          <a:bodyPr/>
          <a:lstStyle/>
          <a:p>
            <a:pPr eaLnBrk="1" hangingPunct="1"/>
            <a:r>
              <a:rPr lang="pt-BR" altLang="pt-BR" sz="2000"/>
              <a:t>Os </a:t>
            </a:r>
            <a:r>
              <a:rPr lang="pt-BR" altLang="pt-BR" sz="2000">
                <a:solidFill>
                  <a:srgbClr val="B40000"/>
                </a:solidFill>
              </a:rPr>
              <a:t>clientes externos</a:t>
            </a:r>
            <a:r>
              <a:rPr lang="pt-BR" altLang="pt-BR" sz="2000"/>
              <a:t>, por exemplo, geralmente </a:t>
            </a:r>
            <a:r>
              <a:rPr lang="pt-BR" altLang="pt-BR" sz="2000">
                <a:solidFill>
                  <a:srgbClr val="B40000"/>
                </a:solidFill>
              </a:rPr>
              <a:t>manifestam</a:t>
            </a:r>
            <a:r>
              <a:rPr lang="pt-BR" altLang="pt-BR" sz="2000"/>
              <a:t> suas </a:t>
            </a:r>
            <a:r>
              <a:rPr lang="pt-BR" altLang="pt-BR" sz="2000">
                <a:solidFill>
                  <a:srgbClr val="B40000"/>
                </a:solidFill>
              </a:rPr>
              <a:t>necessidades</a:t>
            </a:r>
            <a:r>
              <a:rPr lang="pt-BR" altLang="pt-BR" sz="2000"/>
              <a:t> em termos dos </a:t>
            </a:r>
            <a:r>
              <a:rPr lang="pt-BR" altLang="pt-BR" sz="2000">
                <a:solidFill>
                  <a:srgbClr val="B40000"/>
                </a:solidFill>
              </a:rPr>
              <a:t>bens</a:t>
            </a:r>
            <a:r>
              <a:rPr lang="pt-BR" altLang="pt-BR" sz="2000"/>
              <a:t> que </a:t>
            </a:r>
            <a:r>
              <a:rPr lang="pt-BR" altLang="pt-BR" sz="2000">
                <a:solidFill>
                  <a:srgbClr val="B40000"/>
                </a:solidFill>
              </a:rPr>
              <a:t>desejam comprar</a:t>
            </a:r>
            <a:r>
              <a:rPr lang="pt-BR" altLang="pt-BR" sz="2000"/>
              <a:t>.</a:t>
            </a:r>
          </a:p>
          <a:p>
            <a:pPr lvl="1" eaLnBrk="1" hangingPunct="1"/>
            <a:r>
              <a:rPr lang="pt-BR" altLang="pt-BR" sz="1800">
                <a:solidFill>
                  <a:srgbClr val="B40000"/>
                </a:solidFill>
              </a:rPr>
              <a:t>Entretanto</a:t>
            </a:r>
            <a:r>
              <a:rPr lang="pt-BR" altLang="pt-BR" sz="1800"/>
              <a:t>, suas </a:t>
            </a:r>
            <a:r>
              <a:rPr lang="pt-BR" altLang="pt-BR" sz="1800">
                <a:solidFill>
                  <a:srgbClr val="B40000"/>
                </a:solidFill>
              </a:rPr>
              <a:t>necessidades reais</a:t>
            </a:r>
            <a:r>
              <a:rPr lang="pt-BR" altLang="pt-BR" sz="1800"/>
              <a:t> são pelos </a:t>
            </a:r>
            <a:r>
              <a:rPr lang="pt-BR" altLang="pt-BR" sz="1800">
                <a:solidFill>
                  <a:srgbClr val="B40000"/>
                </a:solidFill>
              </a:rPr>
              <a:t>serviços que tais bens podem proporcionar</a:t>
            </a:r>
            <a:r>
              <a:rPr lang="pt-BR" altLang="pt-BR" sz="1800"/>
              <a:t>.</a:t>
            </a:r>
          </a:p>
        </p:txBody>
      </p:sp>
      <p:sp>
        <p:nvSpPr>
          <p:cNvPr id="126982" name="Rectangle 6">
            <a:extLst>
              <a:ext uri="{FF2B5EF4-FFF2-40B4-BE49-F238E27FC236}">
                <a16:creationId xmlns:a16="http://schemas.microsoft.com/office/drawing/2014/main" id="{5425AD64-94CB-DD23-654A-C6EDBB1E3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  <p:sp>
        <p:nvSpPr>
          <p:cNvPr id="47109" name="Text Box 7">
            <a:extLst>
              <a:ext uri="{FF2B5EF4-FFF2-40B4-BE49-F238E27FC236}">
                <a16:creationId xmlns:a16="http://schemas.microsoft.com/office/drawing/2014/main" id="{2A3450E2-548A-85CE-167B-F37437F182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pt-BR" altLang="pt-BR" sz="1600" i="1">
                <a:solidFill>
                  <a:srgbClr val="B40000"/>
                </a:solidFill>
                <a:latin typeface="Verdana" panose="020B0604030504040204" pitchFamily="34" charset="0"/>
              </a:rPr>
              <a:t>PI / Identif. Req. dos Clientes / Coletar Necessidades</a:t>
            </a:r>
          </a:p>
        </p:txBody>
      </p:sp>
      <p:pic>
        <p:nvPicPr>
          <p:cNvPr id="47111" name="Picture 7" descr="Cadeiras De Rodas Portadoras De Deficiência Na Rampa De Mobilidade Das  Pessoas Nas Escadas Ilustração Do Vetor Plano Com Interior Ilustração Stock  - Ilustração de cuidado, necessidades: 221573015">
            <a:extLst>
              <a:ext uri="{FF2B5EF4-FFF2-40B4-BE49-F238E27FC236}">
                <a16:creationId xmlns:a16="http://schemas.microsoft.com/office/drawing/2014/main" id="{9EE93661-59CA-AF2E-09E6-5D7868B0C2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576" y="3951287"/>
            <a:ext cx="5095540" cy="2183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79" grpId="0" autoUpdateAnimBg="0"/>
      <p:bldP spid="126980" grpId="0" autoUpdateAnimBg="0"/>
      <p:bldP spid="126982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6C7074-92AB-031D-295D-FA2C43C5B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25" y="-150683"/>
            <a:ext cx="8229600" cy="1143000"/>
          </a:xfrm>
        </p:spPr>
        <p:txBody>
          <a:bodyPr/>
          <a:lstStyle/>
          <a:p>
            <a:r>
              <a:rPr lang="pt-BR" dirty="0"/>
              <a:t>USO</a:t>
            </a:r>
          </a:p>
        </p:txBody>
      </p:sp>
      <p:pic>
        <p:nvPicPr>
          <p:cNvPr id="4098" name="Picture 2" descr="High-end companies failing in UX design">
            <a:extLst>
              <a:ext uri="{FF2B5EF4-FFF2-40B4-BE49-F238E27FC236}">
                <a16:creationId xmlns:a16="http://schemas.microsoft.com/office/drawing/2014/main" id="{360B9A57-018C-72BD-6021-37B88A1A77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145" y="1386016"/>
            <a:ext cx="4585975" cy="2568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The bad design of everyday things | by Siddharth Gulati | UX Collective">
            <a:extLst>
              <a:ext uri="{FF2B5EF4-FFF2-40B4-BE49-F238E27FC236}">
                <a16:creationId xmlns:a16="http://schemas.microsoft.com/office/drawing/2014/main" id="{2D02B55E-04EF-76CD-02A2-1E61A3B704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87" y="1386016"/>
            <a:ext cx="2552700" cy="318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A peek into the UI/UX universe (with examples)">
            <a:extLst>
              <a:ext uri="{FF2B5EF4-FFF2-40B4-BE49-F238E27FC236}">
                <a16:creationId xmlns:a16="http://schemas.microsoft.com/office/drawing/2014/main" id="{F01DEBA5-7CA0-56F4-050D-F1281C47D1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700" y="4240084"/>
            <a:ext cx="3289300" cy="246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01093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>
            <a:extLst>
              <a:ext uri="{FF2B5EF4-FFF2-40B4-BE49-F238E27FC236}">
                <a16:creationId xmlns:a16="http://schemas.microsoft.com/office/drawing/2014/main" id="{9DC3724F-29C4-F7DB-781A-76F58CF504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1788" y="0"/>
            <a:ext cx="8229600" cy="1143000"/>
          </a:xfrm>
        </p:spPr>
        <p:txBody>
          <a:bodyPr/>
          <a:lstStyle/>
          <a:p>
            <a:pPr eaLnBrk="1" hangingPunct="1"/>
            <a:r>
              <a:rPr lang="pt-BR" altLang="pt-BR" sz="2800"/>
              <a:t>Necessidades  Manifestas, Reais</a:t>
            </a:r>
            <a:endParaRPr lang="pt-BR" altLang="pt-BR" sz="2800">
              <a:solidFill>
                <a:srgbClr val="B40000"/>
              </a:solidFill>
            </a:endParaRPr>
          </a:p>
        </p:txBody>
      </p:sp>
      <p:graphicFrame>
        <p:nvGraphicFramePr>
          <p:cNvPr id="128039" name="Group 39">
            <a:extLst>
              <a:ext uri="{FF2B5EF4-FFF2-40B4-BE49-F238E27FC236}">
                <a16:creationId xmlns:a16="http://schemas.microsoft.com/office/drawing/2014/main" id="{6ABFDB61-9AD8-654C-D4E1-FB1DB80B168B}"/>
              </a:ext>
            </a:extLst>
          </p:cNvPr>
          <p:cNvGraphicFramePr>
            <a:graphicFrameLocks noGrp="1"/>
          </p:cNvGraphicFramePr>
          <p:nvPr>
            <p:ph type="tbl" idx="1"/>
          </p:nvPr>
        </p:nvGraphicFramePr>
        <p:xfrm>
          <a:off x="1116013" y="1711325"/>
          <a:ext cx="7127875" cy="3949702"/>
        </p:xfrm>
        <a:graphic>
          <a:graphicData uri="http://schemas.openxmlformats.org/drawingml/2006/table">
            <a:tbl>
              <a:tblPr/>
              <a:tblGrid>
                <a:gridCol w="3563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39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88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x-none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006699"/>
                          </a:solidFill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O </a:t>
                      </a:r>
                      <a:r>
                        <a:rPr kumimoji="0" lang="pt-BR" altLang="x-none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B40000"/>
                          </a:solidFill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desejo de compra</a:t>
                      </a:r>
                      <a:r>
                        <a:rPr kumimoji="0" lang="pt-BR" altLang="x-none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006699"/>
                          </a:solidFill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 do cliente:</a:t>
                      </a:r>
                      <a:endParaRPr kumimoji="0" lang="pt-BR" altLang="x-none" sz="1800" b="1" i="1" u="none" strike="noStrike" cap="none" normalizeH="0" baseline="0">
                        <a:ln>
                          <a:noFill/>
                        </a:ln>
                        <a:solidFill>
                          <a:srgbClr val="006699"/>
                        </a:solidFill>
                        <a:effectLst/>
                        <a:latin typeface="Verdana" charset="0"/>
                      </a:endParaRP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x-none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B40000"/>
                          </a:solidFill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O que</a:t>
                      </a:r>
                      <a:r>
                        <a:rPr kumimoji="0" lang="pt-BR" altLang="x-none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006699"/>
                          </a:solidFill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 </a:t>
                      </a:r>
                      <a:r>
                        <a:rPr kumimoji="0" lang="pt-BR" altLang="x-none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B40000"/>
                          </a:solidFill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realmente</a:t>
                      </a:r>
                      <a:r>
                        <a:rPr kumimoji="0" lang="pt-BR" altLang="x-none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006699"/>
                          </a:solidFill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 o cliente </a:t>
                      </a:r>
                      <a:r>
                        <a:rPr kumimoji="0" lang="pt-BR" altLang="x-none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B40000"/>
                          </a:solidFill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quer</a:t>
                      </a:r>
                      <a:r>
                        <a:rPr kumimoji="0" lang="pt-BR" altLang="x-none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006699"/>
                          </a:solidFill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:</a:t>
                      </a:r>
                      <a:endParaRPr kumimoji="0" lang="pt-BR" altLang="x-none" sz="1800" b="1" i="1" u="none" strike="noStrike" cap="none" normalizeH="0" baseline="0">
                        <a:ln>
                          <a:noFill/>
                        </a:ln>
                        <a:solidFill>
                          <a:srgbClr val="006699"/>
                        </a:solidFill>
                        <a:effectLst/>
                        <a:latin typeface="Verdana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x-none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006699"/>
                          </a:solidFill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Alimentos</a:t>
                      </a:r>
                      <a:endParaRPr kumimoji="0" lang="pt-BR" altLang="x-none" sz="1600" b="0" i="1" u="none" strike="noStrike" cap="none" normalizeH="0" baseline="0">
                        <a:ln>
                          <a:noFill/>
                        </a:ln>
                        <a:solidFill>
                          <a:srgbClr val="006699"/>
                        </a:solidFill>
                        <a:effectLst/>
                        <a:latin typeface="Verdana" charset="0"/>
                      </a:endParaRP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x-none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006699"/>
                          </a:solidFill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Nutrição e sabor agradável</a:t>
                      </a:r>
                      <a:endParaRPr kumimoji="0" lang="pt-BR" altLang="x-none" sz="1600" b="0" i="1" u="none" strike="noStrike" cap="none" normalizeH="0" baseline="0">
                        <a:ln>
                          <a:noFill/>
                        </a:ln>
                        <a:solidFill>
                          <a:srgbClr val="006699"/>
                        </a:solidFill>
                        <a:effectLst/>
                        <a:latin typeface="Verdana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8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x-none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006699"/>
                          </a:solidFill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Automóvel</a:t>
                      </a:r>
                      <a:endParaRPr kumimoji="0" lang="pt-BR" altLang="x-none" sz="1600" b="0" i="1" u="none" strike="noStrike" cap="none" normalizeH="0" baseline="0">
                        <a:ln>
                          <a:noFill/>
                        </a:ln>
                        <a:solidFill>
                          <a:srgbClr val="006699"/>
                        </a:solidFill>
                        <a:effectLst/>
                        <a:latin typeface="Verdana" charset="0"/>
                      </a:endParaRP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x-none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006699"/>
                          </a:solidFill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Transporte, conforto e status</a:t>
                      </a:r>
                      <a:endParaRPr kumimoji="0" lang="pt-BR" altLang="x-none" sz="1600" b="0" i="1" u="none" strike="noStrike" cap="none" normalizeH="0" baseline="0">
                        <a:ln>
                          <a:noFill/>
                        </a:ln>
                        <a:solidFill>
                          <a:srgbClr val="006699"/>
                        </a:solidFill>
                        <a:effectLst/>
                        <a:latin typeface="Verdana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8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x-none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006699"/>
                          </a:solidFill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Televisor a cores</a:t>
                      </a:r>
                      <a:endParaRPr kumimoji="0" lang="pt-BR" altLang="x-none" sz="1600" b="0" i="1" u="none" strike="noStrike" cap="none" normalizeH="0" baseline="0">
                        <a:ln>
                          <a:noFill/>
                        </a:ln>
                        <a:solidFill>
                          <a:srgbClr val="006699"/>
                        </a:solidFill>
                        <a:effectLst/>
                        <a:latin typeface="Verdana" charset="0"/>
                      </a:endParaRP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x-none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006699"/>
                          </a:solidFill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Entretenimento</a:t>
                      </a:r>
                      <a:endParaRPr kumimoji="0" lang="pt-BR" altLang="x-none" sz="1600" b="0" i="1" u="none" strike="noStrike" cap="none" normalizeH="0" baseline="0">
                        <a:ln>
                          <a:noFill/>
                        </a:ln>
                        <a:solidFill>
                          <a:srgbClr val="006699"/>
                        </a:solidFill>
                        <a:effectLst/>
                        <a:latin typeface="Verdana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7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x-none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006699"/>
                          </a:solidFill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Casa</a:t>
                      </a:r>
                      <a:endParaRPr kumimoji="0" lang="pt-BR" altLang="x-none" sz="1600" b="0" i="1" u="none" strike="noStrike" cap="none" normalizeH="0" baseline="0">
                        <a:ln>
                          <a:noFill/>
                        </a:ln>
                        <a:solidFill>
                          <a:srgbClr val="006699"/>
                        </a:solidFill>
                        <a:effectLst/>
                        <a:latin typeface="Verdana" charset="0"/>
                      </a:endParaRP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x-none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006699"/>
                          </a:solidFill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Espaço para viver</a:t>
                      </a:r>
                      <a:endParaRPr kumimoji="0" lang="pt-BR" altLang="x-none" sz="1600" b="0" i="1" u="none" strike="noStrike" cap="none" normalizeH="0" baseline="0">
                        <a:ln>
                          <a:noFill/>
                        </a:ln>
                        <a:solidFill>
                          <a:srgbClr val="006699"/>
                        </a:solidFill>
                        <a:effectLst/>
                        <a:latin typeface="Verdana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8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x-none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006699"/>
                          </a:solidFill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Pintura da casa</a:t>
                      </a:r>
                      <a:endParaRPr kumimoji="0" lang="pt-BR" altLang="x-none" sz="1600" b="0" i="1" u="none" strike="noStrike" cap="none" normalizeH="0" baseline="0">
                        <a:ln>
                          <a:noFill/>
                        </a:ln>
                        <a:solidFill>
                          <a:srgbClr val="006699"/>
                        </a:solidFill>
                        <a:effectLst/>
                        <a:latin typeface="Verdana" charset="0"/>
                      </a:endParaRP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x-none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006699"/>
                          </a:solidFill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Aparência e conservação</a:t>
                      </a:r>
                      <a:endParaRPr kumimoji="0" lang="pt-BR" altLang="x-none" sz="1600" b="0" i="1" u="none" strike="noStrike" cap="none" normalizeH="0" baseline="0">
                        <a:ln>
                          <a:noFill/>
                        </a:ln>
                        <a:solidFill>
                          <a:srgbClr val="006699"/>
                        </a:solidFill>
                        <a:effectLst/>
                        <a:latin typeface="Verdana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8040" name="Rectangle 40">
            <a:extLst>
              <a:ext uri="{FF2B5EF4-FFF2-40B4-BE49-F238E27FC236}">
                <a16:creationId xmlns:a16="http://schemas.microsoft.com/office/drawing/2014/main" id="{13423860-37D0-DE37-538B-54B3A1CF12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  <p:sp>
        <p:nvSpPr>
          <p:cNvPr id="49178" name="Text Box 41">
            <a:extLst>
              <a:ext uri="{FF2B5EF4-FFF2-40B4-BE49-F238E27FC236}">
                <a16:creationId xmlns:a16="http://schemas.microsoft.com/office/drawing/2014/main" id="{85AFB5CD-C19C-A3DC-D5A8-6D045969DD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pt-BR" altLang="pt-BR" sz="1600" i="1">
                <a:solidFill>
                  <a:srgbClr val="B40000"/>
                </a:solidFill>
                <a:latin typeface="Verdana" panose="020B0604030504040204" pitchFamily="34" charset="0"/>
              </a:rPr>
              <a:t>PI / Identif. Req. dos Clientes / Coletar Necessidades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4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>
            <a:extLst>
              <a:ext uri="{FF2B5EF4-FFF2-40B4-BE49-F238E27FC236}">
                <a16:creationId xmlns:a16="http://schemas.microsoft.com/office/drawing/2014/main" id="{1F551201-EF63-B771-B7CD-B4DE37491F62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eaLnBrk="1" hangingPunct="1"/>
            <a:r>
              <a:rPr lang="pt-BR" altLang="pt-BR" sz="4000"/>
              <a:t>Necessidades por um Carro (Transporte)</a:t>
            </a:r>
            <a:endParaRPr lang="pt-BR" altLang="pt-BR" sz="4800">
              <a:solidFill>
                <a:srgbClr val="B40000"/>
              </a:solidFill>
            </a:endParaRPr>
          </a:p>
        </p:txBody>
      </p:sp>
      <p:pic>
        <p:nvPicPr>
          <p:cNvPr id="130081" name="Picture 33" descr="MCj03210300000[1]">
            <a:extLst>
              <a:ext uri="{FF2B5EF4-FFF2-40B4-BE49-F238E27FC236}">
                <a16:creationId xmlns:a16="http://schemas.microsoft.com/office/drawing/2014/main" id="{8887DBDC-E52F-4C79-AC66-18DFB5845F83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84438" y="4437063"/>
            <a:ext cx="1803400" cy="1411287"/>
          </a:xfrm>
        </p:spPr>
      </p:pic>
      <p:pic>
        <p:nvPicPr>
          <p:cNvPr id="130082" name="Picture 34" descr="MCj01978940000[1]">
            <a:extLst>
              <a:ext uri="{FF2B5EF4-FFF2-40B4-BE49-F238E27FC236}">
                <a16:creationId xmlns:a16="http://schemas.microsoft.com/office/drawing/2014/main" id="{9A16292A-6D76-86D8-26A6-725EE5BA23AD}"/>
              </a:ext>
            </a:extLst>
          </p:cNvPr>
          <p:cNvPicPr>
            <a:picLocks noGrp="1" noChangeAspect="1" noChangeArrowheads="1"/>
          </p:cNvPicPr>
          <p:nvPr>
            <p:ph sz="quarter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03350" y="1844675"/>
            <a:ext cx="2814638" cy="1984375"/>
          </a:xfrm>
        </p:spPr>
      </p:pic>
      <p:pic>
        <p:nvPicPr>
          <p:cNvPr id="130083" name="Picture 35" descr="MCj02943000000[1]">
            <a:extLst>
              <a:ext uri="{FF2B5EF4-FFF2-40B4-BE49-F238E27FC236}">
                <a16:creationId xmlns:a16="http://schemas.microsoft.com/office/drawing/2014/main" id="{59D06CA5-ECAE-92EB-18C9-CDDEECE95543}"/>
              </a:ext>
            </a:extLst>
          </p:cNvPr>
          <p:cNvPicPr>
            <a:picLocks noGrp="1" noChangeAspect="1" noChangeArrowheads="1"/>
          </p:cNvPicPr>
          <p:nvPr>
            <p:ph sz="quarter" idx="3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651500" y="1700213"/>
            <a:ext cx="1798638" cy="1604962"/>
          </a:xfrm>
        </p:spPr>
      </p:pic>
      <p:pic>
        <p:nvPicPr>
          <p:cNvPr id="130084" name="Picture 36" descr="j0183328">
            <a:extLst>
              <a:ext uri="{FF2B5EF4-FFF2-40B4-BE49-F238E27FC236}">
                <a16:creationId xmlns:a16="http://schemas.microsoft.com/office/drawing/2014/main" id="{4D8B1656-0D14-696A-D9E2-F7AF4F629FC5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795963" y="3789363"/>
            <a:ext cx="1806575" cy="1814512"/>
          </a:xfrm>
        </p:spPr>
      </p:pic>
      <p:sp>
        <p:nvSpPr>
          <p:cNvPr id="130085" name="Line 37">
            <a:extLst>
              <a:ext uri="{FF2B5EF4-FFF2-40B4-BE49-F238E27FC236}">
                <a16:creationId xmlns:a16="http://schemas.microsoft.com/office/drawing/2014/main" id="{A8BE83C8-6A32-C3FB-0982-BEF5CC80EDF6}"/>
              </a:ext>
            </a:extLst>
          </p:cNvPr>
          <p:cNvSpPr>
            <a:spLocks noChangeShapeType="1"/>
          </p:cNvSpPr>
          <p:nvPr/>
        </p:nvSpPr>
        <p:spPr bwMode="auto">
          <a:xfrm>
            <a:off x="3995738" y="2420938"/>
            <a:ext cx="1439862" cy="71437"/>
          </a:xfrm>
          <a:prstGeom prst="line">
            <a:avLst/>
          </a:prstGeom>
          <a:noFill/>
          <a:ln w="57150">
            <a:solidFill>
              <a:srgbClr val="A5002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0086" name="Line 38">
            <a:extLst>
              <a:ext uri="{FF2B5EF4-FFF2-40B4-BE49-F238E27FC236}">
                <a16:creationId xmlns:a16="http://schemas.microsoft.com/office/drawing/2014/main" id="{FB8BC690-33D3-14CE-827B-93AD262CA742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4663" y="3429000"/>
            <a:ext cx="1223962" cy="647700"/>
          </a:xfrm>
          <a:prstGeom prst="line">
            <a:avLst/>
          </a:prstGeom>
          <a:noFill/>
          <a:ln w="57150">
            <a:solidFill>
              <a:srgbClr val="A5002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0087" name="Line 39">
            <a:extLst>
              <a:ext uri="{FF2B5EF4-FFF2-40B4-BE49-F238E27FC236}">
                <a16:creationId xmlns:a16="http://schemas.microsoft.com/office/drawing/2014/main" id="{3D8FEB7F-37EC-214E-1238-3F34177CFF7F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3575" y="3860800"/>
            <a:ext cx="144463" cy="504825"/>
          </a:xfrm>
          <a:prstGeom prst="line">
            <a:avLst/>
          </a:prstGeom>
          <a:noFill/>
          <a:ln w="57150">
            <a:solidFill>
              <a:srgbClr val="A5002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0088" name="Rectangle 40">
            <a:extLst>
              <a:ext uri="{FF2B5EF4-FFF2-40B4-BE49-F238E27FC236}">
                <a16:creationId xmlns:a16="http://schemas.microsoft.com/office/drawing/2014/main" id="{164270BC-B8ED-D3AB-5F1E-76DA074D5E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  <p:sp>
        <p:nvSpPr>
          <p:cNvPr id="51210" name="Text Box 41">
            <a:extLst>
              <a:ext uri="{FF2B5EF4-FFF2-40B4-BE49-F238E27FC236}">
                <a16:creationId xmlns:a16="http://schemas.microsoft.com/office/drawing/2014/main" id="{DD4D2C18-E5FA-F973-8607-B3DBC333BD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pt-BR" altLang="pt-BR" sz="1600" i="1">
                <a:solidFill>
                  <a:srgbClr val="B40000"/>
                </a:solidFill>
                <a:latin typeface="Verdana" panose="020B0604030504040204" pitchFamily="34" charset="0"/>
              </a:rPr>
              <a:t>PI / Identif. Req. dos Clientes / Coletar Necessidades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8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>
            <a:extLst>
              <a:ext uri="{FF2B5EF4-FFF2-40B4-BE49-F238E27FC236}">
                <a16:creationId xmlns:a16="http://schemas.microsoft.com/office/drawing/2014/main" id="{3A8B8100-561E-14B7-E7F8-9D5721F18B27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eaLnBrk="1" hangingPunct="1"/>
            <a:r>
              <a:rPr lang="pt-BR" altLang="pt-BR" sz="4000"/>
              <a:t>Necessidades por uma Casa (Moradia)</a:t>
            </a:r>
            <a:endParaRPr lang="pt-BR" altLang="pt-BR" sz="4800">
              <a:solidFill>
                <a:srgbClr val="B40000"/>
              </a:solidFill>
            </a:endParaRPr>
          </a:p>
        </p:txBody>
      </p:sp>
      <p:sp>
        <p:nvSpPr>
          <p:cNvPr id="133128" name="Line 8">
            <a:extLst>
              <a:ext uri="{FF2B5EF4-FFF2-40B4-BE49-F238E27FC236}">
                <a16:creationId xmlns:a16="http://schemas.microsoft.com/office/drawing/2014/main" id="{3CA89A7B-E19E-C0F7-B8AA-29CCAB326799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1275" y="2492375"/>
            <a:ext cx="1584325" cy="0"/>
          </a:xfrm>
          <a:prstGeom prst="line">
            <a:avLst/>
          </a:prstGeom>
          <a:noFill/>
          <a:ln w="57150">
            <a:solidFill>
              <a:srgbClr val="A5002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3129" name="Line 9">
            <a:extLst>
              <a:ext uri="{FF2B5EF4-FFF2-40B4-BE49-F238E27FC236}">
                <a16:creationId xmlns:a16="http://schemas.microsoft.com/office/drawing/2014/main" id="{6E5930AC-5607-6DAF-9DC5-BBF29D0F5677}"/>
              </a:ext>
            </a:extLst>
          </p:cNvPr>
          <p:cNvSpPr>
            <a:spLocks noChangeShapeType="1"/>
          </p:cNvSpPr>
          <p:nvPr/>
        </p:nvSpPr>
        <p:spPr bwMode="auto">
          <a:xfrm>
            <a:off x="3924300" y="3500438"/>
            <a:ext cx="1295400" cy="649287"/>
          </a:xfrm>
          <a:prstGeom prst="line">
            <a:avLst/>
          </a:prstGeom>
          <a:noFill/>
          <a:ln w="57150">
            <a:solidFill>
              <a:srgbClr val="A5002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3130" name="Line 10">
            <a:extLst>
              <a:ext uri="{FF2B5EF4-FFF2-40B4-BE49-F238E27FC236}">
                <a16:creationId xmlns:a16="http://schemas.microsoft.com/office/drawing/2014/main" id="{F174E8CD-98BD-9BF2-3AA9-FE6C508B758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43213" y="3933825"/>
            <a:ext cx="144462" cy="431800"/>
          </a:xfrm>
          <a:prstGeom prst="line">
            <a:avLst/>
          </a:prstGeom>
          <a:noFill/>
          <a:ln w="57150">
            <a:solidFill>
              <a:srgbClr val="A5002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3131" name="Rectangle 11">
            <a:extLst>
              <a:ext uri="{FF2B5EF4-FFF2-40B4-BE49-F238E27FC236}">
                <a16:creationId xmlns:a16="http://schemas.microsoft.com/office/drawing/2014/main" id="{E8DC4F8F-BA73-E2AA-1842-436DBB95A6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  <p:pic>
        <p:nvPicPr>
          <p:cNvPr id="133138" name="Picture 18" descr="trailer">
            <a:extLst>
              <a:ext uri="{FF2B5EF4-FFF2-40B4-BE49-F238E27FC236}">
                <a16:creationId xmlns:a16="http://schemas.microsoft.com/office/drawing/2014/main" id="{4E320D18-E1CE-408F-937B-2C482CB69C8D}"/>
              </a:ext>
            </a:extLst>
          </p:cNvPr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76375" y="4508500"/>
            <a:ext cx="2501900" cy="1370013"/>
          </a:xfrm>
          <a:noFill/>
        </p:spPr>
      </p:pic>
      <p:pic>
        <p:nvPicPr>
          <p:cNvPr id="133139" name="Picture 19" descr="house">
            <a:extLst>
              <a:ext uri="{FF2B5EF4-FFF2-40B4-BE49-F238E27FC236}">
                <a16:creationId xmlns:a16="http://schemas.microsoft.com/office/drawing/2014/main" id="{7A97DF83-6731-AF44-1C64-CD6102D12002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87450" y="1557338"/>
            <a:ext cx="2185988" cy="2185987"/>
          </a:xfrm>
          <a:noFill/>
        </p:spPr>
      </p:pic>
      <p:pic>
        <p:nvPicPr>
          <p:cNvPr id="133140" name="Picture 20" descr="hotel_astoria_canazei1_medium">
            <a:extLst>
              <a:ext uri="{FF2B5EF4-FFF2-40B4-BE49-F238E27FC236}">
                <a16:creationId xmlns:a16="http://schemas.microsoft.com/office/drawing/2014/main" id="{8AA5D579-F8B4-FA71-A827-E6D4FDEAD576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724525" y="4076700"/>
            <a:ext cx="1844675" cy="1862138"/>
          </a:xfrm>
          <a:noFill/>
        </p:spPr>
      </p:pic>
      <p:pic>
        <p:nvPicPr>
          <p:cNvPr id="133141" name="Picture 21" descr="predio">
            <a:extLst>
              <a:ext uri="{FF2B5EF4-FFF2-40B4-BE49-F238E27FC236}">
                <a16:creationId xmlns:a16="http://schemas.microsoft.com/office/drawing/2014/main" id="{07A071B1-1831-B006-F251-3AD8D573531D}"/>
              </a:ext>
            </a:extLst>
          </p:cNvPr>
          <p:cNvPicPr>
            <a:picLocks noGrp="1" noChangeAspect="1" noChangeArrowheads="1"/>
          </p:cNvPicPr>
          <p:nvPr>
            <p:ph sz="quarter" idx="2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91225" y="1484313"/>
            <a:ext cx="1516063" cy="2185987"/>
          </a:xfrm>
          <a:noFill/>
        </p:spPr>
      </p:pic>
      <p:sp>
        <p:nvSpPr>
          <p:cNvPr id="53258" name="Text Box 22">
            <a:extLst>
              <a:ext uri="{FF2B5EF4-FFF2-40B4-BE49-F238E27FC236}">
                <a16:creationId xmlns:a16="http://schemas.microsoft.com/office/drawing/2014/main" id="{59EA42B0-1C6E-EFA2-E15A-891D9CD9A7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pt-BR" altLang="pt-BR" sz="1600" i="1">
                <a:solidFill>
                  <a:srgbClr val="B40000"/>
                </a:solidFill>
                <a:latin typeface="Verdana" panose="020B0604030504040204" pitchFamily="34" charset="0"/>
              </a:rPr>
              <a:t>PI / Identif. Req. dos Clientes / Coletar Necessidades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3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>
            <a:extLst>
              <a:ext uri="{FF2B5EF4-FFF2-40B4-BE49-F238E27FC236}">
                <a16:creationId xmlns:a16="http://schemas.microsoft.com/office/drawing/2014/main" id="{8AFA82BA-C306-E824-4336-69E331D7D2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4163" y="0"/>
            <a:ext cx="8229600" cy="1143000"/>
          </a:xfrm>
        </p:spPr>
        <p:txBody>
          <a:bodyPr/>
          <a:lstStyle/>
          <a:p>
            <a:pPr eaLnBrk="1" hangingPunct="1"/>
            <a:r>
              <a:rPr lang="pt-BR" altLang="pt-BR" sz="3600"/>
              <a:t>Necessidades Latentes</a:t>
            </a:r>
            <a:endParaRPr lang="pt-BR" altLang="pt-BR" sz="3600">
              <a:solidFill>
                <a:srgbClr val="B40000"/>
              </a:solidFill>
            </a:endParaRPr>
          </a:p>
        </p:txBody>
      </p:sp>
      <p:pic>
        <p:nvPicPr>
          <p:cNvPr id="131078" name="Picture 6" descr="Untitled-1">
            <a:extLst>
              <a:ext uri="{FF2B5EF4-FFF2-40B4-BE49-F238E27FC236}">
                <a16:creationId xmlns:a16="http://schemas.microsoft.com/office/drawing/2014/main" id="{E72D350B-13DD-C4AA-7AEE-D6E76DEED4C8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42988" y="1989138"/>
            <a:ext cx="3457575" cy="3043237"/>
          </a:xfrm>
          <a:noFill/>
        </p:spPr>
      </p:pic>
      <p:sp>
        <p:nvSpPr>
          <p:cNvPr id="131079" name="Rectangle 7">
            <a:extLst>
              <a:ext uri="{FF2B5EF4-FFF2-40B4-BE49-F238E27FC236}">
                <a16:creationId xmlns:a16="http://schemas.microsoft.com/office/drawing/2014/main" id="{5F135B13-0674-E81E-9913-CC3124436297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pt-BR" altLang="pt-BR" sz="2000"/>
              <a:t>“Os </a:t>
            </a:r>
            <a:r>
              <a:rPr lang="pt-BR" altLang="pt-BR" sz="2000">
                <a:solidFill>
                  <a:srgbClr val="B40000"/>
                </a:solidFill>
              </a:rPr>
              <a:t>celulares</a:t>
            </a:r>
            <a:r>
              <a:rPr lang="pt-BR" altLang="pt-BR" sz="2000"/>
              <a:t> no futuro terão a mesma qualidade e capacidade que têm hoje as câmeras digitais e os reprodutores de música e vídeo”. (Nokia) </a:t>
            </a:r>
          </a:p>
        </p:txBody>
      </p:sp>
      <p:sp>
        <p:nvSpPr>
          <p:cNvPr id="131080" name="Rectangle 8">
            <a:extLst>
              <a:ext uri="{FF2B5EF4-FFF2-40B4-BE49-F238E27FC236}">
                <a16:creationId xmlns:a16="http://schemas.microsoft.com/office/drawing/2014/main" id="{8CE5E417-305E-9ACF-1684-BDF069B17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  <p:sp>
        <p:nvSpPr>
          <p:cNvPr id="55301" name="Text Box 9">
            <a:extLst>
              <a:ext uri="{FF2B5EF4-FFF2-40B4-BE49-F238E27FC236}">
                <a16:creationId xmlns:a16="http://schemas.microsoft.com/office/drawing/2014/main" id="{2DBA67A1-AAB9-738C-9C9F-204EF7D7D4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pt-BR" altLang="pt-BR" sz="1600" i="1">
                <a:solidFill>
                  <a:srgbClr val="B40000"/>
                </a:solidFill>
                <a:latin typeface="Verdana" panose="020B0604030504040204" pitchFamily="34" charset="0"/>
              </a:rPr>
              <a:t>PI / Identif. Req. dos Clientes / Coletar Necessidades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8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>
            <a:extLst>
              <a:ext uri="{FF2B5EF4-FFF2-40B4-BE49-F238E27FC236}">
                <a16:creationId xmlns:a16="http://schemas.microsoft.com/office/drawing/2014/main" id="{3B699742-FAFA-6296-1630-7A1A5F6795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4163" y="0"/>
            <a:ext cx="8229600" cy="1143000"/>
          </a:xfrm>
        </p:spPr>
        <p:txBody>
          <a:bodyPr/>
          <a:lstStyle/>
          <a:p>
            <a:pPr eaLnBrk="1" hangingPunct="1"/>
            <a:r>
              <a:rPr lang="pt-BR" altLang="pt-BR" sz="3600"/>
              <a:t>Necessidades Culturais</a:t>
            </a:r>
            <a:endParaRPr lang="pt-BR" altLang="pt-BR" sz="3600">
              <a:solidFill>
                <a:srgbClr val="B40000"/>
              </a:solidFill>
            </a:endParaRPr>
          </a:p>
        </p:txBody>
      </p:sp>
      <p:sp>
        <p:nvSpPr>
          <p:cNvPr id="134148" name="Rectangle 4">
            <a:extLst>
              <a:ext uri="{FF2B5EF4-FFF2-40B4-BE49-F238E27FC236}">
                <a16:creationId xmlns:a16="http://schemas.microsoft.com/office/drawing/2014/main" id="{386512C5-D646-CF4C-8AE7-E7515D0BEFA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pt-BR" altLang="pt-BR" sz="2400"/>
              <a:t>As necessidades dos clientes vão </a:t>
            </a:r>
            <a:r>
              <a:rPr lang="pt-BR" altLang="pt-BR" sz="2400">
                <a:solidFill>
                  <a:srgbClr val="B40000"/>
                </a:solidFill>
              </a:rPr>
              <a:t>além</a:t>
            </a:r>
            <a:r>
              <a:rPr lang="pt-BR" altLang="pt-BR" sz="2400"/>
              <a:t> de </a:t>
            </a:r>
            <a:r>
              <a:rPr lang="pt-BR" altLang="pt-BR" sz="2400">
                <a:solidFill>
                  <a:srgbClr val="B40000"/>
                </a:solidFill>
              </a:rPr>
              <a:t>produtos</a:t>
            </a:r>
            <a:r>
              <a:rPr lang="pt-BR" altLang="pt-BR" sz="2400"/>
              <a:t> e </a:t>
            </a:r>
            <a:r>
              <a:rPr lang="pt-BR" altLang="pt-BR" sz="2400">
                <a:solidFill>
                  <a:srgbClr val="B40000"/>
                </a:solidFill>
              </a:rPr>
              <a:t>processos</a:t>
            </a:r>
            <a:r>
              <a:rPr lang="pt-BR" altLang="pt-BR" sz="2400"/>
              <a:t>.</a:t>
            </a:r>
          </a:p>
          <a:p>
            <a:pPr lvl="1" eaLnBrk="1" hangingPunct="1"/>
            <a:r>
              <a:rPr lang="pt-BR" altLang="pt-BR" sz="2000"/>
              <a:t>Auto-respeito.</a:t>
            </a:r>
          </a:p>
          <a:p>
            <a:pPr lvl="1" eaLnBrk="1" hangingPunct="1"/>
            <a:r>
              <a:rPr lang="pt-BR" altLang="pt-BR" sz="2000"/>
              <a:t>Respeito dos outros.</a:t>
            </a:r>
          </a:p>
          <a:p>
            <a:pPr lvl="1" eaLnBrk="1" hangingPunct="1"/>
            <a:r>
              <a:rPr lang="pt-BR" altLang="pt-BR" sz="2000"/>
              <a:t>Continuidade de padrões de hábitos.</a:t>
            </a:r>
          </a:p>
          <a:p>
            <a:pPr lvl="1" eaLnBrk="1" hangingPunct="1"/>
            <a:r>
              <a:rPr lang="pt-BR" altLang="pt-BR" sz="2000"/>
              <a:t>Padrão cultural.</a:t>
            </a:r>
          </a:p>
          <a:p>
            <a:pPr eaLnBrk="1" hangingPunct="1"/>
            <a:endParaRPr lang="pt-BR" altLang="pt-BR"/>
          </a:p>
        </p:txBody>
      </p:sp>
      <p:sp>
        <p:nvSpPr>
          <p:cNvPr id="57347" name="Rectangle 5">
            <a:extLst>
              <a:ext uri="{FF2B5EF4-FFF2-40B4-BE49-F238E27FC236}">
                <a16:creationId xmlns:a16="http://schemas.microsoft.com/office/drawing/2014/main" id="{2A8A8BCD-A5B0-7E1E-D3F1-4128E565FA77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105400" y="1484313"/>
            <a:ext cx="4038600" cy="4525962"/>
          </a:xfrm>
        </p:spPr>
        <p:txBody>
          <a:bodyPr/>
          <a:lstStyle/>
          <a:p>
            <a:pPr eaLnBrk="1" hangingPunct="1"/>
            <a:endParaRPr lang="pt-BR" altLang="pt-BR" b="1" i="1">
              <a:solidFill>
                <a:srgbClr val="0033CC"/>
              </a:solidFill>
            </a:endParaRPr>
          </a:p>
          <a:p>
            <a:pPr eaLnBrk="1" hangingPunct="1"/>
            <a:endParaRPr lang="pt-BR" altLang="pt-BR"/>
          </a:p>
        </p:txBody>
      </p:sp>
      <p:pic>
        <p:nvPicPr>
          <p:cNvPr id="134151" name="Picture 7" descr="31a">
            <a:extLst>
              <a:ext uri="{FF2B5EF4-FFF2-40B4-BE49-F238E27FC236}">
                <a16:creationId xmlns:a16="http://schemas.microsoft.com/office/drawing/2014/main" id="{AF3D8229-628C-0146-B884-CB48A96127B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92750" y="2146300"/>
            <a:ext cx="2514600" cy="3200400"/>
          </a:xfrm>
          <a:noFill/>
        </p:spPr>
      </p:pic>
      <p:sp>
        <p:nvSpPr>
          <p:cNvPr id="134152" name="Rectangle 8">
            <a:extLst>
              <a:ext uri="{FF2B5EF4-FFF2-40B4-BE49-F238E27FC236}">
                <a16:creationId xmlns:a16="http://schemas.microsoft.com/office/drawing/2014/main" id="{7991F4F9-99EB-53E8-FADE-51D98A9EEC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  <p:sp>
        <p:nvSpPr>
          <p:cNvPr id="57350" name="Text Box 9">
            <a:extLst>
              <a:ext uri="{FF2B5EF4-FFF2-40B4-BE49-F238E27FC236}">
                <a16:creationId xmlns:a16="http://schemas.microsoft.com/office/drawing/2014/main" id="{560E4F91-212B-4DF8-A312-DE799CB968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pt-BR" altLang="pt-BR" sz="1600" i="1">
                <a:solidFill>
                  <a:srgbClr val="B40000"/>
                </a:solidFill>
                <a:latin typeface="Verdana" panose="020B0604030504040204" pitchFamily="34" charset="0"/>
              </a:rPr>
              <a:t>PI / Identif. Req. dos Clientes / Coletar Necessidades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5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>
            <a:extLst>
              <a:ext uri="{FF2B5EF4-FFF2-40B4-BE49-F238E27FC236}">
                <a16:creationId xmlns:a16="http://schemas.microsoft.com/office/drawing/2014/main" id="{2CD9F7A9-112F-E2C7-A888-5259552A77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4000" y="0"/>
            <a:ext cx="8229600" cy="1143000"/>
          </a:xfrm>
        </p:spPr>
        <p:txBody>
          <a:bodyPr/>
          <a:lstStyle/>
          <a:p>
            <a:pPr eaLnBrk="1" hangingPunct="1"/>
            <a:r>
              <a:rPr lang="pt-BR" altLang="pt-BR" sz="3600"/>
              <a:t>Necessidades Culturais</a:t>
            </a:r>
            <a:endParaRPr lang="pt-BR" altLang="pt-BR" sz="3600">
              <a:solidFill>
                <a:srgbClr val="B40000"/>
              </a:solidFill>
            </a:endParaRPr>
          </a:p>
        </p:txBody>
      </p:sp>
      <p:sp>
        <p:nvSpPr>
          <p:cNvPr id="139267" name="Rectangle 3">
            <a:extLst>
              <a:ext uri="{FF2B5EF4-FFF2-40B4-BE49-F238E27FC236}">
                <a16:creationId xmlns:a16="http://schemas.microsoft.com/office/drawing/2014/main" id="{63D3E1AE-6BC7-EFD3-5135-74A37A52A3B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pt-BR" altLang="pt-BR" sz="2000"/>
              <a:t>Quando existe </a:t>
            </a:r>
            <a:r>
              <a:rPr lang="pt-BR" altLang="pt-BR" sz="2000">
                <a:solidFill>
                  <a:srgbClr val="B40000"/>
                </a:solidFill>
              </a:rPr>
              <a:t>resistência cultural</a:t>
            </a:r>
            <a:r>
              <a:rPr lang="pt-BR" altLang="pt-BR" sz="2000"/>
              <a:t>, as </a:t>
            </a:r>
            <a:r>
              <a:rPr lang="pt-BR" altLang="pt-BR" sz="2000">
                <a:solidFill>
                  <a:srgbClr val="B40000"/>
                </a:solidFill>
              </a:rPr>
              <a:t>razões reais raramente são óbvias</a:t>
            </a:r>
            <a:r>
              <a:rPr lang="pt-BR" altLang="pt-BR" sz="2000"/>
              <a:t> e os </a:t>
            </a:r>
            <a:r>
              <a:rPr lang="pt-BR" altLang="pt-BR" sz="2000">
                <a:solidFill>
                  <a:srgbClr val="B40000"/>
                </a:solidFill>
              </a:rPr>
              <a:t>disfarces costumam ser sutis</a:t>
            </a:r>
            <a:r>
              <a:rPr lang="pt-BR" altLang="pt-BR" sz="2000"/>
              <a:t>. </a:t>
            </a:r>
          </a:p>
          <a:p>
            <a:pPr lvl="1" eaLnBrk="1" hangingPunct="1"/>
            <a:r>
              <a:rPr lang="pt-BR" altLang="pt-BR" sz="1800"/>
              <a:t>Neste caso, deve-se </a:t>
            </a:r>
            <a:r>
              <a:rPr lang="pt-BR" altLang="pt-BR" sz="1800">
                <a:solidFill>
                  <a:srgbClr val="B40000"/>
                </a:solidFill>
              </a:rPr>
              <a:t>olhar</a:t>
            </a:r>
            <a:r>
              <a:rPr lang="pt-BR" altLang="pt-BR" sz="1800"/>
              <a:t> para </a:t>
            </a:r>
            <a:r>
              <a:rPr lang="pt-BR" altLang="pt-BR" sz="1800">
                <a:solidFill>
                  <a:srgbClr val="B40000"/>
                </a:solidFill>
              </a:rPr>
              <a:t>além das razões declaradas</a:t>
            </a:r>
            <a:r>
              <a:rPr lang="pt-BR" altLang="pt-BR" sz="1800"/>
              <a:t>...</a:t>
            </a:r>
          </a:p>
          <a:p>
            <a:pPr lvl="1" eaLnBrk="1" hangingPunct="1"/>
            <a:r>
              <a:rPr lang="pt-BR" altLang="pt-BR" sz="1800"/>
              <a:t>... a fim de </a:t>
            </a:r>
            <a:r>
              <a:rPr lang="pt-BR" altLang="pt-BR" sz="1800">
                <a:solidFill>
                  <a:srgbClr val="B40000"/>
                </a:solidFill>
              </a:rPr>
              <a:t>entender</a:t>
            </a:r>
            <a:r>
              <a:rPr lang="pt-BR" altLang="pt-BR" sz="1800"/>
              <a:t> quais são as </a:t>
            </a:r>
            <a:r>
              <a:rPr lang="pt-BR" altLang="pt-BR" sz="1800">
                <a:solidFill>
                  <a:srgbClr val="B40000"/>
                </a:solidFill>
              </a:rPr>
              <a:t>ameaças</a:t>
            </a:r>
            <a:r>
              <a:rPr lang="pt-BR" altLang="pt-BR" sz="1800"/>
              <a:t> em </a:t>
            </a:r>
            <a:r>
              <a:rPr lang="pt-BR" altLang="pt-BR" sz="1800">
                <a:solidFill>
                  <a:srgbClr val="B40000"/>
                </a:solidFill>
              </a:rPr>
              <a:t>potencial</a:t>
            </a:r>
            <a:r>
              <a:rPr lang="pt-BR" altLang="pt-BR" sz="1800"/>
              <a:t> aos </a:t>
            </a:r>
            <a:r>
              <a:rPr lang="pt-BR" altLang="pt-BR" sz="1800">
                <a:solidFill>
                  <a:srgbClr val="B40000"/>
                </a:solidFill>
              </a:rPr>
              <a:t>padrões culturais</a:t>
            </a:r>
            <a:r>
              <a:rPr lang="pt-BR" altLang="pt-BR" sz="1800"/>
              <a:t> dos </a:t>
            </a:r>
            <a:r>
              <a:rPr lang="pt-BR" altLang="pt-BR" sz="1800">
                <a:solidFill>
                  <a:srgbClr val="B40000"/>
                </a:solidFill>
              </a:rPr>
              <a:t>seres humanos envolvidos</a:t>
            </a:r>
            <a:r>
              <a:rPr lang="pt-BR" altLang="pt-BR" sz="1800"/>
              <a:t>.</a:t>
            </a:r>
          </a:p>
        </p:txBody>
      </p:sp>
      <p:sp>
        <p:nvSpPr>
          <p:cNvPr id="59395" name="Rectangle 4">
            <a:extLst>
              <a:ext uri="{FF2B5EF4-FFF2-40B4-BE49-F238E27FC236}">
                <a16:creationId xmlns:a16="http://schemas.microsoft.com/office/drawing/2014/main" id="{5AEB9DDB-B893-BC0B-5DE1-293CE2687CA0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105400" y="1484313"/>
            <a:ext cx="4038600" cy="4525962"/>
          </a:xfrm>
        </p:spPr>
        <p:txBody>
          <a:bodyPr/>
          <a:lstStyle/>
          <a:p>
            <a:pPr eaLnBrk="1" hangingPunct="1"/>
            <a:endParaRPr lang="pt-BR" altLang="pt-BR" b="1" i="1">
              <a:solidFill>
                <a:srgbClr val="0033CC"/>
              </a:solidFill>
            </a:endParaRPr>
          </a:p>
          <a:p>
            <a:pPr eaLnBrk="1" hangingPunct="1"/>
            <a:endParaRPr lang="pt-BR" altLang="pt-BR"/>
          </a:p>
        </p:txBody>
      </p:sp>
      <p:sp>
        <p:nvSpPr>
          <p:cNvPr id="139272" name="Rectangle 8">
            <a:extLst>
              <a:ext uri="{FF2B5EF4-FFF2-40B4-BE49-F238E27FC236}">
                <a16:creationId xmlns:a16="http://schemas.microsoft.com/office/drawing/2014/main" id="{5DDD618E-9C04-DC81-AF4B-98F9AC38F5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  <p:pic>
        <p:nvPicPr>
          <p:cNvPr id="139275" name="Picture 11" descr="Untitled-6">
            <a:extLst>
              <a:ext uri="{FF2B5EF4-FFF2-40B4-BE49-F238E27FC236}">
                <a16:creationId xmlns:a16="http://schemas.microsoft.com/office/drawing/2014/main" id="{CBC36A53-3A06-5A83-68AD-CDC043B3E03B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213742">
            <a:off x="4716463" y="2420938"/>
            <a:ext cx="3730625" cy="2324100"/>
          </a:xfrm>
          <a:noFill/>
        </p:spPr>
      </p:pic>
      <p:sp>
        <p:nvSpPr>
          <p:cNvPr id="59398" name="Text Box 13">
            <a:extLst>
              <a:ext uri="{FF2B5EF4-FFF2-40B4-BE49-F238E27FC236}">
                <a16:creationId xmlns:a16="http://schemas.microsoft.com/office/drawing/2014/main" id="{2FE78EE3-98AC-645D-B882-B0B68D47F8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pt-BR" altLang="pt-BR" sz="1600" i="1">
                <a:solidFill>
                  <a:srgbClr val="B40000"/>
                </a:solidFill>
                <a:latin typeface="Verdana" panose="020B0604030504040204" pitchFamily="34" charset="0"/>
              </a:rPr>
              <a:t>PI / Identif. Req. dos Clientes / Coletar Necessidades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7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>
            <a:extLst>
              <a:ext uri="{FF2B5EF4-FFF2-40B4-BE49-F238E27FC236}">
                <a16:creationId xmlns:a16="http://schemas.microsoft.com/office/drawing/2014/main" id="{48C82437-4E3F-E4E9-EF15-95526AA2DB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0663"/>
            <a:ext cx="7388225" cy="706437"/>
          </a:xfrm>
        </p:spPr>
        <p:txBody>
          <a:bodyPr/>
          <a:lstStyle/>
          <a:p>
            <a:pPr eaLnBrk="1" hangingPunct="1"/>
            <a:r>
              <a:rPr lang="pt-BR" altLang="pt-BR" sz="3600"/>
              <a:t>Necessidades Culturais</a:t>
            </a:r>
          </a:p>
        </p:txBody>
      </p:sp>
      <p:sp>
        <p:nvSpPr>
          <p:cNvPr id="61442" name="Text Box 4">
            <a:extLst>
              <a:ext uri="{FF2B5EF4-FFF2-40B4-BE49-F238E27FC236}">
                <a16:creationId xmlns:a16="http://schemas.microsoft.com/office/drawing/2014/main" id="{8ACEEA2E-CB32-9A4D-3A26-E7E6AE887A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pt-BR" altLang="pt-BR" sz="1600" i="1">
                <a:solidFill>
                  <a:srgbClr val="B40000"/>
                </a:solidFill>
                <a:latin typeface="Verdana" panose="020B0604030504040204" pitchFamily="34" charset="0"/>
              </a:rPr>
              <a:t>PI / Identif. Req. dos Clientes / Coletar Necessidades</a:t>
            </a:r>
          </a:p>
        </p:txBody>
      </p:sp>
      <p:sp>
        <p:nvSpPr>
          <p:cNvPr id="216080" name="Rectangle 16">
            <a:extLst>
              <a:ext uri="{FF2B5EF4-FFF2-40B4-BE49-F238E27FC236}">
                <a16:creationId xmlns:a16="http://schemas.microsoft.com/office/drawing/2014/main" id="{2C59536D-F256-1DF8-AA8F-DA9B2F02CA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  <p:pic>
        <p:nvPicPr>
          <p:cNvPr id="1026" name="Picture 2" descr="Hospital se adapta para atender cultura de paciente indígena">
            <a:extLst>
              <a:ext uri="{FF2B5EF4-FFF2-40B4-BE49-F238E27FC236}">
                <a16:creationId xmlns:a16="http://schemas.microsoft.com/office/drawing/2014/main" id="{D9B19D33-977E-3546-2104-7BCF071F73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170" y="1611527"/>
            <a:ext cx="7218853" cy="3232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08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>
            <a:extLst>
              <a:ext uri="{FF2B5EF4-FFF2-40B4-BE49-F238E27FC236}">
                <a16:creationId xmlns:a16="http://schemas.microsoft.com/office/drawing/2014/main" id="{E60268A8-C5D2-C4C7-D27C-E9A3E623F6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/>
              <a:t>Necessidades Culturais</a:t>
            </a:r>
            <a:endParaRPr lang="pt-BR" altLang="pt-BR" sz="4800">
              <a:solidFill>
                <a:srgbClr val="B40000"/>
              </a:solidFill>
            </a:endParaRPr>
          </a:p>
        </p:txBody>
      </p:sp>
      <p:sp>
        <p:nvSpPr>
          <p:cNvPr id="199686" name="Rectangle 6">
            <a:extLst>
              <a:ext uri="{FF2B5EF4-FFF2-40B4-BE49-F238E27FC236}">
                <a16:creationId xmlns:a16="http://schemas.microsoft.com/office/drawing/2014/main" id="{0DB2C6B0-B1A9-FC9C-CAF8-8F5BD59A5E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  <p:pic>
        <p:nvPicPr>
          <p:cNvPr id="199690" name="Picture 10" descr="Untitled-5">
            <a:extLst>
              <a:ext uri="{FF2B5EF4-FFF2-40B4-BE49-F238E27FC236}">
                <a16:creationId xmlns:a16="http://schemas.microsoft.com/office/drawing/2014/main" id="{24BF2813-7A8F-07F9-1AF3-104861B277D7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89631" y="1016772"/>
            <a:ext cx="3459162" cy="3816350"/>
          </a:xfrm>
          <a:noFill/>
        </p:spPr>
      </p:pic>
      <p:sp>
        <p:nvSpPr>
          <p:cNvPr id="63493" name="Text Box 11">
            <a:extLst>
              <a:ext uri="{FF2B5EF4-FFF2-40B4-BE49-F238E27FC236}">
                <a16:creationId xmlns:a16="http://schemas.microsoft.com/office/drawing/2014/main" id="{1EF82D74-B09C-04DA-E5CE-2FAE71417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pt-BR" altLang="pt-BR" sz="1600" i="1">
                <a:solidFill>
                  <a:srgbClr val="B40000"/>
                </a:solidFill>
                <a:latin typeface="Verdana" panose="020B0604030504040204" pitchFamily="34" charset="0"/>
              </a:rPr>
              <a:t>PI / Identif. Req. dos Clientes / Coletar Necessidades</a:t>
            </a:r>
          </a:p>
        </p:txBody>
      </p:sp>
      <p:pic>
        <p:nvPicPr>
          <p:cNvPr id="2050" name="Picture 2" descr="💡DIVERSIDADE CULTURAL E RELIGIOSA ...">
            <a:extLst>
              <a:ext uri="{FF2B5EF4-FFF2-40B4-BE49-F238E27FC236}">
                <a16:creationId xmlns:a16="http://schemas.microsoft.com/office/drawing/2014/main" id="{1D7645AD-A5BE-F9B0-BC4F-00CC08EB0E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2235" y="1685667"/>
            <a:ext cx="4202015" cy="3147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68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DE870A-075D-DAA9-8683-62B78DB53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112" y="-24906"/>
            <a:ext cx="8229600" cy="1143000"/>
          </a:xfrm>
        </p:spPr>
        <p:txBody>
          <a:bodyPr/>
          <a:lstStyle/>
          <a:p>
            <a:r>
              <a:rPr lang="pt-BR" dirty="0"/>
              <a:t>NECESSIDADES REFERENTES A MANUTENÇÃO 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169A531-3EE4-FA4D-3D6F-00EDC440D5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584" y="1019990"/>
            <a:ext cx="3279931" cy="2081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Robôs industriais e suas aplicações | Manutenção e Suprimentos">
            <a:extLst>
              <a:ext uri="{FF2B5EF4-FFF2-40B4-BE49-F238E27FC236}">
                <a16:creationId xmlns:a16="http://schemas.microsoft.com/office/drawing/2014/main" id="{A2D45D5C-0773-B600-82ED-B6AEC4C7EF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1916" y="1118094"/>
            <a:ext cx="3492500" cy="232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Motoristas devem estar atentos aos maquinários agrícolas nas rodovias -  NoroesteOnline.comNoroesteOnline.com">
            <a:extLst>
              <a:ext uri="{FF2B5EF4-FFF2-40B4-BE49-F238E27FC236}">
                <a16:creationId xmlns:a16="http://schemas.microsoft.com/office/drawing/2014/main" id="{98CC7B26-ED90-BE1D-93AE-ADDDD7333E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486" y="3852247"/>
            <a:ext cx="3606903" cy="3005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A5317DC1-20CA-CA75-BC50-2DED7B164BE7}"/>
              </a:ext>
            </a:extLst>
          </p:cNvPr>
          <p:cNvSpPr txBox="1">
            <a:spLocks/>
          </p:cNvSpPr>
          <p:nvPr/>
        </p:nvSpPr>
        <p:spPr bwMode="auto">
          <a:xfrm>
            <a:off x="677116" y="342900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9pPr>
          </a:lstStyle>
          <a:p>
            <a:r>
              <a:rPr lang="pt-BR" kern="0" dirty="0"/>
              <a:t>LOGISTICA</a:t>
            </a:r>
          </a:p>
        </p:txBody>
      </p:sp>
      <p:pic>
        <p:nvPicPr>
          <p:cNvPr id="2058" name="Picture 10" descr="Tecnoagro: drones e inovações de startups são a 'salvação' da lavoura no ES  | A Gazeta">
            <a:extLst>
              <a:ext uri="{FF2B5EF4-FFF2-40B4-BE49-F238E27FC236}">
                <a16:creationId xmlns:a16="http://schemas.microsoft.com/office/drawing/2014/main" id="{79CAE8F5-78D6-6559-4752-EF3B17651A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921" y="4250788"/>
            <a:ext cx="3603256" cy="232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91212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CAEFD9-0FBA-8245-C552-36C7F14FA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pt-BR" dirty="0"/>
              <a:t>NECESSIDADES LOGISTICAS DO PRODUTO</a:t>
            </a:r>
          </a:p>
        </p:txBody>
      </p:sp>
      <p:pic>
        <p:nvPicPr>
          <p:cNvPr id="6" name="Picture 8" descr="Motoristas devem estar atentos aos maquinários agrícolas nas rodovias -  NoroesteOnline.comNoroesteOnline.com">
            <a:extLst>
              <a:ext uri="{FF2B5EF4-FFF2-40B4-BE49-F238E27FC236}">
                <a16:creationId xmlns:a16="http://schemas.microsoft.com/office/drawing/2014/main" id="{C582FC15-1AE1-6F95-A305-EAB5E45940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801024"/>
            <a:ext cx="3606903" cy="3005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Maior rede de entregas por drone no ...">
            <a:extLst>
              <a:ext uri="{FF2B5EF4-FFF2-40B4-BE49-F238E27FC236}">
                <a16:creationId xmlns:a16="http://schemas.microsoft.com/office/drawing/2014/main" id="{FCAFBB70-967F-41BF-3431-A7C9CCAA2F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6936" y="1810276"/>
            <a:ext cx="4295593" cy="2858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41360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0ECFD9-22D0-1755-E548-34A8EE1F9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574" y="-107649"/>
            <a:ext cx="8229600" cy="1143000"/>
          </a:xfrm>
        </p:spPr>
        <p:txBody>
          <a:bodyPr/>
          <a:lstStyle/>
          <a:p>
            <a:r>
              <a:rPr lang="pt-BR" dirty="0"/>
              <a:t>NECESSIDADES LOGISTICAS DO PRODUTO</a:t>
            </a:r>
          </a:p>
        </p:txBody>
      </p:sp>
      <p:pic>
        <p:nvPicPr>
          <p:cNvPr id="3074" name="Picture 2" descr="Operações Militares: Apoio Logístico na Guerra do Golfo *046">
            <a:extLst>
              <a:ext uri="{FF2B5EF4-FFF2-40B4-BE49-F238E27FC236}">
                <a16:creationId xmlns:a16="http://schemas.microsoft.com/office/drawing/2014/main" id="{8A5FE71B-DE18-D1D8-9E98-8C108B6892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0839" y="1196439"/>
            <a:ext cx="3879335" cy="2591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omo descartar máquina de lavar roupas velha? • Ecoassist">
            <a:extLst>
              <a:ext uri="{FF2B5EF4-FFF2-40B4-BE49-F238E27FC236}">
                <a16:creationId xmlns:a16="http://schemas.microsoft.com/office/drawing/2014/main" id="{5C7FC4B1-64FB-1FD4-A04D-B1D83814F6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2961" y="3948923"/>
            <a:ext cx="3894174" cy="2591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Moradores de favelas movimentam R$ 68,6 bilhões por ano, mostra estudo -  Vermelho">
            <a:extLst>
              <a:ext uri="{FF2B5EF4-FFF2-40B4-BE49-F238E27FC236}">
                <a16:creationId xmlns:a16="http://schemas.microsoft.com/office/drawing/2014/main" id="{F6C6CCF6-359A-7877-7F5A-5B465FEAF3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574" y="2038178"/>
            <a:ext cx="3954625" cy="2781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90792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6C7074-92AB-031D-295D-FA2C43C5B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25" y="-150683"/>
            <a:ext cx="8229600" cy="1143000"/>
          </a:xfrm>
        </p:spPr>
        <p:txBody>
          <a:bodyPr/>
          <a:lstStyle/>
          <a:p>
            <a:r>
              <a:rPr lang="pt-BR" dirty="0"/>
              <a:t>NECESSIDADES DE USO</a:t>
            </a:r>
          </a:p>
        </p:txBody>
      </p:sp>
      <p:pic>
        <p:nvPicPr>
          <p:cNvPr id="4098" name="Picture 2" descr="High-end companies failing in UX design">
            <a:extLst>
              <a:ext uri="{FF2B5EF4-FFF2-40B4-BE49-F238E27FC236}">
                <a16:creationId xmlns:a16="http://schemas.microsoft.com/office/drawing/2014/main" id="{360B9A57-018C-72BD-6021-37B88A1A77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145" y="1386016"/>
            <a:ext cx="4585975" cy="2568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The bad design of everyday things | by Siddharth Gulati | UX Collective">
            <a:extLst>
              <a:ext uri="{FF2B5EF4-FFF2-40B4-BE49-F238E27FC236}">
                <a16:creationId xmlns:a16="http://schemas.microsoft.com/office/drawing/2014/main" id="{2D02B55E-04EF-76CD-02A2-1E61A3B704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87" y="1386016"/>
            <a:ext cx="2552700" cy="318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A peek into the UI/UX universe (with examples)">
            <a:extLst>
              <a:ext uri="{FF2B5EF4-FFF2-40B4-BE49-F238E27FC236}">
                <a16:creationId xmlns:a16="http://schemas.microsoft.com/office/drawing/2014/main" id="{F01DEBA5-7CA0-56F4-050D-F1281C47D1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700" y="4240084"/>
            <a:ext cx="3289300" cy="246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78800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>
            <a:extLst>
              <a:ext uri="{FF2B5EF4-FFF2-40B4-BE49-F238E27FC236}">
                <a16:creationId xmlns:a16="http://schemas.microsoft.com/office/drawing/2014/main" id="{325BC89E-0DBA-7A4D-76D5-D794790FC1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9875" y="188913"/>
            <a:ext cx="8229600" cy="1143000"/>
          </a:xfrm>
        </p:spPr>
        <p:txBody>
          <a:bodyPr/>
          <a:lstStyle/>
          <a:p>
            <a:pPr eaLnBrk="1" hangingPunct="1"/>
            <a:r>
              <a:rPr lang="pt-BR" altLang="pt-BR" sz="3600" dirty="0"/>
              <a:t>Necessidades Atribuíveis a Usos Inesperados</a:t>
            </a:r>
          </a:p>
        </p:txBody>
      </p:sp>
      <p:sp>
        <p:nvSpPr>
          <p:cNvPr id="145411" name="Rectangle 3">
            <a:extLst>
              <a:ext uri="{FF2B5EF4-FFF2-40B4-BE49-F238E27FC236}">
                <a16:creationId xmlns:a16="http://schemas.microsoft.com/office/drawing/2014/main" id="{5CACA7AE-A9D3-B345-7774-08311043843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pt-BR" altLang="pt-BR" sz="2000"/>
              <a:t>Necessidades </a:t>
            </a:r>
            <a:r>
              <a:rPr lang="pt-BR" altLang="pt-BR" sz="2000">
                <a:solidFill>
                  <a:srgbClr val="B40000"/>
                </a:solidFill>
              </a:rPr>
              <a:t>decorrentes</a:t>
            </a:r>
            <a:r>
              <a:rPr lang="pt-BR" altLang="pt-BR" sz="2000"/>
              <a:t> da possível </a:t>
            </a:r>
            <a:r>
              <a:rPr lang="pt-BR" altLang="pt-BR" sz="2000">
                <a:solidFill>
                  <a:srgbClr val="B40000"/>
                </a:solidFill>
              </a:rPr>
              <a:t>utilização</a:t>
            </a:r>
            <a:r>
              <a:rPr lang="pt-BR" altLang="pt-BR" sz="2000"/>
              <a:t> do produto de forma </a:t>
            </a:r>
            <a:r>
              <a:rPr lang="pt-BR" altLang="pt-BR" sz="2000">
                <a:solidFill>
                  <a:srgbClr val="B40000"/>
                </a:solidFill>
              </a:rPr>
              <a:t>diferente</a:t>
            </a:r>
            <a:r>
              <a:rPr lang="pt-BR" altLang="pt-BR" sz="2000"/>
              <a:t> daquela </a:t>
            </a:r>
            <a:r>
              <a:rPr lang="pt-BR" altLang="pt-BR" sz="2000">
                <a:solidFill>
                  <a:srgbClr val="B40000"/>
                </a:solidFill>
              </a:rPr>
              <a:t>pretendida pelo fabricante</a:t>
            </a:r>
            <a:r>
              <a:rPr lang="pt-BR" altLang="pt-BR" sz="2000"/>
              <a:t>.</a:t>
            </a:r>
          </a:p>
          <a:p>
            <a:pPr lvl="1" eaLnBrk="1" hangingPunct="1"/>
            <a:r>
              <a:rPr lang="pt-BR" altLang="pt-BR" sz="1800"/>
              <a:t>O produto é </a:t>
            </a:r>
            <a:r>
              <a:rPr lang="pt-BR" altLang="pt-BR" sz="1800">
                <a:solidFill>
                  <a:srgbClr val="B40000"/>
                </a:solidFill>
              </a:rPr>
              <a:t>utilizado</a:t>
            </a:r>
            <a:r>
              <a:rPr lang="pt-BR" altLang="pt-BR" sz="1800"/>
              <a:t> (ou operado) por </a:t>
            </a:r>
            <a:r>
              <a:rPr lang="pt-BR" altLang="pt-BR" sz="1800">
                <a:solidFill>
                  <a:srgbClr val="B40000"/>
                </a:solidFill>
              </a:rPr>
              <a:t>pessoas</a:t>
            </a:r>
            <a:r>
              <a:rPr lang="pt-BR" altLang="pt-BR" sz="1800"/>
              <a:t> </a:t>
            </a:r>
            <a:r>
              <a:rPr lang="pt-BR" altLang="pt-BR" sz="1800">
                <a:solidFill>
                  <a:srgbClr val="B40000"/>
                </a:solidFill>
              </a:rPr>
              <a:t>sem</a:t>
            </a:r>
            <a:r>
              <a:rPr lang="pt-BR" altLang="pt-BR" sz="1800"/>
              <a:t> o devido </a:t>
            </a:r>
            <a:r>
              <a:rPr lang="pt-BR" altLang="pt-BR" sz="1800">
                <a:solidFill>
                  <a:srgbClr val="B40000"/>
                </a:solidFill>
              </a:rPr>
              <a:t>treinamento</a:t>
            </a:r>
            <a:r>
              <a:rPr lang="pt-BR" altLang="pt-BR" sz="1800"/>
              <a:t>.</a:t>
            </a:r>
          </a:p>
          <a:p>
            <a:pPr lvl="1" eaLnBrk="1" hangingPunct="1"/>
            <a:r>
              <a:rPr lang="pt-BR" altLang="pt-BR" sz="1800"/>
              <a:t>O produto é </a:t>
            </a:r>
            <a:r>
              <a:rPr lang="pt-BR" altLang="pt-BR" sz="1800">
                <a:solidFill>
                  <a:srgbClr val="B40000"/>
                </a:solidFill>
              </a:rPr>
              <a:t>sobrecarregado</a:t>
            </a:r>
            <a:r>
              <a:rPr lang="pt-BR" altLang="pt-BR" sz="1800"/>
              <a:t> ou </a:t>
            </a:r>
            <a:r>
              <a:rPr lang="pt-BR" altLang="pt-BR" sz="1800">
                <a:solidFill>
                  <a:srgbClr val="B40000"/>
                </a:solidFill>
              </a:rPr>
              <a:t>utilizado em demasia</a:t>
            </a:r>
            <a:r>
              <a:rPr lang="pt-BR" altLang="pt-BR" sz="1800"/>
              <a:t>, sem respeito às programações de </a:t>
            </a:r>
            <a:r>
              <a:rPr lang="pt-BR" altLang="pt-BR" sz="1800">
                <a:solidFill>
                  <a:srgbClr val="B40000"/>
                </a:solidFill>
              </a:rPr>
              <a:t>manutenção</a:t>
            </a:r>
            <a:r>
              <a:rPr lang="pt-BR" altLang="pt-BR" sz="1800"/>
              <a:t>.</a:t>
            </a:r>
          </a:p>
        </p:txBody>
      </p:sp>
      <p:pic>
        <p:nvPicPr>
          <p:cNvPr id="145416" name="Picture 8" descr="Dinamica-Trator">
            <a:extLst>
              <a:ext uri="{FF2B5EF4-FFF2-40B4-BE49-F238E27FC236}">
                <a16:creationId xmlns:a16="http://schemas.microsoft.com/office/drawing/2014/main" id="{A17D2859-9C08-504C-06A1-05135A39D7E6}"/>
              </a:ext>
            </a:extLst>
          </p:cNvPr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03800" y="1989138"/>
            <a:ext cx="3529013" cy="3182937"/>
          </a:xfrm>
          <a:noFill/>
        </p:spPr>
      </p:pic>
      <p:sp>
        <p:nvSpPr>
          <p:cNvPr id="145417" name="Rectangle 9">
            <a:extLst>
              <a:ext uri="{FF2B5EF4-FFF2-40B4-BE49-F238E27FC236}">
                <a16:creationId xmlns:a16="http://schemas.microsoft.com/office/drawing/2014/main" id="{06843BEF-B516-019A-C60E-22E59E1E3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  <p:sp>
        <p:nvSpPr>
          <p:cNvPr id="65541" name="Text Box 10">
            <a:extLst>
              <a:ext uri="{FF2B5EF4-FFF2-40B4-BE49-F238E27FC236}">
                <a16:creationId xmlns:a16="http://schemas.microsoft.com/office/drawing/2014/main" id="{9D8AFC62-F1D0-B318-9872-F4DE3D70F6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pt-BR" altLang="pt-BR" sz="1600" i="1">
                <a:solidFill>
                  <a:srgbClr val="B40000"/>
                </a:solidFill>
                <a:latin typeface="Verdana" panose="020B0604030504040204" pitchFamily="34" charset="0"/>
              </a:rPr>
              <a:t>PI / Identif. Req. dos Clientes / Coletar Necessidades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1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>
            <a:extLst>
              <a:ext uri="{FF2B5EF4-FFF2-40B4-BE49-F238E27FC236}">
                <a16:creationId xmlns:a16="http://schemas.microsoft.com/office/drawing/2014/main" id="{1FF6E706-4BB8-9A77-62E6-D7BEA1EBB2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118475" cy="706438"/>
          </a:xfrm>
        </p:spPr>
        <p:txBody>
          <a:bodyPr/>
          <a:lstStyle/>
          <a:p>
            <a:pPr eaLnBrk="1" hangingPunct="1"/>
            <a:r>
              <a:rPr lang="pt-BR" altLang="pt-BR" sz="2800"/>
              <a:t>Necessidades Atribuíveis a Usos Inesperados</a:t>
            </a:r>
          </a:p>
        </p:txBody>
      </p:sp>
      <p:sp>
        <p:nvSpPr>
          <p:cNvPr id="143365" name="Rectangle 5">
            <a:extLst>
              <a:ext uri="{FF2B5EF4-FFF2-40B4-BE49-F238E27FC236}">
                <a16:creationId xmlns:a16="http://schemas.microsoft.com/office/drawing/2014/main" id="{276FE24C-9A14-B0E0-72C4-75D1F90244E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23838" y="1219200"/>
            <a:ext cx="4930775" cy="5238750"/>
          </a:xfrm>
        </p:spPr>
        <p:txBody>
          <a:bodyPr/>
          <a:lstStyle/>
          <a:p>
            <a:pPr eaLnBrk="1" hangingPunct="1"/>
            <a:r>
              <a:rPr lang="pt-BR" altLang="pt-BR" sz="2400"/>
              <a:t>Estes aspectos muitas vezes são </a:t>
            </a:r>
            <a:r>
              <a:rPr lang="pt-BR" altLang="pt-BR" sz="2400">
                <a:solidFill>
                  <a:srgbClr val="B40000"/>
                </a:solidFill>
              </a:rPr>
              <a:t>críticos</a:t>
            </a:r>
            <a:r>
              <a:rPr lang="pt-BR" altLang="pt-BR" sz="2400"/>
              <a:t> e normalmente </a:t>
            </a:r>
            <a:r>
              <a:rPr lang="pt-BR" altLang="pt-BR" sz="2400">
                <a:solidFill>
                  <a:srgbClr val="B40000"/>
                </a:solidFill>
              </a:rPr>
              <a:t>requerem</a:t>
            </a:r>
            <a:r>
              <a:rPr lang="pt-BR" altLang="pt-BR" sz="2400"/>
              <a:t> a utilização de </a:t>
            </a:r>
            <a:r>
              <a:rPr lang="pt-BR" altLang="pt-BR" sz="2400">
                <a:solidFill>
                  <a:srgbClr val="B40000"/>
                </a:solidFill>
              </a:rPr>
              <a:t>fatores de segurança</a:t>
            </a:r>
            <a:r>
              <a:rPr lang="pt-BR" altLang="pt-BR" sz="2400"/>
              <a:t>.</a:t>
            </a:r>
          </a:p>
          <a:p>
            <a:pPr lvl="1" eaLnBrk="1" hangingPunct="1"/>
            <a:r>
              <a:rPr lang="pt-BR" altLang="pt-BR"/>
              <a:t>Tendem a </a:t>
            </a:r>
            <a:r>
              <a:rPr lang="pt-BR" altLang="pt-BR">
                <a:solidFill>
                  <a:srgbClr val="B40000"/>
                </a:solidFill>
              </a:rPr>
              <a:t>elevar</a:t>
            </a:r>
            <a:r>
              <a:rPr lang="pt-BR" altLang="pt-BR"/>
              <a:t> os </a:t>
            </a:r>
            <a:r>
              <a:rPr lang="pt-BR" altLang="pt-BR">
                <a:solidFill>
                  <a:srgbClr val="B40000"/>
                </a:solidFill>
              </a:rPr>
              <a:t>custos</a:t>
            </a:r>
            <a:r>
              <a:rPr lang="pt-BR" altLang="pt-BR"/>
              <a:t> do produto. </a:t>
            </a:r>
          </a:p>
          <a:p>
            <a:pPr lvl="1" eaLnBrk="1" hangingPunct="1"/>
            <a:r>
              <a:rPr lang="pt-BR" altLang="pt-BR"/>
              <a:t>No entanto, podem resultar num </a:t>
            </a:r>
            <a:r>
              <a:rPr lang="pt-BR" altLang="pt-BR">
                <a:solidFill>
                  <a:srgbClr val="B40000"/>
                </a:solidFill>
              </a:rPr>
              <a:t>custo global ótimo</a:t>
            </a:r>
            <a:r>
              <a:rPr lang="pt-BR" altLang="pt-BR"/>
              <a:t>.</a:t>
            </a:r>
          </a:p>
          <a:p>
            <a:pPr lvl="2" eaLnBrk="1" hangingPunct="1"/>
            <a:r>
              <a:rPr lang="pt-BR" altLang="pt-BR" sz="2400"/>
              <a:t>Ajudam a </a:t>
            </a:r>
            <a:r>
              <a:rPr lang="pt-BR" altLang="pt-BR" sz="2400">
                <a:solidFill>
                  <a:srgbClr val="B40000"/>
                </a:solidFill>
              </a:rPr>
              <a:t>evitar custos maiores oriundos</a:t>
            </a:r>
            <a:r>
              <a:rPr lang="pt-BR" altLang="pt-BR" sz="2400"/>
              <a:t> do uso real ou do </a:t>
            </a:r>
            <a:r>
              <a:rPr lang="pt-BR" altLang="pt-BR" sz="2400">
                <a:solidFill>
                  <a:srgbClr val="B40000"/>
                </a:solidFill>
              </a:rPr>
              <a:t>mau uso</a:t>
            </a:r>
            <a:r>
              <a:rPr lang="pt-BR" altLang="pt-BR" sz="2400"/>
              <a:t>. </a:t>
            </a:r>
          </a:p>
          <a:p>
            <a:pPr eaLnBrk="1" hangingPunct="1"/>
            <a:endParaRPr lang="pt-BR" altLang="pt-BR" sz="2400"/>
          </a:p>
        </p:txBody>
      </p:sp>
      <p:sp>
        <p:nvSpPr>
          <p:cNvPr id="143366" name="Rectangle 6">
            <a:extLst>
              <a:ext uri="{FF2B5EF4-FFF2-40B4-BE49-F238E27FC236}">
                <a16:creationId xmlns:a16="http://schemas.microsoft.com/office/drawing/2014/main" id="{A45E5DFF-8841-B54B-1CC5-6EB211CA3FAB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727575" y="1108075"/>
            <a:ext cx="4211638" cy="5238750"/>
          </a:xfrm>
        </p:spPr>
        <p:txBody>
          <a:bodyPr/>
          <a:lstStyle/>
          <a:p>
            <a:pPr lvl="1" eaLnBrk="1" hangingPunct="1"/>
            <a:r>
              <a:rPr lang="pt-BR" altLang="pt-BR"/>
              <a:t>Deve-se </a:t>
            </a:r>
            <a:r>
              <a:rPr lang="pt-BR" altLang="pt-BR">
                <a:solidFill>
                  <a:srgbClr val="B40000"/>
                </a:solidFill>
              </a:rPr>
              <a:t>sempre</a:t>
            </a:r>
            <a:r>
              <a:rPr lang="pt-BR" altLang="pt-BR"/>
              <a:t> </a:t>
            </a:r>
            <a:r>
              <a:rPr lang="pt-BR" altLang="pt-BR">
                <a:solidFill>
                  <a:srgbClr val="B40000"/>
                </a:solidFill>
              </a:rPr>
              <a:t>saber</a:t>
            </a:r>
            <a:r>
              <a:rPr lang="pt-BR" altLang="pt-BR"/>
              <a:t> qual será o </a:t>
            </a:r>
            <a:r>
              <a:rPr lang="pt-BR" altLang="pt-BR">
                <a:solidFill>
                  <a:srgbClr val="B40000"/>
                </a:solidFill>
              </a:rPr>
              <a:t>uso real</a:t>
            </a:r>
            <a:r>
              <a:rPr lang="pt-BR" altLang="pt-BR"/>
              <a:t> (ou mau uso), quais os </a:t>
            </a:r>
            <a:r>
              <a:rPr lang="pt-BR" altLang="pt-BR">
                <a:solidFill>
                  <a:srgbClr val="B40000"/>
                </a:solidFill>
              </a:rPr>
              <a:t>custos associados</a:t>
            </a:r>
            <a:r>
              <a:rPr lang="pt-BR" altLang="pt-BR"/>
              <a:t> e quais as </a:t>
            </a:r>
            <a:r>
              <a:rPr lang="pt-BR" altLang="pt-BR">
                <a:solidFill>
                  <a:srgbClr val="B40000"/>
                </a:solidFill>
              </a:rPr>
              <a:t>conseqüências</a:t>
            </a:r>
            <a:r>
              <a:rPr lang="pt-BR" altLang="pt-BR"/>
              <a:t> das possíveis formas de utilização do produto.</a:t>
            </a:r>
          </a:p>
          <a:p>
            <a:pPr eaLnBrk="1" hangingPunct="1"/>
            <a:endParaRPr lang="pt-BR" altLang="pt-BR" sz="2400"/>
          </a:p>
        </p:txBody>
      </p:sp>
      <p:sp>
        <p:nvSpPr>
          <p:cNvPr id="143368" name="Rectangle 8">
            <a:extLst>
              <a:ext uri="{FF2B5EF4-FFF2-40B4-BE49-F238E27FC236}">
                <a16:creationId xmlns:a16="http://schemas.microsoft.com/office/drawing/2014/main" id="{3DDCB0C5-2340-765E-D1F5-4440F9FBA7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  <p:sp>
        <p:nvSpPr>
          <p:cNvPr id="67589" name="Text Box 9">
            <a:extLst>
              <a:ext uri="{FF2B5EF4-FFF2-40B4-BE49-F238E27FC236}">
                <a16:creationId xmlns:a16="http://schemas.microsoft.com/office/drawing/2014/main" id="{9C9581DF-BB07-870D-6E4A-AA1FC91A29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pt-BR" altLang="pt-BR" sz="1600" i="1">
                <a:solidFill>
                  <a:srgbClr val="B40000"/>
                </a:solidFill>
                <a:latin typeface="Verdana" panose="020B0604030504040204" pitchFamily="34" charset="0"/>
              </a:rPr>
              <a:t>PI / Identif. Req. dos Clientes / Coletar Necessidades</a:t>
            </a:r>
          </a:p>
        </p:txBody>
      </p:sp>
      <p:pic>
        <p:nvPicPr>
          <p:cNvPr id="143370" name="Picture 10" descr="manholeb">
            <a:extLst>
              <a:ext uri="{FF2B5EF4-FFF2-40B4-BE49-F238E27FC236}">
                <a16:creationId xmlns:a16="http://schemas.microsoft.com/office/drawing/2014/main" id="{55A32A42-8370-BB47-44E5-44800FDC40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8375" y="4246563"/>
            <a:ext cx="2093913" cy="206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6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>
            <a:extLst>
              <a:ext uri="{FF2B5EF4-FFF2-40B4-BE49-F238E27FC236}">
                <a16:creationId xmlns:a16="http://schemas.microsoft.com/office/drawing/2014/main" id="{40A3F03C-A180-3D01-2753-E3B09596B5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1788" y="409575"/>
            <a:ext cx="7388225" cy="706438"/>
          </a:xfrm>
        </p:spPr>
        <p:txBody>
          <a:bodyPr/>
          <a:lstStyle/>
          <a:p>
            <a:pPr eaLnBrk="1" hangingPunct="1"/>
            <a:r>
              <a:rPr lang="pt-BR" altLang="pt-BR" sz="3200"/>
              <a:t>Necessidades </a:t>
            </a:r>
            <a:br>
              <a:rPr lang="pt-BR" altLang="pt-BR" sz="3200"/>
            </a:br>
            <a:r>
              <a:rPr lang="pt-BR" altLang="pt-BR" sz="3200"/>
              <a:t>Atribuíveis a Usos Inesperados</a:t>
            </a:r>
          </a:p>
        </p:txBody>
      </p:sp>
      <p:sp>
        <p:nvSpPr>
          <p:cNvPr id="148489" name="Rectangle 9">
            <a:extLst>
              <a:ext uri="{FF2B5EF4-FFF2-40B4-BE49-F238E27FC236}">
                <a16:creationId xmlns:a16="http://schemas.microsoft.com/office/drawing/2014/main" id="{86BACA41-CD1B-0D47-5CDC-847C316FA1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  <p:pic>
        <p:nvPicPr>
          <p:cNvPr id="148490" name="Picture 10" descr="cotonete">
            <a:extLst>
              <a:ext uri="{FF2B5EF4-FFF2-40B4-BE49-F238E27FC236}">
                <a16:creationId xmlns:a16="http://schemas.microsoft.com/office/drawing/2014/main" id="{9C6BB1EB-4A19-C5A5-EC0D-829F36828A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1844675"/>
            <a:ext cx="2620962" cy="3576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8491" name="Picture 11" descr="Untitled-3">
            <a:extLst>
              <a:ext uri="{FF2B5EF4-FFF2-40B4-BE49-F238E27FC236}">
                <a16:creationId xmlns:a16="http://schemas.microsoft.com/office/drawing/2014/main" id="{7F3A87E0-C96A-845B-5E99-872B4CEFB5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163" y="2997200"/>
            <a:ext cx="1906587" cy="119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37" name="Text Box 12">
            <a:extLst>
              <a:ext uri="{FF2B5EF4-FFF2-40B4-BE49-F238E27FC236}">
                <a16:creationId xmlns:a16="http://schemas.microsoft.com/office/drawing/2014/main" id="{5C618ED1-8B22-8ADB-A52B-3201A6DADC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pt-BR" altLang="pt-BR" sz="1600" i="1">
                <a:solidFill>
                  <a:srgbClr val="B40000"/>
                </a:solidFill>
                <a:latin typeface="Verdana" panose="020B0604030504040204" pitchFamily="34" charset="0"/>
              </a:rPr>
              <a:t>PI / Identif. Req. dos Clientes / Coletar Necessidades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48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2">
            <a:extLst>
              <a:ext uri="{FF2B5EF4-FFF2-40B4-BE49-F238E27FC236}">
                <a16:creationId xmlns:a16="http://schemas.microsoft.com/office/drawing/2014/main" id="{7F8BBE56-D055-6905-E895-9A3E350AAD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/>
              <a:t>Necessidades </a:t>
            </a:r>
            <a:br>
              <a:rPr lang="pt-BR" altLang="pt-BR" sz="4000"/>
            </a:br>
            <a:r>
              <a:rPr lang="pt-BR" altLang="pt-BR" sz="4000"/>
              <a:t>Atribuíveis a Usos Inesperados</a:t>
            </a:r>
          </a:p>
        </p:txBody>
      </p:sp>
      <p:sp>
        <p:nvSpPr>
          <p:cNvPr id="259075" name="Rectangle 3">
            <a:extLst>
              <a:ext uri="{FF2B5EF4-FFF2-40B4-BE49-F238E27FC236}">
                <a16:creationId xmlns:a16="http://schemas.microsoft.com/office/drawing/2014/main" id="{2A992DF3-B5B6-72EC-3030-CD9FEB4F8E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  <p:sp>
        <p:nvSpPr>
          <p:cNvPr id="71683" name="Text Box 6">
            <a:extLst>
              <a:ext uri="{FF2B5EF4-FFF2-40B4-BE49-F238E27FC236}">
                <a16:creationId xmlns:a16="http://schemas.microsoft.com/office/drawing/2014/main" id="{15B53164-5E19-56B4-BE75-D90F35BF34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pt-BR" altLang="pt-BR" sz="1600" i="1">
                <a:solidFill>
                  <a:srgbClr val="B40000"/>
                </a:solidFill>
                <a:latin typeface="Verdana" panose="020B0604030504040204" pitchFamily="34" charset="0"/>
              </a:rPr>
              <a:t>PI / Identif. Req. dos Clientes / Coletar Necessidades</a:t>
            </a:r>
          </a:p>
        </p:txBody>
      </p:sp>
      <p:pic>
        <p:nvPicPr>
          <p:cNvPr id="259082" name="Picture 10" descr="usb">
            <a:extLst>
              <a:ext uri="{FF2B5EF4-FFF2-40B4-BE49-F238E27FC236}">
                <a16:creationId xmlns:a16="http://schemas.microsoft.com/office/drawing/2014/main" id="{80586055-08C2-267B-7A40-68F42A994E68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87425" y="2260600"/>
            <a:ext cx="3143250" cy="2971800"/>
          </a:xfrm>
          <a:noFill/>
        </p:spPr>
      </p:pic>
      <p:pic>
        <p:nvPicPr>
          <p:cNvPr id="259083" name="Picture 11" descr="serialParalela">
            <a:extLst>
              <a:ext uri="{FF2B5EF4-FFF2-40B4-BE49-F238E27FC236}">
                <a16:creationId xmlns:a16="http://schemas.microsoft.com/office/drawing/2014/main" id="{73A3FC33-07B0-448E-71D8-4551AAB74E83}"/>
              </a:ext>
            </a:extLst>
          </p:cNvPr>
          <p:cNvPicPr>
            <a:picLocks noGrp="1" noChangeAspect="1" noChangeArrowheads="1"/>
          </p:cNvPicPr>
          <p:nvPr>
            <p:ph sz="quarter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64163" y="1668463"/>
            <a:ext cx="2528887" cy="2011362"/>
          </a:xfrm>
          <a:noFill/>
        </p:spPr>
      </p:pic>
      <p:pic>
        <p:nvPicPr>
          <p:cNvPr id="259084" name="Picture 12" descr="d71">
            <a:extLst>
              <a:ext uri="{FF2B5EF4-FFF2-40B4-BE49-F238E27FC236}">
                <a16:creationId xmlns:a16="http://schemas.microsoft.com/office/drawing/2014/main" id="{CA74B29E-9EC9-F5CA-883E-6BD2B94F0318}"/>
              </a:ext>
            </a:extLst>
          </p:cNvPr>
          <p:cNvPicPr>
            <a:picLocks noGrp="1" noChangeAspect="1" noChangeArrowheads="1"/>
          </p:cNvPicPr>
          <p:nvPr>
            <p:ph sz="quarter" idx="3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92725" y="4076700"/>
            <a:ext cx="2778125" cy="1714500"/>
          </a:xfr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07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>
            <a:extLst>
              <a:ext uri="{FF2B5EF4-FFF2-40B4-BE49-F238E27FC236}">
                <a16:creationId xmlns:a16="http://schemas.microsoft.com/office/drawing/2014/main" id="{037A315C-C5AC-4C77-8210-893AA978B7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/>
              <a:t>Necessidades Relativas à Satisfação do Produto</a:t>
            </a:r>
          </a:p>
        </p:txBody>
      </p:sp>
      <p:sp>
        <p:nvSpPr>
          <p:cNvPr id="164868" name="Rectangle 4">
            <a:extLst>
              <a:ext uri="{FF2B5EF4-FFF2-40B4-BE49-F238E27FC236}">
                <a16:creationId xmlns:a16="http://schemas.microsoft.com/office/drawing/2014/main" id="{FC23B9F8-54DD-F7E3-A14F-A64B7C095E9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pt-BR" altLang="pt-BR" sz="2000" dirty="0"/>
              <a:t>A </a:t>
            </a:r>
            <a:r>
              <a:rPr lang="pt-BR" altLang="pt-BR" sz="2000" dirty="0">
                <a:solidFill>
                  <a:srgbClr val="B40000"/>
                </a:solidFill>
              </a:rPr>
              <a:t>satisfação do cliente</a:t>
            </a:r>
            <a:r>
              <a:rPr lang="pt-BR" altLang="pt-BR" sz="2000" dirty="0"/>
              <a:t> é, em geral, sinônima da </a:t>
            </a:r>
            <a:r>
              <a:rPr lang="pt-BR" altLang="pt-BR" sz="2000" dirty="0">
                <a:solidFill>
                  <a:srgbClr val="B40000"/>
                </a:solidFill>
              </a:rPr>
              <a:t>satisfação com o produto</a:t>
            </a:r>
            <a:r>
              <a:rPr lang="pt-BR" altLang="pt-BR" sz="2000" dirty="0"/>
              <a:t>.</a:t>
            </a:r>
          </a:p>
          <a:p>
            <a:pPr lvl="1" eaLnBrk="1" hangingPunct="1"/>
            <a:r>
              <a:rPr lang="pt-BR" altLang="pt-BR" sz="1800" dirty="0"/>
              <a:t>Possui </a:t>
            </a:r>
            <a:r>
              <a:rPr lang="pt-BR" altLang="pt-BR" sz="1800" dirty="0">
                <a:solidFill>
                  <a:srgbClr val="B40000"/>
                </a:solidFill>
              </a:rPr>
              <a:t>influência</a:t>
            </a:r>
            <a:r>
              <a:rPr lang="pt-BR" altLang="pt-BR" sz="1800" dirty="0"/>
              <a:t> decisiva sobre as </a:t>
            </a:r>
            <a:r>
              <a:rPr lang="pt-BR" altLang="pt-BR" sz="1800" dirty="0">
                <a:solidFill>
                  <a:srgbClr val="B40000"/>
                </a:solidFill>
              </a:rPr>
              <a:t>vendas do produto</a:t>
            </a:r>
            <a:r>
              <a:rPr lang="pt-BR" altLang="pt-BR" sz="1800" dirty="0"/>
              <a:t>.</a:t>
            </a:r>
          </a:p>
        </p:txBody>
      </p:sp>
      <p:sp>
        <p:nvSpPr>
          <p:cNvPr id="164871" name="Rectangle 7">
            <a:extLst>
              <a:ext uri="{FF2B5EF4-FFF2-40B4-BE49-F238E27FC236}">
                <a16:creationId xmlns:a16="http://schemas.microsoft.com/office/drawing/2014/main" id="{EF9768CB-9018-F418-FD33-EA8327DBF9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  <p:pic>
        <p:nvPicPr>
          <p:cNvPr id="164873" name="Picture 9" descr="Untitled-7">
            <a:extLst>
              <a:ext uri="{FF2B5EF4-FFF2-40B4-BE49-F238E27FC236}">
                <a16:creationId xmlns:a16="http://schemas.microsoft.com/office/drawing/2014/main" id="{6D0E2CC6-203F-287A-68B8-3CA9CA96317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03800" y="1916113"/>
            <a:ext cx="3322638" cy="3322637"/>
          </a:xfrm>
          <a:noFill/>
        </p:spPr>
      </p:pic>
      <p:sp>
        <p:nvSpPr>
          <p:cNvPr id="73733" name="Text Box 10">
            <a:extLst>
              <a:ext uri="{FF2B5EF4-FFF2-40B4-BE49-F238E27FC236}">
                <a16:creationId xmlns:a16="http://schemas.microsoft.com/office/drawing/2014/main" id="{37B52D65-1A1F-D43A-BCFC-A1F00C1D60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pt-BR" altLang="pt-BR" sz="1600" i="1">
                <a:solidFill>
                  <a:srgbClr val="B40000"/>
                </a:solidFill>
                <a:latin typeface="Verdana" panose="020B0604030504040204" pitchFamily="34" charset="0"/>
              </a:rPr>
              <a:t>PI / Identif. Req. dos Clientes / Coletar Necessidades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7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>
            <a:extLst>
              <a:ext uri="{FF2B5EF4-FFF2-40B4-BE49-F238E27FC236}">
                <a16:creationId xmlns:a16="http://schemas.microsoft.com/office/drawing/2014/main" id="{4B3AF20B-FAEE-E370-D555-A0C1E1E1F6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2413" y="409575"/>
            <a:ext cx="7388225" cy="706438"/>
          </a:xfrm>
        </p:spPr>
        <p:txBody>
          <a:bodyPr/>
          <a:lstStyle/>
          <a:p>
            <a:pPr eaLnBrk="1" hangingPunct="1"/>
            <a:r>
              <a:rPr lang="pt-BR" altLang="pt-BR" sz="4000"/>
              <a:t>Necessidades Relativas à Satisfação do Produto</a:t>
            </a:r>
          </a:p>
        </p:txBody>
      </p:sp>
      <p:sp>
        <p:nvSpPr>
          <p:cNvPr id="167939" name="Rectangle 3">
            <a:extLst>
              <a:ext uri="{FF2B5EF4-FFF2-40B4-BE49-F238E27FC236}">
                <a16:creationId xmlns:a16="http://schemas.microsoft.com/office/drawing/2014/main" id="{65F8F475-99C0-8C3D-29BC-489049AA481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49250" y="1619250"/>
            <a:ext cx="4210050" cy="5238750"/>
          </a:xfrm>
        </p:spPr>
        <p:txBody>
          <a:bodyPr/>
          <a:lstStyle/>
          <a:p>
            <a:pPr eaLnBrk="1" hangingPunct="1"/>
            <a:r>
              <a:rPr lang="pt-BR" altLang="pt-BR" sz="2400">
                <a:solidFill>
                  <a:srgbClr val="B40000"/>
                </a:solidFill>
              </a:rPr>
              <a:t>Formas de deficiências</a:t>
            </a:r>
            <a:r>
              <a:rPr lang="pt-BR" altLang="pt-BR" sz="2400"/>
              <a:t> relativas ao produto:</a:t>
            </a:r>
          </a:p>
          <a:p>
            <a:pPr lvl="1" eaLnBrk="1" hangingPunct="1"/>
            <a:r>
              <a:rPr lang="pt-BR" altLang="pt-BR"/>
              <a:t>Interrupção no fornecimento. </a:t>
            </a:r>
          </a:p>
          <a:p>
            <a:pPr lvl="1" eaLnBrk="1" hangingPunct="1"/>
            <a:r>
              <a:rPr lang="pt-BR" altLang="pt-BR"/>
              <a:t>Entregas fora de prazo. </a:t>
            </a:r>
          </a:p>
          <a:p>
            <a:pPr lvl="1" eaLnBrk="1" hangingPunct="1"/>
            <a:r>
              <a:rPr lang="pt-BR" altLang="pt-BR"/>
              <a:t>Produtos inoperáveis.</a:t>
            </a:r>
          </a:p>
          <a:p>
            <a:pPr lvl="1" eaLnBrk="1" hangingPunct="1"/>
            <a:r>
              <a:rPr lang="pt-BR" altLang="pt-BR"/>
              <a:t>Desconformidade com as especificações. </a:t>
            </a:r>
          </a:p>
        </p:txBody>
      </p:sp>
      <p:sp>
        <p:nvSpPr>
          <p:cNvPr id="167940" name="Rectangle 4">
            <a:extLst>
              <a:ext uri="{FF2B5EF4-FFF2-40B4-BE49-F238E27FC236}">
                <a16:creationId xmlns:a16="http://schemas.microsoft.com/office/drawing/2014/main" id="{4B2CFFEA-0422-8319-EE31-83D6174E5291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632325" y="1619250"/>
            <a:ext cx="4211638" cy="5238750"/>
          </a:xfrm>
        </p:spPr>
        <p:txBody>
          <a:bodyPr/>
          <a:lstStyle/>
          <a:p>
            <a:pPr eaLnBrk="1" hangingPunct="1"/>
            <a:r>
              <a:rPr lang="pt-BR" altLang="pt-BR" sz="2400">
                <a:solidFill>
                  <a:srgbClr val="B40000"/>
                </a:solidFill>
              </a:rPr>
              <a:t>Conseqüências</a:t>
            </a:r>
            <a:r>
              <a:rPr lang="pt-BR" altLang="pt-BR" sz="2400"/>
              <a:t> possíveis:</a:t>
            </a:r>
          </a:p>
          <a:p>
            <a:pPr lvl="1" eaLnBrk="1" hangingPunct="1"/>
            <a:r>
              <a:rPr lang="pt-BR" altLang="pt-BR"/>
              <a:t>Retrabalho (custos). 	</a:t>
            </a:r>
          </a:p>
          <a:p>
            <a:pPr lvl="1" eaLnBrk="1" hangingPunct="1"/>
            <a:r>
              <a:rPr lang="pt-BR" altLang="pt-BR"/>
              <a:t>Publicidade desfavorável.</a:t>
            </a:r>
          </a:p>
          <a:p>
            <a:pPr lvl="1" eaLnBrk="1" hangingPunct="1"/>
            <a:r>
              <a:rPr lang="pt-BR" altLang="pt-BR"/>
              <a:t>Ações judiciais.</a:t>
            </a:r>
          </a:p>
        </p:txBody>
      </p:sp>
      <p:sp>
        <p:nvSpPr>
          <p:cNvPr id="167942" name="Rectangle 6">
            <a:extLst>
              <a:ext uri="{FF2B5EF4-FFF2-40B4-BE49-F238E27FC236}">
                <a16:creationId xmlns:a16="http://schemas.microsoft.com/office/drawing/2014/main" id="{A729A81B-3873-D598-DE2E-84ED4EEF74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  <p:sp>
        <p:nvSpPr>
          <p:cNvPr id="75781" name="Text Box 7">
            <a:extLst>
              <a:ext uri="{FF2B5EF4-FFF2-40B4-BE49-F238E27FC236}">
                <a16:creationId xmlns:a16="http://schemas.microsoft.com/office/drawing/2014/main" id="{0681C656-AC1F-91A2-07CF-AC60A2AD20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pt-BR" altLang="pt-BR" sz="1600" i="1">
                <a:solidFill>
                  <a:srgbClr val="B40000"/>
                </a:solidFill>
                <a:latin typeface="Verdana" panose="020B0604030504040204" pitchFamily="34" charset="0"/>
              </a:rPr>
              <a:t>PI / Identif. Req. dos Clientes / Coletar Necessidades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4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>
            <a:extLst>
              <a:ext uri="{FF2B5EF4-FFF2-40B4-BE49-F238E27FC236}">
                <a16:creationId xmlns:a16="http://schemas.microsoft.com/office/drawing/2014/main" id="{279BBE2A-AB60-84F3-2C1D-A1DE259571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7625" y="153987"/>
            <a:ext cx="8026149" cy="706438"/>
          </a:xfrm>
        </p:spPr>
        <p:txBody>
          <a:bodyPr/>
          <a:lstStyle/>
          <a:p>
            <a:pPr eaLnBrk="1" hangingPunct="1"/>
            <a:r>
              <a:rPr lang="en-US" altLang="pt-BR" sz="3600" dirty="0"/>
              <a:t>Como </a:t>
            </a:r>
            <a:r>
              <a:rPr lang="en-US" altLang="pt-BR" sz="3600" dirty="0" err="1"/>
              <a:t>Descobrir</a:t>
            </a:r>
            <a:r>
              <a:rPr lang="en-US" altLang="pt-BR" sz="3600" dirty="0"/>
              <a:t> as </a:t>
            </a:r>
            <a:r>
              <a:rPr lang="en-US" altLang="pt-BR" sz="3600" dirty="0" err="1"/>
              <a:t>Necessidades</a:t>
            </a:r>
            <a:endParaRPr lang="pt-BR" altLang="pt-BR" sz="3600" dirty="0"/>
          </a:p>
        </p:txBody>
      </p:sp>
      <p:pic>
        <p:nvPicPr>
          <p:cNvPr id="77826" name="Picture 10" descr="PCUSER20">
            <a:extLst>
              <a:ext uri="{FF2B5EF4-FFF2-40B4-BE49-F238E27FC236}">
                <a16:creationId xmlns:a16="http://schemas.microsoft.com/office/drawing/2014/main" id="{AC365590-E450-1A67-195B-EAAAB55E9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6000" contras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8763" y="2155825"/>
            <a:ext cx="1857375" cy="113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27" name="Rectangle 11">
            <a:extLst>
              <a:ext uri="{FF2B5EF4-FFF2-40B4-BE49-F238E27FC236}">
                <a16:creationId xmlns:a16="http://schemas.microsoft.com/office/drawing/2014/main" id="{5F492691-95CD-55C7-5928-55195525E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0700" y="1868488"/>
            <a:ext cx="163513" cy="1495425"/>
          </a:xfrm>
          <a:prstGeom prst="rect">
            <a:avLst/>
          </a:prstGeom>
          <a:solidFill>
            <a:schemeClr val="bg2"/>
          </a:solidFill>
          <a:ln w="9525">
            <a:miter lim="800000"/>
            <a:headEnd/>
            <a:tailEnd/>
          </a:ln>
          <a:scene3d>
            <a:camera prst="legacyPerspectiveTopRight"/>
            <a:lightRig rig="legacyFlat3" dir="b"/>
          </a:scene3d>
          <a:sp3d extrusionH="1801800" prstMaterial="legacyMatte">
            <a:bevelT w="13500" h="13500" prst="angle"/>
            <a:bevelB w="13500" h="13500" prst="angle"/>
            <a:extrusionClr>
              <a:schemeClr val="bg2"/>
            </a:extrusionClr>
            <a:contourClr>
              <a:schemeClr val="bg2"/>
            </a:contourClr>
          </a:sp3d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  <p:sp>
        <p:nvSpPr>
          <p:cNvPr id="168972" name="Text Box 12">
            <a:extLst>
              <a:ext uri="{FF2B5EF4-FFF2-40B4-BE49-F238E27FC236}">
                <a16:creationId xmlns:a16="http://schemas.microsoft.com/office/drawing/2014/main" id="{C6509380-2B88-6875-6762-24AD25D626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7313" y="3716338"/>
            <a:ext cx="38068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solidFill>
                  <a:srgbClr val="006699"/>
                </a:solidFill>
                <a:latin typeface="Verdana" panose="020B0604030504040204" pitchFamily="34" charset="0"/>
              </a:rPr>
              <a:t>Analisando e Ouvindo os Clientes...</a:t>
            </a:r>
          </a:p>
        </p:txBody>
      </p:sp>
      <p:pic>
        <p:nvPicPr>
          <p:cNvPr id="77829" name="Picture 13">
            <a:extLst>
              <a:ext uri="{FF2B5EF4-FFF2-40B4-BE49-F238E27FC236}">
                <a16:creationId xmlns:a16="http://schemas.microsoft.com/office/drawing/2014/main" id="{6526D97E-B67B-7A0A-809C-2F538A40BD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0113" y="1868488"/>
            <a:ext cx="1370012" cy="117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0" name="Text Box 14">
            <a:extLst>
              <a:ext uri="{FF2B5EF4-FFF2-40B4-BE49-F238E27FC236}">
                <a16:creationId xmlns:a16="http://schemas.microsoft.com/office/drawing/2014/main" id="{64F21043-F263-FC72-D5C5-23F8716023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1338" y="3092450"/>
            <a:ext cx="19685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pt-BR" altLang="pt-BR" sz="1600">
                <a:solidFill>
                  <a:srgbClr val="006699"/>
                </a:solidFill>
                <a:latin typeface="Verdana" panose="020B0604030504040204" pitchFamily="34" charset="0"/>
              </a:rPr>
              <a:t>Clientes</a:t>
            </a:r>
          </a:p>
        </p:txBody>
      </p:sp>
      <p:grpSp>
        <p:nvGrpSpPr>
          <p:cNvPr id="2" name="Group 15">
            <a:extLst>
              <a:ext uri="{FF2B5EF4-FFF2-40B4-BE49-F238E27FC236}">
                <a16:creationId xmlns:a16="http://schemas.microsoft.com/office/drawing/2014/main" id="{B687B638-8597-708E-6250-AB36DD35F790}"/>
              </a:ext>
            </a:extLst>
          </p:cNvPr>
          <p:cNvGrpSpPr>
            <a:grpSpLocks/>
          </p:cNvGrpSpPr>
          <p:nvPr/>
        </p:nvGrpSpPr>
        <p:grpSpPr bwMode="auto">
          <a:xfrm>
            <a:off x="6227763" y="4221163"/>
            <a:ext cx="2016125" cy="1616075"/>
            <a:chOff x="1221" y="1487"/>
            <a:chExt cx="1270" cy="1018"/>
          </a:xfrm>
        </p:grpSpPr>
        <p:grpSp>
          <p:nvGrpSpPr>
            <p:cNvPr id="77837" name="Group 16">
              <a:extLst>
                <a:ext uri="{FF2B5EF4-FFF2-40B4-BE49-F238E27FC236}">
                  <a16:creationId xmlns:a16="http://schemas.microsoft.com/office/drawing/2014/main" id="{9E1E340B-9114-6436-C368-F5D14F4491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46" y="1766"/>
              <a:ext cx="545" cy="603"/>
              <a:chOff x="3809" y="2838"/>
              <a:chExt cx="738" cy="884"/>
            </a:xfrm>
          </p:grpSpPr>
          <p:sp>
            <p:nvSpPr>
              <p:cNvPr id="77858" name="Freeform 17">
                <a:extLst>
                  <a:ext uri="{FF2B5EF4-FFF2-40B4-BE49-F238E27FC236}">
                    <a16:creationId xmlns:a16="http://schemas.microsoft.com/office/drawing/2014/main" id="{392CD5F3-9607-DF42-3214-2D1D6F5B9C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9" y="3096"/>
                <a:ext cx="120" cy="249"/>
              </a:xfrm>
              <a:custGeom>
                <a:avLst/>
                <a:gdLst>
                  <a:gd name="T0" fmla="*/ 4175 w 77"/>
                  <a:gd name="T1" fmla="*/ 4774 h 157"/>
                  <a:gd name="T2" fmla="*/ 2123 w 77"/>
                  <a:gd name="T3" fmla="*/ 9966 h 157"/>
                  <a:gd name="T4" fmla="*/ 0 w 77"/>
                  <a:gd name="T5" fmla="*/ 9966 h 157"/>
                  <a:gd name="T6" fmla="*/ 2123 w 77"/>
                  <a:gd name="T7" fmla="*/ 3751 h 157"/>
                  <a:gd name="T8" fmla="*/ 2123 w 77"/>
                  <a:gd name="T9" fmla="*/ 0 h 157"/>
                  <a:gd name="T10" fmla="*/ 4175 w 77"/>
                  <a:gd name="T11" fmla="*/ 4774 h 15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7"/>
                  <a:gd name="T19" fmla="*/ 0 h 157"/>
                  <a:gd name="T20" fmla="*/ 77 w 77"/>
                  <a:gd name="T21" fmla="*/ 157 h 15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7" h="157">
                    <a:moveTo>
                      <a:pt x="77" y="75"/>
                    </a:moveTo>
                    <a:lnTo>
                      <a:pt x="39" y="157"/>
                    </a:lnTo>
                    <a:lnTo>
                      <a:pt x="0" y="157"/>
                    </a:lnTo>
                    <a:lnTo>
                      <a:pt x="39" y="59"/>
                    </a:lnTo>
                    <a:lnTo>
                      <a:pt x="39" y="0"/>
                    </a:lnTo>
                    <a:lnTo>
                      <a:pt x="77" y="75"/>
                    </a:lnTo>
                    <a:close/>
                  </a:path>
                </a:pathLst>
              </a:custGeom>
              <a:solidFill>
                <a:srgbClr val="FF3300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7859" name="Freeform 18">
                <a:extLst>
                  <a:ext uri="{FF2B5EF4-FFF2-40B4-BE49-F238E27FC236}">
                    <a16:creationId xmlns:a16="http://schemas.microsoft.com/office/drawing/2014/main" id="{B5E82153-11DC-48C5-9741-ADA40C074B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3" y="2838"/>
                <a:ext cx="116" cy="114"/>
              </a:xfrm>
              <a:custGeom>
                <a:avLst/>
                <a:gdLst>
                  <a:gd name="T0" fmla="*/ 3789 w 75"/>
                  <a:gd name="T1" fmla="*/ 2179 h 72"/>
                  <a:gd name="T2" fmla="*/ 3707 w 75"/>
                  <a:gd name="T3" fmla="*/ 1490 h 72"/>
                  <a:gd name="T4" fmla="*/ 3338 w 75"/>
                  <a:gd name="T5" fmla="*/ 735 h 72"/>
                  <a:gd name="T6" fmla="*/ 2861 w 75"/>
                  <a:gd name="T7" fmla="*/ 347 h 72"/>
                  <a:gd name="T8" fmla="*/ 2219 w 75"/>
                  <a:gd name="T9" fmla="*/ 0 h 72"/>
                  <a:gd name="T10" fmla="*/ 1557 w 75"/>
                  <a:gd name="T11" fmla="*/ 0 h 72"/>
                  <a:gd name="T12" fmla="*/ 848 w 75"/>
                  <a:gd name="T13" fmla="*/ 347 h 72"/>
                  <a:gd name="T14" fmla="*/ 399 w 75"/>
                  <a:gd name="T15" fmla="*/ 735 h 72"/>
                  <a:gd name="T16" fmla="*/ 0 w 75"/>
                  <a:gd name="T17" fmla="*/ 1490 h 72"/>
                  <a:gd name="T18" fmla="*/ 0 w 75"/>
                  <a:gd name="T19" fmla="*/ 2179 h 72"/>
                  <a:gd name="T20" fmla="*/ 0 w 75"/>
                  <a:gd name="T21" fmla="*/ 2996 h 72"/>
                  <a:gd name="T22" fmla="*/ 399 w 75"/>
                  <a:gd name="T23" fmla="*/ 3640 h 72"/>
                  <a:gd name="T24" fmla="*/ 848 w 75"/>
                  <a:gd name="T25" fmla="*/ 4139 h 72"/>
                  <a:gd name="T26" fmla="*/ 1557 w 75"/>
                  <a:gd name="T27" fmla="*/ 4486 h 72"/>
                  <a:gd name="T28" fmla="*/ 2219 w 75"/>
                  <a:gd name="T29" fmla="*/ 4486 h 72"/>
                  <a:gd name="T30" fmla="*/ 2861 w 75"/>
                  <a:gd name="T31" fmla="*/ 4139 h 72"/>
                  <a:gd name="T32" fmla="*/ 3338 w 75"/>
                  <a:gd name="T33" fmla="*/ 3640 h 72"/>
                  <a:gd name="T34" fmla="*/ 3707 w 75"/>
                  <a:gd name="T35" fmla="*/ 2996 h 72"/>
                  <a:gd name="T36" fmla="*/ 3789 w 75"/>
                  <a:gd name="T37" fmla="*/ 2179 h 72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75"/>
                  <a:gd name="T58" fmla="*/ 0 h 72"/>
                  <a:gd name="T59" fmla="*/ 75 w 75"/>
                  <a:gd name="T60" fmla="*/ 72 h 72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75" h="72">
                    <a:moveTo>
                      <a:pt x="75" y="35"/>
                    </a:moveTo>
                    <a:lnTo>
                      <a:pt x="73" y="24"/>
                    </a:lnTo>
                    <a:lnTo>
                      <a:pt x="66" y="12"/>
                    </a:lnTo>
                    <a:lnTo>
                      <a:pt x="56" y="6"/>
                    </a:lnTo>
                    <a:lnTo>
                      <a:pt x="44" y="0"/>
                    </a:lnTo>
                    <a:lnTo>
                      <a:pt x="31" y="0"/>
                    </a:lnTo>
                    <a:lnTo>
                      <a:pt x="17" y="6"/>
                    </a:lnTo>
                    <a:lnTo>
                      <a:pt x="8" y="12"/>
                    </a:lnTo>
                    <a:lnTo>
                      <a:pt x="0" y="24"/>
                    </a:lnTo>
                    <a:lnTo>
                      <a:pt x="0" y="35"/>
                    </a:lnTo>
                    <a:lnTo>
                      <a:pt x="0" y="48"/>
                    </a:lnTo>
                    <a:lnTo>
                      <a:pt x="8" y="58"/>
                    </a:lnTo>
                    <a:lnTo>
                      <a:pt x="17" y="66"/>
                    </a:lnTo>
                    <a:lnTo>
                      <a:pt x="31" y="72"/>
                    </a:lnTo>
                    <a:lnTo>
                      <a:pt x="44" y="72"/>
                    </a:lnTo>
                    <a:lnTo>
                      <a:pt x="56" y="66"/>
                    </a:lnTo>
                    <a:lnTo>
                      <a:pt x="66" y="58"/>
                    </a:lnTo>
                    <a:lnTo>
                      <a:pt x="73" y="48"/>
                    </a:lnTo>
                    <a:lnTo>
                      <a:pt x="75" y="35"/>
                    </a:lnTo>
                    <a:close/>
                  </a:path>
                </a:pathLst>
              </a:custGeom>
              <a:solidFill>
                <a:srgbClr val="FF3300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7860" name="Freeform 19">
                <a:extLst>
                  <a:ext uri="{FF2B5EF4-FFF2-40B4-BE49-F238E27FC236}">
                    <a16:creationId xmlns:a16="http://schemas.microsoft.com/office/drawing/2014/main" id="{FF20E341-B3FF-BD80-37E5-8C6B868208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70" y="2923"/>
                <a:ext cx="271" cy="422"/>
              </a:xfrm>
              <a:custGeom>
                <a:avLst/>
                <a:gdLst>
                  <a:gd name="T0" fmla="*/ 3847 w 175"/>
                  <a:gd name="T1" fmla="*/ 0 h 267"/>
                  <a:gd name="T2" fmla="*/ 0 w 175"/>
                  <a:gd name="T3" fmla="*/ 6782 h 267"/>
                  <a:gd name="T4" fmla="*/ 3847 w 175"/>
                  <a:gd name="T5" fmla="*/ 16433 h 267"/>
                  <a:gd name="T6" fmla="*/ 6084 w 175"/>
                  <a:gd name="T7" fmla="*/ 16433 h 267"/>
                  <a:gd name="T8" fmla="*/ 3343 w 175"/>
                  <a:gd name="T9" fmla="*/ 7564 h 267"/>
                  <a:gd name="T10" fmla="*/ 5295 w 175"/>
                  <a:gd name="T11" fmla="*/ 4367 h 267"/>
                  <a:gd name="T12" fmla="*/ 8248 w 175"/>
                  <a:gd name="T13" fmla="*/ 7087 h 267"/>
                  <a:gd name="T14" fmla="*/ 8965 w 175"/>
                  <a:gd name="T15" fmla="*/ 5483 h 267"/>
                  <a:gd name="T16" fmla="*/ 3847 w 175"/>
                  <a:gd name="T17" fmla="*/ 0 h 26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5"/>
                  <a:gd name="T28" fmla="*/ 0 h 267"/>
                  <a:gd name="T29" fmla="*/ 175 w 175"/>
                  <a:gd name="T30" fmla="*/ 267 h 26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5" h="267">
                    <a:moveTo>
                      <a:pt x="75" y="0"/>
                    </a:moveTo>
                    <a:lnTo>
                      <a:pt x="0" y="110"/>
                    </a:lnTo>
                    <a:lnTo>
                      <a:pt x="75" y="267"/>
                    </a:lnTo>
                    <a:lnTo>
                      <a:pt x="119" y="267"/>
                    </a:lnTo>
                    <a:lnTo>
                      <a:pt x="65" y="123"/>
                    </a:lnTo>
                    <a:lnTo>
                      <a:pt x="103" y="71"/>
                    </a:lnTo>
                    <a:lnTo>
                      <a:pt x="161" y="115"/>
                    </a:lnTo>
                    <a:lnTo>
                      <a:pt x="175" y="89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F3300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7861" name="Rectangle 20">
                <a:extLst>
                  <a:ext uri="{FF2B5EF4-FFF2-40B4-BE49-F238E27FC236}">
                    <a16:creationId xmlns:a16="http://schemas.microsoft.com/office/drawing/2014/main" id="{694E38DC-06CF-2A3B-FF74-8DD1D6234A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9" y="3151"/>
                <a:ext cx="203" cy="194"/>
              </a:xfrm>
              <a:prstGeom prst="rect">
                <a:avLst/>
              </a:prstGeom>
              <a:solidFill>
                <a:srgbClr val="FF3300"/>
              </a:soli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pt-BR" altLang="pt-BR" sz="2000"/>
              </a:p>
            </p:txBody>
          </p:sp>
          <p:sp>
            <p:nvSpPr>
              <p:cNvPr id="77862" name="Freeform 21">
                <a:extLst>
                  <a:ext uri="{FF2B5EF4-FFF2-40B4-BE49-F238E27FC236}">
                    <a16:creationId xmlns:a16="http://schemas.microsoft.com/office/drawing/2014/main" id="{B383496C-D9E8-97F5-0B5C-FD4CAF6831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9" y="3055"/>
                <a:ext cx="301" cy="96"/>
              </a:xfrm>
              <a:custGeom>
                <a:avLst/>
                <a:gdLst>
                  <a:gd name="T0" fmla="*/ 0 w 194"/>
                  <a:gd name="T1" fmla="*/ 3621 h 61"/>
                  <a:gd name="T2" fmla="*/ 3406 w 194"/>
                  <a:gd name="T3" fmla="*/ 0 h 61"/>
                  <a:gd name="T4" fmla="*/ 10110 w 194"/>
                  <a:gd name="T5" fmla="*/ 0 h 61"/>
                  <a:gd name="T6" fmla="*/ 6827 w 194"/>
                  <a:gd name="T7" fmla="*/ 3621 h 61"/>
                  <a:gd name="T8" fmla="*/ 0 w 194"/>
                  <a:gd name="T9" fmla="*/ 3621 h 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1"/>
                  <a:gd name="T17" fmla="*/ 194 w 194"/>
                  <a:gd name="T18" fmla="*/ 61 h 6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1">
                    <a:moveTo>
                      <a:pt x="0" y="61"/>
                    </a:moveTo>
                    <a:lnTo>
                      <a:pt x="65" y="0"/>
                    </a:lnTo>
                    <a:lnTo>
                      <a:pt x="194" y="0"/>
                    </a:lnTo>
                    <a:lnTo>
                      <a:pt x="131" y="61"/>
                    </a:lnTo>
                    <a:lnTo>
                      <a:pt x="0" y="61"/>
                    </a:lnTo>
                    <a:close/>
                  </a:path>
                </a:pathLst>
              </a:custGeom>
              <a:solidFill>
                <a:srgbClr val="FF3300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7863" name="Freeform 22">
                <a:extLst>
                  <a:ext uri="{FF2B5EF4-FFF2-40B4-BE49-F238E27FC236}">
                    <a16:creationId xmlns:a16="http://schemas.microsoft.com/office/drawing/2014/main" id="{EE9913CF-B42A-0BBC-FA9F-C31B42C1BD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2" y="3055"/>
                <a:ext cx="98" cy="290"/>
              </a:xfrm>
              <a:custGeom>
                <a:avLst/>
                <a:gdLst>
                  <a:gd name="T0" fmla="*/ 0 w 63"/>
                  <a:gd name="T1" fmla="*/ 11042 h 184"/>
                  <a:gd name="T2" fmla="*/ 3341 w 63"/>
                  <a:gd name="T3" fmla="*/ 7392 h 184"/>
                  <a:gd name="T4" fmla="*/ 3341 w 63"/>
                  <a:gd name="T5" fmla="*/ 0 h 184"/>
                  <a:gd name="T6" fmla="*/ 0 w 63"/>
                  <a:gd name="T7" fmla="*/ 3644 h 184"/>
                  <a:gd name="T8" fmla="*/ 0 w 63"/>
                  <a:gd name="T9" fmla="*/ 11042 h 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"/>
                  <a:gd name="T16" fmla="*/ 0 h 184"/>
                  <a:gd name="T17" fmla="*/ 63 w 63"/>
                  <a:gd name="T18" fmla="*/ 184 h 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" h="184">
                    <a:moveTo>
                      <a:pt x="0" y="184"/>
                    </a:moveTo>
                    <a:lnTo>
                      <a:pt x="63" y="123"/>
                    </a:lnTo>
                    <a:lnTo>
                      <a:pt x="63" y="0"/>
                    </a:lnTo>
                    <a:lnTo>
                      <a:pt x="0" y="61"/>
                    </a:lnTo>
                    <a:lnTo>
                      <a:pt x="0" y="184"/>
                    </a:lnTo>
                    <a:close/>
                  </a:path>
                </a:pathLst>
              </a:custGeom>
              <a:solidFill>
                <a:srgbClr val="FF3300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7864" name="Freeform 23">
                <a:extLst>
                  <a:ext uri="{FF2B5EF4-FFF2-40B4-BE49-F238E27FC236}">
                    <a16:creationId xmlns:a16="http://schemas.microsoft.com/office/drawing/2014/main" id="{B4FE03E6-7C27-4BF6-AC17-AF6EE8F80F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2" y="3029"/>
                <a:ext cx="149" cy="122"/>
              </a:xfrm>
              <a:custGeom>
                <a:avLst/>
                <a:gdLst>
                  <a:gd name="T0" fmla="*/ 0 w 96"/>
                  <a:gd name="T1" fmla="*/ 4840 h 77"/>
                  <a:gd name="T2" fmla="*/ 2303 w 96"/>
                  <a:gd name="T3" fmla="*/ 3403 h 77"/>
                  <a:gd name="T4" fmla="*/ 5021 w 96"/>
                  <a:gd name="T5" fmla="*/ 0 h 77"/>
                  <a:gd name="T6" fmla="*/ 3298 w 96"/>
                  <a:gd name="T7" fmla="*/ 993 h 77"/>
                  <a:gd name="T8" fmla="*/ 0 w 96"/>
                  <a:gd name="T9" fmla="*/ 4840 h 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6"/>
                  <a:gd name="T16" fmla="*/ 0 h 77"/>
                  <a:gd name="T17" fmla="*/ 96 w 96"/>
                  <a:gd name="T18" fmla="*/ 77 h 7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6" h="77">
                    <a:moveTo>
                      <a:pt x="0" y="77"/>
                    </a:moveTo>
                    <a:lnTo>
                      <a:pt x="44" y="54"/>
                    </a:lnTo>
                    <a:lnTo>
                      <a:pt x="96" y="0"/>
                    </a:lnTo>
                    <a:lnTo>
                      <a:pt x="63" y="16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F3300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7865" name="Freeform 24">
                <a:extLst>
                  <a:ext uri="{FF2B5EF4-FFF2-40B4-BE49-F238E27FC236}">
                    <a16:creationId xmlns:a16="http://schemas.microsoft.com/office/drawing/2014/main" id="{D6784E3D-F27A-184A-AD58-55D7307009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8" y="3029"/>
                <a:ext cx="153" cy="122"/>
              </a:xfrm>
              <a:custGeom>
                <a:avLst/>
                <a:gdLst>
                  <a:gd name="T0" fmla="*/ 5399 w 98"/>
                  <a:gd name="T1" fmla="*/ 993 h 77"/>
                  <a:gd name="T2" fmla="*/ 3635 w 98"/>
                  <a:gd name="T3" fmla="*/ 0 h 77"/>
                  <a:gd name="T4" fmla="*/ 0 w 98"/>
                  <a:gd name="T5" fmla="*/ 3893 h 77"/>
                  <a:gd name="T6" fmla="*/ 1830 w 98"/>
                  <a:gd name="T7" fmla="*/ 4840 h 77"/>
                  <a:gd name="T8" fmla="*/ 5399 w 98"/>
                  <a:gd name="T9" fmla="*/ 993 h 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8"/>
                  <a:gd name="T16" fmla="*/ 0 h 77"/>
                  <a:gd name="T17" fmla="*/ 98 w 98"/>
                  <a:gd name="T18" fmla="*/ 77 h 7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8" h="77">
                    <a:moveTo>
                      <a:pt x="98" y="16"/>
                    </a:moveTo>
                    <a:lnTo>
                      <a:pt x="66" y="0"/>
                    </a:lnTo>
                    <a:lnTo>
                      <a:pt x="0" y="62"/>
                    </a:lnTo>
                    <a:lnTo>
                      <a:pt x="33" y="77"/>
                    </a:lnTo>
                    <a:lnTo>
                      <a:pt x="98" y="16"/>
                    </a:lnTo>
                    <a:close/>
                  </a:path>
                </a:pathLst>
              </a:custGeom>
              <a:solidFill>
                <a:srgbClr val="FF3300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7866" name="Freeform 25">
                <a:extLst>
                  <a:ext uri="{FF2B5EF4-FFF2-40B4-BE49-F238E27FC236}">
                    <a16:creationId xmlns:a16="http://schemas.microsoft.com/office/drawing/2014/main" id="{C500E57D-1F26-99C0-7254-E1C2FD9C73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1" y="3055"/>
                <a:ext cx="199" cy="96"/>
              </a:xfrm>
              <a:custGeom>
                <a:avLst/>
                <a:gdLst>
                  <a:gd name="T0" fmla="*/ 0 w 129"/>
                  <a:gd name="T1" fmla="*/ 0 h 61"/>
                  <a:gd name="T2" fmla="*/ 3255 w 129"/>
                  <a:gd name="T3" fmla="*/ 3621 h 61"/>
                  <a:gd name="T4" fmla="*/ 6387 w 129"/>
                  <a:gd name="T5" fmla="*/ 0 h 61"/>
                  <a:gd name="T6" fmla="*/ 0 w 129"/>
                  <a:gd name="T7" fmla="*/ 0 h 6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9"/>
                  <a:gd name="T13" fmla="*/ 0 h 61"/>
                  <a:gd name="T14" fmla="*/ 129 w 129"/>
                  <a:gd name="T15" fmla="*/ 61 h 6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9" h="61">
                    <a:moveTo>
                      <a:pt x="0" y="0"/>
                    </a:moveTo>
                    <a:lnTo>
                      <a:pt x="66" y="61"/>
                    </a:lnTo>
                    <a:lnTo>
                      <a:pt x="12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33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7867" name="Freeform 26">
                <a:extLst>
                  <a:ext uri="{FF2B5EF4-FFF2-40B4-BE49-F238E27FC236}">
                    <a16:creationId xmlns:a16="http://schemas.microsoft.com/office/drawing/2014/main" id="{7E143FA3-7C77-C7A2-230E-C11ADAB9E1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6" y="3103"/>
                <a:ext cx="226" cy="48"/>
              </a:xfrm>
              <a:custGeom>
                <a:avLst/>
                <a:gdLst>
                  <a:gd name="T0" fmla="*/ 777 w 146"/>
                  <a:gd name="T1" fmla="*/ 2064 h 30"/>
                  <a:gd name="T2" fmla="*/ 0 w 146"/>
                  <a:gd name="T3" fmla="*/ 0 h 30"/>
                  <a:gd name="T4" fmla="*/ 6371 w 146"/>
                  <a:gd name="T5" fmla="*/ 0 h 30"/>
                  <a:gd name="T6" fmla="*/ 7460 w 146"/>
                  <a:gd name="T7" fmla="*/ 2064 h 30"/>
                  <a:gd name="T8" fmla="*/ 777 w 146"/>
                  <a:gd name="T9" fmla="*/ 2064 h 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6"/>
                  <a:gd name="T16" fmla="*/ 0 h 30"/>
                  <a:gd name="T17" fmla="*/ 146 w 146"/>
                  <a:gd name="T18" fmla="*/ 30 h 3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6" h="30">
                    <a:moveTo>
                      <a:pt x="15" y="30"/>
                    </a:moveTo>
                    <a:lnTo>
                      <a:pt x="0" y="0"/>
                    </a:lnTo>
                    <a:lnTo>
                      <a:pt x="125" y="0"/>
                    </a:lnTo>
                    <a:lnTo>
                      <a:pt x="146" y="30"/>
                    </a:lnTo>
                    <a:lnTo>
                      <a:pt x="15" y="30"/>
                    </a:lnTo>
                    <a:close/>
                  </a:path>
                </a:pathLst>
              </a:custGeom>
              <a:solidFill>
                <a:srgbClr val="FF3300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7868" name="Freeform 27">
                <a:extLst>
                  <a:ext uri="{FF2B5EF4-FFF2-40B4-BE49-F238E27FC236}">
                    <a16:creationId xmlns:a16="http://schemas.microsoft.com/office/drawing/2014/main" id="{6E95D4DD-575F-EE25-E185-BDF10687CB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1" y="3005"/>
                <a:ext cx="225" cy="50"/>
              </a:xfrm>
              <a:custGeom>
                <a:avLst/>
                <a:gdLst>
                  <a:gd name="T0" fmla="*/ 6337 w 146"/>
                  <a:gd name="T1" fmla="*/ 2300 h 31"/>
                  <a:gd name="T2" fmla="*/ 7163 w 146"/>
                  <a:gd name="T3" fmla="*/ 0 h 31"/>
                  <a:gd name="T4" fmla="*/ 803 w 146"/>
                  <a:gd name="T5" fmla="*/ 0 h 31"/>
                  <a:gd name="T6" fmla="*/ 0 w 146"/>
                  <a:gd name="T7" fmla="*/ 2300 h 31"/>
                  <a:gd name="T8" fmla="*/ 6337 w 146"/>
                  <a:gd name="T9" fmla="*/ 2300 h 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6"/>
                  <a:gd name="T16" fmla="*/ 0 h 31"/>
                  <a:gd name="T17" fmla="*/ 146 w 146"/>
                  <a:gd name="T18" fmla="*/ 31 h 3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6" h="31">
                    <a:moveTo>
                      <a:pt x="129" y="31"/>
                    </a:moveTo>
                    <a:lnTo>
                      <a:pt x="146" y="0"/>
                    </a:lnTo>
                    <a:lnTo>
                      <a:pt x="16" y="0"/>
                    </a:lnTo>
                    <a:lnTo>
                      <a:pt x="0" y="31"/>
                    </a:lnTo>
                    <a:lnTo>
                      <a:pt x="129" y="31"/>
                    </a:lnTo>
                    <a:close/>
                  </a:path>
                </a:pathLst>
              </a:custGeom>
              <a:solidFill>
                <a:srgbClr val="FF3300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7869" name="Rectangle 28">
                <a:extLst>
                  <a:ext uri="{FF2B5EF4-FFF2-40B4-BE49-F238E27FC236}">
                    <a16:creationId xmlns:a16="http://schemas.microsoft.com/office/drawing/2014/main" id="{DC36DEF5-1B30-A4B4-8DDC-2DFB82E247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1" y="3385"/>
                <a:ext cx="0" cy="337"/>
              </a:xfrm>
              <a:prstGeom prst="rect">
                <a:avLst/>
              </a:prstGeom>
              <a:solidFill>
                <a:srgbClr val="FF33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pt-BR" altLang="pt-BR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7870" name="Rectangle 29">
                <a:extLst>
                  <a:ext uri="{FF2B5EF4-FFF2-40B4-BE49-F238E27FC236}">
                    <a16:creationId xmlns:a16="http://schemas.microsoft.com/office/drawing/2014/main" id="{6D4BFD88-9F72-2019-7A17-D025E2A9C1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15" y="3389"/>
                <a:ext cx="32" cy="169"/>
              </a:xfrm>
              <a:prstGeom prst="rect">
                <a:avLst/>
              </a:prstGeom>
              <a:solidFill>
                <a:srgbClr val="FF33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pt-BR" sz="12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 </a:t>
                </a:r>
                <a:endParaRPr lang="en-US" altLang="pt-BR" sz="24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77838" name="Freeform 30">
              <a:extLst>
                <a:ext uri="{FF2B5EF4-FFF2-40B4-BE49-F238E27FC236}">
                  <a16:creationId xmlns:a16="http://schemas.microsoft.com/office/drawing/2014/main" id="{AC2FE1F9-F602-EEE3-7FCC-8664DE57E4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3" y="1487"/>
              <a:ext cx="78" cy="82"/>
            </a:xfrm>
            <a:custGeom>
              <a:avLst/>
              <a:gdLst>
                <a:gd name="T0" fmla="*/ 380 w 64"/>
                <a:gd name="T1" fmla="*/ 122 h 71"/>
                <a:gd name="T2" fmla="*/ 355 w 64"/>
                <a:gd name="T3" fmla="*/ 77 h 71"/>
                <a:gd name="T4" fmla="*/ 310 w 64"/>
                <a:gd name="T5" fmla="*/ 32 h 71"/>
                <a:gd name="T6" fmla="*/ 254 w 64"/>
                <a:gd name="T7" fmla="*/ 2 h 71"/>
                <a:gd name="T8" fmla="*/ 183 w 64"/>
                <a:gd name="T9" fmla="*/ 0 h 71"/>
                <a:gd name="T10" fmla="*/ 115 w 64"/>
                <a:gd name="T11" fmla="*/ 2 h 71"/>
                <a:gd name="T12" fmla="*/ 49 w 64"/>
                <a:gd name="T13" fmla="*/ 32 h 71"/>
                <a:gd name="T14" fmla="*/ 2 w 64"/>
                <a:gd name="T15" fmla="*/ 77 h 71"/>
                <a:gd name="T16" fmla="*/ 0 w 64"/>
                <a:gd name="T17" fmla="*/ 122 h 71"/>
                <a:gd name="T18" fmla="*/ 2 w 64"/>
                <a:gd name="T19" fmla="*/ 174 h 71"/>
                <a:gd name="T20" fmla="*/ 49 w 64"/>
                <a:gd name="T21" fmla="*/ 216 h 71"/>
                <a:gd name="T22" fmla="*/ 115 w 64"/>
                <a:gd name="T23" fmla="*/ 243 h 71"/>
                <a:gd name="T24" fmla="*/ 183 w 64"/>
                <a:gd name="T25" fmla="*/ 261 h 71"/>
                <a:gd name="T26" fmla="*/ 254 w 64"/>
                <a:gd name="T27" fmla="*/ 243 h 71"/>
                <a:gd name="T28" fmla="*/ 310 w 64"/>
                <a:gd name="T29" fmla="*/ 216 h 71"/>
                <a:gd name="T30" fmla="*/ 355 w 64"/>
                <a:gd name="T31" fmla="*/ 174 h 71"/>
                <a:gd name="T32" fmla="*/ 380 w 64"/>
                <a:gd name="T33" fmla="*/ 122 h 7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64"/>
                <a:gd name="T52" fmla="*/ 0 h 71"/>
                <a:gd name="T53" fmla="*/ 64 w 64"/>
                <a:gd name="T54" fmla="*/ 71 h 7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64" h="71">
                  <a:moveTo>
                    <a:pt x="64" y="34"/>
                  </a:moveTo>
                  <a:lnTo>
                    <a:pt x="60" y="21"/>
                  </a:lnTo>
                  <a:lnTo>
                    <a:pt x="52" y="9"/>
                  </a:lnTo>
                  <a:lnTo>
                    <a:pt x="43" y="2"/>
                  </a:lnTo>
                  <a:lnTo>
                    <a:pt x="31" y="0"/>
                  </a:lnTo>
                  <a:lnTo>
                    <a:pt x="20" y="2"/>
                  </a:lnTo>
                  <a:lnTo>
                    <a:pt x="8" y="9"/>
                  </a:lnTo>
                  <a:lnTo>
                    <a:pt x="2" y="21"/>
                  </a:lnTo>
                  <a:lnTo>
                    <a:pt x="0" y="34"/>
                  </a:lnTo>
                  <a:lnTo>
                    <a:pt x="2" y="48"/>
                  </a:lnTo>
                  <a:lnTo>
                    <a:pt x="8" y="59"/>
                  </a:lnTo>
                  <a:lnTo>
                    <a:pt x="20" y="67"/>
                  </a:lnTo>
                  <a:lnTo>
                    <a:pt x="31" y="71"/>
                  </a:lnTo>
                  <a:lnTo>
                    <a:pt x="43" y="67"/>
                  </a:lnTo>
                  <a:lnTo>
                    <a:pt x="52" y="59"/>
                  </a:lnTo>
                  <a:lnTo>
                    <a:pt x="60" y="48"/>
                  </a:lnTo>
                  <a:lnTo>
                    <a:pt x="64" y="34"/>
                  </a:lnTo>
                  <a:close/>
                </a:path>
              </a:pathLst>
            </a:custGeom>
            <a:solidFill>
              <a:srgbClr val="FFFF00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7839" name="Freeform 31">
              <a:extLst>
                <a:ext uri="{FF2B5EF4-FFF2-40B4-BE49-F238E27FC236}">
                  <a16:creationId xmlns:a16="http://schemas.microsoft.com/office/drawing/2014/main" id="{7D9B567E-DDDD-732D-B9CD-E39C12157D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688"/>
              <a:ext cx="75" cy="176"/>
            </a:xfrm>
            <a:custGeom>
              <a:avLst/>
              <a:gdLst>
                <a:gd name="T0" fmla="*/ 345 w 62"/>
                <a:gd name="T1" fmla="*/ 265 h 153"/>
                <a:gd name="T2" fmla="*/ 161 w 62"/>
                <a:gd name="T3" fmla="*/ 537 h 153"/>
                <a:gd name="T4" fmla="*/ 0 w 62"/>
                <a:gd name="T5" fmla="*/ 537 h 153"/>
                <a:gd name="T6" fmla="*/ 161 w 62"/>
                <a:gd name="T7" fmla="*/ 201 h 153"/>
                <a:gd name="T8" fmla="*/ 161 w 62"/>
                <a:gd name="T9" fmla="*/ 0 h 153"/>
                <a:gd name="T10" fmla="*/ 345 w 62"/>
                <a:gd name="T11" fmla="*/ 265 h 15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2"/>
                <a:gd name="T19" fmla="*/ 0 h 153"/>
                <a:gd name="T20" fmla="*/ 62 w 62"/>
                <a:gd name="T21" fmla="*/ 153 h 15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2" h="153">
                  <a:moveTo>
                    <a:pt x="62" y="75"/>
                  </a:moveTo>
                  <a:lnTo>
                    <a:pt x="29" y="153"/>
                  </a:lnTo>
                  <a:lnTo>
                    <a:pt x="0" y="153"/>
                  </a:lnTo>
                  <a:lnTo>
                    <a:pt x="29" y="57"/>
                  </a:lnTo>
                  <a:lnTo>
                    <a:pt x="29" y="0"/>
                  </a:lnTo>
                  <a:lnTo>
                    <a:pt x="62" y="75"/>
                  </a:lnTo>
                  <a:close/>
                </a:path>
              </a:pathLst>
            </a:custGeom>
            <a:solidFill>
              <a:srgbClr val="FFFF00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7840" name="Freeform 32">
              <a:extLst>
                <a:ext uri="{FF2B5EF4-FFF2-40B4-BE49-F238E27FC236}">
                  <a16:creationId xmlns:a16="http://schemas.microsoft.com/office/drawing/2014/main" id="{0C171BB0-B67A-C28D-38C3-4719999587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" y="1563"/>
              <a:ext cx="197" cy="301"/>
            </a:xfrm>
            <a:custGeom>
              <a:avLst/>
              <a:gdLst>
                <a:gd name="T0" fmla="*/ 128 w 163"/>
                <a:gd name="T1" fmla="*/ 0 h 261"/>
                <a:gd name="T2" fmla="*/ 0 w 163"/>
                <a:gd name="T3" fmla="*/ 390 h 261"/>
                <a:gd name="T4" fmla="*/ 344 w 163"/>
                <a:gd name="T5" fmla="*/ 942 h 261"/>
                <a:gd name="T6" fmla="*/ 540 w 163"/>
                <a:gd name="T7" fmla="*/ 942 h 261"/>
                <a:gd name="T8" fmla="*/ 309 w 163"/>
                <a:gd name="T9" fmla="*/ 439 h 261"/>
                <a:gd name="T10" fmla="*/ 416 w 163"/>
                <a:gd name="T11" fmla="*/ 172 h 261"/>
                <a:gd name="T12" fmla="*/ 848 w 163"/>
                <a:gd name="T13" fmla="*/ 263 h 261"/>
                <a:gd name="T14" fmla="*/ 898 w 163"/>
                <a:gd name="T15" fmla="*/ 159 h 261"/>
                <a:gd name="T16" fmla="*/ 128 w 163"/>
                <a:gd name="T17" fmla="*/ 0 h 26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63"/>
                <a:gd name="T28" fmla="*/ 0 h 261"/>
                <a:gd name="T29" fmla="*/ 163 w 163"/>
                <a:gd name="T30" fmla="*/ 261 h 26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63" h="261">
                  <a:moveTo>
                    <a:pt x="23" y="0"/>
                  </a:moveTo>
                  <a:lnTo>
                    <a:pt x="0" y="108"/>
                  </a:lnTo>
                  <a:lnTo>
                    <a:pt x="62" y="261"/>
                  </a:lnTo>
                  <a:lnTo>
                    <a:pt x="98" y="261"/>
                  </a:lnTo>
                  <a:lnTo>
                    <a:pt x="56" y="121"/>
                  </a:lnTo>
                  <a:lnTo>
                    <a:pt x="75" y="48"/>
                  </a:lnTo>
                  <a:lnTo>
                    <a:pt x="154" y="73"/>
                  </a:lnTo>
                  <a:lnTo>
                    <a:pt x="163" y="44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FFFF00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7841" name="Rectangle 33">
              <a:extLst>
                <a:ext uri="{FF2B5EF4-FFF2-40B4-BE49-F238E27FC236}">
                  <a16:creationId xmlns:a16="http://schemas.microsoft.com/office/drawing/2014/main" id="{FC920FE2-0488-4CB3-1A1C-FBBEA532B5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4" y="1582"/>
              <a:ext cx="86" cy="94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pt-BR" altLang="pt-BR" sz="2000"/>
            </a:p>
          </p:txBody>
        </p:sp>
        <p:sp>
          <p:nvSpPr>
            <p:cNvPr id="77842" name="Freeform 34">
              <a:extLst>
                <a:ext uri="{FF2B5EF4-FFF2-40B4-BE49-F238E27FC236}">
                  <a16:creationId xmlns:a16="http://schemas.microsoft.com/office/drawing/2014/main" id="{0333E835-D795-0AA9-56F1-D10C338AB8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4" y="1593"/>
              <a:ext cx="15" cy="17"/>
            </a:xfrm>
            <a:custGeom>
              <a:avLst/>
              <a:gdLst>
                <a:gd name="T0" fmla="*/ 0 w 13"/>
                <a:gd name="T1" fmla="*/ 23 h 15"/>
                <a:gd name="T2" fmla="*/ 2 w 13"/>
                <a:gd name="T3" fmla="*/ 2 h 15"/>
                <a:gd name="T4" fmla="*/ 24 w 13"/>
                <a:gd name="T5" fmla="*/ 0 h 15"/>
                <a:gd name="T6" fmla="*/ 42 w 13"/>
                <a:gd name="T7" fmla="*/ 2 h 15"/>
                <a:gd name="T8" fmla="*/ 48 w 13"/>
                <a:gd name="T9" fmla="*/ 23 h 15"/>
                <a:gd name="T10" fmla="*/ 42 w 13"/>
                <a:gd name="T11" fmla="*/ 37 h 15"/>
                <a:gd name="T12" fmla="*/ 24 w 13"/>
                <a:gd name="T13" fmla="*/ 46 h 15"/>
                <a:gd name="T14" fmla="*/ 2 w 13"/>
                <a:gd name="T15" fmla="*/ 37 h 15"/>
                <a:gd name="T16" fmla="*/ 0 w 13"/>
                <a:gd name="T17" fmla="*/ 23 h 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3"/>
                <a:gd name="T28" fmla="*/ 0 h 15"/>
                <a:gd name="T29" fmla="*/ 13 w 13"/>
                <a:gd name="T30" fmla="*/ 15 h 1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3" h="15">
                  <a:moveTo>
                    <a:pt x="0" y="8"/>
                  </a:moveTo>
                  <a:lnTo>
                    <a:pt x="2" y="2"/>
                  </a:lnTo>
                  <a:lnTo>
                    <a:pt x="7" y="0"/>
                  </a:lnTo>
                  <a:lnTo>
                    <a:pt x="11" y="2"/>
                  </a:lnTo>
                  <a:lnTo>
                    <a:pt x="13" y="8"/>
                  </a:lnTo>
                  <a:lnTo>
                    <a:pt x="11" y="12"/>
                  </a:lnTo>
                  <a:lnTo>
                    <a:pt x="7" y="15"/>
                  </a:lnTo>
                  <a:lnTo>
                    <a:pt x="2" y="12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FFFF00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7843" name="Freeform 35">
              <a:extLst>
                <a:ext uri="{FF2B5EF4-FFF2-40B4-BE49-F238E27FC236}">
                  <a16:creationId xmlns:a16="http://schemas.microsoft.com/office/drawing/2014/main" id="{F6886627-0D2E-198E-E2B9-B2865F62B0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4" y="1618"/>
              <a:ext cx="15" cy="16"/>
            </a:xfrm>
            <a:custGeom>
              <a:avLst/>
              <a:gdLst>
                <a:gd name="T0" fmla="*/ 0 w 13"/>
                <a:gd name="T1" fmla="*/ 19 h 14"/>
                <a:gd name="T2" fmla="*/ 2 w 13"/>
                <a:gd name="T3" fmla="*/ 0 h 14"/>
                <a:gd name="T4" fmla="*/ 24 w 13"/>
                <a:gd name="T5" fmla="*/ 0 h 14"/>
                <a:gd name="T6" fmla="*/ 42 w 13"/>
                <a:gd name="T7" fmla="*/ 0 h 14"/>
                <a:gd name="T8" fmla="*/ 48 w 13"/>
                <a:gd name="T9" fmla="*/ 19 h 14"/>
                <a:gd name="T10" fmla="*/ 42 w 13"/>
                <a:gd name="T11" fmla="*/ 40 h 14"/>
                <a:gd name="T12" fmla="*/ 24 w 13"/>
                <a:gd name="T13" fmla="*/ 46 h 14"/>
                <a:gd name="T14" fmla="*/ 2 w 13"/>
                <a:gd name="T15" fmla="*/ 40 h 14"/>
                <a:gd name="T16" fmla="*/ 0 w 13"/>
                <a:gd name="T17" fmla="*/ 19 h 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3"/>
                <a:gd name="T28" fmla="*/ 0 h 14"/>
                <a:gd name="T29" fmla="*/ 13 w 13"/>
                <a:gd name="T30" fmla="*/ 14 h 1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3" h="14">
                  <a:moveTo>
                    <a:pt x="0" y="6"/>
                  </a:moveTo>
                  <a:lnTo>
                    <a:pt x="2" y="0"/>
                  </a:lnTo>
                  <a:lnTo>
                    <a:pt x="7" y="0"/>
                  </a:lnTo>
                  <a:lnTo>
                    <a:pt x="11" y="0"/>
                  </a:lnTo>
                  <a:lnTo>
                    <a:pt x="13" y="6"/>
                  </a:lnTo>
                  <a:lnTo>
                    <a:pt x="11" y="12"/>
                  </a:lnTo>
                  <a:lnTo>
                    <a:pt x="7" y="14"/>
                  </a:lnTo>
                  <a:lnTo>
                    <a:pt x="2" y="12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00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7844" name="Freeform 36">
              <a:extLst>
                <a:ext uri="{FF2B5EF4-FFF2-40B4-BE49-F238E27FC236}">
                  <a16:creationId xmlns:a16="http://schemas.microsoft.com/office/drawing/2014/main" id="{EA00EF16-B894-BBFE-074D-CBD559BAD3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1" y="1593"/>
              <a:ext cx="93" cy="45"/>
            </a:xfrm>
            <a:custGeom>
              <a:avLst/>
              <a:gdLst>
                <a:gd name="T0" fmla="*/ 413 w 77"/>
                <a:gd name="T1" fmla="*/ 25 h 38"/>
                <a:gd name="T2" fmla="*/ 358 w 77"/>
                <a:gd name="T3" fmla="*/ 36 h 38"/>
                <a:gd name="T4" fmla="*/ 345 w 77"/>
                <a:gd name="T5" fmla="*/ 60 h 38"/>
                <a:gd name="T6" fmla="*/ 358 w 77"/>
                <a:gd name="T7" fmla="*/ 89 h 38"/>
                <a:gd name="T8" fmla="*/ 374 w 77"/>
                <a:gd name="T9" fmla="*/ 99 h 38"/>
                <a:gd name="T10" fmla="*/ 419 w 77"/>
                <a:gd name="T11" fmla="*/ 99 h 38"/>
                <a:gd name="T12" fmla="*/ 413 w 77"/>
                <a:gd name="T13" fmla="*/ 124 h 38"/>
                <a:gd name="T14" fmla="*/ 391 w 77"/>
                <a:gd name="T15" fmla="*/ 143 h 38"/>
                <a:gd name="T16" fmla="*/ 345 w 77"/>
                <a:gd name="T17" fmla="*/ 129 h 38"/>
                <a:gd name="T18" fmla="*/ 325 w 77"/>
                <a:gd name="T19" fmla="*/ 117 h 38"/>
                <a:gd name="T20" fmla="*/ 43 w 77"/>
                <a:gd name="T21" fmla="*/ 174 h 38"/>
                <a:gd name="T22" fmla="*/ 2 w 77"/>
                <a:gd name="T23" fmla="*/ 174 h 38"/>
                <a:gd name="T24" fmla="*/ 0 w 77"/>
                <a:gd name="T25" fmla="*/ 150 h 38"/>
                <a:gd name="T26" fmla="*/ 0 w 77"/>
                <a:gd name="T27" fmla="*/ 124 h 38"/>
                <a:gd name="T28" fmla="*/ 21 w 77"/>
                <a:gd name="T29" fmla="*/ 117 h 38"/>
                <a:gd name="T30" fmla="*/ 308 w 77"/>
                <a:gd name="T31" fmla="*/ 46 h 38"/>
                <a:gd name="T32" fmla="*/ 320 w 77"/>
                <a:gd name="T33" fmla="*/ 18 h 38"/>
                <a:gd name="T34" fmla="*/ 345 w 77"/>
                <a:gd name="T35" fmla="*/ 0 h 38"/>
                <a:gd name="T36" fmla="*/ 374 w 77"/>
                <a:gd name="T37" fmla="*/ 2 h 38"/>
                <a:gd name="T38" fmla="*/ 413 w 77"/>
                <a:gd name="T39" fmla="*/ 25 h 3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77"/>
                <a:gd name="T61" fmla="*/ 0 h 38"/>
                <a:gd name="T62" fmla="*/ 77 w 77"/>
                <a:gd name="T63" fmla="*/ 38 h 38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77" h="38">
                  <a:moveTo>
                    <a:pt x="75" y="6"/>
                  </a:moveTo>
                  <a:lnTo>
                    <a:pt x="65" y="8"/>
                  </a:lnTo>
                  <a:lnTo>
                    <a:pt x="63" y="13"/>
                  </a:lnTo>
                  <a:lnTo>
                    <a:pt x="65" y="19"/>
                  </a:lnTo>
                  <a:lnTo>
                    <a:pt x="69" y="21"/>
                  </a:lnTo>
                  <a:lnTo>
                    <a:pt x="77" y="21"/>
                  </a:lnTo>
                  <a:lnTo>
                    <a:pt x="75" y="27"/>
                  </a:lnTo>
                  <a:lnTo>
                    <a:pt x="71" y="31"/>
                  </a:lnTo>
                  <a:lnTo>
                    <a:pt x="63" y="29"/>
                  </a:lnTo>
                  <a:lnTo>
                    <a:pt x="60" y="25"/>
                  </a:lnTo>
                  <a:lnTo>
                    <a:pt x="8" y="38"/>
                  </a:lnTo>
                  <a:lnTo>
                    <a:pt x="2" y="38"/>
                  </a:lnTo>
                  <a:lnTo>
                    <a:pt x="0" y="33"/>
                  </a:lnTo>
                  <a:lnTo>
                    <a:pt x="0" y="27"/>
                  </a:lnTo>
                  <a:lnTo>
                    <a:pt x="4" y="25"/>
                  </a:lnTo>
                  <a:lnTo>
                    <a:pt x="56" y="10"/>
                  </a:lnTo>
                  <a:lnTo>
                    <a:pt x="58" y="4"/>
                  </a:lnTo>
                  <a:lnTo>
                    <a:pt x="63" y="0"/>
                  </a:lnTo>
                  <a:lnTo>
                    <a:pt x="69" y="2"/>
                  </a:lnTo>
                  <a:lnTo>
                    <a:pt x="75" y="6"/>
                  </a:lnTo>
                  <a:close/>
                </a:path>
              </a:pathLst>
            </a:custGeom>
            <a:solidFill>
              <a:srgbClr val="FFFF00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7845" name="Line 37">
              <a:extLst>
                <a:ext uri="{FF2B5EF4-FFF2-40B4-BE49-F238E27FC236}">
                  <a16:creationId xmlns:a16="http://schemas.microsoft.com/office/drawing/2014/main" id="{AD11C965-63CF-893C-B973-1B68117573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7" y="1722"/>
              <a:ext cx="273" cy="1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7846" name="Line 38">
              <a:extLst>
                <a:ext uri="{FF2B5EF4-FFF2-40B4-BE49-F238E27FC236}">
                  <a16:creationId xmlns:a16="http://schemas.microsoft.com/office/drawing/2014/main" id="{9113A0FC-7BDC-E6C3-6C84-DEB0575C58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7" y="1676"/>
              <a:ext cx="273" cy="1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7847" name="Freeform 39">
              <a:extLst>
                <a:ext uri="{FF2B5EF4-FFF2-40B4-BE49-F238E27FC236}">
                  <a16:creationId xmlns:a16="http://schemas.microsoft.com/office/drawing/2014/main" id="{4D3D42E2-DF89-8FE5-E50F-E7DA014296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6" y="1676"/>
              <a:ext cx="45" cy="46"/>
            </a:xfrm>
            <a:custGeom>
              <a:avLst/>
              <a:gdLst>
                <a:gd name="T0" fmla="*/ 0 w 37"/>
                <a:gd name="T1" fmla="*/ 74 h 40"/>
                <a:gd name="T2" fmla="*/ 2 w 37"/>
                <a:gd name="T3" fmla="*/ 37 h 40"/>
                <a:gd name="T4" fmla="*/ 60 w 37"/>
                <a:gd name="T5" fmla="*/ 16 h 40"/>
                <a:gd name="T6" fmla="*/ 102 w 37"/>
                <a:gd name="T7" fmla="*/ 0 h 40"/>
                <a:gd name="T8" fmla="*/ 159 w 37"/>
                <a:gd name="T9" fmla="*/ 16 h 40"/>
                <a:gd name="T10" fmla="*/ 193 w 37"/>
                <a:gd name="T11" fmla="*/ 37 h 40"/>
                <a:gd name="T12" fmla="*/ 216 w 37"/>
                <a:gd name="T13" fmla="*/ 74 h 40"/>
                <a:gd name="T14" fmla="*/ 193 w 37"/>
                <a:gd name="T15" fmla="*/ 108 h 40"/>
                <a:gd name="T16" fmla="*/ 159 w 37"/>
                <a:gd name="T17" fmla="*/ 136 h 40"/>
                <a:gd name="T18" fmla="*/ 102 w 37"/>
                <a:gd name="T19" fmla="*/ 141 h 40"/>
                <a:gd name="T20" fmla="*/ 60 w 37"/>
                <a:gd name="T21" fmla="*/ 136 h 40"/>
                <a:gd name="T22" fmla="*/ 2 w 37"/>
                <a:gd name="T23" fmla="*/ 108 h 40"/>
                <a:gd name="T24" fmla="*/ 0 w 37"/>
                <a:gd name="T25" fmla="*/ 74 h 4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7"/>
                <a:gd name="T40" fmla="*/ 0 h 40"/>
                <a:gd name="T41" fmla="*/ 37 w 37"/>
                <a:gd name="T42" fmla="*/ 40 h 4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7" h="40">
                  <a:moveTo>
                    <a:pt x="0" y="21"/>
                  </a:moveTo>
                  <a:lnTo>
                    <a:pt x="2" y="10"/>
                  </a:lnTo>
                  <a:lnTo>
                    <a:pt x="10" y="4"/>
                  </a:lnTo>
                  <a:lnTo>
                    <a:pt x="17" y="0"/>
                  </a:lnTo>
                  <a:lnTo>
                    <a:pt x="27" y="4"/>
                  </a:lnTo>
                  <a:lnTo>
                    <a:pt x="33" y="10"/>
                  </a:lnTo>
                  <a:lnTo>
                    <a:pt x="37" y="21"/>
                  </a:lnTo>
                  <a:lnTo>
                    <a:pt x="33" y="31"/>
                  </a:lnTo>
                  <a:lnTo>
                    <a:pt x="27" y="38"/>
                  </a:lnTo>
                  <a:lnTo>
                    <a:pt x="17" y="40"/>
                  </a:lnTo>
                  <a:lnTo>
                    <a:pt x="10" y="38"/>
                  </a:lnTo>
                  <a:lnTo>
                    <a:pt x="2" y="31"/>
                  </a:lnTo>
                  <a:lnTo>
                    <a:pt x="0" y="21"/>
                  </a:lnTo>
                  <a:close/>
                </a:path>
              </a:pathLst>
            </a:custGeom>
            <a:solidFill>
              <a:srgbClr val="FFFF00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7848" name="Rectangle 40">
              <a:extLst>
                <a:ext uri="{FF2B5EF4-FFF2-40B4-BE49-F238E27FC236}">
                  <a16:creationId xmlns:a16="http://schemas.microsoft.com/office/drawing/2014/main" id="{9F8B5B39-0CD7-348F-97DF-E85DE26D43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8" y="1688"/>
              <a:ext cx="21" cy="17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pt-BR" altLang="pt-BR" sz="2000"/>
            </a:p>
          </p:txBody>
        </p:sp>
        <p:sp>
          <p:nvSpPr>
            <p:cNvPr id="77849" name="Freeform 41">
              <a:extLst>
                <a:ext uri="{FF2B5EF4-FFF2-40B4-BE49-F238E27FC236}">
                  <a16:creationId xmlns:a16="http://schemas.microsoft.com/office/drawing/2014/main" id="{65271D90-A34C-DF8F-160F-153D42D6A8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3" y="1693"/>
              <a:ext cx="9" cy="12"/>
            </a:xfrm>
            <a:custGeom>
              <a:avLst/>
              <a:gdLst>
                <a:gd name="T0" fmla="*/ 0 w 7"/>
                <a:gd name="T1" fmla="*/ 29 h 10"/>
                <a:gd name="T2" fmla="*/ 22 w 7"/>
                <a:gd name="T3" fmla="*/ 0 h 10"/>
                <a:gd name="T4" fmla="*/ 66 w 7"/>
                <a:gd name="T5" fmla="*/ 0 h 10"/>
                <a:gd name="T6" fmla="*/ 66 w 7"/>
                <a:gd name="T7" fmla="*/ 29 h 10"/>
                <a:gd name="T8" fmla="*/ 66 w 7"/>
                <a:gd name="T9" fmla="*/ 50 h 10"/>
                <a:gd name="T10" fmla="*/ 22 w 7"/>
                <a:gd name="T11" fmla="*/ 50 h 10"/>
                <a:gd name="T12" fmla="*/ 0 w 7"/>
                <a:gd name="T13" fmla="*/ 29 h 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"/>
                <a:gd name="T22" fmla="*/ 0 h 10"/>
                <a:gd name="T23" fmla="*/ 7 w 7"/>
                <a:gd name="T24" fmla="*/ 10 h 1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" h="10">
                  <a:moveTo>
                    <a:pt x="0" y="6"/>
                  </a:moveTo>
                  <a:lnTo>
                    <a:pt x="2" y="0"/>
                  </a:lnTo>
                  <a:lnTo>
                    <a:pt x="7" y="0"/>
                  </a:lnTo>
                  <a:lnTo>
                    <a:pt x="7" y="6"/>
                  </a:lnTo>
                  <a:lnTo>
                    <a:pt x="7" y="10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00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7850" name="Freeform 42">
              <a:extLst>
                <a:ext uri="{FF2B5EF4-FFF2-40B4-BE49-F238E27FC236}">
                  <a16:creationId xmlns:a16="http://schemas.microsoft.com/office/drawing/2014/main" id="{F6DDC006-8A98-06D7-35FB-6E9283D13D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7" y="1676"/>
              <a:ext cx="43" cy="46"/>
            </a:xfrm>
            <a:custGeom>
              <a:avLst/>
              <a:gdLst>
                <a:gd name="T0" fmla="*/ 0 w 36"/>
                <a:gd name="T1" fmla="*/ 74 h 40"/>
                <a:gd name="T2" fmla="*/ 20 w 36"/>
                <a:gd name="T3" fmla="*/ 37 h 40"/>
                <a:gd name="T4" fmla="*/ 54 w 36"/>
                <a:gd name="T5" fmla="*/ 16 h 40"/>
                <a:gd name="T6" fmla="*/ 93 w 36"/>
                <a:gd name="T7" fmla="*/ 0 h 40"/>
                <a:gd name="T8" fmla="*/ 147 w 36"/>
                <a:gd name="T9" fmla="*/ 16 h 40"/>
                <a:gd name="T10" fmla="*/ 170 w 36"/>
                <a:gd name="T11" fmla="*/ 37 h 40"/>
                <a:gd name="T12" fmla="*/ 177 w 36"/>
                <a:gd name="T13" fmla="*/ 74 h 40"/>
                <a:gd name="T14" fmla="*/ 170 w 36"/>
                <a:gd name="T15" fmla="*/ 108 h 40"/>
                <a:gd name="T16" fmla="*/ 147 w 36"/>
                <a:gd name="T17" fmla="*/ 136 h 40"/>
                <a:gd name="T18" fmla="*/ 93 w 36"/>
                <a:gd name="T19" fmla="*/ 141 h 40"/>
                <a:gd name="T20" fmla="*/ 54 w 36"/>
                <a:gd name="T21" fmla="*/ 136 h 40"/>
                <a:gd name="T22" fmla="*/ 20 w 36"/>
                <a:gd name="T23" fmla="*/ 108 h 40"/>
                <a:gd name="T24" fmla="*/ 0 w 36"/>
                <a:gd name="T25" fmla="*/ 74 h 4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6"/>
                <a:gd name="T40" fmla="*/ 0 h 40"/>
                <a:gd name="T41" fmla="*/ 36 w 36"/>
                <a:gd name="T42" fmla="*/ 40 h 4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6" h="40">
                  <a:moveTo>
                    <a:pt x="0" y="21"/>
                  </a:moveTo>
                  <a:lnTo>
                    <a:pt x="4" y="10"/>
                  </a:lnTo>
                  <a:lnTo>
                    <a:pt x="11" y="4"/>
                  </a:lnTo>
                  <a:lnTo>
                    <a:pt x="19" y="0"/>
                  </a:lnTo>
                  <a:lnTo>
                    <a:pt x="29" y="4"/>
                  </a:lnTo>
                  <a:lnTo>
                    <a:pt x="34" y="10"/>
                  </a:lnTo>
                  <a:lnTo>
                    <a:pt x="36" y="21"/>
                  </a:lnTo>
                  <a:lnTo>
                    <a:pt x="34" y="31"/>
                  </a:lnTo>
                  <a:lnTo>
                    <a:pt x="29" y="38"/>
                  </a:lnTo>
                  <a:lnTo>
                    <a:pt x="19" y="40"/>
                  </a:lnTo>
                  <a:lnTo>
                    <a:pt x="11" y="38"/>
                  </a:lnTo>
                  <a:lnTo>
                    <a:pt x="4" y="31"/>
                  </a:lnTo>
                  <a:lnTo>
                    <a:pt x="0" y="21"/>
                  </a:lnTo>
                  <a:close/>
                </a:path>
              </a:pathLst>
            </a:custGeom>
            <a:solidFill>
              <a:srgbClr val="FFFF00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7851" name="Rectangle 43">
              <a:extLst>
                <a:ext uri="{FF2B5EF4-FFF2-40B4-BE49-F238E27FC236}">
                  <a16:creationId xmlns:a16="http://schemas.microsoft.com/office/drawing/2014/main" id="{88566C6D-E696-DD42-9D0A-91BC0F4023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0" y="1688"/>
              <a:ext cx="22" cy="17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pt-BR" altLang="pt-BR" sz="2000"/>
            </a:p>
          </p:txBody>
        </p:sp>
        <p:sp>
          <p:nvSpPr>
            <p:cNvPr id="77852" name="Freeform 44">
              <a:extLst>
                <a:ext uri="{FF2B5EF4-FFF2-40B4-BE49-F238E27FC236}">
                  <a16:creationId xmlns:a16="http://schemas.microsoft.com/office/drawing/2014/main" id="{5282489D-5D08-8EA2-6994-236CA31308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5" y="1693"/>
              <a:ext cx="10" cy="12"/>
            </a:xfrm>
            <a:custGeom>
              <a:avLst/>
              <a:gdLst>
                <a:gd name="T0" fmla="*/ 0 w 8"/>
                <a:gd name="T1" fmla="*/ 29 h 10"/>
                <a:gd name="T2" fmla="*/ 18 w 8"/>
                <a:gd name="T3" fmla="*/ 0 h 10"/>
                <a:gd name="T4" fmla="*/ 41 w 8"/>
                <a:gd name="T5" fmla="*/ 0 h 10"/>
                <a:gd name="T6" fmla="*/ 60 w 8"/>
                <a:gd name="T7" fmla="*/ 29 h 10"/>
                <a:gd name="T8" fmla="*/ 41 w 8"/>
                <a:gd name="T9" fmla="*/ 50 h 10"/>
                <a:gd name="T10" fmla="*/ 18 w 8"/>
                <a:gd name="T11" fmla="*/ 50 h 10"/>
                <a:gd name="T12" fmla="*/ 0 w 8"/>
                <a:gd name="T13" fmla="*/ 29 h 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10"/>
                <a:gd name="T23" fmla="*/ 8 w 8"/>
                <a:gd name="T24" fmla="*/ 10 h 1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10">
                  <a:moveTo>
                    <a:pt x="0" y="6"/>
                  </a:moveTo>
                  <a:lnTo>
                    <a:pt x="2" y="0"/>
                  </a:lnTo>
                  <a:lnTo>
                    <a:pt x="6" y="0"/>
                  </a:lnTo>
                  <a:lnTo>
                    <a:pt x="8" y="6"/>
                  </a:lnTo>
                  <a:lnTo>
                    <a:pt x="6" y="10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00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7853" name="Rectangle 45">
              <a:extLst>
                <a:ext uri="{FF2B5EF4-FFF2-40B4-BE49-F238E27FC236}">
                  <a16:creationId xmlns:a16="http://schemas.microsoft.com/office/drawing/2014/main" id="{9161838A-431C-1731-BBE0-6F9DACE86E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2" y="1900"/>
              <a:ext cx="24" cy="115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pt-BR" sz="12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en-US" altLang="pt-BR" sz="2400">
                <a:latin typeface="Times New Roman" panose="02020603050405020304" pitchFamily="18" charset="0"/>
              </a:endParaRPr>
            </a:p>
          </p:txBody>
        </p:sp>
        <p:sp>
          <p:nvSpPr>
            <p:cNvPr id="77854" name="Freeform 46">
              <a:extLst>
                <a:ext uri="{FF2B5EF4-FFF2-40B4-BE49-F238E27FC236}">
                  <a16:creationId xmlns:a16="http://schemas.microsoft.com/office/drawing/2014/main" id="{2B351A07-9048-CE37-3952-C7B356435D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5" y="2129"/>
              <a:ext cx="139" cy="150"/>
            </a:xfrm>
            <a:custGeom>
              <a:avLst/>
              <a:gdLst>
                <a:gd name="T0" fmla="*/ 52 w 137"/>
                <a:gd name="T1" fmla="*/ 368 h 134"/>
                <a:gd name="T2" fmla="*/ 155 w 137"/>
                <a:gd name="T3" fmla="*/ 235 h 134"/>
                <a:gd name="T4" fmla="*/ 105 w 137"/>
                <a:gd name="T5" fmla="*/ 0 h 134"/>
                <a:gd name="T6" fmla="*/ 0 w 137"/>
                <a:gd name="T7" fmla="*/ 132 h 134"/>
                <a:gd name="T8" fmla="*/ 52 w 137"/>
                <a:gd name="T9" fmla="*/ 368 h 1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7"/>
                <a:gd name="T16" fmla="*/ 0 h 134"/>
                <a:gd name="T17" fmla="*/ 137 w 137"/>
                <a:gd name="T18" fmla="*/ 134 h 1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7" h="134">
                  <a:moveTo>
                    <a:pt x="43" y="134"/>
                  </a:moveTo>
                  <a:lnTo>
                    <a:pt x="137" y="86"/>
                  </a:lnTo>
                  <a:lnTo>
                    <a:pt x="95" y="0"/>
                  </a:lnTo>
                  <a:lnTo>
                    <a:pt x="0" y="48"/>
                  </a:lnTo>
                  <a:lnTo>
                    <a:pt x="43" y="134"/>
                  </a:lnTo>
                  <a:close/>
                </a:path>
              </a:pathLst>
            </a:custGeom>
            <a:solidFill>
              <a:schemeClr val="bg2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7855" name="Freeform 47">
              <a:extLst>
                <a:ext uri="{FF2B5EF4-FFF2-40B4-BE49-F238E27FC236}">
                  <a16:creationId xmlns:a16="http://schemas.microsoft.com/office/drawing/2014/main" id="{7D0BE2A4-41B5-48E8-8757-7E4249E02C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9" y="2316"/>
              <a:ext cx="128" cy="163"/>
            </a:xfrm>
            <a:custGeom>
              <a:avLst/>
              <a:gdLst>
                <a:gd name="T0" fmla="*/ 107 w 127"/>
                <a:gd name="T1" fmla="*/ 0 h 146"/>
                <a:gd name="T2" fmla="*/ 46 w 127"/>
                <a:gd name="T3" fmla="*/ 296 h 146"/>
                <a:gd name="T4" fmla="*/ 0 w 127"/>
                <a:gd name="T5" fmla="*/ 296 h 146"/>
                <a:gd name="T6" fmla="*/ 0 w 127"/>
                <a:gd name="T7" fmla="*/ 393 h 146"/>
                <a:gd name="T8" fmla="*/ 86 w 127"/>
                <a:gd name="T9" fmla="*/ 387 h 146"/>
                <a:gd name="T10" fmla="*/ 136 w 127"/>
                <a:gd name="T11" fmla="*/ 88 h 146"/>
                <a:gd name="T12" fmla="*/ 107 w 127"/>
                <a:gd name="T13" fmla="*/ 0 h 1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7"/>
                <a:gd name="T22" fmla="*/ 0 h 146"/>
                <a:gd name="T23" fmla="*/ 127 w 127"/>
                <a:gd name="T24" fmla="*/ 146 h 14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7" h="146">
                  <a:moveTo>
                    <a:pt x="98" y="0"/>
                  </a:moveTo>
                  <a:lnTo>
                    <a:pt x="46" y="109"/>
                  </a:lnTo>
                  <a:lnTo>
                    <a:pt x="0" y="109"/>
                  </a:lnTo>
                  <a:lnTo>
                    <a:pt x="0" y="146"/>
                  </a:lnTo>
                  <a:lnTo>
                    <a:pt x="77" y="144"/>
                  </a:lnTo>
                  <a:lnTo>
                    <a:pt x="127" y="33"/>
                  </a:lnTo>
                  <a:lnTo>
                    <a:pt x="98" y="0"/>
                  </a:lnTo>
                  <a:close/>
                </a:path>
              </a:pathLst>
            </a:custGeom>
            <a:solidFill>
              <a:schemeClr val="bg2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7856" name="Freeform 48">
              <a:extLst>
                <a:ext uri="{FF2B5EF4-FFF2-40B4-BE49-F238E27FC236}">
                  <a16:creationId xmlns:a16="http://schemas.microsoft.com/office/drawing/2014/main" id="{6E30D145-B439-2EBD-F58D-415278D78C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9" y="2155"/>
              <a:ext cx="222" cy="350"/>
            </a:xfrm>
            <a:custGeom>
              <a:avLst/>
              <a:gdLst>
                <a:gd name="T0" fmla="*/ 0 w 219"/>
                <a:gd name="T1" fmla="*/ 375 h 313"/>
                <a:gd name="T2" fmla="*/ 124 w 219"/>
                <a:gd name="T3" fmla="*/ 690 h 313"/>
                <a:gd name="T4" fmla="*/ 128 w 219"/>
                <a:gd name="T5" fmla="*/ 855 h 313"/>
                <a:gd name="T6" fmla="*/ 170 w 219"/>
                <a:gd name="T7" fmla="*/ 855 h 313"/>
                <a:gd name="T8" fmla="*/ 168 w 219"/>
                <a:gd name="T9" fmla="*/ 649 h 313"/>
                <a:gd name="T10" fmla="*/ 92 w 219"/>
                <a:gd name="T11" fmla="*/ 446 h 313"/>
                <a:gd name="T12" fmla="*/ 137 w 219"/>
                <a:gd name="T13" fmla="*/ 275 h 313"/>
                <a:gd name="T14" fmla="*/ 158 w 219"/>
                <a:gd name="T15" fmla="*/ 275 h 313"/>
                <a:gd name="T16" fmla="*/ 246 w 219"/>
                <a:gd name="T17" fmla="*/ 182 h 313"/>
                <a:gd name="T18" fmla="*/ 234 w 219"/>
                <a:gd name="T19" fmla="*/ 120 h 313"/>
                <a:gd name="T20" fmla="*/ 174 w 219"/>
                <a:gd name="T21" fmla="*/ 180 h 313"/>
                <a:gd name="T22" fmla="*/ 137 w 219"/>
                <a:gd name="T23" fmla="*/ 21 h 313"/>
                <a:gd name="T24" fmla="*/ 88 w 219"/>
                <a:gd name="T25" fmla="*/ 0 h 313"/>
                <a:gd name="T26" fmla="*/ 0 w 219"/>
                <a:gd name="T27" fmla="*/ 375 h 3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19"/>
                <a:gd name="T43" fmla="*/ 0 h 313"/>
                <a:gd name="T44" fmla="*/ 219 w 219"/>
                <a:gd name="T45" fmla="*/ 313 h 313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19" h="313">
                  <a:moveTo>
                    <a:pt x="0" y="138"/>
                  </a:moveTo>
                  <a:lnTo>
                    <a:pt x="108" y="253"/>
                  </a:lnTo>
                  <a:lnTo>
                    <a:pt x="110" y="313"/>
                  </a:lnTo>
                  <a:lnTo>
                    <a:pt x="152" y="313"/>
                  </a:lnTo>
                  <a:lnTo>
                    <a:pt x="150" y="238"/>
                  </a:lnTo>
                  <a:lnTo>
                    <a:pt x="83" y="163"/>
                  </a:lnTo>
                  <a:lnTo>
                    <a:pt x="119" y="100"/>
                  </a:lnTo>
                  <a:lnTo>
                    <a:pt x="140" y="100"/>
                  </a:lnTo>
                  <a:lnTo>
                    <a:pt x="219" y="67"/>
                  </a:lnTo>
                  <a:lnTo>
                    <a:pt x="207" y="44"/>
                  </a:lnTo>
                  <a:lnTo>
                    <a:pt x="156" y="65"/>
                  </a:lnTo>
                  <a:lnTo>
                    <a:pt x="119" y="8"/>
                  </a:lnTo>
                  <a:lnTo>
                    <a:pt x="79" y="0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chemeClr val="bg2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7857" name="Freeform 49">
              <a:extLst>
                <a:ext uri="{FF2B5EF4-FFF2-40B4-BE49-F238E27FC236}">
                  <a16:creationId xmlns:a16="http://schemas.microsoft.com/office/drawing/2014/main" id="{2E5C27AA-C833-3B83-8716-7CC87C9B80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5" y="2092"/>
              <a:ext cx="74" cy="81"/>
            </a:xfrm>
            <a:custGeom>
              <a:avLst/>
              <a:gdLst>
                <a:gd name="T0" fmla="*/ 0 w 73"/>
                <a:gd name="T1" fmla="*/ 92 h 73"/>
                <a:gd name="T2" fmla="*/ 4 w 73"/>
                <a:gd name="T3" fmla="*/ 60 h 73"/>
                <a:gd name="T4" fmla="*/ 12 w 73"/>
                <a:gd name="T5" fmla="*/ 30 h 73"/>
                <a:gd name="T6" fmla="*/ 23 w 73"/>
                <a:gd name="T7" fmla="*/ 4 h 73"/>
                <a:gd name="T8" fmla="*/ 46 w 73"/>
                <a:gd name="T9" fmla="*/ 0 h 73"/>
                <a:gd name="T10" fmla="*/ 59 w 73"/>
                <a:gd name="T11" fmla="*/ 4 h 73"/>
                <a:gd name="T12" fmla="*/ 71 w 73"/>
                <a:gd name="T13" fmla="*/ 30 h 73"/>
                <a:gd name="T14" fmla="*/ 78 w 73"/>
                <a:gd name="T15" fmla="*/ 60 h 73"/>
                <a:gd name="T16" fmla="*/ 82 w 73"/>
                <a:gd name="T17" fmla="*/ 92 h 73"/>
                <a:gd name="T18" fmla="*/ 78 w 73"/>
                <a:gd name="T19" fmla="*/ 134 h 73"/>
                <a:gd name="T20" fmla="*/ 71 w 73"/>
                <a:gd name="T21" fmla="*/ 158 h 73"/>
                <a:gd name="T22" fmla="*/ 59 w 73"/>
                <a:gd name="T23" fmla="*/ 183 h 73"/>
                <a:gd name="T24" fmla="*/ 46 w 73"/>
                <a:gd name="T25" fmla="*/ 186 h 73"/>
                <a:gd name="T26" fmla="*/ 23 w 73"/>
                <a:gd name="T27" fmla="*/ 183 h 73"/>
                <a:gd name="T28" fmla="*/ 12 w 73"/>
                <a:gd name="T29" fmla="*/ 158 h 73"/>
                <a:gd name="T30" fmla="*/ 4 w 73"/>
                <a:gd name="T31" fmla="*/ 134 h 73"/>
                <a:gd name="T32" fmla="*/ 0 w 73"/>
                <a:gd name="T33" fmla="*/ 92 h 7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73"/>
                <a:gd name="T52" fmla="*/ 0 h 73"/>
                <a:gd name="T53" fmla="*/ 73 w 73"/>
                <a:gd name="T54" fmla="*/ 73 h 7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73" h="73">
                  <a:moveTo>
                    <a:pt x="0" y="37"/>
                  </a:moveTo>
                  <a:lnTo>
                    <a:pt x="4" y="23"/>
                  </a:lnTo>
                  <a:lnTo>
                    <a:pt x="12" y="12"/>
                  </a:lnTo>
                  <a:lnTo>
                    <a:pt x="23" y="4"/>
                  </a:lnTo>
                  <a:lnTo>
                    <a:pt x="37" y="0"/>
                  </a:lnTo>
                  <a:lnTo>
                    <a:pt x="50" y="4"/>
                  </a:lnTo>
                  <a:lnTo>
                    <a:pt x="62" y="12"/>
                  </a:lnTo>
                  <a:lnTo>
                    <a:pt x="69" y="23"/>
                  </a:lnTo>
                  <a:lnTo>
                    <a:pt x="73" y="37"/>
                  </a:lnTo>
                  <a:lnTo>
                    <a:pt x="69" y="52"/>
                  </a:lnTo>
                  <a:lnTo>
                    <a:pt x="62" y="62"/>
                  </a:lnTo>
                  <a:lnTo>
                    <a:pt x="50" y="71"/>
                  </a:lnTo>
                  <a:lnTo>
                    <a:pt x="37" y="73"/>
                  </a:lnTo>
                  <a:lnTo>
                    <a:pt x="23" y="71"/>
                  </a:lnTo>
                  <a:lnTo>
                    <a:pt x="12" y="62"/>
                  </a:lnTo>
                  <a:lnTo>
                    <a:pt x="4" y="52"/>
                  </a:lnTo>
                  <a:lnTo>
                    <a:pt x="0" y="37"/>
                  </a:lnTo>
                  <a:close/>
                </a:path>
              </a:pathLst>
            </a:custGeom>
            <a:solidFill>
              <a:schemeClr val="bg2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</p:grpSp>
      <p:pic>
        <p:nvPicPr>
          <p:cNvPr id="169010" name="Picture 50">
            <a:extLst>
              <a:ext uri="{FF2B5EF4-FFF2-40B4-BE49-F238E27FC236}">
                <a16:creationId xmlns:a16="http://schemas.microsoft.com/office/drawing/2014/main" id="{45E931FC-68B0-CDDD-0262-0CFFB8D2DE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4437063"/>
            <a:ext cx="1428750" cy="135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011" name="Picture 51">
            <a:extLst>
              <a:ext uri="{FF2B5EF4-FFF2-40B4-BE49-F238E27FC236}">
                <a16:creationId xmlns:a16="http://schemas.microsoft.com/office/drawing/2014/main" id="{1BFD93E1-2364-DEB3-B7A7-201BAC8AD0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838" y="4365625"/>
            <a:ext cx="1733550" cy="1052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4" name="Text Box 52">
            <a:extLst>
              <a:ext uri="{FF2B5EF4-FFF2-40B4-BE49-F238E27FC236}">
                <a16:creationId xmlns:a16="http://schemas.microsoft.com/office/drawing/2014/main" id="{730D1E8A-C07C-2EB3-07E1-6707FB68D2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788" y="3092450"/>
            <a:ext cx="19685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pt-BR" altLang="pt-BR" sz="1600">
                <a:solidFill>
                  <a:srgbClr val="006699"/>
                </a:solidFill>
                <a:latin typeface="Verdana" panose="020B0604030504040204" pitchFamily="34" charset="0"/>
              </a:rPr>
              <a:t>Projetistas</a:t>
            </a:r>
          </a:p>
        </p:txBody>
      </p:sp>
      <p:sp>
        <p:nvSpPr>
          <p:cNvPr id="169013" name="Rectangle 53">
            <a:extLst>
              <a:ext uri="{FF2B5EF4-FFF2-40B4-BE49-F238E27FC236}">
                <a16:creationId xmlns:a16="http://schemas.microsoft.com/office/drawing/2014/main" id="{45DDB11C-595D-57B0-F617-9346471DC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  <p:sp>
        <p:nvSpPr>
          <p:cNvPr id="77836" name="Text Box 55">
            <a:extLst>
              <a:ext uri="{FF2B5EF4-FFF2-40B4-BE49-F238E27FC236}">
                <a16:creationId xmlns:a16="http://schemas.microsoft.com/office/drawing/2014/main" id="{D90415C9-8D84-5046-9522-C9BF676CE3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pt-BR" altLang="pt-BR" sz="1600" i="1">
                <a:solidFill>
                  <a:srgbClr val="B40000"/>
                </a:solidFill>
                <a:latin typeface="Verdana" panose="020B0604030504040204" pitchFamily="34" charset="0"/>
              </a:rPr>
              <a:t>PI / Identif. Req. dos Clientes / Coletar Necessidades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972" grpId="0"/>
      <p:bldP spid="16901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724" name="Picture 4" descr="Técnicas e conhecimentos utilizados na etapa de Imersão do Design Thinking. Fonte: Sleeswijkvisser et al., 2005.">
            <a:extLst>
              <a:ext uri="{FF2B5EF4-FFF2-40B4-BE49-F238E27FC236}">
                <a16:creationId xmlns:a16="http://schemas.microsoft.com/office/drawing/2014/main" id="{4E575D9E-D428-D92B-EB59-BB2F484FE3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926" y="1416316"/>
            <a:ext cx="8746148" cy="4025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F8ECD0A4-EB5F-06CA-BAC9-6AC0C6BE5D07}"/>
              </a:ext>
            </a:extLst>
          </p:cNvPr>
          <p:cNvSpPr txBox="1"/>
          <p:nvPr/>
        </p:nvSpPr>
        <p:spPr>
          <a:xfrm>
            <a:off x="2286000" y="5543018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i="1" dirty="0">
                <a:solidFill>
                  <a:srgbClr val="515151"/>
                </a:solidFill>
                <a:effectLst/>
                <a:latin typeface="Georgia" panose="02040502050405020303" pitchFamily="18" charset="0"/>
              </a:rPr>
              <a:t>Fonte: </a:t>
            </a:r>
            <a:r>
              <a:rPr lang="pt-BR" b="0" i="1" dirty="0" err="1">
                <a:solidFill>
                  <a:srgbClr val="515151"/>
                </a:solidFill>
                <a:effectLst/>
                <a:latin typeface="Georgia" panose="02040502050405020303" pitchFamily="18" charset="0"/>
              </a:rPr>
              <a:t>Sleeswijkvisser</a:t>
            </a:r>
            <a:r>
              <a:rPr lang="pt-BR" b="0" i="1" dirty="0">
                <a:solidFill>
                  <a:srgbClr val="515151"/>
                </a:solidFill>
                <a:effectLst/>
                <a:latin typeface="Georgia" panose="02040502050405020303" pitchFamily="18" charset="0"/>
              </a:rPr>
              <a:t> et al., 2005.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223582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>
            <a:extLst>
              <a:ext uri="{FF2B5EF4-FFF2-40B4-BE49-F238E27FC236}">
                <a16:creationId xmlns:a16="http://schemas.microsoft.com/office/drawing/2014/main" id="{5B36C582-8FA8-EC81-94B9-E1429051CC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3538" y="10874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pt-BR" sz="3200"/>
              <a:t>Técnicas de Pesquisa para o Levantamento de Informações</a:t>
            </a:r>
            <a:endParaRPr lang="pt-BR" altLang="pt-BR" sz="3200"/>
          </a:p>
        </p:txBody>
      </p:sp>
      <p:sp>
        <p:nvSpPr>
          <p:cNvPr id="172037" name="Rectangle 5">
            <a:extLst>
              <a:ext uri="{FF2B5EF4-FFF2-40B4-BE49-F238E27FC236}">
                <a16:creationId xmlns:a16="http://schemas.microsoft.com/office/drawing/2014/main" id="{99A78253-ADCB-1BF1-FD41-A1D18ED6EC5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9125" y="3313113"/>
            <a:ext cx="4038600" cy="1747837"/>
          </a:xfrm>
        </p:spPr>
        <p:txBody>
          <a:bodyPr/>
          <a:lstStyle/>
          <a:p>
            <a:pPr eaLnBrk="1" hangingPunct="1"/>
            <a:r>
              <a:rPr lang="pt-BR" altLang="pt-BR" sz="2000"/>
              <a:t>Observações diretas.</a:t>
            </a:r>
          </a:p>
          <a:p>
            <a:pPr eaLnBrk="1" hangingPunct="1"/>
            <a:r>
              <a:rPr lang="pt-BR" altLang="pt-BR" sz="2000"/>
              <a:t>Entrevistas.</a:t>
            </a:r>
          </a:p>
          <a:p>
            <a:pPr eaLnBrk="1" hangingPunct="1"/>
            <a:r>
              <a:rPr lang="pt-BR" altLang="pt-BR" sz="2000"/>
              <a:t>Questionários.</a:t>
            </a:r>
          </a:p>
          <a:p>
            <a:pPr eaLnBrk="1" hangingPunct="1"/>
            <a:r>
              <a:rPr lang="pt-BR" altLang="pt-BR" sz="2000"/>
              <a:t>Grupos Focais.</a:t>
            </a:r>
          </a:p>
        </p:txBody>
      </p:sp>
      <p:sp>
        <p:nvSpPr>
          <p:cNvPr id="172040" name="Rectangle 8">
            <a:extLst>
              <a:ext uri="{FF2B5EF4-FFF2-40B4-BE49-F238E27FC236}">
                <a16:creationId xmlns:a16="http://schemas.microsoft.com/office/drawing/2014/main" id="{B53AE1F7-BF01-0EF1-134B-66C8C4AAA9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  <p:pic>
        <p:nvPicPr>
          <p:cNvPr id="172041" name="Picture 9" descr="MCj02173280000[1]">
            <a:extLst>
              <a:ext uri="{FF2B5EF4-FFF2-40B4-BE49-F238E27FC236}">
                <a16:creationId xmlns:a16="http://schemas.microsoft.com/office/drawing/2014/main" id="{B373F731-0706-BA3F-6EC7-C231DBD3CEA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64163" y="2817813"/>
            <a:ext cx="3043237" cy="3084512"/>
          </a:xfrm>
        </p:spPr>
      </p:pic>
      <p:sp>
        <p:nvSpPr>
          <p:cNvPr id="81925" name="Text Box 10">
            <a:extLst>
              <a:ext uri="{FF2B5EF4-FFF2-40B4-BE49-F238E27FC236}">
                <a16:creationId xmlns:a16="http://schemas.microsoft.com/office/drawing/2014/main" id="{2BD37155-29BC-1855-37BB-ACA8C3C4F2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pt-BR" altLang="pt-BR" sz="1600" i="1">
                <a:solidFill>
                  <a:srgbClr val="B40000"/>
                </a:solidFill>
                <a:latin typeface="Verdana" panose="020B0604030504040204" pitchFamily="34" charset="0"/>
              </a:rPr>
              <a:t>PI / Identif. Req. dos Clientes / Coletar Necessidades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CEB6EFD-510F-8389-2CB6-0F13EE9B6B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288" y="204788"/>
            <a:ext cx="7645400" cy="706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sz="2800" b="1" kern="0">
                <a:solidFill>
                  <a:srgbClr val="000096"/>
                </a:solidFill>
                <a:latin typeface="+mj-lt"/>
                <a:ea typeface="+mj-ea"/>
                <a:cs typeface="+mj-cs"/>
              </a:rPr>
              <a:t>4. COMO DESCOBRIR AS NECESSIDADES</a:t>
            </a:r>
            <a:endParaRPr lang="pt-BR" sz="2800" b="1" kern="0" dirty="0">
              <a:solidFill>
                <a:srgbClr val="000096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40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>
            <a:extLst>
              <a:ext uri="{FF2B5EF4-FFF2-40B4-BE49-F238E27FC236}">
                <a16:creationId xmlns:a16="http://schemas.microsoft.com/office/drawing/2014/main" id="{8E00F459-BA02-2410-7FCD-AFEBBFA95F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3538" y="81915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pt-BR" sz="2800"/>
              <a:t>OBSERVAÇÕES DIRETAS</a:t>
            </a:r>
            <a:endParaRPr lang="pt-BR" altLang="pt-BR" sz="2800"/>
          </a:p>
        </p:txBody>
      </p:sp>
      <p:sp>
        <p:nvSpPr>
          <p:cNvPr id="173064" name="Rectangle 8">
            <a:extLst>
              <a:ext uri="{FF2B5EF4-FFF2-40B4-BE49-F238E27FC236}">
                <a16:creationId xmlns:a16="http://schemas.microsoft.com/office/drawing/2014/main" id="{18F2CF52-FCE7-1228-22CE-81E441B07EA1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494213" y="2241550"/>
            <a:ext cx="4038600" cy="2771775"/>
          </a:xfrm>
        </p:spPr>
        <p:txBody>
          <a:bodyPr/>
          <a:lstStyle/>
          <a:p>
            <a:pPr eaLnBrk="1" hangingPunct="1"/>
            <a:r>
              <a:rPr lang="pt-BR" altLang="pt-BR" sz="2400"/>
              <a:t>Possibilita </a:t>
            </a:r>
            <a:r>
              <a:rPr lang="pt-BR" altLang="pt-BR" sz="2400">
                <a:solidFill>
                  <a:srgbClr val="B40000"/>
                </a:solidFill>
              </a:rPr>
              <a:t>informações</a:t>
            </a:r>
            <a:r>
              <a:rPr lang="pt-BR" altLang="pt-BR" sz="2400"/>
              <a:t> mais </a:t>
            </a:r>
            <a:r>
              <a:rPr lang="pt-BR" altLang="pt-BR" sz="2400">
                <a:solidFill>
                  <a:srgbClr val="B40000"/>
                </a:solidFill>
              </a:rPr>
              <a:t>ricas</a:t>
            </a:r>
            <a:r>
              <a:rPr lang="pt-BR" altLang="pt-BR" sz="2400"/>
              <a:t> e </a:t>
            </a:r>
            <a:r>
              <a:rPr lang="pt-BR" altLang="pt-BR" sz="2400">
                <a:solidFill>
                  <a:srgbClr val="B40000"/>
                </a:solidFill>
              </a:rPr>
              <a:t>detalhadas</a:t>
            </a:r>
            <a:r>
              <a:rPr lang="pt-BR" altLang="pt-BR" sz="2400"/>
              <a:t>.</a:t>
            </a:r>
          </a:p>
          <a:p>
            <a:pPr eaLnBrk="1" hangingPunct="1"/>
            <a:r>
              <a:rPr lang="pt-BR" altLang="pt-BR" sz="2400">
                <a:solidFill>
                  <a:srgbClr val="B40000"/>
                </a:solidFill>
              </a:rPr>
              <a:t>Importante</a:t>
            </a:r>
            <a:r>
              <a:rPr lang="pt-BR" altLang="pt-BR" sz="2400"/>
              <a:t> principalmente quando as </a:t>
            </a:r>
            <a:r>
              <a:rPr lang="pt-BR" altLang="pt-BR" sz="2400">
                <a:solidFill>
                  <a:srgbClr val="B40000"/>
                </a:solidFill>
              </a:rPr>
              <a:t>características</a:t>
            </a:r>
            <a:r>
              <a:rPr lang="pt-BR" altLang="pt-BR" sz="2400"/>
              <a:t> avaliadas são </a:t>
            </a:r>
            <a:r>
              <a:rPr lang="pt-BR" altLang="pt-BR" sz="2400">
                <a:solidFill>
                  <a:srgbClr val="B40000"/>
                </a:solidFill>
              </a:rPr>
              <a:t>qualitativas</a:t>
            </a:r>
            <a:r>
              <a:rPr lang="pt-BR" altLang="pt-BR" sz="2400"/>
              <a:t>.</a:t>
            </a:r>
          </a:p>
        </p:txBody>
      </p:sp>
      <p:pic>
        <p:nvPicPr>
          <p:cNvPr id="83971" name="Picture 9" descr="MCPE01530_0000[1]">
            <a:extLst>
              <a:ext uri="{FF2B5EF4-FFF2-40B4-BE49-F238E27FC236}">
                <a16:creationId xmlns:a16="http://schemas.microsoft.com/office/drawing/2014/main" id="{87B1AD25-92BE-C9D0-40A9-8D737EF4992A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58888" y="2420938"/>
            <a:ext cx="2952750" cy="2705100"/>
          </a:xfrm>
        </p:spPr>
      </p:pic>
      <p:sp>
        <p:nvSpPr>
          <p:cNvPr id="173066" name="Rectangle 10">
            <a:extLst>
              <a:ext uri="{FF2B5EF4-FFF2-40B4-BE49-F238E27FC236}">
                <a16:creationId xmlns:a16="http://schemas.microsoft.com/office/drawing/2014/main" id="{4374DA2A-D96C-0FA8-62B1-CE28C8C71D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  <p:sp>
        <p:nvSpPr>
          <p:cNvPr id="83973" name="Text Box 11">
            <a:extLst>
              <a:ext uri="{FF2B5EF4-FFF2-40B4-BE49-F238E27FC236}">
                <a16:creationId xmlns:a16="http://schemas.microsoft.com/office/drawing/2014/main" id="{0FA1445F-BFD2-9010-97E6-C8A210974D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pt-BR" altLang="pt-BR" sz="1600" i="1">
                <a:solidFill>
                  <a:srgbClr val="B40000"/>
                </a:solidFill>
                <a:latin typeface="Verdana" panose="020B0604030504040204" pitchFamily="34" charset="0"/>
              </a:rPr>
              <a:t>PI / Identif. Req. dos Clientes / Coletar Necessidades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5D454FC-ABA7-05BB-A6A4-4E2D40AD21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288" y="204788"/>
            <a:ext cx="7645400" cy="706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sz="2800" b="1" kern="0">
                <a:solidFill>
                  <a:srgbClr val="000096"/>
                </a:solidFill>
                <a:latin typeface="+mj-lt"/>
                <a:ea typeface="+mj-ea"/>
                <a:cs typeface="+mj-cs"/>
              </a:rPr>
              <a:t>4. COMO DESCOBRIR AS NECESSIDADES</a:t>
            </a:r>
            <a:endParaRPr lang="pt-BR" sz="2800" b="1" kern="0" dirty="0">
              <a:solidFill>
                <a:srgbClr val="000096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6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2">
            <a:extLst>
              <a:ext uri="{FF2B5EF4-FFF2-40B4-BE49-F238E27FC236}">
                <a16:creationId xmlns:a16="http://schemas.microsoft.com/office/drawing/2014/main" id="{35290695-1EC7-BCC8-9BC0-42F452AE82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10715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pt-BR"/>
              <a:t>ENTREVISTAS</a:t>
            </a:r>
            <a:endParaRPr lang="pt-BR" altLang="pt-BR"/>
          </a:p>
        </p:txBody>
      </p:sp>
      <p:sp>
        <p:nvSpPr>
          <p:cNvPr id="176131" name="Rectangle 3">
            <a:extLst>
              <a:ext uri="{FF2B5EF4-FFF2-40B4-BE49-F238E27FC236}">
                <a16:creationId xmlns:a16="http://schemas.microsoft.com/office/drawing/2014/main" id="{4B1DCD64-5713-B419-AEA9-94502209D7D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9750" y="2635250"/>
            <a:ext cx="4038600" cy="2298700"/>
          </a:xfrm>
        </p:spPr>
        <p:txBody>
          <a:bodyPr/>
          <a:lstStyle/>
          <a:p>
            <a:pPr eaLnBrk="1" hangingPunct="1"/>
            <a:r>
              <a:rPr lang="pt-BR" altLang="pt-BR" sz="2400"/>
              <a:t>Possibilita </a:t>
            </a:r>
            <a:r>
              <a:rPr lang="pt-BR" altLang="pt-BR" sz="2400">
                <a:solidFill>
                  <a:srgbClr val="B40000"/>
                </a:solidFill>
              </a:rPr>
              <a:t>informações qualitativas</a:t>
            </a:r>
            <a:r>
              <a:rPr lang="pt-BR" altLang="pt-BR" sz="2400"/>
              <a:t> e </a:t>
            </a:r>
            <a:r>
              <a:rPr lang="pt-BR" altLang="pt-BR" sz="2400">
                <a:solidFill>
                  <a:srgbClr val="B40000"/>
                </a:solidFill>
              </a:rPr>
              <a:t>não estruturadas</a:t>
            </a:r>
            <a:r>
              <a:rPr lang="pt-BR" altLang="pt-BR" sz="2400"/>
              <a:t>.</a:t>
            </a:r>
          </a:p>
          <a:p>
            <a:pPr eaLnBrk="1" hangingPunct="1"/>
            <a:r>
              <a:rPr lang="pt-BR" altLang="pt-BR" sz="2400"/>
              <a:t>Geralmente é </a:t>
            </a:r>
            <a:r>
              <a:rPr lang="pt-BR" altLang="pt-BR" sz="2400">
                <a:solidFill>
                  <a:srgbClr val="B40000"/>
                </a:solidFill>
              </a:rPr>
              <a:t>demorada</a:t>
            </a:r>
            <a:r>
              <a:rPr lang="pt-BR" altLang="pt-BR" sz="2400"/>
              <a:t> e de mais </a:t>
            </a:r>
            <a:r>
              <a:rPr lang="pt-BR" altLang="pt-BR" sz="2400">
                <a:solidFill>
                  <a:srgbClr val="B40000"/>
                </a:solidFill>
              </a:rPr>
              <a:t>alto custo</a:t>
            </a:r>
            <a:r>
              <a:rPr lang="pt-BR" altLang="pt-BR" sz="2400"/>
              <a:t>.</a:t>
            </a:r>
          </a:p>
        </p:txBody>
      </p:sp>
      <p:sp>
        <p:nvSpPr>
          <p:cNvPr id="176133" name="Rectangle 5">
            <a:extLst>
              <a:ext uri="{FF2B5EF4-FFF2-40B4-BE49-F238E27FC236}">
                <a16:creationId xmlns:a16="http://schemas.microsoft.com/office/drawing/2014/main" id="{ECC76880-AA5E-C36F-A8A2-EF916E39D4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  <p:pic>
        <p:nvPicPr>
          <p:cNvPr id="86020" name="Picture 10" descr="MCBD05497_0000[1]">
            <a:extLst>
              <a:ext uri="{FF2B5EF4-FFF2-40B4-BE49-F238E27FC236}">
                <a16:creationId xmlns:a16="http://schemas.microsoft.com/office/drawing/2014/main" id="{E2CEFFAA-23C8-F8DA-DACE-3D007A911DE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92725" y="1844675"/>
            <a:ext cx="2682875" cy="3443288"/>
          </a:xfrm>
        </p:spPr>
      </p:pic>
      <p:sp>
        <p:nvSpPr>
          <p:cNvPr id="86021" name="Text Box 11">
            <a:extLst>
              <a:ext uri="{FF2B5EF4-FFF2-40B4-BE49-F238E27FC236}">
                <a16:creationId xmlns:a16="http://schemas.microsoft.com/office/drawing/2014/main" id="{A582F806-F5F4-D225-16CF-F63F26671D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pt-BR" altLang="pt-BR" sz="1600" i="1">
                <a:solidFill>
                  <a:srgbClr val="B40000"/>
                </a:solidFill>
                <a:latin typeface="Verdana" panose="020B0604030504040204" pitchFamily="34" charset="0"/>
              </a:rPr>
              <a:t>PI / Identif. Req. dos Clientes / Coletar Necessidades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54E0468-FEA5-A7E4-0EAB-79E51C5F8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288" y="204788"/>
            <a:ext cx="7645400" cy="706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sz="2800" b="1" kern="0">
                <a:solidFill>
                  <a:srgbClr val="000096"/>
                </a:solidFill>
                <a:latin typeface="+mj-lt"/>
                <a:ea typeface="+mj-ea"/>
                <a:cs typeface="+mj-cs"/>
              </a:rPr>
              <a:t>4. COMO DESCOBRIR AS NECESSIDADES</a:t>
            </a:r>
            <a:endParaRPr lang="pt-BR" sz="2800" b="1" kern="0" dirty="0">
              <a:solidFill>
                <a:srgbClr val="000096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13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2">
            <a:extLst>
              <a:ext uri="{FF2B5EF4-FFF2-40B4-BE49-F238E27FC236}">
                <a16:creationId xmlns:a16="http://schemas.microsoft.com/office/drawing/2014/main" id="{D663BB6F-EC09-75F5-5CDE-A941B57028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0538" y="88265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pt-BR"/>
              <a:t>QUESTIONÁRIOS</a:t>
            </a:r>
            <a:endParaRPr lang="pt-BR" altLang="pt-BR"/>
          </a:p>
        </p:txBody>
      </p:sp>
      <p:sp>
        <p:nvSpPr>
          <p:cNvPr id="179209" name="Rectangle 9">
            <a:extLst>
              <a:ext uri="{FF2B5EF4-FFF2-40B4-BE49-F238E27FC236}">
                <a16:creationId xmlns:a16="http://schemas.microsoft.com/office/drawing/2014/main" id="{DF9A5FFE-5D16-90A9-C8A7-C9E14FE13C1F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462463" y="1500188"/>
            <a:ext cx="4038600" cy="45259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BR" altLang="pt-BR" sz="2400"/>
              <a:t>Pode ser </a:t>
            </a:r>
            <a:r>
              <a:rPr lang="pt-BR" altLang="pt-BR" sz="2400">
                <a:solidFill>
                  <a:srgbClr val="B40000"/>
                </a:solidFill>
              </a:rPr>
              <a:t>mais rápida</a:t>
            </a:r>
            <a:r>
              <a:rPr lang="pt-BR" altLang="pt-BR" sz="2400"/>
              <a:t> e as </a:t>
            </a:r>
            <a:r>
              <a:rPr lang="pt-BR" altLang="pt-BR" sz="2400">
                <a:solidFill>
                  <a:srgbClr val="B40000"/>
                </a:solidFill>
              </a:rPr>
              <a:t>informações mais generalizáveis</a:t>
            </a:r>
            <a:r>
              <a:rPr lang="pt-BR" altLang="pt-BR" sz="240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pt-BR" altLang="pt-BR" sz="2400">
                <a:solidFill>
                  <a:srgbClr val="B40000"/>
                </a:solidFill>
              </a:rPr>
              <a:t>Menor riqueza de detalhes</a:t>
            </a:r>
            <a:r>
              <a:rPr lang="pt-BR" altLang="pt-BR" sz="2400"/>
              <a:t> e </a:t>
            </a:r>
            <a:r>
              <a:rPr lang="pt-BR" altLang="pt-BR" sz="2400">
                <a:solidFill>
                  <a:srgbClr val="B40000"/>
                </a:solidFill>
              </a:rPr>
              <a:t>necessidade de alta taxa de resposta</a:t>
            </a:r>
            <a:r>
              <a:rPr lang="pt-BR" altLang="pt-BR" sz="2400"/>
              <a:t> para serem válidos.</a:t>
            </a:r>
          </a:p>
        </p:txBody>
      </p:sp>
      <p:sp>
        <p:nvSpPr>
          <p:cNvPr id="179205" name="Rectangle 5">
            <a:extLst>
              <a:ext uri="{FF2B5EF4-FFF2-40B4-BE49-F238E27FC236}">
                <a16:creationId xmlns:a16="http://schemas.microsoft.com/office/drawing/2014/main" id="{FB48F091-4756-9EAC-6B13-EBFC3CC3E7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  <p:sp>
        <p:nvSpPr>
          <p:cNvPr id="88068" name="Text Box 10">
            <a:extLst>
              <a:ext uri="{FF2B5EF4-FFF2-40B4-BE49-F238E27FC236}">
                <a16:creationId xmlns:a16="http://schemas.microsoft.com/office/drawing/2014/main" id="{D1F19FCB-E9FC-65C6-1276-09FC8837CB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pt-BR" altLang="pt-BR" sz="1600" i="1">
                <a:solidFill>
                  <a:srgbClr val="B40000"/>
                </a:solidFill>
                <a:latin typeface="Verdana" panose="020B0604030504040204" pitchFamily="34" charset="0"/>
              </a:rPr>
              <a:t>PI / Identif. Req. dos Clientes / Coletar Necessidades</a:t>
            </a:r>
          </a:p>
        </p:txBody>
      </p:sp>
      <p:pic>
        <p:nvPicPr>
          <p:cNvPr id="88069" name="Picture 14" descr="MCj02339240000[1]">
            <a:extLst>
              <a:ext uri="{FF2B5EF4-FFF2-40B4-BE49-F238E27FC236}">
                <a16:creationId xmlns:a16="http://schemas.microsoft.com/office/drawing/2014/main" id="{93569976-BDC4-D613-CE11-8FDFD313F0B9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71550" y="2133600"/>
            <a:ext cx="3392488" cy="2655888"/>
          </a:xfr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91AAC11D-2CE3-E3BD-38FA-037DDA85D6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288" y="204788"/>
            <a:ext cx="7645400" cy="706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sz="2800" b="1" kern="0">
                <a:solidFill>
                  <a:srgbClr val="000096"/>
                </a:solidFill>
                <a:latin typeface="+mj-lt"/>
                <a:ea typeface="+mj-ea"/>
                <a:cs typeface="+mj-cs"/>
              </a:rPr>
              <a:t>4. COMO DESCOBRIR AS NECESSIDADES</a:t>
            </a:r>
            <a:endParaRPr lang="pt-BR" sz="2800" b="1" kern="0" dirty="0">
              <a:solidFill>
                <a:srgbClr val="000096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20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2">
            <a:extLst>
              <a:ext uri="{FF2B5EF4-FFF2-40B4-BE49-F238E27FC236}">
                <a16:creationId xmlns:a16="http://schemas.microsoft.com/office/drawing/2014/main" id="{E25645E1-DF55-6CE9-F782-C6A7142038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8788" y="6778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pt-BR"/>
              <a:t>GRUPOS FOCAIS</a:t>
            </a:r>
            <a:endParaRPr lang="pt-BR" altLang="pt-BR"/>
          </a:p>
        </p:txBody>
      </p:sp>
      <p:sp>
        <p:nvSpPr>
          <p:cNvPr id="182278" name="Rectangle 6">
            <a:extLst>
              <a:ext uri="{FF2B5EF4-FFF2-40B4-BE49-F238E27FC236}">
                <a16:creationId xmlns:a16="http://schemas.microsoft.com/office/drawing/2014/main" id="{41620729-DE2A-C1AE-7ACD-029CAEBDB5E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76250" y="1925638"/>
            <a:ext cx="4038600" cy="3087687"/>
          </a:xfrm>
        </p:spPr>
        <p:txBody>
          <a:bodyPr/>
          <a:lstStyle/>
          <a:p>
            <a:pPr eaLnBrk="1" hangingPunct="1"/>
            <a:r>
              <a:rPr lang="pt-BR" altLang="pt-BR" sz="2400"/>
              <a:t>Possibilita </a:t>
            </a:r>
            <a:r>
              <a:rPr lang="pt-BR" altLang="pt-BR" sz="2400">
                <a:solidFill>
                  <a:srgbClr val="B40000"/>
                </a:solidFill>
              </a:rPr>
              <a:t>informações</a:t>
            </a:r>
            <a:r>
              <a:rPr lang="pt-BR" altLang="pt-BR" sz="2400"/>
              <a:t> muito </a:t>
            </a:r>
            <a:r>
              <a:rPr lang="pt-BR" altLang="pt-BR" sz="2400">
                <a:solidFill>
                  <a:srgbClr val="B40000"/>
                </a:solidFill>
              </a:rPr>
              <a:t>ricas</a:t>
            </a:r>
            <a:r>
              <a:rPr lang="pt-BR" altLang="pt-BR" sz="2400"/>
              <a:t> e </a:t>
            </a:r>
            <a:r>
              <a:rPr lang="pt-BR" altLang="pt-BR" sz="2400">
                <a:solidFill>
                  <a:srgbClr val="B40000"/>
                </a:solidFill>
              </a:rPr>
              <a:t>detalhadas</a:t>
            </a:r>
            <a:r>
              <a:rPr lang="pt-BR" altLang="pt-BR" sz="2400"/>
              <a:t>.</a:t>
            </a:r>
          </a:p>
          <a:p>
            <a:pPr eaLnBrk="1" hangingPunct="1"/>
            <a:r>
              <a:rPr lang="pt-BR" altLang="pt-BR" sz="2400">
                <a:solidFill>
                  <a:srgbClr val="B40000"/>
                </a:solidFill>
              </a:rPr>
              <a:t>Necessita</a:t>
            </a:r>
            <a:r>
              <a:rPr lang="pt-BR" altLang="pt-BR" sz="2400"/>
              <a:t> de </a:t>
            </a:r>
            <a:r>
              <a:rPr lang="pt-BR" altLang="pt-BR" sz="2400">
                <a:solidFill>
                  <a:srgbClr val="B40000"/>
                </a:solidFill>
              </a:rPr>
              <a:t>infra-estrutura</a:t>
            </a:r>
            <a:r>
              <a:rPr lang="pt-BR" altLang="pt-BR" sz="2400"/>
              <a:t> e </a:t>
            </a:r>
            <a:r>
              <a:rPr lang="pt-BR" altLang="pt-BR" sz="2400">
                <a:solidFill>
                  <a:srgbClr val="B40000"/>
                </a:solidFill>
              </a:rPr>
              <a:t>profissionais especializados</a:t>
            </a:r>
            <a:r>
              <a:rPr lang="pt-BR" altLang="pt-BR" sz="2400"/>
              <a:t>.</a:t>
            </a:r>
          </a:p>
          <a:p>
            <a:pPr lvl="1" eaLnBrk="1" hangingPunct="1"/>
            <a:r>
              <a:rPr lang="en-US" altLang="pt-BR"/>
              <a:t>Estilo de automóveis.</a:t>
            </a:r>
            <a:endParaRPr lang="pt-BR" altLang="pt-BR"/>
          </a:p>
        </p:txBody>
      </p:sp>
      <p:sp>
        <p:nvSpPr>
          <p:cNvPr id="182277" name="Rectangle 5">
            <a:extLst>
              <a:ext uri="{FF2B5EF4-FFF2-40B4-BE49-F238E27FC236}">
                <a16:creationId xmlns:a16="http://schemas.microsoft.com/office/drawing/2014/main" id="{1362A6B4-BED9-BC6E-21D2-3DD653D113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  <p:sp>
        <p:nvSpPr>
          <p:cNvPr id="90116" name="Text Box 8">
            <a:extLst>
              <a:ext uri="{FF2B5EF4-FFF2-40B4-BE49-F238E27FC236}">
                <a16:creationId xmlns:a16="http://schemas.microsoft.com/office/drawing/2014/main" id="{058F074A-A62D-1A79-F13B-0B95DEDB80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pt-BR" altLang="pt-BR" sz="1600" i="1">
                <a:solidFill>
                  <a:srgbClr val="B40000"/>
                </a:solidFill>
                <a:latin typeface="Verdana" panose="020B0604030504040204" pitchFamily="34" charset="0"/>
              </a:rPr>
              <a:t>PI / Identif. Req. dos Clientes / Coletar Necessidades</a:t>
            </a:r>
          </a:p>
        </p:txBody>
      </p:sp>
      <p:pic>
        <p:nvPicPr>
          <p:cNvPr id="90117" name="Picture 9" descr="MCj01983260000[1]">
            <a:extLst>
              <a:ext uri="{FF2B5EF4-FFF2-40B4-BE49-F238E27FC236}">
                <a16:creationId xmlns:a16="http://schemas.microsoft.com/office/drawing/2014/main" id="{B5D7EBD5-CFCF-0BB5-0C73-3FB75AF7367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87900" y="2349500"/>
            <a:ext cx="3619500" cy="2700338"/>
          </a:xfr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3EECB3E5-B2E2-7DFA-61B9-2EF9D535D2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288" y="204788"/>
            <a:ext cx="7645400" cy="706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sz="2800" b="1" kern="0">
                <a:solidFill>
                  <a:srgbClr val="000096"/>
                </a:solidFill>
                <a:latin typeface="+mj-lt"/>
                <a:ea typeface="+mj-ea"/>
                <a:cs typeface="+mj-cs"/>
              </a:rPr>
              <a:t>4. COMO DESCOBRIR AS NECESSIDADES</a:t>
            </a:r>
            <a:endParaRPr lang="pt-BR" sz="2800" b="1" kern="0" dirty="0">
              <a:solidFill>
                <a:srgbClr val="000096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7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CaixaDeTexto 2">
            <a:extLst>
              <a:ext uri="{FF2B5EF4-FFF2-40B4-BE49-F238E27FC236}">
                <a16:creationId xmlns:a16="http://schemas.microsoft.com/office/drawing/2014/main" id="{70CC901B-E1D5-7465-9B4C-903505F351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323975"/>
            <a:ext cx="7551737" cy="4708525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ANDRADE, R. S. Preliminary Evaluation of Needs in the Design Process. International Conference on Engineering Design – ICED 91, Zurich, August , 1991, pp. 717-720 –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 Propôs um </a:t>
            </a:r>
            <a:r>
              <a:rPr lang="pt-BR" altLang="pt-BR" sz="2000" b="1"/>
              <a:t>conjunto de questões que serve como um guia básico para o estabelecimento das necessidades</a:t>
            </a:r>
            <a:r>
              <a:rPr lang="pt-BR" altLang="pt-BR" sz="2000"/>
              <a:t>.  O conjunto de questões é organizado em grupos considerando os principais elementos desenvolvidos no ciclo de vida do produto, sendo apenas </a:t>
            </a:r>
            <a:r>
              <a:rPr lang="pt-BR" altLang="pt-BR" sz="2000" b="1"/>
              <a:t>uma orientação</a:t>
            </a:r>
            <a:r>
              <a:rPr lang="pt-BR" altLang="pt-BR" sz="2000"/>
              <a:t>, devendo </a:t>
            </a:r>
            <a:r>
              <a:rPr lang="pt-BR" altLang="pt-BR" sz="2000" b="1"/>
              <a:t>em casos práticos</a:t>
            </a:r>
            <a:r>
              <a:rPr lang="pt-BR" altLang="pt-BR" sz="2000"/>
              <a:t>, o </a:t>
            </a:r>
            <a:r>
              <a:rPr lang="pt-BR" altLang="pt-BR" sz="2000" b="1"/>
              <a:t>conjunto deve ser expandido</a:t>
            </a:r>
            <a:r>
              <a:rPr lang="pt-BR" altLang="pt-BR" sz="2000"/>
              <a:t>, detalhando-se e adicionando-se outras questões de acordo com cada caso. 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EB208D1-6CCD-92D6-B74F-E71DBB2652E4}"/>
              </a:ext>
            </a:extLst>
          </p:cNvPr>
          <p:cNvSpPr txBox="1">
            <a:spLocks noChangeArrowheads="1"/>
          </p:cNvSpPr>
          <p:nvPr/>
        </p:nvSpPr>
        <p:spPr>
          <a:xfrm>
            <a:off x="268288" y="204788"/>
            <a:ext cx="7645400" cy="706437"/>
          </a:xfrm>
          <a:prstGeom prst="rect">
            <a:avLst/>
          </a:prstGeo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sz="2800" b="1" kern="0">
                <a:solidFill>
                  <a:srgbClr val="000096"/>
                </a:solidFill>
                <a:latin typeface="+mj-lt"/>
                <a:ea typeface="+mj-ea"/>
                <a:cs typeface="+mj-cs"/>
              </a:rPr>
              <a:t>4. COMO DESCOBRIR AS NECESSIDADES</a:t>
            </a:r>
            <a:endParaRPr lang="pt-BR" sz="2800" b="1" kern="0" dirty="0">
              <a:solidFill>
                <a:srgbClr val="000096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9CAC7135-200B-98F9-E2F2-876719E74C5F}"/>
              </a:ext>
            </a:extLst>
          </p:cNvPr>
          <p:cNvSpPr txBox="1"/>
          <p:nvPr/>
        </p:nvSpPr>
        <p:spPr>
          <a:xfrm>
            <a:off x="300038" y="1150938"/>
            <a:ext cx="8370887" cy="338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pt-BR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CLIENTES E MERCADO</a:t>
            </a:r>
          </a:p>
        </p:txBody>
      </p:sp>
      <p:sp>
        <p:nvSpPr>
          <p:cNvPr id="93186" name="CaixaDeTexto 3">
            <a:extLst>
              <a:ext uri="{FF2B5EF4-FFF2-40B4-BE49-F238E27FC236}">
                <a16:creationId xmlns:a16="http://schemas.microsoft.com/office/drawing/2014/main" id="{7A33E68F-550B-A94C-DBCC-7E77F0C544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813" y="1681163"/>
            <a:ext cx="7662862" cy="455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/>
            </a:pPr>
            <a:r>
              <a:rPr lang="pt-BR" altLang="pt-BR" sz="2000" b="1">
                <a:solidFill>
                  <a:schemeClr val="accent2"/>
                </a:solidFill>
              </a:rPr>
              <a:t>Quem são os principais clientes, aqueles que serão afetados diretamente pelo produto? Não apenas quem irá comprar e usar o produto.</a:t>
            </a:r>
          </a:p>
          <a:p>
            <a:pPr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/>
            </a:pPr>
            <a:r>
              <a:rPr lang="pt-BR" altLang="pt-BR" sz="2000" b="1">
                <a:solidFill>
                  <a:schemeClr val="accent2"/>
                </a:solidFill>
              </a:rPr>
              <a:t>Quem são os clientes secundários, aqueles de alguma forma relacionados com o produto? Instalações, pessoal serviço, etc.</a:t>
            </a:r>
          </a:p>
          <a:p>
            <a:pPr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/>
            </a:pPr>
            <a:r>
              <a:rPr lang="pt-BR" altLang="pt-BR" sz="2000" b="1">
                <a:solidFill>
                  <a:schemeClr val="accent2"/>
                </a:solidFill>
              </a:rPr>
              <a:t>O que os clientes podem obter com o produto mas não sabem?</a:t>
            </a:r>
          </a:p>
          <a:p>
            <a:pPr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/>
            </a:pPr>
            <a:r>
              <a:rPr lang="pt-BR" altLang="pt-BR" sz="2000" b="1">
                <a:solidFill>
                  <a:schemeClr val="accent2"/>
                </a:solidFill>
              </a:rPr>
              <a:t>O que os clientes gostariam de conseguir com o produto? Desempenho, custo, níveis de qualidade etc.</a:t>
            </a:r>
          </a:p>
          <a:p>
            <a:pPr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/>
            </a:pPr>
            <a:r>
              <a:rPr lang="pt-BR" altLang="pt-BR" sz="2000" b="1">
                <a:solidFill>
                  <a:schemeClr val="accent2"/>
                </a:solidFill>
              </a:rPr>
              <a:t>O que os clientes gostariam de obter com o produto?</a:t>
            </a:r>
          </a:p>
          <a:p>
            <a:pPr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/>
            </a:pPr>
            <a:r>
              <a:rPr lang="pt-BR" altLang="pt-BR" sz="2000" b="1">
                <a:solidFill>
                  <a:schemeClr val="accent2"/>
                </a:solidFill>
              </a:rPr>
              <a:t>Quem são os clientes que estão comprando, e de quem?     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FDB64BB-BF12-5799-90E7-A75A43B8DD68}"/>
              </a:ext>
            </a:extLst>
          </p:cNvPr>
          <p:cNvSpPr txBox="1">
            <a:spLocks noChangeArrowheads="1"/>
          </p:cNvSpPr>
          <p:nvPr/>
        </p:nvSpPr>
        <p:spPr>
          <a:xfrm>
            <a:off x="268288" y="204788"/>
            <a:ext cx="7645400" cy="706437"/>
          </a:xfrm>
          <a:prstGeom prst="rect">
            <a:avLst/>
          </a:prstGeo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sz="2800" b="1" kern="0">
                <a:solidFill>
                  <a:srgbClr val="000096"/>
                </a:solidFill>
                <a:latin typeface="+mj-lt"/>
                <a:ea typeface="+mj-ea"/>
                <a:cs typeface="+mj-cs"/>
              </a:rPr>
              <a:t>4. COMO DESCOBRIR AS NECESSIDADES</a:t>
            </a:r>
            <a:endParaRPr lang="pt-BR" sz="2800" b="1" kern="0" dirty="0">
              <a:solidFill>
                <a:srgbClr val="000096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 spd="slow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36DD04D1-CF0A-48AD-F3AD-59A43C29E45D}"/>
              </a:ext>
            </a:extLst>
          </p:cNvPr>
          <p:cNvSpPr txBox="1"/>
          <p:nvPr/>
        </p:nvSpPr>
        <p:spPr>
          <a:xfrm>
            <a:off x="300038" y="1150938"/>
            <a:ext cx="8370887" cy="338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pt-BR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CLIENTES E MERCADO</a:t>
            </a:r>
          </a:p>
        </p:txBody>
      </p:sp>
      <p:sp>
        <p:nvSpPr>
          <p:cNvPr id="94210" name="CaixaDeTexto 3">
            <a:extLst>
              <a:ext uri="{FF2B5EF4-FFF2-40B4-BE49-F238E27FC236}">
                <a16:creationId xmlns:a16="http://schemas.microsoft.com/office/drawing/2014/main" id="{46BDB945-89E5-02AA-DC33-528E593D4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813" y="1681163"/>
            <a:ext cx="7662862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 startAt="7"/>
            </a:pPr>
            <a:r>
              <a:rPr lang="pt-BR" altLang="pt-BR" sz="2000" b="1">
                <a:solidFill>
                  <a:schemeClr val="accent2"/>
                </a:solidFill>
              </a:rPr>
              <a:t>Como pode ser a empresa mais atrativa que os concorrentes?</a:t>
            </a:r>
          </a:p>
          <a:p>
            <a:pPr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 startAt="7"/>
            </a:pPr>
            <a:r>
              <a:rPr lang="pt-BR" altLang="pt-BR" sz="2000" b="1">
                <a:solidFill>
                  <a:schemeClr val="accent2"/>
                </a:solidFill>
              </a:rPr>
              <a:t>Quantos clientes a empresa tem, e qual o tamanho do mercado?</a:t>
            </a:r>
          </a:p>
          <a:p>
            <a:pPr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 startAt="7"/>
            </a:pPr>
            <a:r>
              <a:rPr lang="pt-BR" altLang="pt-BR" sz="2000" b="1">
                <a:solidFill>
                  <a:schemeClr val="accent2"/>
                </a:solidFill>
              </a:rPr>
              <a:t>Como pode a empresa aumentar a sua participação no mercado?       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BAA3A01-60D6-3FBC-5D03-11BDB678597F}"/>
              </a:ext>
            </a:extLst>
          </p:cNvPr>
          <p:cNvSpPr txBox="1">
            <a:spLocks noChangeArrowheads="1"/>
          </p:cNvSpPr>
          <p:nvPr/>
        </p:nvSpPr>
        <p:spPr>
          <a:xfrm>
            <a:off x="268288" y="204788"/>
            <a:ext cx="7645400" cy="706437"/>
          </a:xfrm>
          <a:prstGeom prst="rect">
            <a:avLst/>
          </a:prstGeo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sz="2800" b="1" kern="0">
                <a:solidFill>
                  <a:srgbClr val="000096"/>
                </a:solidFill>
                <a:latin typeface="+mj-lt"/>
                <a:ea typeface="+mj-ea"/>
                <a:cs typeface="+mj-cs"/>
              </a:rPr>
              <a:t>4. COMO DESCOBRIR AS NECESSIDADES</a:t>
            </a:r>
            <a:endParaRPr lang="pt-BR" sz="2800" b="1" kern="0" dirty="0">
              <a:solidFill>
                <a:srgbClr val="000096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 spd="slow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7F42DF1-1D84-66AA-914D-984B3FA35A70}"/>
              </a:ext>
            </a:extLst>
          </p:cNvPr>
          <p:cNvSpPr txBox="1"/>
          <p:nvPr/>
        </p:nvSpPr>
        <p:spPr>
          <a:xfrm>
            <a:off x="393700" y="946150"/>
            <a:ext cx="8372475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pt-BR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USO E DESATIVAÇÃO</a:t>
            </a:r>
          </a:p>
        </p:txBody>
      </p:sp>
      <p:sp>
        <p:nvSpPr>
          <p:cNvPr id="95234" name="CaixaDeTexto 3">
            <a:extLst>
              <a:ext uri="{FF2B5EF4-FFF2-40B4-BE49-F238E27FC236}">
                <a16:creationId xmlns:a16="http://schemas.microsoft.com/office/drawing/2014/main" id="{6A71B0A2-5C2C-7B06-C6A0-9B6F796BD2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525" y="1428750"/>
            <a:ext cx="8548688" cy="532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/>
            </a:pPr>
            <a:r>
              <a:rPr lang="pt-BR" altLang="pt-BR" sz="2000" b="1">
                <a:solidFill>
                  <a:schemeClr val="accent2"/>
                </a:solidFill>
              </a:rPr>
              <a:t>Quais devem ser as funções principais do produto?</a:t>
            </a:r>
          </a:p>
          <a:p>
            <a:pPr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/>
            </a:pPr>
            <a:r>
              <a:rPr lang="pt-BR" altLang="pt-BR" sz="2000" b="1">
                <a:solidFill>
                  <a:schemeClr val="accent2"/>
                </a:solidFill>
              </a:rPr>
              <a:t>Quais devem ser as funções secundárias do produto?</a:t>
            </a:r>
          </a:p>
          <a:p>
            <a:pPr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/>
            </a:pPr>
            <a:r>
              <a:rPr lang="pt-BR" altLang="pt-BR" sz="2000" b="1">
                <a:solidFill>
                  <a:schemeClr val="accent2"/>
                </a:solidFill>
              </a:rPr>
              <a:t>Quais são as habilidades daqueles que irão usar o produto?</a:t>
            </a:r>
          </a:p>
          <a:p>
            <a:pPr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/>
            </a:pPr>
            <a:r>
              <a:rPr lang="pt-BR" altLang="pt-BR" sz="2000" b="1">
                <a:solidFill>
                  <a:schemeClr val="accent2"/>
                </a:solidFill>
              </a:rPr>
              <a:t>Qual será a freqüência de uso, e os períodos de utilização e não utilização.</a:t>
            </a:r>
          </a:p>
          <a:p>
            <a:pPr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/>
            </a:pPr>
            <a:r>
              <a:rPr lang="pt-BR" altLang="pt-BR" sz="2000" b="1">
                <a:solidFill>
                  <a:schemeClr val="accent2"/>
                </a:solidFill>
              </a:rPr>
              <a:t>Qual será o tempo de vida do produto?</a:t>
            </a:r>
          </a:p>
          <a:p>
            <a:pPr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/>
            </a:pPr>
            <a:r>
              <a:rPr lang="pt-BR" altLang="pt-BR" sz="2000" b="1">
                <a:solidFill>
                  <a:schemeClr val="accent2"/>
                </a:solidFill>
              </a:rPr>
              <a:t>Em que ambiente o produto será utilizado?</a:t>
            </a:r>
          </a:p>
          <a:p>
            <a:pPr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/>
            </a:pPr>
            <a:r>
              <a:rPr lang="pt-BR" altLang="pt-BR" sz="2000" b="1">
                <a:solidFill>
                  <a:schemeClr val="accent2"/>
                </a:solidFill>
              </a:rPr>
              <a:t>Quais são as condições de segurança relacionadas com as pessoas, produto e ambiente?</a:t>
            </a:r>
          </a:p>
          <a:p>
            <a:pPr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/>
            </a:pPr>
            <a:r>
              <a:rPr lang="pt-BR" altLang="pt-BR" sz="2000" b="1">
                <a:solidFill>
                  <a:schemeClr val="accent2"/>
                </a:solidFill>
              </a:rPr>
              <a:t>Quais são os efeitos da desativação ou abandono temporário ou permanente. </a:t>
            </a:r>
          </a:p>
          <a:p>
            <a:pPr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/>
            </a:pPr>
            <a:r>
              <a:rPr lang="pt-BR" altLang="pt-BR" sz="2000" b="1">
                <a:solidFill>
                  <a:schemeClr val="accent2"/>
                </a:solidFill>
              </a:rPr>
              <a:t>Quais são as habilidades daqueles que irão reaproveitar o produto desativo?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4C7F02F-0CE7-9596-43C9-B7F5CAB9A396}"/>
              </a:ext>
            </a:extLst>
          </p:cNvPr>
          <p:cNvSpPr txBox="1">
            <a:spLocks noChangeArrowheads="1"/>
          </p:cNvSpPr>
          <p:nvPr/>
        </p:nvSpPr>
        <p:spPr>
          <a:xfrm>
            <a:off x="268288" y="204788"/>
            <a:ext cx="7645400" cy="706437"/>
          </a:xfrm>
          <a:prstGeom prst="rect">
            <a:avLst/>
          </a:prstGeo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sz="2800" b="1" kern="0">
                <a:solidFill>
                  <a:srgbClr val="000096"/>
                </a:solidFill>
                <a:latin typeface="+mj-lt"/>
                <a:ea typeface="+mj-ea"/>
                <a:cs typeface="+mj-cs"/>
              </a:rPr>
              <a:t>4. COMO DESCOBRIR AS NECESSIDADES</a:t>
            </a:r>
            <a:endParaRPr lang="pt-BR" sz="2800" b="1" kern="0" dirty="0">
              <a:solidFill>
                <a:srgbClr val="000096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 spd="slow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BC9DDF42-B9C0-380F-4F62-002EF753F6B9}"/>
              </a:ext>
            </a:extLst>
          </p:cNvPr>
          <p:cNvSpPr txBox="1"/>
          <p:nvPr/>
        </p:nvSpPr>
        <p:spPr>
          <a:xfrm>
            <a:off x="393700" y="946150"/>
            <a:ext cx="8372475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pt-BR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Produção, Distribuição e Instalação</a:t>
            </a:r>
          </a:p>
        </p:txBody>
      </p:sp>
      <p:sp>
        <p:nvSpPr>
          <p:cNvPr id="96258" name="CaixaDeTexto 3">
            <a:extLst>
              <a:ext uri="{FF2B5EF4-FFF2-40B4-BE49-F238E27FC236}">
                <a16:creationId xmlns:a16="http://schemas.microsoft.com/office/drawing/2014/main" id="{3925FC56-A564-4D1C-F2F4-2849D3A73A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438" y="1350963"/>
            <a:ext cx="8550275" cy="5170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/>
            </a:pPr>
            <a:r>
              <a:rPr lang="pt-BR" altLang="pt-BR" sz="2000" b="1">
                <a:solidFill>
                  <a:schemeClr val="accent2"/>
                </a:solidFill>
              </a:rPr>
              <a:t>Quantos produtos serão produzidos?</a:t>
            </a:r>
          </a:p>
          <a:p>
            <a:pPr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/>
            </a:pPr>
            <a:r>
              <a:rPr lang="pt-BR" altLang="pt-BR" sz="2000" b="1">
                <a:solidFill>
                  <a:schemeClr val="accent2"/>
                </a:solidFill>
              </a:rPr>
              <a:t>Qual deverá ser o tempo de produção do produto?</a:t>
            </a:r>
          </a:p>
          <a:p>
            <a:pPr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/>
            </a:pPr>
            <a:r>
              <a:rPr lang="pt-BR" altLang="pt-BR" sz="2000" b="1">
                <a:solidFill>
                  <a:schemeClr val="accent2"/>
                </a:solidFill>
              </a:rPr>
              <a:t>Qual será a freqüência de produção?</a:t>
            </a:r>
          </a:p>
          <a:p>
            <a:pPr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/>
            </a:pPr>
            <a:r>
              <a:rPr lang="pt-BR" altLang="pt-BR" sz="2000" b="1">
                <a:solidFill>
                  <a:schemeClr val="accent2"/>
                </a:solidFill>
              </a:rPr>
              <a:t>Quais materiais serão processados?</a:t>
            </a:r>
          </a:p>
          <a:p>
            <a:pPr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/>
            </a:pPr>
            <a:r>
              <a:rPr lang="pt-BR" altLang="pt-BR" sz="2000" b="1">
                <a:solidFill>
                  <a:schemeClr val="accent2"/>
                </a:solidFill>
              </a:rPr>
              <a:t>Quais processos de fabricação e montagem serão necessários e quais os disponíveis?</a:t>
            </a:r>
          </a:p>
          <a:p>
            <a:pPr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/>
            </a:pPr>
            <a:r>
              <a:rPr lang="pt-BR" altLang="pt-BR" sz="2000" b="1">
                <a:solidFill>
                  <a:schemeClr val="accent2"/>
                </a:solidFill>
              </a:rPr>
              <a:t>O que será exigido do processo?</a:t>
            </a:r>
          </a:p>
          <a:p>
            <a:pPr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/>
            </a:pPr>
            <a:r>
              <a:rPr lang="pt-BR" altLang="pt-BR" sz="2000" b="1">
                <a:solidFill>
                  <a:schemeClr val="accent2"/>
                </a:solidFill>
              </a:rPr>
              <a:t>Quais serão as habilidades daqueles envolvidos com a produção, distribuição e instalação?</a:t>
            </a:r>
          </a:p>
          <a:p>
            <a:pPr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/>
            </a:pPr>
            <a:r>
              <a:rPr lang="pt-BR" altLang="pt-BR" sz="2000" b="1">
                <a:solidFill>
                  <a:schemeClr val="accent2"/>
                </a:solidFill>
              </a:rPr>
              <a:t>Como o produto será testado?</a:t>
            </a:r>
          </a:p>
          <a:p>
            <a:pPr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/>
            </a:pPr>
            <a:r>
              <a:rPr lang="pt-BR" altLang="pt-BR" sz="2000" b="1">
                <a:solidFill>
                  <a:schemeClr val="accent2"/>
                </a:solidFill>
              </a:rPr>
              <a:t>Como o produto será embalado?</a:t>
            </a:r>
          </a:p>
          <a:p>
            <a:pPr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/>
            </a:pPr>
            <a:r>
              <a:rPr lang="pt-BR" altLang="pt-BR" sz="2000" b="1">
                <a:solidFill>
                  <a:schemeClr val="accent2"/>
                </a:solidFill>
              </a:rPr>
              <a:t>Como o produto será transportado? 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2A02B1C-FF51-EAF9-B294-09AD1929E782}"/>
              </a:ext>
            </a:extLst>
          </p:cNvPr>
          <p:cNvSpPr txBox="1">
            <a:spLocks noChangeArrowheads="1"/>
          </p:cNvSpPr>
          <p:nvPr/>
        </p:nvSpPr>
        <p:spPr>
          <a:xfrm>
            <a:off x="268288" y="204788"/>
            <a:ext cx="7645400" cy="706437"/>
          </a:xfrm>
          <a:prstGeom prst="rect">
            <a:avLst/>
          </a:prstGeo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sz="2800" b="1" kern="0">
                <a:solidFill>
                  <a:srgbClr val="000096"/>
                </a:solidFill>
                <a:latin typeface="+mj-lt"/>
                <a:ea typeface="+mj-ea"/>
                <a:cs typeface="+mj-cs"/>
              </a:rPr>
              <a:t>4. COMO DESCOBRIR AS NECESSIDADES</a:t>
            </a:r>
            <a:endParaRPr lang="pt-BR" sz="2800" b="1" kern="0" dirty="0">
              <a:solidFill>
                <a:srgbClr val="000096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 spd="slow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20AF11E0-7838-1983-2C5C-501C3A8BC676}"/>
              </a:ext>
            </a:extLst>
          </p:cNvPr>
          <p:cNvSpPr txBox="1"/>
          <p:nvPr/>
        </p:nvSpPr>
        <p:spPr>
          <a:xfrm>
            <a:off x="393700" y="946150"/>
            <a:ext cx="8372475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pt-BR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EMPRESA</a:t>
            </a:r>
          </a:p>
        </p:txBody>
      </p:sp>
      <p:sp>
        <p:nvSpPr>
          <p:cNvPr id="97282" name="CaixaDeTexto 3">
            <a:extLst>
              <a:ext uri="{FF2B5EF4-FFF2-40B4-BE49-F238E27FC236}">
                <a16:creationId xmlns:a16="http://schemas.microsoft.com/office/drawing/2014/main" id="{3B6003AA-D271-AEFF-0ACC-B86E3210F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525" y="1428750"/>
            <a:ext cx="8548688" cy="3478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/>
            </a:pPr>
            <a:r>
              <a:rPr lang="pt-BR" altLang="pt-BR" sz="2000" b="1">
                <a:solidFill>
                  <a:schemeClr val="accent2"/>
                </a:solidFill>
              </a:rPr>
              <a:t>Como a empresa pretende custear o empreendimento?</a:t>
            </a:r>
          </a:p>
          <a:p>
            <a:pPr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/>
            </a:pPr>
            <a:r>
              <a:rPr lang="pt-BR" altLang="pt-BR" sz="2000" b="1">
                <a:solidFill>
                  <a:schemeClr val="accent2"/>
                </a:solidFill>
              </a:rPr>
              <a:t>Qual a posição que a empresa pretende ocupar entre os concorrentes?</a:t>
            </a:r>
          </a:p>
          <a:p>
            <a:pPr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/>
            </a:pPr>
            <a:r>
              <a:rPr lang="pt-BR" altLang="pt-BR" sz="2000" b="1">
                <a:solidFill>
                  <a:schemeClr val="accent2"/>
                </a:solidFill>
              </a:rPr>
              <a:t>Quais as metas da empresa?</a:t>
            </a:r>
          </a:p>
          <a:p>
            <a:pPr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/>
            </a:pPr>
            <a:r>
              <a:rPr lang="pt-BR" altLang="pt-BR" sz="2000" b="1">
                <a:solidFill>
                  <a:schemeClr val="accent2"/>
                </a:solidFill>
              </a:rPr>
              <a:t> Que recursos financeiros são disponíveis?</a:t>
            </a:r>
          </a:p>
          <a:p>
            <a:pPr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/>
            </a:pPr>
            <a:r>
              <a:rPr lang="pt-BR" altLang="pt-BR" sz="2000" b="1">
                <a:solidFill>
                  <a:schemeClr val="accent2"/>
                </a:solidFill>
              </a:rPr>
              <a:t>Qual é o tempo disponível?</a:t>
            </a:r>
          </a:p>
          <a:p>
            <a:pPr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/>
            </a:pPr>
            <a:r>
              <a:rPr lang="pt-BR" altLang="pt-BR" sz="2000" b="1">
                <a:solidFill>
                  <a:schemeClr val="accent2"/>
                </a:solidFill>
              </a:rPr>
              <a:t>Qual é o máximo custo aceitável para o produto?</a:t>
            </a:r>
          </a:p>
          <a:p>
            <a:pPr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/>
            </a:pPr>
            <a:r>
              <a:rPr lang="pt-BR" altLang="pt-BR" sz="2000" b="1">
                <a:solidFill>
                  <a:schemeClr val="accent2"/>
                </a:solidFill>
              </a:rPr>
              <a:t>Quais são os fornecedores preferenciais?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E7795ED-E4AC-7E82-1DE6-E3202DA705B2}"/>
              </a:ext>
            </a:extLst>
          </p:cNvPr>
          <p:cNvSpPr txBox="1">
            <a:spLocks noChangeArrowheads="1"/>
          </p:cNvSpPr>
          <p:nvPr/>
        </p:nvSpPr>
        <p:spPr>
          <a:xfrm>
            <a:off x="268288" y="204788"/>
            <a:ext cx="7645400" cy="706437"/>
          </a:xfrm>
          <a:prstGeom prst="rect">
            <a:avLst/>
          </a:prstGeo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sz="2800" b="1" kern="0">
                <a:solidFill>
                  <a:srgbClr val="000096"/>
                </a:solidFill>
                <a:latin typeface="+mj-lt"/>
                <a:ea typeface="+mj-ea"/>
                <a:cs typeface="+mj-cs"/>
              </a:rPr>
              <a:t>4. COMO DESCOBRIR AS NECESSIDADES</a:t>
            </a:r>
            <a:endParaRPr lang="pt-BR" sz="2800" b="1" kern="0" dirty="0">
              <a:solidFill>
                <a:srgbClr val="000096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 spd="slow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28FCA2A2-3010-8601-1615-917B3F301B78}"/>
              </a:ext>
            </a:extLst>
          </p:cNvPr>
          <p:cNvSpPr txBox="1"/>
          <p:nvPr/>
        </p:nvSpPr>
        <p:spPr>
          <a:xfrm>
            <a:off x="393700" y="946150"/>
            <a:ext cx="8372475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pt-BR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	Fatores externos</a:t>
            </a:r>
          </a:p>
        </p:txBody>
      </p:sp>
      <p:sp>
        <p:nvSpPr>
          <p:cNvPr id="98306" name="CaixaDeTexto 3">
            <a:extLst>
              <a:ext uri="{FF2B5EF4-FFF2-40B4-BE49-F238E27FC236}">
                <a16:creationId xmlns:a16="http://schemas.microsoft.com/office/drawing/2014/main" id="{E786E89F-A739-16B5-9CB4-9394DC8118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525" y="1428750"/>
            <a:ext cx="8548688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/>
            </a:pPr>
            <a:r>
              <a:rPr lang="pt-BR" altLang="pt-BR" sz="2000" b="1">
                <a:solidFill>
                  <a:schemeClr val="accent2"/>
                </a:solidFill>
              </a:rPr>
              <a:t>Quais os conhecimentos científicos e tecnológicos necessários, e quais são os disponíveis?</a:t>
            </a:r>
          </a:p>
          <a:p>
            <a:pPr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/>
            </a:pPr>
            <a:r>
              <a:rPr lang="pt-BR" altLang="pt-BR" sz="2000" b="1">
                <a:solidFill>
                  <a:schemeClr val="accent2"/>
                </a:solidFill>
              </a:rPr>
              <a:t>Como está e como será a situação de desenvolvimento econômico no ambiente da empresa e do cliente?</a:t>
            </a:r>
          </a:p>
          <a:p>
            <a:pPr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/>
            </a:pPr>
            <a:r>
              <a:rPr lang="pt-BR" altLang="pt-BR" sz="2000" b="1">
                <a:solidFill>
                  <a:schemeClr val="accent2"/>
                </a:solidFill>
              </a:rPr>
              <a:t>Existem decisões políticas por parte de autoridades, que podem afetar o produto?</a:t>
            </a:r>
          </a:p>
          <a:p>
            <a:pPr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/>
            </a:pPr>
            <a:r>
              <a:rPr lang="pt-BR" altLang="pt-BR" sz="2000" b="1">
                <a:solidFill>
                  <a:schemeClr val="accent2"/>
                </a:solidFill>
              </a:rPr>
              <a:t>Qual é a legislação associada com o produto, os clientes da empresa?</a:t>
            </a:r>
          </a:p>
          <a:p>
            <a:pPr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/>
            </a:pPr>
            <a:r>
              <a:rPr lang="pt-BR" altLang="pt-BR" sz="2000" b="1">
                <a:solidFill>
                  <a:schemeClr val="accent2"/>
                </a:solidFill>
              </a:rPr>
              <a:t>Quais são as demandas e limitações sociais, culturais e religiosas?</a:t>
            </a:r>
          </a:p>
          <a:p>
            <a:pPr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/>
            </a:pPr>
            <a:r>
              <a:rPr lang="pt-BR" altLang="pt-BR" sz="2000" b="1">
                <a:solidFill>
                  <a:schemeClr val="accent2"/>
                </a:solidFill>
              </a:rPr>
              <a:t>Como pode o produto perturbar o meio ambiente?    </a:t>
            </a:r>
          </a:p>
        </p:txBody>
      </p:sp>
      <p:sp>
        <p:nvSpPr>
          <p:cNvPr id="98307" name="CaixaDeTexto 4">
            <a:extLst>
              <a:ext uri="{FF2B5EF4-FFF2-40B4-BE49-F238E27FC236}">
                <a16:creationId xmlns:a16="http://schemas.microsoft.com/office/drawing/2014/main" id="{2BE70550-BA76-D294-D464-54E4F3DDAF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5786438"/>
            <a:ext cx="80248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 b="1" i="1">
                <a:solidFill>
                  <a:srgbClr val="C00000"/>
                </a:solidFill>
              </a:rPr>
              <a:t>As respostas destas e outras questões gerarão um conjunto de necessidades cuja a avaliação requisitos dos clientes.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C2FFDE9-64A6-70AB-FF03-47E462BA631C}"/>
              </a:ext>
            </a:extLst>
          </p:cNvPr>
          <p:cNvSpPr txBox="1">
            <a:spLocks noChangeArrowheads="1"/>
          </p:cNvSpPr>
          <p:nvPr/>
        </p:nvSpPr>
        <p:spPr>
          <a:xfrm>
            <a:off x="268288" y="204788"/>
            <a:ext cx="7645400" cy="706437"/>
          </a:xfrm>
          <a:prstGeom prst="rect">
            <a:avLst/>
          </a:prstGeo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sz="2800" b="1" kern="0">
                <a:solidFill>
                  <a:srgbClr val="000096"/>
                </a:solidFill>
                <a:latin typeface="+mj-lt"/>
                <a:ea typeface="+mj-ea"/>
                <a:cs typeface="+mj-cs"/>
              </a:rPr>
              <a:t>4. COMO DESCOBRIR AS NECESSIDADES</a:t>
            </a:r>
            <a:endParaRPr lang="pt-BR" sz="2800" b="1" kern="0" dirty="0">
              <a:solidFill>
                <a:srgbClr val="000096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 spd="slow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4">
            <a:extLst>
              <a:ext uri="{FF2B5EF4-FFF2-40B4-BE49-F238E27FC236}">
                <a16:creationId xmlns:a16="http://schemas.microsoft.com/office/drawing/2014/main" id="{0D13BA30-7086-F392-DC56-C8BDEC0908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Principais Informações do PI</a:t>
            </a:r>
          </a:p>
        </p:txBody>
      </p:sp>
      <p:pic>
        <p:nvPicPr>
          <p:cNvPr id="17414" name="Picture 6" descr="Imagem4">
            <a:extLst>
              <a:ext uri="{FF2B5EF4-FFF2-40B4-BE49-F238E27FC236}">
                <a16:creationId xmlns:a16="http://schemas.microsoft.com/office/drawing/2014/main" id="{3EF88D95-FB99-A01D-40ED-6EC767040CD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00188" y="1646238"/>
            <a:ext cx="6308725" cy="4200525"/>
          </a:xfrm>
          <a:noFill/>
        </p:spPr>
      </p:pic>
      <p:sp>
        <p:nvSpPr>
          <p:cNvPr id="17415" name="Rectangle 7">
            <a:extLst>
              <a:ext uri="{FF2B5EF4-FFF2-40B4-BE49-F238E27FC236}">
                <a16:creationId xmlns:a16="http://schemas.microsoft.com/office/drawing/2014/main" id="{B32FCBC3-4430-EB9F-5F9F-87DD36F552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  <p:sp>
        <p:nvSpPr>
          <p:cNvPr id="17419" name="Freeform 11">
            <a:extLst>
              <a:ext uri="{FF2B5EF4-FFF2-40B4-BE49-F238E27FC236}">
                <a16:creationId xmlns:a16="http://schemas.microsoft.com/office/drawing/2014/main" id="{120D5975-5CA0-8F82-DC6F-88B79BC6DB59}"/>
              </a:ext>
            </a:extLst>
          </p:cNvPr>
          <p:cNvSpPr>
            <a:spLocks/>
          </p:cNvSpPr>
          <p:nvPr/>
        </p:nvSpPr>
        <p:spPr bwMode="auto">
          <a:xfrm>
            <a:off x="1054100" y="1249363"/>
            <a:ext cx="5946775" cy="4979987"/>
          </a:xfrm>
          <a:custGeom>
            <a:avLst/>
            <a:gdLst>
              <a:gd name="T0" fmla="*/ 2147483646 w 3746"/>
              <a:gd name="T1" fmla="*/ 2147483646 h 3137"/>
              <a:gd name="T2" fmla="*/ 2147483646 w 3746"/>
              <a:gd name="T3" fmla="*/ 2147483646 h 3137"/>
              <a:gd name="T4" fmla="*/ 2147483646 w 3746"/>
              <a:gd name="T5" fmla="*/ 2147483646 h 3137"/>
              <a:gd name="T6" fmla="*/ 2147483646 w 3746"/>
              <a:gd name="T7" fmla="*/ 2147483646 h 3137"/>
              <a:gd name="T8" fmla="*/ 2147483646 w 3746"/>
              <a:gd name="T9" fmla="*/ 2147483646 h 3137"/>
              <a:gd name="T10" fmla="*/ 2147483646 w 3746"/>
              <a:gd name="T11" fmla="*/ 2147483646 h 3137"/>
              <a:gd name="T12" fmla="*/ 2147483646 w 3746"/>
              <a:gd name="T13" fmla="*/ 2147483646 h 3137"/>
              <a:gd name="T14" fmla="*/ 2147483646 w 3746"/>
              <a:gd name="T15" fmla="*/ 2147483646 h 3137"/>
              <a:gd name="T16" fmla="*/ 2147483646 w 3746"/>
              <a:gd name="T17" fmla="*/ 2147483646 h 3137"/>
              <a:gd name="T18" fmla="*/ 2147483646 w 3746"/>
              <a:gd name="T19" fmla="*/ 2147483646 h 313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3746"/>
              <a:gd name="T31" fmla="*/ 0 h 3137"/>
              <a:gd name="T32" fmla="*/ 3746 w 3746"/>
              <a:gd name="T33" fmla="*/ 3137 h 313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3746" h="3137">
                <a:moveTo>
                  <a:pt x="766" y="3051"/>
                </a:moveTo>
                <a:cubicBezTo>
                  <a:pt x="494" y="3045"/>
                  <a:pt x="309" y="2989"/>
                  <a:pt x="183" y="2794"/>
                </a:cubicBezTo>
                <a:cubicBezTo>
                  <a:pt x="57" y="2599"/>
                  <a:pt x="11" y="2216"/>
                  <a:pt x="9" y="1878"/>
                </a:cubicBezTo>
                <a:cubicBezTo>
                  <a:pt x="7" y="1540"/>
                  <a:pt x="0" y="1064"/>
                  <a:pt x="169" y="768"/>
                </a:cubicBezTo>
                <a:cubicBezTo>
                  <a:pt x="338" y="472"/>
                  <a:pt x="494" y="202"/>
                  <a:pt x="1022" y="101"/>
                </a:cubicBezTo>
                <a:cubicBezTo>
                  <a:pt x="1550" y="0"/>
                  <a:pt x="2934" y="14"/>
                  <a:pt x="3340" y="164"/>
                </a:cubicBezTo>
                <a:cubicBezTo>
                  <a:pt x="3746" y="314"/>
                  <a:pt x="3715" y="830"/>
                  <a:pt x="3458" y="1003"/>
                </a:cubicBezTo>
                <a:cubicBezTo>
                  <a:pt x="3201" y="1176"/>
                  <a:pt x="2074" y="901"/>
                  <a:pt x="1800" y="1205"/>
                </a:cubicBezTo>
                <a:cubicBezTo>
                  <a:pt x="1526" y="1509"/>
                  <a:pt x="1985" y="2521"/>
                  <a:pt x="1813" y="2829"/>
                </a:cubicBezTo>
                <a:cubicBezTo>
                  <a:pt x="1641" y="3137"/>
                  <a:pt x="1038" y="3057"/>
                  <a:pt x="766" y="3051"/>
                </a:cubicBezTo>
                <a:close/>
              </a:path>
            </a:pathLst>
          </a:custGeom>
          <a:noFill/>
          <a:ln w="28575" cmpd="sng">
            <a:solidFill>
              <a:srgbClr val="B4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6629" name="Text Box 16">
            <a:extLst>
              <a:ext uri="{FF2B5EF4-FFF2-40B4-BE49-F238E27FC236}">
                <a16:creationId xmlns:a16="http://schemas.microsoft.com/office/drawing/2014/main" id="{13E6C058-23FA-A6C7-55A7-FA62687A93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pt-BR" altLang="pt-BR" sz="1600" i="1">
                <a:solidFill>
                  <a:srgbClr val="B40000"/>
                </a:solidFill>
                <a:latin typeface="Verdana" panose="020B0604030504040204" pitchFamily="34" charset="0"/>
              </a:rPr>
              <a:t>PI</a:t>
            </a:r>
          </a:p>
        </p:txBody>
      </p:sp>
      <p:sp>
        <p:nvSpPr>
          <p:cNvPr id="26631" name="Text Box 18">
            <a:extLst>
              <a:ext uri="{FF2B5EF4-FFF2-40B4-BE49-F238E27FC236}">
                <a16:creationId xmlns:a16="http://schemas.microsoft.com/office/drawing/2014/main" id="{6F3136E7-A4E3-EBFE-4DB5-7703AAD577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8350" y="5032375"/>
            <a:ext cx="1892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5DEE0E5-9622-B15B-5C29-B95E0F2C1281}"/>
              </a:ext>
            </a:extLst>
          </p:cNvPr>
          <p:cNvSpPr/>
          <p:nvPr/>
        </p:nvSpPr>
        <p:spPr bwMode="auto">
          <a:xfrm>
            <a:off x="1706293" y="4683125"/>
            <a:ext cx="2232025" cy="1943100"/>
          </a:xfrm>
          <a:prstGeom prst="ellipse">
            <a:avLst/>
          </a:prstGeom>
          <a:noFill/>
          <a:ln w="5715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15240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5" grpId="0" animBg="1"/>
    </p:bldLst>
  </p:timing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8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8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FB952CF52B7DE4ABAC1D5EF85AB9ACF" ma:contentTypeVersion="8" ma:contentTypeDescription="Crie um novo documento." ma:contentTypeScope="" ma:versionID="4012478236954615fd655ec24943ae3a">
  <xsd:schema xmlns:xsd="http://www.w3.org/2001/XMLSchema" xmlns:xs="http://www.w3.org/2001/XMLSchema" xmlns:p="http://schemas.microsoft.com/office/2006/metadata/properties" xmlns:ns2="0616edac-8b85-431d-b1bb-a5cc9cdccc91" targetNamespace="http://schemas.microsoft.com/office/2006/metadata/properties" ma:root="true" ma:fieldsID="e7b2c68f65d9ff28806c01b3f086190d" ns2:_="">
    <xsd:import namespace="0616edac-8b85-431d-b1bb-a5cc9cdccc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16edac-8b85-431d-b1bb-a5cc9cdccc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155C029-46D8-4DED-8619-B3E45764F02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D34AC81-7E98-45E9-9F74-766329F2990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16edac-8b85-431d-b1bb-a5cc9cdccc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9EB9818-208D-4849-B9E1-FEC74C8B3617}">
  <ds:schemaRefs>
    <ds:schemaRef ds:uri="http://schemas.microsoft.com/office/2006/metadata/properties"/>
    <ds:schemaRef ds:uri="http://purl.org/dc/terms/"/>
    <ds:schemaRef ds:uri="http://www.w3.org/XML/1998/namespace"/>
    <ds:schemaRef ds:uri="http://schemas.microsoft.com/office/infopath/2007/PartnerControls"/>
    <ds:schemaRef ds:uri="http://purl.org/dc/elements/1.1/"/>
    <ds:schemaRef ds:uri="0616edac-8b85-431d-b1bb-a5cc9cdccc91"/>
    <ds:schemaRef ds:uri="http://schemas.microsoft.com/office/2006/documentManagement/types"/>
    <ds:schemaRef ds:uri="http://schemas.openxmlformats.org/package/2006/metadata/core-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2418</TotalTime>
  <Words>1997</Words>
  <Application>Microsoft Macintosh PowerPoint</Application>
  <PresentationFormat>Apresentação na tela (4:3)</PresentationFormat>
  <Paragraphs>268</Paragraphs>
  <Slides>50</Slides>
  <Notes>31</Notes>
  <HiddenSlides>6</HiddenSlides>
  <MMClips>0</MMClips>
  <ScaleCrop>false</ScaleCrop>
  <HeadingPairs>
    <vt:vector size="8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50</vt:i4>
      </vt:variant>
    </vt:vector>
  </HeadingPairs>
  <TitlesOfParts>
    <vt:vector size="58" baseType="lpstr">
      <vt:lpstr>Arial</vt:lpstr>
      <vt:lpstr>Georgia</vt:lpstr>
      <vt:lpstr>Tahoma</vt:lpstr>
      <vt:lpstr>Times New Roman</vt:lpstr>
      <vt:lpstr>Verdana</vt:lpstr>
      <vt:lpstr>Wingdings</vt:lpstr>
      <vt:lpstr>Design padrão</vt:lpstr>
      <vt:lpstr>Figura</vt:lpstr>
      <vt:lpstr>Apresentação do PowerPoint</vt:lpstr>
      <vt:lpstr>Entradas e Saídas do PI</vt:lpstr>
      <vt:lpstr>Principais Informações do PI</vt:lpstr>
      <vt:lpstr>ESCOPO DO PRODUTO</vt:lpstr>
      <vt:lpstr>Apresentação do PowerPoint</vt:lpstr>
      <vt:lpstr>APRESENTAÇÃO DO PROBLEMA</vt:lpstr>
      <vt:lpstr>Principais Informações do PI</vt:lpstr>
      <vt:lpstr>CV em Espiral</vt:lpstr>
      <vt:lpstr>CLIENTES DO PROJETO</vt:lpstr>
      <vt:lpstr>Apresentação do PowerPoint</vt:lpstr>
      <vt:lpstr>Principais Informações do PI</vt:lpstr>
      <vt:lpstr>Coletar Necessidades  dos Clientes por Fase do CV</vt:lpstr>
      <vt:lpstr>Coletar Necessidades  dos Clientes por Fase do CV</vt:lpstr>
      <vt:lpstr>Apresentação do PowerPoint</vt:lpstr>
      <vt:lpstr>Tipos de Necessidades</vt:lpstr>
      <vt:lpstr>Necessidades  Manifestas e Reais</vt:lpstr>
      <vt:lpstr>USO</vt:lpstr>
      <vt:lpstr>Necessidades  Manifestas, Reais</vt:lpstr>
      <vt:lpstr>Necessidades por um Carro (Transporte)</vt:lpstr>
      <vt:lpstr>Necessidades por uma Casa (Moradia)</vt:lpstr>
      <vt:lpstr>Necessidades Latentes</vt:lpstr>
      <vt:lpstr>Necessidades Culturais</vt:lpstr>
      <vt:lpstr>Necessidades Culturais</vt:lpstr>
      <vt:lpstr>Necessidades Culturais</vt:lpstr>
      <vt:lpstr>Necessidades Culturais</vt:lpstr>
      <vt:lpstr>NECESSIDADES REFERENTES A MANUTENÇÃO </vt:lpstr>
      <vt:lpstr>NECESSIDADES LOGISTICAS DO PRODUTO</vt:lpstr>
      <vt:lpstr>NECESSIDADES LOGISTICAS DO PRODUTO</vt:lpstr>
      <vt:lpstr>NECESSIDADES DE USO</vt:lpstr>
      <vt:lpstr>Necessidades Atribuíveis a Usos Inesperados</vt:lpstr>
      <vt:lpstr>Necessidades Atribuíveis a Usos Inesperados</vt:lpstr>
      <vt:lpstr>Necessidades  Atribuíveis a Usos Inesperados</vt:lpstr>
      <vt:lpstr>Necessidades  Atribuíveis a Usos Inesperados</vt:lpstr>
      <vt:lpstr>Necessidades Relativas à Satisfação do Produto</vt:lpstr>
      <vt:lpstr>Necessidades Relativas à Satisfação do Produto</vt:lpstr>
      <vt:lpstr>Como Descobrir as Necessidades</vt:lpstr>
      <vt:lpstr>Apresentação do PowerPoint</vt:lpstr>
      <vt:lpstr>Técnicas de Pesquisa para o Levantamento de Informações</vt:lpstr>
      <vt:lpstr>OBSERVAÇÕES DIRETAS</vt:lpstr>
      <vt:lpstr>ENTREVISTAS</vt:lpstr>
      <vt:lpstr>QUESTIONÁRIOS</vt:lpstr>
      <vt:lpstr>GRUPOS FOCAIS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Principais Informações do PI</vt:lpstr>
    </vt:vector>
  </TitlesOfParts>
  <Company>UFSC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Forcellini</dc:creator>
  <cp:lastModifiedBy>Andrea Cristina dos Santos</cp:lastModifiedBy>
  <cp:revision>258</cp:revision>
  <dcterms:created xsi:type="dcterms:W3CDTF">2005-02-20T23:18:54Z</dcterms:created>
  <dcterms:modified xsi:type="dcterms:W3CDTF">2024-12-03T18:51:07Z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0x010100FFB952CF52B7DE4ABAC1D5EF85AB9ACF</vt:lpwstr>
  </property>
</Properties>
</file>