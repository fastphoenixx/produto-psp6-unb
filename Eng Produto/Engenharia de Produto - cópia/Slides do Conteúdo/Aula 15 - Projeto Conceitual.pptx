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62"/>
  </p:notesMasterIdLst>
  <p:handoutMasterIdLst>
    <p:handoutMasterId r:id="rId63"/>
  </p:handoutMasterIdLst>
  <p:sldIdLst>
    <p:sldId id="554" r:id="rId4"/>
    <p:sldId id="800" r:id="rId5"/>
    <p:sldId id="803" r:id="rId6"/>
    <p:sldId id="900" r:id="rId7"/>
    <p:sldId id="901" r:id="rId8"/>
    <p:sldId id="902" r:id="rId9"/>
    <p:sldId id="809" r:id="rId10"/>
    <p:sldId id="822" r:id="rId11"/>
    <p:sldId id="825" r:id="rId12"/>
    <p:sldId id="826" r:id="rId13"/>
    <p:sldId id="835" r:id="rId14"/>
    <p:sldId id="836" r:id="rId15"/>
    <p:sldId id="838" r:id="rId16"/>
    <p:sldId id="844" r:id="rId17"/>
    <p:sldId id="847" r:id="rId18"/>
    <p:sldId id="853" r:id="rId19"/>
    <p:sldId id="854" r:id="rId20"/>
    <p:sldId id="856" r:id="rId21"/>
    <p:sldId id="857" r:id="rId22"/>
    <p:sldId id="858" r:id="rId23"/>
    <p:sldId id="859" r:id="rId24"/>
    <p:sldId id="860" r:id="rId25"/>
    <p:sldId id="861" r:id="rId26"/>
    <p:sldId id="862" r:id="rId27"/>
    <p:sldId id="863" r:id="rId28"/>
    <p:sldId id="864" r:id="rId29"/>
    <p:sldId id="865" r:id="rId30"/>
    <p:sldId id="866" r:id="rId31"/>
    <p:sldId id="867" r:id="rId32"/>
    <p:sldId id="868" r:id="rId33"/>
    <p:sldId id="869" r:id="rId34"/>
    <p:sldId id="870" r:id="rId35"/>
    <p:sldId id="871" r:id="rId36"/>
    <p:sldId id="872" r:id="rId37"/>
    <p:sldId id="873" r:id="rId38"/>
    <p:sldId id="874" r:id="rId39"/>
    <p:sldId id="875" r:id="rId40"/>
    <p:sldId id="876" r:id="rId41"/>
    <p:sldId id="877" r:id="rId42"/>
    <p:sldId id="878" r:id="rId43"/>
    <p:sldId id="879" r:id="rId44"/>
    <p:sldId id="883" r:id="rId45"/>
    <p:sldId id="884" r:id="rId46"/>
    <p:sldId id="885" r:id="rId47"/>
    <p:sldId id="886" r:id="rId48"/>
    <p:sldId id="887" r:id="rId49"/>
    <p:sldId id="888" r:id="rId50"/>
    <p:sldId id="889" r:id="rId51"/>
    <p:sldId id="890" r:id="rId52"/>
    <p:sldId id="891" r:id="rId53"/>
    <p:sldId id="892" r:id="rId54"/>
    <p:sldId id="893" r:id="rId55"/>
    <p:sldId id="894" r:id="rId56"/>
    <p:sldId id="895" r:id="rId57"/>
    <p:sldId id="896" r:id="rId58"/>
    <p:sldId id="897" r:id="rId59"/>
    <p:sldId id="898" r:id="rId60"/>
    <p:sldId id="899" r:id="rId61"/>
  </p:sldIdLst>
  <p:sldSz cx="9144000" cy="6858000" type="screen4x3"/>
  <p:notesSz cx="7099300" cy="10234613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87" autoAdjust="0"/>
    <p:restoredTop sz="86782" autoAdjust="0"/>
  </p:normalViewPr>
  <p:slideViewPr>
    <p:cSldViewPr snapToGrid="0">
      <p:cViewPr varScale="1">
        <p:scale>
          <a:sx n="112" d="100"/>
          <a:sy n="112" d="100"/>
        </p:scale>
        <p:origin x="2272" y="200"/>
      </p:cViewPr>
      <p:guideLst>
        <p:guide orient="horz" pos="216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7266"/>
    </p:cViewPr>
  </p:sorterViewPr>
  <p:notesViewPr>
    <p:cSldViewPr snapToGrid="0">
      <p:cViewPr varScale="1">
        <p:scale>
          <a:sx n="51" d="100"/>
          <a:sy n="51" d="100"/>
        </p:scale>
        <p:origin x="-2616" y="-90"/>
      </p:cViewPr>
      <p:guideLst>
        <p:guide orient="horz" pos="3223"/>
        <p:guide pos="2236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handoutMaster" Target="handoutMasters/handoutMaster1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ableStyles" Target="tableStyles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7A21CAD3-060E-8492-D654-650C8C2F8E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lnSpc>
                <a:spcPct val="8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DDFBB18-E8B2-464E-424D-6E213892131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lnSpc>
                <a:spcPct val="8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fld id="{76C70BAB-F84E-4CEF-8DAA-FDA09EB7063F}" type="datetimeFigureOut">
              <a:rPr lang="pt-BR"/>
              <a:pPr>
                <a:defRPr/>
              </a:pPr>
              <a:t>16/12/2024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A4FFFEC-A522-D0F4-0A5E-CCE92AF208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lnSpc>
                <a:spcPct val="8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95AA7D1-5FD4-0C09-6F14-A97BF7A4AE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80000"/>
              </a:lnSpc>
              <a:defRPr sz="1300"/>
            </a:lvl1pPr>
          </a:lstStyle>
          <a:p>
            <a:pPr>
              <a:defRPr/>
            </a:pPr>
            <a:fld id="{E733DA59-E3AE-4334-B441-D9A96B1623F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87522A1-6CDC-52AB-8E3E-4B491EA8F3B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9D86CDE3-5688-9634-BFE7-88D9EF0EABE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10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C021799A-EC7E-4B8C-0A79-E1DDE98C34A6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414804EC-5767-045E-A423-3B3AD1EAF19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1F3AECA4-3DAD-113D-9263-AC01D841A65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9AAEB81A-74D3-7A5E-A456-ADEE0C0757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131BB74E-2C52-4C4D-9493-E663076B136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pt.wikipedia.org/wiki/1900" TargetMode="External"/><Relationship Id="rId3" Type="http://schemas.openxmlformats.org/officeDocument/2006/relationships/hyperlink" Target="http://pt.wikipedia.org/wiki/R%C3%B6cken" TargetMode="External"/><Relationship Id="rId7" Type="http://schemas.openxmlformats.org/officeDocument/2006/relationships/hyperlink" Target="http://pt.wikipedia.org/wiki/25_de_Agosto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pt.wikipedia.org/wiki/Weimar" TargetMode="External"/><Relationship Id="rId11" Type="http://schemas.openxmlformats.org/officeDocument/2006/relationships/hyperlink" Target="http://pt.wikipedia.org/wiki/S%C3%A9culo_XIX" TargetMode="External"/><Relationship Id="rId5" Type="http://schemas.openxmlformats.org/officeDocument/2006/relationships/hyperlink" Target="http://pt.wikipedia.org/wiki/1844" TargetMode="External"/><Relationship Id="rId10" Type="http://schemas.openxmlformats.org/officeDocument/2006/relationships/hyperlink" Target="http://pt.wikipedia.org/wiki/Alemanha" TargetMode="External"/><Relationship Id="rId4" Type="http://schemas.openxmlformats.org/officeDocument/2006/relationships/hyperlink" Target="http://pt.wikipedia.org/wiki/15_de_Outubro" TargetMode="External"/><Relationship Id="rId9" Type="http://schemas.openxmlformats.org/officeDocument/2006/relationships/hyperlink" Target="http://pt.wikipedia.org/wiki/Filosofia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>
            <a:extLst>
              <a:ext uri="{FF2B5EF4-FFF2-40B4-BE49-F238E27FC236}">
                <a16:creationId xmlns:a16="http://schemas.microsoft.com/office/drawing/2014/main" id="{0948A8A6-7DC5-3168-E4FC-425C41FA5D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7284F7-793B-478E-AF9F-29E90E4B1C0A}" type="slidenum">
              <a:rPr lang="pt-BR" altLang="pt-BR" sz="1300" smtClean="0"/>
              <a:pPr/>
              <a:t>8</a:t>
            </a:fld>
            <a:endParaRPr lang="pt-BR" altLang="pt-BR" sz="1300"/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634D6E2B-0617-9692-C3D5-66C1C58022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CCFCA3AB-3C2C-F0E4-5CDF-BA5DAC833C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Espaço Reservado para Imagem de Slide 1">
            <a:extLst>
              <a:ext uri="{FF2B5EF4-FFF2-40B4-BE49-F238E27FC236}">
                <a16:creationId xmlns:a16="http://schemas.microsoft.com/office/drawing/2014/main" id="{8988335B-1AF8-2183-0C7C-B44EE75FD57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26626" name="Espaço Reservado para Anotações 2">
            <a:extLst>
              <a:ext uri="{FF2B5EF4-FFF2-40B4-BE49-F238E27FC236}">
                <a16:creationId xmlns:a16="http://schemas.microsoft.com/office/drawing/2014/main" id="{29C0F3F4-5645-92B3-A3B5-06C4716CE6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Char char="-"/>
            </a:pPr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Espaço Reservado para Imagem de Slide 1">
            <a:extLst>
              <a:ext uri="{FF2B5EF4-FFF2-40B4-BE49-F238E27FC236}">
                <a16:creationId xmlns:a16="http://schemas.microsoft.com/office/drawing/2014/main" id="{EA2B09FB-487E-B1D7-C105-7C1571F1C7A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29698" name="Espaço Reservado para Anotações 2">
            <a:extLst>
              <a:ext uri="{FF2B5EF4-FFF2-40B4-BE49-F238E27FC236}">
                <a16:creationId xmlns:a16="http://schemas.microsoft.com/office/drawing/2014/main" id="{F8D8A7FF-508D-76E9-8A0F-4F335F000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latin typeface="Arial" panose="020B0604020202020204" pitchFamily="34" charset="0"/>
              </a:rPr>
              <a:t>- </a:t>
            </a:r>
            <a:r>
              <a:rPr lang="pt-BR" altLang="pt-BR" b="1">
                <a:latin typeface="Arial" panose="020B0604020202020204" pitchFamily="34" charset="0"/>
              </a:rPr>
              <a:t>Friedrich Wilhelm Nietzsche</a:t>
            </a:r>
            <a:r>
              <a:rPr lang="pt-BR" altLang="pt-BR">
                <a:latin typeface="Arial" panose="020B0604020202020204" pitchFamily="34" charset="0"/>
              </a:rPr>
              <a:t> (</a:t>
            </a:r>
            <a:r>
              <a:rPr lang="pt-BR" altLang="pt-BR">
                <a:latin typeface="Arial" panose="020B0604020202020204" pitchFamily="34" charset="0"/>
                <a:hlinkClick r:id="rId3" action="ppaction://hlinkfile" tooltip="Röcken"/>
              </a:rPr>
              <a:t>Röcken</a:t>
            </a:r>
            <a:r>
              <a:rPr lang="pt-BR" altLang="pt-BR">
                <a:latin typeface="Arial" panose="020B0604020202020204" pitchFamily="34" charset="0"/>
              </a:rPr>
              <a:t>, </a:t>
            </a:r>
            <a:r>
              <a:rPr lang="pt-BR" altLang="pt-BR">
                <a:latin typeface="Arial" panose="020B0604020202020204" pitchFamily="34" charset="0"/>
                <a:hlinkClick r:id="rId4" action="ppaction://hlinkfile" tooltip="15 de Outubro"/>
              </a:rPr>
              <a:t>15 de Outubro</a:t>
            </a:r>
            <a:r>
              <a:rPr lang="pt-BR" altLang="pt-BR">
                <a:latin typeface="Arial" panose="020B0604020202020204" pitchFamily="34" charset="0"/>
              </a:rPr>
              <a:t> de </a:t>
            </a:r>
            <a:r>
              <a:rPr lang="pt-BR" altLang="pt-BR">
                <a:latin typeface="Arial" panose="020B0604020202020204" pitchFamily="34" charset="0"/>
                <a:hlinkClick r:id="rId5" action="ppaction://hlinkfile" tooltip="1844"/>
              </a:rPr>
              <a:t>1844</a:t>
            </a:r>
            <a:r>
              <a:rPr lang="pt-BR" altLang="pt-BR">
                <a:latin typeface="Arial" panose="020B0604020202020204" pitchFamily="34" charset="0"/>
              </a:rPr>
              <a:t> — </a:t>
            </a:r>
            <a:r>
              <a:rPr lang="pt-BR" altLang="pt-BR">
                <a:latin typeface="Arial" panose="020B0604020202020204" pitchFamily="34" charset="0"/>
                <a:hlinkClick r:id="rId6" action="ppaction://hlinkfile" tooltip="Weimar"/>
              </a:rPr>
              <a:t>Weimar</a:t>
            </a:r>
            <a:r>
              <a:rPr lang="pt-BR" altLang="pt-BR">
                <a:latin typeface="Arial" panose="020B0604020202020204" pitchFamily="34" charset="0"/>
              </a:rPr>
              <a:t>, </a:t>
            </a:r>
            <a:r>
              <a:rPr lang="pt-BR" altLang="pt-BR">
                <a:latin typeface="Arial" panose="020B0604020202020204" pitchFamily="34" charset="0"/>
                <a:hlinkClick r:id="rId7" action="ppaction://hlinkfile" tooltip="25 de Agosto"/>
              </a:rPr>
              <a:t>25 de Agosto</a:t>
            </a:r>
            <a:r>
              <a:rPr lang="pt-BR" altLang="pt-BR">
                <a:latin typeface="Arial" panose="020B0604020202020204" pitchFamily="34" charset="0"/>
              </a:rPr>
              <a:t> de </a:t>
            </a:r>
            <a:r>
              <a:rPr lang="pt-BR" altLang="pt-BR">
                <a:latin typeface="Arial" panose="020B0604020202020204" pitchFamily="34" charset="0"/>
                <a:hlinkClick r:id="rId8" action="ppaction://hlinkfile" tooltip="1900"/>
              </a:rPr>
              <a:t>1900</a:t>
            </a:r>
            <a:r>
              <a:rPr lang="pt-BR" altLang="pt-BR">
                <a:latin typeface="Arial" panose="020B0604020202020204" pitchFamily="34" charset="0"/>
              </a:rPr>
              <a:t>) foi um influente </a:t>
            </a:r>
            <a:r>
              <a:rPr lang="pt-BR" altLang="pt-BR">
                <a:latin typeface="Arial" panose="020B0604020202020204" pitchFamily="34" charset="0"/>
                <a:hlinkClick r:id="rId9" action="ppaction://hlinkfile" tooltip="Filosofia"/>
              </a:rPr>
              <a:t>filósofo</a:t>
            </a:r>
            <a:r>
              <a:rPr lang="pt-BR" altLang="pt-BR">
                <a:latin typeface="Arial" panose="020B0604020202020204" pitchFamily="34" charset="0"/>
              </a:rPr>
              <a:t> </a:t>
            </a:r>
            <a:r>
              <a:rPr lang="pt-BR" altLang="pt-BR">
                <a:latin typeface="Arial" panose="020B0604020202020204" pitchFamily="34" charset="0"/>
                <a:hlinkClick r:id="rId10" action="ppaction://hlinkfile" tooltip="Alemanha"/>
              </a:rPr>
              <a:t>alemão</a:t>
            </a:r>
            <a:r>
              <a:rPr lang="pt-BR" altLang="pt-BR">
                <a:latin typeface="Arial" panose="020B0604020202020204" pitchFamily="34" charset="0"/>
              </a:rPr>
              <a:t> do </a:t>
            </a:r>
            <a:r>
              <a:rPr lang="pt-BR" altLang="pt-BR">
                <a:latin typeface="Arial" panose="020B0604020202020204" pitchFamily="34" charset="0"/>
                <a:hlinkClick r:id="rId11" action="ppaction://hlinkfile" tooltip="Século XIX"/>
              </a:rPr>
              <a:t>século XIX</a:t>
            </a:r>
            <a:r>
              <a:rPr lang="pt-BR" altLang="pt-BR">
                <a:latin typeface="Arial" panose="020B0604020202020204" pitchFamily="34" charset="0"/>
              </a:rPr>
              <a:t>.</a:t>
            </a:r>
          </a:p>
          <a:p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29699" name="Espaço Reservado para Número de Slide 3">
            <a:extLst>
              <a:ext uri="{FF2B5EF4-FFF2-40B4-BE49-F238E27FC236}">
                <a16:creationId xmlns:a16="http://schemas.microsoft.com/office/drawing/2014/main" id="{98ECC8C6-7428-2B2E-AF35-0BCF7C1B64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439CAF-4FA4-4762-9678-516E75562425}" type="slidenum">
              <a:rPr lang="pt-BR" altLang="pt-BR" sz="1300" smtClean="0"/>
              <a:pPr/>
              <a:t>11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Espaço Reservado para Imagem de Slide 1">
            <a:extLst>
              <a:ext uri="{FF2B5EF4-FFF2-40B4-BE49-F238E27FC236}">
                <a16:creationId xmlns:a16="http://schemas.microsoft.com/office/drawing/2014/main" id="{782009F1-713F-DBBB-EC15-641BBA1087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31746" name="Espaço Reservado para Anotações 2">
            <a:extLst>
              <a:ext uri="{FF2B5EF4-FFF2-40B4-BE49-F238E27FC236}">
                <a16:creationId xmlns:a16="http://schemas.microsoft.com/office/drawing/2014/main" id="{6D49EF4E-781F-9813-2733-A546FC3A8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latin typeface="Arial" panose="020B0604020202020204" pitchFamily="34" charset="0"/>
              </a:rPr>
              <a:t>- Falar da irrelevância de se criar uma maquina de desentortar bananas.</a:t>
            </a:r>
          </a:p>
          <a:p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31747" name="Espaço Reservado para Número de Slide 3">
            <a:extLst>
              <a:ext uri="{FF2B5EF4-FFF2-40B4-BE49-F238E27FC236}">
                <a16:creationId xmlns:a16="http://schemas.microsoft.com/office/drawing/2014/main" id="{FD1064D4-9EEF-AF8E-FBF5-B88961EA25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3678860-8998-4FC6-9740-DCB30AD37C64}" type="slidenum">
              <a:rPr lang="pt-BR" altLang="pt-BR" sz="1300" smtClean="0"/>
              <a:pPr/>
              <a:t>12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Espaço Reservado para Imagem de Slide 1">
            <a:extLst>
              <a:ext uri="{FF2B5EF4-FFF2-40B4-BE49-F238E27FC236}">
                <a16:creationId xmlns:a16="http://schemas.microsoft.com/office/drawing/2014/main" id="{3366B37C-8462-226F-4C06-43765A4849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33794" name="Espaço Reservado para Anotações 2">
            <a:extLst>
              <a:ext uri="{FF2B5EF4-FFF2-40B4-BE49-F238E27FC236}">
                <a16:creationId xmlns:a16="http://schemas.microsoft.com/office/drawing/2014/main" id="{9A34B406-5591-6D39-1F10-5C91A2763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latin typeface="Arial" panose="020B0604020202020204" pitchFamily="34" charset="0"/>
              </a:rPr>
              <a:t>- Também podemos melhor compreender o que é criatividade contrastando-a com o que é geralmente tido por inteligência.</a:t>
            </a:r>
          </a:p>
          <a:p>
            <a:endParaRPr lang="pt-BR" altLang="pt-BR">
              <a:latin typeface="Arial" panose="020B0604020202020204" pitchFamily="34" charset="0"/>
            </a:endParaRPr>
          </a:p>
          <a:p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33795" name="Espaço Reservado para Número de Slide 3">
            <a:extLst>
              <a:ext uri="{FF2B5EF4-FFF2-40B4-BE49-F238E27FC236}">
                <a16:creationId xmlns:a16="http://schemas.microsoft.com/office/drawing/2014/main" id="{5115D81C-2B70-916C-F4DB-41B7683D7F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04F9379-4171-4B4A-9C28-200F5256B5D2}" type="slidenum">
              <a:rPr lang="pt-BR" altLang="pt-BR" sz="1300" smtClean="0"/>
              <a:pPr/>
              <a:t>13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Espaço Reservado para Imagem de Slide 1">
            <a:extLst>
              <a:ext uri="{FF2B5EF4-FFF2-40B4-BE49-F238E27FC236}">
                <a16:creationId xmlns:a16="http://schemas.microsoft.com/office/drawing/2014/main" id="{CFEF6049-414E-5E1A-EB17-5FE6846BC7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35842" name="Espaço Reservado para Anotações 2">
            <a:extLst>
              <a:ext uri="{FF2B5EF4-FFF2-40B4-BE49-F238E27FC236}">
                <a16:creationId xmlns:a16="http://schemas.microsoft.com/office/drawing/2014/main" id="{488EA30E-C97F-50C1-7FC1-5FA389CCA0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  <p:sp>
        <p:nvSpPr>
          <p:cNvPr id="35843" name="Espaço Reservado para Número de Slide 3">
            <a:extLst>
              <a:ext uri="{FF2B5EF4-FFF2-40B4-BE49-F238E27FC236}">
                <a16:creationId xmlns:a16="http://schemas.microsoft.com/office/drawing/2014/main" id="{B8DA7BA9-75BE-6E51-71CF-3BC9A2BF5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383ED76-EE93-48EB-9734-D757E2076D04}" type="slidenum">
              <a:rPr lang="pt-BR" altLang="pt-BR" sz="1300" smtClean="0"/>
              <a:pPr/>
              <a:t>14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7">
            <a:extLst>
              <a:ext uri="{FF2B5EF4-FFF2-40B4-BE49-F238E27FC236}">
                <a16:creationId xmlns:a16="http://schemas.microsoft.com/office/drawing/2014/main" id="{1676D4C9-B8AD-8525-BA08-C8F326C034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1E903C8-FBB3-46E7-B44C-70444B6D12C8}" type="slidenum">
              <a:rPr lang="pt-BR" altLang="pt-BR" sz="1300" smtClean="0"/>
              <a:pPr/>
              <a:t>15</a:t>
            </a:fld>
            <a:endParaRPr lang="pt-BR" altLang="pt-BR" sz="1300"/>
          </a:p>
        </p:txBody>
      </p:sp>
      <p:sp>
        <p:nvSpPr>
          <p:cNvPr id="37890" name="Rectangle 2">
            <a:extLst>
              <a:ext uri="{FF2B5EF4-FFF2-40B4-BE49-F238E27FC236}">
                <a16:creationId xmlns:a16="http://schemas.microsoft.com/office/drawing/2014/main" id="{38571421-AF0A-B977-3EA7-79209EE045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60167378-8779-EB01-95EF-5BF4CEF124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- Alguns pesquisadores duvidam. Para Harrison e Gough (Imagination – Undeveloped resource, 1962) os vários processos que participam da criação, na verdade, são tão complexos e entreados uns nos outros, que seria irrealístico congelá-los numa simples sequência.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33624275-C070-D0E7-F296-BCC0AC348C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B66AAE2-F829-4A3D-B099-03F1990B5DAD}" type="slidenum">
              <a:rPr lang="pt-BR" altLang="pt-BR" sz="1300" smtClean="0"/>
              <a:pPr/>
              <a:t>16</a:t>
            </a:fld>
            <a:endParaRPr lang="pt-BR" altLang="pt-BR" sz="1300"/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703D21EA-A9AB-5083-EE75-E61ADE7315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1BCB04B-1330-DE09-138F-0AF481F841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Relaciona-se com a fase de Projeto Informacional no PDP.</a:t>
            </a:r>
          </a:p>
          <a:p>
            <a:pPr lvl="1"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Levantamento de necessidades e estabelecimento dos requisitos de engenharia (do produto).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5F9ED351-1C10-6EB2-8EDC-28F59BB86B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ED5E8A-411F-4E73-B137-DEB70AE7607D}" type="slidenum">
              <a:rPr lang="pt-BR" altLang="pt-BR" sz="1300" smtClean="0"/>
              <a:pPr/>
              <a:t>17</a:t>
            </a:fld>
            <a:endParaRPr lang="pt-BR" altLang="pt-BR" sz="1300"/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D43D33F8-1B3A-A3A6-8448-EEF5405DEF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3C12994A-40BE-31E2-EDE7-9AC35994DA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Ou é comum um ator realizar um “laboratório” antes de realizar uma novela. </a:t>
            </a:r>
          </a:p>
          <a:p>
            <a:pPr lvl="1"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Citar um exemplo.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6D720E02-F943-9CB8-C846-F24D5919FE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58860E3-246D-4449-B3A9-B8DA216BA990}" type="slidenum">
              <a:rPr lang="pt-BR" altLang="pt-BR" sz="1300" smtClean="0"/>
              <a:pPr/>
              <a:t>18</a:t>
            </a:fld>
            <a:endParaRPr lang="pt-BR" altLang="pt-BR" sz="130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0584CC2C-B09E-9350-E9E7-FF48F8F3EA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D6708F40-954E-367A-CB53-4962175A52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Essas idéias formam, por assim dizer, o trampolim, em que nossa imaginação se projeta.</a:t>
            </a:r>
          </a:p>
          <a:p>
            <a:pPr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Nas pessoas mais criativas, os êxitos e malogros dos outros servem de estímulo e não de impedimento.</a:t>
            </a:r>
          </a:p>
          <a:p>
            <a:pPr lvl="1"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Incendeiam-lhe a ambição e ânsia de exceder.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7">
            <a:extLst>
              <a:ext uri="{FF2B5EF4-FFF2-40B4-BE49-F238E27FC236}">
                <a16:creationId xmlns:a16="http://schemas.microsoft.com/office/drawing/2014/main" id="{987A7DB0-87EC-1F13-FDD3-4635116F0D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FC2CFC-BF44-42FF-AAC1-CEDF58D9BEE8}" type="slidenum">
              <a:rPr lang="pt-BR" altLang="pt-BR" sz="1300" smtClean="0"/>
              <a:pPr/>
              <a:t>19</a:t>
            </a:fld>
            <a:endParaRPr lang="pt-BR" altLang="pt-BR" sz="1300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79D8F408-A7ED-BA0C-7B28-B40A175515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2A2A6756-1D07-D4D2-23E4-51969F825D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42E9B861-EB21-7DBC-7A2E-5A3C490170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1E94CED-6C2B-4919-ACB8-DD2323A081A0}" type="slidenum">
              <a:rPr lang="pt-BR" altLang="pt-BR" sz="1300" smtClean="0"/>
              <a:pPr/>
              <a:t>20</a:t>
            </a:fld>
            <a:endParaRPr lang="pt-BR" altLang="pt-BR" sz="1300"/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A74C256A-F5F7-7BC6-C2E6-6B311A739D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EE79E410-F7A5-8B16-69CC-9DA56B9354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Por preparação entende-se a segunda espécie de exploração.</a:t>
            </a:r>
          </a:p>
          <a:p>
            <a:pPr eaLnBrk="1" hangingPunct="1">
              <a:buFontTx/>
              <a:buChar char="-"/>
            </a:pPr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86BCF488-2236-6231-FA3A-BA8BD251C3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7B4AEC-3C9E-40E6-A93E-524354C5F841}" type="slidenum">
              <a:rPr lang="pt-BR" altLang="pt-BR" sz="1300" smtClean="0"/>
              <a:pPr/>
              <a:t>21</a:t>
            </a:fld>
            <a:endParaRPr lang="pt-BR" altLang="pt-BR" sz="1300"/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60C5B995-EA67-1B2F-49ED-E8C9BC547B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A81E051-DFCA-3496-A392-B366872DBD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7">
            <a:extLst>
              <a:ext uri="{FF2B5EF4-FFF2-40B4-BE49-F238E27FC236}">
                <a16:creationId xmlns:a16="http://schemas.microsoft.com/office/drawing/2014/main" id="{6CAEE685-A0FA-E4DF-3564-2855F4FE89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0BEC517-36EF-4A85-9B34-BC2793F0C704}" type="slidenum">
              <a:rPr lang="pt-BR" altLang="pt-BR" sz="1300" smtClean="0"/>
              <a:pPr/>
              <a:t>22</a:t>
            </a:fld>
            <a:endParaRPr lang="pt-BR" altLang="pt-BR" sz="130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81C52DA4-1D37-3D08-3E82-207A93513E9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055966D-641A-2CF1-468C-02C18DEEF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Ou do seu ofício.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7">
            <a:extLst>
              <a:ext uri="{FF2B5EF4-FFF2-40B4-BE49-F238E27FC236}">
                <a16:creationId xmlns:a16="http://schemas.microsoft.com/office/drawing/2014/main" id="{7DCCAE0F-6320-98D2-F5E9-CBA6DEED345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E941C3D-10D3-40B9-89EE-C6913D4B3DC7}" type="slidenum">
              <a:rPr lang="pt-BR" altLang="pt-BR" sz="1300" smtClean="0"/>
              <a:pPr/>
              <a:t>23</a:t>
            </a:fld>
            <a:endParaRPr lang="pt-BR" altLang="pt-BR" sz="1300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17B087DD-2C7F-29FF-FFC4-BF19D5E4F8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DC0B4618-7D49-ABFC-7D20-18A34DB03E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Figura: Demoiselle (Santos Dumont) O projetista de avião, com o tempo, deve adquirir o conhecimento da elasticidade dos diversos materiais, de velocidade aérea, de alteração da temperatura e de adequação das formas e estruturas (além de desenho técnico, é claro).</a:t>
            </a:r>
          </a:p>
          <a:p>
            <a:pPr eaLnBrk="1" hangingPunct="1">
              <a:buFontTx/>
              <a:buChar char="-"/>
            </a:pPr>
            <a:r>
              <a:rPr lang="en-US" altLang="pt-BR">
                <a:latin typeface="Arial" panose="020B0604020202020204" pitchFamily="34" charset="0"/>
              </a:rPr>
              <a:t>Projetista de uma torneira: resistência dos materiais, corrosão, mecânica dos fluidos, estética, ergonomia.</a:t>
            </a:r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3891F883-AF51-645D-FA6E-C538B5503F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7071AD2-2811-4611-AD3A-01BAB0A262DC}" type="slidenum">
              <a:rPr lang="pt-BR" altLang="pt-BR" sz="1300" smtClean="0"/>
              <a:pPr/>
              <a:t>25</a:t>
            </a:fld>
            <a:endParaRPr lang="pt-BR" altLang="pt-BR" sz="1300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B31CEA3D-2B81-1BB7-7464-927092C5D1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37201228-DA99-BB9B-4EF0-A11368FCFB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Sem as limitações do certo e do errado, do bom e do mal, ou seja, sem julgamentos de valores.</a:t>
            </a:r>
          </a:p>
          <a:p>
            <a:pPr lvl="1"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O id sem o ego, no jargão psicanalítico.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7">
            <a:extLst>
              <a:ext uri="{FF2B5EF4-FFF2-40B4-BE49-F238E27FC236}">
                <a16:creationId xmlns:a16="http://schemas.microsoft.com/office/drawing/2014/main" id="{5F326A83-2D4D-3FEF-849C-6967C6C375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E27269B-D452-4B10-98E4-0450B2E011B6}" type="slidenum">
              <a:rPr lang="pt-BR" altLang="pt-BR" sz="1300" smtClean="0"/>
              <a:pPr/>
              <a:t>27</a:t>
            </a:fld>
            <a:endParaRPr lang="pt-BR" altLang="pt-BR" sz="1300"/>
          </a:p>
        </p:txBody>
      </p:sp>
      <p:sp>
        <p:nvSpPr>
          <p:cNvPr id="60418" name="Rectangle 2">
            <a:extLst>
              <a:ext uri="{FF2B5EF4-FFF2-40B4-BE49-F238E27FC236}">
                <a16:creationId xmlns:a16="http://schemas.microsoft.com/office/drawing/2014/main" id="{3E43369B-FE31-2847-3D85-D757310475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71D57E25-BCBF-5474-9176-824613ACA0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A angústia do projetista em busca de uma solução de projeto.</a:t>
            </a:r>
          </a:p>
          <a:p>
            <a:pPr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.</a:t>
            </a:r>
          </a:p>
          <a:p>
            <a:pPr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Falar daquelas experiências com problemas de geometria (ou de um enigma) para o qual não encontramos solução. E somente após uma boa noite de sono as idéias se encaixam e o caminho da solução nos chega.</a:t>
            </a:r>
          </a:p>
          <a:p>
            <a:pPr eaLnBrk="1" hangingPunct="1">
              <a:buFontTx/>
              <a:buChar char="-"/>
            </a:pPr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7">
            <a:extLst>
              <a:ext uri="{FF2B5EF4-FFF2-40B4-BE49-F238E27FC236}">
                <a16:creationId xmlns:a16="http://schemas.microsoft.com/office/drawing/2014/main" id="{BACCB867-B7CF-5B35-0F90-A4D8F94399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8F93F8-DB62-4B3D-8EDA-47D0034F3D67}" type="slidenum">
              <a:rPr lang="pt-BR" altLang="pt-BR" sz="1300" smtClean="0"/>
              <a:pPr/>
              <a:t>28</a:t>
            </a:fld>
            <a:endParaRPr lang="pt-BR" altLang="pt-BR" sz="1300"/>
          </a:p>
        </p:txBody>
      </p:sp>
      <p:sp>
        <p:nvSpPr>
          <p:cNvPr id="62466" name="Rectangle 2">
            <a:extLst>
              <a:ext uri="{FF2B5EF4-FFF2-40B4-BE49-F238E27FC236}">
                <a16:creationId xmlns:a16="http://schemas.microsoft.com/office/drawing/2014/main" id="{0680EFA7-D216-9B53-A7A4-F8D033815D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7067FBE2-1C8A-5962-E4A0-3B0B5CB75F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Nos períodos de pausa (descanso) das atividades de preparação, o inconsciente trabalha na busca por conexões.</a:t>
            </a:r>
          </a:p>
          <a:p>
            <a:pPr lvl="1" eaLnBrk="1" hangingPunct="1">
              <a:buFontTx/>
              <a:buChar char="-"/>
            </a:pPr>
            <a:endParaRPr lang="pt-BR" altLang="pt-BR">
              <a:latin typeface="Arial" panose="020B0604020202020204" pitchFamily="34" charset="0"/>
            </a:endParaRPr>
          </a:p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414B3C9C-8127-613C-F621-17D3DE9166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3ABCC26-A8FE-4F3D-AD96-407E42AE823E}" type="slidenum">
              <a:rPr lang="pt-BR" altLang="pt-BR" sz="1300" smtClean="0"/>
              <a:pPr/>
              <a:t>30</a:t>
            </a:fld>
            <a:endParaRPr lang="pt-BR" altLang="pt-BR" sz="1300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FB151C7A-2E9E-C13B-12B1-686AFD1FF4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DEDAD9ED-0422-C9ED-F322-8420BBB166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Figura de uma lâmpada ou algo que o valha!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DC30761F-F897-661B-8BE1-44E52E2739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E0826F9-51EA-4A4F-AF92-994912B38792}" type="slidenum">
              <a:rPr lang="pt-BR" altLang="pt-BR" sz="1300" smtClean="0"/>
              <a:pPr/>
              <a:t>31</a:t>
            </a:fld>
            <a:endParaRPr lang="pt-BR" altLang="pt-BR" sz="1300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3421DC86-F511-C8EA-9A15-1B7D8E0C7D6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79239E68-5AD3-139C-1BC8-C32C17BF7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Newton produz a “Lei da Gravitação” ao ver uma maçã cair em seu jardim em Woolsthorpe.</a:t>
            </a:r>
          </a:p>
          <a:p>
            <a:pPr eaLnBrk="1" hangingPunct="1">
              <a:buFontTx/>
              <a:buChar char="-"/>
            </a:pPr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F3BCC7FC-6E48-DA5B-B7D0-C7EBDE2E2F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A405D1-95AD-4365-861B-656835E444BE}" type="slidenum">
              <a:rPr lang="pt-BR" altLang="pt-BR" sz="1300" smtClean="0"/>
              <a:pPr/>
              <a:t>32</a:t>
            </a:fld>
            <a:endParaRPr lang="pt-BR" altLang="pt-BR" sz="1300"/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3B5B49E4-9B43-AD59-317A-2B144CD407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173B3EAB-21D0-2881-B956-FF85338CF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6FA60D9B-9EE1-0B3D-5115-6A9E456DD7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0881CED-1D10-4AA6-A7BE-80860BE1D9D9}" type="slidenum">
              <a:rPr lang="pt-BR" altLang="pt-BR" sz="1300" smtClean="0"/>
              <a:pPr/>
              <a:t>33</a:t>
            </a:fld>
            <a:endParaRPr lang="pt-BR" altLang="pt-BR" sz="1300"/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1C8D055D-BBC2-9736-C73B-54EB938A9B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2DFDA09E-3455-B1AA-4B40-ED84F5ABA2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EFFE0989-84C4-017B-86C7-096D19581E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BEE49F-58F9-4C0B-B3E2-010FD7DF6536}" type="slidenum">
              <a:rPr lang="pt-BR" altLang="pt-BR" sz="1300" smtClean="0"/>
              <a:pPr/>
              <a:t>34</a:t>
            </a:fld>
            <a:endParaRPr lang="pt-BR" altLang="pt-BR" sz="1300"/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7073B943-DBA8-1B26-4409-01EE3B1211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D44B31FD-5916-7D0A-4674-3BF5296942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Exaltação de Arquimedes ao descobrir uma forma de descobrir se a coroa do rei havia sido adulterada pelo ourives que a consertou.</a:t>
            </a:r>
          </a:p>
          <a:p>
            <a:pPr eaLnBrk="1" hangingPunct="1">
              <a:buFontTx/>
              <a:buChar char="-"/>
            </a:pPr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0C70E8B7-16AE-AF00-5D48-549AD999F8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B113D7-2F73-4138-B1E1-2DC82DCC023C}" type="slidenum">
              <a:rPr lang="pt-BR" altLang="pt-BR" sz="1300" smtClean="0"/>
              <a:pPr/>
              <a:t>35</a:t>
            </a:fld>
            <a:endParaRPr lang="pt-BR" altLang="pt-BR" sz="1300"/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A956E21A-A4C4-D809-4894-36CD3DD050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79DAC015-7E83-CC24-D8B3-C615296FB1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pt-BR" altLang="pt-BR">
                <a:latin typeface="Arial" panose="020B0604020202020204" pitchFamily="34" charset="0"/>
              </a:rPr>
              <a:t>Happiness is not in the mere possession of money; it lies in the joy of achievement, in the thrill of creative effort. </a:t>
            </a:r>
          </a:p>
          <a:p>
            <a:pPr eaLnBrk="1" hangingPunct="1"/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>
            <a:extLst>
              <a:ext uri="{FF2B5EF4-FFF2-40B4-BE49-F238E27FC236}">
                <a16:creationId xmlns:a16="http://schemas.microsoft.com/office/drawing/2014/main" id="{DDDACE53-9F90-D6DE-C3D6-2159037CA8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E8A457-1569-4681-A928-72FF2C3693CB}" type="slidenum">
              <a:rPr lang="pt-BR" altLang="pt-BR" sz="1300" smtClean="0"/>
              <a:pPr/>
              <a:t>36</a:t>
            </a:fld>
            <a:endParaRPr lang="pt-BR" altLang="pt-BR" sz="1300"/>
          </a:p>
        </p:txBody>
      </p:sp>
      <p:sp>
        <p:nvSpPr>
          <p:cNvPr id="77826" name="Rectangle 2">
            <a:extLst>
              <a:ext uri="{FF2B5EF4-FFF2-40B4-BE49-F238E27FC236}">
                <a16:creationId xmlns:a16="http://schemas.microsoft.com/office/drawing/2014/main" id="{64450D3F-24F9-2A8F-4474-089FB4C12C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5D5A9F13-F088-7A52-6D42-5F45FD08D0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r>
              <a:rPr lang="en-US" altLang="pt-BR">
                <a:latin typeface="Arial" panose="020B0604020202020204" pitchFamily="34" charset="0"/>
              </a:rPr>
              <a:t>Mozart fazia exercícios.</a:t>
            </a:r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959F912B-9DFB-24FE-D0E7-F985DE5111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6B653E-93EB-4092-B6E3-3390650BE8F6}" type="slidenum">
              <a:rPr lang="pt-BR" altLang="pt-BR" sz="1300" smtClean="0"/>
              <a:pPr/>
              <a:t>37</a:t>
            </a:fld>
            <a:endParaRPr lang="pt-BR" altLang="pt-BR" sz="1300"/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D71A08F8-7593-5031-D2A0-C5B83C2F91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AB0C97BF-F9CD-5FAD-5519-0F5E5799C0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r>
              <a:rPr lang="en-US" altLang="pt-BR">
                <a:latin typeface="Arial" panose="020B0604020202020204" pitchFamily="34" charset="0"/>
              </a:rPr>
              <a:t> Woody (de Woody e Sotck)</a:t>
            </a:r>
          </a:p>
          <a:p>
            <a:pPr eaLnBrk="1" hangingPunct="1">
              <a:buFontTx/>
              <a:buChar char="-"/>
            </a:pPr>
            <a:r>
              <a:rPr lang="en-US" altLang="pt-BR">
                <a:latin typeface="Arial" panose="020B0604020202020204" pitchFamily="34" charset="0"/>
              </a:rPr>
              <a:t> Exemplos: Raul Seixas, Bob Marley, etc.</a:t>
            </a:r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7">
            <a:extLst>
              <a:ext uri="{FF2B5EF4-FFF2-40B4-BE49-F238E27FC236}">
                <a16:creationId xmlns:a16="http://schemas.microsoft.com/office/drawing/2014/main" id="{12F3BE25-B3C9-AF72-6497-E0EDE89208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746BA2E-67CF-4FB8-AF17-977C985009B8}" type="slidenum">
              <a:rPr lang="pt-BR" altLang="pt-BR" sz="1300" smtClean="0"/>
              <a:pPr/>
              <a:t>39</a:t>
            </a:fld>
            <a:endParaRPr lang="pt-BR" altLang="pt-BR" sz="1300"/>
          </a:p>
        </p:txBody>
      </p:sp>
      <p:sp>
        <p:nvSpPr>
          <p:cNvPr id="82946" name="Rectangle 2">
            <a:extLst>
              <a:ext uri="{FF2B5EF4-FFF2-40B4-BE49-F238E27FC236}">
                <a16:creationId xmlns:a16="http://schemas.microsoft.com/office/drawing/2014/main" id="{73EDD0D5-D206-0680-4D71-67DA224328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601B27C1-F198-AAAC-C9A9-DE56DA518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Arregaçar as mangas.</a:t>
            </a:r>
          </a:p>
          <a:p>
            <a:pPr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Última fase. o inconsciente), condição necessária à criação, proporciona a matéria-prima da realização criadora.</a:t>
            </a:r>
          </a:p>
          <a:p>
            <a:pPr eaLnBrk="1" hangingPunct="1">
              <a:buFontTx/>
              <a:buChar char="-"/>
            </a:pPr>
            <a:r>
              <a:rPr lang="en-US" altLang="pt-BR">
                <a:latin typeface="Arial" panose="020B0604020202020204" pitchFamily="34" charset="0"/>
              </a:rPr>
              <a:t>Após identificar-s</a:t>
            </a:r>
            <a:endParaRPr lang="pt-BR" altLang="pt-BR">
              <a:latin typeface="Arial" panose="020B0604020202020204" pitchFamily="34" charset="0"/>
            </a:endParaRPr>
          </a:p>
          <a:p>
            <a:pPr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A inpiração (fruto d</a:t>
            </a:r>
            <a:r>
              <a:rPr lang="en-US" altLang="pt-BR">
                <a:latin typeface="Arial" panose="020B0604020202020204" pitchFamily="34" charset="0"/>
              </a:rPr>
              <a:t>e emocionalmente com sua obra, o criador deve recuar e imaginar as reações daqueles com quem intenta se comunicar.</a:t>
            </a:r>
            <a:endParaRPr lang="pt-BR" altLang="pt-BR">
              <a:latin typeface="Arial" panose="020B0604020202020204" pitchFamily="34" charset="0"/>
            </a:endParaRPr>
          </a:p>
          <a:p>
            <a:pPr eaLnBrk="1" hangingPunct="1">
              <a:buFontTx/>
              <a:buChar char="-"/>
            </a:pPr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>
            <a:extLst>
              <a:ext uri="{FF2B5EF4-FFF2-40B4-BE49-F238E27FC236}">
                <a16:creationId xmlns:a16="http://schemas.microsoft.com/office/drawing/2014/main" id="{41031F2E-F319-BFCC-F028-CF5C5A5073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757FCED-CB8E-4670-9A57-DA423E179BD9}" type="slidenum">
              <a:rPr lang="pt-BR" altLang="pt-BR" sz="1300" smtClean="0"/>
              <a:pPr/>
              <a:t>41</a:t>
            </a:fld>
            <a:endParaRPr lang="pt-BR" altLang="pt-BR" sz="1300"/>
          </a:p>
        </p:txBody>
      </p:sp>
      <p:sp>
        <p:nvSpPr>
          <p:cNvPr id="86018" name="Rectangle 2">
            <a:extLst>
              <a:ext uri="{FF2B5EF4-FFF2-40B4-BE49-F238E27FC236}">
                <a16:creationId xmlns:a16="http://schemas.microsoft.com/office/drawing/2014/main" id="{F28BA62A-72DA-2CCC-E614-2DCB72B5EC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ACBA5BFF-8723-287C-0EAE-2E71DB5143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Citar o exemplo de pessoas que são ótimas em ter “boas idéias” , mas péssimas em tocá-las a diante.</a:t>
            </a:r>
          </a:p>
          <a:p>
            <a:pPr lvl="1" eaLnBrk="1" hangingPunct="1">
              <a:buFontTx/>
              <a:buChar char="-"/>
            </a:pPr>
            <a:r>
              <a:rPr lang="pt-BR" altLang="pt-BR">
                <a:latin typeface="Arial" panose="020B0604020202020204" pitchFamily="34" charset="0"/>
              </a:rPr>
              <a:t>Na verdade, até subestimam o trabalho de verificação no processo criativo.</a:t>
            </a:r>
          </a:p>
          <a:p>
            <a:pPr lvl="1" eaLnBrk="1" hangingPunct="1">
              <a:buFontTx/>
              <a:buChar char="-"/>
            </a:pPr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Espaço Reservado para Imagem de Slide 1">
            <a:extLst>
              <a:ext uri="{FF2B5EF4-FFF2-40B4-BE49-F238E27FC236}">
                <a16:creationId xmlns:a16="http://schemas.microsoft.com/office/drawing/2014/main" id="{8582A00C-E93D-6919-B961-78AEE67F5F4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91138" name="Espaço Reservado para Anotações 2">
            <a:extLst>
              <a:ext uri="{FF2B5EF4-FFF2-40B4-BE49-F238E27FC236}">
                <a16:creationId xmlns:a16="http://schemas.microsoft.com/office/drawing/2014/main" id="{F82E2FE9-6B2F-82DD-7937-8F323BDDE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latin typeface="Arial" panose="020B0604020202020204" pitchFamily="34" charset="0"/>
              </a:rPr>
              <a:t>-Outro exemplo: um LAPIS, além de escrever, pode servir para ‘fixar uma porta’, com ‘combustível’ ou como ‘arma de defesa pessoal’.</a:t>
            </a:r>
          </a:p>
        </p:txBody>
      </p:sp>
      <p:sp>
        <p:nvSpPr>
          <p:cNvPr id="91139" name="Espaço Reservado para Número de Slide 3">
            <a:extLst>
              <a:ext uri="{FF2B5EF4-FFF2-40B4-BE49-F238E27FC236}">
                <a16:creationId xmlns:a16="http://schemas.microsoft.com/office/drawing/2014/main" id="{16A3DC72-216E-BABA-0D25-1CD5991BD4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B72E31A-2BAC-4C75-BB65-54E1D19BE649}" type="slidenum">
              <a:rPr lang="pt-BR" altLang="pt-BR" sz="1300" smtClean="0"/>
              <a:pPr/>
              <a:t>45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Espaço Reservado para Imagem de Slide 1">
            <a:extLst>
              <a:ext uri="{FF2B5EF4-FFF2-40B4-BE49-F238E27FC236}">
                <a16:creationId xmlns:a16="http://schemas.microsoft.com/office/drawing/2014/main" id="{913CA563-43D4-CE41-C752-FD4F13A929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93186" name="Espaço Reservado para Anotações 2">
            <a:extLst>
              <a:ext uri="{FF2B5EF4-FFF2-40B4-BE49-F238E27FC236}">
                <a16:creationId xmlns:a16="http://schemas.microsoft.com/office/drawing/2014/main" id="{AF740149-AA63-AF9C-E2AD-6D2EE58F6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latin typeface="Arial" panose="020B0604020202020204" pitchFamily="34" charset="0"/>
              </a:rPr>
              <a:t>-Preocupação Prematura com Detalhes.</a:t>
            </a:r>
          </a:p>
          <a:p>
            <a:r>
              <a:rPr lang="pt-BR" altLang="pt-BR">
                <a:latin typeface="Arial" panose="020B0604020202020204" pitchFamily="34" charset="0"/>
              </a:rPr>
              <a:t>-</a:t>
            </a:r>
          </a:p>
        </p:txBody>
      </p:sp>
      <p:sp>
        <p:nvSpPr>
          <p:cNvPr id="93187" name="Espaço Reservado para Número de Slide 3">
            <a:extLst>
              <a:ext uri="{FF2B5EF4-FFF2-40B4-BE49-F238E27FC236}">
                <a16:creationId xmlns:a16="http://schemas.microsoft.com/office/drawing/2014/main" id="{5A100185-F7EA-4939-421A-0A150F126D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95B832-66B5-4DB6-A8AF-FAAC63BCF578}" type="slidenum">
              <a:rPr lang="pt-BR" altLang="pt-BR" sz="1300" smtClean="0"/>
              <a:pPr/>
              <a:t>46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Espaço Reservado para Imagem de Slide 1">
            <a:extLst>
              <a:ext uri="{FF2B5EF4-FFF2-40B4-BE49-F238E27FC236}">
                <a16:creationId xmlns:a16="http://schemas.microsoft.com/office/drawing/2014/main" id="{2AF55BD5-222D-196D-AD7B-7EB69115B3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103426" name="Espaço Reservado para Anotações 2">
            <a:extLst>
              <a:ext uri="{FF2B5EF4-FFF2-40B4-BE49-F238E27FC236}">
                <a16:creationId xmlns:a16="http://schemas.microsoft.com/office/drawing/2014/main" id="{F0583C4A-5CB2-2D0A-9752-A71341DB9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pt-BR" altLang="pt-BR">
                <a:latin typeface="Arial" panose="020B0604020202020204" pitchFamily="34" charset="0"/>
              </a:rPr>
              <a:t>-Sugerir que os alunos explorem as técnicas de criatividade expostas nesta página.</a:t>
            </a:r>
          </a:p>
        </p:txBody>
      </p:sp>
      <p:sp>
        <p:nvSpPr>
          <p:cNvPr id="103427" name="Espaço Reservado para Número de Slide 3">
            <a:extLst>
              <a:ext uri="{FF2B5EF4-FFF2-40B4-BE49-F238E27FC236}">
                <a16:creationId xmlns:a16="http://schemas.microsoft.com/office/drawing/2014/main" id="{454A54E1-8A7E-8B61-1E24-DC38E92332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8C6E65-C228-40F2-A55E-2F18DB7D0F45}" type="slidenum">
              <a:rPr lang="pt-BR" altLang="pt-BR" sz="1300" smtClean="0"/>
              <a:pPr/>
              <a:t>55</a:t>
            </a:fld>
            <a:endParaRPr lang="pt-BR" altLang="pt-BR" sz="13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7">
            <a:extLst>
              <a:ext uri="{FF2B5EF4-FFF2-40B4-BE49-F238E27FC236}">
                <a16:creationId xmlns:a16="http://schemas.microsoft.com/office/drawing/2014/main" id="{AD875C2F-339B-C6EF-DA88-1ED6A2BFB74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5053FE-091D-434E-BEA8-DE202757D674}" type="slidenum">
              <a:rPr lang="pt-BR" altLang="pt-BR" sz="1300" smtClean="0"/>
              <a:pPr/>
              <a:t>58</a:t>
            </a:fld>
            <a:endParaRPr lang="pt-BR" altLang="pt-BR" sz="1300"/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77A52F0D-AA57-3621-7BA9-B3D959435E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0600" y="768350"/>
            <a:ext cx="5118100" cy="3838575"/>
          </a:xfrm>
          <a:ln/>
        </p:spPr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F003D06E-6BB3-ED83-B99F-233A0A4A7E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buFontTx/>
              <a:buChar char="-"/>
            </a:pPr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73E46A-D187-52B7-06CF-3CE7528076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F91C69-A3ED-A13F-0049-C4F76E457A0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2FD89B8-43D1-1FA4-6784-01ADCDCDC3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A96623-D52A-485F-B7E2-2C8C32011A2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363261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B33BE77-9A8D-D5F6-87D6-34B4C80C61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A1A75A9-1991-203D-0C72-361185D5BE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E80BEE-A64D-17C3-B3EB-BFBAA2E6AB1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078610-B9C2-44AF-9242-200E018FE4B8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03000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F0E2443-E70A-9F1F-4F5B-F43719D3E5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3A153D-A174-D1C2-67BD-2EC68A40BB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21D3D7B-5E82-94F4-A586-3BB05FD078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11145D-E70C-49EE-913B-62C253DE725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684491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E1B547-0668-CA30-AFF1-91B0CC023F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6D8EE5-0A5A-67FA-58B3-8BCFBF5106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0C952D-5A9F-C6B8-A266-78B67448EE9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793B40-8163-4B0B-970B-4D4148130F7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532487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CD4706A-2B79-FADE-DDDB-5E569AF32B1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C3F3976-CD55-4B60-925E-1D9EE3200DC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19D6CF9-0728-5D9D-2D43-241F8C1294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2175D4-12D4-4A63-872F-BECBB6C9636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32319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FEDDED51-82F3-31AF-ABE2-EB803766B94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7B63B79-58CA-C76F-84F9-C95A6E5793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7736A91-4576-4B48-400B-A567FF2FD92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7BB473-CFFA-4FA1-95C6-E85420EBE2EA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8391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C02FE98E-A9E7-CF67-2CAE-59FAFE4DEE9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34E90014-C9A9-9004-2EDF-018AAD5601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A8546CA-2101-1301-F0EB-BBDDD60DE0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00DE7E-8E66-4F32-969E-FC201D8AF07C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124467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2799F5-3DB1-8E71-15EB-148E19CEDE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040BEC-B2B2-3779-5419-A49A1D33D5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DE5FDE-958B-B3AF-E608-C58CA8497F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226C21-3F40-4CFC-AF4D-B4F08CFCA633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96552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2850AC-4A8E-58F2-5D33-FD729136B1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1F9363-312C-9AC4-4406-385B7691EE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FBDF55-1B72-E2D7-5213-C07E47BEAB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A9332D-D95E-4AAF-8812-6606751A018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3449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1D5C96A-DF50-810B-3E8A-B7B33ACE4D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84399B8-53F6-D504-751C-18D1657CA8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19C71F6-2815-1BBD-D533-E2231B20EE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E7BBEA-8CC8-465F-BCDC-6ED74EFDA50E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24167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15100" y="0"/>
            <a:ext cx="2171700" cy="6126163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362700" cy="6126163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1ACBC7C-F07B-0FD2-BC81-146D2FCFC19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491F239-E316-3F13-463A-E6DC8F56EC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B9F2425-EE69-272E-E4B3-FFC4BCEC464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6D622C-BC64-43B8-BBA5-59EE0ABE989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784167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ítulo, text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0"/>
            <a:ext cx="7388225" cy="70643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112713" y="887413"/>
            <a:ext cx="4210050" cy="5238750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Gráfico 3"/>
          <p:cNvSpPr>
            <a:spLocks noGrp="1"/>
          </p:cNvSpPr>
          <p:nvPr>
            <p:ph type="chart" sz="half" idx="2"/>
          </p:nvPr>
        </p:nvSpPr>
        <p:spPr>
          <a:xfrm>
            <a:off x="4475163" y="887413"/>
            <a:ext cx="4211637" cy="523875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06461-FC45-2988-1037-501D43DD7AD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72CD14-8E71-78B0-554E-CAB6A6E5042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919AC9-9C45-4C6F-E7DF-908F9A33C9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B343DB-206C-4D87-BC9A-946D0FD0E2BD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7660332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ítulo, conteúdo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9763" y="42863"/>
            <a:ext cx="7273925" cy="7207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511175" y="981075"/>
            <a:ext cx="3956050" cy="540067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619625" y="981075"/>
            <a:ext cx="3956050" cy="540067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44913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9763" y="42863"/>
            <a:ext cx="7273925" cy="7207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sz="half" idx="1"/>
          </p:nvPr>
        </p:nvSpPr>
        <p:spPr>
          <a:xfrm>
            <a:off x="511175" y="981075"/>
            <a:ext cx="3956050" cy="540067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19625" y="981075"/>
            <a:ext cx="3956050" cy="5400675"/>
          </a:xfr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911296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75AC8A4-4BE7-A6CF-DFFE-14F0A89741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7388225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28331BA-D08F-CC0B-7E1C-CDB826974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2713" y="887413"/>
            <a:ext cx="8574087" cy="523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69FF34B-2489-1F94-219C-156E6995446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lnSpc>
                <a:spcPct val="100000"/>
              </a:lnSpc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58411F6-73B9-3A9F-F9AE-BE81EB2055F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lnSpc>
                <a:spcPct val="100000"/>
              </a:lnSpc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549DC1B-8B6A-63F4-3AD5-A8FD97E648E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E40B2C0-72D0-41D9-9497-241616FE4030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3EDDB7B4-C5B3-1AC1-448D-D2131124DEF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25413" y="808038"/>
            <a:ext cx="7861300" cy="47625"/>
          </a:xfrm>
          <a:prstGeom prst="rect">
            <a:avLst/>
          </a:prstGeom>
          <a:gradFill rotWithShape="0">
            <a:gsLst>
              <a:gs pos="0">
                <a:srgbClr val="6464BF"/>
              </a:gs>
              <a:gs pos="100000">
                <a:srgbClr val="000096"/>
              </a:gs>
            </a:gsLst>
            <a:lin ang="0" scaled="1"/>
          </a:gradFill>
          <a:ln>
            <a:noFill/>
          </a:ln>
        </p:spPr>
        <p:txBody>
          <a:bodyPr anchor="ctr">
            <a:spAutoFit/>
          </a:bodyPr>
          <a:lstStyle>
            <a:lvl1pPr>
              <a:lnSpc>
                <a:spcPct val="80000"/>
              </a:lnSpc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lnSpc>
                <a:spcPct val="80000"/>
              </a:lnSpc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lnSpc>
                <a:spcPct val="80000"/>
              </a:lnSpc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lnSpc>
                <a:spcPct val="80000"/>
              </a:lnSpc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lnSpc>
                <a:spcPct val="80000"/>
              </a:lnSpc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endParaRPr lang="x-none" altLang="x-none"/>
          </a:p>
        </p:txBody>
      </p:sp>
      <p:pic>
        <p:nvPicPr>
          <p:cNvPr id="1032" name="Picture 9">
            <a:extLst>
              <a:ext uri="{FF2B5EF4-FFF2-40B4-BE49-F238E27FC236}">
                <a16:creationId xmlns:a16="http://schemas.microsoft.com/office/drawing/2014/main" id="{B5DCC1F9-6989-5AF1-496E-966E1370FE0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3863" y="0"/>
            <a:ext cx="1100137" cy="85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rgbClr val="00009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andreasantos@gmail.com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wmf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wmf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wmf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Sites/CategoryCreativity%20Techniques%20-%20Mycoted.mht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CaixaDeTexto 2">
            <a:extLst>
              <a:ext uri="{FF2B5EF4-FFF2-40B4-BE49-F238E27FC236}">
                <a16:creationId xmlns:a16="http://schemas.microsoft.com/office/drawing/2014/main" id="{5170D9C9-24BB-AF05-2ED0-79236DBCB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3" y="3587750"/>
            <a:ext cx="7540625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rgbClr val="002060"/>
                </a:solidFill>
              </a:rPr>
              <a:t>Prof. Andréa Cristina dos Santos, Dr. Eng.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2060"/>
                </a:solidFill>
                <a:hlinkClick r:id="rId2"/>
              </a:rPr>
              <a:t>andreasantos@unb.</a:t>
            </a:r>
            <a:r>
              <a:rPr lang="pt-BR" altLang="pt-BR">
                <a:solidFill>
                  <a:srgbClr val="002060"/>
                </a:solidFill>
              </a:rPr>
              <a:t>br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>
              <a:solidFill>
                <a:srgbClr val="002060"/>
              </a:solidFill>
            </a:endParaRP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2060"/>
                </a:solidFill>
              </a:rPr>
              <a:t>Aula 11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>
                <a:solidFill>
                  <a:srgbClr val="002060"/>
                </a:solidFill>
              </a:rPr>
              <a:t>Projeto Conceitual</a:t>
            </a:r>
          </a:p>
        </p:txBody>
      </p:sp>
      <p:sp>
        <p:nvSpPr>
          <p:cNvPr id="16386" name="CaixaDeTexto 1">
            <a:extLst>
              <a:ext uri="{FF2B5EF4-FFF2-40B4-BE49-F238E27FC236}">
                <a16:creationId xmlns:a16="http://schemas.microsoft.com/office/drawing/2014/main" id="{9E0AB026-8750-A612-92B7-04EF56E03A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1454150"/>
            <a:ext cx="7575550" cy="18161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Universidade de Brasília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Faculdade de Tecnologia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Depart. de Engenharia de Produção </a:t>
            </a:r>
          </a:p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chemeClr val="bg1"/>
                </a:solidFill>
              </a:rPr>
              <a:t>Disciplina Engenharia de Produto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FA52ADD-67A3-5FA4-5855-61FA00583F9B}"/>
              </a:ext>
            </a:extLst>
          </p:cNvPr>
          <p:cNvSpPr txBox="1">
            <a:spLocks noChangeArrowheads="1"/>
          </p:cNvSpPr>
          <p:nvPr/>
        </p:nvSpPr>
        <p:spPr>
          <a:xfrm>
            <a:off x="76200" y="393700"/>
            <a:ext cx="7388225" cy="7064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 sz="2400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Localização da fase de projeto conceitual</a:t>
            </a:r>
          </a:p>
        </p:txBody>
      </p:sp>
      <p:grpSp>
        <p:nvGrpSpPr>
          <p:cNvPr id="17410" name="Group 5">
            <a:extLst>
              <a:ext uri="{FF2B5EF4-FFF2-40B4-BE49-F238E27FC236}">
                <a16:creationId xmlns:a16="http://schemas.microsoft.com/office/drawing/2014/main" id="{CEFEC5FF-D95C-E713-EE52-F867ED8B08E6}"/>
              </a:ext>
            </a:extLst>
          </p:cNvPr>
          <p:cNvGrpSpPr>
            <a:grpSpLocks/>
          </p:cNvGrpSpPr>
          <p:nvPr/>
        </p:nvGrpSpPr>
        <p:grpSpPr bwMode="auto">
          <a:xfrm>
            <a:off x="76200" y="1849438"/>
            <a:ext cx="9067800" cy="4576762"/>
            <a:chOff x="0" y="573"/>
            <a:chExt cx="5712" cy="2883"/>
          </a:xfrm>
        </p:grpSpPr>
        <p:sp>
          <p:nvSpPr>
            <p:cNvPr id="17463" name="Rectangle 6">
              <a:extLst>
                <a:ext uri="{FF2B5EF4-FFF2-40B4-BE49-F238E27FC236}">
                  <a16:creationId xmlns:a16="http://schemas.microsoft.com/office/drawing/2014/main" id="{0796F896-2126-D19C-DCB5-5B09055594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8" y="3277"/>
              <a:ext cx="4968" cy="179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800" b="1" i="1">
                  <a:solidFill>
                    <a:srgbClr val="000000"/>
                  </a:solidFill>
                </a:rPr>
                <a:t>Melhoria do processo de desenvolvimento de produtos</a:t>
              </a:r>
            </a:p>
          </p:txBody>
        </p:sp>
        <p:sp>
          <p:nvSpPr>
            <p:cNvPr id="17464" name="Rectangle 7">
              <a:extLst>
                <a:ext uri="{FF2B5EF4-FFF2-40B4-BE49-F238E27FC236}">
                  <a16:creationId xmlns:a16="http://schemas.microsoft.com/office/drawing/2014/main" id="{07EE82A2-BB15-329C-ACDB-F1A2B59784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4" y="3048"/>
              <a:ext cx="3838" cy="179"/>
            </a:xfrm>
            <a:prstGeom prst="rect">
              <a:avLst/>
            </a:prstGeom>
            <a:solidFill>
              <a:srgbClr val="EAEAEA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72000" tIns="0" rIns="72000" bIns="0" anchor="ctr" anchorCtr="1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800" b="1" i="1">
                  <a:solidFill>
                    <a:srgbClr val="000000"/>
                  </a:solidFill>
                </a:rPr>
                <a:t>Gerenciamento de mudanças de engenharia</a:t>
              </a:r>
            </a:p>
          </p:txBody>
        </p:sp>
        <p:sp>
          <p:nvSpPr>
            <p:cNvPr id="17465" name="Rectangle 8">
              <a:extLst>
                <a:ext uri="{FF2B5EF4-FFF2-40B4-BE49-F238E27FC236}">
                  <a16:creationId xmlns:a16="http://schemas.microsoft.com/office/drawing/2014/main" id="{7F072CF3-659C-65D6-9BD1-7E20F229E0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014"/>
              <a:ext cx="768" cy="35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solidFill>
                    <a:schemeClr val="accent2"/>
                  </a:solidFill>
                </a:rPr>
                <a:t>Processos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r>
                <a:rPr lang="pt-BR" altLang="pt-BR" sz="1800">
                  <a:solidFill>
                    <a:schemeClr val="accent2"/>
                  </a:solidFill>
                </a:rPr>
                <a:t>de apoio</a:t>
              </a:r>
            </a:p>
          </p:txBody>
        </p:sp>
        <p:sp>
          <p:nvSpPr>
            <p:cNvPr id="17466" name="AutoShape 9">
              <a:extLst>
                <a:ext uri="{FF2B5EF4-FFF2-40B4-BE49-F238E27FC236}">
                  <a16:creationId xmlns:a16="http://schemas.microsoft.com/office/drawing/2014/main" id="{B56A93CE-882B-92E1-9563-EE19F1725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5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pt-BR" altLang="pt-BR" sz="2000"/>
            </a:p>
          </p:txBody>
        </p:sp>
        <p:sp>
          <p:nvSpPr>
            <p:cNvPr id="17467" name="AutoShape 10">
              <a:extLst>
                <a:ext uri="{FF2B5EF4-FFF2-40B4-BE49-F238E27FC236}">
                  <a16:creationId xmlns:a16="http://schemas.microsoft.com/office/drawing/2014/main" id="{68DEE489-4BD2-2B8D-4496-404009810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88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pt-BR" altLang="pt-BR" sz="2000"/>
            </a:p>
          </p:txBody>
        </p:sp>
        <p:sp>
          <p:nvSpPr>
            <p:cNvPr id="17468" name="AutoShape 11">
              <a:extLst>
                <a:ext uri="{FF2B5EF4-FFF2-40B4-BE49-F238E27FC236}">
                  <a16:creationId xmlns:a16="http://schemas.microsoft.com/office/drawing/2014/main" id="{8E52FBC1-46D2-F85F-9E15-681EC16E06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2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pt-BR" altLang="pt-BR" sz="2000"/>
            </a:p>
          </p:txBody>
        </p:sp>
        <p:sp>
          <p:nvSpPr>
            <p:cNvPr id="17469" name="AutoShape 12">
              <a:extLst>
                <a:ext uri="{FF2B5EF4-FFF2-40B4-BE49-F238E27FC236}">
                  <a16:creationId xmlns:a16="http://schemas.microsoft.com/office/drawing/2014/main" id="{6054A612-B8DD-7A10-01A2-F71C9EA35A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6" y="2867"/>
              <a:ext cx="700" cy="118"/>
            </a:xfrm>
            <a:prstGeom prst="triangle">
              <a:avLst>
                <a:gd name="adj" fmla="val 50000"/>
              </a:avLst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72000" tIns="0" rIns="72000" bIns="0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FontTx/>
                <a:buNone/>
              </a:pPr>
              <a:endParaRPr lang="pt-BR" altLang="pt-BR" sz="2000"/>
            </a:p>
          </p:txBody>
        </p:sp>
        <p:grpSp>
          <p:nvGrpSpPr>
            <p:cNvPr id="17470" name="Group 13">
              <a:extLst>
                <a:ext uri="{FF2B5EF4-FFF2-40B4-BE49-F238E27FC236}">
                  <a16:creationId xmlns:a16="http://schemas.microsoft.com/office/drawing/2014/main" id="{A53B087B-C97D-CC0E-08EC-FFEC30537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" y="573"/>
              <a:ext cx="5664" cy="2262"/>
              <a:chOff x="48" y="573"/>
              <a:chExt cx="5664" cy="2262"/>
            </a:xfrm>
          </p:grpSpPr>
          <p:grpSp>
            <p:nvGrpSpPr>
              <p:cNvPr id="17471" name="Group 14">
                <a:extLst>
                  <a:ext uri="{FF2B5EF4-FFF2-40B4-BE49-F238E27FC236}">
                    <a16:creationId xmlns:a16="http://schemas.microsoft.com/office/drawing/2014/main" id="{F6D1A495-BBE7-47A8-8DA5-6F43A9CDDB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" y="673"/>
                <a:ext cx="5664" cy="2162"/>
                <a:chOff x="48" y="673"/>
                <a:chExt cx="5664" cy="2162"/>
              </a:xfrm>
            </p:grpSpPr>
            <p:sp>
              <p:nvSpPr>
                <p:cNvPr id="17473" name="Rectangle 15">
                  <a:extLst>
                    <a:ext uri="{FF2B5EF4-FFF2-40B4-BE49-F238E27FC236}">
                      <a16:creationId xmlns:a16="http://schemas.microsoft.com/office/drawing/2014/main" id="{B53F0DFE-135F-BCAA-C1CF-B47D575445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8" y="673"/>
                  <a:ext cx="5664" cy="2162"/>
                </a:xfrm>
                <a:prstGeom prst="rect">
                  <a:avLst/>
                </a:prstGeom>
                <a:solidFill>
                  <a:srgbClr val="CCFFCC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lIns="72000" tIns="0" rIns="72000" bIns="0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  <p:sp>
              <p:nvSpPr>
                <p:cNvPr id="17474" name="Freeform 16">
                  <a:extLst>
                    <a:ext uri="{FF2B5EF4-FFF2-40B4-BE49-F238E27FC236}">
                      <a16:creationId xmlns:a16="http://schemas.microsoft.com/office/drawing/2014/main" id="{0E3473A4-4E9E-44D4-8F23-FD71771288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1" y="1460"/>
                  <a:ext cx="4593" cy="1046"/>
                </a:xfrm>
                <a:custGeom>
                  <a:avLst/>
                  <a:gdLst>
                    <a:gd name="T0" fmla="*/ 771 w 4593"/>
                    <a:gd name="T1" fmla="*/ 20 h 1046"/>
                    <a:gd name="T2" fmla="*/ 0 w 4593"/>
                    <a:gd name="T3" fmla="*/ 1046 h 1046"/>
                    <a:gd name="T4" fmla="*/ 4593 w 4593"/>
                    <a:gd name="T5" fmla="*/ 1016 h 1046"/>
                    <a:gd name="T6" fmla="*/ 3302 w 4593"/>
                    <a:gd name="T7" fmla="*/ 0 h 104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593"/>
                    <a:gd name="T13" fmla="*/ 0 h 1046"/>
                    <a:gd name="T14" fmla="*/ 4593 w 4593"/>
                    <a:gd name="T15" fmla="*/ 1046 h 104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593" h="1046">
                      <a:moveTo>
                        <a:pt x="771" y="20"/>
                      </a:moveTo>
                      <a:lnTo>
                        <a:pt x="0" y="1046"/>
                      </a:lnTo>
                      <a:lnTo>
                        <a:pt x="4593" y="1016"/>
                      </a:lnTo>
                      <a:lnTo>
                        <a:pt x="3302" y="0"/>
                      </a:lnTo>
                    </a:path>
                  </a:pathLst>
                </a:custGeom>
                <a:gradFill rotWithShape="0">
                  <a:gsLst>
                    <a:gs pos="0">
                      <a:srgbClr val="99CCFF"/>
                    </a:gs>
                    <a:gs pos="100000">
                      <a:srgbClr val="FFCC99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lIns="72000" tIns="0" rIns="72000" bIns="0" anchor="ctr">
                  <a:spAutoFit/>
                </a:bodyPr>
                <a:lstStyle/>
                <a:p>
                  <a:endParaRPr lang="pt-BR"/>
                </a:p>
              </p:txBody>
            </p:sp>
            <p:grpSp>
              <p:nvGrpSpPr>
                <p:cNvPr id="17475" name="Group 17">
                  <a:extLst>
                    <a:ext uri="{FF2B5EF4-FFF2-40B4-BE49-F238E27FC236}">
                      <a16:creationId xmlns:a16="http://schemas.microsoft.com/office/drawing/2014/main" id="{50870455-FE63-0FEA-4FCF-E2EC53768C1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411" y="1058"/>
                  <a:ext cx="2612" cy="188"/>
                  <a:chOff x="1411" y="1058"/>
                  <a:chExt cx="2612" cy="188"/>
                </a:xfrm>
              </p:grpSpPr>
              <p:sp>
                <p:nvSpPr>
                  <p:cNvPr id="17561" name="AutoShape 18">
                    <a:extLst>
                      <a:ext uri="{FF2B5EF4-FFF2-40B4-BE49-F238E27FC236}">
                        <a16:creationId xmlns:a16="http://schemas.microsoft.com/office/drawing/2014/main" id="{5503866E-2607-94D1-8F45-CE20E8F6483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411" y="1058"/>
                    <a:ext cx="2612" cy="188"/>
                  </a:xfrm>
                  <a:prstGeom prst="chevron">
                    <a:avLst>
                      <a:gd name="adj" fmla="val 43675"/>
                    </a:avLst>
                  </a:prstGeom>
                  <a:solidFill>
                    <a:srgbClr val="FFFF00"/>
                  </a:solidFill>
                  <a:ln w="11113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000"/>
                  </a:p>
                </p:txBody>
              </p:sp>
              <p:sp>
                <p:nvSpPr>
                  <p:cNvPr id="17562" name="Text Box 19">
                    <a:extLst>
                      <a:ext uri="{FF2B5EF4-FFF2-40B4-BE49-F238E27FC236}">
                        <a16:creationId xmlns:a16="http://schemas.microsoft.com/office/drawing/2014/main" id="{9359526D-871F-D05C-960E-88CE9CFBB67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074" y="1066"/>
                    <a:ext cx="1189" cy="173"/>
                  </a:xfrm>
                  <a:prstGeom prst="rect">
                    <a:avLst/>
                  </a:prstGeom>
                  <a:solidFill>
                    <a:srgbClr val="FF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Desenvolvimento</a:t>
                    </a:r>
                    <a:r>
                      <a:rPr lang="pt-BR" altLang="pt-BR" sz="1800" i="1">
                        <a:solidFill>
                          <a:srgbClr val="000000"/>
                        </a:solidFill>
                      </a:rPr>
                      <a:t> </a:t>
                    </a:r>
                  </a:p>
                </p:txBody>
              </p:sp>
            </p:grpSp>
            <p:grpSp>
              <p:nvGrpSpPr>
                <p:cNvPr id="17476" name="Group 20">
                  <a:extLst>
                    <a:ext uri="{FF2B5EF4-FFF2-40B4-BE49-F238E27FC236}">
                      <a16:creationId xmlns:a16="http://schemas.microsoft.com/office/drawing/2014/main" id="{A0DFD5BE-17B6-68B0-0683-3617E048C89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86" y="2385"/>
                  <a:ext cx="4435" cy="342"/>
                  <a:chOff x="586" y="2385"/>
                  <a:chExt cx="4435" cy="342"/>
                </a:xfrm>
              </p:grpSpPr>
              <p:grpSp>
                <p:nvGrpSpPr>
                  <p:cNvPr id="17554" name="Group 21">
                    <a:extLst>
                      <a:ext uri="{FF2B5EF4-FFF2-40B4-BE49-F238E27FC236}">
                        <a16:creationId xmlns:a16="http://schemas.microsoft.com/office/drawing/2014/main" id="{01CD95FD-831F-92DC-3EF1-33D4DC3CDE1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406" y="2394"/>
                    <a:ext cx="3615" cy="333"/>
                    <a:chOff x="1014" y="2394"/>
                    <a:chExt cx="3615" cy="333"/>
                  </a:xfrm>
                </p:grpSpPr>
                <p:sp>
                  <p:nvSpPr>
                    <p:cNvPr id="17556" name="AutoShape 22">
                      <a:extLst>
                        <a:ext uri="{FF2B5EF4-FFF2-40B4-BE49-F238E27FC236}">
                          <a16:creationId xmlns:a16="http://schemas.microsoft.com/office/drawing/2014/main" id="{85D4EAAC-0966-E949-7E15-0136F0F8388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11" y="2394"/>
                      <a:ext cx="690" cy="333"/>
                    </a:xfrm>
                    <a:prstGeom prst="chevron">
                      <a:avLst>
                        <a:gd name="adj" fmla="val 19723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Projeto</a:t>
                      </a:r>
                    </a:p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Detalhado </a:t>
                      </a:r>
                    </a:p>
                  </p:txBody>
                </p:sp>
                <p:sp>
                  <p:nvSpPr>
                    <p:cNvPr id="17557" name="AutoShape 23">
                      <a:extLst>
                        <a:ext uri="{FF2B5EF4-FFF2-40B4-BE49-F238E27FC236}">
                          <a16:creationId xmlns:a16="http://schemas.microsoft.com/office/drawing/2014/main" id="{F1882C91-CF4B-ABB4-E5E9-EA522544559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833" y="2394"/>
                      <a:ext cx="709" cy="333"/>
                    </a:xfrm>
                    <a:prstGeom prst="chevron">
                      <a:avLst>
                        <a:gd name="adj" fmla="val 19004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Projeto</a:t>
                      </a:r>
                    </a:p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Conceitual </a:t>
                      </a:r>
                    </a:p>
                  </p:txBody>
                </p:sp>
                <p:sp>
                  <p:nvSpPr>
                    <p:cNvPr id="17558" name="AutoShape 24">
                      <a:extLst>
                        <a:ext uri="{FF2B5EF4-FFF2-40B4-BE49-F238E27FC236}">
                          <a16:creationId xmlns:a16="http://schemas.microsoft.com/office/drawing/2014/main" id="{2EABD2C7-3A1C-776D-4554-B1E7E6D0B1F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014" y="2394"/>
                      <a:ext cx="856" cy="333"/>
                    </a:xfrm>
                    <a:prstGeom prst="chevron">
                      <a:avLst>
                        <a:gd name="adj" fmla="val 22064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Projeto</a:t>
                      </a:r>
                    </a:p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Informacional </a:t>
                      </a:r>
                    </a:p>
                  </p:txBody>
                </p:sp>
                <p:sp>
                  <p:nvSpPr>
                    <p:cNvPr id="17559" name="AutoShape 25">
                      <a:extLst>
                        <a:ext uri="{FF2B5EF4-FFF2-40B4-BE49-F238E27FC236}">
                          <a16:creationId xmlns:a16="http://schemas.microsoft.com/office/drawing/2014/main" id="{94274F92-3015-9EC5-F280-29DBC727C9D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864" y="2394"/>
                      <a:ext cx="765" cy="333"/>
                    </a:xfrm>
                    <a:prstGeom prst="chevron">
                      <a:avLst>
                        <a:gd name="adj" fmla="val 19782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Lançamento</a:t>
                      </a:r>
                    </a:p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do Produto</a:t>
                      </a:r>
                    </a:p>
                  </p:txBody>
                </p:sp>
                <p:sp>
                  <p:nvSpPr>
                    <p:cNvPr id="17560" name="AutoShape 26">
                      <a:extLst>
                        <a:ext uri="{FF2B5EF4-FFF2-40B4-BE49-F238E27FC236}">
                          <a16:creationId xmlns:a16="http://schemas.microsoft.com/office/drawing/2014/main" id="{0605DB5B-BE65-B468-8499-B101603B91B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70" y="2394"/>
                      <a:ext cx="723" cy="333"/>
                    </a:xfrm>
                    <a:prstGeom prst="chevron">
                      <a:avLst>
                        <a:gd name="adj" fmla="val 16213"/>
                      </a:avLst>
                    </a:prstGeom>
                    <a:solidFill>
                      <a:srgbClr val="FFFF00"/>
                    </a:solidFill>
                    <a:ln w="11176">
                      <a:solidFill>
                        <a:srgbClr val="000000"/>
                      </a:solidFill>
                      <a:miter lim="800000"/>
                      <a:headEnd/>
                      <a:tailEnd/>
                    </a:ln>
                  </p:spPr>
                  <p:txBody>
                    <a:bodyPr wrap="none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Preparação</a:t>
                      </a:r>
                    </a:p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pt-BR" altLang="pt-BR" sz="1400"/>
                        <a:t>Produção</a:t>
                      </a:r>
                    </a:p>
                  </p:txBody>
                </p:sp>
              </p:grpSp>
              <p:sp>
                <p:nvSpPr>
                  <p:cNvPr id="17555" name="AutoShape 27">
                    <a:extLst>
                      <a:ext uri="{FF2B5EF4-FFF2-40B4-BE49-F238E27FC236}">
                        <a16:creationId xmlns:a16="http://schemas.microsoft.com/office/drawing/2014/main" id="{A924006A-B078-0FF3-E1BA-4C32EEC7DD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86" y="2385"/>
                    <a:ext cx="841" cy="333"/>
                  </a:xfrm>
                  <a:prstGeom prst="chevron">
                    <a:avLst>
                      <a:gd name="adj" fmla="val 24296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Planejamento</a:t>
                    </a:r>
                  </a:p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Projeto</a:t>
                    </a:r>
                  </a:p>
                </p:txBody>
              </p:sp>
            </p:grpSp>
            <p:grpSp>
              <p:nvGrpSpPr>
                <p:cNvPr id="17477" name="Group 28">
                  <a:extLst>
                    <a:ext uri="{FF2B5EF4-FFF2-40B4-BE49-F238E27FC236}">
                      <a16:creationId xmlns:a16="http://schemas.microsoft.com/office/drawing/2014/main" id="{9B97BBDD-65AC-3622-D0F5-D3D0C8781D0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009" y="1059"/>
                  <a:ext cx="1671" cy="188"/>
                  <a:chOff x="4009" y="1059"/>
                  <a:chExt cx="1671" cy="188"/>
                </a:xfrm>
              </p:grpSpPr>
              <p:sp>
                <p:nvSpPr>
                  <p:cNvPr id="17552" name="AutoShape 29">
                    <a:extLst>
                      <a:ext uri="{FF2B5EF4-FFF2-40B4-BE49-F238E27FC236}">
                        <a16:creationId xmlns:a16="http://schemas.microsoft.com/office/drawing/2014/main" id="{F79A62CE-5F63-863B-6BEC-41F0AA9153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009" y="1059"/>
                    <a:ext cx="1671" cy="188"/>
                  </a:xfrm>
                  <a:prstGeom prst="chevron">
                    <a:avLst>
                      <a:gd name="adj" fmla="val 39421"/>
                    </a:avLst>
                  </a:prstGeom>
                  <a:solidFill>
                    <a:srgbClr val="FFCC99"/>
                  </a:solidFill>
                  <a:ln w="11113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000"/>
                  </a:p>
                </p:txBody>
              </p:sp>
              <p:sp>
                <p:nvSpPr>
                  <p:cNvPr id="17553" name="Text Box 30">
                    <a:extLst>
                      <a:ext uri="{FF2B5EF4-FFF2-40B4-BE49-F238E27FC236}">
                        <a16:creationId xmlns:a16="http://schemas.microsoft.com/office/drawing/2014/main" id="{8FC5AA5F-3F78-BC00-CA06-CD90F553A133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682" y="1082"/>
                    <a:ext cx="324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Pós</a:t>
                    </a:r>
                  </a:p>
                </p:txBody>
              </p:sp>
            </p:grpSp>
            <p:sp>
              <p:nvSpPr>
                <p:cNvPr id="17478" name="Rectangle 31">
                  <a:extLst>
                    <a:ext uri="{FF2B5EF4-FFF2-40B4-BE49-F238E27FC236}">
                      <a16:creationId xmlns:a16="http://schemas.microsoft.com/office/drawing/2014/main" id="{81FACD1E-5078-7864-CA76-BE3B2C85C2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180" y="1112"/>
                  <a:ext cx="164" cy="7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72000" tIns="0" rIns="72000" bIns="0" anchor="ctr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  <p:cxnSp>
              <p:nvCxnSpPr>
                <p:cNvPr id="17479" name="AutoShape 32">
                  <a:extLst>
                    <a:ext uri="{FF2B5EF4-FFF2-40B4-BE49-F238E27FC236}">
                      <a16:creationId xmlns:a16="http://schemas.microsoft.com/office/drawing/2014/main" id="{C35EF567-27F5-BCFC-FEF4-3D16D9555349}"/>
                    </a:ext>
                  </a:extLst>
                </p:cNvPr>
                <p:cNvCxnSpPr>
                  <a:cxnSpLocks noChangeShapeType="1"/>
                  <a:stCxn id="17552" idx="0"/>
                  <a:endCxn id="17550" idx="0"/>
                </p:cNvCxnSpPr>
                <p:nvPr/>
              </p:nvCxnSpPr>
              <p:spPr bwMode="auto">
                <a:xfrm rot="-5400000" flipH="1" flipV="1">
                  <a:off x="2773" y="-973"/>
                  <a:ext cx="1" cy="4066"/>
                </a:xfrm>
                <a:prstGeom prst="bentConnector3">
                  <a:avLst>
                    <a:gd name="adj1" fmla="val -14400005"/>
                  </a:avLst>
                </a:prstGeom>
                <a:noFill/>
                <a:ln w="19050">
                  <a:solidFill>
                    <a:schemeClr val="tx1"/>
                  </a:solidFill>
                  <a:miter lim="800000"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grpSp>
              <p:nvGrpSpPr>
                <p:cNvPr id="17480" name="Group 33">
                  <a:extLst>
                    <a:ext uri="{FF2B5EF4-FFF2-40B4-BE49-F238E27FC236}">
                      <a16:creationId xmlns:a16="http://schemas.microsoft.com/office/drawing/2014/main" id="{6E800F72-F3C5-061F-F149-2FA394ED7ED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08" y="1059"/>
                  <a:ext cx="1338" cy="187"/>
                  <a:chOff x="108" y="1059"/>
                  <a:chExt cx="1338" cy="187"/>
                </a:xfrm>
              </p:grpSpPr>
              <p:sp>
                <p:nvSpPr>
                  <p:cNvPr id="17550" name="AutoShape 34">
                    <a:extLst>
                      <a:ext uri="{FF2B5EF4-FFF2-40B4-BE49-F238E27FC236}">
                        <a16:creationId xmlns:a16="http://schemas.microsoft.com/office/drawing/2014/main" id="{4AA7D5D5-B79D-9901-ED6A-5B9CB036A7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" y="1059"/>
                    <a:ext cx="1338" cy="187"/>
                  </a:xfrm>
                  <a:prstGeom prst="homePlate">
                    <a:avLst>
                      <a:gd name="adj" fmla="val 38194"/>
                    </a:avLst>
                  </a:prstGeom>
                  <a:solidFill>
                    <a:srgbClr val="99CCFF"/>
                  </a:solidFill>
                  <a:ln w="12700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72000" tIns="0" rIns="72000" bIns="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000"/>
                  </a:p>
                </p:txBody>
              </p:sp>
              <p:sp>
                <p:nvSpPr>
                  <p:cNvPr id="17551" name="Text Box 35">
                    <a:extLst>
                      <a:ext uri="{FF2B5EF4-FFF2-40B4-BE49-F238E27FC236}">
                        <a16:creationId xmlns:a16="http://schemas.microsoft.com/office/drawing/2014/main" id="{A3CAC71F-9C0F-5D2C-2EFD-844C87DDFCB9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30" y="1082"/>
                    <a:ext cx="296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b="1">
                        <a:solidFill>
                          <a:srgbClr val="000000"/>
                        </a:solidFill>
                      </a:rPr>
                      <a:t>Pré</a:t>
                    </a:r>
                  </a:p>
                </p:txBody>
              </p:sp>
            </p:grpSp>
            <p:sp>
              <p:nvSpPr>
                <p:cNvPr id="17481" name="AutoShape 36">
                  <a:extLst>
                    <a:ext uri="{FF2B5EF4-FFF2-40B4-BE49-F238E27FC236}">
                      <a16:creationId xmlns:a16="http://schemas.microsoft.com/office/drawing/2014/main" id="{FA92A8F8-8298-B4B1-86CC-90EC2FCCF8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17" y="1292"/>
                  <a:ext cx="841" cy="496"/>
                </a:xfrm>
                <a:prstGeom prst="chevron">
                  <a:avLst>
                    <a:gd name="adj" fmla="val 16108"/>
                  </a:avLst>
                </a:prstGeom>
                <a:solidFill>
                  <a:srgbClr val="99CCFF"/>
                </a:solidFill>
                <a:ln w="11176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400"/>
                    <a:t>Planejamento</a:t>
                  </a:r>
                </a:p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r>
                    <a:rPr lang="pt-BR" altLang="pt-BR" sz="1400"/>
                    <a:t>Estratégico dos Produtos</a:t>
                  </a:r>
                </a:p>
              </p:txBody>
            </p:sp>
            <p:grpSp>
              <p:nvGrpSpPr>
                <p:cNvPr id="17482" name="Group 37">
                  <a:extLst>
                    <a:ext uri="{FF2B5EF4-FFF2-40B4-BE49-F238E27FC236}">
                      <a16:creationId xmlns:a16="http://schemas.microsoft.com/office/drawing/2014/main" id="{539223CD-A7D5-94A3-1025-40046696906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883" y="1280"/>
                  <a:ext cx="1809" cy="588"/>
                  <a:chOff x="3883" y="1280"/>
                  <a:chExt cx="1809" cy="588"/>
                </a:xfrm>
              </p:grpSpPr>
              <p:sp>
                <p:nvSpPr>
                  <p:cNvPr id="17544" name="AutoShape 38">
                    <a:extLst>
                      <a:ext uri="{FF2B5EF4-FFF2-40B4-BE49-F238E27FC236}">
                        <a16:creationId xmlns:a16="http://schemas.microsoft.com/office/drawing/2014/main" id="{3346D8A5-5D1B-1A4C-A506-A026B8ABEE0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883" y="1280"/>
                    <a:ext cx="792" cy="523"/>
                  </a:xfrm>
                  <a:prstGeom prst="chevron">
                    <a:avLst>
                      <a:gd name="adj" fmla="val 18221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000"/>
                  </a:p>
                </p:txBody>
              </p:sp>
              <p:sp>
                <p:nvSpPr>
                  <p:cNvPr id="17545" name="AutoShape 39">
                    <a:extLst>
                      <a:ext uri="{FF2B5EF4-FFF2-40B4-BE49-F238E27FC236}">
                        <a16:creationId xmlns:a16="http://schemas.microsoft.com/office/drawing/2014/main" id="{C0F2BDD6-7822-59F0-4EA1-9AA6D2EC2B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75" y="1280"/>
                    <a:ext cx="800" cy="523"/>
                  </a:xfrm>
                  <a:prstGeom prst="chevron">
                    <a:avLst>
                      <a:gd name="adj" fmla="val 1840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000"/>
                  </a:p>
                </p:txBody>
              </p:sp>
              <p:sp>
                <p:nvSpPr>
                  <p:cNvPr id="17546" name="AutoShape 40">
                    <a:extLst>
                      <a:ext uri="{FF2B5EF4-FFF2-40B4-BE49-F238E27FC236}">
                        <a16:creationId xmlns:a16="http://schemas.microsoft.com/office/drawing/2014/main" id="{0D97DAEB-59DC-9B7A-9EC7-90208C41D85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37" y="1320"/>
                    <a:ext cx="799" cy="523"/>
                  </a:xfrm>
                  <a:prstGeom prst="chevron">
                    <a:avLst>
                      <a:gd name="adj" fmla="val 18382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000"/>
                  </a:p>
                </p:txBody>
              </p:sp>
              <p:sp>
                <p:nvSpPr>
                  <p:cNvPr id="17547" name="AutoShape 41">
                    <a:extLst>
                      <a:ext uri="{FF2B5EF4-FFF2-40B4-BE49-F238E27FC236}">
                        <a16:creationId xmlns:a16="http://schemas.microsoft.com/office/drawing/2014/main" id="{37F4EE72-F1C3-A3D1-2F59-9924225322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47" y="1320"/>
                    <a:ext cx="800" cy="523"/>
                  </a:xfrm>
                  <a:prstGeom prst="chevron">
                    <a:avLst>
                      <a:gd name="adj" fmla="val 1840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000"/>
                  </a:p>
                </p:txBody>
              </p:sp>
              <p:sp>
                <p:nvSpPr>
                  <p:cNvPr id="17548" name="AutoShape 42">
                    <a:extLst>
                      <a:ext uri="{FF2B5EF4-FFF2-40B4-BE49-F238E27FC236}">
                        <a16:creationId xmlns:a16="http://schemas.microsoft.com/office/drawing/2014/main" id="{E3515403-A3FE-8C68-6187-8DDCA4A10FF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847" y="1345"/>
                    <a:ext cx="845" cy="523"/>
                  </a:xfrm>
                  <a:prstGeom prst="chevron">
                    <a:avLst>
                      <a:gd name="adj" fmla="val 14945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lIns="144000" tIns="0" rIns="72000" bIns="0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Descontinuar</a:t>
                    </a:r>
                  </a:p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Produto</a:t>
                    </a:r>
                  </a:p>
                </p:txBody>
              </p:sp>
              <p:sp>
                <p:nvSpPr>
                  <p:cNvPr id="17549" name="AutoShape 43">
                    <a:extLst>
                      <a:ext uri="{FF2B5EF4-FFF2-40B4-BE49-F238E27FC236}">
                        <a16:creationId xmlns:a16="http://schemas.microsoft.com/office/drawing/2014/main" id="{2D92508F-CA22-2AD8-F265-1A1F76FECA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999" y="1345"/>
                    <a:ext cx="882" cy="523"/>
                  </a:xfrm>
                  <a:prstGeom prst="chevron">
                    <a:avLst>
                      <a:gd name="adj" fmla="val 14530"/>
                    </a:avLst>
                  </a:prstGeom>
                  <a:solidFill>
                    <a:srgbClr val="FFCC9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lIns="72000" tIns="0" rIns="72000" bIns="0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Acompanhar</a:t>
                    </a:r>
                  </a:p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Produto/</a:t>
                    </a:r>
                  </a:p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400"/>
                      <a:t>Processo</a:t>
                    </a:r>
                    <a:endParaRPr lang="pt-BR" altLang="pt-BR" sz="1600">
                      <a:solidFill>
                        <a:srgbClr val="000000"/>
                      </a:solidFill>
                    </a:endParaRPr>
                  </a:p>
                </p:txBody>
              </p:sp>
            </p:grpSp>
            <p:grpSp>
              <p:nvGrpSpPr>
                <p:cNvPr id="17483" name="Group 44">
                  <a:extLst>
                    <a:ext uri="{FF2B5EF4-FFF2-40B4-BE49-F238E27FC236}">
                      <a16:creationId xmlns:a16="http://schemas.microsoft.com/office/drawing/2014/main" id="{BCCA4DA1-1E43-583B-6CB8-DC4D97616AF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20" y="1272"/>
                  <a:ext cx="2268" cy="257"/>
                  <a:chOff x="1520" y="1272"/>
                  <a:chExt cx="2268" cy="257"/>
                </a:xfrm>
              </p:grpSpPr>
              <p:sp>
                <p:nvSpPr>
                  <p:cNvPr id="17539" name="AutoShape 45">
                    <a:extLst>
                      <a:ext uri="{FF2B5EF4-FFF2-40B4-BE49-F238E27FC236}">
                        <a16:creationId xmlns:a16="http://schemas.microsoft.com/office/drawing/2014/main" id="{635F43E9-8C2F-E4E3-9DDA-B08C144B71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520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40" name="AutoShape 46">
                    <a:extLst>
                      <a:ext uri="{FF2B5EF4-FFF2-40B4-BE49-F238E27FC236}">
                        <a16:creationId xmlns:a16="http://schemas.microsoft.com/office/drawing/2014/main" id="{0C2BE060-E22B-8D59-31CB-1C93C768B3A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974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41" name="AutoShape 47">
                    <a:extLst>
                      <a:ext uri="{FF2B5EF4-FFF2-40B4-BE49-F238E27FC236}">
                        <a16:creationId xmlns:a16="http://schemas.microsoft.com/office/drawing/2014/main" id="{CF5BA8C1-CEC5-51D3-7281-5884AC2D1E8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429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42" name="AutoShape 48">
                    <a:extLst>
                      <a:ext uri="{FF2B5EF4-FFF2-40B4-BE49-F238E27FC236}">
                        <a16:creationId xmlns:a16="http://schemas.microsoft.com/office/drawing/2014/main" id="{82C27FEC-B455-FC4C-EF18-D8D0163D7A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883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43" name="AutoShape 49">
                    <a:extLst>
                      <a:ext uri="{FF2B5EF4-FFF2-40B4-BE49-F238E27FC236}">
                        <a16:creationId xmlns:a16="http://schemas.microsoft.com/office/drawing/2014/main" id="{B6625AA3-11AB-D4F2-6D95-D0EB72E25B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338" y="1272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</p:grpSp>
            <p:grpSp>
              <p:nvGrpSpPr>
                <p:cNvPr id="17484" name="Group 50">
                  <a:extLst>
                    <a:ext uri="{FF2B5EF4-FFF2-40B4-BE49-F238E27FC236}">
                      <a16:creationId xmlns:a16="http://schemas.microsoft.com/office/drawing/2014/main" id="{6F4EB261-2091-F862-887E-C9382A3C94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616" y="1368"/>
                  <a:ext cx="2268" cy="257"/>
                  <a:chOff x="1616" y="1368"/>
                  <a:chExt cx="2268" cy="257"/>
                </a:xfrm>
              </p:grpSpPr>
              <p:sp>
                <p:nvSpPr>
                  <p:cNvPr id="17534" name="AutoShape 51">
                    <a:extLst>
                      <a:ext uri="{FF2B5EF4-FFF2-40B4-BE49-F238E27FC236}">
                        <a16:creationId xmlns:a16="http://schemas.microsoft.com/office/drawing/2014/main" id="{20F1326E-6BB5-67E5-5FDB-D6B416BFAB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616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35" name="AutoShape 52">
                    <a:extLst>
                      <a:ext uri="{FF2B5EF4-FFF2-40B4-BE49-F238E27FC236}">
                        <a16:creationId xmlns:a16="http://schemas.microsoft.com/office/drawing/2014/main" id="{24EE8E42-A260-B700-27F2-960F4CF8A0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070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36" name="AutoShape 53">
                    <a:extLst>
                      <a:ext uri="{FF2B5EF4-FFF2-40B4-BE49-F238E27FC236}">
                        <a16:creationId xmlns:a16="http://schemas.microsoft.com/office/drawing/2014/main" id="{DCA226F0-C684-A53E-719D-4E1C20E809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525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37" name="AutoShape 54">
                    <a:extLst>
                      <a:ext uri="{FF2B5EF4-FFF2-40B4-BE49-F238E27FC236}">
                        <a16:creationId xmlns:a16="http://schemas.microsoft.com/office/drawing/2014/main" id="{EDE82F8D-958A-7009-FCEF-C9FA8FB34A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979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38" name="AutoShape 55">
                    <a:extLst>
                      <a:ext uri="{FF2B5EF4-FFF2-40B4-BE49-F238E27FC236}">
                        <a16:creationId xmlns:a16="http://schemas.microsoft.com/office/drawing/2014/main" id="{D853EE3A-DECD-264C-E161-EEBFE85229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434" y="1368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</p:grpSp>
            <p:grpSp>
              <p:nvGrpSpPr>
                <p:cNvPr id="17485" name="Group 56">
                  <a:extLst>
                    <a:ext uri="{FF2B5EF4-FFF2-40B4-BE49-F238E27FC236}">
                      <a16:creationId xmlns:a16="http://schemas.microsoft.com/office/drawing/2014/main" id="{66532ED3-CE3B-1E92-C464-BF8E5F150A7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12" y="1464"/>
                  <a:ext cx="2268" cy="257"/>
                  <a:chOff x="1712" y="1464"/>
                  <a:chExt cx="2268" cy="257"/>
                </a:xfrm>
              </p:grpSpPr>
              <p:sp>
                <p:nvSpPr>
                  <p:cNvPr id="17529" name="AutoShape 57">
                    <a:extLst>
                      <a:ext uri="{FF2B5EF4-FFF2-40B4-BE49-F238E27FC236}">
                        <a16:creationId xmlns:a16="http://schemas.microsoft.com/office/drawing/2014/main" id="{8B1A8019-C4B1-6B88-A33A-49D3C07978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1712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30" name="AutoShape 58">
                    <a:extLst>
                      <a:ext uri="{FF2B5EF4-FFF2-40B4-BE49-F238E27FC236}">
                        <a16:creationId xmlns:a16="http://schemas.microsoft.com/office/drawing/2014/main" id="{C54AB42A-EB88-F321-2D44-D599F8B25B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166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31" name="AutoShape 59">
                    <a:extLst>
                      <a:ext uri="{FF2B5EF4-FFF2-40B4-BE49-F238E27FC236}">
                        <a16:creationId xmlns:a16="http://schemas.microsoft.com/office/drawing/2014/main" id="{B0C23CCE-5C38-9376-D955-763652A1B87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2621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32" name="AutoShape 60">
                    <a:extLst>
                      <a:ext uri="{FF2B5EF4-FFF2-40B4-BE49-F238E27FC236}">
                        <a16:creationId xmlns:a16="http://schemas.microsoft.com/office/drawing/2014/main" id="{4C536870-EFB4-9103-53CC-65FC7112BB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075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33" name="AutoShape 61">
                    <a:extLst>
                      <a:ext uri="{FF2B5EF4-FFF2-40B4-BE49-F238E27FC236}">
                        <a16:creationId xmlns:a16="http://schemas.microsoft.com/office/drawing/2014/main" id="{98EA839D-0665-01DB-74FC-F9EBEE034B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flipV="1">
                    <a:off x="3530" y="1464"/>
                    <a:ext cx="450" cy="257"/>
                  </a:xfrm>
                  <a:prstGeom prst="chevron">
                    <a:avLst>
                      <a:gd name="adj" fmla="val 21798"/>
                    </a:avLst>
                  </a:prstGeom>
                  <a:solidFill>
                    <a:srgbClr val="FFFF00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rot="10800000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</p:grpSp>
            <p:grpSp>
              <p:nvGrpSpPr>
                <p:cNvPr id="17486" name="Group 62">
                  <a:extLst>
                    <a:ext uri="{FF2B5EF4-FFF2-40B4-BE49-F238E27FC236}">
                      <a16:creationId xmlns:a16="http://schemas.microsoft.com/office/drawing/2014/main" id="{97EE901D-519A-A5DB-8351-01A70495DC4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86" y="1298"/>
                  <a:ext cx="599" cy="423"/>
                  <a:chOff x="986" y="1298"/>
                  <a:chExt cx="599" cy="423"/>
                </a:xfrm>
              </p:grpSpPr>
              <p:sp>
                <p:nvSpPr>
                  <p:cNvPr id="17526" name="AutoShape 63">
                    <a:extLst>
                      <a:ext uri="{FF2B5EF4-FFF2-40B4-BE49-F238E27FC236}">
                        <a16:creationId xmlns:a16="http://schemas.microsoft.com/office/drawing/2014/main" id="{795334E1-98B7-55DF-6BB0-EA436B84B8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986" y="1298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27" name="AutoShape 64">
                    <a:extLst>
                      <a:ext uri="{FF2B5EF4-FFF2-40B4-BE49-F238E27FC236}">
                        <a16:creationId xmlns:a16="http://schemas.microsoft.com/office/drawing/2014/main" id="{E551683A-08B3-8551-B2F2-93E25E009F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082" y="1394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  <p:sp>
                <p:nvSpPr>
                  <p:cNvPr id="17528" name="AutoShape 65">
                    <a:extLst>
                      <a:ext uri="{FF2B5EF4-FFF2-40B4-BE49-F238E27FC236}">
                        <a16:creationId xmlns:a16="http://schemas.microsoft.com/office/drawing/2014/main" id="{5F9ACBF2-FADF-C53E-FA8A-4A2E9DBAC32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178" y="1490"/>
                    <a:ext cx="407" cy="231"/>
                  </a:xfrm>
                  <a:prstGeom prst="chevron">
                    <a:avLst>
                      <a:gd name="adj" fmla="val 16950"/>
                    </a:avLst>
                  </a:prstGeom>
                  <a:solidFill>
                    <a:srgbClr val="99CCFF"/>
                  </a:solidFill>
                  <a:ln w="11176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1400"/>
                  </a:p>
                </p:txBody>
              </p:sp>
            </p:grpSp>
            <p:grpSp>
              <p:nvGrpSpPr>
                <p:cNvPr id="17487" name="Group 66">
                  <a:extLst>
                    <a:ext uri="{FF2B5EF4-FFF2-40B4-BE49-F238E27FC236}">
                      <a16:creationId xmlns:a16="http://schemas.microsoft.com/office/drawing/2014/main" id="{492010F7-E141-36DD-2E27-1C092A8F578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6" y="1685"/>
                  <a:ext cx="3926" cy="489"/>
                  <a:chOff x="176" y="1685"/>
                  <a:chExt cx="3926" cy="489"/>
                </a:xfrm>
              </p:grpSpPr>
              <p:sp>
                <p:nvSpPr>
                  <p:cNvPr id="17488" name="Text Box 67">
                    <a:extLst>
                      <a:ext uri="{FF2B5EF4-FFF2-40B4-BE49-F238E27FC236}">
                        <a16:creationId xmlns:a16="http://schemas.microsoft.com/office/drawing/2014/main" id="{F362C933-3976-3535-D776-AADD53036FC8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76" y="1968"/>
                    <a:ext cx="618" cy="1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lIns="72000" tIns="0" rIns="72000" bIns="0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r>
                      <a:rPr lang="pt-BR" altLang="pt-BR" sz="1600" u="sng">
                        <a:solidFill>
                          <a:srgbClr val="000000"/>
                        </a:solidFill>
                      </a:rPr>
                      <a:t>Gates &gt;&gt;</a:t>
                    </a:r>
                  </a:p>
                </p:txBody>
              </p:sp>
              <p:grpSp>
                <p:nvGrpSpPr>
                  <p:cNvPr id="17489" name="Group 68">
                    <a:extLst>
                      <a:ext uri="{FF2B5EF4-FFF2-40B4-BE49-F238E27FC236}">
                        <a16:creationId xmlns:a16="http://schemas.microsoft.com/office/drawing/2014/main" id="{7ED6FA7A-6060-1331-D862-B556E04E7BB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091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17524" name="AutoShape 69">
                      <a:extLst>
                        <a:ext uri="{FF2B5EF4-FFF2-40B4-BE49-F238E27FC236}">
                          <a16:creationId xmlns:a16="http://schemas.microsoft.com/office/drawing/2014/main" id="{1D95C1DF-E29D-AB16-9507-B9E35EBE63C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000"/>
                    </a:p>
                  </p:txBody>
                </p:sp>
                <p:sp>
                  <p:nvSpPr>
                    <p:cNvPr id="17525" name="Line 70">
                      <a:extLst>
                        <a:ext uri="{FF2B5EF4-FFF2-40B4-BE49-F238E27FC236}">
                          <a16:creationId xmlns:a16="http://schemas.microsoft.com/office/drawing/2014/main" id="{1CEA74EF-14FE-0569-E2EE-4F25BD08287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sp>
                <p:nvSpPr>
                  <p:cNvPr id="17490" name="AutoShape 71">
                    <a:extLst>
                      <a:ext uri="{FF2B5EF4-FFF2-40B4-BE49-F238E27FC236}">
                        <a16:creationId xmlns:a16="http://schemas.microsoft.com/office/drawing/2014/main" id="{CFC9453F-B2BF-66A4-16DC-454E65B5191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61" y="1859"/>
                    <a:ext cx="3341" cy="315"/>
                  </a:xfrm>
                  <a:prstGeom prst="roundRect">
                    <a:avLst>
                      <a:gd name="adj" fmla="val 50000"/>
                    </a:avLst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 lIns="72000" tIns="0" rIns="72000" bIns="0"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har char="•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80000"/>
                      </a:lnSpc>
                      <a:spcBef>
                        <a:spcPct val="0"/>
                      </a:spcBef>
                      <a:buFontTx/>
                      <a:buNone/>
                    </a:pPr>
                    <a:endParaRPr lang="pt-BR" altLang="pt-BR" sz="2000"/>
                  </a:p>
                </p:txBody>
              </p:sp>
              <p:grpSp>
                <p:nvGrpSpPr>
                  <p:cNvPr id="17491" name="Group 72">
                    <a:extLst>
                      <a:ext uri="{FF2B5EF4-FFF2-40B4-BE49-F238E27FC236}">
                        <a16:creationId xmlns:a16="http://schemas.microsoft.com/office/drawing/2014/main" id="{D5336EEA-6A96-F837-1DB4-1CA776EB2E7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918" y="1795"/>
                    <a:ext cx="117" cy="299"/>
                    <a:chOff x="2088" y="1486"/>
                    <a:chExt cx="117" cy="299"/>
                  </a:xfrm>
                </p:grpSpPr>
                <p:sp>
                  <p:nvSpPr>
                    <p:cNvPr id="17522" name="AutoShape 73">
                      <a:extLst>
                        <a:ext uri="{FF2B5EF4-FFF2-40B4-BE49-F238E27FC236}">
                          <a16:creationId xmlns:a16="http://schemas.microsoft.com/office/drawing/2014/main" id="{7640F21C-BF13-FF08-4FCC-17ED73322EC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088" y="1614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000"/>
                    </a:p>
                  </p:txBody>
                </p:sp>
                <p:sp>
                  <p:nvSpPr>
                    <p:cNvPr id="17523" name="Line 74">
                      <a:extLst>
                        <a:ext uri="{FF2B5EF4-FFF2-40B4-BE49-F238E27FC236}">
                          <a16:creationId xmlns:a16="http://schemas.microsoft.com/office/drawing/2014/main" id="{894D3807-9E6E-876C-DC94-95A60839114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46" y="1486"/>
                      <a:ext cx="0" cy="13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17492" name="Group 75">
                    <a:extLst>
                      <a:ext uri="{FF2B5EF4-FFF2-40B4-BE49-F238E27FC236}">
                        <a16:creationId xmlns:a16="http://schemas.microsoft.com/office/drawing/2014/main" id="{AF742960-142E-C8C0-496C-4116CF1AFD6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991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17520" name="AutoShape 76">
                      <a:extLst>
                        <a:ext uri="{FF2B5EF4-FFF2-40B4-BE49-F238E27FC236}">
                          <a16:creationId xmlns:a16="http://schemas.microsoft.com/office/drawing/2014/main" id="{5A890845-FE9C-F5D6-D306-1999CFF5601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000"/>
                    </a:p>
                  </p:txBody>
                </p:sp>
                <p:sp>
                  <p:nvSpPr>
                    <p:cNvPr id="17521" name="Line 77">
                      <a:extLst>
                        <a:ext uri="{FF2B5EF4-FFF2-40B4-BE49-F238E27FC236}">
                          <a16:creationId xmlns:a16="http://schemas.microsoft.com/office/drawing/2014/main" id="{E668B935-D7A9-02C7-90DE-047A4FE59B9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17493" name="Group 78">
                    <a:extLst>
                      <a:ext uri="{FF2B5EF4-FFF2-40B4-BE49-F238E27FC236}">
                        <a16:creationId xmlns:a16="http://schemas.microsoft.com/office/drawing/2014/main" id="{E5356B86-C591-9FEA-C50F-FFFD6E3A752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442" y="1685"/>
                    <a:ext cx="117" cy="389"/>
                    <a:chOff x="2112" y="1705"/>
                    <a:chExt cx="117" cy="389"/>
                  </a:xfrm>
                </p:grpSpPr>
                <p:sp>
                  <p:nvSpPr>
                    <p:cNvPr id="17518" name="AutoShape 79">
                      <a:extLst>
                        <a:ext uri="{FF2B5EF4-FFF2-40B4-BE49-F238E27FC236}">
                          <a16:creationId xmlns:a16="http://schemas.microsoft.com/office/drawing/2014/main" id="{49441F52-4C40-B3D1-5A34-415EE7D97CD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112" y="192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000"/>
                    </a:p>
                  </p:txBody>
                </p:sp>
                <p:sp>
                  <p:nvSpPr>
                    <p:cNvPr id="17519" name="Line 80">
                      <a:extLst>
                        <a:ext uri="{FF2B5EF4-FFF2-40B4-BE49-F238E27FC236}">
                          <a16:creationId xmlns:a16="http://schemas.microsoft.com/office/drawing/2014/main" id="{5244179D-FABF-021A-5D03-0AD785ED420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17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</p:grpSp>
              <p:grpSp>
                <p:nvGrpSpPr>
                  <p:cNvPr id="17494" name="Group 81">
                    <a:extLst>
                      <a:ext uri="{FF2B5EF4-FFF2-40B4-BE49-F238E27FC236}">
                        <a16:creationId xmlns:a16="http://schemas.microsoft.com/office/drawing/2014/main" id="{CF603F10-9477-7FC9-E349-45E964B3FCE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526" y="1705"/>
                    <a:ext cx="117" cy="369"/>
                    <a:chOff x="1526" y="1705"/>
                    <a:chExt cx="117" cy="369"/>
                  </a:xfrm>
                </p:grpSpPr>
                <p:sp>
                  <p:nvSpPr>
                    <p:cNvPr id="17516" name="Line 82">
                      <a:extLst>
                        <a:ext uri="{FF2B5EF4-FFF2-40B4-BE49-F238E27FC236}">
                          <a16:creationId xmlns:a16="http://schemas.microsoft.com/office/drawing/2014/main" id="{A5B472B9-D809-74B9-207F-015F367CB2A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1584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517" name="AutoShape 83">
                      <a:extLst>
                        <a:ext uri="{FF2B5EF4-FFF2-40B4-BE49-F238E27FC236}">
                          <a16:creationId xmlns:a16="http://schemas.microsoft.com/office/drawing/2014/main" id="{8F908AE5-4CA1-3595-84B9-EBA5E408C5F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526" y="190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000"/>
                    </a:p>
                  </p:txBody>
                </p:sp>
              </p:grpSp>
              <p:grpSp>
                <p:nvGrpSpPr>
                  <p:cNvPr id="17495" name="Group 84">
                    <a:extLst>
                      <a:ext uri="{FF2B5EF4-FFF2-40B4-BE49-F238E27FC236}">
                        <a16:creationId xmlns:a16="http://schemas.microsoft.com/office/drawing/2014/main" id="{F4EB40C4-8EBA-B1CF-57D7-11E0215E363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542" y="1705"/>
                    <a:ext cx="117" cy="369"/>
                    <a:chOff x="2542" y="1705"/>
                    <a:chExt cx="117" cy="369"/>
                  </a:xfrm>
                </p:grpSpPr>
                <p:sp>
                  <p:nvSpPr>
                    <p:cNvPr id="17514" name="Line 85">
                      <a:extLst>
                        <a:ext uri="{FF2B5EF4-FFF2-40B4-BE49-F238E27FC236}">
                          <a16:creationId xmlns:a16="http://schemas.microsoft.com/office/drawing/2014/main" id="{A692D460-E2AB-DA3F-C1D4-48A38047A30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600" y="1705"/>
                      <a:ext cx="0" cy="22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515" name="AutoShape 86">
                      <a:extLst>
                        <a:ext uri="{FF2B5EF4-FFF2-40B4-BE49-F238E27FC236}">
                          <a16:creationId xmlns:a16="http://schemas.microsoft.com/office/drawing/2014/main" id="{736ABBED-0A86-6399-9AA4-5D434708635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42" y="1903"/>
                      <a:ext cx="117" cy="171"/>
                    </a:xfrm>
                    <a:prstGeom prst="flowChartDecision">
                      <a:avLst/>
                    </a:prstGeom>
                    <a:solidFill>
                      <a:srgbClr val="FF3300"/>
                    </a:solidFill>
                    <a:ln w="9525">
                      <a:solidFill>
                        <a:schemeClr val="tx1"/>
                      </a:solidFill>
                      <a:miter lim="800000"/>
                      <a:headEnd/>
                      <a:tailEnd/>
                    </a:ln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000"/>
                    </a:p>
                  </p:txBody>
                </p:sp>
              </p:grpSp>
              <p:grpSp>
                <p:nvGrpSpPr>
                  <p:cNvPr id="17496" name="Group 87">
                    <a:extLst>
                      <a:ext uri="{FF2B5EF4-FFF2-40B4-BE49-F238E27FC236}">
                        <a16:creationId xmlns:a16="http://schemas.microsoft.com/office/drawing/2014/main" id="{B7050DDD-2962-7554-A839-05D45EEC30F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266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17512" name="Line 88">
                      <a:extLst>
                        <a:ext uri="{FF2B5EF4-FFF2-40B4-BE49-F238E27FC236}">
                          <a16:creationId xmlns:a16="http://schemas.microsoft.com/office/drawing/2014/main" id="{80C120F6-0FEE-C57B-7A11-4DB726473B1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513" name="AutoShape 89">
                      <a:extLst>
                        <a:ext uri="{FF2B5EF4-FFF2-40B4-BE49-F238E27FC236}">
                          <a16:creationId xmlns:a16="http://schemas.microsoft.com/office/drawing/2014/main" id="{8493FFFD-8B5E-05D7-45CA-EEC46E25743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000"/>
                    </a:p>
                  </p:txBody>
                </p:sp>
              </p:grpSp>
              <p:grpSp>
                <p:nvGrpSpPr>
                  <p:cNvPr id="17497" name="Group 90">
                    <a:extLst>
                      <a:ext uri="{FF2B5EF4-FFF2-40B4-BE49-F238E27FC236}">
                        <a16:creationId xmlns:a16="http://schemas.microsoft.com/office/drawing/2014/main" id="{AFA580CF-AF72-24E5-02E3-E94B2064C6C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384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17510" name="Line 91">
                      <a:extLst>
                        <a:ext uri="{FF2B5EF4-FFF2-40B4-BE49-F238E27FC236}">
                          <a16:creationId xmlns:a16="http://schemas.microsoft.com/office/drawing/2014/main" id="{B77DC157-CF3C-CCBA-B77F-4A39425B3D2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511" name="AutoShape 92">
                      <a:extLst>
                        <a:ext uri="{FF2B5EF4-FFF2-40B4-BE49-F238E27FC236}">
                          <a16:creationId xmlns:a16="http://schemas.microsoft.com/office/drawing/2014/main" id="{197AE9B5-1FF7-19F3-83E1-D1034BC3138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000"/>
                    </a:p>
                  </p:txBody>
                </p:sp>
              </p:grpSp>
              <p:grpSp>
                <p:nvGrpSpPr>
                  <p:cNvPr id="17498" name="Group 93">
                    <a:extLst>
                      <a:ext uri="{FF2B5EF4-FFF2-40B4-BE49-F238E27FC236}">
                        <a16:creationId xmlns:a16="http://schemas.microsoft.com/office/drawing/2014/main" id="{0B67E1D3-6452-6F60-F774-8C8CF27FC44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699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17508" name="Line 94">
                      <a:extLst>
                        <a:ext uri="{FF2B5EF4-FFF2-40B4-BE49-F238E27FC236}">
                          <a16:creationId xmlns:a16="http://schemas.microsoft.com/office/drawing/2014/main" id="{9ABA445E-5A6E-07A7-ED40-51C7FA4E382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509" name="AutoShape 95">
                      <a:extLst>
                        <a:ext uri="{FF2B5EF4-FFF2-40B4-BE49-F238E27FC236}">
                          <a16:creationId xmlns:a16="http://schemas.microsoft.com/office/drawing/2014/main" id="{6D7472F5-23EB-3724-4553-A03CCC8C2C8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000"/>
                    </a:p>
                  </p:txBody>
                </p:sp>
              </p:grpSp>
              <p:grpSp>
                <p:nvGrpSpPr>
                  <p:cNvPr id="17499" name="Group 96">
                    <a:extLst>
                      <a:ext uri="{FF2B5EF4-FFF2-40B4-BE49-F238E27FC236}">
                        <a16:creationId xmlns:a16="http://schemas.microsoft.com/office/drawing/2014/main" id="{6B3B41F5-B917-9547-8437-69F1124AB36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2834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17506" name="Line 97">
                      <a:extLst>
                        <a:ext uri="{FF2B5EF4-FFF2-40B4-BE49-F238E27FC236}">
                          <a16:creationId xmlns:a16="http://schemas.microsoft.com/office/drawing/2014/main" id="{B398165E-CB21-4FEE-18E7-EDE145AEBEC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507" name="AutoShape 98">
                      <a:extLst>
                        <a:ext uri="{FF2B5EF4-FFF2-40B4-BE49-F238E27FC236}">
                          <a16:creationId xmlns:a16="http://schemas.microsoft.com/office/drawing/2014/main" id="{F1DE3210-5A67-77FF-2CD2-BCED5169974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000"/>
                    </a:p>
                  </p:txBody>
                </p:sp>
              </p:grpSp>
              <p:grpSp>
                <p:nvGrpSpPr>
                  <p:cNvPr id="17500" name="Group 99">
                    <a:extLst>
                      <a:ext uri="{FF2B5EF4-FFF2-40B4-BE49-F238E27FC236}">
                        <a16:creationId xmlns:a16="http://schemas.microsoft.com/office/drawing/2014/main" id="{3201C910-16D9-3B32-6D09-553A3795A6B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922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17504" name="Line 100">
                      <a:extLst>
                        <a:ext uri="{FF2B5EF4-FFF2-40B4-BE49-F238E27FC236}">
                          <a16:creationId xmlns:a16="http://schemas.microsoft.com/office/drawing/2014/main" id="{264B517F-7D11-18DF-67D7-3601B964DD5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505" name="AutoShape 101">
                      <a:extLst>
                        <a:ext uri="{FF2B5EF4-FFF2-40B4-BE49-F238E27FC236}">
                          <a16:creationId xmlns:a16="http://schemas.microsoft.com/office/drawing/2014/main" id="{F887DEC7-78AA-1E47-EC9C-5BC105F7E86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000"/>
                    </a:p>
                  </p:txBody>
                </p:sp>
              </p:grpSp>
              <p:grpSp>
                <p:nvGrpSpPr>
                  <p:cNvPr id="17501" name="Group 102">
                    <a:extLst>
                      <a:ext uri="{FF2B5EF4-FFF2-40B4-BE49-F238E27FC236}">
                        <a16:creationId xmlns:a16="http://schemas.microsoft.com/office/drawing/2014/main" id="{E29270B4-B648-E1EB-61EE-DEB5ACB0FD0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3253" y="1721"/>
                    <a:ext cx="89" cy="298"/>
                    <a:chOff x="2266" y="1721"/>
                    <a:chExt cx="89" cy="298"/>
                  </a:xfrm>
                </p:grpSpPr>
                <p:sp>
                  <p:nvSpPr>
                    <p:cNvPr id="17502" name="Line 103">
                      <a:extLst>
                        <a:ext uri="{FF2B5EF4-FFF2-40B4-BE49-F238E27FC236}">
                          <a16:creationId xmlns:a16="http://schemas.microsoft.com/office/drawing/2014/main" id="{B67313FB-CD8E-6F5F-FA50-0C38000AC03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311" y="1721"/>
                      <a:ext cx="0" cy="213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lIns="72000" tIns="0" rIns="72000" bIns="0" anchor="ctr">
                      <a:spAutoFit/>
                    </a:bodyPr>
                    <a:lstStyle/>
                    <a:p>
                      <a:endParaRPr lang="pt-BR"/>
                    </a:p>
                  </p:txBody>
                </p:sp>
                <p:sp>
                  <p:nvSpPr>
                    <p:cNvPr id="17503" name="AutoShape 104">
                      <a:extLst>
                        <a:ext uri="{FF2B5EF4-FFF2-40B4-BE49-F238E27FC236}">
                          <a16:creationId xmlns:a16="http://schemas.microsoft.com/office/drawing/2014/main" id="{EA877546-7259-C142-10B9-2159EE7B1AE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266" y="1934"/>
                      <a:ext cx="89" cy="85"/>
                    </a:xfrm>
                    <a:prstGeom prst="flowChartDecision">
                      <a:avLst/>
                    </a:prstGeom>
                    <a:solidFill>
                      <a:schemeClr val="accent2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miter lim="800000"/>
                          <a:headEnd/>
                          <a:tailEnd/>
                        </a14:hiddenLine>
                      </a:ext>
                    </a:extLst>
                  </p:spPr>
                  <p:txBody>
                    <a:bodyPr lIns="72000" tIns="0" rIns="72000" bIns="0" anchor="ctr">
                      <a:spAutoFit/>
                    </a:bodyPr>
                    <a:lstStyle>
                      <a:lvl1pPr>
                        <a:spcBef>
                          <a:spcPct val="20000"/>
                        </a:spcBef>
                        <a:buChar char="•"/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har char="–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har char="•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har char="–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har char="»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>
                        <a:lnSpc>
                          <a:spcPct val="80000"/>
                        </a:lnSpc>
                        <a:spcBef>
                          <a:spcPct val="0"/>
                        </a:spcBef>
                        <a:buFontTx/>
                        <a:buNone/>
                      </a:pPr>
                      <a:endParaRPr lang="pt-BR" altLang="pt-BR" sz="2000"/>
                    </a:p>
                  </p:txBody>
                </p:sp>
              </p:grpSp>
            </p:grpSp>
          </p:grpSp>
          <p:sp>
            <p:nvSpPr>
              <p:cNvPr id="17472" name="Rectangle 105">
                <a:extLst>
                  <a:ext uri="{FF2B5EF4-FFF2-40B4-BE49-F238E27FC236}">
                    <a16:creationId xmlns:a16="http://schemas.microsoft.com/office/drawing/2014/main" id="{FD910B9A-DDF2-1203-BFE2-48B6F1049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573"/>
                <a:ext cx="3912" cy="202"/>
              </a:xfrm>
              <a:prstGeom prst="rect">
                <a:avLst/>
              </a:prstGeom>
              <a:solidFill>
                <a:srgbClr val="CCFFCC"/>
              </a:solidFill>
              <a:ln w="9525">
                <a:miter lim="800000"/>
                <a:headEnd/>
                <a:tailEnd/>
              </a:ln>
              <a:scene3d>
                <a:camera prst="legacyObliqueTopRight"/>
                <a:lightRig rig="legacyFlat3" dir="b"/>
              </a:scene3d>
              <a:sp3d extrusionH="277800" prstMaterial="legacyMatte">
                <a:bevelT w="13500" h="13500" prst="angle"/>
                <a:bevelB w="13500" h="13500" prst="angle"/>
                <a:extrusionClr>
                  <a:srgbClr val="CCFFCC"/>
                </a:extrusionClr>
                <a:contourClr>
                  <a:srgbClr val="CCFFCC"/>
                </a:contourClr>
              </a:sp3d>
            </p:spPr>
            <p:txBody>
              <a:bodyPr lIns="72000" tIns="0" rIns="72000" bIns="0">
                <a:flatTx/>
              </a:bodyPr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2000" b="1" i="1">
                    <a:solidFill>
                      <a:srgbClr val="000000"/>
                    </a:solidFill>
                  </a:rPr>
                  <a:t>Processo de Desenvolvimento de Produto</a:t>
                </a:r>
              </a:p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1600">
                  <a:solidFill>
                    <a:srgbClr val="000000"/>
                  </a:solidFill>
                </a:endParaRPr>
              </a:p>
            </p:txBody>
          </p:sp>
        </p:grpSp>
      </p:grpSp>
      <p:grpSp>
        <p:nvGrpSpPr>
          <p:cNvPr id="30" name="Group 106">
            <a:extLst>
              <a:ext uri="{FF2B5EF4-FFF2-40B4-BE49-F238E27FC236}">
                <a16:creationId xmlns:a16="http://schemas.microsoft.com/office/drawing/2014/main" id="{ACA68588-CD21-7E77-28C4-CC90A152FB9F}"/>
              </a:ext>
            </a:extLst>
          </p:cNvPr>
          <p:cNvGrpSpPr>
            <a:grpSpLocks/>
          </p:cNvGrpSpPr>
          <p:nvPr/>
        </p:nvGrpSpPr>
        <p:grpSpPr bwMode="auto">
          <a:xfrm rot="-5976873">
            <a:off x="3965575" y="3327400"/>
            <a:ext cx="1554163" cy="2862263"/>
            <a:chOff x="2181" y="1183"/>
            <a:chExt cx="1419" cy="1966"/>
          </a:xfrm>
        </p:grpSpPr>
        <p:grpSp>
          <p:nvGrpSpPr>
            <p:cNvPr id="17412" name="Group 107">
              <a:extLst>
                <a:ext uri="{FF2B5EF4-FFF2-40B4-BE49-F238E27FC236}">
                  <a16:creationId xmlns:a16="http://schemas.microsoft.com/office/drawing/2014/main" id="{9C428FB4-318B-F321-B5C8-798DCE64CB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81" y="1183"/>
              <a:ext cx="1203" cy="1195"/>
              <a:chOff x="2181" y="1183"/>
              <a:chExt cx="1203" cy="1195"/>
            </a:xfrm>
          </p:grpSpPr>
          <p:grpSp>
            <p:nvGrpSpPr>
              <p:cNvPr id="17449" name="Group 108">
                <a:extLst>
                  <a:ext uri="{FF2B5EF4-FFF2-40B4-BE49-F238E27FC236}">
                    <a16:creationId xmlns:a16="http://schemas.microsoft.com/office/drawing/2014/main" id="{2B0DD0B3-F898-F2D1-66C4-5DF7A24678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03" y="1197"/>
                <a:ext cx="1181" cy="1180"/>
                <a:chOff x="2203" y="1197"/>
                <a:chExt cx="1181" cy="1180"/>
              </a:xfrm>
            </p:grpSpPr>
            <p:grpSp>
              <p:nvGrpSpPr>
                <p:cNvPr id="17455" name="Group 109">
                  <a:extLst>
                    <a:ext uri="{FF2B5EF4-FFF2-40B4-BE49-F238E27FC236}">
                      <a16:creationId xmlns:a16="http://schemas.microsoft.com/office/drawing/2014/main" id="{4E7E608D-3D86-6E29-CA79-DD37CA5F9D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03" y="1197"/>
                  <a:ext cx="1181" cy="1180"/>
                  <a:chOff x="2203" y="1197"/>
                  <a:chExt cx="1181" cy="1180"/>
                </a:xfrm>
              </p:grpSpPr>
              <p:sp>
                <p:nvSpPr>
                  <p:cNvPr id="17461" name="Freeform 110">
                    <a:extLst>
                      <a:ext uri="{FF2B5EF4-FFF2-40B4-BE49-F238E27FC236}">
                        <a16:creationId xmlns:a16="http://schemas.microsoft.com/office/drawing/2014/main" id="{544D6AF0-0D2A-D9D0-380D-FBB17DA88AB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03" y="1197"/>
                    <a:ext cx="1003" cy="685"/>
                  </a:xfrm>
                  <a:custGeom>
                    <a:avLst/>
                    <a:gdLst>
                      <a:gd name="T0" fmla="*/ 21 w 1003"/>
                      <a:gd name="T1" fmla="*/ 685 h 685"/>
                      <a:gd name="T2" fmla="*/ 6 w 1003"/>
                      <a:gd name="T3" fmla="*/ 604 h 685"/>
                      <a:gd name="T4" fmla="*/ 0 w 1003"/>
                      <a:gd name="T5" fmla="*/ 526 h 685"/>
                      <a:gd name="T6" fmla="*/ 3 w 1003"/>
                      <a:gd name="T7" fmla="*/ 472 h 685"/>
                      <a:gd name="T8" fmla="*/ 12 w 1003"/>
                      <a:gd name="T9" fmla="*/ 423 h 685"/>
                      <a:gd name="T10" fmla="*/ 27 w 1003"/>
                      <a:gd name="T11" fmla="*/ 369 h 685"/>
                      <a:gd name="T12" fmla="*/ 51 w 1003"/>
                      <a:gd name="T13" fmla="*/ 315 h 685"/>
                      <a:gd name="T14" fmla="*/ 81 w 1003"/>
                      <a:gd name="T15" fmla="*/ 258 h 685"/>
                      <a:gd name="T16" fmla="*/ 111 w 1003"/>
                      <a:gd name="T17" fmla="*/ 213 h 685"/>
                      <a:gd name="T18" fmla="*/ 147 w 1003"/>
                      <a:gd name="T19" fmla="*/ 168 h 685"/>
                      <a:gd name="T20" fmla="*/ 189 w 1003"/>
                      <a:gd name="T21" fmla="*/ 129 h 685"/>
                      <a:gd name="T22" fmla="*/ 231 w 1003"/>
                      <a:gd name="T23" fmla="*/ 96 h 685"/>
                      <a:gd name="T24" fmla="*/ 276 w 1003"/>
                      <a:gd name="T25" fmla="*/ 69 h 685"/>
                      <a:gd name="T26" fmla="*/ 331 w 1003"/>
                      <a:gd name="T27" fmla="*/ 45 h 685"/>
                      <a:gd name="T28" fmla="*/ 394 w 1003"/>
                      <a:gd name="T29" fmla="*/ 24 h 685"/>
                      <a:gd name="T30" fmla="*/ 448 w 1003"/>
                      <a:gd name="T31" fmla="*/ 9 h 685"/>
                      <a:gd name="T32" fmla="*/ 514 w 1003"/>
                      <a:gd name="T33" fmla="*/ 0 h 685"/>
                      <a:gd name="T34" fmla="*/ 598 w 1003"/>
                      <a:gd name="T35" fmla="*/ 0 h 685"/>
                      <a:gd name="T36" fmla="*/ 661 w 1003"/>
                      <a:gd name="T37" fmla="*/ 12 h 685"/>
                      <a:gd name="T38" fmla="*/ 736 w 1003"/>
                      <a:gd name="T39" fmla="*/ 30 h 685"/>
                      <a:gd name="T40" fmla="*/ 811 w 1003"/>
                      <a:gd name="T41" fmla="*/ 63 h 685"/>
                      <a:gd name="T42" fmla="*/ 877 w 1003"/>
                      <a:gd name="T43" fmla="*/ 102 h 685"/>
                      <a:gd name="T44" fmla="*/ 922 w 1003"/>
                      <a:gd name="T45" fmla="*/ 141 h 685"/>
                      <a:gd name="T46" fmla="*/ 967 w 1003"/>
                      <a:gd name="T47" fmla="*/ 186 h 685"/>
                      <a:gd name="T48" fmla="*/ 1003 w 1003"/>
                      <a:gd name="T49" fmla="*/ 231 h 685"/>
                      <a:gd name="T50" fmla="*/ 907 w 1003"/>
                      <a:gd name="T51" fmla="*/ 159 h 685"/>
                      <a:gd name="T52" fmla="*/ 856 w 1003"/>
                      <a:gd name="T53" fmla="*/ 129 h 685"/>
                      <a:gd name="T54" fmla="*/ 802 w 1003"/>
                      <a:gd name="T55" fmla="*/ 108 h 685"/>
                      <a:gd name="T56" fmla="*/ 733 w 1003"/>
                      <a:gd name="T57" fmla="*/ 87 h 685"/>
                      <a:gd name="T58" fmla="*/ 667 w 1003"/>
                      <a:gd name="T59" fmla="*/ 78 h 685"/>
                      <a:gd name="T60" fmla="*/ 595 w 1003"/>
                      <a:gd name="T61" fmla="*/ 75 h 685"/>
                      <a:gd name="T62" fmla="*/ 541 w 1003"/>
                      <a:gd name="T63" fmla="*/ 78 h 685"/>
                      <a:gd name="T64" fmla="*/ 484 w 1003"/>
                      <a:gd name="T65" fmla="*/ 87 h 685"/>
                      <a:gd name="T66" fmla="*/ 427 w 1003"/>
                      <a:gd name="T67" fmla="*/ 102 h 685"/>
                      <a:gd name="T68" fmla="*/ 373 w 1003"/>
                      <a:gd name="T69" fmla="*/ 120 h 685"/>
                      <a:gd name="T70" fmla="*/ 313 w 1003"/>
                      <a:gd name="T71" fmla="*/ 150 h 685"/>
                      <a:gd name="T72" fmla="*/ 267 w 1003"/>
                      <a:gd name="T73" fmla="*/ 177 h 685"/>
                      <a:gd name="T74" fmla="*/ 228 w 1003"/>
                      <a:gd name="T75" fmla="*/ 210 h 685"/>
                      <a:gd name="T76" fmla="*/ 183 w 1003"/>
                      <a:gd name="T77" fmla="*/ 246 h 685"/>
                      <a:gd name="T78" fmla="*/ 147 w 1003"/>
                      <a:gd name="T79" fmla="*/ 285 h 685"/>
                      <a:gd name="T80" fmla="*/ 111 w 1003"/>
                      <a:gd name="T81" fmla="*/ 339 h 685"/>
                      <a:gd name="T82" fmla="*/ 78 w 1003"/>
                      <a:gd name="T83" fmla="*/ 396 h 685"/>
                      <a:gd name="T84" fmla="*/ 57 w 1003"/>
                      <a:gd name="T85" fmla="*/ 450 h 685"/>
                      <a:gd name="T86" fmla="*/ 39 w 1003"/>
                      <a:gd name="T87" fmla="*/ 514 h 685"/>
                      <a:gd name="T88" fmla="*/ 27 w 1003"/>
                      <a:gd name="T89" fmla="*/ 592 h 685"/>
                      <a:gd name="T90" fmla="*/ 21 w 1003"/>
                      <a:gd name="T91" fmla="*/ 685 h 685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w 1003"/>
                      <a:gd name="T139" fmla="*/ 0 h 685"/>
                      <a:gd name="T140" fmla="*/ 1003 w 1003"/>
                      <a:gd name="T141" fmla="*/ 685 h 685"/>
                    </a:gdLst>
                    <a:ahLst/>
                    <a:cxnLst>
                      <a:cxn ang="T92">
                        <a:pos x="T0" y="T1"/>
                      </a:cxn>
                      <a:cxn ang="T93">
                        <a:pos x="T2" y="T3"/>
                      </a:cxn>
                      <a:cxn ang="T94">
                        <a:pos x="T4" y="T5"/>
                      </a:cxn>
                      <a:cxn ang="T95">
                        <a:pos x="T6" y="T7"/>
                      </a:cxn>
                      <a:cxn ang="T96">
                        <a:pos x="T8" y="T9"/>
                      </a:cxn>
                      <a:cxn ang="T97">
                        <a:pos x="T10" y="T11"/>
                      </a:cxn>
                      <a:cxn ang="T98">
                        <a:pos x="T12" y="T13"/>
                      </a:cxn>
                      <a:cxn ang="T99">
                        <a:pos x="T14" y="T15"/>
                      </a:cxn>
                      <a:cxn ang="T100">
                        <a:pos x="T16" y="T17"/>
                      </a:cxn>
                      <a:cxn ang="T101">
                        <a:pos x="T18" y="T19"/>
                      </a:cxn>
                      <a:cxn ang="T102">
                        <a:pos x="T20" y="T21"/>
                      </a:cxn>
                      <a:cxn ang="T103">
                        <a:pos x="T22" y="T23"/>
                      </a:cxn>
                      <a:cxn ang="T104">
                        <a:pos x="T24" y="T25"/>
                      </a:cxn>
                      <a:cxn ang="T105">
                        <a:pos x="T26" y="T27"/>
                      </a:cxn>
                      <a:cxn ang="T106">
                        <a:pos x="T28" y="T29"/>
                      </a:cxn>
                      <a:cxn ang="T107">
                        <a:pos x="T30" y="T31"/>
                      </a:cxn>
                      <a:cxn ang="T108">
                        <a:pos x="T32" y="T33"/>
                      </a:cxn>
                      <a:cxn ang="T109">
                        <a:pos x="T34" y="T35"/>
                      </a:cxn>
                      <a:cxn ang="T110">
                        <a:pos x="T36" y="T37"/>
                      </a:cxn>
                      <a:cxn ang="T111">
                        <a:pos x="T38" y="T39"/>
                      </a:cxn>
                      <a:cxn ang="T112">
                        <a:pos x="T40" y="T41"/>
                      </a:cxn>
                      <a:cxn ang="T113">
                        <a:pos x="T42" y="T43"/>
                      </a:cxn>
                      <a:cxn ang="T114">
                        <a:pos x="T44" y="T45"/>
                      </a:cxn>
                      <a:cxn ang="T115">
                        <a:pos x="T46" y="T47"/>
                      </a:cxn>
                      <a:cxn ang="T116">
                        <a:pos x="T48" y="T49"/>
                      </a:cxn>
                      <a:cxn ang="T117">
                        <a:pos x="T50" y="T51"/>
                      </a:cxn>
                      <a:cxn ang="T118">
                        <a:pos x="T52" y="T53"/>
                      </a:cxn>
                      <a:cxn ang="T119">
                        <a:pos x="T54" y="T55"/>
                      </a:cxn>
                      <a:cxn ang="T120">
                        <a:pos x="T56" y="T57"/>
                      </a:cxn>
                      <a:cxn ang="T121">
                        <a:pos x="T58" y="T59"/>
                      </a:cxn>
                      <a:cxn ang="T122">
                        <a:pos x="T60" y="T61"/>
                      </a:cxn>
                      <a:cxn ang="T123">
                        <a:pos x="T62" y="T63"/>
                      </a:cxn>
                      <a:cxn ang="T124">
                        <a:pos x="T64" y="T65"/>
                      </a:cxn>
                      <a:cxn ang="T125">
                        <a:pos x="T66" y="T67"/>
                      </a:cxn>
                      <a:cxn ang="T126">
                        <a:pos x="T68" y="T69"/>
                      </a:cxn>
                      <a:cxn ang="T127">
                        <a:pos x="T70" y="T71"/>
                      </a:cxn>
                      <a:cxn ang="T128">
                        <a:pos x="T72" y="T73"/>
                      </a:cxn>
                      <a:cxn ang="T129">
                        <a:pos x="T74" y="T75"/>
                      </a:cxn>
                      <a:cxn ang="T130">
                        <a:pos x="T76" y="T77"/>
                      </a:cxn>
                      <a:cxn ang="T131">
                        <a:pos x="T78" y="T79"/>
                      </a:cxn>
                      <a:cxn ang="T132">
                        <a:pos x="T80" y="T81"/>
                      </a:cxn>
                      <a:cxn ang="T133">
                        <a:pos x="T82" y="T83"/>
                      </a:cxn>
                      <a:cxn ang="T134">
                        <a:pos x="T84" y="T85"/>
                      </a:cxn>
                      <a:cxn ang="T135">
                        <a:pos x="T86" y="T87"/>
                      </a:cxn>
                      <a:cxn ang="T136">
                        <a:pos x="T88" y="T89"/>
                      </a:cxn>
                      <a:cxn ang="T137">
                        <a:pos x="T90" y="T91"/>
                      </a:cxn>
                    </a:cxnLst>
                    <a:rect l="T138" t="T139" r="T140" b="T141"/>
                    <a:pathLst>
                      <a:path w="1003" h="685">
                        <a:moveTo>
                          <a:pt x="21" y="685"/>
                        </a:moveTo>
                        <a:lnTo>
                          <a:pt x="6" y="604"/>
                        </a:lnTo>
                        <a:lnTo>
                          <a:pt x="0" y="526"/>
                        </a:lnTo>
                        <a:lnTo>
                          <a:pt x="3" y="472"/>
                        </a:lnTo>
                        <a:lnTo>
                          <a:pt x="12" y="423"/>
                        </a:lnTo>
                        <a:lnTo>
                          <a:pt x="27" y="369"/>
                        </a:lnTo>
                        <a:lnTo>
                          <a:pt x="51" y="315"/>
                        </a:lnTo>
                        <a:lnTo>
                          <a:pt x="81" y="258"/>
                        </a:lnTo>
                        <a:lnTo>
                          <a:pt x="111" y="213"/>
                        </a:lnTo>
                        <a:lnTo>
                          <a:pt x="147" y="168"/>
                        </a:lnTo>
                        <a:lnTo>
                          <a:pt x="189" y="129"/>
                        </a:lnTo>
                        <a:lnTo>
                          <a:pt x="231" y="96"/>
                        </a:lnTo>
                        <a:lnTo>
                          <a:pt x="276" y="69"/>
                        </a:lnTo>
                        <a:lnTo>
                          <a:pt x="331" y="45"/>
                        </a:lnTo>
                        <a:lnTo>
                          <a:pt x="394" y="24"/>
                        </a:lnTo>
                        <a:lnTo>
                          <a:pt x="448" y="9"/>
                        </a:lnTo>
                        <a:lnTo>
                          <a:pt x="514" y="0"/>
                        </a:lnTo>
                        <a:lnTo>
                          <a:pt x="598" y="0"/>
                        </a:lnTo>
                        <a:lnTo>
                          <a:pt x="661" y="12"/>
                        </a:lnTo>
                        <a:lnTo>
                          <a:pt x="736" y="30"/>
                        </a:lnTo>
                        <a:lnTo>
                          <a:pt x="811" y="63"/>
                        </a:lnTo>
                        <a:lnTo>
                          <a:pt x="877" y="102"/>
                        </a:lnTo>
                        <a:lnTo>
                          <a:pt x="922" y="141"/>
                        </a:lnTo>
                        <a:lnTo>
                          <a:pt x="967" y="186"/>
                        </a:lnTo>
                        <a:lnTo>
                          <a:pt x="1003" y="231"/>
                        </a:lnTo>
                        <a:lnTo>
                          <a:pt x="907" y="159"/>
                        </a:lnTo>
                        <a:lnTo>
                          <a:pt x="856" y="129"/>
                        </a:lnTo>
                        <a:lnTo>
                          <a:pt x="802" y="108"/>
                        </a:lnTo>
                        <a:lnTo>
                          <a:pt x="733" y="87"/>
                        </a:lnTo>
                        <a:lnTo>
                          <a:pt x="667" y="78"/>
                        </a:lnTo>
                        <a:lnTo>
                          <a:pt x="595" y="75"/>
                        </a:lnTo>
                        <a:lnTo>
                          <a:pt x="541" y="78"/>
                        </a:lnTo>
                        <a:lnTo>
                          <a:pt x="484" y="87"/>
                        </a:lnTo>
                        <a:lnTo>
                          <a:pt x="427" y="102"/>
                        </a:lnTo>
                        <a:lnTo>
                          <a:pt x="373" y="120"/>
                        </a:lnTo>
                        <a:lnTo>
                          <a:pt x="313" y="150"/>
                        </a:lnTo>
                        <a:lnTo>
                          <a:pt x="267" y="177"/>
                        </a:lnTo>
                        <a:lnTo>
                          <a:pt x="228" y="210"/>
                        </a:lnTo>
                        <a:lnTo>
                          <a:pt x="183" y="246"/>
                        </a:lnTo>
                        <a:lnTo>
                          <a:pt x="147" y="285"/>
                        </a:lnTo>
                        <a:lnTo>
                          <a:pt x="111" y="339"/>
                        </a:lnTo>
                        <a:lnTo>
                          <a:pt x="78" y="396"/>
                        </a:lnTo>
                        <a:lnTo>
                          <a:pt x="57" y="450"/>
                        </a:lnTo>
                        <a:lnTo>
                          <a:pt x="39" y="514"/>
                        </a:lnTo>
                        <a:lnTo>
                          <a:pt x="27" y="592"/>
                        </a:lnTo>
                        <a:lnTo>
                          <a:pt x="21" y="685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62" name="Freeform 111">
                    <a:extLst>
                      <a:ext uri="{FF2B5EF4-FFF2-40B4-BE49-F238E27FC236}">
                        <a16:creationId xmlns:a16="http://schemas.microsoft.com/office/drawing/2014/main" id="{6A40DF3B-2F8F-F9A9-FF83-09069294D5E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8" y="1536"/>
                    <a:ext cx="1106" cy="841"/>
                  </a:xfrm>
                  <a:custGeom>
                    <a:avLst/>
                    <a:gdLst>
                      <a:gd name="T0" fmla="*/ 0 w 1106"/>
                      <a:gd name="T1" fmla="*/ 511 h 841"/>
                      <a:gd name="T2" fmla="*/ 63 w 1106"/>
                      <a:gd name="T3" fmla="*/ 583 h 841"/>
                      <a:gd name="T4" fmla="*/ 132 w 1106"/>
                      <a:gd name="T5" fmla="*/ 646 h 841"/>
                      <a:gd name="T6" fmla="*/ 195 w 1106"/>
                      <a:gd name="T7" fmla="*/ 682 h 841"/>
                      <a:gd name="T8" fmla="*/ 286 w 1106"/>
                      <a:gd name="T9" fmla="*/ 721 h 841"/>
                      <a:gd name="T10" fmla="*/ 358 w 1106"/>
                      <a:gd name="T11" fmla="*/ 742 h 841"/>
                      <a:gd name="T12" fmla="*/ 424 w 1106"/>
                      <a:gd name="T13" fmla="*/ 751 h 841"/>
                      <a:gd name="T14" fmla="*/ 502 w 1106"/>
                      <a:gd name="T15" fmla="*/ 751 h 841"/>
                      <a:gd name="T16" fmla="*/ 559 w 1106"/>
                      <a:gd name="T17" fmla="*/ 745 h 841"/>
                      <a:gd name="T18" fmla="*/ 628 w 1106"/>
                      <a:gd name="T19" fmla="*/ 733 h 841"/>
                      <a:gd name="T20" fmla="*/ 697 w 1106"/>
                      <a:gd name="T21" fmla="*/ 712 h 841"/>
                      <a:gd name="T22" fmla="*/ 754 w 1106"/>
                      <a:gd name="T23" fmla="*/ 682 h 841"/>
                      <a:gd name="T24" fmla="*/ 808 w 1106"/>
                      <a:gd name="T25" fmla="*/ 649 h 841"/>
                      <a:gd name="T26" fmla="*/ 856 w 1106"/>
                      <a:gd name="T27" fmla="*/ 616 h 841"/>
                      <a:gd name="T28" fmla="*/ 904 w 1106"/>
                      <a:gd name="T29" fmla="*/ 568 h 841"/>
                      <a:gd name="T30" fmla="*/ 952 w 1106"/>
                      <a:gd name="T31" fmla="*/ 514 h 841"/>
                      <a:gd name="T32" fmla="*/ 989 w 1106"/>
                      <a:gd name="T33" fmla="*/ 463 h 841"/>
                      <a:gd name="T34" fmla="*/ 1010 w 1106"/>
                      <a:gd name="T35" fmla="*/ 412 h 841"/>
                      <a:gd name="T36" fmla="*/ 1037 w 1106"/>
                      <a:gd name="T37" fmla="*/ 331 h 841"/>
                      <a:gd name="T38" fmla="*/ 1055 w 1106"/>
                      <a:gd name="T39" fmla="*/ 247 h 841"/>
                      <a:gd name="T40" fmla="*/ 1058 w 1106"/>
                      <a:gd name="T41" fmla="*/ 172 h 841"/>
                      <a:gd name="T42" fmla="*/ 1046 w 1106"/>
                      <a:gd name="T43" fmla="*/ 90 h 841"/>
                      <a:gd name="T44" fmla="*/ 1019 w 1106"/>
                      <a:gd name="T45" fmla="*/ 0 h 841"/>
                      <a:gd name="T46" fmla="*/ 1046 w 1106"/>
                      <a:gd name="T47" fmla="*/ 48 h 841"/>
                      <a:gd name="T48" fmla="*/ 1076 w 1106"/>
                      <a:gd name="T49" fmla="*/ 117 h 841"/>
                      <a:gd name="T50" fmla="*/ 1091 w 1106"/>
                      <a:gd name="T51" fmla="*/ 181 h 841"/>
                      <a:gd name="T52" fmla="*/ 1106 w 1106"/>
                      <a:gd name="T53" fmla="*/ 241 h 841"/>
                      <a:gd name="T54" fmla="*/ 1103 w 1106"/>
                      <a:gd name="T55" fmla="*/ 292 h 841"/>
                      <a:gd name="T56" fmla="*/ 1100 w 1106"/>
                      <a:gd name="T57" fmla="*/ 361 h 841"/>
                      <a:gd name="T58" fmla="*/ 1064 w 1106"/>
                      <a:gd name="T59" fmla="*/ 493 h 841"/>
                      <a:gd name="T60" fmla="*/ 1028 w 1106"/>
                      <a:gd name="T61" fmla="*/ 565 h 841"/>
                      <a:gd name="T62" fmla="*/ 983 w 1106"/>
                      <a:gd name="T63" fmla="*/ 628 h 841"/>
                      <a:gd name="T64" fmla="*/ 934 w 1106"/>
                      <a:gd name="T65" fmla="*/ 682 h 841"/>
                      <a:gd name="T66" fmla="*/ 886 w 1106"/>
                      <a:gd name="T67" fmla="*/ 721 h 841"/>
                      <a:gd name="T68" fmla="*/ 820 w 1106"/>
                      <a:gd name="T69" fmla="*/ 766 h 841"/>
                      <a:gd name="T70" fmla="*/ 754 w 1106"/>
                      <a:gd name="T71" fmla="*/ 796 h 841"/>
                      <a:gd name="T72" fmla="*/ 691 w 1106"/>
                      <a:gd name="T73" fmla="*/ 817 h 841"/>
                      <a:gd name="T74" fmla="*/ 610 w 1106"/>
                      <a:gd name="T75" fmla="*/ 838 h 841"/>
                      <a:gd name="T76" fmla="*/ 550 w 1106"/>
                      <a:gd name="T77" fmla="*/ 841 h 841"/>
                      <a:gd name="T78" fmla="*/ 484 w 1106"/>
                      <a:gd name="T79" fmla="*/ 841 h 841"/>
                      <a:gd name="T80" fmla="*/ 418 w 1106"/>
                      <a:gd name="T81" fmla="*/ 829 h 841"/>
                      <a:gd name="T82" fmla="*/ 346 w 1106"/>
                      <a:gd name="T83" fmla="*/ 814 h 841"/>
                      <a:gd name="T84" fmla="*/ 298 w 1106"/>
                      <a:gd name="T85" fmla="*/ 796 h 841"/>
                      <a:gd name="T86" fmla="*/ 234 w 1106"/>
                      <a:gd name="T87" fmla="*/ 763 h 841"/>
                      <a:gd name="T88" fmla="*/ 180 w 1106"/>
                      <a:gd name="T89" fmla="*/ 733 h 841"/>
                      <a:gd name="T90" fmla="*/ 129 w 1106"/>
                      <a:gd name="T91" fmla="*/ 691 h 841"/>
                      <a:gd name="T92" fmla="*/ 75 w 1106"/>
                      <a:gd name="T93" fmla="*/ 634 h 841"/>
                      <a:gd name="T94" fmla="*/ 24 w 1106"/>
                      <a:gd name="T95" fmla="*/ 562 h 841"/>
                      <a:gd name="T96" fmla="*/ 0 w 1106"/>
                      <a:gd name="T97" fmla="*/ 511 h 841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w 1106"/>
                      <a:gd name="T148" fmla="*/ 0 h 841"/>
                      <a:gd name="T149" fmla="*/ 1106 w 1106"/>
                      <a:gd name="T150" fmla="*/ 841 h 841"/>
                    </a:gdLst>
                    <a:ahLst/>
                    <a:cxnLst>
                      <a:cxn ang="T98">
                        <a:pos x="T0" y="T1"/>
                      </a:cxn>
                      <a:cxn ang="T99">
                        <a:pos x="T2" y="T3"/>
                      </a:cxn>
                      <a:cxn ang="T100">
                        <a:pos x="T4" y="T5"/>
                      </a:cxn>
                      <a:cxn ang="T101">
                        <a:pos x="T6" y="T7"/>
                      </a:cxn>
                      <a:cxn ang="T102">
                        <a:pos x="T8" y="T9"/>
                      </a:cxn>
                      <a:cxn ang="T103">
                        <a:pos x="T10" y="T11"/>
                      </a:cxn>
                      <a:cxn ang="T104">
                        <a:pos x="T12" y="T13"/>
                      </a:cxn>
                      <a:cxn ang="T105">
                        <a:pos x="T14" y="T15"/>
                      </a:cxn>
                      <a:cxn ang="T106">
                        <a:pos x="T16" y="T17"/>
                      </a:cxn>
                      <a:cxn ang="T107">
                        <a:pos x="T18" y="T19"/>
                      </a:cxn>
                      <a:cxn ang="T108">
                        <a:pos x="T20" y="T21"/>
                      </a:cxn>
                      <a:cxn ang="T109">
                        <a:pos x="T22" y="T23"/>
                      </a:cxn>
                      <a:cxn ang="T110">
                        <a:pos x="T24" y="T25"/>
                      </a:cxn>
                      <a:cxn ang="T111">
                        <a:pos x="T26" y="T27"/>
                      </a:cxn>
                      <a:cxn ang="T112">
                        <a:pos x="T28" y="T29"/>
                      </a:cxn>
                      <a:cxn ang="T113">
                        <a:pos x="T30" y="T31"/>
                      </a:cxn>
                      <a:cxn ang="T114">
                        <a:pos x="T32" y="T33"/>
                      </a:cxn>
                      <a:cxn ang="T115">
                        <a:pos x="T34" y="T35"/>
                      </a:cxn>
                      <a:cxn ang="T116">
                        <a:pos x="T36" y="T37"/>
                      </a:cxn>
                      <a:cxn ang="T117">
                        <a:pos x="T38" y="T39"/>
                      </a:cxn>
                      <a:cxn ang="T118">
                        <a:pos x="T40" y="T41"/>
                      </a:cxn>
                      <a:cxn ang="T119">
                        <a:pos x="T42" y="T43"/>
                      </a:cxn>
                      <a:cxn ang="T120">
                        <a:pos x="T44" y="T45"/>
                      </a:cxn>
                      <a:cxn ang="T121">
                        <a:pos x="T46" y="T47"/>
                      </a:cxn>
                      <a:cxn ang="T122">
                        <a:pos x="T48" y="T49"/>
                      </a:cxn>
                      <a:cxn ang="T123">
                        <a:pos x="T50" y="T51"/>
                      </a:cxn>
                      <a:cxn ang="T124">
                        <a:pos x="T52" y="T53"/>
                      </a:cxn>
                      <a:cxn ang="T125">
                        <a:pos x="T54" y="T55"/>
                      </a:cxn>
                      <a:cxn ang="T126">
                        <a:pos x="T56" y="T57"/>
                      </a:cxn>
                      <a:cxn ang="T127">
                        <a:pos x="T58" y="T59"/>
                      </a:cxn>
                      <a:cxn ang="T128">
                        <a:pos x="T60" y="T61"/>
                      </a:cxn>
                      <a:cxn ang="T129">
                        <a:pos x="T62" y="T63"/>
                      </a:cxn>
                      <a:cxn ang="T130">
                        <a:pos x="T64" y="T65"/>
                      </a:cxn>
                      <a:cxn ang="T131">
                        <a:pos x="T66" y="T67"/>
                      </a:cxn>
                      <a:cxn ang="T132">
                        <a:pos x="T68" y="T69"/>
                      </a:cxn>
                      <a:cxn ang="T133">
                        <a:pos x="T70" y="T71"/>
                      </a:cxn>
                      <a:cxn ang="T134">
                        <a:pos x="T72" y="T73"/>
                      </a:cxn>
                      <a:cxn ang="T135">
                        <a:pos x="T74" y="T75"/>
                      </a:cxn>
                      <a:cxn ang="T136">
                        <a:pos x="T76" y="T77"/>
                      </a:cxn>
                      <a:cxn ang="T137">
                        <a:pos x="T78" y="T79"/>
                      </a:cxn>
                      <a:cxn ang="T138">
                        <a:pos x="T80" y="T81"/>
                      </a:cxn>
                      <a:cxn ang="T139">
                        <a:pos x="T82" y="T83"/>
                      </a:cxn>
                      <a:cxn ang="T140">
                        <a:pos x="T84" y="T85"/>
                      </a:cxn>
                      <a:cxn ang="T141">
                        <a:pos x="T86" y="T87"/>
                      </a:cxn>
                      <a:cxn ang="T142">
                        <a:pos x="T88" y="T89"/>
                      </a:cxn>
                      <a:cxn ang="T143">
                        <a:pos x="T90" y="T91"/>
                      </a:cxn>
                      <a:cxn ang="T144">
                        <a:pos x="T92" y="T93"/>
                      </a:cxn>
                      <a:cxn ang="T145">
                        <a:pos x="T94" y="T95"/>
                      </a:cxn>
                      <a:cxn ang="T146">
                        <a:pos x="T96" y="T97"/>
                      </a:cxn>
                    </a:cxnLst>
                    <a:rect l="T147" t="T148" r="T149" b="T150"/>
                    <a:pathLst>
                      <a:path w="1106" h="841">
                        <a:moveTo>
                          <a:pt x="0" y="511"/>
                        </a:moveTo>
                        <a:lnTo>
                          <a:pt x="63" y="583"/>
                        </a:lnTo>
                        <a:lnTo>
                          <a:pt x="132" y="646"/>
                        </a:lnTo>
                        <a:lnTo>
                          <a:pt x="195" y="682"/>
                        </a:lnTo>
                        <a:lnTo>
                          <a:pt x="286" y="721"/>
                        </a:lnTo>
                        <a:lnTo>
                          <a:pt x="358" y="742"/>
                        </a:lnTo>
                        <a:lnTo>
                          <a:pt x="424" y="751"/>
                        </a:lnTo>
                        <a:lnTo>
                          <a:pt x="502" y="751"/>
                        </a:lnTo>
                        <a:lnTo>
                          <a:pt x="559" y="745"/>
                        </a:lnTo>
                        <a:lnTo>
                          <a:pt x="628" y="733"/>
                        </a:lnTo>
                        <a:lnTo>
                          <a:pt x="697" y="712"/>
                        </a:lnTo>
                        <a:lnTo>
                          <a:pt x="754" y="682"/>
                        </a:lnTo>
                        <a:lnTo>
                          <a:pt x="808" y="649"/>
                        </a:lnTo>
                        <a:lnTo>
                          <a:pt x="856" y="616"/>
                        </a:lnTo>
                        <a:lnTo>
                          <a:pt x="904" y="568"/>
                        </a:lnTo>
                        <a:lnTo>
                          <a:pt x="952" y="514"/>
                        </a:lnTo>
                        <a:lnTo>
                          <a:pt x="989" y="463"/>
                        </a:lnTo>
                        <a:lnTo>
                          <a:pt x="1010" y="412"/>
                        </a:lnTo>
                        <a:lnTo>
                          <a:pt x="1037" y="331"/>
                        </a:lnTo>
                        <a:lnTo>
                          <a:pt x="1055" y="247"/>
                        </a:lnTo>
                        <a:lnTo>
                          <a:pt x="1058" y="172"/>
                        </a:lnTo>
                        <a:lnTo>
                          <a:pt x="1046" y="90"/>
                        </a:lnTo>
                        <a:lnTo>
                          <a:pt x="1019" y="0"/>
                        </a:lnTo>
                        <a:lnTo>
                          <a:pt x="1046" y="48"/>
                        </a:lnTo>
                        <a:lnTo>
                          <a:pt x="1076" y="117"/>
                        </a:lnTo>
                        <a:lnTo>
                          <a:pt x="1091" y="181"/>
                        </a:lnTo>
                        <a:lnTo>
                          <a:pt x="1106" y="241"/>
                        </a:lnTo>
                        <a:lnTo>
                          <a:pt x="1103" y="292"/>
                        </a:lnTo>
                        <a:lnTo>
                          <a:pt x="1100" y="361"/>
                        </a:lnTo>
                        <a:lnTo>
                          <a:pt x="1064" y="493"/>
                        </a:lnTo>
                        <a:lnTo>
                          <a:pt x="1028" y="565"/>
                        </a:lnTo>
                        <a:lnTo>
                          <a:pt x="983" y="628"/>
                        </a:lnTo>
                        <a:lnTo>
                          <a:pt x="934" y="682"/>
                        </a:lnTo>
                        <a:lnTo>
                          <a:pt x="886" y="721"/>
                        </a:lnTo>
                        <a:lnTo>
                          <a:pt x="820" y="766"/>
                        </a:lnTo>
                        <a:lnTo>
                          <a:pt x="754" y="796"/>
                        </a:lnTo>
                        <a:lnTo>
                          <a:pt x="691" y="817"/>
                        </a:lnTo>
                        <a:lnTo>
                          <a:pt x="610" y="838"/>
                        </a:lnTo>
                        <a:lnTo>
                          <a:pt x="550" y="841"/>
                        </a:lnTo>
                        <a:lnTo>
                          <a:pt x="484" y="841"/>
                        </a:lnTo>
                        <a:lnTo>
                          <a:pt x="418" y="829"/>
                        </a:lnTo>
                        <a:lnTo>
                          <a:pt x="346" y="814"/>
                        </a:lnTo>
                        <a:lnTo>
                          <a:pt x="298" y="796"/>
                        </a:lnTo>
                        <a:lnTo>
                          <a:pt x="234" y="763"/>
                        </a:lnTo>
                        <a:lnTo>
                          <a:pt x="180" y="733"/>
                        </a:lnTo>
                        <a:lnTo>
                          <a:pt x="129" y="691"/>
                        </a:lnTo>
                        <a:lnTo>
                          <a:pt x="75" y="634"/>
                        </a:lnTo>
                        <a:lnTo>
                          <a:pt x="24" y="562"/>
                        </a:lnTo>
                        <a:lnTo>
                          <a:pt x="0" y="511"/>
                        </a:lnTo>
                        <a:close/>
                      </a:path>
                    </a:pathLst>
                  </a:custGeom>
                  <a:solidFill>
                    <a:srgbClr val="C0C0C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grpSp>
              <p:nvGrpSpPr>
                <p:cNvPr id="17456" name="Group 112">
                  <a:extLst>
                    <a:ext uri="{FF2B5EF4-FFF2-40B4-BE49-F238E27FC236}">
                      <a16:creationId xmlns:a16="http://schemas.microsoft.com/office/drawing/2014/main" id="{BE608BFD-CE36-BFE6-8677-2BBF200D7E8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210" y="1213"/>
                  <a:ext cx="1172" cy="1113"/>
                  <a:chOff x="2210" y="1213"/>
                  <a:chExt cx="1172" cy="1113"/>
                </a:xfrm>
              </p:grpSpPr>
              <p:sp>
                <p:nvSpPr>
                  <p:cNvPr id="17457" name="Freeform 113">
                    <a:extLst>
                      <a:ext uri="{FF2B5EF4-FFF2-40B4-BE49-F238E27FC236}">
                        <a16:creationId xmlns:a16="http://schemas.microsoft.com/office/drawing/2014/main" id="{31243084-5A11-D4E1-5A45-C3018260AC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76" y="2048"/>
                    <a:ext cx="287" cy="278"/>
                  </a:xfrm>
                  <a:custGeom>
                    <a:avLst/>
                    <a:gdLst>
                      <a:gd name="T0" fmla="*/ 0 w 287"/>
                      <a:gd name="T1" fmla="*/ 0 h 278"/>
                      <a:gd name="T2" fmla="*/ 30 w 287"/>
                      <a:gd name="T3" fmla="*/ 56 h 278"/>
                      <a:gd name="T4" fmla="*/ 59 w 287"/>
                      <a:gd name="T5" fmla="*/ 99 h 278"/>
                      <a:gd name="T6" fmla="*/ 90 w 287"/>
                      <a:gd name="T7" fmla="*/ 138 h 278"/>
                      <a:gd name="T8" fmla="*/ 138 w 287"/>
                      <a:gd name="T9" fmla="*/ 185 h 278"/>
                      <a:gd name="T10" fmla="*/ 174 w 287"/>
                      <a:gd name="T11" fmla="*/ 215 h 278"/>
                      <a:gd name="T12" fmla="*/ 220 w 287"/>
                      <a:gd name="T13" fmla="*/ 244 h 278"/>
                      <a:gd name="T14" fmla="*/ 287 w 287"/>
                      <a:gd name="T15" fmla="*/ 278 h 278"/>
                      <a:gd name="T16" fmla="*/ 212 w 287"/>
                      <a:gd name="T17" fmla="*/ 176 h 278"/>
                      <a:gd name="T18" fmla="*/ 170 w 287"/>
                      <a:gd name="T19" fmla="*/ 152 h 278"/>
                      <a:gd name="T20" fmla="*/ 140 w 287"/>
                      <a:gd name="T21" fmla="*/ 131 h 278"/>
                      <a:gd name="T22" fmla="*/ 96 w 287"/>
                      <a:gd name="T23" fmla="*/ 101 h 278"/>
                      <a:gd name="T24" fmla="*/ 62 w 287"/>
                      <a:gd name="T25" fmla="*/ 69 h 278"/>
                      <a:gd name="T26" fmla="*/ 35 w 287"/>
                      <a:gd name="T27" fmla="*/ 42 h 278"/>
                      <a:gd name="T28" fmla="*/ 0 w 287"/>
                      <a:gd name="T29" fmla="*/ 0 h 278"/>
                      <a:gd name="T30" fmla="*/ 0 60000 65536"/>
                      <a:gd name="T31" fmla="*/ 0 60000 65536"/>
                      <a:gd name="T32" fmla="*/ 0 60000 65536"/>
                      <a:gd name="T33" fmla="*/ 0 60000 65536"/>
                      <a:gd name="T34" fmla="*/ 0 60000 65536"/>
                      <a:gd name="T35" fmla="*/ 0 60000 65536"/>
                      <a:gd name="T36" fmla="*/ 0 60000 65536"/>
                      <a:gd name="T37" fmla="*/ 0 60000 65536"/>
                      <a:gd name="T38" fmla="*/ 0 60000 65536"/>
                      <a:gd name="T39" fmla="*/ 0 60000 65536"/>
                      <a:gd name="T40" fmla="*/ 0 60000 65536"/>
                      <a:gd name="T41" fmla="*/ 0 60000 65536"/>
                      <a:gd name="T42" fmla="*/ 0 60000 65536"/>
                      <a:gd name="T43" fmla="*/ 0 60000 65536"/>
                      <a:gd name="T44" fmla="*/ 0 60000 65536"/>
                      <a:gd name="T45" fmla="*/ 0 w 287"/>
                      <a:gd name="T46" fmla="*/ 0 h 278"/>
                      <a:gd name="T47" fmla="*/ 287 w 287"/>
                      <a:gd name="T48" fmla="*/ 278 h 278"/>
                    </a:gdLst>
                    <a:ahLst/>
                    <a:cxnLst>
                      <a:cxn ang="T30">
                        <a:pos x="T0" y="T1"/>
                      </a:cxn>
                      <a:cxn ang="T31">
                        <a:pos x="T2" y="T3"/>
                      </a:cxn>
                      <a:cxn ang="T32">
                        <a:pos x="T4" y="T5"/>
                      </a:cxn>
                      <a:cxn ang="T33">
                        <a:pos x="T6" y="T7"/>
                      </a:cxn>
                      <a:cxn ang="T34">
                        <a:pos x="T8" y="T9"/>
                      </a:cxn>
                      <a:cxn ang="T35">
                        <a:pos x="T10" y="T11"/>
                      </a:cxn>
                      <a:cxn ang="T36">
                        <a:pos x="T12" y="T13"/>
                      </a:cxn>
                      <a:cxn ang="T37">
                        <a:pos x="T14" y="T15"/>
                      </a:cxn>
                      <a:cxn ang="T38">
                        <a:pos x="T16" y="T17"/>
                      </a:cxn>
                      <a:cxn ang="T39">
                        <a:pos x="T18" y="T19"/>
                      </a:cxn>
                      <a:cxn ang="T40">
                        <a:pos x="T20" y="T21"/>
                      </a:cxn>
                      <a:cxn ang="T41">
                        <a:pos x="T22" y="T23"/>
                      </a:cxn>
                      <a:cxn ang="T42">
                        <a:pos x="T24" y="T25"/>
                      </a:cxn>
                      <a:cxn ang="T43">
                        <a:pos x="T26" y="T27"/>
                      </a:cxn>
                      <a:cxn ang="T44">
                        <a:pos x="T28" y="T29"/>
                      </a:cxn>
                    </a:cxnLst>
                    <a:rect l="T45" t="T46" r="T47" b="T48"/>
                    <a:pathLst>
                      <a:path w="287" h="278">
                        <a:moveTo>
                          <a:pt x="0" y="0"/>
                        </a:moveTo>
                        <a:lnTo>
                          <a:pt x="30" y="56"/>
                        </a:lnTo>
                        <a:lnTo>
                          <a:pt x="59" y="99"/>
                        </a:lnTo>
                        <a:lnTo>
                          <a:pt x="90" y="138"/>
                        </a:lnTo>
                        <a:lnTo>
                          <a:pt x="138" y="185"/>
                        </a:lnTo>
                        <a:lnTo>
                          <a:pt x="174" y="215"/>
                        </a:lnTo>
                        <a:lnTo>
                          <a:pt x="220" y="244"/>
                        </a:lnTo>
                        <a:lnTo>
                          <a:pt x="287" y="278"/>
                        </a:lnTo>
                        <a:lnTo>
                          <a:pt x="212" y="176"/>
                        </a:lnTo>
                        <a:lnTo>
                          <a:pt x="170" y="152"/>
                        </a:lnTo>
                        <a:lnTo>
                          <a:pt x="140" y="131"/>
                        </a:lnTo>
                        <a:lnTo>
                          <a:pt x="96" y="101"/>
                        </a:lnTo>
                        <a:lnTo>
                          <a:pt x="62" y="69"/>
                        </a:lnTo>
                        <a:lnTo>
                          <a:pt x="35" y="42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58" name="Freeform 114">
                    <a:extLst>
                      <a:ext uri="{FF2B5EF4-FFF2-40B4-BE49-F238E27FC236}">
                        <a16:creationId xmlns:a16="http://schemas.microsoft.com/office/drawing/2014/main" id="{87F8AE44-B935-7EC9-BCEF-069027AA642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279" y="1530"/>
                    <a:ext cx="103" cy="546"/>
                  </a:xfrm>
                  <a:custGeom>
                    <a:avLst/>
                    <a:gdLst>
                      <a:gd name="T0" fmla="*/ 19 w 103"/>
                      <a:gd name="T1" fmla="*/ 0 h 546"/>
                      <a:gd name="T2" fmla="*/ 39 w 103"/>
                      <a:gd name="T3" fmla="*/ 37 h 546"/>
                      <a:gd name="T4" fmla="*/ 52 w 103"/>
                      <a:gd name="T5" fmla="*/ 69 h 546"/>
                      <a:gd name="T6" fmla="*/ 66 w 103"/>
                      <a:gd name="T7" fmla="*/ 102 h 546"/>
                      <a:gd name="T8" fmla="*/ 76 w 103"/>
                      <a:gd name="T9" fmla="*/ 134 h 546"/>
                      <a:gd name="T10" fmla="*/ 84 w 103"/>
                      <a:gd name="T11" fmla="*/ 164 h 546"/>
                      <a:gd name="T12" fmla="*/ 99 w 103"/>
                      <a:gd name="T13" fmla="*/ 217 h 546"/>
                      <a:gd name="T14" fmla="*/ 103 w 103"/>
                      <a:gd name="T15" fmla="*/ 269 h 546"/>
                      <a:gd name="T16" fmla="*/ 100 w 103"/>
                      <a:gd name="T17" fmla="*/ 349 h 546"/>
                      <a:gd name="T18" fmla="*/ 93 w 103"/>
                      <a:gd name="T19" fmla="*/ 403 h 546"/>
                      <a:gd name="T20" fmla="*/ 82 w 103"/>
                      <a:gd name="T21" fmla="*/ 447 h 546"/>
                      <a:gd name="T22" fmla="*/ 65 w 103"/>
                      <a:gd name="T23" fmla="*/ 493 h 546"/>
                      <a:gd name="T24" fmla="*/ 42 w 103"/>
                      <a:gd name="T25" fmla="*/ 546 h 546"/>
                      <a:gd name="T26" fmla="*/ 0 w 103"/>
                      <a:gd name="T27" fmla="*/ 443 h 546"/>
                      <a:gd name="T28" fmla="*/ 19 w 103"/>
                      <a:gd name="T29" fmla="*/ 398 h 546"/>
                      <a:gd name="T30" fmla="*/ 28 w 103"/>
                      <a:gd name="T31" fmla="*/ 374 h 546"/>
                      <a:gd name="T32" fmla="*/ 39 w 103"/>
                      <a:gd name="T33" fmla="*/ 343 h 546"/>
                      <a:gd name="T34" fmla="*/ 46 w 103"/>
                      <a:gd name="T35" fmla="*/ 311 h 546"/>
                      <a:gd name="T36" fmla="*/ 52 w 103"/>
                      <a:gd name="T37" fmla="*/ 262 h 546"/>
                      <a:gd name="T38" fmla="*/ 55 w 103"/>
                      <a:gd name="T39" fmla="*/ 221 h 546"/>
                      <a:gd name="T40" fmla="*/ 55 w 103"/>
                      <a:gd name="T41" fmla="*/ 160 h 546"/>
                      <a:gd name="T42" fmla="*/ 46 w 103"/>
                      <a:gd name="T43" fmla="*/ 105 h 546"/>
                      <a:gd name="T44" fmla="*/ 36 w 103"/>
                      <a:gd name="T45" fmla="*/ 60 h 546"/>
                      <a:gd name="T46" fmla="*/ 30 w 103"/>
                      <a:gd name="T47" fmla="*/ 36 h 546"/>
                      <a:gd name="T48" fmla="*/ 19 w 103"/>
                      <a:gd name="T49" fmla="*/ 0 h 54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60000 65536"/>
                      <a:gd name="T70" fmla="*/ 0 60000 65536"/>
                      <a:gd name="T71" fmla="*/ 0 60000 65536"/>
                      <a:gd name="T72" fmla="*/ 0 60000 65536"/>
                      <a:gd name="T73" fmla="*/ 0 60000 65536"/>
                      <a:gd name="T74" fmla="*/ 0 60000 65536"/>
                      <a:gd name="T75" fmla="*/ 0 w 103"/>
                      <a:gd name="T76" fmla="*/ 0 h 546"/>
                      <a:gd name="T77" fmla="*/ 103 w 103"/>
                      <a:gd name="T78" fmla="*/ 546 h 546"/>
                    </a:gdLst>
                    <a:ahLst/>
                    <a:cxnLst>
                      <a:cxn ang="T50">
                        <a:pos x="T0" y="T1"/>
                      </a:cxn>
                      <a:cxn ang="T51">
                        <a:pos x="T2" y="T3"/>
                      </a:cxn>
                      <a:cxn ang="T52">
                        <a:pos x="T4" y="T5"/>
                      </a:cxn>
                      <a:cxn ang="T53">
                        <a:pos x="T6" y="T7"/>
                      </a:cxn>
                      <a:cxn ang="T54">
                        <a:pos x="T8" y="T9"/>
                      </a:cxn>
                      <a:cxn ang="T55">
                        <a:pos x="T10" y="T11"/>
                      </a:cxn>
                      <a:cxn ang="T56">
                        <a:pos x="T12" y="T13"/>
                      </a:cxn>
                      <a:cxn ang="T57">
                        <a:pos x="T14" y="T15"/>
                      </a:cxn>
                      <a:cxn ang="T58">
                        <a:pos x="T16" y="T17"/>
                      </a:cxn>
                      <a:cxn ang="T59">
                        <a:pos x="T18" y="T19"/>
                      </a:cxn>
                      <a:cxn ang="T60">
                        <a:pos x="T20" y="T21"/>
                      </a:cxn>
                      <a:cxn ang="T61">
                        <a:pos x="T22" y="T23"/>
                      </a:cxn>
                      <a:cxn ang="T62">
                        <a:pos x="T24" y="T25"/>
                      </a:cxn>
                      <a:cxn ang="T63">
                        <a:pos x="T26" y="T27"/>
                      </a:cxn>
                      <a:cxn ang="T64">
                        <a:pos x="T28" y="T29"/>
                      </a:cxn>
                      <a:cxn ang="T65">
                        <a:pos x="T30" y="T31"/>
                      </a:cxn>
                      <a:cxn ang="T66">
                        <a:pos x="T32" y="T33"/>
                      </a:cxn>
                      <a:cxn ang="T67">
                        <a:pos x="T34" y="T35"/>
                      </a:cxn>
                      <a:cxn ang="T68">
                        <a:pos x="T36" y="T37"/>
                      </a:cxn>
                      <a:cxn ang="T69">
                        <a:pos x="T38" y="T39"/>
                      </a:cxn>
                      <a:cxn ang="T70">
                        <a:pos x="T40" y="T41"/>
                      </a:cxn>
                      <a:cxn ang="T71">
                        <a:pos x="T42" y="T43"/>
                      </a:cxn>
                      <a:cxn ang="T72">
                        <a:pos x="T44" y="T45"/>
                      </a:cxn>
                      <a:cxn ang="T73">
                        <a:pos x="T46" y="T47"/>
                      </a:cxn>
                      <a:cxn ang="T74">
                        <a:pos x="T48" y="T49"/>
                      </a:cxn>
                    </a:cxnLst>
                    <a:rect l="T75" t="T76" r="T77" b="T78"/>
                    <a:pathLst>
                      <a:path w="103" h="546">
                        <a:moveTo>
                          <a:pt x="19" y="0"/>
                        </a:moveTo>
                        <a:lnTo>
                          <a:pt x="39" y="37"/>
                        </a:lnTo>
                        <a:lnTo>
                          <a:pt x="52" y="69"/>
                        </a:lnTo>
                        <a:lnTo>
                          <a:pt x="66" y="102"/>
                        </a:lnTo>
                        <a:lnTo>
                          <a:pt x="76" y="134"/>
                        </a:lnTo>
                        <a:lnTo>
                          <a:pt x="84" y="164"/>
                        </a:lnTo>
                        <a:lnTo>
                          <a:pt x="99" y="217"/>
                        </a:lnTo>
                        <a:lnTo>
                          <a:pt x="103" y="269"/>
                        </a:lnTo>
                        <a:lnTo>
                          <a:pt x="100" y="349"/>
                        </a:lnTo>
                        <a:lnTo>
                          <a:pt x="93" y="403"/>
                        </a:lnTo>
                        <a:lnTo>
                          <a:pt x="82" y="447"/>
                        </a:lnTo>
                        <a:lnTo>
                          <a:pt x="65" y="493"/>
                        </a:lnTo>
                        <a:lnTo>
                          <a:pt x="42" y="546"/>
                        </a:lnTo>
                        <a:lnTo>
                          <a:pt x="0" y="443"/>
                        </a:lnTo>
                        <a:lnTo>
                          <a:pt x="19" y="398"/>
                        </a:lnTo>
                        <a:lnTo>
                          <a:pt x="28" y="374"/>
                        </a:lnTo>
                        <a:lnTo>
                          <a:pt x="39" y="343"/>
                        </a:lnTo>
                        <a:lnTo>
                          <a:pt x="46" y="311"/>
                        </a:lnTo>
                        <a:lnTo>
                          <a:pt x="52" y="262"/>
                        </a:lnTo>
                        <a:lnTo>
                          <a:pt x="55" y="221"/>
                        </a:lnTo>
                        <a:lnTo>
                          <a:pt x="55" y="160"/>
                        </a:lnTo>
                        <a:lnTo>
                          <a:pt x="46" y="105"/>
                        </a:lnTo>
                        <a:lnTo>
                          <a:pt x="36" y="60"/>
                        </a:lnTo>
                        <a:lnTo>
                          <a:pt x="30" y="36"/>
                        </a:lnTo>
                        <a:lnTo>
                          <a:pt x="19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59" name="Freeform 115">
                    <a:extLst>
                      <a:ext uri="{FF2B5EF4-FFF2-40B4-BE49-F238E27FC236}">
                        <a16:creationId xmlns:a16="http://schemas.microsoft.com/office/drawing/2014/main" id="{BB484088-BC6A-CA4A-8E95-F72214259C7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741" y="1213"/>
                    <a:ext cx="408" cy="165"/>
                  </a:xfrm>
                  <a:custGeom>
                    <a:avLst/>
                    <a:gdLst>
                      <a:gd name="T0" fmla="*/ 0 w 408"/>
                      <a:gd name="T1" fmla="*/ 0 h 165"/>
                      <a:gd name="T2" fmla="*/ 31 w 408"/>
                      <a:gd name="T3" fmla="*/ 60 h 165"/>
                      <a:gd name="T4" fmla="*/ 79 w 408"/>
                      <a:gd name="T5" fmla="*/ 57 h 165"/>
                      <a:gd name="T6" fmla="*/ 123 w 408"/>
                      <a:gd name="T7" fmla="*/ 60 h 165"/>
                      <a:gd name="T8" fmla="*/ 164 w 408"/>
                      <a:gd name="T9" fmla="*/ 66 h 165"/>
                      <a:gd name="T10" fmla="*/ 202 w 408"/>
                      <a:gd name="T11" fmla="*/ 73 h 165"/>
                      <a:gd name="T12" fmla="*/ 240 w 408"/>
                      <a:gd name="T13" fmla="*/ 83 h 165"/>
                      <a:gd name="T14" fmla="*/ 266 w 408"/>
                      <a:gd name="T15" fmla="*/ 91 h 165"/>
                      <a:gd name="T16" fmla="*/ 300 w 408"/>
                      <a:gd name="T17" fmla="*/ 105 h 165"/>
                      <a:gd name="T18" fmla="*/ 339 w 408"/>
                      <a:gd name="T19" fmla="*/ 124 h 165"/>
                      <a:gd name="T20" fmla="*/ 408 w 408"/>
                      <a:gd name="T21" fmla="*/ 165 h 165"/>
                      <a:gd name="T22" fmla="*/ 368 w 408"/>
                      <a:gd name="T23" fmla="*/ 123 h 165"/>
                      <a:gd name="T24" fmla="*/ 340 w 408"/>
                      <a:gd name="T25" fmla="*/ 102 h 165"/>
                      <a:gd name="T26" fmla="*/ 303 w 408"/>
                      <a:gd name="T27" fmla="*/ 78 h 165"/>
                      <a:gd name="T28" fmla="*/ 280 w 408"/>
                      <a:gd name="T29" fmla="*/ 64 h 165"/>
                      <a:gd name="T30" fmla="*/ 229 w 408"/>
                      <a:gd name="T31" fmla="*/ 40 h 165"/>
                      <a:gd name="T32" fmla="*/ 196 w 408"/>
                      <a:gd name="T33" fmla="*/ 28 h 165"/>
                      <a:gd name="T34" fmla="*/ 169 w 408"/>
                      <a:gd name="T35" fmla="*/ 19 h 165"/>
                      <a:gd name="T36" fmla="*/ 144 w 408"/>
                      <a:gd name="T37" fmla="*/ 13 h 165"/>
                      <a:gd name="T38" fmla="*/ 105 w 408"/>
                      <a:gd name="T39" fmla="*/ 6 h 165"/>
                      <a:gd name="T40" fmla="*/ 64 w 408"/>
                      <a:gd name="T41" fmla="*/ 1 h 165"/>
                      <a:gd name="T42" fmla="*/ 18 w 408"/>
                      <a:gd name="T43" fmla="*/ 0 h 165"/>
                      <a:gd name="T44" fmla="*/ 0 w 408"/>
                      <a:gd name="T45" fmla="*/ 0 h 165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60000 65536"/>
                      <a:gd name="T67" fmla="*/ 0 60000 65536"/>
                      <a:gd name="T68" fmla="*/ 0 60000 65536"/>
                      <a:gd name="T69" fmla="*/ 0 w 408"/>
                      <a:gd name="T70" fmla="*/ 0 h 165"/>
                      <a:gd name="T71" fmla="*/ 408 w 408"/>
                      <a:gd name="T72" fmla="*/ 165 h 165"/>
                    </a:gdLst>
                    <a:ahLst/>
                    <a:cxnLst>
                      <a:cxn ang="T46">
                        <a:pos x="T0" y="T1"/>
                      </a:cxn>
                      <a:cxn ang="T47">
                        <a:pos x="T2" y="T3"/>
                      </a:cxn>
                      <a:cxn ang="T48">
                        <a:pos x="T4" y="T5"/>
                      </a:cxn>
                      <a:cxn ang="T49">
                        <a:pos x="T6" y="T7"/>
                      </a:cxn>
                      <a:cxn ang="T50">
                        <a:pos x="T8" y="T9"/>
                      </a:cxn>
                      <a:cxn ang="T51">
                        <a:pos x="T10" y="T11"/>
                      </a:cxn>
                      <a:cxn ang="T52">
                        <a:pos x="T12" y="T13"/>
                      </a:cxn>
                      <a:cxn ang="T53">
                        <a:pos x="T14" y="T15"/>
                      </a:cxn>
                      <a:cxn ang="T54">
                        <a:pos x="T16" y="T17"/>
                      </a:cxn>
                      <a:cxn ang="T55">
                        <a:pos x="T18" y="T19"/>
                      </a:cxn>
                      <a:cxn ang="T56">
                        <a:pos x="T20" y="T21"/>
                      </a:cxn>
                      <a:cxn ang="T57">
                        <a:pos x="T22" y="T23"/>
                      </a:cxn>
                      <a:cxn ang="T58">
                        <a:pos x="T24" y="T25"/>
                      </a:cxn>
                      <a:cxn ang="T59">
                        <a:pos x="T26" y="T27"/>
                      </a:cxn>
                      <a:cxn ang="T60">
                        <a:pos x="T28" y="T29"/>
                      </a:cxn>
                      <a:cxn ang="T61">
                        <a:pos x="T30" y="T31"/>
                      </a:cxn>
                      <a:cxn ang="T62">
                        <a:pos x="T32" y="T33"/>
                      </a:cxn>
                      <a:cxn ang="T63">
                        <a:pos x="T34" y="T35"/>
                      </a:cxn>
                      <a:cxn ang="T64">
                        <a:pos x="T36" y="T37"/>
                      </a:cxn>
                      <a:cxn ang="T65">
                        <a:pos x="T38" y="T39"/>
                      </a:cxn>
                      <a:cxn ang="T66">
                        <a:pos x="T40" y="T41"/>
                      </a:cxn>
                      <a:cxn ang="T67">
                        <a:pos x="T42" y="T43"/>
                      </a:cxn>
                      <a:cxn ang="T68">
                        <a:pos x="T44" y="T45"/>
                      </a:cxn>
                    </a:cxnLst>
                    <a:rect l="T69" t="T70" r="T71" b="T72"/>
                    <a:pathLst>
                      <a:path w="408" h="165">
                        <a:moveTo>
                          <a:pt x="0" y="0"/>
                        </a:moveTo>
                        <a:lnTo>
                          <a:pt x="31" y="60"/>
                        </a:lnTo>
                        <a:lnTo>
                          <a:pt x="79" y="57"/>
                        </a:lnTo>
                        <a:lnTo>
                          <a:pt x="123" y="60"/>
                        </a:lnTo>
                        <a:lnTo>
                          <a:pt x="164" y="66"/>
                        </a:lnTo>
                        <a:lnTo>
                          <a:pt x="202" y="73"/>
                        </a:lnTo>
                        <a:lnTo>
                          <a:pt x="240" y="83"/>
                        </a:lnTo>
                        <a:lnTo>
                          <a:pt x="266" y="91"/>
                        </a:lnTo>
                        <a:lnTo>
                          <a:pt x="300" y="105"/>
                        </a:lnTo>
                        <a:lnTo>
                          <a:pt x="339" y="124"/>
                        </a:lnTo>
                        <a:lnTo>
                          <a:pt x="408" y="165"/>
                        </a:lnTo>
                        <a:lnTo>
                          <a:pt x="368" y="123"/>
                        </a:lnTo>
                        <a:lnTo>
                          <a:pt x="340" y="102"/>
                        </a:lnTo>
                        <a:lnTo>
                          <a:pt x="303" y="78"/>
                        </a:lnTo>
                        <a:lnTo>
                          <a:pt x="280" y="64"/>
                        </a:lnTo>
                        <a:lnTo>
                          <a:pt x="229" y="40"/>
                        </a:lnTo>
                        <a:lnTo>
                          <a:pt x="196" y="28"/>
                        </a:lnTo>
                        <a:lnTo>
                          <a:pt x="169" y="19"/>
                        </a:lnTo>
                        <a:lnTo>
                          <a:pt x="144" y="13"/>
                        </a:lnTo>
                        <a:lnTo>
                          <a:pt x="105" y="6"/>
                        </a:lnTo>
                        <a:lnTo>
                          <a:pt x="64" y="1"/>
                        </a:lnTo>
                        <a:lnTo>
                          <a:pt x="18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60" name="Freeform 116">
                    <a:extLst>
                      <a:ext uri="{FF2B5EF4-FFF2-40B4-BE49-F238E27FC236}">
                        <a16:creationId xmlns:a16="http://schemas.microsoft.com/office/drawing/2014/main" id="{4AE337B9-CAD4-913E-9C59-7F4E24258F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210" y="1445"/>
                    <a:ext cx="130" cy="387"/>
                  </a:xfrm>
                  <a:custGeom>
                    <a:avLst/>
                    <a:gdLst>
                      <a:gd name="T0" fmla="*/ 0 w 130"/>
                      <a:gd name="T1" fmla="*/ 297 h 387"/>
                      <a:gd name="T2" fmla="*/ 3 w 130"/>
                      <a:gd name="T3" fmla="*/ 267 h 387"/>
                      <a:gd name="T4" fmla="*/ 5 w 130"/>
                      <a:gd name="T5" fmla="*/ 234 h 387"/>
                      <a:gd name="T6" fmla="*/ 14 w 130"/>
                      <a:gd name="T7" fmla="*/ 181 h 387"/>
                      <a:gd name="T8" fmla="*/ 24 w 130"/>
                      <a:gd name="T9" fmla="*/ 139 h 387"/>
                      <a:gd name="T10" fmla="*/ 38 w 130"/>
                      <a:gd name="T11" fmla="*/ 101 h 387"/>
                      <a:gd name="T12" fmla="*/ 56 w 130"/>
                      <a:gd name="T13" fmla="*/ 62 h 387"/>
                      <a:gd name="T14" fmla="*/ 72 w 130"/>
                      <a:gd name="T15" fmla="*/ 32 h 387"/>
                      <a:gd name="T16" fmla="*/ 92 w 130"/>
                      <a:gd name="T17" fmla="*/ 0 h 387"/>
                      <a:gd name="T18" fmla="*/ 130 w 130"/>
                      <a:gd name="T19" fmla="*/ 50 h 387"/>
                      <a:gd name="T20" fmla="*/ 108 w 130"/>
                      <a:gd name="T21" fmla="*/ 80 h 387"/>
                      <a:gd name="T22" fmla="*/ 92 w 130"/>
                      <a:gd name="T23" fmla="*/ 107 h 387"/>
                      <a:gd name="T24" fmla="*/ 79 w 130"/>
                      <a:gd name="T25" fmla="*/ 132 h 387"/>
                      <a:gd name="T26" fmla="*/ 60 w 130"/>
                      <a:gd name="T27" fmla="*/ 167 h 387"/>
                      <a:gd name="T28" fmla="*/ 48 w 130"/>
                      <a:gd name="T29" fmla="*/ 198 h 387"/>
                      <a:gd name="T30" fmla="*/ 41 w 130"/>
                      <a:gd name="T31" fmla="*/ 228 h 387"/>
                      <a:gd name="T32" fmla="*/ 32 w 130"/>
                      <a:gd name="T33" fmla="*/ 258 h 387"/>
                      <a:gd name="T34" fmla="*/ 26 w 130"/>
                      <a:gd name="T35" fmla="*/ 291 h 387"/>
                      <a:gd name="T36" fmla="*/ 21 w 130"/>
                      <a:gd name="T37" fmla="*/ 331 h 387"/>
                      <a:gd name="T38" fmla="*/ 17 w 130"/>
                      <a:gd name="T39" fmla="*/ 371 h 387"/>
                      <a:gd name="T40" fmla="*/ 10 w 130"/>
                      <a:gd name="T41" fmla="*/ 387 h 387"/>
                      <a:gd name="T42" fmla="*/ 0 w 130"/>
                      <a:gd name="T43" fmla="*/ 297 h 387"/>
                      <a:gd name="T44" fmla="*/ 0 60000 65536"/>
                      <a:gd name="T45" fmla="*/ 0 60000 65536"/>
                      <a:gd name="T46" fmla="*/ 0 60000 65536"/>
                      <a:gd name="T47" fmla="*/ 0 60000 65536"/>
                      <a:gd name="T48" fmla="*/ 0 60000 65536"/>
                      <a:gd name="T49" fmla="*/ 0 60000 65536"/>
                      <a:gd name="T50" fmla="*/ 0 60000 65536"/>
                      <a:gd name="T51" fmla="*/ 0 60000 65536"/>
                      <a:gd name="T52" fmla="*/ 0 60000 65536"/>
                      <a:gd name="T53" fmla="*/ 0 60000 65536"/>
                      <a:gd name="T54" fmla="*/ 0 60000 65536"/>
                      <a:gd name="T55" fmla="*/ 0 60000 65536"/>
                      <a:gd name="T56" fmla="*/ 0 60000 65536"/>
                      <a:gd name="T57" fmla="*/ 0 60000 65536"/>
                      <a:gd name="T58" fmla="*/ 0 60000 65536"/>
                      <a:gd name="T59" fmla="*/ 0 60000 65536"/>
                      <a:gd name="T60" fmla="*/ 0 60000 65536"/>
                      <a:gd name="T61" fmla="*/ 0 60000 65536"/>
                      <a:gd name="T62" fmla="*/ 0 60000 65536"/>
                      <a:gd name="T63" fmla="*/ 0 60000 65536"/>
                      <a:gd name="T64" fmla="*/ 0 60000 65536"/>
                      <a:gd name="T65" fmla="*/ 0 60000 65536"/>
                      <a:gd name="T66" fmla="*/ 0 w 130"/>
                      <a:gd name="T67" fmla="*/ 0 h 387"/>
                      <a:gd name="T68" fmla="*/ 130 w 130"/>
                      <a:gd name="T69" fmla="*/ 387 h 387"/>
                    </a:gdLst>
                    <a:ahLst/>
                    <a:cxnLst>
                      <a:cxn ang="T44">
                        <a:pos x="T0" y="T1"/>
                      </a:cxn>
                      <a:cxn ang="T45">
                        <a:pos x="T2" y="T3"/>
                      </a:cxn>
                      <a:cxn ang="T46">
                        <a:pos x="T4" y="T5"/>
                      </a:cxn>
                      <a:cxn ang="T47">
                        <a:pos x="T6" y="T7"/>
                      </a:cxn>
                      <a:cxn ang="T48">
                        <a:pos x="T8" y="T9"/>
                      </a:cxn>
                      <a:cxn ang="T49">
                        <a:pos x="T10" y="T11"/>
                      </a:cxn>
                      <a:cxn ang="T50">
                        <a:pos x="T12" y="T13"/>
                      </a:cxn>
                      <a:cxn ang="T51">
                        <a:pos x="T14" y="T15"/>
                      </a:cxn>
                      <a:cxn ang="T52">
                        <a:pos x="T16" y="T17"/>
                      </a:cxn>
                      <a:cxn ang="T53">
                        <a:pos x="T18" y="T19"/>
                      </a:cxn>
                      <a:cxn ang="T54">
                        <a:pos x="T20" y="T21"/>
                      </a:cxn>
                      <a:cxn ang="T55">
                        <a:pos x="T22" y="T23"/>
                      </a:cxn>
                      <a:cxn ang="T56">
                        <a:pos x="T24" y="T25"/>
                      </a:cxn>
                      <a:cxn ang="T57">
                        <a:pos x="T26" y="T27"/>
                      </a:cxn>
                      <a:cxn ang="T58">
                        <a:pos x="T28" y="T29"/>
                      </a:cxn>
                      <a:cxn ang="T59">
                        <a:pos x="T30" y="T31"/>
                      </a:cxn>
                      <a:cxn ang="T60">
                        <a:pos x="T32" y="T33"/>
                      </a:cxn>
                      <a:cxn ang="T61">
                        <a:pos x="T34" y="T35"/>
                      </a:cxn>
                      <a:cxn ang="T62">
                        <a:pos x="T36" y="T37"/>
                      </a:cxn>
                      <a:cxn ang="T63">
                        <a:pos x="T38" y="T39"/>
                      </a:cxn>
                      <a:cxn ang="T64">
                        <a:pos x="T40" y="T41"/>
                      </a:cxn>
                      <a:cxn ang="T65">
                        <a:pos x="T42" y="T43"/>
                      </a:cxn>
                    </a:cxnLst>
                    <a:rect l="T66" t="T67" r="T68" b="T69"/>
                    <a:pathLst>
                      <a:path w="130" h="387">
                        <a:moveTo>
                          <a:pt x="0" y="297"/>
                        </a:moveTo>
                        <a:lnTo>
                          <a:pt x="3" y="267"/>
                        </a:lnTo>
                        <a:lnTo>
                          <a:pt x="5" y="234"/>
                        </a:lnTo>
                        <a:lnTo>
                          <a:pt x="14" y="181"/>
                        </a:lnTo>
                        <a:lnTo>
                          <a:pt x="24" y="139"/>
                        </a:lnTo>
                        <a:lnTo>
                          <a:pt x="38" y="101"/>
                        </a:lnTo>
                        <a:lnTo>
                          <a:pt x="56" y="62"/>
                        </a:lnTo>
                        <a:lnTo>
                          <a:pt x="72" y="32"/>
                        </a:lnTo>
                        <a:lnTo>
                          <a:pt x="92" y="0"/>
                        </a:lnTo>
                        <a:lnTo>
                          <a:pt x="130" y="50"/>
                        </a:lnTo>
                        <a:lnTo>
                          <a:pt x="108" y="80"/>
                        </a:lnTo>
                        <a:lnTo>
                          <a:pt x="92" y="107"/>
                        </a:lnTo>
                        <a:lnTo>
                          <a:pt x="79" y="132"/>
                        </a:lnTo>
                        <a:lnTo>
                          <a:pt x="60" y="167"/>
                        </a:lnTo>
                        <a:lnTo>
                          <a:pt x="48" y="198"/>
                        </a:lnTo>
                        <a:lnTo>
                          <a:pt x="41" y="228"/>
                        </a:lnTo>
                        <a:lnTo>
                          <a:pt x="32" y="258"/>
                        </a:lnTo>
                        <a:lnTo>
                          <a:pt x="26" y="291"/>
                        </a:lnTo>
                        <a:lnTo>
                          <a:pt x="21" y="331"/>
                        </a:lnTo>
                        <a:lnTo>
                          <a:pt x="17" y="371"/>
                        </a:lnTo>
                        <a:lnTo>
                          <a:pt x="10" y="387"/>
                        </a:lnTo>
                        <a:lnTo>
                          <a:pt x="0" y="297"/>
                        </a:lnTo>
                        <a:close/>
                      </a:path>
                    </a:pathLst>
                  </a:custGeom>
                  <a:solidFill>
                    <a:srgbClr val="80808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  <p:sp>
            <p:nvSpPr>
              <p:cNvPr id="17450" name="Oval 117">
                <a:extLst>
                  <a:ext uri="{FF2B5EF4-FFF2-40B4-BE49-F238E27FC236}">
                    <a16:creationId xmlns:a16="http://schemas.microsoft.com/office/drawing/2014/main" id="{C2A774B1-8A67-B6FF-1CC6-31C1AD6713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29" y="1273"/>
                <a:ext cx="1154" cy="1105"/>
              </a:xfrm>
              <a:prstGeom prst="ellipse">
                <a:avLst/>
              </a:prstGeom>
              <a:noFill/>
              <a:ln w="254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/>
              </a:p>
            </p:txBody>
          </p:sp>
          <p:grpSp>
            <p:nvGrpSpPr>
              <p:cNvPr id="17451" name="Group 118">
                <a:extLst>
                  <a:ext uri="{FF2B5EF4-FFF2-40B4-BE49-F238E27FC236}">
                    <a16:creationId xmlns:a16="http://schemas.microsoft.com/office/drawing/2014/main" id="{8D45DCBB-368D-9FF3-DF29-25D6E770F19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81" y="1183"/>
                <a:ext cx="1154" cy="1105"/>
                <a:chOff x="2181" y="1183"/>
                <a:chExt cx="1154" cy="1105"/>
              </a:xfrm>
            </p:grpSpPr>
            <p:sp>
              <p:nvSpPr>
                <p:cNvPr id="17452" name="Oval 119">
                  <a:extLst>
                    <a:ext uri="{FF2B5EF4-FFF2-40B4-BE49-F238E27FC236}">
                      <a16:creationId xmlns:a16="http://schemas.microsoft.com/office/drawing/2014/main" id="{61D14B0E-C85A-A854-7090-2109E3B96A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94" y="1198"/>
                  <a:ext cx="1127" cy="1078"/>
                </a:xfrm>
                <a:prstGeom prst="ellipse">
                  <a:avLst/>
                </a:prstGeom>
                <a:noFill/>
                <a:ln w="63500">
                  <a:solidFill>
                    <a:srgbClr val="9F9F9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  <p:sp>
              <p:nvSpPr>
                <p:cNvPr id="17453" name="Oval 120">
                  <a:extLst>
                    <a:ext uri="{FF2B5EF4-FFF2-40B4-BE49-F238E27FC236}">
                      <a16:creationId xmlns:a16="http://schemas.microsoft.com/office/drawing/2014/main" id="{4305FEB9-DFBA-633C-7023-2F2012C1CA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81" y="1183"/>
                  <a:ext cx="1154" cy="1105"/>
                </a:xfrm>
                <a:prstGeom prst="ellips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  <p:sp>
              <p:nvSpPr>
                <p:cNvPr id="17454" name="Oval 121">
                  <a:extLst>
                    <a:ext uri="{FF2B5EF4-FFF2-40B4-BE49-F238E27FC236}">
                      <a16:creationId xmlns:a16="http://schemas.microsoft.com/office/drawing/2014/main" id="{953C93FF-EB63-42A3-F3F3-290E3062C5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213" y="1213"/>
                  <a:ext cx="1090" cy="1046"/>
                </a:xfrm>
                <a:prstGeom prst="ellips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>
                  <a:lvl1pPr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80000"/>
                    </a:lnSpc>
                    <a:spcBef>
                      <a:spcPct val="0"/>
                    </a:spcBef>
                    <a:buFontTx/>
                    <a:buNone/>
                  </a:pPr>
                  <a:endParaRPr lang="pt-BR" altLang="pt-BR" sz="2000"/>
                </a:p>
              </p:txBody>
            </p:sp>
          </p:grpSp>
        </p:grpSp>
        <p:grpSp>
          <p:nvGrpSpPr>
            <p:cNvPr id="17413" name="Group 122">
              <a:extLst>
                <a:ext uri="{FF2B5EF4-FFF2-40B4-BE49-F238E27FC236}">
                  <a16:creationId xmlns:a16="http://schemas.microsoft.com/office/drawing/2014/main" id="{87909656-96FC-8D97-CA3E-49B19C4703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08" y="2225"/>
              <a:ext cx="592" cy="924"/>
              <a:chOff x="3008" y="2225"/>
              <a:chExt cx="592" cy="924"/>
            </a:xfrm>
          </p:grpSpPr>
          <p:sp>
            <p:nvSpPr>
              <p:cNvPr id="17414" name="Freeform 123">
                <a:extLst>
                  <a:ext uri="{FF2B5EF4-FFF2-40B4-BE49-F238E27FC236}">
                    <a16:creationId xmlns:a16="http://schemas.microsoft.com/office/drawing/2014/main" id="{DAE14FE1-1B79-BBDA-289A-303E6D2761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3" y="2272"/>
                <a:ext cx="564" cy="808"/>
              </a:xfrm>
              <a:custGeom>
                <a:avLst/>
                <a:gdLst>
                  <a:gd name="T0" fmla="*/ 0 w 564"/>
                  <a:gd name="T1" fmla="*/ 60 h 808"/>
                  <a:gd name="T2" fmla="*/ 400 w 564"/>
                  <a:gd name="T3" fmla="*/ 808 h 808"/>
                  <a:gd name="T4" fmla="*/ 564 w 564"/>
                  <a:gd name="T5" fmla="*/ 725 h 808"/>
                  <a:gd name="T6" fmla="*/ 162 w 564"/>
                  <a:gd name="T7" fmla="*/ 0 h 808"/>
                  <a:gd name="T8" fmla="*/ 0 w 564"/>
                  <a:gd name="T9" fmla="*/ 60 h 8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64"/>
                  <a:gd name="T16" fmla="*/ 0 h 808"/>
                  <a:gd name="T17" fmla="*/ 564 w 564"/>
                  <a:gd name="T18" fmla="*/ 808 h 80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64" h="808">
                    <a:moveTo>
                      <a:pt x="0" y="60"/>
                    </a:moveTo>
                    <a:lnTo>
                      <a:pt x="400" y="808"/>
                    </a:lnTo>
                    <a:lnTo>
                      <a:pt x="564" y="725"/>
                    </a:lnTo>
                    <a:lnTo>
                      <a:pt x="162" y="0"/>
                    </a:lnTo>
                    <a:lnTo>
                      <a:pt x="0" y="60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15" name="Arc 124">
                <a:extLst>
                  <a:ext uri="{FF2B5EF4-FFF2-40B4-BE49-F238E27FC236}">
                    <a16:creationId xmlns:a16="http://schemas.microsoft.com/office/drawing/2014/main" id="{BE2402D9-4B9D-AED7-FD50-B3CC88EA22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0" y="2225"/>
                <a:ext cx="170" cy="105"/>
              </a:xfrm>
              <a:custGeom>
                <a:avLst/>
                <a:gdLst>
                  <a:gd name="T0" fmla="*/ 0 w 42152"/>
                  <a:gd name="T1" fmla="*/ 0 h 27693"/>
                  <a:gd name="T2" fmla="*/ 0 w 42152"/>
                  <a:gd name="T3" fmla="*/ 0 h 27693"/>
                  <a:gd name="T4" fmla="*/ 0 w 42152"/>
                  <a:gd name="T5" fmla="*/ 0 h 27693"/>
                  <a:gd name="T6" fmla="*/ 0 60000 65536"/>
                  <a:gd name="T7" fmla="*/ 0 60000 65536"/>
                  <a:gd name="T8" fmla="*/ 0 60000 65536"/>
                  <a:gd name="T9" fmla="*/ 0 w 42152"/>
                  <a:gd name="T10" fmla="*/ 0 h 27693"/>
                  <a:gd name="T11" fmla="*/ 42152 w 42152"/>
                  <a:gd name="T12" fmla="*/ 27693 h 276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52" h="27693" fill="none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</a:path>
                  <a:path w="42152" h="27693" stroke="0" extrusionOk="0">
                    <a:moveTo>
                      <a:pt x="877" y="27692"/>
                    </a:moveTo>
                    <a:cubicBezTo>
                      <a:pt x="295" y="25714"/>
                      <a:pt x="0" y="23662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968" y="-1"/>
                      <a:pt x="39268" y="6038"/>
                      <a:pt x="42151" y="14952"/>
                    </a:cubicBezTo>
                    <a:lnTo>
                      <a:pt x="21600" y="21600"/>
                    </a:lnTo>
                    <a:lnTo>
                      <a:pt x="877" y="27692"/>
                    </a:lnTo>
                    <a:close/>
                  </a:path>
                </a:pathLst>
              </a:custGeom>
              <a:solidFill>
                <a:srgbClr val="5F3F1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16" name="Arc 125">
                <a:extLst>
                  <a:ext uri="{FF2B5EF4-FFF2-40B4-BE49-F238E27FC236}">
                    <a16:creationId xmlns:a16="http://schemas.microsoft.com/office/drawing/2014/main" id="{EE2E0D0B-B3AA-B70A-29AA-67D75B88B1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14" y="2236"/>
                <a:ext cx="172" cy="100"/>
              </a:xfrm>
              <a:custGeom>
                <a:avLst/>
                <a:gdLst>
                  <a:gd name="T0" fmla="*/ 0 w 42065"/>
                  <a:gd name="T1" fmla="*/ 0 h 24039"/>
                  <a:gd name="T2" fmla="*/ 0 w 42065"/>
                  <a:gd name="T3" fmla="*/ 0 h 24039"/>
                  <a:gd name="T4" fmla="*/ 0 w 42065"/>
                  <a:gd name="T5" fmla="*/ 0 h 24039"/>
                  <a:gd name="T6" fmla="*/ 0 60000 65536"/>
                  <a:gd name="T7" fmla="*/ 0 60000 65536"/>
                  <a:gd name="T8" fmla="*/ 0 60000 65536"/>
                  <a:gd name="T9" fmla="*/ 0 w 42065"/>
                  <a:gd name="T10" fmla="*/ 0 h 24039"/>
                  <a:gd name="T11" fmla="*/ 42065 w 42065"/>
                  <a:gd name="T12" fmla="*/ 24039 h 240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065" h="24039" fill="none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</a:path>
                  <a:path w="42065" h="24039" stroke="0" extrusionOk="0">
                    <a:moveTo>
                      <a:pt x="138" y="24038"/>
                    </a:moveTo>
                    <a:cubicBezTo>
                      <a:pt x="46" y="23229"/>
                      <a:pt x="0" y="22414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0866" y="-1"/>
                      <a:pt x="39100" y="5910"/>
                      <a:pt x="42064" y="14690"/>
                    </a:cubicBezTo>
                    <a:lnTo>
                      <a:pt x="21600" y="21600"/>
                    </a:lnTo>
                    <a:lnTo>
                      <a:pt x="138" y="24038"/>
                    </a:lnTo>
                    <a:close/>
                  </a:path>
                </a:pathLst>
              </a:custGeom>
              <a:solidFill>
                <a:srgbClr val="5F3F1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17" name="Freeform 126">
                <a:extLst>
                  <a:ext uri="{FF2B5EF4-FFF2-40B4-BE49-F238E27FC236}">
                    <a16:creationId xmlns:a16="http://schemas.microsoft.com/office/drawing/2014/main" id="{B558152E-A29F-6445-8A96-2B05F62843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8" y="2237"/>
                <a:ext cx="107" cy="207"/>
              </a:xfrm>
              <a:custGeom>
                <a:avLst/>
                <a:gdLst>
                  <a:gd name="T0" fmla="*/ 3 w 107"/>
                  <a:gd name="T1" fmla="*/ 96 h 207"/>
                  <a:gd name="T2" fmla="*/ 0 w 107"/>
                  <a:gd name="T3" fmla="*/ 82 h 207"/>
                  <a:gd name="T4" fmla="*/ 0 w 107"/>
                  <a:gd name="T5" fmla="*/ 69 h 207"/>
                  <a:gd name="T6" fmla="*/ 2 w 107"/>
                  <a:gd name="T7" fmla="*/ 58 h 207"/>
                  <a:gd name="T8" fmla="*/ 6 w 107"/>
                  <a:gd name="T9" fmla="*/ 42 h 207"/>
                  <a:gd name="T10" fmla="*/ 12 w 107"/>
                  <a:gd name="T11" fmla="*/ 29 h 207"/>
                  <a:gd name="T12" fmla="*/ 21 w 107"/>
                  <a:gd name="T13" fmla="*/ 17 h 207"/>
                  <a:gd name="T14" fmla="*/ 31 w 107"/>
                  <a:gd name="T15" fmla="*/ 7 h 207"/>
                  <a:gd name="T16" fmla="*/ 41 w 107"/>
                  <a:gd name="T17" fmla="*/ 0 h 207"/>
                  <a:gd name="T18" fmla="*/ 107 w 107"/>
                  <a:gd name="T19" fmla="*/ 112 h 207"/>
                  <a:gd name="T20" fmla="*/ 95 w 107"/>
                  <a:gd name="T21" fmla="*/ 119 h 207"/>
                  <a:gd name="T22" fmla="*/ 87 w 107"/>
                  <a:gd name="T23" fmla="*/ 127 h 207"/>
                  <a:gd name="T24" fmla="*/ 79 w 107"/>
                  <a:gd name="T25" fmla="*/ 135 h 207"/>
                  <a:gd name="T26" fmla="*/ 73 w 107"/>
                  <a:gd name="T27" fmla="*/ 145 h 207"/>
                  <a:gd name="T28" fmla="*/ 66 w 107"/>
                  <a:gd name="T29" fmla="*/ 163 h 207"/>
                  <a:gd name="T30" fmla="*/ 62 w 107"/>
                  <a:gd name="T31" fmla="*/ 187 h 207"/>
                  <a:gd name="T32" fmla="*/ 62 w 107"/>
                  <a:gd name="T33" fmla="*/ 207 h 207"/>
                  <a:gd name="T34" fmla="*/ 3 w 107"/>
                  <a:gd name="T35" fmla="*/ 96 h 207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07"/>
                  <a:gd name="T55" fmla="*/ 0 h 207"/>
                  <a:gd name="T56" fmla="*/ 107 w 107"/>
                  <a:gd name="T57" fmla="*/ 207 h 207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07" h="207">
                    <a:moveTo>
                      <a:pt x="3" y="96"/>
                    </a:moveTo>
                    <a:lnTo>
                      <a:pt x="0" y="82"/>
                    </a:lnTo>
                    <a:lnTo>
                      <a:pt x="0" y="69"/>
                    </a:lnTo>
                    <a:lnTo>
                      <a:pt x="2" y="58"/>
                    </a:lnTo>
                    <a:lnTo>
                      <a:pt x="6" y="42"/>
                    </a:lnTo>
                    <a:lnTo>
                      <a:pt x="12" y="29"/>
                    </a:lnTo>
                    <a:lnTo>
                      <a:pt x="21" y="17"/>
                    </a:lnTo>
                    <a:lnTo>
                      <a:pt x="31" y="7"/>
                    </a:lnTo>
                    <a:lnTo>
                      <a:pt x="41" y="0"/>
                    </a:lnTo>
                    <a:lnTo>
                      <a:pt x="107" y="112"/>
                    </a:lnTo>
                    <a:lnTo>
                      <a:pt x="95" y="119"/>
                    </a:lnTo>
                    <a:lnTo>
                      <a:pt x="87" y="127"/>
                    </a:lnTo>
                    <a:lnTo>
                      <a:pt x="79" y="135"/>
                    </a:lnTo>
                    <a:lnTo>
                      <a:pt x="73" y="145"/>
                    </a:lnTo>
                    <a:lnTo>
                      <a:pt x="66" y="163"/>
                    </a:lnTo>
                    <a:lnTo>
                      <a:pt x="62" y="187"/>
                    </a:lnTo>
                    <a:lnTo>
                      <a:pt x="62" y="207"/>
                    </a:lnTo>
                    <a:lnTo>
                      <a:pt x="3" y="96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18" name="Arc 127">
                <a:extLst>
                  <a:ext uri="{FF2B5EF4-FFF2-40B4-BE49-F238E27FC236}">
                    <a16:creationId xmlns:a16="http://schemas.microsoft.com/office/drawing/2014/main" id="{383F8D48-D696-8822-6E1C-0CF44C5D1E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9" y="2229"/>
                <a:ext cx="87" cy="99"/>
              </a:xfrm>
              <a:custGeom>
                <a:avLst/>
                <a:gdLst>
                  <a:gd name="T0" fmla="*/ 0 w 21600"/>
                  <a:gd name="T1" fmla="*/ 0 h 26092"/>
                  <a:gd name="T2" fmla="*/ 0 w 21600"/>
                  <a:gd name="T3" fmla="*/ 0 h 26092"/>
                  <a:gd name="T4" fmla="*/ 0 w 21600"/>
                  <a:gd name="T5" fmla="*/ 0 h 2609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6092"/>
                  <a:gd name="T11" fmla="*/ 21600 w 21600"/>
                  <a:gd name="T12" fmla="*/ 26092 h 260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6092" fill="none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</a:path>
                  <a:path w="21600" h="26092" stroke="0" extrusionOk="0">
                    <a:moveTo>
                      <a:pt x="806" y="26092"/>
                    </a:moveTo>
                    <a:cubicBezTo>
                      <a:pt x="271" y="24188"/>
                      <a:pt x="0" y="22221"/>
                      <a:pt x="0" y="20244"/>
                    </a:cubicBezTo>
                    <a:cubicBezTo>
                      <a:pt x="-1" y="11219"/>
                      <a:pt x="5610" y="3146"/>
                      <a:pt x="14067" y="-1"/>
                    </a:cubicBezTo>
                    <a:lnTo>
                      <a:pt x="21600" y="20244"/>
                    </a:lnTo>
                    <a:lnTo>
                      <a:pt x="806" y="26092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19" name="Arc 128">
                <a:extLst>
                  <a:ext uri="{FF2B5EF4-FFF2-40B4-BE49-F238E27FC236}">
                    <a16:creationId xmlns:a16="http://schemas.microsoft.com/office/drawing/2014/main" id="{E520C60D-DC85-04D5-3B00-E7537293E1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72" y="2338"/>
                <a:ext cx="171" cy="103"/>
              </a:xfrm>
              <a:custGeom>
                <a:avLst/>
                <a:gdLst>
                  <a:gd name="T0" fmla="*/ 0 w 42293"/>
                  <a:gd name="T1" fmla="*/ 0 h 27167"/>
                  <a:gd name="T2" fmla="*/ 0 w 42293"/>
                  <a:gd name="T3" fmla="*/ 0 h 27167"/>
                  <a:gd name="T4" fmla="*/ 0 w 42293"/>
                  <a:gd name="T5" fmla="*/ 0 h 27167"/>
                  <a:gd name="T6" fmla="*/ 0 60000 65536"/>
                  <a:gd name="T7" fmla="*/ 0 60000 65536"/>
                  <a:gd name="T8" fmla="*/ 0 60000 65536"/>
                  <a:gd name="T9" fmla="*/ 0 w 42293"/>
                  <a:gd name="T10" fmla="*/ 0 h 27167"/>
                  <a:gd name="T11" fmla="*/ 42293 w 42293"/>
                  <a:gd name="T12" fmla="*/ 27167 h 271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293" h="27167" fill="none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</a:path>
                  <a:path w="42293" h="27167" stroke="0" extrusionOk="0">
                    <a:moveTo>
                      <a:pt x="729" y="27167"/>
                    </a:moveTo>
                    <a:cubicBezTo>
                      <a:pt x="245" y="25351"/>
                      <a:pt x="0" y="23479"/>
                      <a:pt x="0" y="21600"/>
                    </a:cubicBezTo>
                    <a:cubicBezTo>
                      <a:pt x="0" y="9670"/>
                      <a:pt x="9670" y="0"/>
                      <a:pt x="21600" y="0"/>
                    </a:cubicBezTo>
                    <a:cubicBezTo>
                      <a:pt x="31144" y="-1"/>
                      <a:pt x="39556" y="6263"/>
                      <a:pt x="42293" y="15406"/>
                    </a:cubicBezTo>
                    <a:lnTo>
                      <a:pt x="21600" y="21600"/>
                    </a:lnTo>
                    <a:lnTo>
                      <a:pt x="729" y="27167"/>
                    </a:lnTo>
                    <a:close/>
                  </a:path>
                </a:pathLst>
              </a:custGeom>
              <a:solidFill>
                <a:srgbClr val="7F3F00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7420" name="Group 129">
                <a:extLst>
                  <a:ext uri="{FF2B5EF4-FFF2-40B4-BE49-F238E27FC236}">
                    <a16:creationId xmlns:a16="http://schemas.microsoft.com/office/drawing/2014/main" id="{9513628D-4018-065E-ACF9-5013420ACF1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78" y="2354"/>
                <a:ext cx="182" cy="119"/>
                <a:chOff x="3078" y="2354"/>
                <a:chExt cx="182" cy="119"/>
              </a:xfrm>
            </p:grpSpPr>
            <p:grpSp>
              <p:nvGrpSpPr>
                <p:cNvPr id="17444" name="Group 130">
                  <a:extLst>
                    <a:ext uri="{FF2B5EF4-FFF2-40B4-BE49-F238E27FC236}">
                      <a16:creationId xmlns:a16="http://schemas.microsoft.com/office/drawing/2014/main" id="{3DBE8BDC-656E-B5AE-B2CA-EA3DD7A829B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78" y="2354"/>
                  <a:ext cx="173" cy="101"/>
                  <a:chOff x="3078" y="2354"/>
                  <a:chExt cx="173" cy="101"/>
                </a:xfrm>
              </p:grpSpPr>
              <p:sp>
                <p:nvSpPr>
                  <p:cNvPr id="17446" name="Arc 131">
                    <a:extLst>
                      <a:ext uri="{FF2B5EF4-FFF2-40B4-BE49-F238E27FC236}">
                        <a16:creationId xmlns:a16="http://schemas.microsoft.com/office/drawing/2014/main" id="{96B29BCD-CB61-E3FE-7FBA-5FEC7E5B26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54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47" name="Arc 132">
                    <a:extLst>
                      <a:ext uri="{FF2B5EF4-FFF2-40B4-BE49-F238E27FC236}">
                        <a16:creationId xmlns:a16="http://schemas.microsoft.com/office/drawing/2014/main" id="{18A9F1B8-B82D-D29B-9FC2-097322593DB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8" y="2364"/>
                    <a:ext cx="88" cy="90"/>
                  </a:xfrm>
                  <a:custGeom>
                    <a:avLst/>
                    <a:gdLst>
                      <a:gd name="T0" fmla="*/ 0 w 21600"/>
                      <a:gd name="T1" fmla="*/ 0 h 23652"/>
                      <a:gd name="T2" fmla="*/ 0 w 21600"/>
                      <a:gd name="T3" fmla="*/ 0 h 23652"/>
                      <a:gd name="T4" fmla="*/ 0 w 21600"/>
                      <a:gd name="T5" fmla="*/ 0 h 23652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652"/>
                      <a:gd name="T11" fmla="*/ 21600 w 21600"/>
                      <a:gd name="T12" fmla="*/ 23652 h 2365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652" fill="none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652" stroke="0" extrusionOk="0">
                        <a:moveTo>
                          <a:pt x="531" y="23651"/>
                        </a:moveTo>
                        <a:cubicBezTo>
                          <a:pt x="178" y="22089"/>
                          <a:pt x="0" y="2049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531" y="23651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48" name="Arc 133">
                    <a:extLst>
                      <a:ext uri="{FF2B5EF4-FFF2-40B4-BE49-F238E27FC236}">
                        <a16:creationId xmlns:a16="http://schemas.microsoft.com/office/drawing/2014/main" id="{0BEB5BD1-38D3-6579-656A-006E115F8D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79" y="2354"/>
                    <a:ext cx="172" cy="101"/>
                  </a:xfrm>
                  <a:custGeom>
                    <a:avLst/>
                    <a:gdLst>
                      <a:gd name="T0" fmla="*/ 0 w 42453"/>
                      <a:gd name="T1" fmla="*/ 0 h 26668"/>
                      <a:gd name="T2" fmla="*/ 0 w 42453"/>
                      <a:gd name="T3" fmla="*/ 0 h 26668"/>
                      <a:gd name="T4" fmla="*/ 0 w 42453"/>
                      <a:gd name="T5" fmla="*/ 0 h 26668"/>
                      <a:gd name="T6" fmla="*/ 0 60000 65536"/>
                      <a:gd name="T7" fmla="*/ 0 60000 65536"/>
                      <a:gd name="T8" fmla="*/ 0 60000 65536"/>
                      <a:gd name="T9" fmla="*/ 0 w 42453"/>
                      <a:gd name="T10" fmla="*/ 0 h 26668"/>
                      <a:gd name="T11" fmla="*/ 42453 w 42453"/>
                      <a:gd name="T12" fmla="*/ 26668 h 2666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453" h="26668" fill="none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</a:path>
                      <a:path w="42453" h="26668" stroke="0" extrusionOk="0">
                        <a:moveTo>
                          <a:pt x="602" y="26668"/>
                        </a:moveTo>
                        <a:cubicBezTo>
                          <a:pt x="202" y="25008"/>
                          <a:pt x="0" y="23307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361" y="-1"/>
                          <a:pt x="39909" y="6546"/>
                          <a:pt x="42453" y="15969"/>
                        </a:cubicBezTo>
                        <a:lnTo>
                          <a:pt x="21600" y="21600"/>
                        </a:lnTo>
                        <a:lnTo>
                          <a:pt x="602" y="26668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7445" name="Arc 134">
                  <a:extLst>
                    <a:ext uri="{FF2B5EF4-FFF2-40B4-BE49-F238E27FC236}">
                      <a16:creationId xmlns:a16="http://schemas.microsoft.com/office/drawing/2014/main" id="{F2943506-F821-17DE-07EE-3E2BF5C634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088" y="2372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7421" name="Group 135">
                <a:extLst>
                  <a:ext uri="{FF2B5EF4-FFF2-40B4-BE49-F238E27FC236}">
                    <a16:creationId xmlns:a16="http://schemas.microsoft.com/office/drawing/2014/main" id="{1B5F6EE7-BC65-9854-F4AC-DCAFFCFECF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5" y="2388"/>
                <a:ext cx="182" cy="118"/>
                <a:chOff x="3095" y="2388"/>
                <a:chExt cx="182" cy="118"/>
              </a:xfrm>
            </p:grpSpPr>
            <p:grpSp>
              <p:nvGrpSpPr>
                <p:cNvPr id="17439" name="Group 136">
                  <a:extLst>
                    <a:ext uri="{FF2B5EF4-FFF2-40B4-BE49-F238E27FC236}">
                      <a16:creationId xmlns:a16="http://schemas.microsoft.com/office/drawing/2014/main" id="{CB31C131-649A-3CEB-9BF8-090D9212899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095" y="2388"/>
                  <a:ext cx="173" cy="100"/>
                  <a:chOff x="3095" y="2388"/>
                  <a:chExt cx="173" cy="100"/>
                </a:xfrm>
              </p:grpSpPr>
              <p:sp>
                <p:nvSpPr>
                  <p:cNvPr id="17441" name="Arc 137">
                    <a:extLst>
                      <a:ext uri="{FF2B5EF4-FFF2-40B4-BE49-F238E27FC236}">
                        <a16:creationId xmlns:a16="http://schemas.microsoft.com/office/drawing/2014/main" id="{D7D68ED7-7EE4-0B6A-B6D5-4039F8A2466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88"/>
                    <a:ext cx="173" cy="99"/>
                  </a:xfrm>
                  <a:custGeom>
                    <a:avLst/>
                    <a:gdLst>
                      <a:gd name="T0" fmla="*/ 0 w 42583"/>
                      <a:gd name="T1" fmla="*/ 0 h 26108"/>
                      <a:gd name="T2" fmla="*/ 0 w 42583"/>
                      <a:gd name="T3" fmla="*/ 0 h 26108"/>
                      <a:gd name="T4" fmla="*/ 0 w 42583"/>
                      <a:gd name="T5" fmla="*/ 0 h 26108"/>
                      <a:gd name="T6" fmla="*/ 0 60000 65536"/>
                      <a:gd name="T7" fmla="*/ 0 60000 65536"/>
                      <a:gd name="T8" fmla="*/ 0 60000 65536"/>
                      <a:gd name="T9" fmla="*/ 0 w 42583"/>
                      <a:gd name="T10" fmla="*/ 0 h 26108"/>
                      <a:gd name="T11" fmla="*/ 42583 w 42583"/>
                      <a:gd name="T12" fmla="*/ 26108 h 2610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83" h="26108" fill="none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</a:path>
                      <a:path w="42583" h="26108" stroke="0" extrusionOk="0">
                        <a:moveTo>
                          <a:pt x="475" y="26108"/>
                        </a:moveTo>
                        <a:cubicBezTo>
                          <a:pt x="159" y="24626"/>
                          <a:pt x="0" y="23115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554" y="-1"/>
                          <a:pt x="40220" y="6803"/>
                          <a:pt x="42582" y="16474"/>
                        </a:cubicBezTo>
                        <a:lnTo>
                          <a:pt x="21600" y="21600"/>
                        </a:lnTo>
                        <a:lnTo>
                          <a:pt x="475" y="26108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42" name="Arc 138">
                    <a:extLst>
                      <a:ext uri="{FF2B5EF4-FFF2-40B4-BE49-F238E27FC236}">
                        <a16:creationId xmlns:a16="http://schemas.microsoft.com/office/drawing/2014/main" id="{335391B0-813F-3348-6C1D-AB5549ACD3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5" y="2398"/>
                    <a:ext cx="88" cy="89"/>
                  </a:xfrm>
                  <a:custGeom>
                    <a:avLst/>
                    <a:gdLst>
                      <a:gd name="T0" fmla="*/ 0 w 21600"/>
                      <a:gd name="T1" fmla="*/ 0 h 23399"/>
                      <a:gd name="T2" fmla="*/ 0 w 21600"/>
                      <a:gd name="T3" fmla="*/ 0 h 23399"/>
                      <a:gd name="T4" fmla="*/ 0 w 21600"/>
                      <a:gd name="T5" fmla="*/ 0 h 23399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3399"/>
                      <a:gd name="T11" fmla="*/ 21600 w 21600"/>
                      <a:gd name="T12" fmla="*/ 23399 h 23399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3399" fill="none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3399" stroke="0" extrusionOk="0">
                        <a:moveTo>
                          <a:pt x="475" y="23399"/>
                        </a:moveTo>
                        <a:cubicBezTo>
                          <a:pt x="159" y="21917"/>
                          <a:pt x="0" y="20406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475" y="23399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43" name="Arc 139">
                    <a:extLst>
                      <a:ext uri="{FF2B5EF4-FFF2-40B4-BE49-F238E27FC236}">
                        <a16:creationId xmlns:a16="http://schemas.microsoft.com/office/drawing/2014/main" id="{82EF0E98-8670-8694-7A9A-815E20731E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096" y="2388"/>
                    <a:ext cx="172" cy="100"/>
                  </a:xfrm>
                  <a:custGeom>
                    <a:avLst/>
                    <a:gdLst>
                      <a:gd name="T0" fmla="*/ 0 w 42520"/>
                      <a:gd name="T1" fmla="*/ 0 h 26361"/>
                      <a:gd name="T2" fmla="*/ 0 w 42520"/>
                      <a:gd name="T3" fmla="*/ 0 h 26361"/>
                      <a:gd name="T4" fmla="*/ 0 w 42520"/>
                      <a:gd name="T5" fmla="*/ 0 h 26361"/>
                      <a:gd name="T6" fmla="*/ 0 60000 65536"/>
                      <a:gd name="T7" fmla="*/ 0 60000 65536"/>
                      <a:gd name="T8" fmla="*/ 0 60000 65536"/>
                      <a:gd name="T9" fmla="*/ 0 w 42520"/>
                      <a:gd name="T10" fmla="*/ 0 h 26361"/>
                      <a:gd name="T11" fmla="*/ 42520 w 42520"/>
                      <a:gd name="T12" fmla="*/ 26361 h 2636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520" h="26361" fill="none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</a:path>
                      <a:path w="42520" h="26361" stroke="0" extrusionOk="0">
                        <a:moveTo>
                          <a:pt x="531" y="26360"/>
                        </a:moveTo>
                        <a:cubicBezTo>
                          <a:pt x="178" y="24798"/>
                          <a:pt x="0" y="2320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457" y="-1"/>
                          <a:pt x="40064" y="6673"/>
                          <a:pt x="42519" y="16221"/>
                        </a:cubicBezTo>
                        <a:lnTo>
                          <a:pt x="21600" y="21600"/>
                        </a:lnTo>
                        <a:lnTo>
                          <a:pt x="531" y="26360"/>
                        </a:lnTo>
                        <a:close/>
                      </a:path>
                    </a:pathLst>
                  </a:cu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7440" name="Arc 140">
                  <a:extLst>
                    <a:ext uri="{FF2B5EF4-FFF2-40B4-BE49-F238E27FC236}">
                      <a16:creationId xmlns:a16="http://schemas.microsoft.com/office/drawing/2014/main" id="{8EF4C9D2-001E-8021-61E9-F4BF067BFA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05" y="2406"/>
                  <a:ext cx="172" cy="100"/>
                </a:xfrm>
                <a:custGeom>
                  <a:avLst/>
                  <a:gdLst>
                    <a:gd name="T0" fmla="*/ 0 w 42520"/>
                    <a:gd name="T1" fmla="*/ 0 h 26361"/>
                    <a:gd name="T2" fmla="*/ 0 w 42520"/>
                    <a:gd name="T3" fmla="*/ 0 h 26361"/>
                    <a:gd name="T4" fmla="*/ 0 w 42520"/>
                    <a:gd name="T5" fmla="*/ 0 h 26361"/>
                    <a:gd name="T6" fmla="*/ 0 60000 65536"/>
                    <a:gd name="T7" fmla="*/ 0 60000 65536"/>
                    <a:gd name="T8" fmla="*/ 0 60000 65536"/>
                    <a:gd name="T9" fmla="*/ 0 w 42520"/>
                    <a:gd name="T10" fmla="*/ 0 h 26361"/>
                    <a:gd name="T11" fmla="*/ 42520 w 42520"/>
                    <a:gd name="T12" fmla="*/ 26361 h 2636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20" h="26361" fill="none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</a:path>
                    <a:path w="42520" h="26361" stroke="0" extrusionOk="0">
                      <a:moveTo>
                        <a:pt x="531" y="26360"/>
                      </a:moveTo>
                      <a:cubicBezTo>
                        <a:pt x="178" y="24798"/>
                        <a:pt x="0" y="23201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457" y="-1"/>
                        <a:pt x="40064" y="6673"/>
                        <a:pt x="42519" y="16221"/>
                      </a:cubicBezTo>
                      <a:lnTo>
                        <a:pt x="21600" y="21600"/>
                      </a:lnTo>
                      <a:lnTo>
                        <a:pt x="531" y="26360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7422" name="Group 141">
                <a:extLst>
                  <a:ext uri="{FF2B5EF4-FFF2-40B4-BE49-F238E27FC236}">
                    <a16:creationId xmlns:a16="http://schemas.microsoft.com/office/drawing/2014/main" id="{3DC396AE-3BE4-1766-9BB7-04C04715612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3" y="2420"/>
                <a:ext cx="173" cy="98"/>
                <a:chOff x="3113" y="2420"/>
                <a:chExt cx="173" cy="98"/>
              </a:xfrm>
            </p:grpSpPr>
            <p:sp>
              <p:nvSpPr>
                <p:cNvPr id="17437" name="Arc 142">
                  <a:extLst>
                    <a:ext uri="{FF2B5EF4-FFF2-40B4-BE49-F238E27FC236}">
                      <a16:creationId xmlns:a16="http://schemas.microsoft.com/office/drawing/2014/main" id="{2042A1E0-E217-C710-6B50-33049EE3A6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20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7438" name="Arc 143">
                  <a:extLst>
                    <a:ext uri="{FF2B5EF4-FFF2-40B4-BE49-F238E27FC236}">
                      <a16:creationId xmlns:a16="http://schemas.microsoft.com/office/drawing/2014/main" id="{EFCE7D5D-78C0-5BBC-9B70-A36FE66744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3" y="2430"/>
                  <a:ext cx="88" cy="88"/>
                </a:xfrm>
                <a:custGeom>
                  <a:avLst/>
                  <a:gdLst>
                    <a:gd name="T0" fmla="*/ 0 w 21600"/>
                    <a:gd name="T1" fmla="*/ 0 h 23145"/>
                    <a:gd name="T2" fmla="*/ 0 w 21600"/>
                    <a:gd name="T3" fmla="*/ 0 h 23145"/>
                    <a:gd name="T4" fmla="*/ 0 w 21600"/>
                    <a:gd name="T5" fmla="*/ 0 h 2314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3145"/>
                    <a:gd name="T11" fmla="*/ 21600 w 21600"/>
                    <a:gd name="T12" fmla="*/ 23145 h 2314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3145" fill="none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</a:path>
                    <a:path w="21600" h="23145" stroke="0" extrusionOk="0">
                      <a:moveTo>
                        <a:pt x="423" y="23144"/>
                      </a:moveTo>
                      <a:cubicBezTo>
                        <a:pt x="141" y="21744"/>
                        <a:pt x="0" y="20319"/>
                        <a:pt x="0" y="18891"/>
                      </a:cubicBezTo>
                      <a:cubicBezTo>
                        <a:pt x="-1" y="11039"/>
                        <a:pt x="4260" y="3806"/>
                        <a:pt x="11126" y="-1"/>
                      </a:cubicBezTo>
                      <a:lnTo>
                        <a:pt x="21600" y="18891"/>
                      </a:lnTo>
                      <a:lnTo>
                        <a:pt x="423" y="23144"/>
                      </a:lnTo>
                      <a:close/>
                    </a:path>
                  </a:pathLst>
                </a:custGeom>
                <a:solidFill>
                  <a:srgbClr val="3F1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7423" name="Group 144">
                <a:extLst>
                  <a:ext uri="{FF2B5EF4-FFF2-40B4-BE49-F238E27FC236}">
                    <a16:creationId xmlns:a16="http://schemas.microsoft.com/office/drawing/2014/main" id="{B25990AE-610D-0C70-1183-258EDFF0A4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14" y="2420"/>
                <a:ext cx="182" cy="117"/>
                <a:chOff x="3114" y="2420"/>
                <a:chExt cx="182" cy="117"/>
              </a:xfrm>
            </p:grpSpPr>
            <p:sp>
              <p:nvSpPr>
                <p:cNvPr id="17435" name="Arc 145">
                  <a:extLst>
                    <a:ext uri="{FF2B5EF4-FFF2-40B4-BE49-F238E27FC236}">
                      <a16:creationId xmlns:a16="http://schemas.microsoft.com/office/drawing/2014/main" id="{41D93CA1-8989-FE6F-14DB-D666DBB91C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14" y="2420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7436" name="Arc 146">
                  <a:extLst>
                    <a:ext uri="{FF2B5EF4-FFF2-40B4-BE49-F238E27FC236}">
                      <a16:creationId xmlns:a16="http://schemas.microsoft.com/office/drawing/2014/main" id="{709428D3-4F0C-D26C-D92E-5D8713658D1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23" y="2438"/>
                  <a:ext cx="173" cy="99"/>
                </a:xfrm>
                <a:custGeom>
                  <a:avLst/>
                  <a:gdLst>
                    <a:gd name="T0" fmla="*/ 0 w 42583"/>
                    <a:gd name="T1" fmla="*/ 0 h 26108"/>
                    <a:gd name="T2" fmla="*/ 0 w 42583"/>
                    <a:gd name="T3" fmla="*/ 0 h 26108"/>
                    <a:gd name="T4" fmla="*/ 0 w 42583"/>
                    <a:gd name="T5" fmla="*/ 0 h 26108"/>
                    <a:gd name="T6" fmla="*/ 0 60000 65536"/>
                    <a:gd name="T7" fmla="*/ 0 60000 65536"/>
                    <a:gd name="T8" fmla="*/ 0 60000 65536"/>
                    <a:gd name="T9" fmla="*/ 0 w 42583"/>
                    <a:gd name="T10" fmla="*/ 0 h 26108"/>
                    <a:gd name="T11" fmla="*/ 42583 w 42583"/>
                    <a:gd name="T12" fmla="*/ 26108 h 261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583" h="26108" fill="none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</a:path>
                    <a:path w="42583" h="26108" stroke="0" extrusionOk="0">
                      <a:moveTo>
                        <a:pt x="475" y="26108"/>
                      </a:moveTo>
                      <a:cubicBezTo>
                        <a:pt x="159" y="24626"/>
                        <a:pt x="0" y="23115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554" y="-1"/>
                        <a:pt x="40220" y="6803"/>
                        <a:pt x="42582" y="16474"/>
                      </a:cubicBezTo>
                      <a:lnTo>
                        <a:pt x="21600" y="21600"/>
                      </a:lnTo>
                      <a:lnTo>
                        <a:pt x="475" y="26108"/>
                      </a:lnTo>
                      <a:close/>
                    </a:path>
                  </a:pathLst>
                </a:custGeom>
                <a:solidFill>
                  <a:srgbClr val="7F3F00"/>
                </a:solidFill>
                <a:ln w="12700">
                  <a:solidFill>
                    <a:srgbClr val="00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7424" name="Group 147">
                <a:extLst>
                  <a:ext uri="{FF2B5EF4-FFF2-40B4-BE49-F238E27FC236}">
                    <a16:creationId xmlns:a16="http://schemas.microsoft.com/office/drawing/2014/main" id="{1189C9ED-E9FB-2691-C0A8-45BF71634A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14" y="2275"/>
                <a:ext cx="565" cy="811"/>
                <a:chOff x="3014" y="2275"/>
                <a:chExt cx="565" cy="811"/>
              </a:xfrm>
            </p:grpSpPr>
            <p:sp>
              <p:nvSpPr>
                <p:cNvPr id="17433" name="Line 148">
                  <a:extLst>
                    <a:ext uri="{FF2B5EF4-FFF2-40B4-BE49-F238E27FC236}">
                      <a16:creationId xmlns:a16="http://schemas.microsoft.com/office/drawing/2014/main" id="{CF28DBDD-5F6C-773F-D670-E73D85241A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178" y="2275"/>
                  <a:ext cx="401" cy="721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7434" name="Line 149">
                  <a:extLst>
                    <a:ext uri="{FF2B5EF4-FFF2-40B4-BE49-F238E27FC236}">
                      <a16:creationId xmlns:a16="http://schemas.microsoft.com/office/drawing/2014/main" id="{859DA9E1-214C-9D08-1474-EE0A0821E9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14" y="2333"/>
                  <a:ext cx="402" cy="753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grpSp>
            <p:nvGrpSpPr>
              <p:cNvPr id="17425" name="Group 150">
                <a:extLst>
                  <a:ext uri="{FF2B5EF4-FFF2-40B4-BE49-F238E27FC236}">
                    <a16:creationId xmlns:a16="http://schemas.microsoft.com/office/drawing/2014/main" id="{3ECC69DD-3D05-93A9-E848-3D6C243885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31" y="2452"/>
                <a:ext cx="181" cy="116"/>
                <a:chOff x="3131" y="2452"/>
                <a:chExt cx="181" cy="116"/>
              </a:xfrm>
            </p:grpSpPr>
            <p:grpSp>
              <p:nvGrpSpPr>
                <p:cNvPr id="17428" name="Group 151">
                  <a:extLst>
                    <a:ext uri="{FF2B5EF4-FFF2-40B4-BE49-F238E27FC236}">
                      <a16:creationId xmlns:a16="http://schemas.microsoft.com/office/drawing/2014/main" id="{DE17D418-496F-DD29-ADE5-7D10D44CB5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31" y="2452"/>
                  <a:ext cx="173" cy="97"/>
                  <a:chOff x="3131" y="2452"/>
                  <a:chExt cx="173" cy="97"/>
                </a:xfrm>
              </p:grpSpPr>
              <p:sp>
                <p:nvSpPr>
                  <p:cNvPr id="17431" name="Arc 152">
                    <a:extLst>
                      <a:ext uri="{FF2B5EF4-FFF2-40B4-BE49-F238E27FC236}">
                        <a16:creationId xmlns:a16="http://schemas.microsoft.com/office/drawing/2014/main" id="{364939BB-EDCE-E332-1611-E5A3A01CF8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52"/>
                    <a:ext cx="173" cy="97"/>
                  </a:xfrm>
                  <a:custGeom>
                    <a:avLst/>
                    <a:gdLst>
                      <a:gd name="T0" fmla="*/ 0 w 42713"/>
                      <a:gd name="T1" fmla="*/ 0 h 25597"/>
                      <a:gd name="T2" fmla="*/ 0 w 42713"/>
                      <a:gd name="T3" fmla="*/ 0 h 25597"/>
                      <a:gd name="T4" fmla="*/ 0 w 42713"/>
                      <a:gd name="T5" fmla="*/ 0 h 25597"/>
                      <a:gd name="T6" fmla="*/ 0 60000 65536"/>
                      <a:gd name="T7" fmla="*/ 0 60000 65536"/>
                      <a:gd name="T8" fmla="*/ 0 60000 65536"/>
                      <a:gd name="T9" fmla="*/ 0 w 42713"/>
                      <a:gd name="T10" fmla="*/ 0 h 25597"/>
                      <a:gd name="T11" fmla="*/ 42713 w 42713"/>
                      <a:gd name="T12" fmla="*/ 25597 h 25597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42713" h="25597" fill="none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</a:path>
                      <a:path w="42713" h="25597" stroke="0" extrusionOk="0">
                        <a:moveTo>
                          <a:pt x="373" y="25596"/>
                        </a:moveTo>
                        <a:cubicBezTo>
                          <a:pt x="124" y="24279"/>
                          <a:pt x="0" y="22941"/>
                          <a:pt x="0" y="21600"/>
                        </a:cubicBezTo>
                        <a:cubicBezTo>
                          <a:pt x="0" y="9670"/>
                          <a:pt x="9670" y="0"/>
                          <a:pt x="21600" y="0"/>
                        </a:cubicBezTo>
                        <a:cubicBezTo>
                          <a:pt x="31772" y="-1"/>
                          <a:pt x="40565" y="7097"/>
                          <a:pt x="42713" y="17039"/>
                        </a:cubicBezTo>
                        <a:lnTo>
                          <a:pt x="21600" y="21600"/>
                        </a:lnTo>
                        <a:lnTo>
                          <a:pt x="373" y="25596"/>
                        </a:lnTo>
                        <a:close/>
                      </a:path>
                    </a:pathLst>
                  </a:custGeom>
                  <a:solidFill>
                    <a:srgbClr val="5F3F1F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17432" name="Arc 153">
                    <a:extLst>
                      <a:ext uri="{FF2B5EF4-FFF2-40B4-BE49-F238E27FC236}">
                        <a16:creationId xmlns:a16="http://schemas.microsoft.com/office/drawing/2014/main" id="{2779CABA-1042-5F8C-7BC3-7A6AB991179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31" y="2462"/>
                    <a:ext cx="88" cy="87"/>
                  </a:xfrm>
                  <a:custGeom>
                    <a:avLst/>
                    <a:gdLst>
                      <a:gd name="T0" fmla="*/ 0 w 21600"/>
                      <a:gd name="T1" fmla="*/ 0 h 22888"/>
                      <a:gd name="T2" fmla="*/ 0 w 21600"/>
                      <a:gd name="T3" fmla="*/ 0 h 22888"/>
                      <a:gd name="T4" fmla="*/ 0 w 21600"/>
                      <a:gd name="T5" fmla="*/ 0 h 22888"/>
                      <a:gd name="T6" fmla="*/ 0 60000 65536"/>
                      <a:gd name="T7" fmla="*/ 0 60000 65536"/>
                      <a:gd name="T8" fmla="*/ 0 60000 65536"/>
                      <a:gd name="T9" fmla="*/ 0 w 21600"/>
                      <a:gd name="T10" fmla="*/ 0 h 22888"/>
                      <a:gd name="T11" fmla="*/ 21600 w 21600"/>
                      <a:gd name="T12" fmla="*/ 22888 h 22888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1600" h="22888" fill="none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</a:path>
                      <a:path w="21600" h="22888" stroke="0" extrusionOk="0">
                        <a:moveTo>
                          <a:pt x="373" y="22887"/>
                        </a:moveTo>
                        <a:cubicBezTo>
                          <a:pt x="124" y="21570"/>
                          <a:pt x="0" y="20232"/>
                          <a:pt x="0" y="18891"/>
                        </a:cubicBezTo>
                        <a:cubicBezTo>
                          <a:pt x="-1" y="11039"/>
                          <a:pt x="4260" y="3806"/>
                          <a:pt x="11126" y="-1"/>
                        </a:cubicBezTo>
                        <a:lnTo>
                          <a:pt x="21600" y="18891"/>
                        </a:lnTo>
                        <a:lnTo>
                          <a:pt x="373" y="22887"/>
                        </a:lnTo>
                        <a:close/>
                      </a:path>
                    </a:pathLst>
                  </a:custGeom>
                  <a:solidFill>
                    <a:srgbClr val="3F1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  <p:sp>
              <p:nvSpPr>
                <p:cNvPr id="17429" name="Arc 154">
                  <a:extLst>
                    <a:ext uri="{FF2B5EF4-FFF2-40B4-BE49-F238E27FC236}">
                      <a16:creationId xmlns:a16="http://schemas.microsoft.com/office/drawing/2014/main" id="{A1D7EE94-A10F-0BD1-064A-0A60DD0C5F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32" y="2452"/>
                  <a:ext cx="173" cy="98"/>
                </a:xfrm>
                <a:custGeom>
                  <a:avLst/>
                  <a:gdLst>
                    <a:gd name="T0" fmla="*/ 0 w 42657"/>
                    <a:gd name="T1" fmla="*/ 0 h 25854"/>
                    <a:gd name="T2" fmla="*/ 0 w 42657"/>
                    <a:gd name="T3" fmla="*/ 0 h 25854"/>
                    <a:gd name="T4" fmla="*/ 0 w 42657"/>
                    <a:gd name="T5" fmla="*/ 0 h 25854"/>
                    <a:gd name="T6" fmla="*/ 0 60000 65536"/>
                    <a:gd name="T7" fmla="*/ 0 60000 65536"/>
                    <a:gd name="T8" fmla="*/ 0 60000 65536"/>
                    <a:gd name="T9" fmla="*/ 0 w 42657"/>
                    <a:gd name="T10" fmla="*/ 0 h 25854"/>
                    <a:gd name="T11" fmla="*/ 42657 w 42657"/>
                    <a:gd name="T12" fmla="*/ 25854 h 2585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657" h="25854" fill="none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</a:path>
                    <a:path w="42657" h="25854" stroke="0" extrusionOk="0">
                      <a:moveTo>
                        <a:pt x="423" y="25853"/>
                      </a:moveTo>
                      <a:cubicBezTo>
                        <a:pt x="141" y="24453"/>
                        <a:pt x="0" y="23028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674" y="-1"/>
                        <a:pt x="40410" y="6964"/>
                        <a:pt x="42656" y="16785"/>
                      </a:cubicBezTo>
                      <a:lnTo>
                        <a:pt x="21600" y="21600"/>
                      </a:lnTo>
                      <a:lnTo>
                        <a:pt x="423" y="25853"/>
                      </a:lnTo>
                      <a:close/>
                    </a:path>
                  </a:pathLst>
                </a:cu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17430" name="Arc 155">
                  <a:extLst>
                    <a:ext uri="{FF2B5EF4-FFF2-40B4-BE49-F238E27FC236}">
                      <a16:creationId xmlns:a16="http://schemas.microsoft.com/office/drawing/2014/main" id="{D7C10FD4-50E5-ED1A-B9F0-070B90F944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0" y="2467"/>
                  <a:ext cx="172" cy="101"/>
                </a:xfrm>
                <a:custGeom>
                  <a:avLst/>
                  <a:gdLst>
                    <a:gd name="T0" fmla="*/ 0 w 42453"/>
                    <a:gd name="T1" fmla="*/ 0 h 26668"/>
                    <a:gd name="T2" fmla="*/ 0 w 42453"/>
                    <a:gd name="T3" fmla="*/ 0 h 26668"/>
                    <a:gd name="T4" fmla="*/ 0 w 42453"/>
                    <a:gd name="T5" fmla="*/ 0 h 26668"/>
                    <a:gd name="T6" fmla="*/ 0 60000 65536"/>
                    <a:gd name="T7" fmla="*/ 0 60000 65536"/>
                    <a:gd name="T8" fmla="*/ 0 60000 65536"/>
                    <a:gd name="T9" fmla="*/ 0 w 42453"/>
                    <a:gd name="T10" fmla="*/ 0 h 26668"/>
                    <a:gd name="T11" fmla="*/ 42453 w 42453"/>
                    <a:gd name="T12" fmla="*/ 26668 h 266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2453" h="26668" fill="none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</a:path>
                    <a:path w="42453" h="26668" stroke="0" extrusionOk="0">
                      <a:moveTo>
                        <a:pt x="602" y="26668"/>
                      </a:moveTo>
                      <a:cubicBezTo>
                        <a:pt x="202" y="25008"/>
                        <a:pt x="0" y="23307"/>
                        <a:pt x="0" y="21600"/>
                      </a:cubicBezTo>
                      <a:cubicBezTo>
                        <a:pt x="0" y="9670"/>
                        <a:pt x="9670" y="0"/>
                        <a:pt x="21600" y="0"/>
                      </a:cubicBezTo>
                      <a:cubicBezTo>
                        <a:pt x="31361" y="-1"/>
                        <a:pt x="39909" y="6546"/>
                        <a:pt x="42453" y="15969"/>
                      </a:cubicBezTo>
                      <a:lnTo>
                        <a:pt x="21600" y="21600"/>
                      </a:lnTo>
                      <a:lnTo>
                        <a:pt x="602" y="26668"/>
                      </a:lnTo>
                      <a:close/>
                    </a:path>
                  </a:pathLst>
                </a:custGeom>
                <a:solidFill>
                  <a:srgbClr val="5F3F1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  <p:sp>
            <p:nvSpPr>
              <p:cNvPr id="17426" name="Freeform 156">
                <a:extLst>
                  <a:ext uri="{FF2B5EF4-FFF2-40B4-BE49-F238E27FC236}">
                    <a16:creationId xmlns:a16="http://schemas.microsoft.com/office/drawing/2014/main" id="{11FB6500-9CD6-B501-8C40-65A266FD29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471"/>
                <a:ext cx="348" cy="597"/>
              </a:xfrm>
              <a:custGeom>
                <a:avLst/>
                <a:gdLst>
                  <a:gd name="T0" fmla="*/ 44 w 348"/>
                  <a:gd name="T1" fmla="*/ 0 h 597"/>
                  <a:gd name="T2" fmla="*/ 31 w 348"/>
                  <a:gd name="T3" fmla="*/ 8 h 597"/>
                  <a:gd name="T4" fmla="*/ 21 w 348"/>
                  <a:gd name="T5" fmla="*/ 16 h 597"/>
                  <a:gd name="T6" fmla="*/ 12 w 348"/>
                  <a:gd name="T7" fmla="*/ 26 h 597"/>
                  <a:gd name="T8" fmla="*/ 8 w 348"/>
                  <a:gd name="T9" fmla="*/ 36 h 597"/>
                  <a:gd name="T10" fmla="*/ 4 w 348"/>
                  <a:gd name="T11" fmla="*/ 47 h 597"/>
                  <a:gd name="T12" fmla="*/ 1 w 348"/>
                  <a:gd name="T13" fmla="*/ 58 h 597"/>
                  <a:gd name="T14" fmla="*/ 0 w 348"/>
                  <a:gd name="T15" fmla="*/ 71 h 597"/>
                  <a:gd name="T16" fmla="*/ 0 w 348"/>
                  <a:gd name="T17" fmla="*/ 86 h 597"/>
                  <a:gd name="T18" fmla="*/ 270 w 348"/>
                  <a:gd name="T19" fmla="*/ 597 h 597"/>
                  <a:gd name="T20" fmla="*/ 348 w 348"/>
                  <a:gd name="T21" fmla="*/ 543 h 597"/>
                  <a:gd name="T22" fmla="*/ 44 w 348"/>
                  <a:gd name="T23" fmla="*/ 0 h 59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48"/>
                  <a:gd name="T37" fmla="*/ 0 h 597"/>
                  <a:gd name="T38" fmla="*/ 348 w 348"/>
                  <a:gd name="T39" fmla="*/ 597 h 59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48" h="597">
                    <a:moveTo>
                      <a:pt x="44" y="0"/>
                    </a:moveTo>
                    <a:lnTo>
                      <a:pt x="31" y="8"/>
                    </a:lnTo>
                    <a:lnTo>
                      <a:pt x="21" y="16"/>
                    </a:lnTo>
                    <a:lnTo>
                      <a:pt x="12" y="26"/>
                    </a:lnTo>
                    <a:lnTo>
                      <a:pt x="8" y="36"/>
                    </a:lnTo>
                    <a:lnTo>
                      <a:pt x="4" y="47"/>
                    </a:lnTo>
                    <a:lnTo>
                      <a:pt x="1" y="58"/>
                    </a:lnTo>
                    <a:lnTo>
                      <a:pt x="0" y="71"/>
                    </a:lnTo>
                    <a:lnTo>
                      <a:pt x="0" y="86"/>
                    </a:lnTo>
                    <a:lnTo>
                      <a:pt x="270" y="597"/>
                    </a:lnTo>
                    <a:lnTo>
                      <a:pt x="348" y="543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3F1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17427" name="Oval 157">
                <a:extLst>
                  <a:ext uri="{FF2B5EF4-FFF2-40B4-BE49-F238E27FC236}">
                    <a16:creationId xmlns:a16="http://schemas.microsoft.com/office/drawing/2014/main" id="{23F9E5BB-24EE-03F9-078B-545524EC16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0" y="2966"/>
                <a:ext cx="190" cy="183"/>
              </a:xfrm>
              <a:prstGeom prst="ellipse">
                <a:avLst/>
              </a:prstGeom>
              <a:solidFill>
                <a:srgbClr val="7F5F3F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lnSpc>
                    <a:spcPct val="80000"/>
                  </a:lnSpc>
                  <a:spcBef>
                    <a:spcPct val="0"/>
                  </a:spcBef>
                  <a:buFontTx/>
                  <a:buNone/>
                </a:pPr>
                <a:endParaRPr lang="pt-BR" altLang="pt-BR" sz="20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1B5E9045-ECDB-5844-3686-1159B9FA2246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220663"/>
            <a:ext cx="8229600" cy="70643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 sz="2400" kern="0" dirty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Sumário do capítulo – conceitos e ferramentas (quadros)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CBB938F-9631-3067-D5D8-91378ACA085F}"/>
              </a:ext>
            </a:extLst>
          </p:cNvPr>
          <p:cNvSpPr txBox="1">
            <a:spLocks noChangeArrowheads="1"/>
          </p:cNvSpPr>
          <p:nvPr/>
        </p:nvSpPr>
        <p:spPr>
          <a:xfrm>
            <a:off x="107950" y="1131888"/>
            <a:ext cx="9036050" cy="5467350"/>
          </a:xfrm>
          <a:prstGeom prst="rect">
            <a:avLst/>
          </a:prstGeom>
        </p:spPr>
        <p:txBody>
          <a:bodyPr/>
          <a:lstStyle/>
          <a:p>
            <a:pPr marL="176213" indent="-176213">
              <a:lnSpc>
                <a:spcPct val="13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solidFill>
                  <a:srgbClr val="00B050"/>
                </a:solidFill>
                <a:latin typeface="+mn-lt"/>
              </a:rPr>
              <a:t>Métodos de criatividade (quadros 7.4 e 7.5)</a:t>
            </a:r>
          </a:p>
          <a:p>
            <a:pPr marL="176213" indent="-176213">
              <a:lnSpc>
                <a:spcPct val="13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latin typeface="+mn-lt"/>
              </a:rPr>
              <a:t>Modelagem funcional</a:t>
            </a:r>
          </a:p>
          <a:p>
            <a:pPr marL="176213" indent="-176213">
              <a:lnSpc>
                <a:spcPct val="17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latin typeface="+mn-lt"/>
              </a:rPr>
              <a:t>Projeto Modular (quadro 7.6)</a:t>
            </a:r>
          </a:p>
          <a:p>
            <a:pPr marL="176213" indent="-176213">
              <a:lnSpc>
                <a:spcPct val="17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latin typeface="+mn-lt"/>
              </a:rPr>
              <a:t>Seleção de concepções</a:t>
            </a:r>
          </a:p>
          <a:p>
            <a:pPr marL="176213" indent="-176213">
              <a:lnSpc>
                <a:spcPct val="17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latin typeface="+mn-lt"/>
              </a:rPr>
              <a:t>Seleção de materiais (quadro 7.7)</a:t>
            </a:r>
          </a:p>
          <a:p>
            <a:pPr marL="176213" indent="-176213">
              <a:lnSpc>
                <a:spcPct val="17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latin typeface="+mn-lt"/>
              </a:rPr>
              <a:t>Princípios e recomendações para o DFM (quadro 7.9)</a:t>
            </a:r>
          </a:p>
          <a:p>
            <a:pPr marL="176213" indent="-176213">
              <a:lnSpc>
                <a:spcPct val="170000"/>
              </a:lnSpc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latin typeface="+mn-lt"/>
              </a:rPr>
              <a:t>Princípios e recomendações para o DFA (quadro 7.10)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tângulo 1">
            <a:extLst>
              <a:ext uri="{FF2B5EF4-FFF2-40B4-BE49-F238E27FC236}">
                <a16:creationId xmlns:a16="http://schemas.microsoft.com/office/drawing/2014/main" id="{5FD92A0D-A7A4-B655-4F9B-11039A107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88" y="1760538"/>
            <a:ext cx="8482012" cy="2678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b="1">
                <a:solidFill>
                  <a:srgbClr val="FF0000"/>
                </a:solidFill>
              </a:rPr>
              <a:t>PROJETO CONCEITUAL</a:t>
            </a:r>
            <a:r>
              <a:rPr lang="pt-BR" altLang="pt-BR" b="1"/>
              <a:t>:</a:t>
            </a:r>
          </a:p>
          <a:p>
            <a:pPr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/>
              <a:t>é a fase cujo objetivo é, a partir das especificações de projeto, </a:t>
            </a:r>
            <a:r>
              <a:rPr lang="pt-BR" altLang="pt-BR" b="1">
                <a:solidFill>
                  <a:srgbClr val="FF0000"/>
                </a:solidFill>
              </a:rPr>
              <a:t>desenvolver as melhores concepções para o produto.</a:t>
            </a:r>
            <a:endParaRPr lang="pt-BR" altLang="pt-BR">
              <a:solidFill>
                <a:srgbClr val="FF0000"/>
              </a:solidFill>
            </a:endParaRPr>
          </a:p>
        </p:txBody>
      </p:sp>
      <p:sp>
        <p:nvSpPr>
          <p:cNvPr id="19458" name="CaixaDeTexto 2">
            <a:extLst>
              <a:ext uri="{FF2B5EF4-FFF2-40B4-BE49-F238E27FC236}">
                <a16:creationId xmlns:a16="http://schemas.microsoft.com/office/drawing/2014/main" id="{453BF544-8F62-AC2E-67C2-2EA12C82FF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3" y="377825"/>
            <a:ext cx="5186362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 b="1">
                <a:solidFill>
                  <a:srgbClr val="FF0000"/>
                </a:solidFill>
              </a:rPr>
              <a:t>INTRODUÇÃO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FDC04D3B-9914-C7F4-DEAC-CDE7538AA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325" y="1160463"/>
            <a:ext cx="8243888" cy="5170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8288" indent="-268288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pt-BR" altLang="pt-BR" sz="2000"/>
              <a:t>Na fase de projeto Informacional foram descritas formas e métodos de elaboração das especificações de projeto.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pt-BR" altLang="pt-BR" sz="2000"/>
              <a:t>Este conjunto das especificações é uma descrição das características que o produto deve ter.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pt-BR" altLang="pt-BR" sz="2000"/>
              <a:t>Fase de projeto Conceitual têm o objetivo de gerar soluções alternativas que atendem às especificações definidas.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pt-BR" altLang="pt-BR" sz="2000">
                <a:solidFill>
                  <a:srgbClr val="0070C0"/>
                </a:solidFill>
              </a:rPr>
              <a:t>A equipe de projeto deve ter por objetivo </a:t>
            </a:r>
            <a:r>
              <a:rPr lang="pt-BR" altLang="pt-BR" sz="2000" b="1">
                <a:solidFill>
                  <a:srgbClr val="0070C0"/>
                </a:solidFill>
              </a:rPr>
              <a:t>a geração de várias soluções alternativas</a:t>
            </a:r>
            <a:r>
              <a:rPr lang="pt-BR" altLang="pt-BR" sz="2000">
                <a:solidFill>
                  <a:srgbClr val="0070C0"/>
                </a:solidFill>
              </a:rPr>
              <a:t> para o mesmo problema.</a:t>
            </a:r>
          </a:p>
          <a:p>
            <a:pPr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pt-BR" altLang="pt-BR" sz="2000">
                <a:solidFill>
                  <a:srgbClr val="0070C0"/>
                </a:solidFill>
              </a:rPr>
              <a:t>Pode-se assim </a:t>
            </a:r>
            <a:r>
              <a:rPr lang="pt-BR" altLang="pt-BR" sz="2000" b="1">
                <a:solidFill>
                  <a:srgbClr val="0070C0"/>
                </a:solidFill>
              </a:rPr>
              <a:t>comparar e combinar soluções </a:t>
            </a:r>
            <a:r>
              <a:rPr lang="pt-BR" altLang="pt-BR" sz="2000">
                <a:solidFill>
                  <a:srgbClr val="0070C0"/>
                </a:solidFill>
              </a:rPr>
              <a:t>e, ao longo do processo de projeto, selecionar a melhor e mais inovadora concepção para o produto.</a:t>
            </a:r>
          </a:p>
        </p:txBody>
      </p:sp>
      <p:sp>
        <p:nvSpPr>
          <p:cNvPr id="20482" name="CaixaDeTexto 2">
            <a:extLst>
              <a:ext uri="{FF2B5EF4-FFF2-40B4-BE49-F238E27FC236}">
                <a16:creationId xmlns:a16="http://schemas.microsoft.com/office/drawing/2014/main" id="{B9273E6C-AE86-B84A-EED2-FCB9B167B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3" y="377825"/>
            <a:ext cx="5186362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 b="1">
                <a:solidFill>
                  <a:srgbClr val="FF0000"/>
                </a:solidFill>
              </a:rPr>
              <a:t>INTRODUÇÃO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CaixaDeTexto 1">
            <a:extLst>
              <a:ext uri="{FF2B5EF4-FFF2-40B4-BE49-F238E27FC236}">
                <a16:creationId xmlns:a16="http://schemas.microsoft.com/office/drawing/2014/main" id="{437FA2C3-D542-5871-82EC-B841DA13EC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3" y="377825"/>
            <a:ext cx="5186362" cy="388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400" b="1">
                <a:solidFill>
                  <a:srgbClr val="FF0000"/>
                </a:solidFill>
              </a:rPr>
              <a:t>INTRODUÇÃO</a:t>
            </a:r>
          </a:p>
        </p:txBody>
      </p:sp>
      <p:sp>
        <p:nvSpPr>
          <p:cNvPr id="21506" name="Retângulo 2">
            <a:extLst>
              <a:ext uri="{FF2B5EF4-FFF2-40B4-BE49-F238E27FC236}">
                <a16:creationId xmlns:a16="http://schemas.microsoft.com/office/drawing/2014/main" id="{C2619AC4-B48A-A7E3-B69D-9C5BCF2CE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1182688"/>
            <a:ext cx="7977188" cy="535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altLang="pt-BR" sz="2400"/>
              <a:t>Para obter soluções alternativas, a </a:t>
            </a:r>
            <a:r>
              <a:rPr lang="pt-BR" altLang="pt-BR" sz="2400" u="sng"/>
              <a:t>equipe de projeto </a:t>
            </a:r>
            <a:r>
              <a:rPr lang="pt-BR" altLang="pt-BR" sz="2400">
                <a:solidFill>
                  <a:srgbClr val="FF0000"/>
                </a:solidFill>
              </a:rPr>
              <a:t>precisa ser criativa</a:t>
            </a:r>
            <a:r>
              <a:rPr lang="pt-BR" altLang="pt-BR" sz="2400"/>
              <a:t>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altLang="pt-BR" sz="2400"/>
              <a:t>Recomenda-se </a:t>
            </a:r>
            <a:r>
              <a:rPr lang="pt-BR" altLang="pt-BR" sz="2400">
                <a:solidFill>
                  <a:srgbClr val="FF0000"/>
                </a:solidFill>
              </a:rPr>
              <a:t>usar métodos ou procedimentos que permitem</a:t>
            </a:r>
            <a:r>
              <a:rPr lang="pt-BR" altLang="pt-BR" sz="2400"/>
              <a:t>, de forma rápida, a obtenção de um conjunto de </a:t>
            </a:r>
            <a:r>
              <a:rPr lang="pt-BR" altLang="pt-BR" sz="2400" u="sng"/>
              <a:t>soluções inovadoras</a:t>
            </a:r>
            <a:r>
              <a:rPr lang="pt-BR" altLang="pt-BR" sz="2400"/>
              <a:t>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altLang="pt-BR" sz="2400"/>
              <a:t>Para identificar indivíduos criativos, suas capacidades ou características, o modo como procedem quando chegam a soluções criativas, </a:t>
            </a:r>
            <a:r>
              <a:rPr lang="pt-BR" altLang="pt-BR" sz="2400">
                <a:solidFill>
                  <a:srgbClr val="FF0000"/>
                </a:solidFill>
              </a:rPr>
              <a:t>muito se tem pesquisado e publicado sobre o tema de criatividade.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pt-BR" altLang="pt-BR" sz="2400" b="1">
                <a:solidFill>
                  <a:srgbClr val="FF0000"/>
                </a:solidFill>
              </a:rPr>
              <a:t>Descrever alguns métodos ou procedimentos </a:t>
            </a:r>
            <a:r>
              <a:rPr lang="pt-BR" altLang="pt-BR" sz="2400"/>
              <a:t>que se mostraram úteis na obtenção de um conjunto de soluções, de forma mais rápida e com resultados mais inovadores.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B34AB0F4-2D7F-B804-53BB-C7FFF676D479}"/>
              </a:ext>
            </a:extLst>
          </p:cNvPr>
          <p:cNvSpPr txBox="1">
            <a:spLocks noChangeArrowheads="1"/>
          </p:cNvSpPr>
          <p:nvPr/>
        </p:nvSpPr>
        <p:spPr>
          <a:xfrm>
            <a:off x="100013" y="79375"/>
            <a:ext cx="7388225" cy="7064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pt-BR" sz="2400" kern="0">
                <a:solidFill>
                  <a:srgbClr val="000096"/>
                </a:solidFill>
                <a:latin typeface="+mj-lt"/>
                <a:ea typeface="+mj-ea"/>
                <a:cs typeface="+mj-cs"/>
              </a:rPr>
              <a:t>Atualizar o Plano da fase de Projeto Conceitual</a:t>
            </a:r>
            <a:endParaRPr lang="pt-BR" sz="2400" kern="0" dirty="0">
              <a:solidFill>
                <a:srgbClr val="000096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1EE6FF4-A2AF-0B03-8560-2192F5FD4087}"/>
              </a:ext>
            </a:extLst>
          </p:cNvPr>
          <p:cNvSpPr txBox="1">
            <a:spLocks noChangeArrowheads="1"/>
          </p:cNvSpPr>
          <p:nvPr/>
        </p:nvSpPr>
        <p:spPr>
          <a:xfrm>
            <a:off x="238125" y="887413"/>
            <a:ext cx="8574088" cy="5970587"/>
          </a:xfrm>
          <a:prstGeom prst="rect">
            <a:avLst/>
          </a:prstGeom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latin typeface="+mn-lt"/>
              </a:rPr>
              <a:t>Segue a </a:t>
            </a:r>
            <a:r>
              <a:rPr lang="pt-BR" sz="2400" b="1" kern="0" dirty="0">
                <a:solidFill>
                  <a:srgbClr val="FF0000"/>
                </a:solidFill>
                <a:latin typeface="+mn-lt"/>
              </a:rPr>
              <a:t>atividade genérica descrita no capítulo 3</a:t>
            </a:r>
            <a:r>
              <a:rPr lang="pt-BR" sz="2400" kern="0" dirty="0">
                <a:latin typeface="+mn-lt"/>
              </a:rPr>
              <a:t>, na </a:t>
            </a:r>
            <a:r>
              <a:rPr lang="pt-BR" sz="2400" kern="0" dirty="0">
                <a:solidFill>
                  <a:srgbClr val="002060"/>
                </a:solidFill>
                <a:latin typeface="+mn-lt"/>
              </a:rPr>
              <a:t>qual todas atividades da fase de planejamento (capítulo 5) são revisadas;(</a:t>
            </a:r>
            <a:r>
              <a:rPr lang="pt-BR" sz="2400" i="1" kern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plano de projeto do produto</a:t>
            </a:r>
            <a:r>
              <a:rPr lang="pt-BR" sz="2400" kern="0" dirty="0">
                <a:solidFill>
                  <a:srgbClr val="002060"/>
                </a:solidFill>
                <a:latin typeface="+mn-lt"/>
              </a:rPr>
              <a:t>)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latin typeface="+mn-lt"/>
              </a:rPr>
              <a:t>Cuidado para não exagerar no nível de detalhamento do planejamento: não se deve definir uma atividade para cada documento a ser gerado;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latin typeface="+mn-lt"/>
              </a:rPr>
              <a:t>Ter em mente que o Plano visa auxiliar a distribuição das tarefas, sua previsão e controle;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latin typeface="+mn-lt"/>
              </a:rPr>
              <a:t>Como prever a duração das atividades da fase de projeto conceitual? Dados históricos...;</a:t>
            </a: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pt-BR" sz="2400" kern="0" dirty="0">
                <a:solidFill>
                  <a:srgbClr val="FF0000"/>
                </a:solidFill>
                <a:latin typeface="+mn-lt"/>
              </a:rPr>
              <a:t>Estude quadro 5.4.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4">
            <a:extLst>
              <a:ext uri="{FF2B5EF4-FFF2-40B4-BE49-F238E27FC236}">
                <a16:creationId xmlns:a16="http://schemas.microsoft.com/office/drawing/2014/main" id="{4038662A-C1E8-5990-330D-14F4141221C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>
              <a:defRPr/>
            </a:pPr>
            <a:r>
              <a:rPr lang="pt-B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CRIATIVIDADE </a:t>
            </a:r>
            <a:br>
              <a:rPr lang="pt-B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</a:br>
            <a:r>
              <a:rPr lang="pt-B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itchFamily="82" charset="0"/>
              </a:rPr>
              <a:t>NO PDP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2">
            <a:extLst>
              <a:ext uri="{FF2B5EF4-FFF2-40B4-BE49-F238E27FC236}">
                <a16:creationId xmlns:a16="http://schemas.microsoft.com/office/drawing/2014/main" id="{C918A8DD-29E7-625F-2357-05DD89A00F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Referências Bibliográficas</a:t>
            </a:r>
          </a:p>
        </p:txBody>
      </p:sp>
      <p:pic>
        <p:nvPicPr>
          <p:cNvPr id="25602" name="Imagem 6" descr="03632.jpg">
            <a:extLst>
              <a:ext uri="{FF2B5EF4-FFF2-40B4-BE49-F238E27FC236}">
                <a16:creationId xmlns:a16="http://schemas.microsoft.com/office/drawing/2014/main" id="{F1053D98-EA68-2536-1DC0-8458C70A5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050" y="2303463"/>
            <a:ext cx="183197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7" descr="Gestão de Desenvolvimento de Produtos">
            <a:extLst>
              <a:ext uri="{FF2B5EF4-FFF2-40B4-BE49-F238E27FC236}">
                <a16:creationId xmlns:a16="http://schemas.microsoft.com/office/drawing/2014/main" id="{49A184BC-D469-7C30-B705-C3D8243D5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6413" y="3927475"/>
            <a:ext cx="1709737" cy="2474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Espaço Reservado para Conteúdo 9" descr="2921.jpg">
            <a:extLst>
              <a:ext uri="{FF2B5EF4-FFF2-40B4-BE49-F238E27FC236}">
                <a16:creationId xmlns:a16="http://schemas.microsoft.com/office/drawing/2014/main" id="{F6DD310B-F5FC-88BF-61B7-F4DA0B861FD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5488" y="1050925"/>
            <a:ext cx="1500187" cy="2084388"/>
          </a:xfrm>
        </p:spPr>
      </p:pic>
      <p:pic>
        <p:nvPicPr>
          <p:cNvPr id="25605" name="Imagem 5" descr="IntroducaoAEngenhariaUfsc_Open.jpg">
            <a:extLst>
              <a:ext uri="{FF2B5EF4-FFF2-40B4-BE49-F238E27FC236}">
                <a16:creationId xmlns:a16="http://schemas.microsoft.com/office/drawing/2014/main" id="{C428B436-43B8-5BE1-38B1-26E7EBE229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8" y="4006850"/>
            <a:ext cx="1530350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8" descr="http://img.submarino.com.br/produtos/01/00/item/6684/3/6684368g1.jpg">
            <a:extLst>
              <a:ext uri="{FF2B5EF4-FFF2-40B4-BE49-F238E27FC236}">
                <a16:creationId xmlns:a16="http://schemas.microsoft.com/office/drawing/2014/main" id="{06723E83-0BD1-4108-0E3C-6375E9312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9413" y="1087438"/>
            <a:ext cx="2390775" cy="238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ítulo 1">
            <a:extLst>
              <a:ext uri="{FF2B5EF4-FFF2-40B4-BE49-F238E27FC236}">
                <a16:creationId xmlns:a16="http://schemas.microsoft.com/office/drawing/2014/main" id="{C6F7EE79-8E2C-FB9C-18DD-DC67CDB528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Sumário</a:t>
            </a:r>
          </a:p>
        </p:txBody>
      </p:sp>
      <p:sp>
        <p:nvSpPr>
          <p:cNvPr id="27650" name="Espaço Reservado para Conteúdo 2">
            <a:extLst>
              <a:ext uri="{FF2B5EF4-FFF2-40B4-BE49-F238E27FC236}">
                <a16:creationId xmlns:a16="http://schemas.microsoft.com/office/drawing/2014/main" id="{04780169-1C6C-7573-679D-BD85852BE5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pt-BR" altLang="pt-BR"/>
              <a:t>A criatividade</a:t>
            </a:r>
          </a:p>
          <a:p>
            <a:r>
              <a:rPr lang="pt-BR" altLang="pt-BR"/>
              <a:t>O processo criativo</a:t>
            </a:r>
          </a:p>
          <a:p>
            <a:r>
              <a:rPr lang="pt-BR" altLang="pt-BR"/>
              <a:t>Barreiras à criatividade</a:t>
            </a:r>
          </a:p>
          <a:p>
            <a:r>
              <a:rPr lang="pt-BR" altLang="pt-BR"/>
              <a:t>Métodos e ferramentas</a:t>
            </a:r>
          </a:p>
          <a:p>
            <a:endParaRPr lang="pt-BR" altLang="pt-BR"/>
          </a:p>
          <a:p>
            <a:endParaRPr lang="pt-BR" alt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633B317E-E232-18E4-96E2-E396908E69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O Preço da Novidade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74E4D449-B981-439E-CEFE-9B1551D09AD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pt-BR" altLang="pt-BR" sz="2400"/>
              <a:t>Não raro o inovador, passa irreconhecido até tarde em sua vida ou depois de morto.</a:t>
            </a:r>
          </a:p>
          <a:p>
            <a:pPr lvl="1" eaLnBrk="1" hangingPunct="1">
              <a:lnSpc>
                <a:spcPct val="90000"/>
              </a:lnSpc>
            </a:pPr>
            <a:r>
              <a:rPr lang="pt-BR" altLang="pt-BR" sz="2200"/>
              <a:t>A falta de reconhecimento levou Nietzsche à loucura.</a:t>
            </a:r>
          </a:p>
        </p:txBody>
      </p:sp>
      <p:pic>
        <p:nvPicPr>
          <p:cNvPr id="28675" name="Imagem 7" descr="200px-Nietzsche1882.jpg">
            <a:extLst>
              <a:ext uri="{FF2B5EF4-FFF2-40B4-BE49-F238E27FC236}">
                <a16:creationId xmlns:a16="http://schemas.microsoft.com/office/drawing/2014/main" id="{00D0BC03-5BF9-E7D6-66DA-0A88B5382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5" y="1571625"/>
            <a:ext cx="2571750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4E390915-6097-22F8-C6DD-43221A0A5F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Relevância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BD303E70-18C2-C360-23F3-E77BF4B1FB6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255588" y="1001713"/>
            <a:ext cx="4932362" cy="3187700"/>
          </a:xfrm>
        </p:spPr>
        <p:txBody>
          <a:bodyPr/>
          <a:lstStyle/>
          <a:p>
            <a:pPr eaLnBrk="1" hangingPunct="1"/>
            <a:r>
              <a:rPr lang="pt-BR" altLang="pt-BR" sz="2400"/>
              <a:t>A </a:t>
            </a:r>
            <a:r>
              <a:rPr lang="pt-BR" altLang="pt-BR" sz="2400" u="sng"/>
              <a:t>novidade</a:t>
            </a:r>
            <a:r>
              <a:rPr lang="pt-BR" altLang="pt-BR" sz="2400"/>
              <a:t>, </a:t>
            </a:r>
            <a:r>
              <a:rPr lang="pt-BR" altLang="pt-BR" sz="2400" u="sng"/>
              <a:t>por si só</a:t>
            </a:r>
            <a:r>
              <a:rPr lang="pt-BR" altLang="pt-BR" sz="2400"/>
              <a:t>, entretanto, </a:t>
            </a:r>
            <a:r>
              <a:rPr lang="pt-BR" altLang="pt-BR" sz="2400" u="sng"/>
              <a:t>não torna criador</a:t>
            </a:r>
            <a:r>
              <a:rPr lang="pt-BR" altLang="pt-BR" sz="2400"/>
              <a:t> um </a:t>
            </a:r>
            <a:r>
              <a:rPr lang="pt-BR" altLang="pt-BR" sz="2400" u="sng"/>
              <a:t>ato</a:t>
            </a:r>
            <a:r>
              <a:rPr lang="pt-BR" altLang="pt-BR" sz="2400"/>
              <a:t> ou uma </a:t>
            </a:r>
            <a:r>
              <a:rPr lang="pt-BR" altLang="pt-BR" sz="2400" u="sng"/>
              <a:t>idéia</a:t>
            </a:r>
            <a:r>
              <a:rPr lang="pt-BR" altLang="pt-BR" sz="2400"/>
              <a:t>.</a:t>
            </a:r>
          </a:p>
          <a:p>
            <a:pPr lvl="1" eaLnBrk="1" hangingPunct="1"/>
            <a:r>
              <a:rPr lang="pt-BR" altLang="pt-BR" sz="2200"/>
              <a:t>A </a:t>
            </a:r>
            <a:r>
              <a:rPr lang="pt-BR" altLang="pt-BR" sz="2200" b="1">
                <a:solidFill>
                  <a:srgbClr val="0070C0"/>
                </a:solidFill>
              </a:rPr>
              <a:t>relevância</a:t>
            </a:r>
            <a:r>
              <a:rPr lang="pt-BR" altLang="pt-BR" sz="2200"/>
              <a:t> constitui um </a:t>
            </a:r>
            <a:r>
              <a:rPr lang="pt-BR" altLang="pt-BR" sz="2200" u="sng"/>
              <a:t>fator primordial</a:t>
            </a:r>
            <a:r>
              <a:rPr lang="pt-BR" altLang="pt-BR" sz="2200"/>
              <a:t>.</a:t>
            </a:r>
          </a:p>
        </p:txBody>
      </p:sp>
      <p:pic>
        <p:nvPicPr>
          <p:cNvPr id="30723" name="Imagem 8" descr="untitled.gif">
            <a:extLst>
              <a:ext uri="{FF2B5EF4-FFF2-40B4-BE49-F238E27FC236}">
                <a16:creationId xmlns:a16="http://schemas.microsoft.com/office/drawing/2014/main" id="{CC6D30C7-5D3C-6A1D-1739-0ED728385C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950" y="1928813"/>
            <a:ext cx="3040063" cy="2963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59011689-90F2-4926-76EE-34735ED285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 sz="2800"/>
              <a:t>Pensamento Criador X Não-Criador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D2CA1F0B-BC7A-3A7F-159E-772A1BF00149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511175" y="981075"/>
            <a:ext cx="4132263" cy="5400675"/>
          </a:xfrm>
        </p:spPr>
        <p:txBody>
          <a:bodyPr/>
          <a:lstStyle/>
          <a:p>
            <a:pPr eaLnBrk="1" hangingPunct="1"/>
            <a:r>
              <a:rPr lang="pt-BR" altLang="pt-BR" sz="2400" b="1"/>
              <a:t>Pensamento criador </a:t>
            </a:r>
            <a:r>
              <a:rPr lang="pt-BR" altLang="pt-BR" sz="2400"/>
              <a:t>(divergente):</a:t>
            </a:r>
          </a:p>
          <a:p>
            <a:pPr lvl="1" eaLnBrk="1" hangingPunct="1"/>
            <a:r>
              <a:rPr lang="pt-BR" altLang="pt-BR" sz="2200"/>
              <a:t>É </a:t>
            </a:r>
            <a:r>
              <a:rPr lang="pt-BR" altLang="pt-BR" sz="2200" u="sng"/>
              <a:t>inovador</a:t>
            </a:r>
            <a:r>
              <a:rPr lang="pt-BR" altLang="pt-BR" sz="2200"/>
              <a:t>, </a:t>
            </a:r>
            <a:r>
              <a:rPr lang="pt-BR" altLang="pt-BR" sz="2200" u="sng"/>
              <a:t>exploratório </a:t>
            </a:r>
            <a:r>
              <a:rPr lang="pt-BR" altLang="pt-BR" sz="2200"/>
              <a:t>e </a:t>
            </a:r>
            <a:r>
              <a:rPr lang="pt-BR" altLang="pt-BR" sz="2200" u="sng"/>
              <a:t>aventuroso</a:t>
            </a:r>
            <a:r>
              <a:rPr lang="pt-BR" altLang="pt-BR" sz="2200"/>
              <a:t>.</a:t>
            </a:r>
          </a:p>
          <a:p>
            <a:pPr lvl="1" eaLnBrk="1" hangingPunct="1"/>
            <a:r>
              <a:rPr lang="pt-BR" altLang="pt-BR" sz="2200" u="sng"/>
              <a:t>Impaciente ante à convenção</a:t>
            </a:r>
            <a:r>
              <a:rPr lang="pt-BR" altLang="pt-BR" sz="2200"/>
              <a:t>; </a:t>
            </a:r>
            <a:r>
              <a:rPr lang="pt-BR" altLang="pt-BR" sz="2200" u="sng"/>
              <a:t>atraído pelo desconhecido e indeterminado</a:t>
            </a:r>
            <a:r>
              <a:rPr lang="pt-BR" altLang="pt-BR" sz="2200"/>
              <a:t>.</a:t>
            </a:r>
          </a:p>
          <a:p>
            <a:pPr lvl="1" eaLnBrk="1" hangingPunct="1"/>
            <a:r>
              <a:rPr lang="pt-BR" altLang="pt-BR" sz="2200"/>
              <a:t>O </a:t>
            </a:r>
            <a:r>
              <a:rPr lang="pt-BR" altLang="pt-BR" sz="2200" u="sng"/>
              <a:t>risco e a incerteza o estimula</a:t>
            </a:r>
            <a:r>
              <a:rPr lang="pt-BR" altLang="pt-BR" sz="2200"/>
              <a:t>. 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2B29273-51E7-1343-0C6A-EB47A665DC5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eaLnBrk="1" hangingPunct="1"/>
            <a:r>
              <a:rPr lang="pt-BR" altLang="pt-BR" sz="2400" b="1"/>
              <a:t>Pensamento não criador </a:t>
            </a:r>
            <a:r>
              <a:rPr lang="pt-BR" altLang="pt-BR" sz="2400"/>
              <a:t>(convergente):</a:t>
            </a:r>
          </a:p>
          <a:p>
            <a:pPr lvl="1" eaLnBrk="1" hangingPunct="1"/>
            <a:r>
              <a:rPr lang="pt-BR" altLang="pt-BR" sz="2200"/>
              <a:t>É </a:t>
            </a:r>
            <a:r>
              <a:rPr lang="pt-BR" altLang="pt-BR" sz="2200" u="sng"/>
              <a:t>cauteloso</a:t>
            </a:r>
            <a:r>
              <a:rPr lang="pt-BR" altLang="pt-BR" sz="2200"/>
              <a:t>, </a:t>
            </a:r>
            <a:r>
              <a:rPr lang="pt-BR" altLang="pt-BR" sz="2200" u="sng"/>
              <a:t>metódico </a:t>
            </a:r>
            <a:r>
              <a:rPr lang="pt-BR" altLang="pt-BR" sz="2200"/>
              <a:t>e </a:t>
            </a:r>
            <a:r>
              <a:rPr lang="pt-BR" altLang="pt-BR" sz="2200" u="sng"/>
              <a:t>conservador</a:t>
            </a:r>
            <a:r>
              <a:rPr lang="pt-BR" altLang="pt-BR" sz="2200"/>
              <a:t>.</a:t>
            </a:r>
          </a:p>
          <a:p>
            <a:pPr lvl="1" eaLnBrk="1" hangingPunct="1"/>
            <a:r>
              <a:rPr lang="pt-BR" altLang="pt-BR" sz="2200" u="sng"/>
              <a:t>Absorve</a:t>
            </a:r>
            <a:r>
              <a:rPr lang="pt-BR" altLang="pt-BR" sz="2200"/>
              <a:t> o </a:t>
            </a:r>
            <a:r>
              <a:rPr lang="pt-BR" altLang="pt-BR" sz="2200" u="sng"/>
              <a:t>novo</a:t>
            </a:r>
            <a:r>
              <a:rPr lang="pt-BR" altLang="pt-BR" sz="2200"/>
              <a:t> no </a:t>
            </a:r>
            <a:r>
              <a:rPr lang="pt-BR" altLang="pt-BR" sz="2200" u="sng"/>
              <a:t>já conhecido</a:t>
            </a:r>
            <a:r>
              <a:rPr lang="pt-BR" altLang="pt-BR" sz="2200"/>
              <a:t>.</a:t>
            </a:r>
          </a:p>
          <a:p>
            <a:pPr lvl="1" eaLnBrk="1" hangingPunct="1"/>
            <a:r>
              <a:rPr lang="pt-BR" altLang="pt-BR" sz="2200" u="sng"/>
              <a:t>Prefere</a:t>
            </a:r>
            <a:r>
              <a:rPr lang="pt-BR" altLang="pt-BR" sz="2200"/>
              <a:t> </a:t>
            </a:r>
            <a:r>
              <a:rPr lang="pt-BR" altLang="pt-BR" sz="2200" u="sng"/>
              <a:t>dilatar</a:t>
            </a:r>
            <a:r>
              <a:rPr lang="pt-BR" altLang="pt-BR" sz="2200"/>
              <a:t> as </a:t>
            </a:r>
            <a:r>
              <a:rPr lang="pt-BR" altLang="pt-BR" sz="2200" u="sng"/>
              <a:t>categorias</a:t>
            </a:r>
            <a:r>
              <a:rPr lang="pt-BR" altLang="pt-BR" sz="2200"/>
              <a:t> </a:t>
            </a:r>
            <a:r>
              <a:rPr lang="pt-BR" altLang="pt-BR" sz="2200" u="sng"/>
              <a:t>existentes</a:t>
            </a:r>
            <a:r>
              <a:rPr lang="pt-BR" altLang="pt-BR" sz="2200"/>
              <a:t> a inventar novas.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4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168B1ED8-86C9-2284-F09C-7B908432F7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O Alcance da Criatividade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32BFD018-DADB-DD51-53BC-EA478FA9E81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pt-BR" altLang="pt-BR"/>
              <a:t>A </a:t>
            </a:r>
            <a:r>
              <a:rPr lang="pt-BR" altLang="pt-BR" u="sng"/>
              <a:t>criatividade</a:t>
            </a:r>
            <a:r>
              <a:rPr lang="pt-BR" altLang="pt-BR"/>
              <a:t> está </a:t>
            </a:r>
            <a:r>
              <a:rPr lang="pt-BR" altLang="pt-BR" u="sng"/>
              <a:t>presente em todos os gêneros de atividade humana</a:t>
            </a:r>
            <a:r>
              <a:rPr lang="pt-BR" altLang="pt-BR"/>
              <a:t>.</a:t>
            </a:r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C909A10-0703-1A2B-AF17-3721100FE5A1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pt-BR" altLang="pt-BR" u="sng"/>
              <a:t>Abrange</a:t>
            </a:r>
            <a:r>
              <a:rPr lang="pt-BR" altLang="pt-BR"/>
              <a:t> </a:t>
            </a:r>
            <a:r>
              <a:rPr lang="pt-BR" altLang="pt-BR" u="sng"/>
              <a:t>habilidades</a:t>
            </a:r>
            <a:r>
              <a:rPr lang="pt-BR" altLang="pt-BR"/>
              <a:t> como: </a:t>
            </a:r>
          </a:p>
          <a:p>
            <a:pPr lvl="1"/>
            <a:r>
              <a:rPr lang="pt-BR" altLang="pt-BR" sz="2200" u="sng">
                <a:solidFill>
                  <a:srgbClr val="0070C0"/>
                </a:solidFill>
              </a:rPr>
              <a:t>Mudar</a:t>
            </a:r>
            <a:r>
              <a:rPr lang="pt-BR" altLang="pt-BR" sz="2200">
                <a:solidFill>
                  <a:srgbClr val="0070C0"/>
                </a:solidFill>
              </a:rPr>
              <a:t> a </a:t>
            </a:r>
            <a:r>
              <a:rPr lang="pt-BR" altLang="pt-BR" sz="2200" u="sng">
                <a:solidFill>
                  <a:srgbClr val="0070C0"/>
                </a:solidFill>
              </a:rPr>
              <a:t>forma</a:t>
            </a:r>
            <a:r>
              <a:rPr lang="pt-BR" altLang="pt-BR" sz="2200">
                <a:solidFill>
                  <a:srgbClr val="0070C0"/>
                </a:solidFill>
              </a:rPr>
              <a:t> de se </a:t>
            </a:r>
            <a:r>
              <a:rPr lang="pt-BR" altLang="pt-BR" sz="2200" u="sng">
                <a:solidFill>
                  <a:srgbClr val="0070C0"/>
                </a:solidFill>
              </a:rPr>
              <a:t>abordar</a:t>
            </a:r>
            <a:r>
              <a:rPr lang="pt-BR" altLang="pt-BR" sz="2200">
                <a:solidFill>
                  <a:srgbClr val="0070C0"/>
                </a:solidFill>
              </a:rPr>
              <a:t> o </a:t>
            </a:r>
            <a:r>
              <a:rPr lang="pt-BR" altLang="pt-BR" sz="2200" u="sng">
                <a:solidFill>
                  <a:srgbClr val="0070C0"/>
                </a:solidFill>
              </a:rPr>
              <a:t>problema</a:t>
            </a:r>
            <a:r>
              <a:rPr lang="pt-BR" altLang="pt-BR" sz="2200">
                <a:solidFill>
                  <a:srgbClr val="0070C0"/>
                </a:solidFill>
              </a:rPr>
              <a:t>; </a:t>
            </a:r>
          </a:p>
          <a:p>
            <a:pPr lvl="1"/>
            <a:r>
              <a:rPr lang="pt-BR" altLang="pt-BR" sz="2200" u="sng">
                <a:solidFill>
                  <a:srgbClr val="00B050"/>
                </a:solidFill>
              </a:rPr>
              <a:t>Produzir</a:t>
            </a:r>
            <a:r>
              <a:rPr lang="pt-BR" altLang="pt-BR" sz="2200">
                <a:solidFill>
                  <a:srgbClr val="00B050"/>
                </a:solidFill>
              </a:rPr>
              <a:t> </a:t>
            </a:r>
            <a:r>
              <a:rPr lang="pt-BR" altLang="pt-BR" sz="2200" u="sng">
                <a:solidFill>
                  <a:srgbClr val="00B050"/>
                </a:solidFill>
              </a:rPr>
              <a:t>idéias</a:t>
            </a:r>
            <a:r>
              <a:rPr lang="pt-BR" altLang="pt-BR" sz="2200">
                <a:solidFill>
                  <a:srgbClr val="00B050"/>
                </a:solidFill>
              </a:rPr>
              <a:t> </a:t>
            </a:r>
            <a:r>
              <a:rPr lang="pt-BR" altLang="pt-BR" sz="2200" u="sng">
                <a:solidFill>
                  <a:srgbClr val="00B050"/>
                </a:solidFill>
              </a:rPr>
              <a:t>relevantes</a:t>
            </a:r>
            <a:r>
              <a:rPr lang="pt-BR" altLang="pt-BR" sz="2200">
                <a:solidFill>
                  <a:srgbClr val="00B050"/>
                </a:solidFill>
              </a:rPr>
              <a:t> e </a:t>
            </a:r>
            <a:r>
              <a:rPr lang="pt-BR" altLang="pt-BR" sz="2200" u="sng">
                <a:solidFill>
                  <a:srgbClr val="00B050"/>
                </a:solidFill>
              </a:rPr>
              <a:t>inusitadas</a:t>
            </a:r>
            <a:r>
              <a:rPr lang="pt-BR" altLang="pt-BR" sz="2200">
                <a:solidFill>
                  <a:srgbClr val="00B050"/>
                </a:solidFill>
              </a:rPr>
              <a:t>; </a:t>
            </a:r>
          </a:p>
          <a:p>
            <a:pPr lvl="1"/>
            <a:r>
              <a:rPr lang="pt-BR" altLang="pt-BR" sz="2200" u="sng">
                <a:solidFill>
                  <a:srgbClr val="FFC000"/>
                </a:solidFill>
              </a:rPr>
              <a:t>Ver</a:t>
            </a:r>
            <a:r>
              <a:rPr lang="pt-BR" altLang="pt-BR" sz="2200">
                <a:solidFill>
                  <a:srgbClr val="FFC000"/>
                </a:solidFill>
              </a:rPr>
              <a:t> </a:t>
            </a:r>
            <a:r>
              <a:rPr lang="pt-BR" altLang="pt-BR" sz="2200" u="sng">
                <a:solidFill>
                  <a:srgbClr val="FFC000"/>
                </a:solidFill>
              </a:rPr>
              <a:t>além</a:t>
            </a:r>
            <a:r>
              <a:rPr lang="pt-BR" altLang="pt-BR" sz="2200">
                <a:solidFill>
                  <a:srgbClr val="FFC000"/>
                </a:solidFill>
              </a:rPr>
              <a:t> da </a:t>
            </a:r>
            <a:r>
              <a:rPr lang="pt-BR" altLang="pt-BR" sz="2200" u="sng">
                <a:solidFill>
                  <a:srgbClr val="FFC000"/>
                </a:solidFill>
              </a:rPr>
              <a:t>situação</a:t>
            </a:r>
            <a:r>
              <a:rPr lang="pt-BR" altLang="pt-BR" sz="2200">
                <a:solidFill>
                  <a:srgbClr val="FFC000"/>
                </a:solidFill>
              </a:rPr>
              <a:t> </a:t>
            </a:r>
            <a:r>
              <a:rPr lang="pt-BR" altLang="pt-BR" sz="2200" u="sng">
                <a:solidFill>
                  <a:srgbClr val="FFC000"/>
                </a:solidFill>
              </a:rPr>
              <a:t>imediata</a:t>
            </a:r>
            <a:r>
              <a:rPr lang="pt-BR" altLang="pt-BR" sz="2200">
                <a:solidFill>
                  <a:srgbClr val="FFC000"/>
                </a:solidFill>
              </a:rPr>
              <a:t>;</a:t>
            </a:r>
          </a:p>
          <a:p>
            <a:pPr lvl="1"/>
            <a:r>
              <a:rPr lang="pt-BR" altLang="pt-BR" sz="2200" u="sng">
                <a:solidFill>
                  <a:srgbClr val="D883FF"/>
                </a:solidFill>
              </a:rPr>
              <a:t>Redefinir</a:t>
            </a:r>
            <a:r>
              <a:rPr lang="pt-BR" altLang="pt-BR" sz="2200">
                <a:solidFill>
                  <a:srgbClr val="D883FF"/>
                </a:solidFill>
              </a:rPr>
              <a:t> o </a:t>
            </a:r>
            <a:r>
              <a:rPr lang="pt-BR" altLang="pt-BR" sz="2200" u="sng">
                <a:solidFill>
                  <a:srgbClr val="D883FF"/>
                </a:solidFill>
              </a:rPr>
              <a:t>problema</a:t>
            </a:r>
            <a:r>
              <a:rPr lang="pt-BR" altLang="pt-BR" sz="2200">
                <a:solidFill>
                  <a:srgbClr val="D883FF"/>
                </a:solidFill>
              </a:rPr>
              <a:t> ou </a:t>
            </a:r>
            <a:r>
              <a:rPr lang="pt-BR" altLang="pt-BR" sz="2200" u="sng">
                <a:solidFill>
                  <a:srgbClr val="D883FF"/>
                </a:solidFill>
              </a:rPr>
              <a:t>algum aspecto</a:t>
            </a:r>
            <a:r>
              <a:rPr lang="pt-BR" altLang="pt-BR" sz="2200">
                <a:solidFill>
                  <a:srgbClr val="D883FF"/>
                </a:solidFill>
              </a:rPr>
              <a:t> seu.</a:t>
            </a:r>
          </a:p>
        </p:txBody>
      </p:sp>
      <p:pic>
        <p:nvPicPr>
          <p:cNvPr id="34820" name="Picture 3" descr="C:\Documents and Settings\Gitirana\Configurações locais\Temporary Internet Files\Content.IE5\TMXLBIJ1\MCBD06660_0000[1].wmf">
            <a:extLst>
              <a:ext uri="{FF2B5EF4-FFF2-40B4-BE49-F238E27FC236}">
                <a16:creationId xmlns:a16="http://schemas.microsoft.com/office/drawing/2014/main" id="{6C6C1CCB-0B2A-E6BE-3A47-0196BE29C1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5875" y="3071813"/>
            <a:ext cx="3071813" cy="246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>
            <a:extLst>
              <a:ext uri="{FF2B5EF4-FFF2-40B4-BE49-F238E27FC236}">
                <a16:creationId xmlns:a16="http://schemas.microsoft.com/office/drawing/2014/main" id="{42591026-BBA8-EBAF-025F-E897C058AB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O Processo Criativo</a:t>
            </a:r>
          </a:p>
        </p:txBody>
      </p:sp>
      <p:sp>
        <p:nvSpPr>
          <p:cNvPr id="36866" name="Rectangle 4">
            <a:extLst>
              <a:ext uri="{FF2B5EF4-FFF2-40B4-BE49-F238E27FC236}">
                <a16:creationId xmlns:a16="http://schemas.microsoft.com/office/drawing/2014/main" id="{502AF83F-6BEE-0F22-9653-9B8591BCC67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11175" y="981075"/>
            <a:ext cx="7918450" cy="5400675"/>
          </a:xfrm>
        </p:spPr>
        <p:txBody>
          <a:bodyPr/>
          <a:lstStyle/>
          <a:p>
            <a:pPr eaLnBrk="1" hangingPunct="1"/>
            <a:r>
              <a:rPr lang="pt-BR" altLang="pt-BR" sz="2400"/>
              <a:t>É amplamente aceita a existência de </a:t>
            </a:r>
            <a:r>
              <a:rPr lang="pt-BR" altLang="pt-BR" sz="2400" b="1"/>
              <a:t>quatro fases</a:t>
            </a:r>
            <a:r>
              <a:rPr lang="pt-BR" altLang="pt-BR" sz="2400"/>
              <a:t> no processo criativo:</a:t>
            </a:r>
            <a:endParaRPr lang="pt-BR" altLang="pt-BR" sz="2200"/>
          </a:p>
          <a:p>
            <a:pPr eaLnBrk="1" hangingPunct="1"/>
            <a:endParaRPr lang="pt-BR" altLang="pt-BR" sz="2400"/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3DC03AA6-6A9C-34A4-8FD0-B9695EEA3F79}"/>
              </a:ext>
            </a:extLst>
          </p:cNvPr>
          <p:cNvPicPr>
            <a:picLocks noGrp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82700" y="2171700"/>
            <a:ext cx="6629400" cy="3784600"/>
          </a:xfr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741B8893-207C-8252-8939-1F351256EF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08075" y="4763"/>
            <a:ext cx="7273925" cy="720725"/>
          </a:xfrm>
        </p:spPr>
        <p:txBody>
          <a:bodyPr/>
          <a:lstStyle/>
          <a:p>
            <a:pPr eaLnBrk="1" hangingPunct="1"/>
            <a:r>
              <a:rPr lang="pt-BR" altLang="pt-BR"/>
              <a:t>PREPARAÇÃO</a:t>
            </a:r>
          </a:p>
        </p:txBody>
      </p:sp>
      <p:sp>
        <p:nvSpPr>
          <p:cNvPr id="38914" name="Rectangle 7">
            <a:extLst>
              <a:ext uri="{FF2B5EF4-FFF2-40B4-BE49-F238E27FC236}">
                <a16:creationId xmlns:a16="http://schemas.microsoft.com/office/drawing/2014/main" id="{85FF691B-80E1-31CB-402B-423F7B2B461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11175" y="981075"/>
            <a:ext cx="5400675" cy="5151438"/>
          </a:xfrm>
        </p:spPr>
        <p:txBody>
          <a:bodyPr/>
          <a:lstStyle/>
          <a:p>
            <a:pPr eaLnBrk="1" hangingPunct="1"/>
            <a:r>
              <a:rPr lang="pt-BR" altLang="pt-BR" sz="2400"/>
              <a:t>Rigorosa </a:t>
            </a:r>
            <a:r>
              <a:rPr lang="pt-BR" altLang="pt-BR" sz="2400" u="sng"/>
              <a:t>investigação</a:t>
            </a:r>
            <a:r>
              <a:rPr lang="pt-BR" altLang="pt-BR" sz="2400"/>
              <a:t> da </a:t>
            </a:r>
            <a:r>
              <a:rPr lang="pt-BR" altLang="pt-BR" sz="2400" u="sng"/>
              <a:t>idéia germinal</a:t>
            </a:r>
            <a:r>
              <a:rPr lang="pt-BR" altLang="pt-BR" sz="2400"/>
              <a:t>.</a:t>
            </a:r>
          </a:p>
          <a:p>
            <a:pPr lvl="1" eaLnBrk="1" hangingPunct="1"/>
            <a:r>
              <a:rPr lang="pt-BR" altLang="pt-BR" sz="2200"/>
              <a:t>O criador </a:t>
            </a:r>
            <a:r>
              <a:rPr lang="pt-BR" altLang="pt-BR" sz="2200" u="sng"/>
              <a:t>lê</a:t>
            </a:r>
            <a:r>
              <a:rPr lang="pt-BR" altLang="pt-BR" sz="2200"/>
              <a:t>, </a:t>
            </a:r>
            <a:r>
              <a:rPr lang="pt-BR" altLang="pt-BR" sz="2200" u="sng"/>
              <a:t>anota</a:t>
            </a:r>
            <a:r>
              <a:rPr lang="pt-BR" altLang="pt-BR" sz="2200"/>
              <a:t>, </a:t>
            </a:r>
            <a:r>
              <a:rPr lang="pt-BR" altLang="pt-BR" sz="2200" u="sng"/>
              <a:t>discute</a:t>
            </a:r>
            <a:r>
              <a:rPr lang="pt-BR" altLang="pt-BR" sz="2200"/>
              <a:t>, </a:t>
            </a:r>
            <a:r>
              <a:rPr lang="pt-BR" altLang="pt-BR" sz="2200" u="sng"/>
              <a:t>indaga</a:t>
            </a:r>
            <a:r>
              <a:rPr lang="pt-BR" altLang="pt-BR" sz="2200"/>
              <a:t>, </a:t>
            </a:r>
            <a:r>
              <a:rPr lang="pt-BR" altLang="pt-BR" sz="2200" u="sng"/>
              <a:t>coleciona</a:t>
            </a:r>
            <a:r>
              <a:rPr lang="pt-BR" altLang="pt-BR" sz="2200"/>
              <a:t>, </a:t>
            </a:r>
            <a:r>
              <a:rPr lang="pt-BR" altLang="pt-BR" sz="2200" u="sng"/>
              <a:t>explora</a:t>
            </a:r>
            <a:r>
              <a:rPr lang="pt-BR" altLang="pt-BR" sz="2200"/>
              <a:t>.</a:t>
            </a:r>
          </a:p>
          <a:p>
            <a:pPr lvl="1" eaLnBrk="1" hangingPunct="1"/>
            <a:r>
              <a:rPr lang="pt-BR" altLang="pt-BR" sz="2200" u="sng"/>
              <a:t>Propõe</a:t>
            </a:r>
            <a:r>
              <a:rPr lang="pt-BR" altLang="pt-BR" sz="2200"/>
              <a:t> possíveis </a:t>
            </a:r>
            <a:r>
              <a:rPr lang="pt-BR" altLang="pt-BR" sz="2200" u="sng"/>
              <a:t>soluções</a:t>
            </a:r>
            <a:r>
              <a:rPr lang="pt-BR" altLang="pt-BR" sz="2200"/>
              <a:t>.</a:t>
            </a:r>
          </a:p>
          <a:p>
            <a:pPr lvl="2" eaLnBrk="1" hangingPunct="1"/>
            <a:r>
              <a:rPr lang="pt-BR" altLang="pt-BR" sz="1800" u="sng"/>
              <a:t>Pondera</a:t>
            </a:r>
            <a:r>
              <a:rPr lang="pt-BR" altLang="pt-BR" sz="1800"/>
              <a:t> suas </a:t>
            </a:r>
            <a:r>
              <a:rPr lang="pt-BR" altLang="pt-BR" sz="1800" u="sng"/>
              <a:t>forças</a:t>
            </a:r>
            <a:r>
              <a:rPr lang="pt-BR" altLang="pt-BR" sz="1800"/>
              <a:t> e </a:t>
            </a:r>
            <a:r>
              <a:rPr lang="pt-BR" altLang="pt-BR" sz="1800" u="sng"/>
              <a:t>fraquezas</a:t>
            </a:r>
            <a:r>
              <a:rPr lang="pt-BR" altLang="pt-BR" sz="1800"/>
              <a:t>.</a:t>
            </a:r>
          </a:p>
        </p:txBody>
      </p:sp>
      <p:pic>
        <p:nvPicPr>
          <p:cNvPr id="38915" name="Espaço Reservado para Conteúdo 7" descr="Untitled-8.gif">
            <a:extLst>
              <a:ext uri="{FF2B5EF4-FFF2-40B4-BE49-F238E27FC236}">
                <a16:creationId xmlns:a16="http://schemas.microsoft.com/office/drawing/2014/main" id="{D07E4ADC-C0B2-34DB-72F0-B122C263FA1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72113" y="1785938"/>
            <a:ext cx="2909887" cy="2754312"/>
          </a:xfr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>
            <a:extLst>
              <a:ext uri="{FF2B5EF4-FFF2-40B4-BE49-F238E27FC236}">
                <a16:creationId xmlns:a16="http://schemas.microsoft.com/office/drawing/2014/main" id="{546CBFCE-AA78-4405-FBBB-258E2E11A0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489200" y="115888"/>
            <a:ext cx="7273925" cy="720725"/>
          </a:xfrm>
        </p:spPr>
        <p:txBody>
          <a:bodyPr/>
          <a:lstStyle/>
          <a:p>
            <a:pPr eaLnBrk="1" hangingPunct="1"/>
            <a:r>
              <a:rPr lang="pt-BR" altLang="pt-BR"/>
              <a:t>Exemplos: Nas Artes</a:t>
            </a:r>
          </a:p>
        </p:txBody>
      </p:sp>
      <p:sp>
        <p:nvSpPr>
          <p:cNvPr id="40962" name="Rectangle 3">
            <a:extLst>
              <a:ext uri="{FF2B5EF4-FFF2-40B4-BE49-F238E27FC236}">
                <a16:creationId xmlns:a16="http://schemas.microsoft.com/office/drawing/2014/main" id="{69684748-2E76-7AAF-B096-7EBEE351079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pt-BR" altLang="pt-BR" sz="2400"/>
              <a:t>O </a:t>
            </a:r>
            <a:r>
              <a:rPr lang="pt-BR" altLang="pt-BR" sz="2400" u="sng"/>
              <a:t>pintor</a:t>
            </a:r>
            <a:r>
              <a:rPr lang="pt-BR" altLang="pt-BR" sz="2400"/>
              <a:t>  pode ficar sentado dias seguidos numa colina.</a:t>
            </a:r>
          </a:p>
          <a:p>
            <a:pPr lvl="1" eaLnBrk="1" hangingPunct="1"/>
            <a:r>
              <a:rPr lang="pt-BR" altLang="pt-BR" sz="2200"/>
              <a:t>Observando cores, formas, alterações de luz, etc.</a:t>
            </a:r>
          </a:p>
          <a:p>
            <a:pPr lvl="1" eaLnBrk="1" hangingPunct="1"/>
            <a:r>
              <a:rPr lang="pt-BR" altLang="pt-BR" sz="2200"/>
              <a:t>Colecionando impressões para quando tiver de transferi-las para a tela.</a:t>
            </a:r>
          </a:p>
        </p:txBody>
      </p:sp>
      <p:pic>
        <p:nvPicPr>
          <p:cNvPr id="40963" name="Picture 8" descr="MCj02960010000[1]">
            <a:extLst>
              <a:ext uri="{FF2B5EF4-FFF2-40B4-BE49-F238E27FC236}">
                <a16:creationId xmlns:a16="http://schemas.microsoft.com/office/drawing/2014/main" id="{7C51BFBA-F415-C2C9-17F7-A812A8844C0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143500" y="2571750"/>
            <a:ext cx="3416300" cy="2809875"/>
          </a:xfr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55142423-BC96-E977-14BA-B1BD49675AA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52762" y="1062037"/>
            <a:ext cx="7273926" cy="7207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altLang="pt-BR" kern="0" dirty="0"/>
              <a:t>PREPARAÇÃO</a:t>
            </a:r>
          </a:p>
        </p:txBody>
      </p:sp>
    </p:spTree>
  </p:cSld>
  <p:clrMapOvr>
    <a:masterClrMapping/>
  </p:clrMapOvr>
  <p:transition spd="slow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872F4992-327C-8B93-9175-D2D6E34D41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Paradoxo!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14292F2D-1134-F21F-885A-2DFB6F26112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pt-BR" altLang="pt-BR" sz="2400"/>
              <a:t>Para sermos criativos, precisamos nos </a:t>
            </a:r>
            <a:r>
              <a:rPr lang="pt-BR" altLang="pt-BR" sz="2400" u="sng"/>
              <a:t>familiarizarmos</a:t>
            </a:r>
            <a:r>
              <a:rPr lang="pt-BR" altLang="pt-BR" sz="2400"/>
              <a:t> com as </a:t>
            </a:r>
            <a:r>
              <a:rPr lang="pt-BR" altLang="pt-BR" sz="2400" u="sng"/>
              <a:t>idéias dos outros</a:t>
            </a:r>
            <a:r>
              <a:rPr lang="pt-BR" altLang="pt-BR" sz="2400"/>
              <a:t>!</a:t>
            </a:r>
          </a:p>
          <a:p>
            <a:pPr eaLnBrk="1" hangingPunct="1"/>
            <a:endParaRPr lang="pt-BR" altLang="pt-BR" sz="2400"/>
          </a:p>
        </p:txBody>
      </p:sp>
      <p:pic>
        <p:nvPicPr>
          <p:cNvPr id="43011" name="Espaço Reservado para Conteúdo 8" descr="woo-woo-big.jpg">
            <a:extLst>
              <a:ext uri="{FF2B5EF4-FFF2-40B4-BE49-F238E27FC236}">
                <a16:creationId xmlns:a16="http://schemas.microsoft.com/office/drawing/2014/main" id="{56B640A5-4105-5F53-465A-7C8D4309E09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14938" y="1571625"/>
            <a:ext cx="2705100" cy="4065588"/>
          </a:xfr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2D961D7-2C31-7989-A5D8-CA91B067F33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125787" y="1639887"/>
            <a:ext cx="7273926" cy="7207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altLang="pt-BR" kern="0" dirty="0"/>
              <a:t>PREPARAÇÃO</a:t>
            </a:r>
          </a:p>
        </p:txBody>
      </p:sp>
    </p:spTree>
  </p:cSld>
  <p:clrMapOvr>
    <a:masterClrMapping/>
  </p:clrMapOvr>
  <p:transition spd="slow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>
            <a:extLst>
              <a:ext uri="{FF2B5EF4-FFF2-40B4-BE49-F238E27FC236}">
                <a16:creationId xmlns:a16="http://schemas.microsoft.com/office/drawing/2014/main" id="{650A8564-E0F4-65DA-BE26-67B00814C1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Excesso de Temor</a:t>
            </a:r>
          </a:p>
        </p:txBody>
      </p:sp>
      <p:sp>
        <p:nvSpPr>
          <p:cNvPr id="45058" name="Rectangle 3">
            <a:extLst>
              <a:ext uri="{FF2B5EF4-FFF2-40B4-BE49-F238E27FC236}">
                <a16:creationId xmlns:a16="http://schemas.microsoft.com/office/drawing/2014/main" id="{1DB9598D-1F1B-28DF-77C9-974FAE64A45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44563" y="996950"/>
            <a:ext cx="3956050" cy="5400675"/>
          </a:xfrm>
        </p:spPr>
        <p:txBody>
          <a:bodyPr/>
          <a:lstStyle/>
          <a:p>
            <a:pPr eaLnBrk="1" hangingPunct="1"/>
            <a:r>
              <a:rPr lang="pt-BR" altLang="pt-BR" sz="2400"/>
              <a:t>Muitas vezes, a pessoa criativa pode ser </a:t>
            </a:r>
            <a:r>
              <a:rPr lang="pt-BR" altLang="pt-BR" sz="2400" u="sng"/>
              <a:t>atemorizada</a:t>
            </a:r>
            <a:r>
              <a:rPr lang="pt-BR" altLang="pt-BR" sz="2400"/>
              <a:t> por uma consciência demasiadamente rigorosa da </a:t>
            </a:r>
            <a:r>
              <a:rPr lang="pt-BR" altLang="pt-BR" sz="2400" u="sng"/>
              <a:t>amplitude da tarefa</a:t>
            </a:r>
            <a:r>
              <a:rPr lang="pt-BR" altLang="pt-BR" sz="2400"/>
              <a:t>.</a:t>
            </a:r>
          </a:p>
          <a:p>
            <a:pPr eaLnBrk="1" hangingPunct="1"/>
            <a:endParaRPr lang="pt-BR" altLang="pt-BR" sz="2400"/>
          </a:p>
        </p:txBody>
      </p:sp>
      <p:pic>
        <p:nvPicPr>
          <p:cNvPr id="45059" name="Picture 7" descr="C:\Documents and Settings\Gitirana\Configurações locais\Temporary Internet Files\Content.IE5\37YMQGT3\MCj03358900000[1].wmf">
            <a:extLst>
              <a:ext uri="{FF2B5EF4-FFF2-40B4-BE49-F238E27FC236}">
                <a16:creationId xmlns:a16="http://schemas.microsoft.com/office/drawing/2014/main" id="{C00718AB-B4D7-2BC4-4196-CA7B63CF213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5257800" y="2143125"/>
            <a:ext cx="2898775" cy="3416300"/>
          </a:xfr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9C1C270-50E4-6460-A256-2434857640E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52762" y="1062037"/>
            <a:ext cx="7273926" cy="7207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altLang="pt-BR" kern="0" dirty="0"/>
              <a:t>PREPARAÇÃO</a:t>
            </a:r>
          </a:p>
        </p:txBody>
      </p:sp>
    </p:spTree>
  </p:cSld>
  <p:clrMapOvr>
    <a:masterClrMapping/>
  </p:clrMapOvr>
  <p:transition spd="slow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>
            <a:extLst>
              <a:ext uri="{FF2B5EF4-FFF2-40B4-BE49-F238E27FC236}">
                <a16:creationId xmlns:a16="http://schemas.microsoft.com/office/drawing/2014/main" id="{4646F94A-C0BA-5FC3-8A12-243A8C58F6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Distinção</a:t>
            </a:r>
          </a:p>
        </p:txBody>
      </p:sp>
      <p:sp>
        <p:nvSpPr>
          <p:cNvPr id="47106" name="Rectangle 3">
            <a:extLst>
              <a:ext uri="{FF2B5EF4-FFF2-40B4-BE49-F238E27FC236}">
                <a16:creationId xmlns:a16="http://schemas.microsoft.com/office/drawing/2014/main" id="{8CDE2495-F37A-4078-3129-075F2B5CFE4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827088" y="981075"/>
            <a:ext cx="5432425" cy="5400675"/>
          </a:xfrm>
        </p:spPr>
        <p:txBody>
          <a:bodyPr/>
          <a:lstStyle/>
          <a:p>
            <a:pPr eaLnBrk="1" hangingPunct="1"/>
            <a:r>
              <a:rPr lang="pt-BR" altLang="pt-BR" sz="2400"/>
              <a:t>Deve-se distinguir </a:t>
            </a:r>
            <a:r>
              <a:rPr lang="pt-BR" altLang="pt-BR">
                <a:solidFill>
                  <a:srgbClr val="0070C0"/>
                </a:solidFill>
              </a:rPr>
              <a:t>toda </a:t>
            </a:r>
            <a:r>
              <a:rPr lang="pt-BR" altLang="pt-BR" u="sng">
                <a:solidFill>
                  <a:srgbClr val="0070C0"/>
                </a:solidFill>
              </a:rPr>
              <a:t>leitura</a:t>
            </a:r>
            <a:r>
              <a:rPr lang="pt-BR" altLang="pt-BR">
                <a:solidFill>
                  <a:srgbClr val="0070C0"/>
                </a:solidFill>
              </a:rPr>
              <a:t> ou </a:t>
            </a:r>
            <a:r>
              <a:rPr lang="pt-BR" altLang="pt-BR" u="sng">
                <a:solidFill>
                  <a:srgbClr val="0070C0"/>
                </a:solidFill>
              </a:rPr>
              <a:t>exploração</a:t>
            </a:r>
            <a:r>
              <a:rPr lang="pt-BR" altLang="pt-BR">
                <a:solidFill>
                  <a:srgbClr val="0070C0"/>
                </a:solidFill>
              </a:rPr>
              <a:t> feita </a:t>
            </a:r>
            <a:r>
              <a:rPr lang="pt-BR" altLang="pt-BR" u="sng">
                <a:solidFill>
                  <a:srgbClr val="0070C0"/>
                </a:solidFill>
              </a:rPr>
              <a:t>antes da primeira apreensão</a:t>
            </a:r>
            <a:r>
              <a:rPr lang="pt-BR" altLang="pt-BR">
                <a:solidFill>
                  <a:srgbClr val="0070C0"/>
                </a:solidFill>
              </a:rPr>
              <a:t>,</a:t>
            </a:r>
            <a:r>
              <a:rPr lang="pt-BR" altLang="pt-BR" sz="2400"/>
              <a:t> da que se efetua com o objetivo de investigar as possibilidades dessa apreensão.</a:t>
            </a:r>
          </a:p>
          <a:p>
            <a:pPr eaLnBrk="1" hangingPunct="1"/>
            <a:endParaRPr lang="pt-BR" altLang="pt-BR" sz="2400"/>
          </a:p>
        </p:txBody>
      </p:sp>
      <p:pic>
        <p:nvPicPr>
          <p:cNvPr id="47107" name="Picture 8" descr="MCj02920240000[1]">
            <a:extLst>
              <a:ext uri="{FF2B5EF4-FFF2-40B4-BE49-F238E27FC236}">
                <a16:creationId xmlns:a16="http://schemas.microsoft.com/office/drawing/2014/main" id="{24AA2BE0-3FD5-D2E7-A87C-4D4BD67819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675" y="2774950"/>
            <a:ext cx="3265488" cy="294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49B2A807-99F1-7E59-1D0D-57947D73D1B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52762" y="1062037"/>
            <a:ext cx="7273926" cy="7207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altLang="pt-BR" kern="0" dirty="0"/>
              <a:t>PREPARAÇÃO</a:t>
            </a:r>
          </a:p>
        </p:txBody>
      </p:sp>
    </p:spTree>
  </p:cSld>
  <p:clrMapOvr>
    <a:masterClrMapping/>
  </p:clrMapOvr>
  <p:transition spd="slow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>
            <a:extLst>
              <a:ext uri="{FF2B5EF4-FFF2-40B4-BE49-F238E27FC236}">
                <a16:creationId xmlns:a16="http://schemas.microsoft.com/office/drawing/2014/main" id="{A98CA3AD-976F-88F4-2FC9-E76105EAC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O Quê não Resta Dúvida</a:t>
            </a:r>
          </a:p>
        </p:txBody>
      </p:sp>
      <p:sp>
        <p:nvSpPr>
          <p:cNvPr id="49154" name="Rectangle 3">
            <a:extLst>
              <a:ext uri="{FF2B5EF4-FFF2-40B4-BE49-F238E27FC236}">
                <a16:creationId xmlns:a16="http://schemas.microsoft.com/office/drawing/2014/main" id="{E84666BC-9DB3-EB48-A852-762400ACC10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944563" y="1155700"/>
            <a:ext cx="4210050" cy="5238750"/>
          </a:xfrm>
        </p:spPr>
        <p:txBody>
          <a:bodyPr/>
          <a:lstStyle/>
          <a:p>
            <a:pPr eaLnBrk="1" hangingPunct="1"/>
            <a:r>
              <a:rPr lang="pt-BR" altLang="pt-BR" sz="2400" u="sng"/>
              <a:t>Após</a:t>
            </a:r>
            <a:r>
              <a:rPr lang="pt-BR" altLang="pt-BR" sz="2400"/>
              <a:t> ter-se </a:t>
            </a:r>
            <a:r>
              <a:rPr lang="pt-BR" altLang="pt-BR" sz="2400" u="sng"/>
              <a:t>familiarizado</a:t>
            </a:r>
            <a:r>
              <a:rPr lang="pt-BR" altLang="pt-BR" sz="2400"/>
              <a:t> com o </a:t>
            </a:r>
            <a:r>
              <a:rPr lang="pt-BR" altLang="pt-BR" sz="2400" u="sng"/>
              <a:t>trabalho alheios</a:t>
            </a:r>
            <a:r>
              <a:rPr lang="pt-BR" altLang="pt-BR" sz="2400"/>
              <a:t>, deve-se </a:t>
            </a:r>
            <a:r>
              <a:rPr lang="pt-BR" altLang="pt-BR" sz="2400" u="sng"/>
              <a:t>pô-lo de lado</a:t>
            </a:r>
            <a:r>
              <a:rPr lang="pt-BR" altLang="pt-BR" sz="2400"/>
              <a:t>,</a:t>
            </a:r>
          </a:p>
          <a:p>
            <a:pPr eaLnBrk="1" hangingPunct="1"/>
            <a:endParaRPr lang="pt-BR" altLang="pt-BR" sz="2400"/>
          </a:p>
          <a:p>
            <a:pPr lvl="1" eaLnBrk="1" hangingPunct="1"/>
            <a:r>
              <a:rPr lang="pt-BR" altLang="pt-BR" sz="2200"/>
              <a:t>Para que </a:t>
            </a:r>
            <a:r>
              <a:rPr lang="pt-BR" altLang="pt-BR" sz="2200" u="sng"/>
              <a:t>suas idéias ganhem liberdade</a:t>
            </a:r>
            <a:r>
              <a:rPr lang="pt-BR" altLang="pt-BR" sz="2200"/>
              <a:t> e </a:t>
            </a:r>
            <a:r>
              <a:rPr lang="pt-BR" altLang="pt-BR" sz="2200" u="sng"/>
              <a:t>se desenvolvam</a:t>
            </a:r>
            <a:r>
              <a:rPr lang="pt-BR" altLang="pt-BR" sz="2200"/>
              <a:t>.</a:t>
            </a:r>
          </a:p>
          <a:p>
            <a:pPr lvl="1" eaLnBrk="1" hangingPunct="1"/>
            <a:r>
              <a:rPr lang="pt-BR" altLang="pt-BR" sz="2200">
                <a:solidFill>
                  <a:srgbClr val="0070C0"/>
                </a:solidFill>
              </a:rPr>
              <a:t>A </a:t>
            </a:r>
            <a:r>
              <a:rPr lang="pt-BR" altLang="pt-BR" sz="2200" u="sng">
                <a:solidFill>
                  <a:srgbClr val="0070C0"/>
                </a:solidFill>
              </a:rPr>
              <a:t>preparação</a:t>
            </a:r>
            <a:r>
              <a:rPr lang="pt-BR" altLang="pt-BR" sz="2200">
                <a:solidFill>
                  <a:srgbClr val="0070C0"/>
                </a:solidFill>
              </a:rPr>
              <a:t> é apenas um </a:t>
            </a:r>
            <a:r>
              <a:rPr lang="pt-BR" altLang="pt-BR" sz="2200" u="sng">
                <a:solidFill>
                  <a:srgbClr val="0070C0"/>
                </a:solidFill>
              </a:rPr>
              <a:t>meio</a:t>
            </a:r>
            <a:r>
              <a:rPr lang="pt-BR" altLang="pt-BR" sz="2200">
                <a:solidFill>
                  <a:srgbClr val="0070C0"/>
                </a:solidFill>
              </a:rPr>
              <a:t> para atingir, como </a:t>
            </a:r>
            <a:r>
              <a:rPr lang="pt-BR" altLang="pt-BR" sz="2200" u="sng">
                <a:solidFill>
                  <a:srgbClr val="0070C0"/>
                </a:solidFill>
              </a:rPr>
              <a:t>fim</a:t>
            </a:r>
            <a:r>
              <a:rPr lang="pt-BR" altLang="pt-BR" sz="2200">
                <a:solidFill>
                  <a:srgbClr val="0070C0"/>
                </a:solidFill>
              </a:rPr>
              <a:t>, a </a:t>
            </a:r>
            <a:r>
              <a:rPr lang="pt-BR" altLang="pt-BR" sz="2200" u="sng">
                <a:solidFill>
                  <a:srgbClr val="0070C0"/>
                </a:solidFill>
              </a:rPr>
              <a:t>própria obra</a:t>
            </a:r>
            <a:r>
              <a:rPr lang="pt-BR" altLang="pt-BR" sz="2200">
                <a:solidFill>
                  <a:srgbClr val="0070C0"/>
                </a:solidFill>
              </a:rPr>
              <a:t>.</a:t>
            </a:r>
          </a:p>
          <a:p>
            <a:pPr lvl="1" eaLnBrk="1" hangingPunct="1"/>
            <a:endParaRPr lang="pt-BR" altLang="pt-BR" sz="2200"/>
          </a:p>
        </p:txBody>
      </p:sp>
      <p:pic>
        <p:nvPicPr>
          <p:cNvPr id="49155" name="Picture 9" descr="C:\Documents and Settings\Gitirana\Configurações locais\Temporary Internet Files\Content.IE5\4ADYWX42\MCBD06876_0000[1].wmf">
            <a:extLst>
              <a:ext uri="{FF2B5EF4-FFF2-40B4-BE49-F238E27FC236}">
                <a16:creationId xmlns:a16="http://schemas.microsoft.com/office/drawing/2014/main" id="{C15D248F-DAD4-E8FC-7346-4FE3B3681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3238" y="2273300"/>
            <a:ext cx="3106737" cy="278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E3D0CC36-E67E-E1B3-A394-583EC19E243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52762" y="1062037"/>
            <a:ext cx="7273926" cy="7207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altLang="pt-BR" kern="0" dirty="0"/>
              <a:t>PREPARAÇÃO</a:t>
            </a: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>
            <a:extLst>
              <a:ext uri="{FF2B5EF4-FFF2-40B4-BE49-F238E27FC236}">
                <a16:creationId xmlns:a16="http://schemas.microsoft.com/office/drawing/2014/main" id="{10174BDD-95B0-9853-05DD-8571F0A7E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Em Suma...</a:t>
            </a:r>
          </a:p>
        </p:txBody>
      </p:sp>
      <p:sp>
        <p:nvSpPr>
          <p:cNvPr id="51202" name="Rectangle 3">
            <a:extLst>
              <a:ext uri="{FF2B5EF4-FFF2-40B4-BE49-F238E27FC236}">
                <a16:creationId xmlns:a16="http://schemas.microsoft.com/office/drawing/2014/main" id="{AA7874D3-A1E2-15C2-2766-9EA435C9B53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87463" y="1000125"/>
            <a:ext cx="3956050" cy="5400675"/>
          </a:xfrm>
        </p:spPr>
        <p:txBody>
          <a:bodyPr/>
          <a:lstStyle/>
          <a:p>
            <a:pPr eaLnBrk="1" hangingPunct="1"/>
            <a:r>
              <a:rPr lang="pt-BR" altLang="pt-BR" sz="2400"/>
              <a:t>O pintor, o poeta, o dançarina, o desenhista, professor, todos enfim que podem criar, devem </a:t>
            </a:r>
            <a:r>
              <a:rPr lang="pt-BR" altLang="pt-BR" sz="2400" u="sng"/>
              <a:t>se submeter</a:t>
            </a:r>
            <a:r>
              <a:rPr lang="pt-BR" altLang="pt-BR" sz="2400"/>
              <a:t> à </a:t>
            </a:r>
            <a:r>
              <a:rPr lang="pt-BR" altLang="pt-BR" sz="2400" u="sng"/>
              <a:t>disciplina de sua arte</a:t>
            </a:r>
            <a:r>
              <a:rPr lang="pt-BR" altLang="pt-BR" sz="2400"/>
              <a:t>.</a:t>
            </a:r>
          </a:p>
          <a:p>
            <a:pPr lvl="1" eaLnBrk="1" hangingPunct="1"/>
            <a:endParaRPr lang="pt-BR" altLang="pt-BR" sz="2200"/>
          </a:p>
        </p:txBody>
      </p:sp>
      <p:pic>
        <p:nvPicPr>
          <p:cNvPr id="51203" name="Picture 7" descr="FatBallet">
            <a:extLst>
              <a:ext uri="{FF2B5EF4-FFF2-40B4-BE49-F238E27FC236}">
                <a16:creationId xmlns:a16="http://schemas.microsoft.com/office/drawing/2014/main" id="{B09ECD38-B4A2-A229-D2BA-10FC3EADDC4B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29250" y="1000125"/>
            <a:ext cx="2243138" cy="5164138"/>
          </a:xfr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06E6EDEB-D2B2-A84A-388D-62786977C181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52762" y="1062037"/>
            <a:ext cx="7273926" cy="7207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altLang="pt-BR" kern="0" dirty="0"/>
              <a:t>PREPARAÇÃO</a:t>
            </a: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>
            <a:extLst>
              <a:ext uri="{FF2B5EF4-FFF2-40B4-BE49-F238E27FC236}">
                <a16:creationId xmlns:a16="http://schemas.microsoft.com/office/drawing/2014/main" id="{8F6B6668-FCE1-2251-8FA8-73043FF2B1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Outra Coisa Importante!</a:t>
            </a:r>
          </a:p>
        </p:txBody>
      </p:sp>
      <p:sp>
        <p:nvSpPr>
          <p:cNvPr id="53250" name="Rectangle 3">
            <a:extLst>
              <a:ext uri="{FF2B5EF4-FFF2-40B4-BE49-F238E27FC236}">
                <a16:creationId xmlns:a16="http://schemas.microsoft.com/office/drawing/2014/main" id="{2FCF4F63-B8E8-F929-705C-AAA5C237E86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665163" y="887413"/>
            <a:ext cx="4210050" cy="5238750"/>
          </a:xfrm>
        </p:spPr>
        <p:txBody>
          <a:bodyPr/>
          <a:lstStyle/>
          <a:p>
            <a:pPr eaLnBrk="1" hangingPunct="1"/>
            <a:r>
              <a:rPr lang="pt-BR" altLang="pt-BR" sz="2400"/>
              <a:t>A preparação para uma tarefa criadora específica deve seguir ou acompanhar a efetiva </a:t>
            </a:r>
            <a:r>
              <a:rPr lang="pt-BR" altLang="pt-BR" sz="2400" u="sng"/>
              <a:t>preparação</a:t>
            </a:r>
            <a:r>
              <a:rPr lang="pt-BR" altLang="pt-BR" sz="2400"/>
              <a:t> no meio criador.</a:t>
            </a:r>
          </a:p>
        </p:txBody>
      </p:sp>
      <p:sp>
        <p:nvSpPr>
          <p:cNvPr id="53251" name="Rectangle 10">
            <a:extLst>
              <a:ext uri="{FF2B5EF4-FFF2-40B4-BE49-F238E27FC236}">
                <a16:creationId xmlns:a16="http://schemas.microsoft.com/office/drawing/2014/main" id="{25CA8CB9-5DCE-4557-B0FD-D302F9B0161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lvl="1" eaLnBrk="1" hangingPunct="1"/>
            <a:r>
              <a:rPr lang="pt-BR" altLang="pt-BR" sz="3200">
                <a:solidFill>
                  <a:srgbClr val="FF0000"/>
                </a:solidFill>
              </a:rPr>
              <a:t>Criação requer </a:t>
            </a:r>
            <a:r>
              <a:rPr lang="pt-BR" altLang="pt-BR" sz="3200" u="sng">
                <a:solidFill>
                  <a:srgbClr val="FF0000"/>
                </a:solidFill>
              </a:rPr>
              <a:t>técnica</a:t>
            </a:r>
            <a:r>
              <a:rPr lang="pt-BR" altLang="pt-BR" sz="3200">
                <a:solidFill>
                  <a:srgbClr val="FF0000"/>
                </a:solidFill>
              </a:rPr>
              <a:t>!</a:t>
            </a:r>
          </a:p>
          <a:p>
            <a:pPr eaLnBrk="1" hangingPunct="1"/>
            <a:endParaRPr lang="pt-BR" altLang="pt-BR" sz="2400"/>
          </a:p>
        </p:txBody>
      </p:sp>
      <p:pic>
        <p:nvPicPr>
          <p:cNvPr id="53252" name="Picture 9" descr="demoiselle2">
            <a:extLst>
              <a:ext uri="{FF2B5EF4-FFF2-40B4-BE49-F238E27FC236}">
                <a16:creationId xmlns:a16="http://schemas.microsoft.com/office/drawing/2014/main" id="{977D1F61-BDD5-411A-36D9-C4C1D72F3A0A}"/>
              </a:ext>
            </a:extLst>
          </p:cNvPr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43313" y="3071813"/>
            <a:ext cx="4686300" cy="2635250"/>
          </a:xfr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61626FF-906F-35C6-56D2-17622F3746E7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52762" y="1062037"/>
            <a:ext cx="7273926" cy="7207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altLang="pt-BR" kern="0" dirty="0"/>
              <a:t>PREPARAÇÃO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ítulo 1">
            <a:extLst>
              <a:ext uri="{FF2B5EF4-FFF2-40B4-BE49-F238E27FC236}">
                <a16:creationId xmlns:a16="http://schemas.microsoft.com/office/drawing/2014/main" id="{0136DFE1-1741-FC5A-AE29-76354E6B30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Sumário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67CBB6-BFCC-3DFE-701C-B459FB8CC9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Definição de criatividade</a:t>
            </a:r>
          </a:p>
          <a:p>
            <a:pPr>
              <a:defRPr/>
            </a:pPr>
            <a:r>
              <a:rPr lang="pt-BR" dirty="0"/>
              <a:t>O processo criativo</a:t>
            </a:r>
          </a:p>
          <a:p>
            <a:pPr lvl="1">
              <a:defRPr/>
            </a:pPr>
            <a:r>
              <a:rPr lang="pt-BR" sz="2200" dirty="0">
                <a:solidFill>
                  <a:schemeClr val="accent2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Primeira apreensão</a:t>
            </a:r>
          </a:p>
          <a:p>
            <a:pPr lvl="1">
              <a:defRPr/>
            </a:pPr>
            <a:r>
              <a:rPr lang="pt-BR" sz="2200" dirty="0">
                <a:solidFill>
                  <a:schemeClr val="accent2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Preparação</a:t>
            </a:r>
          </a:p>
          <a:p>
            <a:pPr lvl="1">
              <a:defRPr/>
            </a:pPr>
            <a:r>
              <a:rPr lang="pt-BR" sz="2200" dirty="0">
                <a:ea typeface="+mn-ea"/>
                <a:cs typeface="+mn-cs"/>
              </a:rPr>
              <a:t>Incubação</a:t>
            </a:r>
          </a:p>
          <a:p>
            <a:pPr lvl="1">
              <a:defRPr/>
            </a:pPr>
            <a:r>
              <a:rPr lang="pt-BR" sz="2200" dirty="0">
                <a:solidFill>
                  <a:schemeClr val="accent2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Iluminação</a:t>
            </a:r>
          </a:p>
          <a:p>
            <a:pPr lvl="1">
              <a:defRPr/>
            </a:pPr>
            <a:r>
              <a:rPr lang="pt-BR" sz="2200" dirty="0">
                <a:solidFill>
                  <a:schemeClr val="accent2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Verificação</a:t>
            </a:r>
          </a:p>
          <a:p>
            <a:pPr>
              <a:defRPr/>
            </a:pPr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Barreiras à criatividade</a:t>
            </a:r>
          </a:p>
          <a:p>
            <a:pPr>
              <a:defRPr/>
            </a:pPr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Métodos e ferramentas</a:t>
            </a:r>
          </a:p>
          <a:p>
            <a:pPr lvl="1">
              <a:defRPr/>
            </a:pPr>
            <a:endParaRPr lang="pt-BR" sz="1800" dirty="0"/>
          </a:p>
          <a:p>
            <a:pPr lvl="1">
              <a:defRPr/>
            </a:pPr>
            <a:endParaRPr lang="pt-BR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C1CC5681-5C18-65CB-5689-FA518323ED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2. INCUBAÇÃO</a:t>
            </a:r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CAF833A7-09EA-CE15-9445-8AA8CF39F03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pt-BR" altLang="pt-BR" sz="2400"/>
              <a:t>Depois do consciente realizar a sua tarefa (preparação), chega a hora do </a:t>
            </a:r>
            <a:r>
              <a:rPr lang="pt-BR" altLang="pt-BR" sz="2400" u="sng"/>
              <a:t>inconsciente</a:t>
            </a:r>
            <a:r>
              <a:rPr lang="pt-BR" altLang="pt-BR" sz="2400"/>
              <a:t> </a:t>
            </a:r>
            <a:r>
              <a:rPr lang="pt-BR" altLang="pt-BR" sz="2400" u="sng"/>
              <a:t>entrar em ação</a:t>
            </a:r>
            <a:r>
              <a:rPr lang="pt-BR" altLang="pt-BR" sz="2400"/>
              <a:t>.</a:t>
            </a:r>
          </a:p>
          <a:p>
            <a:pPr lvl="1" eaLnBrk="1" hangingPunct="1"/>
            <a:r>
              <a:rPr lang="pt-BR" altLang="pt-BR" sz="2200">
                <a:solidFill>
                  <a:srgbClr val="00B050"/>
                </a:solidFill>
              </a:rPr>
              <a:t>O inconsciente, </a:t>
            </a:r>
            <a:r>
              <a:rPr lang="pt-BR" altLang="pt-BR" sz="2200" u="sng">
                <a:solidFill>
                  <a:srgbClr val="00B050"/>
                </a:solidFill>
              </a:rPr>
              <a:t>livre dos limites</a:t>
            </a:r>
            <a:r>
              <a:rPr lang="pt-BR" altLang="pt-BR" sz="2200">
                <a:solidFill>
                  <a:srgbClr val="00B050"/>
                </a:solidFill>
              </a:rPr>
              <a:t>, realiza as inesperadas </a:t>
            </a:r>
            <a:r>
              <a:rPr lang="pt-BR" altLang="pt-BR" sz="2200" u="sng">
                <a:solidFill>
                  <a:srgbClr val="00B050"/>
                </a:solidFill>
              </a:rPr>
              <a:t>conexões</a:t>
            </a:r>
            <a:r>
              <a:rPr lang="pt-BR" altLang="pt-BR" sz="2200">
                <a:solidFill>
                  <a:srgbClr val="00B050"/>
                </a:solidFill>
              </a:rPr>
              <a:t> que constituem a </a:t>
            </a:r>
            <a:r>
              <a:rPr lang="pt-BR" altLang="pt-BR" sz="2200" u="sng">
                <a:solidFill>
                  <a:srgbClr val="00B050"/>
                </a:solidFill>
              </a:rPr>
              <a:t>essência  da criação</a:t>
            </a:r>
            <a:r>
              <a:rPr lang="pt-BR" altLang="pt-BR" sz="2200">
                <a:solidFill>
                  <a:srgbClr val="00B050"/>
                </a:solidFill>
              </a:rPr>
              <a:t>.</a:t>
            </a:r>
          </a:p>
        </p:txBody>
      </p:sp>
      <p:pic>
        <p:nvPicPr>
          <p:cNvPr id="56323" name="Espaço Reservado para Conteúdo 8" descr="intuition,0.jpg">
            <a:extLst>
              <a:ext uri="{FF2B5EF4-FFF2-40B4-BE49-F238E27FC236}">
                <a16:creationId xmlns:a16="http://schemas.microsoft.com/office/drawing/2014/main" id="{E0AD6BE1-9CFE-598E-116A-9BED289DAA2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00625" y="1857375"/>
            <a:ext cx="3060700" cy="3443288"/>
          </a:xfr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2A065FE8-EA0D-D5C0-F2FA-244D394411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Quanto Dura?</a:t>
            </a:r>
          </a:p>
        </p:txBody>
      </p:sp>
      <p:sp>
        <p:nvSpPr>
          <p:cNvPr id="58370" name="Rectangle 7">
            <a:extLst>
              <a:ext uri="{FF2B5EF4-FFF2-40B4-BE49-F238E27FC236}">
                <a16:creationId xmlns:a16="http://schemas.microsoft.com/office/drawing/2014/main" id="{EEDAF4D1-45EE-8AA8-ACAF-B0411B1D5B5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pt-BR" altLang="pt-BR" sz="2400"/>
              <a:t>O período de incubação pode ser </a:t>
            </a:r>
            <a:r>
              <a:rPr lang="pt-BR" altLang="pt-BR" sz="2400" u="sng"/>
              <a:t>longo</a:t>
            </a:r>
            <a:r>
              <a:rPr lang="pt-BR" altLang="pt-BR" sz="2400"/>
              <a:t> ou ser </a:t>
            </a:r>
            <a:r>
              <a:rPr lang="pt-BR" altLang="pt-BR" sz="2400" u="sng"/>
              <a:t>curto</a:t>
            </a:r>
            <a:r>
              <a:rPr lang="pt-BR" altLang="pt-BR" sz="2400"/>
              <a:t>, mas </a:t>
            </a:r>
            <a:r>
              <a:rPr lang="pt-BR" altLang="pt-BR" sz="2400" u="sng"/>
              <a:t>deve existir</a:t>
            </a:r>
            <a:r>
              <a:rPr lang="pt-BR" altLang="pt-BR" sz="2400"/>
              <a:t>.</a:t>
            </a:r>
          </a:p>
          <a:p>
            <a:pPr eaLnBrk="1" hangingPunct="1"/>
            <a:r>
              <a:rPr lang="pt-BR" altLang="pt-BR" sz="2400"/>
              <a:t>A </a:t>
            </a:r>
            <a:r>
              <a:rPr lang="pt-BR" altLang="pt-BR" sz="2400" u="sng"/>
              <a:t>inspiração</a:t>
            </a:r>
            <a:r>
              <a:rPr lang="pt-BR" altLang="pt-BR" sz="2400"/>
              <a:t> não pode vir sem o trabalho do inconsciente.</a:t>
            </a:r>
          </a:p>
          <a:p>
            <a:pPr lvl="1" eaLnBrk="1" hangingPunct="1"/>
            <a:r>
              <a:rPr lang="pt-BR" altLang="pt-BR" sz="2200"/>
              <a:t>Seja por </a:t>
            </a:r>
            <a:r>
              <a:rPr lang="pt-BR" altLang="pt-BR" sz="2200" u="sng"/>
              <a:t>seis meses</a:t>
            </a:r>
            <a:r>
              <a:rPr lang="pt-BR" altLang="pt-BR" sz="2200"/>
              <a:t>, </a:t>
            </a:r>
            <a:r>
              <a:rPr lang="pt-BR" altLang="pt-BR" sz="2200" u="sng"/>
              <a:t>seis horas</a:t>
            </a:r>
            <a:r>
              <a:rPr lang="pt-BR" altLang="pt-BR" sz="2200"/>
              <a:t>, </a:t>
            </a:r>
            <a:r>
              <a:rPr lang="pt-BR" altLang="pt-BR" sz="2200" u="sng"/>
              <a:t>seis minutos</a:t>
            </a:r>
            <a:r>
              <a:rPr lang="pt-BR" altLang="pt-BR" sz="2200"/>
              <a:t>.</a:t>
            </a:r>
          </a:p>
        </p:txBody>
      </p:sp>
      <p:pic>
        <p:nvPicPr>
          <p:cNvPr id="58371" name="Picture 10" descr="C:\Documents and Settings\Gitirana\Configurações locais\Temporary Internet Files\Content.IE5\JYFVB74M\MCBS00935_0000[1].wmf">
            <a:extLst>
              <a:ext uri="{FF2B5EF4-FFF2-40B4-BE49-F238E27FC236}">
                <a16:creationId xmlns:a16="http://schemas.microsoft.com/office/drawing/2014/main" id="{3F64AF93-45C7-6AD6-DBFB-944A5CA85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063" y="2000250"/>
            <a:ext cx="3046412" cy="3182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390D2AEA-8A6A-170D-88E9-A5FB5E320AC3}"/>
              </a:ext>
            </a:extLst>
          </p:cNvPr>
          <p:cNvSpPr txBox="1">
            <a:spLocks noChangeArrowheads="1"/>
          </p:cNvSpPr>
          <p:nvPr/>
        </p:nvSpPr>
        <p:spPr bwMode="auto">
          <a:xfrm rot="16041821">
            <a:off x="-3427413" y="777875"/>
            <a:ext cx="7273925" cy="720726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altLang="pt-BR" kern="0"/>
              <a:t>2. INCUBAÇÃO</a:t>
            </a:r>
            <a:endParaRPr lang="pt-BR" altLang="pt-BR" kern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>
            <a:extLst>
              <a:ext uri="{FF2B5EF4-FFF2-40B4-BE49-F238E27FC236}">
                <a16:creationId xmlns:a16="http://schemas.microsoft.com/office/drawing/2014/main" id="{48EA6042-3559-6CC3-50BF-71B26C7087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Angústia, Inquietude, ...</a:t>
            </a:r>
          </a:p>
        </p:txBody>
      </p:sp>
      <p:sp>
        <p:nvSpPr>
          <p:cNvPr id="59394" name="Rectangle 3">
            <a:extLst>
              <a:ext uri="{FF2B5EF4-FFF2-40B4-BE49-F238E27FC236}">
                <a16:creationId xmlns:a16="http://schemas.microsoft.com/office/drawing/2014/main" id="{18945C6D-F74A-2422-7E2A-621F86980E0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11175" y="981075"/>
            <a:ext cx="4775200" cy="5440363"/>
          </a:xfrm>
        </p:spPr>
        <p:txBody>
          <a:bodyPr/>
          <a:lstStyle/>
          <a:p>
            <a:pPr eaLnBrk="1" hangingPunct="1"/>
            <a:r>
              <a:rPr lang="pt-BR" altLang="pt-BR" sz="2400"/>
              <a:t>Esse período pode ser </a:t>
            </a:r>
            <a:r>
              <a:rPr lang="pt-BR" altLang="pt-BR" sz="2400" u="sng"/>
              <a:t>arriscado</a:t>
            </a:r>
            <a:r>
              <a:rPr lang="pt-BR" altLang="pt-BR" sz="2400"/>
              <a:t> e </a:t>
            </a:r>
            <a:r>
              <a:rPr lang="pt-BR" altLang="pt-BR" sz="2400" u="sng"/>
              <a:t>desanimador</a:t>
            </a:r>
            <a:r>
              <a:rPr lang="pt-BR" altLang="pt-BR" sz="2400"/>
              <a:t>, a ponto do criador perder de vista o seu alvo.</a:t>
            </a:r>
          </a:p>
          <a:p>
            <a:pPr lvl="1" eaLnBrk="1" hangingPunct="1"/>
            <a:r>
              <a:rPr lang="pt-BR" altLang="pt-BR" sz="2200" i="1"/>
              <a:t>“A inquietude do artista em sua procura pela inspiração”.</a:t>
            </a:r>
            <a:r>
              <a:rPr lang="pt-BR" altLang="pt-BR" sz="2200"/>
              <a:t> (Thomas Mann)</a:t>
            </a:r>
            <a:r>
              <a:rPr lang="pt-BR" altLang="pt-BR" sz="2000"/>
              <a:t> </a:t>
            </a:r>
          </a:p>
          <a:p>
            <a:pPr lvl="1" eaLnBrk="1" hangingPunct="1"/>
            <a:endParaRPr lang="pt-BR" altLang="pt-BR" sz="2000"/>
          </a:p>
          <a:p>
            <a:pPr lvl="1" eaLnBrk="1" hangingPunct="1"/>
            <a:r>
              <a:rPr lang="pt-BR" altLang="pt-BR" sz="3200" b="1">
                <a:solidFill>
                  <a:srgbClr val="FF0000"/>
                </a:solidFill>
              </a:rPr>
              <a:t>Ser criativo exige uma certa dose de obstinação</a:t>
            </a:r>
          </a:p>
        </p:txBody>
      </p:sp>
      <p:pic>
        <p:nvPicPr>
          <p:cNvPr id="59395" name="Picture 7" descr="C:\Documents and Settings\Gitirana\Configurações locais\Temporary Internet Files\Content.IE5\53Y54Q6K\MPj04015670000[1].jpg">
            <a:extLst>
              <a:ext uri="{FF2B5EF4-FFF2-40B4-BE49-F238E27FC236}">
                <a16:creationId xmlns:a16="http://schemas.microsoft.com/office/drawing/2014/main" id="{2238E6C4-2009-BE14-793E-331C70A5D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100" y="1720850"/>
            <a:ext cx="2643188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8923241E-FAB4-C0FB-857D-ACE10A769422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276600" y="920750"/>
            <a:ext cx="7273925" cy="7207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altLang="pt-BR" kern="0"/>
              <a:t>2. INCUBAÇÃO</a:t>
            </a:r>
            <a:endParaRPr lang="pt-BR" altLang="pt-BR" kern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2">
            <a:extLst>
              <a:ext uri="{FF2B5EF4-FFF2-40B4-BE49-F238E27FC236}">
                <a16:creationId xmlns:a16="http://schemas.microsoft.com/office/drawing/2014/main" id="{A6C6EA06-EF95-EC4B-05A4-02B8E6678F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Divisão Artificial</a:t>
            </a:r>
          </a:p>
        </p:txBody>
      </p:sp>
      <p:sp>
        <p:nvSpPr>
          <p:cNvPr id="61442" name="Rectangle 3">
            <a:extLst>
              <a:ext uri="{FF2B5EF4-FFF2-40B4-BE49-F238E27FC236}">
                <a16:creationId xmlns:a16="http://schemas.microsoft.com/office/drawing/2014/main" id="{F3B9458B-5A5B-1897-F21E-4DB41BC7CA6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11175" y="981075"/>
            <a:ext cx="4792663" cy="5400675"/>
          </a:xfrm>
        </p:spPr>
        <p:txBody>
          <a:bodyPr/>
          <a:lstStyle/>
          <a:p>
            <a:pPr eaLnBrk="1" hangingPunct="1"/>
            <a:r>
              <a:rPr lang="pt-BR" altLang="pt-BR" sz="2400"/>
              <a:t>Embora logicamente distintas, a </a:t>
            </a:r>
            <a:r>
              <a:rPr lang="pt-BR" altLang="pt-BR" sz="2400" u="sng"/>
              <a:t>p</a:t>
            </a:r>
            <a:r>
              <a:rPr lang="pt-BR" altLang="pt-BR" sz="2400" u="sng">
                <a:solidFill>
                  <a:srgbClr val="00B050"/>
                </a:solidFill>
              </a:rPr>
              <a:t>reparação</a:t>
            </a:r>
            <a:r>
              <a:rPr lang="pt-BR" altLang="pt-BR" sz="2400"/>
              <a:t> e a </a:t>
            </a:r>
            <a:r>
              <a:rPr lang="pt-BR" altLang="pt-BR" sz="2400" u="sng">
                <a:solidFill>
                  <a:srgbClr val="00B050"/>
                </a:solidFill>
              </a:rPr>
              <a:t>incubação</a:t>
            </a:r>
            <a:r>
              <a:rPr lang="pt-BR" altLang="pt-BR" sz="2400">
                <a:solidFill>
                  <a:srgbClr val="00B050"/>
                </a:solidFill>
              </a:rPr>
              <a:t> raramente são divididas de modo tão nítido.</a:t>
            </a:r>
          </a:p>
        </p:txBody>
      </p:sp>
      <p:pic>
        <p:nvPicPr>
          <p:cNvPr id="61443" name="Picture 3" descr="C:\Documents and Settings\Gitirana\Configurações locais\Temporary Internet Files\Content.IE5\U54ARYXS\MCj02150510000[1].wmf">
            <a:extLst>
              <a:ext uri="{FF2B5EF4-FFF2-40B4-BE49-F238E27FC236}">
                <a16:creationId xmlns:a16="http://schemas.microsoft.com/office/drawing/2014/main" id="{E082A6E1-3AD3-368D-7DE8-B61DEA79EF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200" y="1930400"/>
            <a:ext cx="2605088" cy="35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4875A38-AD7C-A3DA-C456-2B95607C6A99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276600" y="984250"/>
            <a:ext cx="7273925" cy="7207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altLang="pt-BR" kern="0"/>
              <a:t>2. INCUBAÇÃO</a:t>
            </a:r>
            <a:endParaRPr lang="pt-BR" altLang="pt-BR" kern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ítulo 1">
            <a:extLst>
              <a:ext uri="{FF2B5EF4-FFF2-40B4-BE49-F238E27FC236}">
                <a16:creationId xmlns:a16="http://schemas.microsoft.com/office/drawing/2014/main" id="{10E84B71-E11A-7A7B-690F-4818429250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Sumário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31B07F-C3BE-5BEA-2DB2-DA08F8FD0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Definição de criatividade</a:t>
            </a:r>
          </a:p>
          <a:p>
            <a:pPr>
              <a:defRPr/>
            </a:pPr>
            <a:r>
              <a:rPr lang="pt-BR" dirty="0"/>
              <a:t>O processo criativo</a:t>
            </a:r>
          </a:p>
          <a:p>
            <a:pPr lvl="1">
              <a:defRPr/>
            </a:pPr>
            <a:r>
              <a:rPr lang="pt-BR" sz="2200" dirty="0">
                <a:solidFill>
                  <a:schemeClr val="accent2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Primeira apreensão</a:t>
            </a:r>
          </a:p>
          <a:p>
            <a:pPr lvl="1">
              <a:defRPr/>
            </a:pPr>
            <a:r>
              <a:rPr lang="pt-BR" sz="2200" dirty="0">
                <a:solidFill>
                  <a:schemeClr val="accent2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Preparação</a:t>
            </a:r>
          </a:p>
          <a:p>
            <a:pPr lvl="1">
              <a:defRPr/>
            </a:pPr>
            <a:r>
              <a:rPr lang="pt-BR" sz="2200" dirty="0">
                <a:solidFill>
                  <a:schemeClr val="accent2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Incubação</a:t>
            </a:r>
          </a:p>
          <a:p>
            <a:pPr lvl="1">
              <a:defRPr/>
            </a:pPr>
            <a:r>
              <a:rPr lang="pt-BR" sz="2200" dirty="0">
                <a:ea typeface="+mn-ea"/>
                <a:cs typeface="+mn-cs"/>
              </a:rPr>
              <a:t>Iluminação</a:t>
            </a:r>
          </a:p>
          <a:p>
            <a:pPr lvl="1">
              <a:defRPr/>
            </a:pPr>
            <a:r>
              <a:rPr lang="pt-BR" sz="2200" dirty="0">
                <a:solidFill>
                  <a:schemeClr val="accent2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Verificação</a:t>
            </a:r>
          </a:p>
          <a:p>
            <a:pPr>
              <a:defRPr/>
            </a:pPr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Barreiras à criatividade</a:t>
            </a:r>
          </a:p>
          <a:p>
            <a:pPr>
              <a:defRPr/>
            </a:pPr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Métodos e ferramentas</a:t>
            </a:r>
          </a:p>
          <a:p>
            <a:pPr lvl="1">
              <a:defRPr/>
            </a:pPr>
            <a:endParaRPr lang="pt-BR" dirty="0"/>
          </a:p>
          <a:p>
            <a:pPr lvl="1">
              <a:defRPr/>
            </a:pPr>
            <a:endParaRPr lang="pt-BR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26043E03-6B5A-B8E5-1350-42DE50F650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3. ILUMINAÇÃO</a:t>
            </a:r>
          </a:p>
        </p:txBody>
      </p:sp>
      <p:sp>
        <p:nvSpPr>
          <p:cNvPr id="64514" name="Rectangle 8">
            <a:extLst>
              <a:ext uri="{FF2B5EF4-FFF2-40B4-BE49-F238E27FC236}">
                <a16:creationId xmlns:a16="http://schemas.microsoft.com/office/drawing/2014/main" id="{6B9648F4-9EDC-2883-44A5-4EBB822665A8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11175" y="981075"/>
            <a:ext cx="4860925" cy="5400675"/>
          </a:xfrm>
        </p:spPr>
        <p:txBody>
          <a:bodyPr/>
          <a:lstStyle/>
          <a:p>
            <a:pPr eaLnBrk="1" hangingPunct="1"/>
            <a:r>
              <a:rPr lang="pt-BR" altLang="pt-BR" sz="2400"/>
              <a:t>O </a:t>
            </a:r>
            <a:r>
              <a:rPr lang="pt-BR" altLang="pt-BR" sz="2400">
                <a:solidFill>
                  <a:srgbClr val="00B050"/>
                </a:solidFill>
              </a:rPr>
              <a:t>momento da iluminação </a:t>
            </a:r>
            <a:r>
              <a:rPr lang="pt-BR" altLang="pt-BR" sz="2400"/>
              <a:t>leva o processo de criação a um </a:t>
            </a:r>
            <a:r>
              <a:rPr lang="pt-BR" altLang="pt-BR" sz="2400" u="sng"/>
              <a:t>clímax</a:t>
            </a:r>
            <a:r>
              <a:rPr lang="pt-BR" altLang="pt-BR" sz="2400"/>
              <a:t>.</a:t>
            </a:r>
          </a:p>
          <a:p>
            <a:pPr lvl="1" eaLnBrk="1" hangingPunct="1"/>
            <a:r>
              <a:rPr lang="pt-BR" altLang="pt-BR" sz="2200"/>
              <a:t>De repente, o criador </a:t>
            </a:r>
            <a:r>
              <a:rPr lang="pt-BR" altLang="pt-BR" sz="2200" u="sng"/>
              <a:t>percebe</a:t>
            </a:r>
            <a:r>
              <a:rPr lang="pt-BR" altLang="pt-BR" sz="2200"/>
              <a:t> a </a:t>
            </a:r>
            <a:r>
              <a:rPr lang="pt-BR" altLang="pt-BR" sz="2200" u="sng"/>
              <a:t>solução</a:t>
            </a:r>
            <a:r>
              <a:rPr lang="pt-BR" altLang="pt-BR" sz="2200"/>
              <a:t> do seu problema.</a:t>
            </a:r>
          </a:p>
          <a:p>
            <a:pPr lvl="1" eaLnBrk="1" hangingPunct="1"/>
            <a:r>
              <a:rPr lang="pt-BR" altLang="pt-BR" sz="2200">
                <a:solidFill>
                  <a:srgbClr val="00B050"/>
                </a:solidFill>
              </a:rPr>
              <a:t>No momento de inspiração “</a:t>
            </a:r>
            <a:r>
              <a:rPr lang="pt-BR" altLang="pt-BR" sz="2200" u="sng">
                <a:solidFill>
                  <a:srgbClr val="00B050"/>
                </a:solidFill>
              </a:rPr>
              <a:t>tudo se encaixa</a:t>
            </a:r>
            <a:r>
              <a:rPr lang="pt-BR" altLang="pt-BR" sz="2200">
                <a:solidFill>
                  <a:srgbClr val="00B050"/>
                </a:solidFill>
              </a:rPr>
              <a:t>”.</a:t>
            </a:r>
          </a:p>
        </p:txBody>
      </p:sp>
      <p:pic>
        <p:nvPicPr>
          <p:cNvPr id="64515" name="Picture 11" descr="ideia">
            <a:extLst>
              <a:ext uri="{FF2B5EF4-FFF2-40B4-BE49-F238E27FC236}">
                <a16:creationId xmlns:a16="http://schemas.microsoft.com/office/drawing/2014/main" id="{445D4B02-86B8-3C98-C1C2-C14053CDE896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76825" y="2420938"/>
            <a:ext cx="3168650" cy="2894012"/>
          </a:xfr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F964FEE1-A0EE-437A-B8D8-E03E8BB380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Newton</a:t>
            </a:r>
          </a:p>
        </p:txBody>
      </p:sp>
      <p:pic>
        <p:nvPicPr>
          <p:cNvPr id="66562" name="Espaço Reservado para Conteúdo 7" descr="171.gif">
            <a:extLst>
              <a:ext uri="{FF2B5EF4-FFF2-40B4-BE49-F238E27FC236}">
                <a16:creationId xmlns:a16="http://schemas.microsoft.com/office/drawing/2014/main" id="{DC621EA4-8FB3-11D1-56E7-5BC943E8B62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71750" y="1357313"/>
            <a:ext cx="4429125" cy="4605337"/>
          </a:xfrm>
        </p:spPr>
      </p:pic>
      <p:sp>
        <p:nvSpPr>
          <p:cNvPr id="9" name="Texto explicativo em forma de nuvem 8">
            <a:extLst>
              <a:ext uri="{FF2B5EF4-FFF2-40B4-BE49-F238E27FC236}">
                <a16:creationId xmlns:a16="http://schemas.microsoft.com/office/drawing/2014/main" id="{FA05EB79-8C2B-CBAB-6DAD-210D6459ED36}"/>
              </a:ext>
            </a:extLst>
          </p:cNvPr>
          <p:cNvSpPr/>
          <p:nvPr/>
        </p:nvSpPr>
        <p:spPr bwMode="auto">
          <a:xfrm>
            <a:off x="714375" y="1071563"/>
            <a:ext cx="2714625" cy="1428750"/>
          </a:xfrm>
          <a:prstGeom prst="cloudCallout">
            <a:avLst>
              <a:gd name="adj1" fmla="val 61692"/>
              <a:gd name="adj2" fmla="val 32132"/>
            </a:avLst>
          </a:prstGeom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eaLnBrk="1" hangingPunct="1">
              <a:defRPr/>
            </a:pPr>
            <a:endParaRPr lang="pt-BR" sz="1800" baseline="-25000">
              <a:solidFill>
                <a:schemeClr val="tx1"/>
              </a:solidFill>
            </a:endParaRPr>
          </a:p>
        </p:txBody>
      </p:sp>
      <p:pic>
        <p:nvPicPr>
          <p:cNvPr id="66564" name="Picture 10" descr="300px-Orbital_Equations_Figure_1">
            <a:extLst>
              <a:ext uri="{FF2B5EF4-FFF2-40B4-BE49-F238E27FC236}">
                <a16:creationId xmlns:a16="http://schemas.microsoft.com/office/drawing/2014/main" id="{506CCBD3-18AF-806C-9412-B1C662F98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64156">
            <a:off x="1123950" y="1100138"/>
            <a:ext cx="1944688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6960C59E-12E2-3AA1-271C-61C0164DA86A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105150" y="1146175"/>
            <a:ext cx="7273925" cy="7207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altLang="pt-BR" kern="0"/>
              <a:t>3. ILUMINAÇÃO</a:t>
            </a:r>
            <a:endParaRPr lang="pt-BR" altLang="pt-BR" kern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0C93B7DB-04B7-DE03-0A8F-0D4C396585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Autocertificável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A6121D3F-7555-6653-046A-A73C18C7E3F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258888" y="933450"/>
            <a:ext cx="4513262" cy="5400675"/>
          </a:xfrm>
        </p:spPr>
        <p:txBody>
          <a:bodyPr/>
          <a:lstStyle/>
          <a:p>
            <a:pPr eaLnBrk="1" hangingPunct="1"/>
            <a:r>
              <a:rPr lang="pt-BR" altLang="pt-BR" sz="2400"/>
              <a:t>No momento de inspiração, a </a:t>
            </a:r>
            <a:r>
              <a:rPr lang="pt-BR" altLang="pt-BR" sz="2400" u="sng"/>
              <a:t>pessoa criadora</a:t>
            </a:r>
            <a:r>
              <a:rPr lang="pt-BR" altLang="pt-BR" sz="2400"/>
              <a:t> se acha </a:t>
            </a:r>
            <a:r>
              <a:rPr lang="pt-BR" altLang="pt-BR" sz="2400" u="sng"/>
              <a:t>convencida</a:t>
            </a:r>
            <a:r>
              <a:rPr lang="pt-BR" altLang="pt-BR" sz="2400"/>
              <a:t> da correção de </a:t>
            </a:r>
            <a:r>
              <a:rPr lang="pt-BR" altLang="pt-BR" sz="2400" u="sng"/>
              <a:t>sua intuição</a:t>
            </a:r>
            <a:r>
              <a:rPr lang="pt-BR" altLang="pt-BR" sz="2400"/>
              <a:t>. </a:t>
            </a:r>
          </a:p>
          <a:p>
            <a:pPr eaLnBrk="1" hangingPunct="1"/>
            <a:endParaRPr lang="pt-BR" altLang="pt-BR" sz="2400"/>
          </a:p>
          <a:p>
            <a:pPr lvl="1" eaLnBrk="1" hangingPunct="1"/>
            <a:r>
              <a:rPr lang="pt-BR" altLang="pt-BR" sz="2200" u="sng">
                <a:solidFill>
                  <a:srgbClr val="00B050"/>
                </a:solidFill>
              </a:rPr>
              <a:t>Antes</a:t>
            </a:r>
            <a:r>
              <a:rPr lang="pt-BR" altLang="pt-BR" sz="2200">
                <a:solidFill>
                  <a:srgbClr val="00B050"/>
                </a:solidFill>
              </a:rPr>
              <a:t> mesmo de </a:t>
            </a:r>
            <a:r>
              <a:rPr lang="pt-BR" altLang="pt-BR" sz="2200" u="sng">
                <a:solidFill>
                  <a:srgbClr val="00B050"/>
                </a:solidFill>
              </a:rPr>
              <a:t>verificá-la</a:t>
            </a:r>
            <a:r>
              <a:rPr lang="pt-BR" altLang="pt-BR" sz="2200">
                <a:solidFill>
                  <a:srgbClr val="00B050"/>
                </a:solidFill>
              </a:rPr>
              <a:t> </a:t>
            </a:r>
            <a:r>
              <a:rPr lang="pt-BR" altLang="pt-BR" sz="2200" u="sng">
                <a:solidFill>
                  <a:srgbClr val="00B050"/>
                </a:solidFill>
              </a:rPr>
              <a:t>logicamente</a:t>
            </a:r>
            <a:r>
              <a:rPr lang="pt-BR" altLang="pt-BR" sz="2200">
                <a:solidFill>
                  <a:srgbClr val="00B050"/>
                </a:solidFill>
              </a:rPr>
              <a:t>.</a:t>
            </a:r>
          </a:p>
        </p:txBody>
      </p:sp>
      <p:pic>
        <p:nvPicPr>
          <p:cNvPr id="68611" name="Picture 7" descr="C:\Documents and Settings\Gitirana\Configurações locais\Temporary Internet Files\Content.IE5\JXSVCIEJ\MCBD06658_0000[1].wmf">
            <a:extLst>
              <a:ext uri="{FF2B5EF4-FFF2-40B4-BE49-F238E27FC236}">
                <a16:creationId xmlns:a16="http://schemas.microsoft.com/office/drawing/2014/main" id="{3F28522D-4377-3B9D-16DA-FE72EBF0FE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4263" y="1955800"/>
            <a:ext cx="2571750" cy="3355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72F193C7-ED2A-CC4F-FD53-C687EFEADB1E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2738437" y="904875"/>
            <a:ext cx="7273925" cy="7207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altLang="pt-BR" kern="0"/>
              <a:t>3. ILUMINAÇÃO</a:t>
            </a:r>
            <a:endParaRPr lang="pt-BR" altLang="pt-BR" kern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3D8C8BC9-0B77-6953-051C-AB403D3E1E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Exaltação</a:t>
            </a:r>
          </a:p>
        </p:txBody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40F9F65C-1BC6-A4C9-C9C5-6EB563D5E4E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11175" y="981075"/>
            <a:ext cx="4460875" cy="5400675"/>
          </a:xfrm>
        </p:spPr>
        <p:txBody>
          <a:bodyPr/>
          <a:lstStyle/>
          <a:p>
            <a:pPr eaLnBrk="1" hangingPunct="1"/>
            <a:r>
              <a:rPr lang="pt-BR" altLang="pt-BR" sz="2400"/>
              <a:t>A </a:t>
            </a:r>
            <a:r>
              <a:rPr lang="pt-BR" altLang="pt-BR" sz="2400" u="sng"/>
              <a:t>inspiração</a:t>
            </a:r>
            <a:r>
              <a:rPr lang="pt-BR" altLang="pt-BR" sz="2400"/>
              <a:t> é </a:t>
            </a:r>
            <a:r>
              <a:rPr lang="pt-BR" altLang="pt-BR" sz="2400" u="sng"/>
              <a:t>uma das mais intensas alegrias que o homem conhece</a:t>
            </a:r>
            <a:r>
              <a:rPr lang="pt-BR" altLang="pt-BR" sz="2400"/>
              <a:t>.</a:t>
            </a:r>
          </a:p>
          <a:p>
            <a:pPr eaLnBrk="1" hangingPunct="1"/>
            <a:endParaRPr lang="pt-BR" altLang="pt-BR" sz="2400"/>
          </a:p>
          <a:p>
            <a:pPr lvl="1" eaLnBrk="1" hangingPunct="1"/>
            <a:r>
              <a:rPr lang="pt-BR" altLang="pt-BR" sz="2200" b="1">
                <a:solidFill>
                  <a:srgbClr val="00B050"/>
                </a:solidFill>
              </a:rPr>
              <a:t>Ao firmar a visão que durante tanto tempo lhe fugiu, </a:t>
            </a:r>
            <a:r>
              <a:rPr lang="pt-BR" altLang="pt-BR" sz="2200" b="1" u="sng">
                <a:solidFill>
                  <a:srgbClr val="00B050"/>
                </a:solidFill>
              </a:rPr>
              <a:t>o criador é consumido pela exaltação</a:t>
            </a:r>
            <a:r>
              <a:rPr lang="pt-BR" altLang="pt-BR" sz="2200" b="1">
                <a:solidFill>
                  <a:srgbClr val="00B050"/>
                </a:solidFill>
              </a:rPr>
              <a:t>.</a:t>
            </a:r>
          </a:p>
        </p:txBody>
      </p:sp>
      <p:pic>
        <p:nvPicPr>
          <p:cNvPr id="70659" name="Picture 8" descr="ym01">
            <a:extLst>
              <a:ext uri="{FF2B5EF4-FFF2-40B4-BE49-F238E27FC236}">
                <a16:creationId xmlns:a16="http://schemas.microsoft.com/office/drawing/2014/main" id="{E69A0FAA-E24B-796E-327E-16D4E62E317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83175" y="1852613"/>
            <a:ext cx="3268663" cy="3268662"/>
          </a:xfr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BE532932-6077-701B-C04D-206727F7622C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125787" y="620712"/>
            <a:ext cx="7273926" cy="7207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altLang="pt-BR" kern="0"/>
              <a:t>3. ILUMINAÇÃO</a:t>
            </a:r>
            <a:endParaRPr lang="pt-BR" altLang="pt-BR" kern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4DD8D4CB-C225-B28B-E449-7312F80A88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Arquimedes</a:t>
            </a:r>
          </a:p>
        </p:txBody>
      </p:sp>
      <p:pic>
        <p:nvPicPr>
          <p:cNvPr id="72706" name="Picture 4" descr="107_1">
            <a:extLst>
              <a:ext uri="{FF2B5EF4-FFF2-40B4-BE49-F238E27FC236}">
                <a16:creationId xmlns:a16="http://schemas.microsoft.com/office/drawing/2014/main" id="{D0A0D12C-EEBC-AF7B-9AEC-1E1BB3CFBD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286000" y="1785938"/>
            <a:ext cx="4765675" cy="3813175"/>
          </a:xfrm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0786839C-E8DE-0902-1F24-864C2EAF10BD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054350" y="846137"/>
            <a:ext cx="7273926" cy="7207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altLang="pt-BR" kern="0"/>
              <a:t>3. ILUMINAÇÃO</a:t>
            </a:r>
            <a:endParaRPr lang="pt-BR" altLang="pt-BR" kern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8">
            <a:extLst>
              <a:ext uri="{FF2B5EF4-FFF2-40B4-BE49-F238E27FC236}">
                <a16:creationId xmlns:a16="http://schemas.microsoft.com/office/drawing/2014/main" id="{046B50FB-C4CB-62E5-C4E6-C97C6FF809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339966">
              <a:alpha val="3019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endParaRPr lang="pt-BR" altLang="pt-BR" sz="2000"/>
          </a:p>
        </p:txBody>
      </p:sp>
      <p:sp>
        <p:nvSpPr>
          <p:cNvPr id="74754" name="Rectangle 2">
            <a:extLst>
              <a:ext uri="{FF2B5EF4-FFF2-40B4-BE49-F238E27FC236}">
                <a16:creationId xmlns:a16="http://schemas.microsoft.com/office/drawing/2014/main" id="{18286266-445B-389D-F016-17244E6E6A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 sz="2800"/>
              <a:t>Franklin D. Roosevelt (1882-1945)</a:t>
            </a:r>
            <a:endParaRPr lang="pt-BR" altLang="pt-BR" sz="2800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609E7FF9-82BF-A3CA-E9A5-B55769B7AFB6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192588" y="1763713"/>
            <a:ext cx="4494212" cy="2846387"/>
          </a:xfrm>
        </p:spPr>
        <p:txBody>
          <a:bodyPr/>
          <a:lstStyle/>
          <a:p>
            <a:pPr eaLnBrk="1" hangingPunct="1"/>
            <a:r>
              <a:rPr lang="pt-BR" altLang="pt-BR" sz="3200" i="1"/>
              <a:t>“A felicidade não está na mera posse de dinheiro; ela está na alegria da realização, na emoção do esforço criativo”.</a:t>
            </a:r>
          </a:p>
        </p:txBody>
      </p:sp>
      <p:pic>
        <p:nvPicPr>
          <p:cNvPr id="74756" name="Picture 4" descr="franklin-roosevelt-picture">
            <a:extLst>
              <a:ext uri="{FF2B5EF4-FFF2-40B4-BE49-F238E27FC236}">
                <a16:creationId xmlns:a16="http://schemas.microsoft.com/office/drawing/2014/main" id="{B2038F6B-A3A8-24A6-8941-BE19887D7600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9763" y="981075"/>
            <a:ext cx="3095625" cy="3629025"/>
          </a:xfr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>
            <a:extLst>
              <a:ext uri="{FF2B5EF4-FFF2-40B4-BE49-F238E27FC236}">
                <a16:creationId xmlns:a16="http://schemas.microsoft.com/office/drawing/2014/main" id="{F117ECAD-013D-DF0B-2F0A-5EF56BD409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Condições Favoráveis</a:t>
            </a:r>
          </a:p>
        </p:txBody>
      </p:sp>
      <p:sp>
        <p:nvSpPr>
          <p:cNvPr id="76802" name="Rectangle 3">
            <a:extLst>
              <a:ext uri="{FF2B5EF4-FFF2-40B4-BE49-F238E27FC236}">
                <a16:creationId xmlns:a16="http://schemas.microsoft.com/office/drawing/2014/main" id="{528C49AF-9A45-E6AD-9560-D62EB912153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pt-BR" altLang="pt-BR" sz="2400"/>
              <a:t>Embora não se possa encomendar a inspiração, é </a:t>
            </a:r>
            <a:r>
              <a:rPr lang="pt-BR" altLang="pt-BR" sz="2400" u="sng"/>
              <a:t>possível</a:t>
            </a:r>
            <a:r>
              <a:rPr lang="pt-BR" altLang="pt-BR" sz="2400"/>
              <a:t> estabelecer </a:t>
            </a:r>
            <a:r>
              <a:rPr lang="pt-BR" altLang="pt-BR" sz="2400" u="sng"/>
              <a:t>condições favoráveis</a:t>
            </a:r>
            <a:r>
              <a:rPr lang="pt-BR" altLang="pt-BR" sz="2400"/>
              <a:t> a ela.</a:t>
            </a:r>
          </a:p>
          <a:p>
            <a:pPr lvl="1" eaLnBrk="1" hangingPunct="1"/>
            <a:r>
              <a:rPr lang="pt-BR" altLang="pt-BR" sz="2200"/>
              <a:t>Ouvir </a:t>
            </a:r>
            <a:r>
              <a:rPr lang="pt-BR" altLang="pt-BR" sz="2200" u="sng"/>
              <a:t>música</a:t>
            </a:r>
            <a:r>
              <a:rPr lang="pt-BR" altLang="pt-BR" sz="2200"/>
              <a:t>.</a:t>
            </a:r>
          </a:p>
          <a:p>
            <a:pPr lvl="1" eaLnBrk="1" hangingPunct="1"/>
            <a:r>
              <a:rPr lang="pt-BR" altLang="pt-BR" sz="2200"/>
              <a:t>Fazer </a:t>
            </a:r>
            <a:r>
              <a:rPr lang="pt-BR" altLang="pt-BR" sz="2200" u="sng"/>
              <a:t>exercícios</a:t>
            </a:r>
            <a:r>
              <a:rPr lang="pt-BR" altLang="pt-BR" sz="2200"/>
              <a:t>.</a:t>
            </a:r>
          </a:p>
          <a:p>
            <a:pPr lvl="1" eaLnBrk="1" hangingPunct="1"/>
            <a:r>
              <a:rPr lang="pt-BR" altLang="pt-BR" sz="2200" u="sng"/>
              <a:t>Meditar</a:t>
            </a:r>
            <a:r>
              <a:rPr lang="pt-BR" altLang="pt-BR" sz="2200"/>
              <a:t>. </a:t>
            </a:r>
          </a:p>
          <a:p>
            <a:pPr lvl="1" eaLnBrk="1" hangingPunct="1"/>
            <a:r>
              <a:rPr lang="pt-BR" altLang="pt-BR" sz="2200" u="sng"/>
              <a:t>Andar de lá pra cá</a:t>
            </a:r>
            <a:r>
              <a:rPr lang="pt-BR" altLang="pt-BR" sz="2200"/>
              <a:t>.</a:t>
            </a:r>
          </a:p>
        </p:txBody>
      </p:sp>
      <p:pic>
        <p:nvPicPr>
          <p:cNvPr id="76803" name="Picture 8" descr="mozart">
            <a:extLst>
              <a:ext uri="{FF2B5EF4-FFF2-40B4-BE49-F238E27FC236}">
                <a16:creationId xmlns:a16="http://schemas.microsoft.com/office/drawing/2014/main" id="{FDCBD827-CBB6-81FB-ED98-18227B37F53D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00688" y="1714500"/>
            <a:ext cx="2200275" cy="3781425"/>
          </a:xfr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FB1AF600-2C35-B234-DB09-B8FA4835B735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125787" y="777875"/>
            <a:ext cx="7273925" cy="7207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altLang="pt-BR" kern="0"/>
              <a:t>3. ILUMINAÇÃO</a:t>
            </a:r>
            <a:endParaRPr lang="pt-BR" altLang="pt-BR" kern="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04F99160-7678-7C92-04D0-4924145412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Apelando para as Drogas</a:t>
            </a:r>
          </a:p>
        </p:txBody>
      </p:sp>
      <p:sp>
        <p:nvSpPr>
          <p:cNvPr id="78850" name="Rectangle 3">
            <a:extLst>
              <a:ext uri="{FF2B5EF4-FFF2-40B4-BE49-F238E27FC236}">
                <a16:creationId xmlns:a16="http://schemas.microsoft.com/office/drawing/2014/main" id="{20A64D7A-7E37-AEAA-1AB3-08545CC8913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pt-BR" altLang="pt-BR" sz="2400"/>
              <a:t>Muitos artistas se valem de </a:t>
            </a:r>
            <a:r>
              <a:rPr lang="pt-BR" altLang="pt-BR" sz="2400" u="sng"/>
              <a:t>drogas</a:t>
            </a:r>
            <a:r>
              <a:rPr lang="pt-BR" altLang="pt-BR" sz="2400"/>
              <a:t> (legais ou ilegais) para </a:t>
            </a:r>
            <a:r>
              <a:rPr lang="pt-BR" altLang="pt-BR" sz="2400" u="sng"/>
              <a:t>enfraquecer</a:t>
            </a:r>
            <a:r>
              <a:rPr lang="pt-BR" altLang="pt-BR" sz="2400"/>
              <a:t> o controle do </a:t>
            </a:r>
            <a:r>
              <a:rPr lang="pt-BR" altLang="pt-BR" sz="2400" u="sng"/>
              <a:t>ego</a:t>
            </a:r>
            <a:r>
              <a:rPr lang="pt-BR" altLang="pt-BR" sz="2400"/>
              <a:t> e </a:t>
            </a:r>
            <a:r>
              <a:rPr lang="pt-BR" altLang="pt-BR" sz="2400" u="sng"/>
              <a:t>libertar</a:t>
            </a:r>
            <a:r>
              <a:rPr lang="pt-BR" altLang="pt-BR" sz="2400"/>
              <a:t> as forças do </a:t>
            </a:r>
            <a:r>
              <a:rPr lang="pt-BR" altLang="pt-BR" sz="2400" u="sng"/>
              <a:t>subconsciente</a:t>
            </a:r>
            <a:r>
              <a:rPr lang="pt-BR" altLang="pt-BR" sz="2400"/>
              <a:t>.</a:t>
            </a:r>
          </a:p>
          <a:p>
            <a:pPr lvl="1" eaLnBrk="1" hangingPunct="1"/>
            <a:r>
              <a:rPr lang="pt-BR" altLang="pt-BR" sz="2200" u="sng"/>
              <a:t>Minam</a:t>
            </a:r>
            <a:r>
              <a:rPr lang="pt-BR" altLang="pt-BR" sz="2200"/>
              <a:t> o </a:t>
            </a:r>
            <a:r>
              <a:rPr lang="pt-BR" altLang="pt-BR" sz="2200" u="sng"/>
              <a:t>controle do intelectual</a:t>
            </a:r>
            <a:r>
              <a:rPr lang="pt-BR" altLang="pt-BR" sz="2200"/>
              <a:t> necessário para completá-lo.</a:t>
            </a:r>
          </a:p>
          <a:p>
            <a:pPr eaLnBrk="1" hangingPunct="1"/>
            <a:endParaRPr lang="pt-BR" altLang="pt-BR" sz="2400"/>
          </a:p>
        </p:txBody>
      </p:sp>
      <p:pic>
        <p:nvPicPr>
          <p:cNvPr id="78851" name="Espaço Reservado para Conteúdo 9" descr="stock%20fuma.gif">
            <a:extLst>
              <a:ext uri="{FF2B5EF4-FFF2-40B4-BE49-F238E27FC236}">
                <a16:creationId xmlns:a16="http://schemas.microsoft.com/office/drawing/2014/main" id="{D6CB1D6F-11A1-CD7F-32E7-70A5A34DBD2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29188" y="1857375"/>
            <a:ext cx="3114675" cy="3500438"/>
          </a:xfr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C1E42A2F-9CC4-B11A-2967-F0A878BF7946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227387" y="1497012"/>
            <a:ext cx="7273926" cy="7207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altLang="pt-BR" kern="0"/>
              <a:t>3. ILUMINAÇÃO</a:t>
            </a:r>
            <a:endParaRPr lang="pt-BR" altLang="pt-BR" kern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Título 1">
            <a:extLst>
              <a:ext uri="{FF2B5EF4-FFF2-40B4-BE49-F238E27FC236}">
                <a16:creationId xmlns:a16="http://schemas.microsoft.com/office/drawing/2014/main" id="{F6CAFFC3-C9B2-8AAC-BABF-E1976E2CFB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Sumário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99EB8DE-9779-1EFC-1D7B-536217ABF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Definição de criatividade</a:t>
            </a:r>
          </a:p>
          <a:p>
            <a:pPr>
              <a:defRPr/>
            </a:pPr>
            <a:r>
              <a:rPr lang="pt-BR" dirty="0"/>
              <a:t>O processo criativo</a:t>
            </a:r>
          </a:p>
          <a:p>
            <a:pPr lvl="1">
              <a:defRPr/>
            </a:pPr>
            <a:r>
              <a:rPr lang="pt-BR" sz="2200" dirty="0">
                <a:solidFill>
                  <a:schemeClr val="accent2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Primeira apreensão</a:t>
            </a:r>
          </a:p>
          <a:p>
            <a:pPr lvl="1">
              <a:defRPr/>
            </a:pPr>
            <a:r>
              <a:rPr lang="pt-BR" sz="2200" dirty="0">
                <a:solidFill>
                  <a:schemeClr val="accent2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Preparação</a:t>
            </a:r>
          </a:p>
          <a:p>
            <a:pPr lvl="1">
              <a:defRPr/>
            </a:pPr>
            <a:r>
              <a:rPr lang="pt-BR" sz="2200" dirty="0">
                <a:solidFill>
                  <a:schemeClr val="accent2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Incubação</a:t>
            </a:r>
          </a:p>
          <a:p>
            <a:pPr lvl="1">
              <a:defRPr/>
            </a:pPr>
            <a:r>
              <a:rPr lang="pt-BR" sz="2200" dirty="0">
                <a:solidFill>
                  <a:schemeClr val="accent2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Iluminação</a:t>
            </a:r>
          </a:p>
          <a:p>
            <a:pPr lvl="1">
              <a:defRPr/>
            </a:pPr>
            <a:r>
              <a:rPr lang="pt-BR" sz="2200" dirty="0">
                <a:ea typeface="+mn-ea"/>
                <a:cs typeface="+mn-cs"/>
              </a:rPr>
              <a:t>Verificação</a:t>
            </a:r>
          </a:p>
          <a:p>
            <a:pPr>
              <a:defRPr/>
            </a:pPr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Barreiras à criatividade</a:t>
            </a:r>
          </a:p>
          <a:p>
            <a:pPr>
              <a:defRPr/>
            </a:pPr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Métodos e ferramentas</a:t>
            </a:r>
          </a:p>
          <a:p>
            <a:pPr lvl="1">
              <a:defRPr/>
            </a:pPr>
            <a:endParaRPr lang="pt-BR" dirty="0"/>
          </a:p>
          <a:p>
            <a:pPr lvl="1">
              <a:defRPr/>
            </a:pPr>
            <a:endParaRPr lang="pt-BR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2">
            <a:extLst>
              <a:ext uri="{FF2B5EF4-FFF2-40B4-BE49-F238E27FC236}">
                <a16:creationId xmlns:a16="http://schemas.microsoft.com/office/drawing/2014/main" id="{F5957384-9604-583C-F37F-9B2A351027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4. VERIFICAÇÃO</a:t>
            </a:r>
          </a:p>
        </p:txBody>
      </p:sp>
      <p:sp>
        <p:nvSpPr>
          <p:cNvPr id="81922" name="Rectangle 7">
            <a:extLst>
              <a:ext uri="{FF2B5EF4-FFF2-40B4-BE49-F238E27FC236}">
                <a16:creationId xmlns:a16="http://schemas.microsoft.com/office/drawing/2014/main" id="{6407EFB7-8E3B-2FDA-C2DA-75AA5CF2D96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11175" y="981075"/>
            <a:ext cx="4849813" cy="5400675"/>
          </a:xfrm>
        </p:spPr>
        <p:txBody>
          <a:bodyPr/>
          <a:lstStyle/>
          <a:p>
            <a:pPr eaLnBrk="1" hangingPunct="1"/>
            <a:r>
              <a:rPr lang="pt-BR" altLang="pt-BR" sz="2400"/>
              <a:t>Cabe ao </a:t>
            </a:r>
            <a:r>
              <a:rPr lang="pt-BR" altLang="pt-BR" sz="2400" u="sng">
                <a:solidFill>
                  <a:srgbClr val="FF0000"/>
                </a:solidFill>
              </a:rPr>
              <a:t>intelecto</a:t>
            </a:r>
            <a:r>
              <a:rPr lang="pt-BR" altLang="pt-BR" sz="2400">
                <a:solidFill>
                  <a:srgbClr val="FF0000"/>
                </a:solidFill>
              </a:rPr>
              <a:t> e o </a:t>
            </a:r>
            <a:r>
              <a:rPr lang="pt-BR" altLang="pt-BR" sz="2400" u="sng">
                <a:solidFill>
                  <a:srgbClr val="FF0000"/>
                </a:solidFill>
              </a:rPr>
              <a:t>julgamento</a:t>
            </a:r>
            <a:r>
              <a:rPr lang="pt-BR" altLang="pt-BR" sz="2400">
                <a:solidFill>
                  <a:srgbClr val="FF0000"/>
                </a:solidFill>
              </a:rPr>
              <a:t> </a:t>
            </a:r>
            <a:r>
              <a:rPr lang="pt-BR" altLang="pt-BR" sz="2400" u="sng">
                <a:solidFill>
                  <a:srgbClr val="FF0000"/>
                </a:solidFill>
              </a:rPr>
              <a:t>terminar</a:t>
            </a:r>
            <a:r>
              <a:rPr lang="pt-BR" altLang="pt-BR" sz="2400">
                <a:solidFill>
                  <a:srgbClr val="FF0000"/>
                </a:solidFill>
              </a:rPr>
              <a:t> a </a:t>
            </a:r>
            <a:r>
              <a:rPr lang="pt-BR" altLang="pt-BR" sz="2400" u="sng">
                <a:solidFill>
                  <a:srgbClr val="FF0000"/>
                </a:solidFill>
              </a:rPr>
              <a:t>obra</a:t>
            </a:r>
            <a:r>
              <a:rPr lang="pt-BR" altLang="pt-BR" sz="2400">
                <a:solidFill>
                  <a:srgbClr val="FF0000"/>
                </a:solidFill>
              </a:rPr>
              <a:t> que a </a:t>
            </a:r>
            <a:r>
              <a:rPr lang="pt-BR" altLang="pt-BR" sz="2400" u="sng">
                <a:solidFill>
                  <a:srgbClr val="FF0000"/>
                </a:solidFill>
              </a:rPr>
              <a:t>imaginação iniciou</a:t>
            </a:r>
            <a:r>
              <a:rPr lang="pt-BR" altLang="pt-BR" sz="2400"/>
              <a:t>.</a:t>
            </a:r>
          </a:p>
          <a:p>
            <a:pPr eaLnBrk="1" hangingPunct="1"/>
            <a:endParaRPr lang="pt-BR" altLang="pt-BR" sz="2400"/>
          </a:p>
          <a:p>
            <a:pPr eaLnBrk="1" hangingPunct="1"/>
            <a:r>
              <a:rPr lang="pt-BR" altLang="pt-BR" sz="2400">
                <a:solidFill>
                  <a:srgbClr val="00B050"/>
                </a:solidFill>
              </a:rPr>
              <a:t>O criador deve </a:t>
            </a:r>
            <a:r>
              <a:rPr lang="pt-BR" altLang="pt-BR" sz="2400" u="sng">
                <a:solidFill>
                  <a:srgbClr val="00B050"/>
                </a:solidFill>
              </a:rPr>
              <a:t>distinguir</a:t>
            </a:r>
            <a:r>
              <a:rPr lang="pt-BR" altLang="pt-BR" sz="2400">
                <a:solidFill>
                  <a:srgbClr val="00B050"/>
                </a:solidFill>
              </a:rPr>
              <a:t> o que é </a:t>
            </a:r>
            <a:r>
              <a:rPr lang="pt-BR" altLang="pt-BR" sz="2400" u="sng">
                <a:solidFill>
                  <a:srgbClr val="00B050"/>
                </a:solidFill>
              </a:rPr>
              <a:t>válido</a:t>
            </a:r>
            <a:r>
              <a:rPr lang="pt-BR" altLang="pt-BR" sz="2400">
                <a:solidFill>
                  <a:srgbClr val="00B050"/>
                </a:solidFill>
              </a:rPr>
              <a:t> do que não é.</a:t>
            </a:r>
          </a:p>
          <a:p>
            <a:pPr lvl="1" eaLnBrk="1" hangingPunct="1"/>
            <a:r>
              <a:rPr lang="pt-BR" altLang="pt-BR" sz="2200">
                <a:solidFill>
                  <a:srgbClr val="00B050"/>
                </a:solidFill>
              </a:rPr>
              <a:t>A </a:t>
            </a:r>
            <a:r>
              <a:rPr lang="pt-BR" altLang="pt-BR" sz="2200" u="sng">
                <a:solidFill>
                  <a:srgbClr val="00B050"/>
                </a:solidFill>
              </a:rPr>
              <a:t>iluminação</a:t>
            </a:r>
            <a:r>
              <a:rPr lang="pt-BR" altLang="pt-BR" sz="2200">
                <a:solidFill>
                  <a:srgbClr val="00B050"/>
                </a:solidFill>
              </a:rPr>
              <a:t> é notoriamente </a:t>
            </a:r>
            <a:r>
              <a:rPr lang="pt-BR" altLang="pt-BR" sz="2200" u="sng">
                <a:solidFill>
                  <a:srgbClr val="00B050"/>
                </a:solidFill>
              </a:rPr>
              <a:t>falível</a:t>
            </a:r>
            <a:r>
              <a:rPr lang="pt-BR" altLang="pt-BR" sz="2200">
                <a:solidFill>
                  <a:srgbClr val="00B050"/>
                </a:solidFill>
              </a:rPr>
              <a:t>.</a:t>
            </a:r>
          </a:p>
        </p:txBody>
      </p:sp>
      <p:pic>
        <p:nvPicPr>
          <p:cNvPr id="81923" name="Picture 13" descr="MCPE01685_0000[1]">
            <a:extLst>
              <a:ext uri="{FF2B5EF4-FFF2-40B4-BE49-F238E27FC236}">
                <a16:creationId xmlns:a16="http://schemas.microsoft.com/office/drawing/2014/main" id="{D8652E67-3850-9914-9D7B-5A73262D6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825" y="1839913"/>
            <a:ext cx="2378075" cy="309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>
            <a:extLst>
              <a:ext uri="{FF2B5EF4-FFF2-40B4-BE49-F238E27FC236}">
                <a16:creationId xmlns:a16="http://schemas.microsoft.com/office/drawing/2014/main" id="{2851EB42-3BC1-01C5-72B6-66980BC97C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7625"/>
            <a:ext cx="7388225" cy="706438"/>
          </a:xfrm>
        </p:spPr>
        <p:txBody>
          <a:bodyPr/>
          <a:lstStyle/>
          <a:p>
            <a:pPr eaLnBrk="1" hangingPunct="1"/>
            <a:r>
              <a:rPr lang="pt-BR" altLang="pt-BR"/>
              <a:t>4. VERIFICAÇÃO</a:t>
            </a:r>
          </a:p>
        </p:txBody>
      </p:sp>
      <p:sp>
        <p:nvSpPr>
          <p:cNvPr id="83970" name="Rectangle 6">
            <a:extLst>
              <a:ext uri="{FF2B5EF4-FFF2-40B4-BE49-F238E27FC236}">
                <a16:creationId xmlns:a16="http://schemas.microsoft.com/office/drawing/2014/main" id="{2BDC12DD-8ED3-3A49-6958-5D14739501E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5113" y="1276350"/>
            <a:ext cx="4210050" cy="5238750"/>
          </a:xfrm>
        </p:spPr>
        <p:txBody>
          <a:bodyPr/>
          <a:lstStyle/>
          <a:p>
            <a:pPr eaLnBrk="1" hangingPunct="1"/>
            <a:r>
              <a:rPr lang="pt-BR" altLang="pt-BR" sz="2400"/>
              <a:t>A tarefa da </a:t>
            </a:r>
            <a:r>
              <a:rPr lang="pt-BR" altLang="pt-BR" sz="2400" u="sng"/>
              <a:t>criação</a:t>
            </a:r>
            <a:r>
              <a:rPr lang="pt-BR" altLang="pt-BR" sz="2400"/>
              <a:t> chega a </a:t>
            </a:r>
            <a:r>
              <a:rPr lang="pt-BR" altLang="pt-BR" sz="2400" u="sng"/>
              <a:t>durar anos</a:t>
            </a:r>
            <a:r>
              <a:rPr lang="pt-BR" altLang="pt-BR" sz="2400"/>
              <a:t>, durante o qual o criador luta para </a:t>
            </a:r>
            <a:r>
              <a:rPr lang="pt-BR" altLang="pt-BR" sz="2400" u="sng"/>
              <a:t>dar forma final </a:t>
            </a:r>
            <a:r>
              <a:rPr lang="pt-BR" altLang="pt-BR" sz="2400"/>
              <a:t>às suas intuições ou para aplicá-las à massa de material que colecionou.</a:t>
            </a:r>
          </a:p>
        </p:txBody>
      </p:sp>
      <p:sp>
        <p:nvSpPr>
          <p:cNvPr id="83971" name="Rectangle 8">
            <a:extLst>
              <a:ext uri="{FF2B5EF4-FFF2-40B4-BE49-F238E27FC236}">
                <a16:creationId xmlns:a16="http://schemas.microsoft.com/office/drawing/2014/main" id="{B75A39A4-D757-9842-CD19-DA94877FAB64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475163" y="1276350"/>
            <a:ext cx="4211637" cy="5238750"/>
          </a:xfrm>
        </p:spPr>
        <p:txBody>
          <a:bodyPr/>
          <a:lstStyle/>
          <a:p>
            <a:pPr lvl="1" eaLnBrk="1" hangingPunct="1"/>
            <a:r>
              <a:rPr lang="pt-BR" altLang="pt-BR" sz="2200" u="sng"/>
              <a:t>Newton</a:t>
            </a:r>
            <a:r>
              <a:rPr lang="pt-BR" altLang="pt-BR" sz="2200"/>
              <a:t> e </a:t>
            </a:r>
            <a:r>
              <a:rPr lang="pt-BR" altLang="pt-BR" sz="2200" u="sng"/>
              <a:t>Darwin</a:t>
            </a:r>
            <a:r>
              <a:rPr lang="pt-BR" altLang="pt-BR" sz="2200"/>
              <a:t> levaram anos elaborando e teorias cuja inspiração foi obra de momentos.</a:t>
            </a:r>
          </a:p>
          <a:p>
            <a:pPr eaLnBrk="1" hangingPunct="1"/>
            <a:r>
              <a:rPr lang="pt-BR" altLang="pt-BR" sz="2400"/>
              <a:t>A </a:t>
            </a:r>
            <a:r>
              <a:rPr lang="pt-BR" altLang="pt-BR" sz="2400" u="sng"/>
              <a:t>iluminação</a:t>
            </a:r>
            <a:r>
              <a:rPr lang="pt-BR" altLang="pt-BR" sz="2400"/>
              <a:t> </a:t>
            </a:r>
            <a:r>
              <a:rPr lang="pt-BR" altLang="pt-BR" sz="2400" u="sng"/>
              <a:t>não é</a:t>
            </a:r>
            <a:r>
              <a:rPr lang="pt-BR" altLang="pt-BR" sz="2400"/>
              <a:t> , de fato, </a:t>
            </a:r>
            <a:r>
              <a:rPr lang="pt-BR" altLang="pt-BR" sz="2400" u="sng"/>
              <a:t>autoverificável</a:t>
            </a:r>
            <a:r>
              <a:rPr lang="pt-BR" altLang="pt-BR" sz="2400"/>
              <a:t>,</a:t>
            </a:r>
          </a:p>
          <a:p>
            <a:pPr eaLnBrk="1" hangingPunct="1"/>
            <a:r>
              <a:rPr lang="pt-BR" altLang="pt-BR" sz="2400"/>
              <a:t> embora pareça, mas </a:t>
            </a:r>
            <a:r>
              <a:rPr lang="pt-BR" altLang="pt-BR" sz="2400" u="sng"/>
              <a:t>tem de ser submetida à prova e exaustivamente refinada</a:t>
            </a:r>
            <a:r>
              <a:rPr lang="pt-BR" altLang="pt-BR" sz="2400"/>
              <a:t>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993" name="Picture 7" descr="MCj02813330000[1]">
            <a:extLst>
              <a:ext uri="{FF2B5EF4-FFF2-40B4-BE49-F238E27FC236}">
                <a16:creationId xmlns:a16="http://schemas.microsoft.com/office/drawing/2014/main" id="{5F52FFAF-DF80-4C54-4B42-EB3FA1259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1088" y="1982788"/>
            <a:ext cx="2568575" cy="272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4" name="Rectangle 2">
            <a:extLst>
              <a:ext uri="{FF2B5EF4-FFF2-40B4-BE49-F238E27FC236}">
                <a16:creationId xmlns:a16="http://schemas.microsoft.com/office/drawing/2014/main" id="{ABFE05CD-D7D4-7C52-68B9-2081E69655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Perseverança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AA36D239-CE62-33B8-347B-28C5596DD17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pt-BR" altLang="pt-BR" sz="2400"/>
              <a:t>Por vezes, o </a:t>
            </a:r>
            <a:r>
              <a:rPr lang="pt-BR" altLang="pt-BR" sz="2400" u="sng"/>
              <a:t>esforço de verificação</a:t>
            </a:r>
            <a:r>
              <a:rPr lang="pt-BR" altLang="pt-BR" sz="2400"/>
              <a:t> </a:t>
            </a:r>
            <a:r>
              <a:rPr lang="pt-BR" altLang="pt-BR" sz="2400" u="sng"/>
              <a:t>mata</a:t>
            </a:r>
            <a:r>
              <a:rPr lang="pt-BR" altLang="pt-BR" sz="2400"/>
              <a:t> o </a:t>
            </a:r>
            <a:r>
              <a:rPr lang="pt-BR" altLang="pt-BR" sz="2400" u="sng"/>
              <a:t>entusiasmo</a:t>
            </a:r>
            <a:r>
              <a:rPr lang="pt-BR" altLang="pt-BR" sz="2400"/>
              <a:t> do criador pelo que ele começou.</a:t>
            </a:r>
          </a:p>
        </p:txBody>
      </p:sp>
      <p:pic>
        <p:nvPicPr>
          <p:cNvPr id="84996" name="Picture 7" descr="MCj02813330000[1]">
            <a:extLst>
              <a:ext uri="{FF2B5EF4-FFF2-40B4-BE49-F238E27FC236}">
                <a16:creationId xmlns:a16="http://schemas.microsoft.com/office/drawing/2014/main" id="{32850A85-A2B6-7EB5-B485-0BE69D7F55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6850" y="1644650"/>
            <a:ext cx="2568575" cy="272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D138553-74DA-CBA0-0306-75895535D490}"/>
              </a:ext>
            </a:extLst>
          </p:cNvPr>
          <p:cNvSpPr txBox="1">
            <a:spLocks noChangeArrowheads="1"/>
          </p:cNvSpPr>
          <p:nvPr/>
        </p:nvSpPr>
        <p:spPr bwMode="auto">
          <a:xfrm rot="16200000">
            <a:off x="-3125787" y="1077912"/>
            <a:ext cx="7273926" cy="7207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rgbClr val="000096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pt-BR" altLang="pt-BR" kern="0"/>
              <a:t>4. VERIFICAÇÃO</a:t>
            </a:r>
            <a:endParaRPr lang="pt-BR" altLang="pt-BR" kern="0" dirty="0"/>
          </a:p>
        </p:txBody>
      </p:sp>
      <p:pic>
        <p:nvPicPr>
          <p:cNvPr id="84998" name="Picture 7" descr="MCj02813330000[1]">
            <a:extLst>
              <a:ext uri="{FF2B5EF4-FFF2-40B4-BE49-F238E27FC236}">
                <a16:creationId xmlns:a16="http://schemas.microsoft.com/office/drawing/2014/main" id="{15411911-954A-ED16-416F-CDABBA34A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525" y="3297238"/>
            <a:ext cx="2568575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999" name="Picture 7" descr="MCj02813330000[1]">
            <a:extLst>
              <a:ext uri="{FF2B5EF4-FFF2-40B4-BE49-F238E27FC236}">
                <a16:creationId xmlns:a16="http://schemas.microsoft.com/office/drawing/2014/main" id="{9FB49397-0A59-B329-3631-EF0EC53D1A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5425" y="4164013"/>
            <a:ext cx="2568575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Título 1">
            <a:extLst>
              <a:ext uri="{FF2B5EF4-FFF2-40B4-BE49-F238E27FC236}">
                <a16:creationId xmlns:a16="http://schemas.microsoft.com/office/drawing/2014/main" id="{C1A19AFA-2125-FC0A-58E0-F0B01467FE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887538" y="936625"/>
            <a:ext cx="7388225" cy="706438"/>
          </a:xfrm>
        </p:spPr>
        <p:txBody>
          <a:bodyPr/>
          <a:lstStyle/>
          <a:p>
            <a:r>
              <a:rPr lang="pt-BR" altLang="pt-BR" b="1"/>
              <a:t>BARREIRAS À CRIATIVIDADE</a:t>
            </a:r>
          </a:p>
        </p:txBody>
      </p:sp>
      <p:sp>
        <p:nvSpPr>
          <p:cNvPr id="87042" name="Espaço Reservado para Conteúdo 3">
            <a:extLst>
              <a:ext uri="{FF2B5EF4-FFF2-40B4-BE49-F238E27FC236}">
                <a16:creationId xmlns:a16="http://schemas.microsoft.com/office/drawing/2014/main" id="{88B3D4B6-3EE8-7414-8E35-8D767FB6D7F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06388" y="2092325"/>
            <a:ext cx="4210050" cy="3889375"/>
          </a:xfrm>
        </p:spPr>
        <p:txBody>
          <a:bodyPr/>
          <a:lstStyle/>
          <a:p>
            <a:r>
              <a:rPr lang="pt-BR" altLang="pt-BR"/>
              <a:t>Algumas </a:t>
            </a:r>
            <a:r>
              <a:rPr lang="pt-BR" altLang="pt-BR" u="sng"/>
              <a:t>barreiras</a:t>
            </a:r>
            <a:r>
              <a:rPr lang="pt-BR" altLang="pt-BR"/>
              <a:t> </a:t>
            </a:r>
            <a:r>
              <a:rPr lang="pt-BR" altLang="pt-BR" u="sng"/>
              <a:t>costumam</a:t>
            </a:r>
            <a:r>
              <a:rPr lang="pt-BR" altLang="pt-BR"/>
              <a:t> se </a:t>
            </a:r>
            <a:r>
              <a:rPr lang="pt-BR" altLang="pt-BR" u="sng"/>
              <a:t>antepor</a:t>
            </a:r>
            <a:r>
              <a:rPr lang="pt-BR" altLang="pt-BR"/>
              <a:t> ao </a:t>
            </a:r>
            <a:r>
              <a:rPr lang="pt-BR" altLang="pt-BR" u="sng"/>
              <a:t>ato de criar</a:t>
            </a:r>
            <a:r>
              <a:rPr lang="pt-BR" altLang="pt-BR"/>
              <a:t>.</a:t>
            </a:r>
          </a:p>
          <a:p>
            <a:pPr lvl="1"/>
            <a:r>
              <a:rPr lang="pt-BR" altLang="pt-BR" sz="2200" u="sng"/>
              <a:t>Conhecê-las</a:t>
            </a:r>
            <a:r>
              <a:rPr lang="pt-BR" altLang="pt-BR" sz="2200"/>
              <a:t> (e saber com as evitar) é um </a:t>
            </a:r>
            <a:r>
              <a:rPr lang="pt-BR" altLang="pt-BR" sz="2200" u="sng"/>
              <a:t>importante</a:t>
            </a:r>
            <a:r>
              <a:rPr lang="pt-BR" altLang="pt-BR" sz="2200"/>
              <a:t> </a:t>
            </a:r>
            <a:r>
              <a:rPr lang="pt-BR" altLang="pt-BR" sz="2200" u="sng"/>
              <a:t>passo</a:t>
            </a:r>
            <a:r>
              <a:rPr lang="pt-BR" altLang="pt-BR" sz="2200"/>
              <a:t> para nos </a:t>
            </a:r>
            <a:r>
              <a:rPr lang="pt-BR" altLang="pt-BR" sz="2200" u="sng"/>
              <a:t>tornarmos</a:t>
            </a:r>
            <a:r>
              <a:rPr lang="pt-BR" altLang="pt-BR" sz="2200"/>
              <a:t> pessoas (e profissionais) mais criativas.</a:t>
            </a:r>
          </a:p>
          <a:p>
            <a:pPr lvl="2"/>
            <a:endParaRPr lang="pt-BR" altLang="pt-BR"/>
          </a:p>
        </p:txBody>
      </p:sp>
      <p:pic>
        <p:nvPicPr>
          <p:cNvPr id="87043" name="Picture 6" descr="C:\Documents and Settings\Gitirana\Configurações locais\Temporary Internet Files\Content.IE5\JTA576R4\MCj03536660000[1].wmf">
            <a:extLst>
              <a:ext uri="{FF2B5EF4-FFF2-40B4-BE49-F238E27FC236}">
                <a16:creationId xmlns:a16="http://schemas.microsoft.com/office/drawing/2014/main" id="{6613176F-C3E9-4998-D358-957B57FA0B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763" y="2767013"/>
            <a:ext cx="2625725" cy="309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044" name="Picture 7" descr="C:\Documents and Settings\Gitirana\Configurações locais\Temporary Internet Files\Content.IE5\4ADYWX42\MCj03963180000[1].wmf">
            <a:extLst>
              <a:ext uri="{FF2B5EF4-FFF2-40B4-BE49-F238E27FC236}">
                <a16:creationId xmlns:a16="http://schemas.microsoft.com/office/drawing/2014/main" id="{15C3BF76-736F-C605-B763-1C16081EC494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10375" y="1419225"/>
            <a:ext cx="1327150" cy="1336675"/>
          </a:xfr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Título 4">
            <a:extLst>
              <a:ext uri="{FF2B5EF4-FFF2-40B4-BE49-F238E27FC236}">
                <a16:creationId xmlns:a16="http://schemas.microsoft.com/office/drawing/2014/main" id="{BC56982C-8C8E-EA99-EA70-A9AC4972C2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5775" y="865188"/>
            <a:ext cx="7388225" cy="706437"/>
          </a:xfrm>
        </p:spPr>
        <p:txBody>
          <a:bodyPr/>
          <a:lstStyle/>
          <a:p>
            <a:r>
              <a:rPr lang="pt-BR" altLang="pt-BR"/>
              <a:t>BARREIRAS À CRIATIVIDADE</a:t>
            </a:r>
          </a:p>
        </p:txBody>
      </p:sp>
      <p:pic>
        <p:nvPicPr>
          <p:cNvPr id="7" name="Espaço Reservado para Conteúdo 6">
            <a:extLst>
              <a:ext uri="{FF2B5EF4-FFF2-40B4-BE49-F238E27FC236}">
                <a16:creationId xmlns:a16="http://schemas.microsoft.com/office/drawing/2014/main" id="{0CA0CA70-A89F-9381-C57C-622BCDB26B95}"/>
              </a:ext>
            </a:extLst>
          </p:cNvPr>
          <p:cNvPicPr>
            <a:picLocks noGrp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98900" y="990600"/>
            <a:ext cx="4330700" cy="5422900"/>
          </a:xfrm>
        </p:spPr>
      </p:pic>
      <p:pic>
        <p:nvPicPr>
          <p:cNvPr id="88067" name="Imagem 3" descr="IntroducaoAEngenhariaUfsc_Open.jpg">
            <a:extLst>
              <a:ext uri="{FF2B5EF4-FFF2-40B4-BE49-F238E27FC236}">
                <a16:creationId xmlns:a16="http://schemas.microsoft.com/office/drawing/2014/main" id="{FAE5586C-7AB9-71C7-EC69-CDF4FEFBB4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86000"/>
            <a:ext cx="2143125" cy="300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Título 1">
            <a:extLst>
              <a:ext uri="{FF2B5EF4-FFF2-40B4-BE49-F238E27FC236}">
                <a16:creationId xmlns:a16="http://schemas.microsoft.com/office/drawing/2014/main" id="{4C048FC5-60A5-4C1B-C664-605C74C1BD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3200"/>
              <a:t>1. Hábito (Pensam. Rotineiro)</a:t>
            </a:r>
          </a:p>
        </p:txBody>
      </p:sp>
      <p:sp>
        <p:nvSpPr>
          <p:cNvPr id="89090" name="Espaço Reservado para Conteúdo 3">
            <a:extLst>
              <a:ext uri="{FF2B5EF4-FFF2-40B4-BE49-F238E27FC236}">
                <a16:creationId xmlns:a16="http://schemas.microsoft.com/office/drawing/2014/main" id="{40023287-B0A8-D589-4FEE-C2EB5BD9CDEE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pt-BR" altLang="pt-BR" u="sng"/>
              <a:t>Torna a vida mais simples</a:t>
            </a:r>
            <a:r>
              <a:rPr lang="pt-BR" altLang="pt-BR"/>
              <a:t>!</a:t>
            </a:r>
          </a:p>
          <a:p>
            <a:pPr lvl="1"/>
            <a:r>
              <a:rPr lang="pt-BR" altLang="pt-BR" sz="2200" u="sng"/>
              <a:t>E se tivéssemos</a:t>
            </a:r>
            <a:r>
              <a:rPr lang="pt-BR" altLang="pt-BR" sz="2200"/>
              <a:t> que </a:t>
            </a:r>
            <a:r>
              <a:rPr lang="pt-BR" altLang="pt-BR" sz="2200" u="sng"/>
              <a:t>pensar de forma criativa</a:t>
            </a:r>
            <a:r>
              <a:rPr lang="pt-BR" altLang="pt-BR" sz="2200"/>
              <a:t> toda vez que fôssemos </a:t>
            </a:r>
            <a:r>
              <a:rPr lang="pt-BR" altLang="pt-BR" sz="2200" u="sng"/>
              <a:t>comer</a:t>
            </a:r>
            <a:r>
              <a:rPr lang="pt-BR" altLang="pt-BR" sz="2200"/>
              <a:t> ou </a:t>
            </a:r>
            <a:r>
              <a:rPr lang="pt-BR" altLang="pt-BR" sz="2200" u="sng"/>
              <a:t>lavar roupas</a:t>
            </a:r>
            <a:r>
              <a:rPr lang="pt-BR" altLang="pt-BR" sz="2200"/>
              <a:t>?</a:t>
            </a:r>
          </a:p>
        </p:txBody>
      </p:sp>
      <p:sp>
        <p:nvSpPr>
          <p:cNvPr id="5" name="Espaço Reservado para Conteúdo 4">
            <a:extLst>
              <a:ext uri="{FF2B5EF4-FFF2-40B4-BE49-F238E27FC236}">
                <a16:creationId xmlns:a16="http://schemas.microsoft.com/office/drawing/2014/main" id="{D3A6967F-F793-33D3-BDF8-3C9927CF69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lvl="1" indent="-342900">
              <a:buFontTx/>
              <a:buChar char="•"/>
              <a:defRPr/>
            </a:pPr>
            <a:r>
              <a:rPr lang="pt-BR" u="sng" dirty="0"/>
              <a:t>Por outro lado</a:t>
            </a:r>
            <a:r>
              <a:rPr lang="pt-BR" dirty="0"/>
              <a:t>, pode ser </a:t>
            </a:r>
            <a:r>
              <a:rPr lang="pt-BR" dirty="0" err="1"/>
              <a:t>altam</a:t>
            </a:r>
            <a:r>
              <a:rPr lang="pt-BR" dirty="0"/>
              <a:t>. </a:t>
            </a:r>
            <a:r>
              <a:rPr lang="pt-BR" u="sng" dirty="0"/>
              <a:t>prejudicial</a:t>
            </a:r>
            <a:r>
              <a:rPr lang="pt-BR" dirty="0"/>
              <a:t> </a:t>
            </a:r>
            <a:r>
              <a:rPr lang="pt-BR" u="sng" dirty="0"/>
              <a:t>à criatividade</a:t>
            </a:r>
            <a:r>
              <a:rPr lang="pt-BR" dirty="0"/>
              <a:t>:</a:t>
            </a:r>
          </a:p>
          <a:p>
            <a:pPr lvl="1">
              <a:defRPr/>
            </a:pPr>
            <a:r>
              <a:rPr lang="pt-BR" sz="2200" u="sng" dirty="0"/>
              <a:t>Pode</a:t>
            </a:r>
            <a:r>
              <a:rPr lang="pt-BR" sz="2200" dirty="0"/>
              <a:t> </a:t>
            </a:r>
            <a:r>
              <a:rPr lang="pt-BR" sz="2200" u="sng" dirty="0"/>
              <a:t>fazer</a:t>
            </a:r>
            <a:r>
              <a:rPr lang="pt-BR" sz="2200" dirty="0"/>
              <a:t> com que o </a:t>
            </a:r>
            <a:r>
              <a:rPr lang="pt-BR" sz="2200" u="sng" dirty="0"/>
              <a:t>fluxo</a:t>
            </a:r>
            <a:r>
              <a:rPr lang="pt-BR" sz="2200" dirty="0"/>
              <a:t> de </a:t>
            </a:r>
            <a:r>
              <a:rPr lang="pt-BR" sz="2200" u="sng" dirty="0"/>
              <a:t>idéias criativas</a:t>
            </a:r>
            <a:r>
              <a:rPr lang="pt-BR" sz="2200" dirty="0"/>
              <a:t> </a:t>
            </a:r>
            <a:r>
              <a:rPr lang="pt-BR" sz="2200" u="sng" dirty="0"/>
              <a:t>cesse</a:t>
            </a:r>
            <a:r>
              <a:rPr lang="pt-BR" sz="2200" dirty="0"/>
              <a:t> e se </a:t>
            </a:r>
            <a:r>
              <a:rPr lang="pt-BR" sz="2200" u="sng" dirty="0"/>
              <a:t>iniciem</a:t>
            </a:r>
            <a:r>
              <a:rPr lang="pt-BR" sz="2200" dirty="0"/>
              <a:t> </a:t>
            </a:r>
            <a:r>
              <a:rPr lang="pt-BR" sz="2200" u="sng" dirty="0"/>
              <a:t>pensamentos rotineiros</a:t>
            </a:r>
            <a:r>
              <a:rPr lang="pt-BR" sz="2200" dirty="0"/>
              <a:t>, não criativos. </a:t>
            </a:r>
          </a:p>
          <a:p>
            <a:pPr lvl="2">
              <a:defRPr/>
            </a:pPr>
            <a:r>
              <a:rPr lang="pt-BR" u="sng" dirty="0"/>
              <a:t>Menor</a:t>
            </a:r>
            <a:r>
              <a:rPr lang="pt-BR" dirty="0"/>
              <a:t> </a:t>
            </a:r>
            <a:r>
              <a:rPr lang="pt-BR" u="sng" dirty="0"/>
              <a:t>esforço mental</a:t>
            </a:r>
            <a:r>
              <a:rPr lang="pt-BR" dirty="0"/>
              <a:t>.</a:t>
            </a:r>
          </a:p>
          <a:p>
            <a:pPr lvl="1">
              <a:defRPr/>
            </a:pPr>
            <a:r>
              <a:rPr lang="pt-BR" sz="2200" u="sng" dirty="0"/>
              <a:t>Buscar</a:t>
            </a:r>
            <a:r>
              <a:rPr lang="pt-BR" sz="2200" dirty="0"/>
              <a:t> um </a:t>
            </a:r>
            <a:r>
              <a:rPr lang="pt-BR" sz="2200" u="sng" dirty="0"/>
              <a:t>equilíbrio</a:t>
            </a:r>
            <a:r>
              <a:rPr lang="pt-BR" sz="2200" dirty="0"/>
              <a:t> entre </a:t>
            </a:r>
            <a:r>
              <a:rPr lang="pt-BR" sz="2200" u="sng" dirty="0" err="1"/>
              <a:t>pens</a:t>
            </a:r>
            <a:r>
              <a:rPr lang="pt-BR" sz="2200" dirty="0"/>
              <a:t>. </a:t>
            </a:r>
            <a:r>
              <a:rPr lang="pt-BR" sz="2200" u="sng" dirty="0"/>
              <a:t>rotineiro</a:t>
            </a:r>
            <a:r>
              <a:rPr lang="pt-BR" sz="2200" dirty="0"/>
              <a:t> e o </a:t>
            </a:r>
            <a:r>
              <a:rPr lang="pt-BR" sz="2200" u="sng" dirty="0"/>
              <a:t>criativo</a:t>
            </a:r>
            <a:r>
              <a:rPr lang="pt-BR" sz="2200" dirty="0"/>
              <a:t>.</a:t>
            </a:r>
          </a:p>
        </p:txBody>
      </p:sp>
      <p:pic>
        <p:nvPicPr>
          <p:cNvPr id="89092" name="Picture 2" descr="C:\Documents and Settings\Gitirana\Configurações locais\Temporary Internet Files\Content.IE5\HMBR9KXC\MCj00896500000[1].wmf">
            <a:extLst>
              <a:ext uri="{FF2B5EF4-FFF2-40B4-BE49-F238E27FC236}">
                <a16:creationId xmlns:a16="http://schemas.microsoft.com/office/drawing/2014/main" id="{2BBF9685-CD79-1FDB-0A2B-DFF5D36E0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7313" y="4000500"/>
            <a:ext cx="2571750" cy="2351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Título 1">
            <a:extLst>
              <a:ext uri="{FF2B5EF4-FFF2-40B4-BE49-F238E27FC236}">
                <a16:creationId xmlns:a16="http://schemas.microsoft.com/office/drawing/2014/main" id="{F18FE06A-E6AE-EFF5-0AC0-88AC2B06F7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2. Fixação Funcional</a:t>
            </a:r>
          </a:p>
        </p:txBody>
      </p:sp>
      <p:sp>
        <p:nvSpPr>
          <p:cNvPr id="90114" name="Espaço Reservado para Conteúdo 3">
            <a:extLst>
              <a:ext uri="{FF2B5EF4-FFF2-40B4-BE49-F238E27FC236}">
                <a16:creationId xmlns:a16="http://schemas.microsoft.com/office/drawing/2014/main" id="{6E895B1B-9228-8B4C-58DF-A0A8557B46B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pt-BR" altLang="pt-BR"/>
              <a:t>Com freqüência, </a:t>
            </a:r>
            <a:r>
              <a:rPr lang="pt-BR" altLang="pt-BR" u="sng"/>
              <a:t>assumimos</a:t>
            </a:r>
            <a:r>
              <a:rPr lang="pt-BR" altLang="pt-BR"/>
              <a:t> um </a:t>
            </a:r>
            <a:r>
              <a:rPr lang="pt-BR" altLang="pt-BR" u="sng"/>
              <a:t>único uso</a:t>
            </a:r>
            <a:r>
              <a:rPr lang="pt-BR" altLang="pt-BR"/>
              <a:t> p/ um </a:t>
            </a:r>
            <a:r>
              <a:rPr lang="pt-BR" altLang="pt-BR" u="sng"/>
              <a:t>produto</a:t>
            </a:r>
            <a:r>
              <a:rPr lang="pt-BR" altLang="pt-BR"/>
              <a:t>:</a:t>
            </a:r>
          </a:p>
          <a:p>
            <a:pPr lvl="1"/>
            <a:r>
              <a:rPr lang="pt-BR" altLang="pt-BR" sz="2200"/>
              <a:t>O </a:t>
            </a:r>
            <a:r>
              <a:rPr lang="pt-BR" altLang="pt-BR" sz="2200" u="sng"/>
              <a:t>uso original</a:t>
            </a:r>
            <a:r>
              <a:rPr lang="pt-BR" altLang="pt-BR" sz="2200"/>
              <a:t>.</a:t>
            </a:r>
          </a:p>
          <a:p>
            <a:endParaRPr lang="pt-BR" altLang="pt-BR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94CC8DDE-EE21-6891-92A2-7533A2DD0880}"/>
              </a:ext>
            </a:extLst>
          </p:cNvPr>
          <p:cNvPicPr>
            <a:picLocks noGrp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5300" y="2959100"/>
            <a:ext cx="8077200" cy="3340100"/>
          </a:xfrm>
        </p:spPr>
      </p:pic>
      <p:pic>
        <p:nvPicPr>
          <p:cNvPr id="90116" name="Picture 2" descr="C:\Documents and Settings\Gitirana\Configurações locais\Temporary Internet Files\Content.IE5\U54ARYXS\MCj04040410000[1].wmf">
            <a:extLst>
              <a:ext uri="{FF2B5EF4-FFF2-40B4-BE49-F238E27FC236}">
                <a16:creationId xmlns:a16="http://schemas.microsoft.com/office/drawing/2014/main" id="{BE5C1410-1E9E-5C0D-D580-F9B04041BA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579199">
            <a:off x="3128963" y="3173413"/>
            <a:ext cx="681037" cy="80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Espaço Reservado para Conteúdo 3">
            <a:extLst>
              <a:ext uri="{FF2B5EF4-FFF2-40B4-BE49-F238E27FC236}">
                <a16:creationId xmlns:a16="http://schemas.microsoft.com/office/drawing/2014/main" id="{6A7AE00F-34E2-875C-8F11-528FF4EB1473}"/>
              </a:ext>
            </a:extLst>
          </p:cNvPr>
          <p:cNvSpPr txBox="1">
            <a:spLocks/>
          </p:cNvSpPr>
          <p:nvPr/>
        </p:nvSpPr>
        <p:spPr bwMode="auto">
          <a:xfrm>
            <a:off x="4643438" y="981075"/>
            <a:ext cx="3956050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spcAft>
                <a:spcPct val="50000"/>
              </a:spcAft>
              <a:buFontTx/>
              <a:buChar char="•"/>
              <a:defRPr/>
            </a:pPr>
            <a:r>
              <a:rPr lang="pt-BR" sz="2400" kern="0" dirty="0">
                <a:solidFill>
                  <a:srgbClr val="333399"/>
                </a:solidFill>
                <a:latin typeface="+mn-lt"/>
              </a:rPr>
              <a:t>Em </a:t>
            </a:r>
            <a:r>
              <a:rPr lang="pt-BR" sz="2400" u="sng" kern="0" dirty="0">
                <a:solidFill>
                  <a:srgbClr val="333399"/>
                </a:solidFill>
                <a:latin typeface="+mn-lt"/>
              </a:rPr>
              <a:t>várias situações</a:t>
            </a:r>
            <a:r>
              <a:rPr lang="pt-BR" sz="2400" kern="0" dirty="0">
                <a:solidFill>
                  <a:srgbClr val="333399"/>
                </a:solidFill>
                <a:latin typeface="+mn-lt"/>
              </a:rPr>
              <a:t>, livres da FF, </a:t>
            </a:r>
            <a:r>
              <a:rPr lang="pt-BR" sz="2400" u="sng" kern="0" dirty="0">
                <a:solidFill>
                  <a:srgbClr val="333399"/>
                </a:solidFill>
                <a:latin typeface="+mn-lt"/>
              </a:rPr>
              <a:t>podemos</a:t>
            </a:r>
            <a:r>
              <a:rPr lang="pt-BR" sz="2400" kern="0" dirty="0">
                <a:solidFill>
                  <a:srgbClr val="333399"/>
                </a:solidFill>
                <a:latin typeface="+mn-lt"/>
              </a:rPr>
              <a:t> </a:t>
            </a:r>
            <a:r>
              <a:rPr lang="pt-BR" sz="2400" u="sng" kern="0" dirty="0">
                <a:solidFill>
                  <a:srgbClr val="333399"/>
                </a:solidFill>
                <a:latin typeface="+mn-lt"/>
              </a:rPr>
              <a:t>utilizar</a:t>
            </a:r>
            <a:r>
              <a:rPr lang="pt-BR" sz="2400" kern="0" dirty="0">
                <a:solidFill>
                  <a:srgbClr val="333399"/>
                </a:solidFill>
                <a:latin typeface="+mn-lt"/>
              </a:rPr>
              <a:t> um objeto p/ </a:t>
            </a:r>
            <a:r>
              <a:rPr lang="pt-BR" sz="2400" u="sng" kern="0" dirty="0">
                <a:solidFill>
                  <a:srgbClr val="333399"/>
                </a:solidFill>
                <a:latin typeface="+mn-lt"/>
              </a:rPr>
              <a:t>funções distintas </a:t>
            </a:r>
            <a:r>
              <a:rPr lang="pt-BR" sz="2400" kern="0" dirty="0">
                <a:solidFill>
                  <a:srgbClr val="333399"/>
                </a:solidFill>
                <a:latin typeface="+mn-lt"/>
              </a:rPr>
              <a:t>daquelas para a qual foi projetado</a:t>
            </a:r>
            <a:r>
              <a:rPr lang="pt-BR" kern="0" dirty="0">
                <a:solidFill>
                  <a:srgbClr val="333399"/>
                </a:solidFill>
                <a:latin typeface="+mn-lt"/>
              </a:rPr>
              <a:t>.</a:t>
            </a:r>
          </a:p>
          <a:p>
            <a:pPr marL="342900" indent="-342900" eaLnBrk="1" hangingPunct="1">
              <a:spcBef>
                <a:spcPct val="20000"/>
              </a:spcBef>
              <a:spcAft>
                <a:spcPct val="50000"/>
              </a:spcAft>
              <a:buFontTx/>
              <a:buChar char="•"/>
              <a:defRPr/>
            </a:pPr>
            <a:endParaRPr lang="pt-BR" sz="2400" kern="0" dirty="0">
              <a:solidFill>
                <a:srgbClr val="333399"/>
              </a:solidFill>
              <a:latin typeface="+mn-l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Título 1">
            <a:extLst>
              <a:ext uri="{FF2B5EF4-FFF2-40B4-BE49-F238E27FC236}">
                <a16:creationId xmlns:a16="http://schemas.microsoft.com/office/drawing/2014/main" id="{68475BD9-3CBA-78A1-9A29-781E8DEAE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3200"/>
              <a:t>3. Preocup. Prem. c/ Detalhes</a:t>
            </a:r>
          </a:p>
        </p:txBody>
      </p:sp>
      <p:sp>
        <p:nvSpPr>
          <p:cNvPr id="92162" name="Espaço Reservado para Conteúdo 3">
            <a:extLst>
              <a:ext uri="{FF2B5EF4-FFF2-40B4-BE49-F238E27FC236}">
                <a16:creationId xmlns:a16="http://schemas.microsoft.com/office/drawing/2014/main" id="{AC144818-5381-5616-BAAE-4D84FD22515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pt-BR" altLang="pt-BR"/>
              <a:t>A </a:t>
            </a:r>
            <a:r>
              <a:rPr lang="pt-BR" altLang="pt-BR" u="sng"/>
              <a:t>solução</a:t>
            </a:r>
            <a:r>
              <a:rPr lang="pt-BR" altLang="pt-BR"/>
              <a:t> </a:t>
            </a:r>
            <a:r>
              <a:rPr lang="pt-BR" altLang="pt-BR" u="sng"/>
              <a:t>não deve ser detalhada</a:t>
            </a:r>
            <a:r>
              <a:rPr lang="pt-BR" altLang="pt-BR"/>
              <a:t> muito </a:t>
            </a:r>
            <a:r>
              <a:rPr lang="pt-BR" altLang="pt-BR" u="sng"/>
              <a:t>cedo</a:t>
            </a:r>
            <a:r>
              <a:rPr lang="pt-BR" altLang="pt-BR"/>
              <a:t>:</a:t>
            </a:r>
          </a:p>
          <a:p>
            <a:pPr lvl="1"/>
            <a:r>
              <a:rPr lang="pt-BR" altLang="pt-BR" sz="2200"/>
              <a:t>Poderá </a:t>
            </a:r>
            <a:r>
              <a:rPr lang="pt-BR" altLang="pt-BR" sz="2200" u="sng"/>
              <a:t>impedir</a:t>
            </a:r>
            <a:r>
              <a:rPr lang="pt-BR" altLang="pt-BR" sz="2200"/>
              <a:t> uma </a:t>
            </a:r>
            <a:r>
              <a:rPr lang="pt-BR" altLang="pt-BR" sz="2200" u="sng"/>
              <a:t>visão ampla</a:t>
            </a:r>
            <a:r>
              <a:rPr lang="pt-BR" altLang="pt-BR" sz="2200"/>
              <a:t> das suas </a:t>
            </a:r>
            <a:r>
              <a:rPr lang="pt-BR" altLang="pt-BR" sz="2200" u="sng"/>
              <a:t>potencialidades</a:t>
            </a:r>
            <a:r>
              <a:rPr lang="pt-BR" altLang="pt-BR" sz="2200"/>
              <a:t>:</a:t>
            </a:r>
          </a:p>
          <a:p>
            <a:pPr lvl="2"/>
            <a:r>
              <a:rPr lang="pt-BR" altLang="pt-BR" u="sng"/>
              <a:t>Empecilho</a:t>
            </a:r>
            <a:r>
              <a:rPr lang="pt-BR" altLang="pt-BR"/>
              <a:t> à </a:t>
            </a:r>
            <a:r>
              <a:rPr lang="pt-BR" altLang="pt-BR" u="sng"/>
              <a:t>geração</a:t>
            </a:r>
            <a:r>
              <a:rPr lang="pt-BR" altLang="pt-BR"/>
              <a:t> de </a:t>
            </a:r>
            <a:r>
              <a:rPr lang="pt-BR" altLang="pt-BR" u="sng"/>
              <a:t>idéias</a:t>
            </a:r>
            <a:r>
              <a:rPr lang="pt-BR" altLang="pt-BR"/>
              <a:t> </a:t>
            </a:r>
            <a:r>
              <a:rPr lang="pt-BR" altLang="pt-BR" u="sng"/>
              <a:t>inovadoras</a:t>
            </a:r>
            <a:r>
              <a:rPr lang="pt-BR" altLang="pt-BR"/>
              <a:t>.</a:t>
            </a:r>
          </a:p>
          <a:p>
            <a:pPr lvl="1"/>
            <a:r>
              <a:rPr lang="pt-BR" altLang="pt-BR" sz="2200"/>
              <a:t>É preciso </a:t>
            </a:r>
            <a:r>
              <a:rPr lang="pt-BR" altLang="pt-BR" sz="2200" u="sng"/>
              <a:t>pensar</a:t>
            </a:r>
            <a:r>
              <a:rPr lang="pt-BR" altLang="pt-BR" sz="2200"/>
              <a:t> em </a:t>
            </a:r>
            <a:r>
              <a:rPr lang="pt-BR" altLang="pt-BR" sz="2200" u="sng"/>
              <a:t>termos amplos</a:t>
            </a:r>
            <a:r>
              <a:rPr lang="pt-BR" altLang="pt-BR" sz="2200"/>
              <a:t>, deixando p/ </a:t>
            </a:r>
            <a:r>
              <a:rPr lang="pt-BR" altLang="pt-BR" sz="2200" u="sng"/>
              <a:t>mais tarde</a:t>
            </a:r>
            <a:r>
              <a:rPr lang="pt-BR" altLang="pt-BR" sz="2200"/>
              <a:t> os </a:t>
            </a:r>
            <a:r>
              <a:rPr lang="pt-BR" altLang="pt-BR" sz="2200" u="sng"/>
              <a:t>detalhamentos</a:t>
            </a:r>
            <a:r>
              <a:rPr lang="pt-BR" altLang="pt-BR" sz="2200"/>
              <a:t>.</a:t>
            </a:r>
          </a:p>
          <a:p>
            <a:pPr lvl="1"/>
            <a:endParaRPr lang="pt-BR" altLang="pt-BR"/>
          </a:p>
        </p:txBody>
      </p:sp>
      <p:pic>
        <p:nvPicPr>
          <p:cNvPr id="92163" name="Espaço Reservado para Conteúdo 6" descr="mechanical_system.gif">
            <a:extLst>
              <a:ext uri="{FF2B5EF4-FFF2-40B4-BE49-F238E27FC236}">
                <a16:creationId xmlns:a16="http://schemas.microsoft.com/office/drawing/2014/main" id="{F4018770-4A04-704D-A901-374E871EBEE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14938" y="3571875"/>
            <a:ext cx="2714625" cy="2687638"/>
          </a:xfrm>
        </p:spPr>
      </p:pic>
      <p:sp>
        <p:nvSpPr>
          <p:cNvPr id="8" name="Espaço Reservado para Conteúdo 3">
            <a:extLst>
              <a:ext uri="{FF2B5EF4-FFF2-40B4-BE49-F238E27FC236}">
                <a16:creationId xmlns:a16="http://schemas.microsoft.com/office/drawing/2014/main" id="{FEC2FF21-0AE0-2363-A6F6-628A13EC1138}"/>
              </a:ext>
            </a:extLst>
          </p:cNvPr>
          <p:cNvSpPr txBox="1">
            <a:spLocks/>
          </p:cNvSpPr>
          <p:nvPr/>
        </p:nvSpPr>
        <p:spPr bwMode="auto">
          <a:xfrm>
            <a:off x="4643438" y="981075"/>
            <a:ext cx="3956050" cy="540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spcAft>
                <a:spcPct val="50000"/>
              </a:spcAft>
              <a:buFontTx/>
              <a:buChar char="•"/>
              <a:defRPr/>
            </a:pPr>
            <a:r>
              <a:rPr lang="pt-BR" sz="2400" u="sng" kern="0" dirty="0">
                <a:solidFill>
                  <a:srgbClr val="333399"/>
                </a:solidFill>
                <a:latin typeface="+mn-lt"/>
              </a:rPr>
              <a:t>Iniciar</a:t>
            </a:r>
            <a:r>
              <a:rPr lang="pt-BR" sz="2400" kern="0" dirty="0">
                <a:solidFill>
                  <a:srgbClr val="333399"/>
                </a:solidFill>
                <a:latin typeface="+mn-lt"/>
              </a:rPr>
              <a:t> </a:t>
            </a:r>
            <a:r>
              <a:rPr lang="pt-BR" sz="2400" u="sng" kern="0" dirty="0">
                <a:solidFill>
                  <a:srgbClr val="333399"/>
                </a:solidFill>
                <a:latin typeface="+mn-lt"/>
              </a:rPr>
              <a:t>imediatamente</a:t>
            </a:r>
            <a:r>
              <a:rPr lang="pt-BR" sz="2400" kern="0" dirty="0">
                <a:solidFill>
                  <a:srgbClr val="333399"/>
                </a:solidFill>
                <a:latin typeface="+mn-lt"/>
              </a:rPr>
              <a:t> o </a:t>
            </a:r>
            <a:r>
              <a:rPr lang="pt-BR" sz="2400" u="sng" kern="0" dirty="0">
                <a:solidFill>
                  <a:srgbClr val="333399"/>
                </a:solidFill>
                <a:latin typeface="+mn-lt"/>
              </a:rPr>
              <a:t>detalhamento</a:t>
            </a:r>
            <a:r>
              <a:rPr lang="pt-BR" sz="2400" kern="0" dirty="0">
                <a:solidFill>
                  <a:srgbClr val="333399"/>
                </a:solidFill>
                <a:latin typeface="+mn-lt"/>
              </a:rPr>
              <a:t> da </a:t>
            </a:r>
            <a:r>
              <a:rPr lang="pt-BR" sz="2400" u="sng" kern="0" dirty="0">
                <a:solidFill>
                  <a:srgbClr val="333399"/>
                </a:solidFill>
                <a:latin typeface="+mn-lt"/>
              </a:rPr>
              <a:t>primeira</a:t>
            </a:r>
            <a:r>
              <a:rPr lang="pt-BR" sz="2400" kern="0" dirty="0">
                <a:solidFill>
                  <a:srgbClr val="333399"/>
                </a:solidFill>
                <a:latin typeface="+mn-lt"/>
              </a:rPr>
              <a:t> suposta boa </a:t>
            </a:r>
            <a:r>
              <a:rPr lang="pt-BR" sz="2400" u="sng" kern="0" dirty="0">
                <a:solidFill>
                  <a:srgbClr val="333399"/>
                </a:solidFill>
                <a:latin typeface="+mn-lt"/>
              </a:rPr>
              <a:t>idéia</a:t>
            </a:r>
            <a:r>
              <a:rPr lang="pt-BR" sz="2400" kern="0" dirty="0">
                <a:solidFill>
                  <a:srgbClr val="333399"/>
                </a:solidFill>
                <a:latin typeface="+mn-lt"/>
              </a:rPr>
              <a:t> </a:t>
            </a:r>
            <a:r>
              <a:rPr lang="pt-BR" sz="2400" u="sng" kern="0" dirty="0">
                <a:solidFill>
                  <a:srgbClr val="333399"/>
                </a:solidFill>
                <a:latin typeface="+mn-lt"/>
              </a:rPr>
              <a:t>prejudicam</a:t>
            </a:r>
            <a:r>
              <a:rPr lang="pt-BR" sz="2400" kern="0" dirty="0">
                <a:solidFill>
                  <a:srgbClr val="333399"/>
                </a:solidFill>
                <a:latin typeface="+mn-lt"/>
              </a:rPr>
              <a:t> a </a:t>
            </a:r>
            <a:r>
              <a:rPr lang="pt-BR" sz="2400" u="sng" kern="0" dirty="0">
                <a:solidFill>
                  <a:srgbClr val="333399"/>
                </a:solidFill>
                <a:latin typeface="+mn-lt"/>
              </a:rPr>
              <a:t>capacidade</a:t>
            </a:r>
            <a:r>
              <a:rPr lang="pt-BR" sz="2400" kern="0" dirty="0">
                <a:solidFill>
                  <a:srgbClr val="333399"/>
                </a:solidFill>
                <a:latin typeface="+mn-lt"/>
              </a:rPr>
              <a:t> de </a:t>
            </a:r>
            <a:r>
              <a:rPr lang="pt-BR" sz="2400" u="sng" kern="0" dirty="0">
                <a:solidFill>
                  <a:srgbClr val="333399"/>
                </a:solidFill>
                <a:latin typeface="+mn-lt"/>
              </a:rPr>
              <a:t>pensar com liberdade</a:t>
            </a:r>
            <a:r>
              <a:rPr lang="pt-BR" sz="2400" kern="0" dirty="0">
                <a:solidFill>
                  <a:srgbClr val="333399"/>
                </a:solidFill>
                <a:latin typeface="+mn-lt"/>
              </a:rPr>
              <a:t>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Título 1">
            <a:extLst>
              <a:ext uri="{FF2B5EF4-FFF2-40B4-BE49-F238E27FC236}">
                <a16:creationId xmlns:a16="http://schemas.microsoft.com/office/drawing/2014/main" id="{AEEF5B80-BF2C-3A1B-49D9-E2739E0CD3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 sz="3200"/>
              <a:t>4. Depend. Exces. dos Outros</a:t>
            </a:r>
          </a:p>
        </p:txBody>
      </p:sp>
      <p:sp>
        <p:nvSpPr>
          <p:cNvPr id="94210" name="Espaço Reservado para Conteúdo 2">
            <a:extLst>
              <a:ext uri="{FF2B5EF4-FFF2-40B4-BE49-F238E27FC236}">
                <a16:creationId xmlns:a16="http://schemas.microsoft.com/office/drawing/2014/main" id="{F18481C5-1849-D2D8-469D-02523607DD71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pt-BR" altLang="pt-BR" u="sng"/>
              <a:t>Não devemos</a:t>
            </a:r>
            <a:r>
              <a:rPr lang="pt-BR" altLang="pt-BR"/>
              <a:t> nos deixar </a:t>
            </a:r>
            <a:r>
              <a:rPr lang="pt-BR" altLang="pt-BR" u="sng"/>
              <a:t>impressionar</a:t>
            </a:r>
            <a:r>
              <a:rPr lang="pt-BR" altLang="pt-BR"/>
              <a:t> em </a:t>
            </a:r>
            <a:r>
              <a:rPr lang="pt-BR" altLang="pt-BR" u="sng"/>
              <a:t>demasia</a:t>
            </a:r>
            <a:r>
              <a:rPr lang="pt-BR" altLang="pt-BR"/>
              <a:t> c/ os </a:t>
            </a:r>
            <a:r>
              <a:rPr lang="pt-BR" altLang="pt-BR" u="sng"/>
              <a:t>conhecimentos</a:t>
            </a:r>
            <a:r>
              <a:rPr lang="pt-BR" altLang="pt-BR"/>
              <a:t> e </a:t>
            </a:r>
            <a:r>
              <a:rPr lang="pt-BR" altLang="pt-BR" u="sng"/>
              <a:t>julgamentos</a:t>
            </a:r>
            <a:r>
              <a:rPr lang="pt-BR" altLang="pt-BR"/>
              <a:t> de </a:t>
            </a:r>
            <a:r>
              <a:rPr lang="pt-BR" altLang="pt-BR" u="sng"/>
              <a:t>outros</a:t>
            </a:r>
            <a:r>
              <a:rPr lang="pt-BR" altLang="pt-BR"/>
              <a:t>.</a:t>
            </a:r>
          </a:p>
          <a:p>
            <a:pPr lvl="1"/>
            <a:r>
              <a:rPr lang="pt-BR" altLang="pt-BR" sz="2200"/>
              <a:t>Reduz o nosso potencial criador. </a:t>
            </a:r>
          </a:p>
          <a:p>
            <a:pPr lvl="1"/>
            <a:r>
              <a:rPr lang="pt-BR" altLang="pt-BR" sz="2200"/>
              <a:t>Devemos buscar constantemente resolver pessoalmente os problemas.</a:t>
            </a:r>
          </a:p>
          <a:p>
            <a:pPr lvl="1"/>
            <a:endParaRPr lang="pt-BR" altLang="pt-BR"/>
          </a:p>
          <a:p>
            <a:pPr lvl="1"/>
            <a:endParaRPr lang="pt-BR" altLang="pt-BR"/>
          </a:p>
        </p:txBody>
      </p:sp>
      <p:sp>
        <p:nvSpPr>
          <p:cNvPr id="94211" name="Espaço Reservado para Conteúdo 3">
            <a:extLst>
              <a:ext uri="{FF2B5EF4-FFF2-40B4-BE49-F238E27FC236}">
                <a16:creationId xmlns:a16="http://schemas.microsoft.com/office/drawing/2014/main" id="{817E0D0A-1432-2EEA-0747-D36F2A31A5A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pt-BR" altLang="pt-BR"/>
              <a:t>Isto </a:t>
            </a:r>
            <a:r>
              <a:rPr lang="pt-BR" altLang="pt-BR" u="sng"/>
              <a:t>não significa</a:t>
            </a:r>
            <a:r>
              <a:rPr lang="pt-BR" altLang="pt-BR"/>
              <a:t> </a:t>
            </a:r>
            <a:r>
              <a:rPr lang="pt-BR" altLang="pt-BR" u="sng"/>
              <a:t>desprezar</a:t>
            </a:r>
            <a:r>
              <a:rPr lang="pt-BR" altLang="pt-BR"/>
              <a:t> as </a:t>
            </a:r>
            <a:r>
              <a:rPr lang="pt-BR" altLang="pt-BR" u="sng"/>
              <a:t>idéias</a:t>
            </a:r>
            <a:r>
              <a:rPr lang="pt-BR" altLang="pt-BR"/>
              <a:t> e </a:t>
            </a:r>
            <a:r>
              <a:rPr lang="pt-BR" altLang="pt-BR" u="sng"/>
              <a:t>opiniões</a:t>
            </a:r>
            <a:r>
              <a:rPr lang="pt-BR" altLang="pt-BR"/>
              <a:t> das </a:t>
            </a:r>
            <a:r>
              <a:rPr lang="pt-BR" altLang="pt-BR" u="sng"/>
              <a:t>pessoas mais experientes</a:t>
            </a:r>
            <a:r>
              <a:rPr lang="pt-BR" altLang="pt-BR"/>
              <a:t>.</a:t>
            </a:r>
          </a:p>
          <a:p>
            <a:pPr lvl="1"/>
            <a:r>
              <a:rPr lang="pt-BR" altLang="pt-BR"/>
              <a:t>Muito pelo </a:t>
            </a:r>
            <a:r>
              <a:rPr lang="pt-BR" altLang="pt-BR" u="sng"/>
              <a:t>contrário</a:t>
            </a:r>
            <a:r>
              <a:rPr lang="pt-BR" altLang="pt-BR"/>
              <a:t>!</a:t>
            </a:r>
          </a:p>
        </p:txBody>
      </p:sp>
      <p:pic>
        <p:nvPicPr>
          <p:cNvPr id="94212" name="Espaço Reservado para Conteúdo 10" descr="ena0017l.gif">
            <a:extLst>
              <a:ext uri="{FF2B5EF4-FFF2-40B4-BE49-F238E27FC236}">
                <a16:creationId xmlns:a16="http://schemas.microsoft.com/office/drawing/2014/main" id="{37A060CA-2F70-862C-E43C-1A5510AAD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3357563"/>
            <a:ext cx="2751138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Título 1">
            <a:extLst>
              <a:ext uri="{FF2B5EF4-FFF2-40B4-BE49-F238E27FC236}">
                <a16:creationId xmlns:a16="http://schemas.microsoft.com/office/drawing/2014/main" id="{97655E9B-E032-9A64-4B5D-5BE7C659E4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5. MOTIVAÇÃO EM EXCESSO</a:t>
            </a:r>
          </a:p>
        </p:txBody>
      </p:sp>
      <p:sp>
        <p:nvSpPr>
          <p:cNvPr id="95234" name="Espaço Reservado para Conteúdo 3">
            <a:extLst>
              <a:ext uri="{FF2B5EF4-FFF2-40B4-BE49-F238E27FC236}">
                <a16:creationId xmlns:a16="http://schemas.microsoft.com/office/drawing/2014/main" id="{ED165904-ED4C-D943-B89D-7959654E87E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pt-BR" altLang="pt-BR"/>
              <a:t>Motivação em excesso </a:t>
            </a:r>
            <a:r>
              <a:rPr lang="pt-BR" altLang="pt-BR" u="sng"/>
              <a:t>pode</a:t>
            </a:r>
            <a:r>
              <a:rPr lang="pt-BR" altLang="pt-BR"/>
              <a:t>:</a:t>
            </a:r>
          </a:p>
          <a:p>
            <a:pPr lvl="1"/>
            <a:r>
              <a:rPr lang="pt-BR" altLang="pt-BR" sz="2200" u="sng"/>
              <a:t>Ofuscar</a:t>
            </a:r>
            <a:r>
              <a:rPr lang="pt-BR" altLang="pt-BR" sz="2200"/>
              <a:t> a </a:t>
            </a:r>
            <a:r>
              <a:rPr lang="pt-BR" altLang="pt-BR" sz="2200" u="sng"/>
              <a:t>visão</a:t>
            </a:r>
            <a:r>
              <a:rPr lang="pt-BR" altLang="pt-BR" sz="2200"/>
              <a:t>;</a:t>
            </a:r>
          </a:p>
          <a:p>
            <a:pPr lvl="1"/>
            <a:r>
              <a:rPr lang="pt-BR" altLang="pt-BR" sz="2200" u="sng"/>
              <a:t>Estreitar</a:t>
            </a:r>
            <a:r>
              <a:rPr lang="pt-BR" altLang="pt-BR" sz="2200"/>
              <a:t> o </a:t>
            </a:r>
            <a:r>
              <a:rPr lang="pt-BR" altLang="pt-BR" sz="2200" u="sng"/>
              <a:t>campo de observação</a:t>
            </a:r>
            <a:r>
              <a:rPr lang="pt-BR" altLang="pt-BR" sz="2200"/>
              <a:t>;</a:t>
            </a:r>
          </a:p>
          <a:p>
            <a:pPr lvl="1"/>
            <a:r>
              <a:rPr lang="pt-BR" altLang="pt-BR" sz="2200" u="sng"/>
              <a:t>Reduzir</a:t>
            </a:r>
            <a:r>
              <a:rPr lang="pt-BR" altLang="pt-BR" sz="2200"/>
              <a:t> a </a:t>
            </a:r>
            <a:r>
              <a:rPr lang="pt-BR" altLang="pt-BR" sz="2200" u="sng"/>
              <a:t>eficácia</a:t>
            </a:r>
            <a:r>
              <a:rPr lang="pt-BR" altLang="pt-BR" sz="2200"/>
              <a:t> do </a:t>
            </a:r>
            <a:r>
              <a:rPr lang="pt-BR" altLang="pt-BR" sz="2200" u="sng"/>
              <a:t>proc. solucionador</a:t>
            </a:r>
            <a:r>
              <a:rPr lang="pt-BR" altLang="pt-BR" sz="2200"/>
              <a:t>.</a:t>
            </a:r>
          </a:p>
          <a:p>
            <a:r>
              <a:rPr lang="pt-BR" altLang="pt-BR"/>
              <a:t>O que </a:t>
            </a:r>
            <a:r>
              <a:rPr lang="pt-BR" altLang="pt-BR" u="sng"/>
              <a:t>pode levar ao</a:t>
            </a:r>
            <a:r>
              <a:rPr lang="pt-BR" altLang="pt-BR"/>
              <a:t>:</a:t>
            </a:r>
          </a:p>
          <a:p>
            <a:pPr lvl="1"/>
            <a:r>
              <a:rPr lang="pt-BR" altLang="pt-BR" sz="2200" u="sng"/>
              <a:t>Perfeccionismo</a:t>
            </a:r>
            <a:r>
              <a:rPr lang="pt-BR" altLang="pt-BR" sz="2200"/>
              <a:t>;</a:t>
            </a:r>
          </a:p>
          <a:p>
            <a:pPr lvl="1"/>
            <a:r>
              <a:rPr lang="pt-BR" altLang="pt-BR" sz="2200" u="sng"/>
              <a:t>Fixação</a:t>
            </a:r>
            <a:r>
              <a:rPr lang="pt-BR" altLang="pt-BR" sz="2200"/>
              <a:t> de </a:t>
            </a:r>
            <a:r>
              <a:rPr lang="pt-BR" altLang="pt-BR" sz="2200" u="sng"/>
              <a:t>objetivos</a:t>
            </a:r>
            <a:r>
              <a:rPr lang="pt-BR" altLang="pt-BR" sz="2200"/>
              <a:t> </a:t>
            </a:r>
            <a:r>
              <a:rPr lang="pt-BR" altLang="pt-BR" sz="2200" u="sng"/>
              <a:t>difíceis de alcançar</a:t>
            </a:r>
            <a:r>
              <a:rPr lang="pt-BR" altLang="pt-BR" sz="2200"/>
              <a:t>.</a:t>
            </a:r>
          </a:p>
        </p:txBody>
      </p:sp>
      <p:sp>
        <p:nvSpPr>
          <p:cNvPr id="13" name="Espaço Reservado para Conteúdo 12">
            <a:extLst>
              <a:ext uri="{FF2B5EF4-FFF2-40B4-BE49-F238E27FC236}">
                <a16:creationId xmlns:a16="http://schemas.microsoft.com/office/drawing/2014/main" id="{AA036DD3-3D65-8F3F-DA6C-C70C12B8235B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pt-BR" altLang="pt-BR" u="sng"/>
              <a:t>Resultado</a:t>
            </a:r>
            <a:r>
              <a:rPr lang="pt-BR" altLang="pt-BR"/>
              <a:t>:</a:t>
            </a:r>
          </a:p>
          <a:p>
            <a:pPr lvl="1"/>
            <a:r>
              <a:rPr lang="pt-BR" altLang="pt-BR" sz="2200" u="sng"/>
              <a:t>Pouca</a:t>
            </a:r>
            <a:r>
              <a:rPr lang="pt-BR" altLang="pt-BR" sz="2200"/>
              <a:t> ou </a:t>
            </a:r>
            <a:r>
              <a:rPr lang="pt-BR" altLang="pt-BR" sz="2200" u="sng"/>
              <a:t>nenhuma solução</a:t>
            </a:r>
            <a:r>
              <a:rPr lang="pt-BR" altLang="pt-BR" sz="2200"/>
              <a:t>.</a:t>
            </a:r>
          </a:p>
        </p:txBody>
      </p:sp>
      <p:pic>
        <p:nvPicPr>
          <p:cNvPr id="95236" name="Imagem 14" descr="motivated.gif">
            <a:extLst>
              <a:ext uri="{FF2B5EF4-FFF2-40B4-BE49-F238E27FC236}">
                <a16:creationId xmlns:a16="http://schemas.microsoft.com/office/drawing/2014/main" id="{F75C56CF-EE68-8FF1-FACB-4B1191024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5" y="2928938"/>
            <a:ext cx="2928938" cy="287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Título 1">
            <a:extLst>
              <a:ext uri="{FF2B5EF4-FFF2-40B4-BE49-F238E27FC236}">
                <a16:creationId xmlns:a16="http://schemas.microsoft.com/office/drawing/2014/main" id="{3F87EFA7-4DA1-36B4-78E0-E2CD7048E7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6. MEDO DE CRÍTICA</a:t>
            </a:r>
          </a:p>
        </p:txBody>
      </p:sp>
      <p:sp>
        <p:nvSpPr>
          <p:cNvPr id="96258" name="Espaço Reservado para Conteúdo 3">
            <a:extLst>
              <a:ext uri="{FF2B5EF4-FFF2-40B4-BE49-F238E27FC236}">
                <a16:creationId xmlns:a16="http://schemas.microsoft.com/office/drawing/2014/main" id="{23A72EE4-D68A-1B41-37F4-2A5449ED86B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pt-BR" altLang="pt-BR"/>
              <a:t>(</a:t>
            </a:r>
            <a:r>
              <a:rPr lang="pt-BR" altLang="pt-BR" u="sng"/>
              <a:t>Desaprovação</a:t>
            </a:r>
            <a:r>
              <a:rPr lang="pt-BR" altLang="pt-BR"/>
              <a:t> ou </a:t>
            </a:r>
            <a:r>
              <a:rPr lang="pt-BR" altLang="pt-BR" u="sng"/>
              <a:t>desapontamento pessoal</a:t>
            </a:r>
            <a:r>
              <a:rPr lang="pt-BR" altLang="pt-BR"/>
              <a:t>) pode </a:t>
            </a:r>
            <a:r>
              <a:rPr lang="pt-BR" altLang="pt-BR" u="sng"/>
              <a:t>inibir</a:t>
            </a:r>
            <a:r>
              <a:rPr lang="pt-BR" altLang="pt-BR"/>
              <a:t> a </a:t>
            </a:r>
            <a:r>
              <a:rPr lang="pt-BR" altLang="pt-BR" u="sng"/>
              <a:t>proposição de idéias</a:t>
            </a:r>
            <a:r>
              <a:rPr lang="pt-BR" altLang="pt-BR"/>
              <a:t>.</a:t>
            </a:r>
          </a:p>
          <a:p>
            <a:pPr lvl="1"/>
            <a:r>
              <a:rPr lang="pt-BR" altLang="pt-BR" sz="2200" u="sng"/>
              <a:t>Quanto mais originais e brilhantes</a:t>
            </a:r>
            <a:r>
              <a:rPr lang="pt-BR" altLang="pt-BR" sz="2200"/>
              <a:t> forem as idéias, </a:t>
            </a:r>
            <a:r>
              <a:rPr lang="pt-BR" altLang="pt-BR" sz="2200" u="sng"/>
              <a:t>mais vulneráveis</a:t>
            </a:r>
            <a:r>
              <a:rPr lang="pt-BR" altLang="pt-BR" sz="2200"/>
              <a:t> à criticas também serão.</a:t>
            </a:r>
          </a:p>
          <a:p>
            <a:r>
              <a:rPr lang="pt-BR" altLang="pt-BR" u="sng"/>
              <a:t>Exemplos</a:t>
            </a:r>
            <a:r>
              <a:rPr lang="pt-BR" altLang="pt-BR"/>
              <a:t> da história:</a:t>
            </a:r>
          </a:p>
          <a:p>
            <a:pPr lvl="1"/>
            <a:r>
              <a:rPr lang="pt-BR" altLang="pt-BR" sz="2200"/>
              <a:t>Invenção </a:t>
            </a:r>
            <a:r>
              <a:rPr lang="pt-BR" altLang="pt-BR" sz="2200" u="sng"/>
              <a:t>máq. têxtil</a:t>
            </a:r>
            <a:r>
              <a:rPr lang="pt-BR" altLang="pt-BR" sz="2200"/>
              <a:t>;</a:t>
            </a:r>
          </a:p>
          <a:p>
            <a:pPr lvl="1"/>
            <a:r>
              <a:rPr lang="pt-BR" altLang="pt-BR" sz="2200" u="sng"/>
              <a:t>Imprensa</a:t>
            </a:r>
            <a:r>
              <a:rPr lang="pt-BR" altLang="pt-BR" sz="2200"/>
              <a:t>;</a:t>
            </a:r>
          </a:p>
        </p:txBody>
      </p:sp>
      <p:sp>
        <p:nvSpPr>
          <p:cNvPr id="96259" name="Espaço Reservado para Conteúdo 4">
            <a:extLst>
              <a:ext uri="{FF2B5EF4-FFF2-40B4-BE49-F238E27FC236}">
                <a16:creationId xmlns:a16="http://schemas.microsoft.com/office/drawing/2014/main" id="{EA3A6013-4DBF-EE1C-F769-797854DC95E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lvl="1"/>
            <a:r>
              <a:rPr lang="pt-BR" altLang="pt-BR" sz="2200" u="sng"/>
              <a:t>Trabalhos especulativos</a:t>
            </a:r>
            <a:r>
              <a:rPr lang="pt-BR" altLang="pt-BR" sz="2200"/>
              <a:t> de </a:t>
            </a:r>
            <a:r>
              <a:rPr lang="pt-BR" altLang="pt-BR" sz="2200" u="sng"/>
              <a:t>Da Vinci</a:t>
            </a:r>
            <a:r>
              <a:rPr lang="pt-BR" altLang="pt-BR" sz="2200"/>
              <a:t>;</a:t>
            </a:r>
          </a:p>
          <a:p>
            <a:pPr lvl="1"/>
            <a:r>
              <a:rPr lang="pt-BR" altLang="pt-BR" sz="2200" u="sng"/>
              <a:t>Teoria da Evolução das Espécies</a:t>
            </a:r>
            <a:r>
              <a:rPr lang="pt-BR" altLang="pt-BR" sz="2200"/>
              <a:t> (Charles Darwin).</a:t>
            </a:r>
          </a:p>
        </p:txBody>
      </p:sp>
      <p:pic>
        <p:nvPicPr>
          <p:cNvPr id="96260" name="Picture 2" descr="C:\Documents and Settings\Gitirana\Configurações locais\Temporary Internet Files\Content.IE5\TMXLBIJ1\MCj04103730000[1].wmf">
            <a:extLst>
              <a:ext uri="{FF2B5EF4-FFF2-40B4-BE49-F238E27FC236}">
                <a16:creationId xmlns:a16="http://schemas.microsoft.com/office/drawing/2014/main" id="{37035F9A-DE67-A90B-E584-C39A50197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6286500" y="3643313"/>
            <a:ext cx="1146175" cy="237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Título 1">
            <a:extLst>
              <a:ext uri="{FF2B5EF4-FFF2-40B4-BE49-F238E27FC236}">
                <a16:creationId xmlns:a16="http://schemas.microsoft.com/office/drawing/2014/main" id="{7E0A72E6-DE05-DFD6-2770-5692B4B163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7. CONSERVADORISMO</a:t>
            </a:r>
          </a:p>
        </p:txBody>
      </p:sp>
      <p:sp>
        <p:nvSpPr>
          <p:cNvPr id="97282" name="Espaço Reservado para Conteúdo 3">
            <a:extLst>
              <a:ext uri="{FF2B5EF4-FFF2-40B4-BE49-F238E27FC236}">
                <a16:creationId xmlns:a16="http://schemas.microsoft.com/office/drawing/2014/main" id="{56BE6ACF-8D40-24E5-3448-F316FF2533E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pt-BR" altLang="pt-BR" u="sng"/>
              <a:t>Reprimir idéias muito inovadoras</a:t>
            </a:r>
            <a:r>
              <a:rPr lang="pt-BR" altLang="pt-BR"/>
              <a:t> é uma </a:t>
            </a:r>
            <a:r>
              <a:rPr lang="pt-BR" altLang="pt-BR" u="sng"/>
              <a:t>tendência natural</a:t>
            </a:r>
            <a:r>
              <a:rPr lang="pt-BR" altLang="pt-BR"/>
              <a:t> do </a:t>
            </a:r>
            <a:r>
              <a:rPr lang="pt-BR" altLang="pt-BR" u="sng"/>
              <a:t>ser humano</a:t>
            </a:r>
            <a:r>
              <a:rPr lang="pt-BR" altLang="pt-BR"/>
              <a:t>.</a:t>
            </a:r>
          </a:p>
          <a:p>
            <a:pPr lvl="1"/>
            <a:r>
              <a:rPr lang="pt-BR" altLang="pt-BR" sz="2200" u="sng"/>
              <a:t>Algo</a:t>
            </a:r>
            <a:r>
              <a:rPr lang="pt-BR" altLang="pt-BR" sz="2200"/>
              <a:t> que pode ser considerado </a:t>
            </a:r>
            <a:r>
              <a:rPr lang="pt-BR" altLang="pt-BR" sz="2200" u="sng"/>
              <a:t>saudável</a:t>
            </a:r>
            <a:r>
              <a:rPr lang="pt-BR" altLang="pt-BR" sz="2200"/>
              <a:t> no </a:t>
            </a:r>
            <a:r>
              <a:rPr lang="pt-BR" altLang="pt-BR" sz="2200" u="sng"/>
              <a:t>processo criativo</a:t>
            </a:r>
            <a:r>
              <a:rPr lang="pt-BR" altLang="pt-BR" sz="2200"/>
              <a:t> como um todo.</a:t>
            </a:r>
          </a:p>
          <a:p>
            <a:pPr lvl="1"/>
            <a:r>
              <a:rPr lang="pt-BR" altLang="pt-BR" sz="2200" u="sng"/>
              <a:t>Porém</a:t>
            </a:r>
            <a:r>
              <a:rPr lang="pt-BR" altLang="pt-BR" sz="2200"/>
              <a:t>, o </a:t>
            </a:r>
            <a:r>
              <a:rPr lang="pt-BR" altLang="pt-BR" sz="2200" u="sng"/>
              <a:t>excesso</a:t>
            </a:r>
            <a:r>
              <a:rPr lang="pt-BR" altLang="pt-BR" sz="2200"/>
              <a:t> de conservadorismo </a:t>
            </a:r>
            <a:r>
              <a:rPr lang="pt-BR" altLang="pt-BR" sz="2200" u="sng"/>
              <a:t>pode levar</a:t>
            </a:r>
            <a:r>
              <a:rPr lang="pt-BR" altLang="pt-BR" sz="2200"/>
              <a:t> à </a:t>
            </a:r>
            <a:r>
              <a:rPr lang="pt-BR" altLang="pt-BR" sz="2200" u="sng"/>
              <a:t>rejeição</a:t>
            </a:r>
            <a:r>
              <a:rPr lang="pt-BR" altLang="pt-BR" sz="2200"/>
              <a:t> </a:t>
            </a:r>
            <a:r>
              <a:rPr lang="pt-BR" altLang="pt-BR" sz="2200" u="sng"/>
              <a:t>prematura</a:t>
            </a:r>
            <a:r>
              <a:rPr lang="pt-BR" altLang="pt-BR" sz="2200"/>
              <a:t> </a:t>
            </a:r>
            <a:r>
              <a:rPr lang="pt-BR" altLang="pt-BR" sz="2200" u="sng"/>
              <a:t>idéias</a:t>
            </a:r>
            <a:r>
              <a:rPr lang="pt-BR" altLang="pt-BR" sz="2200"/>
              <a:t> que mais tarde podem se revelar </a:t>
            </a:r>
            <a:r>
              <a:rPr lang="pt-BR" altLang="pt-BR" sz="2200" u="sng"/>
              <a:t>valiosas</a:t>
            </a:r>
            <a:r>
              <a:rPr lang="pt-BR" altLang="pt-BR" sz="2200"/>
              <a:t>!</a:t>
            </a:r>
          </a:p>
        </p:txBody>
      </p:sp>
      <p:pic>
        <p:nvPicPr>
          <p:cNvPr id="97283" name="Espaço Reservado para Conteúdo 6" descr="conservative.gif">
            <a:extLst>
              <a:ext uri="{FF2B5EF4-FFF2-40B4-BE49-F238E27FC236}">
                <a16:creationId xmlns:a16="http://schemas.microsoft.com/office/drawing/2014/main" id="{D200D6D3-B546-4DA9-B933-A8A03A16F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0" y="3214688"/>
            <a:ext cx="1439863" cy="290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7284" name="Espaço Reservado para Conteúdo 3">
            <a:extLst>
              <a:ext uri="{FF2B5EF4-FFF2-40B4-BE49-F238E27FC236}">
                <a16:creationId xmlns:a16="http://schemas.microsoft.com/office/drawing/2014/main" id="{595E8F6A-462D-271C-F468-EF6B35E1800D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643438" y="981075"/>
            <a:ext cx="3956050" cy="5400675"/>
          </a:xfrm>
        </p:spPr>
        <p:txBody>
          <a:bodyPr/>
          <a:lstStyle/>
          <a:p>
            <a:r>
              <a:rPr lang="pt-BR" altLang="pt-BR"/>
              <a:t>O </a:t>
            </a:r>
            <a:r>
              <a:rPr lang="pt-BR" altLang="pt-BR" u="sng"/>
              <a:t>bom engenheiro</a:t>
            </a:r>
            <a:r>
              <a:rPr lang="pt-BR" altLang="pt-BR"/>
              <a:t> deve </a:t>
            </a:r>
            <a:r>
              <a:rPr lang="pt-BR" altLang="pt-BR" u="sng"/>
              <a:t>saber dar</a:t>
            </a:r>
            <a:r>
              <a:rPr lang="pt-BR" altLang="pt-BR"/>
              <a:t> </a:t>
            </a:r>
            <a:r>
              <a:rPr lang="pt-BR" altLang="pt-BR" u="sng"/>
              <a:t>oportunidades</a:t>
            </a:r>
            <a:r>
              <a:rPr lang="pt-BR" altLang="pt-BR"/>
              <a:t> </a:t>
            </a:r>
            <a:r>
              <a:rPr lang="pt-BR" altLang="pt-BR" u="sng"/>
              <a:t>razoáveis</a:t>
            </a:r>
            <a:r>
              <a:rPr lang="pt-BR" altLang="pt-BR"/>
              <a:t> a </a:t>
            </a:r>
            <a:r>
              <a:rPr lang="pt-BR" altLang="pt-BR" u="sng"/>
              <a:t>todas</a:t>
            </a:r>
            <a:r>
              <a:rPr lang="pt-BR" altLang="pt-BR"/>
              <a:t> as </a:t>
            </a:r>
            <a:r>
              <a:rPr lang="pt-BR" altLang="pt-BR" u="sng"/>
              <a:t>alternativas</a:t>
            </a:r>
            <a:r>
              <a:rPr lang="pt-BR" altLang="pt-BR"/>
              <a:t>!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Título 1">
            <a:extLst>
              <a:ext uri="{FF2B5EF4-FFF2-40B4-BE49-F238E27FC236}">
                <a16:creationId xmlns:a16="http://schemas.microsoft.com/office/drawing/2014/main" id="{2333F28D-181E-1B3E-EE0E-42257650E8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8. SATISFAÇÃO PREMATURA</a:t>
            </a:r>
          </a:p>
        </p:txBody>
      </p:sp>
      <p:sp>
        <p:nvSpPr>
          <p:cNvPr id="98306" name="Espaço Reservado para Conteúdo 3">
            <a:extLst>
              <a:ext uri="{FF2B5EF4-FFF2-40B4-BE49-F238E27FC236}">
                <a16:creationId xmlns:a16="http://schemas.microsoft.com/office/drawing/2014/main" id="{3B1E74A6-3257-D276-1CE8-15CDEE0C4FE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pt-BR" altLang="pt-BR" u="sng"/>
              <a:t>Contentarmo-nos</a:t>
            </a:r>
            <a:r>
              <a:rPr lang="pt-BR" altLang="pt-BR"/>
              <a:t> com a </a:t>
            </a:r>
            <a:r>
              <a:rPr lang="pt-BR" altLang="pt-BR" u="sng"/>
              <a:t>primeira boa idéia</a:t>
            </a:r>
            <a:r>
              <a:rPr lang="pt-BR" altLang="pt-BR"/>
              <a:t> é uma </a:t>
            </a:r>
            <a:r>
              <a:rPr lang="pt-BR" altLang="pt-BR" u="sng"/>
              <a:t>atitude</a:t>
            </a:r>
            <a:r>
              <a:rPr lang="pt-BR" altLang="pt-BR"/>
              <a:t> </a:t>
            </a:r>
            <a:r>
              <a:rPr lang="pt-BR" altLang="pt-BR" u="sng"/>
              <a:t>comodista</a:t>
            </a:r>
            <a:r>
              <a:rPr lang="pt-BR" altLang="pt-BR"/>
              <a:t> que </a:t>
            </a:r>
            <a:r>
              <a:rPr lang="pt-BR" altLang="pt-BR" u="sng"/>
              <a:t>inibe</a:t>
            </a:r>
            <a:r>
              <a:rPr lang="pt-BR" altLang="pt-BR"/>
              <a:t> o nosso </a:t>
            </a:r>
            <a:r>
              <a:rPr lang="pt-BR" altLang="pt-BR" u="sng"/>
              <a:t>potencial criativo</a:t>
            </a:r>
            <a:r>
              <a:rPr lang="pt-BR" altLang="pt-BR"/>
              <a:t>.</a:t>
            </a:r>
          </a:p>
          <a:p>
            <a:pPr lvl="1"/>
            <a:r>
              <a:rPr lang="pt-BR" altLang="pt-BR" sz="2200"/>
              <a:t>“</a:t>
            </a:r>
            <a:r>
              <a:rPr lang="pt-BR" altLang="pt-BR" sz="2200" u="sng"/>
              <a:t>Síndrome da Primeira Solução</a:t>
            </a:r>
            <a:r>
              <a:rPr lang="pt-BR" altLang="pt-BR" sz="2200"/>
              <a:t>”:</a:t>
            </a:r>
          </a:p>
          <a:p>
            <a:pPr lvl="2"/>
            <a:r>
              <a:rPr lang="pt-BR" altLang="pt-BR"/>
              <a:t>Relaxamos sempre que encontramos uma primeira solução (tarefa cumprida).</a:t>
            </a:r>
          </a:p>
          <a:p>
            <a:pPr lvl="2"/>
            <a:endParaRPr lang="pt-BR" altLang="pt-BR"/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9176F6D1-3A0B-88B2-4417-5D78936DB85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lvl="1" indent="-342900">
              <a:buFontTx/>
              <a:buChar char="•"/>
              <a:defRPr/>
            </a:pPr>
            <a:r>
              <a:rPr lang="pt-BR" u="sng" dirty="0"/>
              <a:t>Sugestão</a:t>
            </a:r>
            <a:r>
              <a:rPr lang="pt-BR" dirty="0"/>
              <a:t>: </a:t>
            </a:r>
          </a:p>
          <a:p>
            <a:pPr lvl="1">
              <a:defRPr/>
            </a:pPr>
            <a:r>
              <a:rPr lang="pt-BR" sz="2200" u="sng" dirty="0"/>
              <a:t>Buscar</a:t>
            </a:r>
            <a:r>
              <a:rPr lang="pt-BR" sz="2200" dirty="0"/>
              <a:t> </a:t>
            </a:r>
            <a:r>
              <a:rPr lang="pt-BR" sz="2200" u="sng" dirty="0"/>
              <a:t>sempre</a:t>
            </a:r>
            <a:r>
              <a:rPr lang="pt-BR" sz="2200" dirty="0"/>
              <a:t> </a:t>
            </a:r>
            <a:r>
              <a:rPr lang="pt-BR" sz="2200" u="sng" dirty="0"/>
              <a:t>outras soluções</a:t>
            </a:r>
            <a:r>
              <a:rPr lang="pt-BR" sz="2200" dirty="0"/>
              <a:t>, mesmo que a primeira se pareça muito boa.</a:t>
            </a:r>
          </a:p>
          <a:p>
            <a:pPr>
              <a:defRPr/>
            </a:pPr>
            <a:endParaRPr lang="pt-BR" dirty="0"/>
          </a:p>
        </p:txBody>
      </p:sp>
      <p:pic>
        <p:nvPicPr>
          <p:cNvPr id="98308" name="Espaço Reservado para Conteúdo 11" descr="ok.gif">
            <a:extLst>
              <a:ext uri="{FF2B5EF4-FFF2-40B4-BE49-F238E27FC236}">
                <a16:creationId xmlns:a16="http://schemas.microsoft.com/office/drawing/2014/main" id="{05CEF072-9CFF-6BE1-2B20-AB894B68D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125" y="3571875"/>
            <a:ext cx="2143125" cy="277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Título 1">
            <a:extLst>
              <a:ext uri="{FF2B5EF4-FFF2-40B4-BE49-F238E27FC236}">
                <a16:creationId xmlns:a16="http://schemas.microsoft.com/office/drawing/2014/main" id="{F7A0F854-6407-AA87-D4ED-4079F5BC4B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9. REJEIÇÃO PREMATURA</a:t>
            </a:r>
          </a:p>
        </p:txBody>
      </p:sp>
      <p:sp>
        <p:nvSpPr>
          <p:cNvPr id="99330" name="Espaço Reservado para Conteúdo 3">
            <a:extLst>
              <a:ext uri="{FF2B5EF4-FFF2-40B4-BE49-F238E27FC236}">
                <a16:creationId xmlns:a16="http://schemas.microsoft.com/office/drawing/2014/main" id="{79CB4D70-A957-C3FF-46B2-9A5356A441D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pt-BR" altLang="pt-BR"/>
              <a:t>De mesma forma que não devemos adotar a primeira boa idéia proposta, </a:t>
            </a:r>
            <a:r>
              <a:rPr lang="pt-BR" altLang="pt-BR" u="sng"/>
              <a:t>também</a:t>
            </a:r>
            <a:r>
              <a:rPr lang="pt-BR" altLang="pt-BR"/>
              <a:t> </a:t>
            </a:r>
            <a:r>
              <a:rPr lang="pt-BR" altLang="pt-BR" u="sng"/>
              <a:t>não devemos</a:t>
            </a:r>
            <a:r>
              <a:rPr lang="pt-BR" altLang="pt-BR"/>
              <a:t> </a:t>
            </a:r>
            <a:r>
              <a:rPr lang="pt-BR" altLang="pt-BR" u="sng"/>
              <a:t>rejeitar</a:t>
            </a:r>
            <a:r>
              <a:rPr lang="pt-BR" altLang="pt-BR"/>
              <a:t> </a:t>
            </a:r>
            <a:r>
              <a:rPr lang="pt-BR" altLang="pt-BR" u="sng"/>
              <a:t>prematuramente</a:t>
            </a:r>
            <a:r>
              <a:rPr lang="pt-BR" altLang="pt-BR"/>
              <a:t> </a:t>
            </a:r>
            <a:r>
              <a:rPr lang="pt-BR" altLang="pt-BR" u="sng"/>
              <a:t>qualquer idéia</a:t>
            </a:r>
            <a:r>
              <a:rPr lang="pt-BR" altLang="pt-BR"/>
              <a:t> que </a:t>
            </a:r>
            <a:r>
              <a:rPr lang="pt-BR" altLang="pt-BR" u="sng"/>
              <a:t>não pareça</a:t>
            </a:r>
            <a:r>
              <a:rPr lang="pt-BR" altLang="pt-BR"/>
              <a:t> ser </a:t>
            </a:r>
            <a:r>
              <a:rPr lang="pt-BR" altLang="pt-BR" u="sng"/>
              <a:t>tão boa</a:t>
            </a:r>
            <a:r>
              <a:rPr lang="pt-BR" altLang="pt-BR"/>
              <a:t>.</a:t>
            </a:r>
          </a:p>
          <a:p>
            <a:pPr lvl="1"/>
            <a:r>
              <a:rPr lang="pt-BR" altLang="pt-BR" sz="2200"/>
              <a:t>Esta idéia </a:t>
            </a:r>
            <a:r>
              <a:rPr lang="pt-BR" altLang="pt-BR" sz="2200" u="sng"/>
              <a:t>pode</a:t>
            </a:r>
            <a:r>
              <a:rPr lang="pt-BR" altLang="pt-BR" sz="2200"/>
              <a:t> vir a </a:t>
            </a:r>
            <a:r>
              <a:rPr lang="pt-BR" altLang="pt-BR" sz="2200" u="sng"/>
              <a:t>se tornar</a:t>
            </a:r>
            <a:r>
              <a:rPr lang="pt-BR" altLang="pt-BR" sz="2200"/>
              <a:t>, mais tarde, a </a:t>
            </a:r>
            <a:r>
              <a:rPr lang="pt-BR" altLang="pt-BR" sz="2200" u="sng"/>
              <a:t>melhor solução</a:t>
            </a:r>
            <a:r>
              <a:rPr lang="pt-BR" altLang="pt-BR" sz="2200"/>
              <a:t> para o </a:t>
            </a:r>
            <a:r>
              <a:rPr lang="pt-BR" altLang="pt-BR" sz="2200" u="sng"/>
              <a:t>problema</a:t>
            </a:r>
            <a:r>
              <a:rPr lang="pt-BR" altLang="pt-BR" sz="2200"/>
              <a:t>.</a:t>
            </a:r>
          </a:p>
        </p:txBody>
      </p:sp>
      <p:pic>
        <p:nvPicPr>
          <p:cNvPr id="99331" name="Espaço Reservado para Conteúdo 5" descr="story.gif">
            <a:extLst>
              <a:ext uri="{FF2B5EF4-FFF2-40B4-BE49-F238E27FC236}">
                <a16:creationId xmlns:a16="http://schemas.microsoft.com/office/drawing/2014/main" id="{3C9DD0EF-AB71-24FF-7892-A4258E55C3CA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57750" y="2143125"/>
            <a:ext cx="3067050" cy="3067050"/>
          </a:xfr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Título 1">
            <a:extLst>
              <a:ext uri="{FF2B5EF4-FFF2-40B4-BE49-F238E27FC236}">
                <a16:creationId xmlns:a16="http://schemas.microsoft.com/office/drawing/2014/main" id="{B9D9E70B-4B31-4F4D-BFCF-4CA4D245D0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Sumário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9D6B217-A7D5-A53C-906E-0D3B9D334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A criatividade</a:t>
            </a:r>
          </a:p>
          <a:p>
            <a:pPr>
              <a:defRPr/>
            </a:pPr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O processo criativo</a:t>
            </a:r>
          </a:p>
          <a:p>
            <a:pPr>
              <a:defRPr/>
            </a:pPr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Barreiras à criatividade</a:t>
            </a:r>
          </a:p>
          <a:p>
            <a:pPr>
              <a:defRPr/>
            </a:pPr>
            <a:r>
              <a:rPr lang="pt-BR" dirty="0"/>
              <a:t>Métodos e ferramentas</a:t>
            </a:r>
          </a:p>
          <a:p>
            <a:pPr lvl="1">
              <a:defRPr/>
            </a:pPr>
            <a:endParaRPr lang="pt-BR" dirty="0"/>
          </a:p>
          <a:p>
            <a:pPr>
              <a:defRPr/>
            </a:pPr>
            <a:endParaRPr lang="pt-BR" dirty="0"/>
          </a:p>
          <a:p>
            <a:pPr>
              <a:defRPr/>
            </a:pPr>
            <a:endParaRPr lang="pt-BR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Título 1">
            <a:extLst>
              <a:ext uri="{FF2B5EF4-FFF2-40B4-BE49-F238E27FC236}">
                <a16:creationId xmlns:a16="http://schemas.microsoft.com/office/drawing/2014/main" id="{B70131AE-DC13-91A4-2C23-9608250ACD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Métodos e Ferramentas</a:t>
            </a:r>
          </a:p>
        </p:txBody>
      </p:sp>
      <p:sp>
        <p:nvSpPr>
          <p:cNvPr id="101378" name="Espaço Reservado para Conteúdo 3">
            <a:extLst>
              <a:ext uri="{FF2B5EF4-FFF2-40B4-BE49-F238E27FC236}">
                <a16:creationId xmlns:a16="http://schemas.microsoft.com/office/drawing/2014/main" id="{8D773218-4401-F697-6AB8-5F8E8F194793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pt-BR" altLang="pt-BR" u="sng"/>
              <a:t>Juntamente</a:t>
            </a:r>
            <a:r>
              <a:rPr lang="pt-BR" altLang="pt-BR"/>
              <a:t> com o </a:t>
            </a:r>
            <a:r>
              <a:rPr lang="pt-BR" altLang="pt-BR" u="sng"/>
              <a:t>entendimento</a:t>
            </a:r>
            <a:r>
              <a:rPr lang="pt-BR" altLang="pt-BR"/>
              <a:t> das </a:t>
            </a:r>
            <a:r>
              <a:rPr lang="pt-BR" altLang="pt-BR" u="sng"/>
              <a:t>barreiras</a:t>
            </a:r>
            <a:r>
              <a:rPr lang="pt-BR" altLang="pt-BR"/>
              <a:t> se antepõem à criatividade, </a:t>
            </a:r>
            <a:r>
              <a:rPr lang="pt-BR" altLang="pt-BR" u="sng"/>
              <a:t>alguns</a:t>
            </a:r>
            <a:r>
              <a:rPr lang="pt-BR" altLang="pt-BR"/>
              <a:t> </a:t>
            </a:r>
            <a:r>
              <a:rPr lang="pt-BR" altLang="pt-BR" u="sng"/>
              <a:t>métodos</a:t>
            </a:r>
            <a:r>
              <a:rPr lang="pt-BR" altLang="pt-BR"/>
              <a:t> e </a:t>
            </a:r>
            <a:r>
              <a:rPr lang="pt-BR" altLang="pt-BR" u="sng"/>
              <a:t>ferramentas</a:t>
            </a:r>
            <a:r>
              <a:rPr lang="pt-BR" altLang="pt-BR"/>
              <a:t> </a:t>
            </a:r>
            <a:r>
              <a:rPr lang="pt-BR" altLang="pt-BR" u="sng"/>
              <a:t>poderão</a:t>
            </a:r>
            <a:r>
              <a:rPr lang="pt-BR" altLang="pt-BR"/>
              <a:t> nos </a:t>
            </a:r>
            <a:r>
              <a:rPr lang="pt-BR" altLang="pt-BR" u="sng"/>
              <a:t>auxiliar</a:t>
            </a:r>
            <a:r>
              <a:rPr lang="pt-BR" altLang="pt-BR"/>
              <a:t> no </a:t>
            </a:r>
            <a:r>
              <a:rPr lang="pt-BR" altLang="pt-BR" u="sng"/>
              <a:t>processo criativo</a:t>
            </a:r>
            <a:r>
              <a:rPr lang="pt-BR" altLang="pt-BR"/>
              <a:t>.</a:t>
            </a:r>
          </a:p>
        </p:txBody>
      </p:sp>
      <p:pic>
        <p:nvPicPr>
          <p:cNvPr id="101379" name="Imagem 6" descr="03632.jpg">
            <a:extLst>
              <a:ext uri="{FF2B5EF4-FFF2-40B4-BE49-F238E27FC236}">
                <a16:creationId xmlns:a16="http://schemas.microsoft.com/office/drawing/2014/main" id="{08301AFA-6089-1194-388B-B3A23AAC93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0625" y="1928813"/>
            <a:ext cx="2546350" cy="340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2">
            <a:extLst>
              <a:ext uri="{FF2B5EF4-FFF2-40B4-BE49-F238E27FC236}">
                <a16:creationId xmlns:a16="http://schemas.microsoft.com/office/drawing/2014/main" id="{77503A4A-5835-F086-6ADB-9E6955113A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pt-BR" altLang="pt-BR"/>
              <a:t>Quantos Existem?</a:t>
            </a:r>
          </a:p>
        </p:txBody>
      </p:sp>
      <p:pic>
        <p:nvPicPr>
          <p:cNvPr id="102402" name="Picture 3">
            <a:hlinkClick r:id="rId3" action="ppaction://hlinkfile"/>
            <a:extLst>
              <a:ext uri="{FF2B5EF4-FFF2-40B4-BE49-F238E27FC236}">
                <a16:creationId xmlns:a16="http://schemas.microsoft.com/office/drawing/2014/main" id="{3E43529E-4025-6A2C-D430-71AC9B0FF5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85938" y="1500188"/>
            <a:ext cx="5589587" cy="4191000"/>
          </a:xfr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2">
            <a:extLst>
              <a:ext uri="{FF2B5EF4-FFF2-40B4-BE49-F238E27FC236}">
                <a16:creationId xmlns:a16="http://schemas.microsoft.com/office/drawing/2014/main" id="{E63BA516-66A9-C34D-129B-D6CB2C5751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pt-BR"/>
              <a:t>Busca de Soluções</a:t>
            </a:r>
            <a:endParaRPr lang="pt-BR" altLang="pt-BR"/>
          </a:p>
        </p:txBody>
      </p:sp>
      <p:pic>
        <p:nvPicPr>
          <p:cNvPr id="104450" name="Imagem 6" descr="03632.jpg">
            <a:extLst>
              <a:ext uri="{FF2B5EF4-FFF2-40B4-BE49-F238E27FC236}">
                <a16:creationId xmlns:a16="http://schemas.microsoft.com/office/drawing/2014/main" id="{7D705024-8E8E-CE8F-4E37-E6EBEE6487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4438" y="1714500"/>
            <a:ext cx="2992437" cy="4000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451" name="Espaço Reservado para Conteúdo 6">
            <a:extLst>
              <a:ext uri="{FF2B5EF4-FFF2-40B4-BE49-F238E27FC236}">
                <a16:creationId xmlns:a16="http://schemas.microsoft.com/office/drawing/2014/main" id="{6B6C7432-B8B0-1AC6-3774-5F0524341E1E}"/>
              </a:ext>
            </a:extLst>
          </p:cNvPr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r>
              <a:rPr lang="pt-BR" altLang="pt-BR" sz="2400" u="sng"/>
              <a:t>Métodos</a:t>
            </a:r>
            <a:r>
              <a:rPr lang="pt-BR" altLang="pt-BR" sz="2400"/>
              <a:t> de </a:t>
            </a:r>
            <a:r>
              <a:rPr lang="pt-BR" altLang="pt-BR" sz="2400" u="sng"/>
              <a:t>busca de soluções</a:t>
            </a:r>
            <a:r>
              <a:rPr lang="pt-BR" altLang="pt-BR" sz="2400"/>
              <a:t>:</a:t>
            </a:r>
          </a:p>
          <a:p>
            <a:pPr lvl="1"/>
            <a:r>
              <a:rPr lang="pt-BR" altLang="pt-BR" sz="2200"/>
              <a:t>Métodos </a:t>
            </a:r>
            <a:r>
              <a:rPr lang="pt-BR" altLang="pt-BR" sz="2200" u="sng"/>
              <a:t>convencionais</a:t>
            </a:r>
            <a:r>
              <a:rPr lang="pt-BR" altLang="pt-BR" sz="2200"/>
              <a:t> e ferramentas auxiliares;</a:t>
            </a:r>
          </a:p>
          <a:p>
            <a:pPr lvl="1"/>
            <a:r>
              <a:rPr lang="pt-BR" altLang="pt-BR" sz="2200"/>
              <a:t>Métodos com </a:t>
            </a:r>
            <a:r>
              <a:rPr lang="pt-BR" altLang="pt-BR" sz="2200" u="sng"/>
              <a:t>ênfase intuitiva</a:t>
            </a:r>
            <a:r>
              <a:rPr lang="pt-BR" altLang="pt-BR" sz="2200"/>
              <a:t>;</a:t>
            </a:r>
          </a:p>
          <a:p>
            <a:pPr lvl="1"/>
            <a:r>
              <a:rPr lang="pt-BR" altLang="pt-BR" sz="2200"/>
              <a:t>Métodos com </a:t>
            </a:r>
            <a:r>
              <a:rPr lang="pt-BR" altLang="pt-BR" sz="2200" u="sng"/>
              <a:t>ênfase discursiva</a:t>
            </a:r>
            <a:r>
              <a:rPr lang="pt-BR" altLang="pt-BR" sz="2200"/>
              <a:t>;</a:t>
            </a:r>
          </a:p>
          <a:p>
            <a:pPr lvl="1"/>
            <a:r>
              <a:rPr lang="en-US" altLang="pt-BR" sz="2200"/>
              <a:t>Métodos para </a:t>
            </a:r>
            <a:br>
              <a:rPr lang="en-US" altLang="pt-BR" sz="2200"/>
            </a:br>
            <a:r>
              <a:rPr lang="en-US" altLang="pt-BR" sz="2200" u="sng"/>
              <a:t>comb. de soluções</a:t>
            </a:r>
            <a:r>
              <a:rPr lang="en-US" altLang="pt-BR" sz="2200"/>
              <a:t>.</a:t>
            </a:r>
            <a:endParaRPr lang="pt-BR" altLang="pt-BR" sz="22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Título 1">
            <a:extLst>
              <a:ext uri="{FF2B5EF4-FFF2-40B4-BE49-F238E27FC236}">
                <a16:creationId xmlns:a16="http://schemas.microsoft.com/office/drawing/2014/main" id="{BDC6FFCB-FBAB-6481-96E3-A37C769F93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 altLang="pt-BR"/>
              <a:t>Sumário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3739C4-E37A-B59C-2D6E-5AC0932E11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A criatividade</a:t>
            </a:r>
          </a:p>
          <a:p>
            <a:pPr>
              <a:defRPr/>
            </a:pPr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O processo criativo</a:t>
            </a:r>
          </a:p>
          <a:p>
            <a:pPr>
              <a:defRPr/>
            </a:pPr>
            <a:r>
              <a:rPr lang="pt-BR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Barreiras à criatividade</a:t>
            </a:r>
          </a:p>
          <a:p>
            <a:pPr>
              <a:defRPr/>
            </a:pPr>
            <a:r>
              <a:rPr lang="pt-BR" dirty="0"/>
              <a:t>Métodos e ferramentas</a:t>
            </a:r>
          </a:p>
          <a:p>
            <a:pPr lvl="1">
              <a:defRPr/>
            </a:pPr>
            <a:r>
              <a:rPr lang="pt-BR" sz="2200" dirty="0"/>
              <a:t>Métodos convencionais e ferramentas auxiliares</a:t>
            </a:r>
          </a:p>
          <a:p>
            <a:pPr lvl="1">
              <a:defRPr/>
            </a:pPr>
            <a:r>
              <a:rPr lang="pt-BR" sz="2200" dirty="0">
                <a:solidFill>
                  <a:schemeClr val="accent2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Métodos com ênfase intuitiva</a:t>
            </a:r>
          </a:p>
          <a:p>
            <a:pPr lvl="1">
              <a:defRPr/>
            </a:pPr>
            <a:r>
              <a:rPr lang="pt-BR" sz="2200" dirty="0">
                <a:solidFill>
                  <a:schemeClr val="accent2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Métodos com ênfase discursiva</a:t>
            </a:r>
          </a:p>
          <a:p>
            <a:pPr lvl="1">
              <a:defRPr/>
            </a:pPr>
            <a:r>
              <a:rPr lang="pt-BR" sz="2200" dirty="0">
                <a:solidFill>
                  <a:schemeClr val="accent2">
                    <a:lumMod val="20000"/>
                    <a:lumOff val="80000"/>
                  </a:schemeClr>
                </a:solidFill>
                <a:ea typeface="+mn-ea"/>
                <a:cs typeface="+mn-cs"/>
              </a:rPr>
              <a:t>Métodos para combinação de soluções</a:t>
            </a:r>
          </a:p>
          <a:p>
            <a:pPr lvl="1">
              <a:defRPr/>
            </a:pPr>
            <a:r>
              <a:rPr lang="pt-BR" sz="22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TRIZ</a:t>
            </a:r>
          </a:p>
          <a:p>
            <a:pPr lvl="1">
              <a:defRPr/>
            </a:pPr>
            <a:endParaRPr lang="pt-BR" sz="1800" dirty="0"/>
          </a:p>
          <a:p>
            <a:pPr lvl="1">
              <a:defRPr/>
            </a:pPr>
            <a:endParaRPr lang="pt-BR" sz="1800" dirty="0"/>
          </a:p>
          <a:p>
            <a:pPr>
              <a:defRPr/>
            </a:pPr>
            <a:endParaRPr lang="pt-BR" sz="2200" dirty="0"/>
          </a:p>
          <a:p>
            <a:pPr>
              <a:defRPr/>
            </a:pPr>
            <a:endParaRPr lang="pt-BR" sz="2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497" name="Picture 2" descr="C:\Documents and Settings\Gitirana\Configurações locais\Temporary Internet Files\Content.IE5\HMBR9KXC\MCj03326140000[1].wmf">
            <a:extLst>
              <a:ext uri="{FF2B5EF4-FFF2-40B4-BE49-F238E27FC236}">
                <a16:creationId xmlns:a16="http://schemas.microsoft.com/office/drawing/2014/main" id="{7F9035D4-7CE1-C84F-D2E8-D2A558D414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767138" y="2900363"/>
            <a:ext cx="2947987" cy="2925762"/>
          </a:xfrm>
        </p:spPr>
      </p:pic>
      <p:sp>
        <p:nvSpPr>
          <p:cNvPr id="106498" name="CaixaDeTexto 4">
            <a:extLst>
              <a:ext uri="{FF2B5EF4-FFF2-40B4-BE49-F238E27FC236}">
                <a16:creationId xmlns:a16="http://schemas.microsoft.com/office/drawing/2014/main" id="{A98B66EA-F466-3121-7569-1FD86CC3CE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363" y="1497013"/>
            <a:ext cx="78978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pt-BR" altLang="pt-BR" sz="2000" b="1">
                <a:solidFill>
                  <a:srgbClr val="FF0000"/>
                </a:solidFill>
              </a:rPr>
              <a:t>PRÓXIMA AULA CONTINUA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8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B952CF52B7DE4ABAC1D5EF85AB9ACF" ma:contentTypeVersion="8" ma:contentTypeDescription="Crie um novo documento." ma:contentTypeScope="" ma:versionID="4012478236954615fd655ec24943ae3a">
  <xsd:schema xmlns:xsd="http://www.w3.org/2001/XMLSchema" xmlns:xs="http://www.w3.org/2001/XMLSchema" xmlns:p="http://schemas.microsoft.com/office/2006/metadata/properties" xmlns:ns2="0616edac-8b85-431d-b1bb-a5cc9cdccc91" targetNamespace="http://schemas.microsoft.com/office/2006/metadata/properties" ma:root="true" ma:fieldsID="e7b2c68f65d9ff28806c01b3f086190d" ns2:_="">
    <xsd:import namespace="0616edac-8b85-431d-b1bb-a5cc9cdccc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16edac-8b85-431d-b1bb-a5cc9cdccc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FA61961-2366-49E0-901B-306412741DC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16edac-8b85-431d-b1bb-a5cc9cdccc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0C7DF54-AB84-42E4-905F-E06FEFBFA0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2829</Words>
  <Application>Microsoft Office PowerPoint</Application>
  <PresentationFormat>Apresentação na tela (4:3)</PresentationFormat>
  <Paragraphs>396</Paragraphs>
  <Slides>58</Slides>
  <Notes>32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58</vt:i4>
      </vt:variant>
    </vt:vector>
  </HeadingPairs>
  <TitlesOfParts>
    <vt:vector size="59" baseType="lpstr">
      <vt:lpstr>Design padrão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CRIATIVIDADE  NO PDP</vt:lpstr>
      <vt:lpstr>Referências Bibliográficas</vt:lpstr>
      <vt:lpstr>Sumário</vt:lpstr>
      <vt:lpstr>O Preço da Novidade</vt:lpstr>
      <vt:lpstr>Relevância</vt:lpstr>
      <vt:lpstr>Pensamento Criador X Não-Criador</vt:lpstr>
      <vt:lpstr>O Alcance da Criatividade</vt:lpstr>
      <vt:lpstr>O Processo Criativo</vt:lpstr>
      <vt:lpstr>PREPARAÇÃO</vt:lpstr>
      <vt:lpstr>Exemplos: Nas Artes</vt:lpstr>
      <vt:lpstr>Paradoxo!</vt:lpstr>
      <vt:lpstr>Excesso de Temor</vt:lpstr>
      <vt:lpstr>Distinção</vt:lpstr>
      <vt:lpstr>O Quê não Resta Dúvida</vt:lpstr>
      <vt:lpstr>Em Suma...</vt:lpstr>
      <vt:lpstr>Outra Coisa Importante!</vt:lpstr>
      <vt:lpstr>Sumário</vt:lpstr>
      <vt:lpstr>2. INCUBAÇÃO</vt:lpstr>
      <vt:lpstr>Quanto Dura?</vt:lpstr>
      <vt:lpstr>Angústia, Inquietude, ...</vt:lpstr>
      <vt:lpstr>Divisão Artificial</vt:lpstr>
      <vt:lpstr>Sumário</vt:lpstr>
      <vt:lpstr>3. ILUMINAÇÃO</vt:lpstr>
      <vt:lpstr>Newton</vt:lpstr>
      <vt:lpstr>Autocertificável</vt:lpstr>
      <vt:lpstr>Exaltação</vt:lpstr>
      <vt:lpstr>Arquimedes</vt:lpstr>
      <vt:lpstr>Franklin D. Roosevelt (1882-1945)</vt:lpstr>
      <vt:lpstr>Condições Favoráveis</vt:lpstr>
      <vt:lpstr>Apelando para as Drogas</vt:lpstr>
      <vt:lpstr>Sumário</vt:lpstr>
      <vt:lpstr>4. VERIFICAÇÃO</vt:lpstr>
      <vt:lpstr>4. VERIFICAÇÃO</vt:lpstr>
      <vt:lpstr>Perseverança</vt:lpstr>
      <vt:lpstr>BARREIRAS À CRIATIVIDADE</vt:lpstr>
      <vt:lpstr>BARREIRAS À CRIATIVIDADE</vt:lpstr>
      <vt:lpstr>1. Hábito (Pensam. Rotineiro)</vt:lpstr>
      <vt:lpstr>2. Fixação Funcional</vt:lpstr>
      <vt:lpstr>3. Preocup. Prem. c/ Detalhes</vt:lpstr>
      <vt:lpstr>4. Depend. Exces. dos Outros</vt:lpstr>
      <vt:lpstr>5. MOTIVAÇÃO EM EXCESSO</vt:lpstr>
      <vt:lpstr>6. MEDO DE CRÍTICA</vt:lpstr>
      <vt:lpstr>7. CONSERVADORISMO</vt:lpstr>
      <vt:lpstr>8. SATISFAÇÃO PREMATURA</vt:lpstr>
      <vt:lpstr>9. REJEIÇÃO PREMATURA</vt:lpstr>
      <vt:lpstr>Sumário</vt:lpstr>
      <vt:lpstr>Métodos e Ferramentas</vt:lpstr>
      <vt:lpstr>Quantos Existem?</vt:lpstr>
      <vt:lpstr>Busca de Soluções</vt:lpstr>
      <vt:lpstr>Sumário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Andrea Cristina dos Santos</dc:creator>
  <cp:lastModifiedBy>Andrea Cristina Dos Santos</cp:lastModifiedBy>
  <cp:revision>12</cp:revision>
  <dcterms:created xsi:type="dcterms:W3CDTF">2016-05-02T16:44:42Z</dcterms:created>
  <dcterms:modified xsi:type="dcterms:W3CDTF">2024-12-16T18:55:44Z</dcterms:modified>
</cp:coreProperties>
</file>