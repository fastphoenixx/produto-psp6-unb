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6"/>
  </p:notesMasterIdLst>
  <p:sldIdLst>
    <p:sldId id="270" r:id="rId6"/>
    <p:sldId id="258" r:id="rId7"/>
    <p:sldId id="260" r:id="rId8"/>
    <p:sldId id="257" r:id="rId9"/>
    <p:sldId id="272" r:id="rId10"/>
    <p:sldId id="261" r:id="rId11"/>
    <p:sldId id="273" r:id="rId12"/>
    <p:sldId id="277" r:id="rId13"/>
    <p:sldId id="262" r:id="rId14"/>
    <p:sldId id="264" r:id="rId15"/>
    <p:sldId id="265" r:id="rId16"/>
    <p:sldId id="274" r:id="rId17"/>
    <p:sldId id="278" r:id="rId18"/>
    <p:sldId id="259" r:id="rId19"/>
    <p:sldId id="267" r:id="rId20"/>
    <p:sldId id="279" r:id="rId21"/>
    <p:sldId id="280" r:id="rId22"/>
    <p:sldId id="269" r:id="rId23"/>
    <p:sldId id="281" r:id="rId24"/>
    <p:sldId id="282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30"/>
  </p:normalViewPr>
  <p:slideViewPr>
    <p:cSldViewPr>
      <p:cViewPr varScale="1">
        <p:scale>
          <a:sx n="113" d="100"/>
          <a:sy n="113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11BEA0DC-5079-8948-B2BC-877B60B1C977}"/>
    <pc:docChg chg="modSld">
      <pc:chgData name="Andrea Cristina Dos Santos" userId="c1f965dc-8845-4afc-9e32-8f70830fffd6" providerId="ADAL" clId="{11BEA0DC-5079-8948-B2BC-877B60B1C977}" dt="2023-11-22T21:08:54.474" v="1" actId="1076"/>
      <pc:docMkLst>
        <pc:docMk/>
      </pc:docMkLst>
      <pc:sldChg chg="modSp mod">
        <pc:chgData name="Andrea Cristina Dos Santos" userId="c1f965dc-8845-4afc-9e32-8f70830fffd6" providerId="ADAL" clId="{11BEA0DC-5079-8948-B2BC-877B60B1C977}" dt="2023-11-22T21:08:54.474" v="1" actId="1076"/>
        <pc:sldMkLst>
          <pc:docMk/>
          <pc:sldMk cId="0" sldId="259"/>
        </pc:sldMkLst>
        <pc:spChg chg="mod">
          <ac:chgData name="Andrea Cristina Dos Santos" userId="c1f965dc-8845-4afc-9e32-8f70830fffd6" providerId="ADAL" clId="{11BEA0DC-5079-8948-B2BC-877B60B1C977}" dt="2023-11-22T21:08:54.474" v="1" actId="1076"/>
          <ac:spMkLst>
            <pc:docMk/>
            <pc:sldMk cId="0" sldId="259"/>
            <ac:spMk id="6" creationId="{30F51B25-0A6E-A748-AC46-62983C508FF3}"/>
          </ac:spMkLst>
        </pc:spChg>
      </pc:sldChg>
      <pc:sldChg chg="modSp mod">
        <pc:chgData name="Andrea Cristina Dos Santos" userId="c1f965dc-8845-4afc-9e32-8f70830fffd6" providerId="ADAL" clId="{11BEA0DC-5079-8948-B2BC-877B60B1C977}" dt="2023-11-22T21:08:42.469" v="0" actId="14100"/>
        <pc:sldMkLst>
          <pc:docMk/>
          <pc:sldMk cId="0" sldId="265"/>
        </pc:sldMkLst>
        <pc:picChg chg="mod">
          <ac:chgData name="Andrea Cristina Dos Santos" userId="c1f965dc-8845-4afc-9e32-8f70830fffd6" providerId="ADAL" clId="{11BEA0DC-5079-8948-B2BC-877B60B1C977}" dt="2023-11-22T21:08:42.469" v="0" actId="14100"/>
          <ac:picMkLst>
            <pc:docMk/>
            <pc:sldMk cId="0" sldId="265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6F550-73B7-B745-A49A-946EBA140F9D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C47E4-B58A-F546-8997-DA2CF4BB6B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97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776223" y="78533"/>
            <a:ext cx="3715745" cy="7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82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 userDrawn="1"/>
        </p:nvSpPr>
        <p:spPr>
          <a:xfrm>
            <a:off x="179365" y="2489984"/>
            <a:ext cx="2975317" cy="3967089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3" name="Espaço Reservado para Título 1"/>
          <p:cNvSpPr>
            <a:spLocks noGrp="1"/>
          </p:cNvSpPr>
          <p:nvPr>
            <p:ph type="title"/>
          </p:nvPr>
        </p:nvSpPr>
        <p:spPr>
          <a:xfrm>
            <a:off x="1149302" y="3838526"/>
            <a:ext cx="7122503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95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 APRESENTAÇÃO</a:t>
            </a:r>
            <a:endParaRPr lang="es-ES" dirty="0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941" y="473335"/>
            <a:ext cx="1414334" cy="12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42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/>
          <p:cNvSpPr/>
          <p:nvPr userDrawn="1"/>
        </p:nvSpPr>
        <p:spPr>
          <a:xfrm>
            <a:off x="628650" y="1939191"/>
            <a:ext cx="3168162" cy="4224216"/>
          </a:xfrm>
          <a:prstGeom prst="ellipse">
            <a:avLst/>
          </a:prstGeom>
          <a:solidFill>
            <a:schemeClr val="accent2">
              <a:lumMod val="60000"/>
              <a:lumOff val="4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628650" y="381000"/>
            <a:ext cx="7886700" cy="1270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TÍTULO</a:t>
            </a:r>
            <a:endParaRPr lang="es-ES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4552950" y="2057400"/>
            <a:ext cx="3829050" cy="398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baseline="0">
                <a:latin typeface="Lato" panose="020F0502020204030203" pitchFamily="34" charset="0"/>
              </a:defRPr>
            </a:lvl1pPr>
            <a:lvl2pPr marL="600060" indent="-257168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500"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pt-BR" dirty="0"/>
              <a:t>Nome </a:t>
            </a:r>
          </a:p>
          <a:p>
            <a:pPr lvl="0"/>
            <a:endParaRPr lang="pt-BR" dirty="0"/>
          </a:p>
          <a:p>
            <a:pPr lvl="1"/>
            <a:r>
              <a:rPr lang="pt-BR" dirty="0"/>
              <a:t>Descrição</a:t>
            </a:r>
            <a:endParaRPr lang="es-ES" dirty="0"/>
          </a:p>
        </p:txBody>
      </p:sp>
      <p:sp>
        <p:nvSpPr>
          <p:cNvPr id="17" name="Espaço Reservado para Imagem 16"/>
          <p:cNvSpPr>
            <a:spLocks noGrp="1"/>
          </p:cNvSpPr>
          <p:nvPr>
            <p:ph type="pic" sz="quarter" idx="11"/>
          </p:nvPr>
        </p:nvSpPr>
        <p:spPr>
          <a:xfrm>
            <a:off x="1019175" y="2057400"/>
            <a:ext cx="2990850" cy="3987800"/>
          </a:xfrm>
          <a:prstGeom prst="ellipse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9" name="Retângulo 18"/>
          <p:cNvSpPr/>
          <p:nvPr userDrawn="1"/>
        </p:nvSpPr>
        <p:spPr>
          <a:xfrm>
            <a:off x="8494249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0" name="Retângulo 19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3173412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/>
          <p:cNvSpPr/>
          <p:nvPr userDrawn="1"/>
        </p:nvSpPr>
        <p:spPr>
          <a:xfrm>
            <a:off x="179365" y="2489984"/>
            <a:ext cx="2975317" cy="39670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 baseline="0"/>
            </a:lvl1pPr>
          </a:lstStyle>
          <a:p>
            <a:r>
              <a:rPr lang="pt-BR" dirty="0"/>
              <a:t>SLIDE DE TRANSIÇÃO</a:t>
            </a:r>
            <a:endParaRPr lang="es-E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 b="1">
                <a:solidFill>
                  <a:schemeClr val="bg2">
                    <a:lumMod val="25000"/>
                  </a:schemeClr>
                </a:solidFill>
                <a:latin typeface="Lato" panose="020F0502020204030203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SUBTÍTULO DO SLIDE</a:t>
            </a:r>
          </a:p>
        </p:txBody>
      </p:sp>
      <p:sp>
        <p:nvSpPr>
          <p:cNvPr id="6" name="Retângulo 5"/>
          <p:cNvSpPr/>
          <p:nvPr userDrawn="1"/>
        </p:nvSpPr>
        <p:spPr>
          <a:xfrm>
            <a:off x="8494249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941" y="473335"/>
            <a:ext cx="1414334" cy="12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1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/>
          <p:cNvSpPr/>
          <p:nvPr userDrawn="1"/>
        </p:nvSpPr>
        <p:spPr>
          <a:xfrm>
            <a:off x="179365" y="2489984"/>
            <a:ext cx="2975317" cy="3967089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 baseline="0"/>
            </a:lvl1pPr>
          </a:lstStyle>
          <a:p>
            <a:r>
              <a:rPr lang="pt-BR" dirty="0"/>
              <a:t>SLIDE DE TRANSIÇÃO</a:t>
            </a:r>
            <a:endParaRPr lang="es-E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 b="1">
                <a:solidFill>
                  <a:schemeClr val="bg2">
                    <a:lumMod val="25000"/>
                  </a:schemeClr>
                </a:solidFill>
                <a:latin typeface="Lato" panose="020F0502020204030203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SUBTÍTULO DO SLIDE</a:t>
            </a:r>
          </a:p>
        </p:txBody>
      </p:sp>
      <p:sp>
        <p:nvSpPr>
          <p:cNvPr id="9" name="Retângulo 8"/>
          <p:cNvSpPr/>
          <p:nvPr userDrawn="1"/>
        </p:nvSpPr>
        <p:spPr>
          <a:xfrm>
            <a:off x="8494249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941" y="473335"/>
            <a:ext cx="1414334" cy="12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72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o explicativo retangular com cantos arredondados 16"/>
          <p:cNvSpPr/>
          <p:nvPr userDrawn="1"/>
        </p:nvSpPr>
        <p:spPr>
          <a:xfrm>
            <a:off x="1350381" y="384694"/>
            <a:ext cx="6235740" cy="5570594"/>
          </a:xfrm>
          <a:prstGeom prst="wedgeRoundRectCallou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698675" y="675252"/>
            <a:ext cx="5539154" cy="48814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pt-BR" dirty="0"/>
              <a:t>INSIRA FRASE AQUI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46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1579718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4629151" y="3059332"/>
            <a:ext cx="3887391" cy="308825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29842" y="2049463"/>
            <a:ext cx="3868340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latin typeface="Lato" panose="020F0502020204030203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pt-BR" dirty="0"/>
              <a:t>Coluna 1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3059332"/>
            <a:ext cx="3868340" cy="308825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1" y="2049463"/>
            <a:ext cx="3887391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latin typeface="Lato" panose="020F0502020204030203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pt-BR" dirty="0"/>
              <a:t>Coluna 2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923341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11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1" y="2328006"/>
            <a:ext cx="7886700" cy="3446585"/>
          </a:xfrm>
          <a:prstGeom prst="rect">
            <a:avLst/>
          </a:prstGeom>
        </p:spPr>
        <p:txBody>
          <a:bodyPr anchor="ctr"/>
          <a:lstStyle>
            <a:lvl1pPr marL="0" indent="0" algn="just">
              <a:buClr>
                <a:schemeClr val="accent2"/>
              </a:buClr>
              <a:buNone/>
              <a:defRPr lang="fr-FR" b="0" i="0" smtClean="0">
                <a:effectLst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Donec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sed </a:t>
            </a:r>
            <a:r>
              <a:rPr lang="es-ES" dirty="0" err="1"/>
              <a:t>orci</a:t>
            </a:r>
            <a:r>
              <a:rPr lang="es-ES" dirty="0"/>
              <a:t> non </a:t>
            </a:r>
            <a:r>
              <a:rPr lang="es-ES" dirty="0" err="1"/>
              <a:t>condimentum</a:t>
            </a:r>
            <a:r>
              <a:rPr lang="es-ES" dirty="0"/>
              <a:t>. </a:t>
            </a:r>
            <a:r>
              <a:rPr lang="es-ES" dirty="0" err="1"/>
              <a:t>Donec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ex </a:t>
            </a:r>
            <a:r>
              <a:rPr lang="es-ES" dirty="0" err="1"/>
              <a:t>eleifend</a:t>
            </a:r>
            <a:r>
              <a:rPr lang="es-ES" dirty="0"/>
              <a:t>,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sed,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Vivamus</a:t>
            </a:r>
            <a:r>
              <a:rPr lang="es-ES" dirty="0"/>
              <a:t> non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laoreet</a:t>
            </a:r>
            <a:r>
              <a:rPr lang="es-ES" dirty="0"/>
              <a:t> mi </a:t>
            </a:r>
            <a:r>
              <a:rPr lang="es-ES" dirty="0" err="1"/>
              <a:t>pellentesque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tempus</a:t>
            </a:r>
            <a:r>
              <a:rPr lang="es-ES" dirty="0"/>
              <a:t>, </a:t>
            </a:r>
            <a:r>
              <a:rPr lang="es-ES" dirty="0" err="1"/>
              <a:t>fermentum</a:t>
            </a:r>
            <a:r>
              <a:rPr lang="es-ES" dirty="0"/>
              <a:t> ex ut, </a:t>
            </a:r>
            <a:r>
              <a:rPr lang="es-ES" dirty="0" err="1"/>
              <a:t>pellentesque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 </a:t>
            </a:r>
            <a:r>
              <a:rPr lang="es-ES" dirty="0" err="1"/>
              <a:t>Phasellus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urna </a:t>
            </a:r>
            <a:r>
              <a:rPr lang="es-ES" dirty="0" err="1"/>
              <a:t>nulla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et magna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rhoncus</a:t>
            </a:r>
            <a:r>
              <a:rPr lang="es-ES" dirty="0"/>
              <a:t> </a:t>
            </a:r>
            <a:r>
              <a:rPr lang="es-ES" dirty="0" err="1"/>
              <a:t>condimentum</a:t>
            </a:r>
            <a:r>
              <a:rPr lang="es-ES" dirty="0"/>
              <a:t>.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ante </a:t>
            </a:r>
            <a:r>
              <a:rPr lang="es-ES" dirty="0" err="1"/>
              <a:t>metus</a:t>
            </a:r>
            <a:r>
              <a:rPr lang="es-ES" dirty="0"/>
              <a:t>. Nunc </a:t>
            </a:r>
            <a:r>
              <a:rPr lang="es-ES" dirty="0" err="1"/>
              <a:t>interdum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</a:t>
            </a:r>
            <a:r>
              <a:rPr lang="es-ES" dirty="0" err="1"/>
              <a:t>mauris</a:t>
            </a:r>
            <a:r>
              <a:rPr lang="es-ES" dirty="0"/>
              <a:t> sed </a:t>
            </a:r>
            <a:r>
              <a:rPr lang="es-ES" dirty="0" err="1"/>
              <a:t>maximus</a:t>
            </a:r>
            <a:r>
              <a:rPr lang="es-ES" dirty="0"/>
              <a:t>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4" name="Retângulo 13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0" name="Elipse 19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1" name="Retângulo 20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30351140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972" y="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>
                <a:latin typeface="Lato Black" panose="020F0A02020204030203" pitchFamily="34" charset="0"/>
              </a:defRPr>
            </a:lvl1pPr>
          </a:lstStyle>
          <a:p>
            <a:r>
              <a:rPr lang="pt-BR" dirty="0"/>
              <a:t>TÍTULO</a:t>
            </a:r>
            <a:endParaRPr lang="es-E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972" y="3046411"/>
            <a:ext cx="2007852" cy="326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165609" y="548641"/>
            <a:ext cx="73856" cy="576071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838256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8891094" y="5233185"/>
            <a:ext cx="87610" cy="138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6077243" y="5233185"/>
            <a:ext cx="2743200" cy="138566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1" hasCustomPrompt="1"/>
          </p:nvPr>
        </p:nvSpPr>
        <p:spPr>
          <a:xfrm>
            <a:off x="6076950" y="5232400"/>
            <a:ext cx="2647950" cy="13858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latin typeface="Lato Black" panose="020F0A02020204030203" pitchFamily="34" charset="0"/>
              </a:defRPr>
            </a:lvl1pPr>
            <a:lvl2pPr marL="342892" indent="0">
              <a:buNone/>
              <a:defRPr sz="1350">
                <a:latin typeface="Lato" panose="020F0502020204030203" pitchFamily="34" charset="0"/>
              </a:defRPr>
            </a:lvl2pPr>
          </a:lstStyle>
          <a:p>
            <a:pPr lvl="0"/>
            <a:r>
              <a:rPr lang="pt-BR" dirty="0"/>
              <a:t>TÍTULO</a:t>
            </a:r>
          </a:p>
          <a:p>
            <a:pPr lvl="1"/>
            <a:r>
              <a:rPr lang="pt-BR" dirty="0"/>
              <a:t>DESCRIÇÃO/SUBTÍTULO</a:t>
            </a:r>
          </a:p>
        </p:txBody>
      </p:sp>
    </p:spTree>
    <p:extLst>
      <p:ext uri="{BB962C8B-B14F-4D97-AF65-F5344CB8AC3E}">
        <p14:creationId xmlns:p14="http://schemas.microsoft.com/office/powerpoint/2010/main" val="1413071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639483" y="2384079"/>
            <a:ext cx="5961459" cy="3684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GRÁFICO/TABELA</a:t>
            </a:r>
            <a:endParaRPr lang="es-ES" dirty="0"/>
          </a:p>
        </p:txBody>
      </p:sp>
      <p:sp>
        <p:nvSpPr>
          <p:cNvPr id="10" name="Elipse 9"/>
          <p:cNvSpPr/>
          <p:nvPr userDrawn="1"/>
        </p:nvSpPr>
        <p:spPr>
          <a:xfrm flipV="1">
            <a:off x="952078" y="479080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4" name="Retângulo 13"/>
          <p:cNvSpPr/>
          <p:nvPr userDrawn="1"/>
        </p:nvSpPr>
        <p:spPr>
          <a:xfrm>
            <a:off x="1284117" y="3725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4026429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 userDrawn="1"/>
        </p:nvSpPr>
        <p:spPr>
          <a:xfrm>
            <a:off x="327074" y="569740"/>
            <a:ext cx="2437229" cy="3249638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3" name="Espaço Reservado para Título 1"/>
          <p:cNvSpPr>
            <a:spLocks noGrp="1"/>
          </p:cNvSpPr>
          <p:nvPr>
            <p:ph type="title" hasCustomPrompt="1"/>
          </p:nvPr>
        </p:nvSpPr>
        <p:spPr>
          <a:xfrm>
            <a:off x="1149302" y="1559559"/>
            <a:ext cx="7122503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95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OBRIGADO!</a:t>
            </a:r>
            <a:endParaRPr lang="es-ES" dirty="0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195" y="4065562"/>
            <a:ext cx="1733351" cy="147275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6433828" y="5960934"/>
            <a:ext cx="2426085" cy="51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0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 userDrawn="1"/>
        </p:nvSpPr>
        <p:spPr>
          <a:xfrm>
            <a:off x="327074" y="569740"/>
            <a:ext cx="2437229" cy="3249638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3" name="Espaço Reservado para Título 1"/>
          <p:cNvSpPr>
            <a:spLocks noGrp="1"/>
          </p:cNvSpPr>
          <p:nvPr>
            <p:ph type="title" hasCustomPrompt="1"/>
          </p:nvPr>
        </p:nvSpPr>
        <p:spPr>
          <a:xfrm>
            <a:off x="1149302" y="1559559"/>
            <a:ext cx="7122503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95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OBRIGADO!</a:t>
            </a:r>
            <a:endParaRPr lang="es-ES" dirty="0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195" y="4065562"/>
            <a:ext cx="1733351" cy="147275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6433828" y="5960934"/>
            <a:ext cx="2426085" cy="51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640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11/22/23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033700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11/22/23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77142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1E40C-95A9-4A67-8AB7-DEC7584D797C}" type="datetimeFigureOut">
              <a:rPr lang="pt-BR" smtClean="0"/>
              <a:t>22/11/2023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861DB-5DF9-44B2-BC54-3F307436DE6B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68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baseline="0">
          <a:solidFill>
            <a:schemeClr val="tx1"/>
          </a:solidFill>
          <a:latin typeface="Lato Black" panose="020F0A02020204030203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1907704" y="548680"/>
            <a:ext cx="4258190" cy="671624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683568" y="1700808"/>
            <a:ext cx="724457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endParaRPr lang="pt-BR" sz="2400" b="1" dirty="0">
              <a:solidFill>
                <a:srgbClr val="262626"/>
              </a:solidFill>
              <a:latin typeface="Calibri" panose="020F0502020204030204"/>
            </a:endParaRPr>
          </a:p>
          <a:p>
            <a:pPr algn="ctr" defTabSz="685800"/>
            <a:r>
              <a:rPr lang="pt-BR" sz="2400" b="1" dirty="0">
                <a:solidFill>
                  <a:srgbClr val="262626"/>
                </a:solidFill>
                <a:latin typeface="Calibri" panose="020F0502020204030204"/>
              </a:rPr>
              <a:t>ENGENHARIA DE PRODUTO</a:t>
            </a:r>
          </a:p>
          <a:p>
            <a:pPr algn="ctr" defTabSz="685800"/>
            <a:endParaRPr lang="pt-BR" sz="2400" b="1" dirty="0">
              <a:solidFill>
                <a:srgbClr val="262626"/>
              </a:solidFill>
              <a:latin typeface="Calibri" panose="020F0502020204030204"/>
            </a:endParaRPr>
          </a:p>
          <a:p>
            <a:pPr algn="ctr" defTabSz="685800"/>
            <a:endParaRPr lang="pt-BR" sz="2400" b="1" dirty="0">
              <a:solidFill>
                <a:srgbClr val="262626"/>
              </a:solidFill>
              <a:latin typeface="Calibri" panose="020F0502020204030204"/>
            </a:endParaRPr>
          </a:p>
          <a:p>
            <a:pPr algn="ctr" defTabSz="685800"/>
            <a:r>
              <a:rPr lang="pt-BR" sz="2400" b="1" dirty="0">
                <a:solidFill>
                  <a:srgbClr val="262626"/>
                </a:solidFill>
                <a:latin typeface="Calibri" panose="020F0502020204030204"/>
              </a:rPr>
              <a:t>AULA: ENGENHARIA E A ANÁLISE DE VALOR</a:t>
            </a:r>
          </a:p>
          <a:p>
            <a:pPr algn="ctr" defTabSz="685800"/>
            <a:r>
              <a:rPr lang="pt-BR" b="1" dirty="0">
                <a:solidFill>
                  <a:srgbClr val="262626"/>
                </a:solidFill>
                <a:latin typeface="Calibri" panose="020F0502020204030204"/>
              </a:rPr>
              <a:t>Profa. Andréa Cristina dos Santos, Dr. Eng.</a:t>
            </a:r>
          </a:p>
          <a:p>
            <a:pPr algn="ctr" defTabSz="685800"/>
            <a:endParaRPr lang="pt-BR" b="1" dirty="0">
              <a:solidFill>
                <a:srgbClr val="262626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379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827584" y="332656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pt-BR" sz="3600" b="1" dirty="0">
                <a:solidFill>
                  <a:srgbClr val="0070C0"/>
                </a:solidFill>
              </a:rPr>
              <a:t>CONCEITO DE VALOR: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7544" y="1124744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rgbClr val="002060"/>
                </a:solidFill>
              </a:rPr>
              <a:t>VALOR DE ESTIMA </a:t>
            </a:r>
            <a:r>
              <a:rPr lang="pt-BR" sz="2400" dirty="0"/>
              <a:t>- é a valoração dada </a:t>
            </a:r>
            <a:r>
              <a:rPr lang="pt-BR" sz="2400" dirty="0">
                <a:solidFill>
                  <a:srgbClr val="C00000"/>
                </a:solidFill>
              </a:rPr>
              <a:t>em virtude da identificação de funções desejadas no produto</a:t>
            </a:r>
            <a:r>
              <a:rPr lang="pt-BR" sz="2400" dirty="0"/>
              <a:t>, referente a </a:t>
            </a:r>
            <a:r>
              <a:rPr lang="pt-BR" sz="2400" i="1" dirty="0"/>
              <a:t>status</a:t>
            </a:r>
            <a:r>
              <a:rPr lang="pt-BR" sz="2400" dirty="0"/>
              <a:t>, auto estima, </a:t>
            </a:r>
            <a:r>
              <a:rPr lang="pt-BR" sz="2400" dirty="0" err="1"/>
              <a:t>etc</a:t>
            </a:r>
            <a:r>
              <a:rPr lang="pt-BR" sz="2400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467544" y="2612983"/>
            <a:ext cx="8136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 </a:t>
            </a:r>
            <a:r>
              <a:rPr lang="pt-BR" sz="2400" b="1" dirty="0">
                <a:solidFill>
                  <a:srgbClr val="002060"/>
                </a:solidFill>
              </a:rPr>
              <a:t>VALOR DE TROCA </a:t>
            </a:r>
            <a:r>
              <a:rPr lang="pt-BR" sz="2400" dirty="0"/>
              <a:t>- corresponde </a:t>
            </a:r>
            <a:r>
              <a:rPr lang="pt-BR" sz="2400" dirty="0">
                <a:solidFill>
                  <a:srgbClr val="C00000"/>
                </a:solidFill>
              </a:rPr>
              <a:t>à </a:t>
            </a:r>
            <a:r>
              <a:rPr lang="pt-BR" sz="2400" u="sng" dirty="0">
                <a:solidFill>
                  <a:srgbClr val="C00000"/>
                </a:solidFill>
              </a:rPr>
              <a:t>equivalência de troca do produto no mercado</a:t>
            </a:r>
            <a:r>
              <a:rPr lang="pt-BR" sz="2400" dirty="0">
                <a:solidFill>
                  <a:srgbClr val="C00000"/>
                </a:solidFill>
              </a:rPr>
              <a:t>;</a:t>
            </a:r>
          </a:p>
        </p:txBody>
      </p:sp>
      <p:sp>
        <p:nvSpPr>
          <p:cNvPr id="5" name="Retângulo 4"/>
          <p:cNvSpPr/>
          <p:nvPr/>
        </p:nvSpPr>
        <p:spPr>
          <a:xfrm>
            <a:off x="467544" y="3789040"/>
            <a:ext cx="86764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VALOR DE CUSTO </a:t>
            </a:r>
            <a:r>
              <a:rPr lang="pt-BR" sz="2400" dirty="0"/>
              <a:t>- corresponde à quantidade </a:t>
            </a:r>
            <a:r>
              <a:rPr lang="pt-BR" sz="2400" dirty="0">
                <a:solidFill>
                  <a:srgbClr val="C00000"/>
                </a:solidFill>
              </a:rPr>
              <a:t>de recursos/esforços </a:t>
            </a:r>
            <a:r>
              <a:rPr lang="pt-BR" sz="2400" dirty="0"/>
              <a:t>empregados para obter o produto;</a:t>
            </a:r>
          </a:p>
        </p:txBody>
      </p:sp>
      <p:sp>
        <p:nvSpPr>
          <p:cNvPr id="6" name="Retângulo 5"/>
          <p:cNvSpPr/>
          <p:nvPr/>
        </p:nvSpPr>
        <p:spPr>
          <a:xfrm>
            <a:off x="467544" y="5013176"/>
            <a:ext cx="835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VALOR DE USO </a:t>
            </a:r>
            <a:r>
              <a:rPr lang="pt-BR" sz="2400" dirty="0"/>
              <a:t>- é o </a:t>
            </a:r>
            <a:r>
              <a:rPr lang="pt-BR" sz="2400" dirty="0">
                <a:solidFill>
                  <a:srgbClr val="C00000"/>
                </a:solidFill>
              </a:rPr>
              <a:t>desempenho que o produto </a:t>
            </a:r>
            <a:r>
              <a:rPr lang="pt-BR" sz="2400" dirty="0"/>
              <a:t>apresenta com as funções a ele atribuídas.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>
            <a:normAutofit fontScale="90000"/>
          </a:bodyPr>
          <a:lstStyle/>
          <a:p>
            <a:pPr>
              <a:spcBef>
                <a:spcPct val="20000"/>
              </a:spcBef>
            </a:pPr>
            <a:r>
              <a:rPr lang="pt-BR" sz="40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ABORDAGEM TRADICIONAL DE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1772816"/>
            <a:ext cx="3888432" cy="4525963"/>
          </a:xfrm>
        </p:spPr>
        <p:txBody>
          <a:bodyPr>
            <a:normAutofit/>
          </a:bodyPr>
          <a:lstStyle/>
          <a:p>
            <a:r>
              <a:rPr lang="pt-BR" sz="2400" dirty="0"/>
              <a:t>Abordagem tradicional da análise de custos</a:t>
            </a:r>
          </a:p>
          <a:p>
            <a:pPr lvl="1"/>
            <a:r>
              <a:rPr lang="pt-BR" sz="2400" dirty="0"/>
              <a:t>Examina os custos do material, custos indiretos para cada componente...</a:t>
            </a:r>
          </a:p>
          <a:p>
            <a:pPr lvl="1"/>
            <a:r>
              <a:rPr lang="pt-BR" sz="2400" dirty="0"/>
              <a:t>Caráter monetário – </a:t>
            </a:r>
            <a:r>
              <a:rPr lang="pt-BR" sz="2000" i="1" dirty="0">
                <a:solidFill>
                  <a:srgbClr val="002060"/>
                </a:solidFill>
              </a:rPr>
              <a:t>Não há preocupação com a função </a:t>
            </a:r>
            <a:endParaRPr lang="pt-BR" sz="2400" i="1" dirty="0">
              <a:solidFill>
                <a:srgbClr val="002060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505808" y="2274838"/>
            <a:ext cx="4141093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O componente de maior custo torna-se alvo  predileto das tentativas de redução de custos, mesmo que tenha função fundamental para a função do produto.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4400" y="2204864"/>
            <a:ext cx="7715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 </a:t>
            </a:r>
            <a:r>
              <a:rPr lang="pt-BR" sz="2800" dirty="0">
                <a:solidFill>
                  <a:srgbClr val="002060"/>
                </a:solidFill>
              </a:rPr>
              <a:t>Engenharia e Análise do Valor (EAV) é um esforço organizado para atingir o valor ótimo de um produto, sistema ou serviço, </a:t>
            </a:r>
            <a:r>
              <a:rPr lang="pt-BR" sz="2800" u="sng" dirty="0">
                <a:solidFill>
                  <a:srgbClr val="002060"/>
                </a:solidFill>
              </a:rPr>
              <a:t>promovendo as funções necessárias ao menor custo</a:t>
            </a:r>
            <a:r>
              <a:rPr lang="pt-BR" sz="28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EB62631-20F9-224B-BF82-E4E76B447F0D}"/>
              </a:ext>
            </a:extLst>
          </p:cNvPr>
          <p:cNvSpPr txBox="1">
            <a:spLocks/>
          </p:cNvSpPr>
          <p:nvPr/>
        </p:nvSpPr>
        <p:spPr>
          <a:xfrm>
            <a:off x="251520" y="816149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</a:pPr>
            <a:r>
              <a:rPr lang="pt-BR" sz="40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ENGENHARIA E ANÁLISE DE VALOR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Mapa cinza com texto preto sobre fundo branco&#10;&#10;Descrição gerada automaticamente">
            <a:extLst>
              <a:ext uri="{FF2B5EF4-FFF2-40B4-BE49-F238E27FC236}">
                <a16:creationId xmlns:a16="http://schemas.microsoft.com/office/drawing/2014/main" id="{E274DAA9-01C7-0846-9953-16ECD011B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23" y="953976"/>
            <a:ext cx="5921553" cy="49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3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pt-BR" sz="39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ANÁLISE DE VALORES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Análise de valores procura aumentar o valor relativo (em relação ao custo) das peças e componentes e do produto como um todo, sem comprometer as funções.</a:t>
            </a:r>
          </a:p>
          <a:p>
            <a:endParaRPr lang="pt-BR" dirty="0"/>
          </a:p>
          <a:p>
            <a:r>
              <a:rPr lang="pt-BR" b="1" dirty="0"/>
              <a:t>Etapas: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Identificar as funções do produto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Estabelecer os valores para estas funções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Procurar realizar essas funções no mínimo custo, sem perda da qualidade. 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FB28F6-A78E-D043-8B4C-F0764E86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604664"/>
          </a:xfrm>
        </p:spPr>
        <p:txBody>
          <a:bodyPr/>
          <a:lstStyle/>
          <a:p>
            <a:r>
              <a:rPr lang="pt-BR" dirty="0"/>
              <a:t>1.A IDENTIFICAR A FUNÇÕES DO PRODUTO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EB5749-DB6F-7F44-A7DC-14F71F8C8BDF}"/>
              </a:ext>
            </a:extLst>
          </p:cNvPr>
          <p:cNvSpPr txBox="1">
            <a:spLocks/>
          </p:cNvSpPr>
          <p:nvPr/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</a:pPr>
            <a:r>
              <a:rPr lang="pt-BR" sz="39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ETAPAS DA ENGENHARA E ANÁLISE DE VALORES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6C07E99-968B-A241-9FE1-F16A7005A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826" y="4680496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4B8B195C-091D-2F4D-B81A-0729B9E43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363" y="4680496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5718153C-16E8-524C-B211-B05C02D43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888" y="4680496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D63B57F0-E353-744D-967E-EE6711384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88" y="4680496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1">
            <a:extLst>
              <a:ext uri="{FF2B5EF4-FFF2-40B4-BE49-F238E27FC236}">
                <a16:creationId xmlns:a16="http://schemas.microsoft.com/office/drawing/2014/main" id="{FE92A025-417E-4741-8F39-90F4F6E4A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9905" y="2936329"/>
            <a:ext cx="619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b="1" dirty="0">
                <a:solidFill>
                  <a:srgbClr val="FF0000"/>
                </a:solidFill>
              </a:rPr>
              <a:t>ALTERNATIVA SELECIONADA</a:t>
            </a: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FC0E4417-0B0A-CC44-B668-F187E5DF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88" y="3658146"/>
            <a:ext cx="22336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1</a:t>
            </a:r>
          </a:p>
        </p:txBody>
      </p:sp>
      <p:sp>
        <p:nvSpPr>
          <p:cNvPr id="11" name="CaixaDeTexto 8">
            <a:extLst>
              <a:ext uri="{FF2B5EF4-FFF2-40B4-BE49-F238E27FC236}">
                <a16:creationId xmlns:a16="http://schemas.microsoft.com/office/drawing/2014/main" id="{B986A6EC-AB89-B747-90EC-E8596C269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088" y="3659733"/>
            <a:ext cx="2233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2</a:t>
            </a:r>
          </a:p>
        </p:txBody>
      </p:sp>
      <p:sp>
        <p:nvSpPr>
          <p:cNvPr id="12" name="CaixaDeTexto 9">
            <a:extLst>
              <a:ext uri="{FF2B5EF4-FFF2-40B4-BE49-F238E27FC236}">
                <a16:creationId xmlns:a16="http://schemas.microsoft.com/office/drawing/2014/main" id="{471FADC9-3664-B144-ABE0-BA98EF3BE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701" y="3658146"/>
            <a:ext cx="22320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3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246C4317-0FB2-284F-8392-D3432C19D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9951" y="3658146"/>
            <a:ext cx="22336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796121-AD82-D84A-950A-A4DF91A1FACD}"/>
              </a:ext>
            </a:extLst>
          </p:cNvPr>
          <p:cNvSpPr/>
          <p:nvPr/>
        </p:nvSpPr>
        <p:spPr>
          <a:xfrm>
            <a:off x="107504" y="3267050"/>
            <a:ext cx="2681584" cy="3590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42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FB28F6-A78E-D043-8B4C-F0764E86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604664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1. A IDENTIFICAR A FUNÇÕES DO PRODUTO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EB5749-DB6F-7F44-A7DC-14F71F8C8BDF}"/>
              </a:ext>
            </a:extLst>
          </p:cNvPr>
          <p:cNvSpPr txBox="1">
            <a:spLocks/>
          </p:cNvSpPr>
          <p:nvPr/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</a:pPr>
            <a:r>
              <a:rPr lang="pt-BR" sz="39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ETAPAS DA ENGENHARA E ANÁLISE DE VALORES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10232DB-795E-8D4A-8E43-377F97707345}"/>
              </a:ext>
            </a:extLst>
          </p:cNvPr>
          <p:cNvSpPr txBox="1"/>
          <p:nvPr/>
        </p:nvSpPr>
        <p:spPr>
          <a:xfrm>
            <a:off x="1259632" y="2890391"/>
            <a:ext cx="66967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0070C0"/>
                </a:solidFill>
                <a:latin typeface="Al Nile" pitchFamily="2" charset="-78"/>
                <a:cs typeface="Al Nile" pitchFamily="2" charset="-78"/>
              </a:rPr>
              <a:t>Na concepção final do produto foram inseridas Novas Funções??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BA322CC-10E6-6D4D-AB35-5EFF1863C2A7}"/>
              </a:ext>
            </a:extLst>
          </p:cNvPr>
          <p:cNvSpPr txBox="1"/>
          <p:nvPr/>
        </p:nvSpPr>
        <p:spPr>
          <a:xfrm>
            <a:off x="1259632" y="4481065"/>
            <a:ext cx="66967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0070C0"/>
                </a:solidFill>
                <a:latin typeface="Al Nile" pitchFamily="2" charset="-78"/>
                <a:cs typeface="Al Nile" pitchFamily="2" charset="-78"/>
              </a:rPr>
              <a:t>Quais são as funções de todos os componentes do produto??</a:t>
            </a:r>
          </a:p>
        </p:txBody>
      </p:sp>
    </p:spTree>
    <p:extLst>
      <p:ext uri="{BB962C8B-B14F-4D97-AF65-F5344CB8AC3E}">
        <p14:creationId xmlns:p14="http://schemas.microsoft.com/office/powerpoint/2010/main" val="113582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1. Identificar as funções do produto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5212" y="1844824"/>
            <a:ext cx="8229600" cy="4525963"/>
          </a:xfrm>
        </p:spPr>
        <p:txBody>
          <a:bodyPr/>
          <a:lstStyle/>
          <a:p>
            <a:r>
              <a:rPr lang="pt-BR" dirty="0"/>
              <a:t>As funções de um produto podem ser classificadas, </a:t>
            </a:r>
            <a:r>
              <a:rPr lang="pt-BR" dirty="0">
                <a:solidFill>
                  <a:srgbClr val="C00000"/>
                </a:solidFill>
              </a:rPr>
              <a:t>Hierarquia e Finalidade.</a:t>
            </a:r>
          </a:p>
          <a:p>
            <a:pPr lvl="2"/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899592" y="3429000"/>
          <a:ext cx="7560840" cy="2163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HIERARQUIA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FINALIDADE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Principal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Básicas </a:t>
                      </a: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Secundárias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lphaUcPeriod"/>
                      </a:pPr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Uso</a:t>
                      </a:r>
                    </a:p>
                    <a:p>
                      <a:pPr marL="514350" indent="-514350">
                        <a:buFont typeface="+mj-lt"/>
                        <a:buAutoNum type="alphaUcPeriod"/>
                      </a:pPr>
                      <a:r>
                        <a:rPr lang="pt-BR" sz="2800" dirty="0">
                          <a:solidFill>
                            <a:sysClr val="windowText" lastClr="000000"/>
                          </a:solidFill>
                        </a:rPr>
                        <a:t>Estima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467544" y="620688"/>
          <a:ext cx="7848872" cy="220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2400" dirty="0">
                          <a:solidFill>
                            <a:schemeClr val="bg1"/>
                          </a:solidFill>
                        </a:rPr>
                        <a:t>HIERARQUIA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514350" indent="-51435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pt-BR" sz="2000" b="1" dirty="0">
                          <a:solidFill>
                            <a:srgbClr val="C00000"/>
                          </a:solidFill>
                        </a:rPr>
                        <a:t>PRINCIPAL</a:t>
                      </a:r>
                      <a:r>
                        <a:rPr lang="pt-BR" sz="2000" b="1" dirty="0">
                          <a:solidFill>
                            <a:sysClr val="windowText" lastClr="000000"/>
                          </a:solidFill>
                        </a:rPr>
                        <a:t>:</a:t>
                      </a:r>
                      <a:r>
                        <a:rPr lang="pt-BR" sz="2000" dirty="0">
                          <a:solidFill>
                            <a:sysClr val="windowText" lastClr="000000"/>
                          </a:solidFill>
                        </a:rPr>
                        <a:t> existência do produto (Função total ou Global)</a:t>
                      </a:r>
                    </a:p>
                    <a:p>
                      <a:pPr marL="514350" indent="-51435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pt-BR" sz="2000" b="1" dirty="0">
                          <a:solidFill>
                            <a:srgbClr val="C00000"/>
                          </a:solidFill>
                        </a:rPr>
                        <a:t>BÁSICAS</a:t>
                      </a:r>
                      <a:r>
                        <a:rPr lang="pt-BR" sz="2000" dirty="0">
                          <a:solidFill>
                            <a:srgbClr val="C00000"/>
                          </a:solidFill>
                        </a:rPr>
                        <a:t>:</a:t>
                      </a:r>
                      <a:r>
                        <a:rPr lang="pt-BR" sz="2000" dirty="0">
                          <a:solidFill>
                            <a:sysClr val="windowText" lastClr="000000"/>
                          </a:solidFill>
                        </a:rPr>
                        <a:t> faz funcionar, perderá o valor, ou existir. </a:t>
                      </a:r>
                    </a:p>
                    <a:p>
                      <a:pPr marL="514350" indent="-51435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pt-BR" sz="2000" b="1" dirty="0">
                          <a:solidFill>
                            <a:srgbClr val="C00000"/>
                          </a:solidFill>
                        </a:rPr>
                        <a:t>SECUNDÁRIAS: 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melhoram a função básica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95536" y="3429000"/>
          <a:ext cx="7848872" cy="220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2400" dirty="0">
                          <a:solidFill>
                            <a:schemeClr val="bg1"/>
                          </a:solidFill>
                        </a:rPr>
                        <a:t>FINALIDADE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514350" indent="-51435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pt-BR" sz="2000" b="1" dirty="0">
                          <a:solidFill>
                            <a:srgbClr val="002060"/>
                          </a:solidFill>
                        </a:rPr>
                        <a:t>USO: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pt-BR" sz="2000" b="0" dirty="0">
                          <a:solidFill>
                            <a:srgbClr val="002060"/>
                          </a:solidFill>
                        </a:rPr>
                        <a:t>funcionamento do produto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2000" b="0" dirty="0">
                          <a:solidFill>
                            <a:srgbClr val="C00000"/>
                          </a:solidFill>
                        </a:rPr>
                        <a:t>Básicas e Secundárias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514350" indent="-51435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pt-BR" sz="2000" b="1" dirty="0">
                          <a:solidFill>
                            <a:srgbClr val="002060"/>
                          </a:solidFill>
                        </a:rPr>
                        <a:t>ESTIMA:  </a:t>
                      </a:r>
                      <a:r>
                        <a:rPr lang="pt-BR" sz="2000" b="0" dirty="0">
                          <a:solidFill>
                            <a:srgbClr val="002060"/>
                          </a:solidFill>
                        </a:rPr>
                        <a:t>são aquelas que são atrativas para o consumidor, aumentando o desejo de possuí-las.  </a:t>
                      </a:r>
                      <a:endParaRPr lang="pt-BR" sz="20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://www.frutodearte.com.br/images/apontador%201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124743"/>
            <a:ext cx="2520280" cy="2520281"/>
          </a:xfrm>
          <a:prstGeom prst="rect">
            <a:avLst/>
          </a:prstGeom>
          <a:noFill/>
        </p:spPr>
      </p:pic>
      <p:sp>
        <p:nvSpPr>
          <p:cNvPr id="3" name="CaixaDeTexto 2"/>
          <p:cNvSpPr txBox="1"/>
          <p:nvPr/>
        </p:nvSpPr>
        <p:spPr>
          <a:xfrm>
            <a:off x="935596" y="3645024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Definir as funções e classifica-las.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7BBE3-A2DA-0048-BAFE-4F24F557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BR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1. CLASSIFICAÇÃO DAS FUNÇÕES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92DC8F-CBFB-D947-AF4B-C3FD6B45B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60407"/>
              </p:ext>
            </p:extLst>
          </p:nvPr>
        </p:nvGraphicFramePr>
        <p:xfrm>
          <a:off x="251520" y="2132856"/>
          <a:ext cx="8568954" cy="388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81878163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84882145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846721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544816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453766423"/>
                    </a:ext>
                  </a:extLst>
                </a:gridCol>
                <a:gridCol w="1008114">
                  <a:extLst>
                    <a:ext uri="{9D8B030D-6E8A-4147-A177-3AD203B41FA5}">
                      <a16:colId xmlns:a16="http://schemas.microsoft.com/office/drawing/2014/main" val="931662782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C000"/>
                          </a:solidFill>
                        </a:rPr>
                        <a:t>BÁSICA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C000"/>
                          </a:solidFill>
                        </a:rPr>
                        <a:t>SECUNDÁRIA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92D050"/>
                          </a:solidFill>
                        </a:rPr>
                        <a:t>USO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92D050"/>
                          </a:solidFill>
                        </a:rPr>
                        <a:t>ESTIMA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5061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CORTAR MADEIRA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dirty="0" err="1">
                          <a:solidFill>
                            <a:srgbClr val="FFC000"/>
                          </a:solidFill>
                        </a:rPr>
                        <a:t>X</a:t>
                      </a:r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1" dirty="0" err="1">
                          <a:solidFill>
                            <a:srgbClr val="92D050"/>
                          </a:solidFill>
                        </a:rPr>
                        <a:t>X</a:t>
                      </a:r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1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00626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PARAFUSO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FIXAR 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dirty="0" err="1">
                          <a:solidFill>
                            <a:srgbClr val="FFC000"/>
                          </a:solidFill>
                        </a:rPr>
                        <a:t>X</a:t>
                      </a:r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1" dirty="0" err="1">
                          <a:solidFill>
                            <a:srgbClr val="92D050"/>
                          </a:solidFill>
                        </a:rPr>
                        <a:t>X</a:t>
                      </a:r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980520"/>
                  </a:ext>
                </a:extLst>
              </a:tr>
              <a:tr h="648072">
                <a:tc rowSpan="3">
                  <a:txBody>
                    <a:bodyPr/>
                    <a:lstStyle/>
                    <a:p>
                      <a:pPr algn="l"/>
                      <a:r>
                        <a:rPr lang="pt-BR" dirty="0"/>
                        <a:t>CORPO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DIRECIONAR LAPÍS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dirty="0" err="1">
                          <a:solidFill>
                            <a:srgbClr val="FFC000"/>
                          </a:solidFill>
                        </a:rPr>
                        <a:t>X</a:t>
                      </a:r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1" dirty="0" err="1">
                          <a:solidFill>
                            <a:srgbClr val="92D050"/>
                          </a:solidFill>
                        </a:rPr>
                        <a:t>X</a:t>
                      </a:r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279350"/>
                  </a:ext>
                </a:extLst>
              </a:tr>
              <a:tr h="648072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PERMITIR PEGA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dirty="0" err="1">
                          <a:solidFill>
                            <a:srgbClr val="FFC000"/>
                          </a:solidFill>
                        </a:rPr>
                        <a:t>X</a:t>
                      </a:r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1" dirty="0" err="1">
                          <a:solidFill>
                            <a:srgbClr val="92D050"/>
                          </a:solidFill>
                        </a:rPr>
                        <a:t>X</a:t>
                      </a:r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33579"/>
                  </a:ext>
                </a:extLst>
              </a:tr>
              <a:tr h="648072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CRIAR BELEZA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0" dirty="0" err="1">
                          <a:solidFill>
                            <a:srgbClr val="FFC000"/>
                          </a:solidFill>
                        </a:rPr>
                        <a:t>X</a:t>
                      </a:r>
                      <a:endParaRPr lang="pt-BR" sz="3200" b="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b="1" dirty="0" err="1">
                          <a:solidFill>
                            <a:srgbClr val="92D050"/>
                          </a:solidFill>
                        </a:rPr>
                        <a:t>X</a:t>
                      </a:r>
                      <a:endParaRPr lang="pt-BR" sz="3200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080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795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683568" y="3298565"/>
            <a:ext cx="3384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VALOR DO COMPONENTE =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3728" y="3298564"/>
            <a:ext cx="7272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u="sng" dirty="0">
                <a:solidFill>
                  <a:srgbClr val="FF0000"/>
                </a:solidFill>
              </a:rPr>
              <a:t>VALOR      DA     FUNÇÃO</a:t>
            </a:r>
          </a:p>
          <a:p>
            <a:pPr algn="ctr"/>
            <a:r>
              <a:rPr lang="pt-BR" sz="2800" dirty="0"/>
              <a:t>CUSTO DO COMPONENTE  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7978A1-C82F-424B-B22F-ACAB06C50AF6}"/>
              </a:ext>
            </a:extLst>
          </p:cNvPr>
          <p:cNvSpPr/>
          <p:nvPr/>
        </p:nvSpPr>
        <p:spPr>
          <a:xfrm>
            <a:off x="323528" y="476672"/>
            <a:ext cx="7884876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</a:pPr>
            <a:r>
              <a:rPr lang="pt-BR" sz="4400" b="1" dirty="0">
                <a:solidFill>
                  <a:srgbClr val="0070C0"/>
                </a:solidFill>
              </a:rPr>
              <a:t>2. Estabelecer os valores para estas funções</a:t>
            </a:r>
          </a:p>
        </p:txBody>
      </p:sp>
    </p:spTree>
    <p:extLst>
      <p:ext uri="{BB962C8B-B14F-4D97-AF65-F5344CB8AC3E}">
        <p14:creationId xmlns:p14="http://schemas.microsoft.com/office/powerpoint/2010/main" val="151547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683568" y="2422981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VALOR DO COMPONENTE =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3728" y="2422980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solidFill>
                  <a:srgbClr val="FF0000"/>
                </a:solidFill>
              </a:rPr>
              <a:t>VALOR      DA     FUNÇÃO</a:t>
            </a:r>
          </a:p>
          <a:p>
            <a:pPr algn="ctr"/>
            <a:r>
              <a:rPr lang="pt-BR" dirty="0"/>
              <a:t>CUSTO DO COMPONENTE  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7978A1-C82F-424B-B22F-ACAB06C50AF6}"/>
              </a:ext>
            </a:extLst>
          </p:cNvPr>
          <p:cNvSpPr/>
          <p:nvPr/>
        </p:nvSpPr>
        <p:spPr>
          <a:xfrm>
            <a:off x="0" y="397523"/>
            <a:ext cx="889248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</a:pPr>
            <a:r>
              <a:rPr lang="pt-BR" sz="4400" b="1" dirty="0">
                <a:solidFill>
                  <a:srgbClr val="0070C0"/>
                </a:solidFill>
              </a:rPr>
              <a:t>2. Estabelecer os valores para estas funções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0F51B25-0A6E-A748-AC46-62983C508FF3}"/>
              </a:ext>
            </a:extLst>
          </p:cNvPr>
          <p:cNvSpPr/>
          <p:nvPr/>
        </p:nvSpPr>
        <p:spPr>
          <a:xfrm>
            <a:off x="683568" y="3933056"/>
            <a:ext cx="727280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ct val="20000"/>
              </a:spcBef>
            </a:pPr>
            <a:r>
              <a:rPr lang="pt-BR" sz="2800" b="1" dirty="0">
                <a:solidFill>
                  <a:srgbClr val="FF0000"/>
                </a:solidFill>
              </a:rPr>
              <a:t>Quais são os métodos para valorizar as funções do produto já vistos??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0" name="AutoShape 6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4" name="Picture 10" descr="http://www.frutodearte.com.br/images/apontador%201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3801" y="-243408"/>
            <a:ext cx="1800199" cy="1800200"/>
          </a:xfrm>
          <a:prstGeom prst="rect">
            <a:avLst/>
          </a:prstGeom>
          <a:noFill/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0" y="1340768"/>
          <a:ext cx="8496942" cy="501893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6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874">
                <a:tc gridSpan="6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DA FUNÇÃO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SOMA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CUSTO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relativo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(a)/(b)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Cortar madeira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PARAFUSO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Fixar 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9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Direcionar lápis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0,75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Permitir pega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0,40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Criar beleza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0,50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471F28-5FAE-514C-9838-6076BA0438BA}"/>
              </a:ext>
            </a:extLst>
          </p:cNvPr>
          <p:cNvSpPr txBox="1"/>
          <p:nvPr/>
        </p:nvSpPr>
        <p:spPr>
          <a:xfrm>
            <a:off x="755576" y="2348880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highlight>
                  <a:srgbClr val="FFFF00"/>
                </a:highlight>
              </a:rPr>
              <a:t>ANÁLISES DE RESULTADOS OBTIDOS</a:t>
            </a:r>
          </a:p>
        </p:txBody>
      </p:sp>
    </p:spTree>
    <p:extLst>
      <p:ext uri="{BB962C8B-B14F-4D97-AF65-F5344CB8AC3E}">
        <p14:creationId xmlns:p14="http://schemas.microsoft.com/office/powerpoint/2010/main" val="2240505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0" name="AutoShape 6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4" name="Picture 10" descr="http://www.frutodearte.com.br/images/apontador%201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975" y="7937"/>
            <a:ext cx="1800199" cy="1800200"/>
          </a:xfrm>
          <a:prstGeom prst="rect">
            <a:avLst/>
          </a:prstGeom>
          <a:noFill/>
        </p:spPr>
      </p:pic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300597"/>
              </p:ext>
            </p:extLst>
          </p:nvPr>
        </p:nvGraphicFramePr>
        <p:xfrm>
          <a:off x="0" y="1340768"/>
          <a:ext cx="8496940" cy="531975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9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7018">
                  <a:extLst>
                    <a:ext uri="{9D8B030D-6E8A-4147-A177-3AD203B41FA5}">
                      <a16:colId xmlns:a16="http://schemas.microsoft.com/office/drawing/2014/main" val="2416809302"/>
                    </a:ext>
                  </a:extLst>
                </a:gridCol>
                <a:gridCol w="1317018">
                  <a:extLst>
                    <a:ext uri="{9D8B030D-6E8A-4147-A177-3AD203B41FA5}">
                      <a16:colId xmlns:a16="http://schemas.microsoft.com/office/drawing/2014/main" val="3329515882"/>
                    </a:ext>
                  </a:extLst>
                </a:gridCol>
              </a:tblGrid>
              <a:tr h="564874">
                <a:tc gridSpan="6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DA FUNÇÃO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Classificação da função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SOMA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CUSTO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relativo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(a)/(b)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Principal/secundária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Uso/Estima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Cortar madeira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PARAFUSO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Fixar 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Secundária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9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Direcionar lápis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0,75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1,33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Secundária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Estima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Permitir pega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0,40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Criar beleza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0,50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52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0" name="AutoShape 6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0" y="1340768"/>
          <a:ext cx="8496942" cy="501893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6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874">
                <a:tc gridSpan="6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DA FUNÇÃO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SOMA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CUSTO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relativo (a)/(b)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Cortar madeira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PARAFUSO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Fixar 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9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Direcionar lápis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0,75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Permitir pega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0,40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Criar beleza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0,50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Elipse 7"/>
          <p:cNvSpPr/>
          <p:nvPr/>
        </p:nvSpPr>
        <p:spPr>
          <a:xfrm>
            <a:off x="7308304" y="3212976"/>
            <a:ext cx="1080120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o explicativo em elipse 8"/>
          <p:cNvSpPr/>
          <p:nvPr/>
        </p:nvSpPr>
        <p:spPr>
          <a:xfrm>
            <a:off x="3419872" y="404664"/>
            <a:ext cx="4104456" cy="1440160"/>
          </a:xfrm>
          <a:prstGeom prst="wedgeEllipseCallout">
            <a:avLst>
              <a:gd name="adj1" fmla="val 48533"/>
              <a:gd name="adj2" fmla="val 1587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Valor do componente é igual ao seu  preço</a:t>
            </a:r>
          </a:p>
        </p:txBody>
      </p:sp>
      <p:sp>
        <p:nvSpPr>
          <p:cNvPr id="10" name="Elipse 9"/>
          <p:cNvSpPr/>
          <p:nvPr/>
        </p:nvSpPr>
        <p:spPr>
          <a:xfrm>
            <a:off x="7308304" y="3861048"/>
            <a:ext cx="108012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o explicativo em elipse 10"/>
          <p:cNvSpPr/>
          <p:nvPr/>
        </p:nvSpPr>
        <p:spPr>
          <a:xfrm>
            <a:off x="539552" y="1844824"/>
            <a:ext cx="5688632" cy="1584176"/>
          </a:xfrm>
          <a:prstGeom prst="wedgeEllipseCallout">
            <a:avLst>
              <a:gd name="adj1" fmla="val 68782"/>
              <a:gd name="adj2" fmla="val 961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O custo componente é muito maior que o valor da função. Os esforços  de redução de custos devem se concentrar neste item.</a:t>
            </a:r>
          </a:p>
        </p:txBody>
      </p:sp>
      <p:sp>
        <p:nvSpPr>
          <p:cNvPr id="12" name="Elipse 11"/>
          <p:cNvSpPr/>
          <p:nvPr/>
        </p:nvSpPr>
        <p:spPr>
          <a:xfrm>
            <a:off x="7308304" y="4437112"/>
            <a:ext cx="108012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o explicativo em elipse 12"/>
          <p:cNvSpPr/>
          <p:nvPr/>
        </p:nvSpPr>
        <p:spPr>
          <a:xfrm>
            <a:off x="755576" y="3933056"/>
            <a:ext cx="5472608" cy="1368152"/>
          </a:xfrm>
          <a:prstGeom prst="wedgeEllipseCallout">
            <a:avLst>
              <a:gd name="adj1" fmla="val 69799"/>
              <a:gd name="adj2" fmla="val 14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Valor da função é maior que seu custo. O cliente pagaria mais por estas funções. </a:t>
            </a:r>
          </a:p>
        </p:txBody>
      </p:sp>
      <p:pic>
        <p:nvPicPr>
          <p:cNvPr id="1034" name="Picture 10" descr="http://www.frutodearte.com.br/images/apontador%201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810" y="54943"/>
            <a:ext cx="1800199" cy="18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eg;base64,/9j/4AAQSkZJRgABAQAAAQABAAD/2wCEAAkGBhQSERQUEhQWFRUVFRQWFhQWFhUVGBkUFxQVFxUUFxgXGyYeGBwjHhwVHy8gIycpLC0sFR8xNTAqNSYrLCkBCQoKDgwOFA8PFCkYFBgpKSkpKSw1NS0pKSkpKSk1KSktKSkpKSkpKykpKSkpKTUpKSkpKSkpKSkpKSkpKSkpKf/AABEIAOEA4QMBIgACEQEDEQH/xAAcAAEAAgMBAQEAAAAAAAAAAAAABAUBAgMGBwj/xABJEAABAwIDBAUFDAkDBAMAAAABAAIRAyEEEjEFQVFhEyJxgZEGMkKh8AcUIyQlUmKSscHR4TM0NUNyc4KishVTY3Sjs8JFVIP/xAAWAQEBAQAAAAAAAAAAAAAAAAAAAQL/xAAZEQEBAQEBAQAAAAAAAAAAAAAAARExIQL/2gAMAwEAAhEDEQA/APuKIiAiIgIiICIiAiIgIiICIiAixKygIiICIiAiIgIiICIiAiIgIiICIiAiIgIiICIiAiIgIsFRX40SQAZHpRafvQSXPA1Kj1cXBgCeciPzUd0nzjPguVfFNZ5zgOA3nsAuiM9GdS90zrmI9WkcoXZmKeNYcPqn8PsUeljGOMNcCYmNDHGO8eK7FUSqeOabHqng635HxUhVpCxTBHmkjkLjwP5Ias0VfhNqB9U05aXBuYlpkC8QdwPKVYKKIiICIiAiIgIiICIiAiIgIiICIiAi1c8ASbBR6uM+bfmZgIJMqM/GSOrrz07VGdcydfUOxcsTjGU/OdEa8QOJ4DtVR1qDMQXX3clxxWNZTBLzEAmNTA1MDd2qvr7VecsDI0+kQTA1BPGd0d5USqQyxeHh53PIIi8unQA6ucDEiUFo/F9IB0Tw0zcEQ4j5oNw09xVNiaLmuIeW5nCDmkyLn52h4E3OpEKzpUnVWMdZzXAH4Rpa8N5EXnhu7lJpbKYHZgCXbiTJHMc+Zk81RVYTBOqOJDcrJBl83O8iIJdEdYWsBeFd4fDBswXGdxcXRHDguGN2rTpWJLn/ADGXP9R0b3qnxOOq1QQT0bD6DCRI+k7U90Ii2xu2KdMxOd3zGX+s7RqpcZtWpUsTkZ8xki30jq72staWGG6AFuMNdXBJ8lQRXjcabraaObFu9ewXlNkty16ZmxztPe2QPEL1QWasZUetj2NcGk9Y3DRJdGkwLxz0XdfCfdj2qf8AUmhriDRosbaxDnFz/O1GrTZJNV90p1Q64IPYt1+dNke6tjKEBzm12j/cnNG6Kgh/jK+h7A92XC1obVcaDiYip1m91Rgt/UEsH0hFX4PbVOo0Oa5pafSa4Pb9ZpPrhTmPBEgyOIuoNkREBERAREQEWJUWpjgQclzusY8UEolR6mMAMAE8Tu/NQsTWtmqOADbyYaBoLriNpU+P9rvwVRJc8kdYzy3dy0qVQLHXXKLmPuHMwq/F4mo6eigshsOaZ609cPi4toBE7yFVZyx0PbJOd0vu5x3kNGu64bDRq4oLHE7VeW56bSKdusREmbkncyNHC06kC6jB7S7KWuzA52w1wOZ0y7LEi09bTgSuuzA6pLmy0Q0h1ywkzmZc9bLxBLTNlY4LZzafWBl2UNJ0bEzAboBMwN26FRVUNmPlzqZy5nEOc4OBy2kda5E77m0ZlZYTZLWAZuuQZkgADhDdLaDU81OWAO9RAqn2lXrRDupT+dTm/wDGdW93irLEYxlPzjJ+a37zoFS7V2u6pTe0CG5HWG/qnU6lVWGYPLYBdadDwUrDU5a3f1RfXcFH27tSnhKbXVC0Oe9rKbXuDGl7rDO4+YwWl26RvIVZdaWGlS6ezhvXzbyz90PG4GnSc33u15cZZ0VZweCbZHusA0RN5JM8l58+7FinZffWFEve2C91WjQDDxaBJO/NJsNCo1j7FiMdRbZhNR4MjoxMEaS7zQs1NuVixvVZTedYJqR2aDSOK895P+VlLEwxreieASGBzX03tHnPo1GdWoBvBAcN41i1qv5fYmDnjPKqphWOqVT0jGgl0gB9tzMggnlHeAvjPuhUcTVxlfEOp5RUILGOuWsDGhoLmdQkAbie1fWcbVEZSZLgQGgZnGbWaLlUezfcsc92ao9+Gp/7VF7g4jgRJp0xyAJ7FqYPi2z8HXr1RSpUn1Kh0Y1pce0xoOZsvqvkn7iZMP2g+ND73pO9VSqNOxn1l9Q2NsCjhWdHh6TWA6xJc48XvMucd8kqv2p5UMGFr1cO4PfSIZDmPADs4aZmMw4QVnRabO2XSw7BToU2UmDRrAGieJ3uPM3Va3ymp++H0WMfnpkgu6rWEgSTYkuG64VBtzEmvU2c94ZJzmACQDmbpm9gs4P9exvEOd93t3IPpYWVgLKyoiIgFQMZtZlN4plzQ8iQHGARJFjpNtFPVHtKmHVyCAR0TZB/iqe3erEqS+SZcTfQTaOSKvp4Ms/RvLBfq6t+qbeELp79c39Iz+qnf+038CVUd8RhWvADr5XNeLkQ5vmn71SYjY72Od0bQ9hygNJcXDzi9ziSJLnEXudNAryhXa/zHB3IWd3tN10CivObPwVZrmENcDMOLsrQWAnzhBN9zYtFiJKvquFY7zmNd2gHfPhN10SVUZlPtWtas1glx10Dbn8AqjaG2iGkyKbBqZj6zzCC0xGMYzzjf5rde87lVYvbD3CG9UcBr3nUrxmL8u6UluGY7EO3ub1KY7ajte4FQKdDG403c7JvZh/g2Dk+u655xKsia9HjtuUaRipUGbcwdd8/wNkqvqbbrVDkpUujaYBNTr1S0m+Wm2zbTdxU/Y/kIyldxAPzacj61Q9Z3qXoKWCawQxoaOAH27z3q+Dp/rDg0BjcgAi8OfpvPmA/WXy73V2ufUw9VzXVaTA8VGyXOEuBzRvEWsLQvpb8JO9VmP2b0gIIUbj5lgnYM0i7B4+phn69A8yyR9B0tnnCr/8AVsW92Q4jDVmOs81m0smXWXB0TGo3yvT7X8hKbySWDwC12f7ifSkF4FJnEiXkcm7u0x3qiZT8rNn5MLh8K3pMZ01CatNmUNe1w6R7coAc3JnGVojKYK93T2dVq3vRYdCb1COTbhnfJ5LbyX8icLgG/F6QDyOtVdDqjuILo6o5NgKdj9uU6NanReH5qoJbDRFnBsEk2J+5Z1HTCbOpUAS0RYl73GXEASS5ztBF+AUHbnlO2hRZWp5azXvDBlqACCCScwBvbRVX+qVnVtoUnPJptp1srIbDQGxAIE+PHsVHWPyXQi0Ygf4lMHoKmOf/AKrSAdUax1GnNPM7JBzG4mJmbxqqCifiOPgz8IN3/KJ8eCtj+1aAj9xR/wDbx3Kow/6lj9/XaPGqPAqiXi9dm/wv/wAhMa8V2wZjHY46dZ59Yv8AeuGN/wDjb/P4fOb6l0pD47tDd508dyD6fKyuDKsrqCsK2RYRAKqMb+sH+U3/ADergqmxp+Mf/k3/ADqKxKAewWfYQsLMKsuFXCNf5zbiIOhntF1j4Rvmuzj5tS/g8X8ZUj24o1hj29uKqotXacC7C11oDj1Te8PAMd4UJ+JxGRzi20WygPGpnSZERzmVauZYyLb57FHOBDSSwupniyw72mxUFR0wDTna6lqZpx5sWc6k6Y36DcvNY7yBdXe6ocQ7GCZax5ALBI0ZZhEaaXC9njsO5wOdjXmLVGDK8RpLTZ2/fvUVmzQZyVZflILXSyoT6MSd14jinFVuyNiYWm7K6XVBpTrM6M/0UjZwHEFyt6m2qDXZHVqbXNsWkwGmNCYyg964YmvVYzLXDToR0gzhskCZiOes3gbl1w20w1jAx9QOMg08udkgGYE2teAbBNEsVBANiHXDgQQRxBFj3LU11Tv2eKVZ1eixwpua5tRuHIfRdVzD4V1JvWY9txLW3m63wtWtXvRbDD+9qS1sfRb5z/UOaCXidohjSXEADeTA7FxwtOrWuxuRn+48ET/CzU9phWOB8n2MIc+atQaPfEA/Qbo37eakbX2kMPRfVLS/JHVaQCSXARfRBjBbJZSOa73/AD3RP9I0b3LYbVpdK6j0g6VozOp3zRGbWOzeqDbvlBUjCOoudSbULszYY5xIixMc9AueHPytW5tae0mlcoIm1dtvxWzKrntY0ipSBDc0EZxrJ43ha7RdNbZ5j0HamfT57+SrqBnZeIHCrSPKc4FvsU/Hu+E2adZY8eDgqN6Tfje0xHoVu3zLRHtZV1RvyVR/6hnLVpn27FaYcH39tAfQq24/BmIVS4/JNMzcYmnJ09FwE/mgunO+VcPzoUfsdxuqqg34ltARHwmh/mjhqrSsY2phDxoUu3V3JVmFp5sLtIDMSXmAASSelGgQdsbcbM7ag0+k318lY4XAu9941zwWtqPcGutfQSB9+izQwDXUsIXg9JRDiGzABJ9IRrpZWtOSSTcm5KgtcPiFPpVJVVQarGg1QSpRYhFFdSqbGu+MH+Wz/KorlUeMqfGHiPQpmf6n+3erErdp/KOFpWSsA+3NCPYKsqfyo8ohhKbYAdVeSKbDpaM1R0ei2W23kgL5ptLGPxDs1ZxqGbl9gJ0DWCzYvbsVt5bVi/H1ATakyjTG+JZ0jj2kvH1QqnCtAdx3Se23q+zmt/M8Y+urnY9VzAAx7m66Pjh3R3L0mzfKhwIZiOsDpVaII/jAsRzC81hn5dQADAvbfLu3tWKuOIIAtHpdmlp4aKVY+kggiZkG8i8jdC41sO1whwB5EDndeI2P5WjDPaypag4mSZ+DcY6/8HHtJ3Fe8eOMfdaDaOKy0hua5ghjpb/tv67YGsTceKjVzTJmoH0nAzmbL6egGmoBAi2kzqrEjs3crxwXKOPhz3jxQ1wwWAeBLK7Mu4sgjWSSDvOl+MqXtLbdKjkzuJNScgaC6YImSNBfXkVCxeBZ0TyWNJtuae+4sVRbZpBtPC29KpP9pA+31oq+o7cqe/n0IZ0cNykg5xLAZBB3m99F5XB/qOL7jJM/vRY7+9XND9qDmynPfTGqpsGPieO3QDyiKo9SK6bUM0MCY9N+k3PU3jTs0VjSPyu7SCymdTvpNVdtI/FsCf8AmcOd2tsFYUnRtcc6dL10wO6yqKTDfs3Fjg9nj0o8D+Cl7QP7NPKpqN2Zp3aa6KLgv2djBrDgf+8OWmi77Rd1dmnS1TXtbwRU6h+0cdzpvM6futFStvsdv/UMjwcNeEW9SuqDflPGafonf+HRVuzMA+tsoNZE9OxxkwAGzJHba3JBY1P2lhP5FI/3OUnZmENHphmDulqFxIEQMxMC6lVS0lkAS1jWZoE2EGDrC60aKgxSpKdQorNGgrChQUGcPQU5jFinThdQFFIRZRAXnscPjT/5dPt9NehXncd+tP8A5dPvu5WJXVr+5C5cwUn2/FVl8/8ALPDhmMqOP7xtKpax80UzfjLNVS0614tI4AjzTYX1XsPL3ATTpVm/uiW1N/wNQiH/ANFTKbfPK8XVqAdbQgX4yT23j8FqXxmxN6QnUwDz4C8+F1wdjGAObPG8Tpp+Ko8XtcnqttzFwYO7nO/iotK5iN9zJ4az6/BXDUzFYs1Dl13wQb9nrX0z3O9ruqYboX+fQhrTNzRI+DN97Ycw/wALeK+eYXBxrqJg34heo8i6hZi2CLVGVKbuE5c7ey7Y70qR9BIHj27wPzWjvv4+3iuj+e/8504/cuVQe3q/OeSy054kTQf2/l7BUG3f0OEP03f4tXoMWPgX92tzMR7dq8/t39Ww/wDN7fQ05o1Ehp+VKfOnS7+oQVUYIfF8eODanDdUVnU/aWH50aWvY5V2D8zaTfo1z/dPt2IrG0jODwZFvhyOGrZ3/arGfldnOlRt/TElVOPfOz8IeGJAnX0dysnn5Wob5o0bxydfvRFXhCfeO0BBgE359MLaLptG9HZp1hzxr/BuAWuDb8V2mJ31N/8AyTp7aqfR2b0mFwTicvRFzgBBmcv4IqRRZ8pYpzpDXUgA6CBJpxrvK64LDClTFKmIYDIEk9kk3UmrUL3EnfuXalRUGtGip9Cis0aCn0aCgxRoKbTppTprqAorICyiICIiDV7oXmsdXIrucRYtaO8F3fvC9MQo2IwDXahBRtrA6EHsK3Kzithb2qI41GajMOdj46LTOOz2Agtc0FpBBadC0iHNPaF8h8pdiPw9U07lpDjSefTYDv8AptsHDlIsV9ZbigTvB4H23KPtPZlOvTdTqNzNde0BzXDzXscdHAb9+hkFInXxJmHL5JgWbMGAQI0Vrh2ho0A0sDAm/h67Kx235O1cKC54z05I6djTly7hUYL0ndvVvZ25VJdIlonhEGG8ZBvPAcVvrFmJlTHQ0gRLv7eUbz2WVx5JYjNjsM3VzXOc53JtJ5NxuggGV5GvWLBms0SNe3Qn8F9H9zvydfSDsTXBD6jQ2kx05m0iMznvBFi4wI1AHNSrHtCfaOQ/Naubv7edo1ha5/C3eBvH4LBf+PdH2KK1xQmjUtrln2+9ee27+qUSTpVb4FjvsXoarppVO72+9ee24/4jTPCtTJvyejUK9toYQ8aNL7X+3co2EHX2m3i2vI+z711xhjGYHX9E0f3u0WmEb8Y2mPo4i3a2faEEDFunZmHj/wCywa8QbFWeKE7UwpAmaFL1PcJj81Uinm2XRADnfGadmgkxlM93sV6XEYJnS0awLukZSa3Xq2JMERqJ4oqNsvAmicU2o0Hpaj4Ehwyl5NwR6lMp0tABAGgFgOQG5bsYSZO9SqVFQa0qKm0aKzSoqdRoqDFGiplOmlOmuoCigC2REBERAREQEREGCFxq4YHcu6IKfEbFB0VbW2Y9k5Sb7tR4L1MLV1MFXUx5E4gtPWBG6RwjxVdifJjB1zmdQplx9OmDSdO/rUy3mva19nNduVVitgXltjxFimmKTZ/kthaDg+lQYHiSKjs1R44lpqEkdoVqXcTre5ntXA06jNQHAcbHx0PqWDjG75aeYi8c7Ed6rOOs926I9vYo59u2B4xfjyXN34ERw3H1+taucbyN9919xt9mqo71H/B1ByHE+x/BUO2rbPHKrT03Xdp61bvf8G++7n2Kl21+zTpZ9KBz6Q+CLHHHmMVs+BrTA5WqHettnsD8btBgMFwqtm9pbH4+C3xWBc84Co0S2mHZjIsA9pEcd+is/e7RUe9jQHPc4udEEzx9XgiuGy8N0NAUQc0OzF0RuiAJspdOktqVFS2UlBrSpKXSorejRUynRUGtGipdOmlOmuwCisALZEQEREBERAREQEREBERAREQFghZRBxqYcHUKvxWxWuGitliEHk6+w3M8wkctR4HTuKiVqjmzmaeRbcbptqN/EL2xYuFXBNdqFdTHkRUBpPLSNBcdunK0BcX4JtXCCm6RLmOtE9Uk935r0lfyeYTMCeO/v4rDdkAdyumKGjh4AA0Agdil0sOrYbOXVuBUFdToKTToKazCLs2gg4UqKktYtg1bAKKALKIgIiICIiAiIgIiICIiAiIgIiICIiAiIgIiIMQsQtkQawkLZEGsLMLKIMQsoiAiIgIiICIiAiIgIiICIiAiIgIiICIiAiIgIiICIiAiIgIiICIiAiIgIiICIiAiIgIiICIiAiIgIiICIiAiIgIiICIiAiIgIiICIiAiIgIiICIiAiIgIiICIiAiIgIiICIiAiIgIiICIiAiIgIiICIiAiIgIiICIiAiIgIiI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0" name="AutoShape 6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data:image/jpeg;base64,/9j/4AAQSkZJRgABAQAAAQABAAD/2wCEAAkGBxQTEhQUEhQUFhUXFxQVGRgXFhQVGBkWGhUXGRUXGhcZHCggGBolGxQVITEiJikrLi4uFx8zODMtNygtLiwBCgoKDQ0OFBAQFCwZFBksLCwsLCwsLDcsLDcsLDc3LDc3Nys3KywrLCssLCsrKysrKysrKysrKysrKysrKysrK//AABEIAOEA4QMBIgACEQEDEQH/xAAbAAEAAgMBAQAAAAAAAAAAAAAABAUBAgMGB//EAD8QAAEDAgMFBQUGBAYDAQAAAAEAAhEDIQQSMQVBUWFxBiKBkaETMlKx8EJicsHR4SMzgrJjc6KzwvEWQ1MH/8QAFwEBAQEBAAAAAAAAAAAAAAAAAAECA//EABsRAQEBAQADAQAAAAAAAAAAAAABEQISITFB/9oADAMBAAIRAxEAPwD7iiIgIiICIiAiIgIiICIiAiIgIiICIiAiIgIiICIiAiIgIiICIiAiIgIiICIiAiIgIiICIiAiIgIsEqPiMTl3cp3BBJRVWKe83YNOevTmu2GxBLZHeMTBtHUnRTVxPRc6dYHkeBXRVBERAREQEREBERAREQEREBERAREQEREBERAREQFzq1Q0SVzxOJykDeZhRKb3F0k33/tyUtV0qVC8HURe154TxC5U+8LW3EfNbNdltum3LkUc0+8Nd/McFlWKTi3uk9CNDyIO9ZqMIOZu+5Gk8+q1q1WlsHeY5zwEXlRq2FqOZfugcCQSOaGM4naI3XMeAPPnyU/ZTyWSTNyvNvsY3q62XjGNpEue0BpOYkix3DqtFW6LzOK7XNBIpsLuZsPLVdNndqqbrVR7M8dW+e7xTYmV6JFpTqAiQQQd4MhbqoIiICIiAiIgIiICIiAiIgIiICIiAudWoGiStMTiQ0ajzVdUc5xMk6yOA5fXFS1cdnOMyfA8OSy8E3Fvz5FGCbHxB9VnOW2OnEz6lZUZlI9L8VGxWM9naczt1/7uC7YyoGMc8kCATJ00tK+Wt7QkUrmXGZO8lSrI+h0NpUmnNUILr8LDgAuj9puqg+zENGr3WA5W1PJfM8DjSXZ6pho1ExPJT8TtytiAGUu5SECYgeCRbErbO2w0mnSJc68nUu8tByVXh2OcZed8xJif1UjDYJrNNeJ1K7tpgJelkZYVuVgNWwCyrtgMfVomaTiB8Ju0/wBP6QV6rZ3adjoFUZHcdW+e7xXlKVIkgAEzaAr/AA/Z05Sam8EZQY3fErLWbI9SKzYBkQdDIg+K3lVOzsOxjA2mwtAm2t98zclSxUMwCQd0xfoN66axUxFxo1ZJa4AO11mRNiuyqCIiAiIgIiICIsEoMrErg7FDdccREfuuJxLjMRG5TRLqVA0SVDq4ybM9QuFMzPWDrqsghtjpu5cuilq41YyST4EESurQG6i3PdyR0bjfy81yqYsAOLyGga5rCOqipDmg30PPRVG2u0NLDWdJeRZov0J4Beb7Q9ug0FmFmT9s3ifgH5lfP6znPlz3EDUknXjJ3qLi+2t2pL3b3kGzbim39VTUGWsMzzJgXv0Gij4XDvrSKTcrBOao63lw+tF67ZuGFKmG0MmaDLnbz8XWeKsmpbiFs3YVV/fqtcRrlANusK3bSi1gBuV32afUe8PrPP8ADpiQ2GgnNaQ2M2pXN7XPa72jHh4BdmymCJsTOhur4xPNVgJlWuGqhzZGl/QkfkpNJkm1yVydHMMVhgNlPq6WG9x0H6qy2dsgC9bW3cGsfe4dFasc6btyt0baAOE9VqRLWMBhadMQyc2jnGx/YKRSaQYkkbjM+BWj6d5Av+XCF2IaWlxsImbCOa0zSoC3va8eY484WuOrNDZcRNi2NZ3eCg4jalstMXNi/QDmB13qKaZmXEk/mtYiz2XVL6j3Ot3WgDcBJtzVqqnYgvU8PzVsqgiIgIiICLV7o1UJ+Mze5p8UeoG9S0SqtYN/QKHVqZ+h+r8VGZU1B1Guq1zlp+6d43HgVm1cdWVOWlui1MN103cv25rLmE3Go6acEY+bFvXiPArKsNOa7DcfULalJmYJ3jRYcGtBcSMouToWjnvIXl9t9q75cPut7QgT/TxHMqquds7bp4Yd45nRan9rz0A5lfOdubbrYkw4wwaNBOUfmfFZrUpzPqO5kuI9Sqp2IfXcWYcQ0WNQ2Hha3zVVGxNZtMx7z9zRry6Kfs/s+6oQ/E2G6mLecadNVZ7J2GyiJ95+9518B9lWobCzaSI+IphtF7WgABjoiwFlv2YZ7dsjMC0AkgZrdJB+aY+kXUqjRqWOaOpaQF5/sfUxVF80MxIFwG5+tlri4z1HuqO3qVAe6CAbwHNJOpMEwoPaD/8AQC6m5tFuTMC2SQ517W3BeE7S7bqVKji5oDiTm+zfecuXVadmezVXEuFSvmZQ5Tmf91vAcXblvqxmR7jsxs91SjSINsjS5x90WvfeZXrsNh20gDTvOrzr0A+yF2wmCAptayKbWBoYwSGtAAgGdTYXXR9YCAZzGRlIm4AJ13X3LnjetmsHG43xbmCujcoaTmIGmp8o4qsoV3ZKpaSMpcNx0E6GePotK7AaVFxuS6gZPHM2T8/NanKLFmOiRDnESBYNB4STp+ygY7NUADoA1yj3ZO8/EeqmPOqj71uQasYtigWXKosNiCz+oVmq3YY7rvxH5BWSygiIgIURBT1MWfaljpmTk4RA9Vq9ha4CO67S1g74eSziaQNRxPT9Vo1hAIkkHcbqXlWatJ3vN1FuRHArDawcDIPDj5rAqkGCY4T8pWa4+0BB4i7SOBj5rGNMMZli/d+IHTkRp4rpiKoY11R0DKCS7lzGhXFlVruAdyPy4hQduUCaDwCctiRGgBBJ5aIY8xtXaVTFO71mA91u4DnxKrcfjKeHAzd6odGN97x+EKPiNrvqH2eDB51SIH9M6dSuuy9jNpnO456huXG9zwTZFxDp7PqYkh+I7rRcUxa3Ph6noryjhg1oa0AAbhou7WrYNWdVhoWSxbFYUVpCmbFa+nVLqLQXkXESDzN7dVI2bsp1WD7rOPGOAOvVX+EpsDCxjSB7rtM08Sd6s1Lirqdm2VXGrVy1KpO8RTBnc2e9pvtyV1gqMCA1trERG64tuWKVAMsTLRoXWI3xPrKh7Ux5nKyPeYwm51c2QDxutT2y57Tx5a2o2kQMsCTBiQLDib2ngueFJ9s0Hc1xm9z3eKhOjJW0PeA8YarOf4w/BUM+LFuQrky1PEH71X+39lvXsyiPvUh5R+i4u/kV+tb5x+SkYsfyR99v9pP5LUZSahsZXMLZ12n63rR2io1JWQFgHktg5BabFHcPNx+QVgq/Yn8scy4+qsFlBERAREQVGMqQ42vMLR58l2rDvuPNfMu1PaurVqup4dxZTaSMws5xGpnc1NV9HrUGvFxPVHMc0d0yPCYjQHy8l8r2ZiawMirU653H5lex2X2kdZtXvad4C/iN/gpsq5V+WMdYiD5ERvHHqtQ1zJjvj/UBz3FSmZXibEHxWraRZ7t28DE9AeHJLySvJY3YbmkuwwBaSSaWhaTqW6SOSqvbXg90/C6WnxBC+g1GMf8AddqLR58VyrYcO7lRjHcA8BwPMEj/AKXPxXyeNYREoag+ivWv2VSEBtKmPulrYPLNEg81tgMDQbdtMNMmxuZ32KYuvLUcI9/utJ8IHmbFWuytliSaoFjGU3HU8fFXoJacu4+6Tx4HnwW1WjfMB3t8b2/qpha5UxlMXynQg+h/JSHMjvC5Ag82/V/NbimHDhI1+RUOvjw3uhoc8a/C3qePLmtYzrTbL4YAIBcRG/eL+qoHTxt7b1zSfkptdxNR2YyYYOQubAbh+iiP05+2f5glazFjDYyVIAI9oOk9yFaQDWj7jx/qaFUtqjK4HfWaPEZArFt639Hzf+ysK5v/AJFbrX9XELvi3d6l/mfKm9Q6zv4FTrU9argumJf36f43+jHLTKbmmn9cVjMtabu4Preub6l1R2C0c4eij1cRAN1ijnqOy02yeOgH4juQej2Gf4TfH56qwUfA0MjGt1ga8TvPmpCygiIgIiIKHbdUtpV3DUMqEeDSvkGDw28r7JtChnFZnxNe3xLf3Xy8YfJ73vcOHVTprlim06BegwOGbTGZ+vBVGFbl729KuKLtSsxp6TAbfyvh38s26cCvUtM/t6L4/iMYXnKzTeeK+h9jMYTRFN5l1OAObN3kbeS3L+MV6CFHrMIB1cPhm46HcbLui1iK04syB3hcj7OnOSJPRS3MmHNnMNWmxI0tGh4LXE4RrhcXseBBGigd9h97uzvOWOs2N4XKyxue1y1udvGengR6eiy2sGtl7gI1nl+y8/iNs1GkMo085cYDnGGMm5Ji5AM2HFbso5jL3F7ouTYdAPsj6urJqYl1ccX2pZmMvc2dPIbguDKQGmsyTvPitnWFkaVvEQyf4j/6PzULhGvtX/8AIqUBNR54OZ9eaiv1Ef8A1qf8/wBFm/WoBvpWB/1MCmsqfxj+Bv8Ac5QW1LR/ij+/9lvUrAVT+Fg9XFWFZqP/AILuZP8AvLWpU7zL76h/0wq5lTuHq3+8FbPrjMz+v1i3qqi5dU7o8CPNRquJXCrVmGgEukAACTPCF6DY/ZwCH1oJ3M3D8XxH0VRA2Zsl9eC6W0+O934Qd3P5r1uEwrabQ1gAHz5k7yuwasrKCIiAiIgIiwUFXVf/ABHdfyXhe0WA9nXcdzznHjqPP5r3Nd4zu4yoW3Nme3pFogOF2nnw6FLNiyvnuIrwLKofVdUOVs5d54q1dgyCWvEEWIO7kugysECFzbcMBhQ3qvRbDxzadZgn3jkP9Vh6wvK1sXGixgMQfbUuPtKf94Wp6TH18FZXGm6SusrowKHjIDXZoiCpJdZRccAWuneIv9c1OvjXKow7yH6gmGnwg8evop2ZQsOJykQRlAm8jipRHDRTla3a5ZaVyWYWmUen79SPiZ/bM+qratS4/wAyp83qXnvV/wAxg8mBUeOxMNaf8V3rmWK1EhmI70f4n/JabTxgbWN9APr1XXYnZ+riKkVGVKdJzS8VBlncWxPGTu3L3Wydi06LC275M5nhpOgEaaWViWvJ7I7MVX5PaWpOAJyuGaIlu474Xq9n7Bo0XZmNkxALjmjjE6GytA1ZRlzFFszAnjAnzW8LKICIiAiIgIiICIiCNiMG114h3xDX91D9k9lnd4fEN3UK1WIV0eU27sUVu8wgVI8HdefNfOdqtfSdke0tdz+c7wvtFbBg3HdPLTxCq9pbODwW1Whzd0iQP0UsjUr4tVr+PNXHYvZ7q1dtSDkpHMTuLh7o6zB8F7f/AMOwkz7Lwz1I8sytaOBaxoaxoa0aACAPJSc3S9JOFbvWZ1WGGLLJbqtsgbZccWBlMgRF5v8AX7KQLQtHTeOH/SX4sVbxDRl5fshJMStCIcC48bXgb456rcm6kW1nqtXvCPco9RyqK6tXgVDP/sH+2F17P9mzXJOKpu9kYqMIcAHE6e6ZiCbWW2xNne3rOa+mXUQ4lxktbIaMokEEmY0XvaNINaGtEBoAA4ACAFlbShRDWta0QGgNA4ACAF0REZEREBERAREQEREBERAREQEREBYIWUQRauEB0t8v2UZ4y2db5HxVmsObOqsoqXQQlQ2XSpsyP5dhrlMkeB3Lg4xZwIPD61WplA6hc8S0i4+rb10AuudYz5FKsVr5tMbzAvw3pmWuIdAbJEhRq1a1lkbV64Gq40Q6o6GAlx3D5nkumz9lVMQZ91lu+d/4Rv66L2GztnsotysHUnVx4kpqOexcCaNJrDE3Lo0zEyVPRFAREQEREBERAREQEREBERAREQEREBERAREQFzrUg4Q4AjmuiIK+pgyPduOB181CfrB8tFerlWoNd7wB+uO5XR5HGAy1oEuJsAL6Ky2b2f0dWudzN39R+100V3RwrG+60DoF2TRq1sLZEUBERAREQEREBERAREQEREBERAREQEREBERAREQEREBERAREQEREBERAREQEREBERAREQEREBERAREQEREBERAREQEREBERAREQEREBYKIgyiIgIiICIiAiIgIiIC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4" name="Picture 10" descr="http://www.frutodearte.com.br/images/apontador%201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975" y="7937"/>
            <a:ext cx="1800199" cy="1800200"/>
          </a:xfrm>
          <a:prstGeom prst="rect">
            <a:avLst/>
          </a:prstGeom>
          <a:noFill/>
        </p:spPr>
      </p:pic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236278"/>
              </p:ext>
            </p:extLst>
          </p:nvPr>
        </p:nvGraphicFramePr>
        <p:xfrm>
          <a:off x="0" y="1340768"/>
          <a:ext cx="8496940" cy="531975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9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7018">
                  <a:extLst>
                    <a:ext uri="{9D8B030D-6E8A-4147-A177-3AD203B41FA5}">
                      <a16:colId xmlns:a16="http://schemas.microsoft.com/office/drawing/2014/main" val="2416809302"/>
                    </a:ext>
                  </a:extLst>
                </a:gridCol>
                <a:gridCol w="1317018">
                  <a:extLst>
                    <a:ext uri="{9D8B030D-6E8A-4147-A177-3AD203B41FA5}">
                      <a16:colId xmlns:a16="http://schemas.microsoft.com/office/drawing/2014/main" val="3329515882"/>
                    </a:ext>
                  </a:extLst>
                </a:gridCol>
              </a:tblGrid>
              <a:tr h="564874">
                <a:tc gridSpan="6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DA FUNÇÃO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CLASSIFICAÇÃO DA FUNÇÃO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SOMA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CUSTO 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Valor relativo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(a)/(b)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Principal/secundária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Uso/Estima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Cortar madeira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7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PARAFUSO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Fixar lâmina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Secundária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9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CORPO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Direcionar lápis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0,10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1,00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0,75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1,33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Secundária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Estima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Permitir pega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0,40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74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002060"/>
                          </a:solidFill>
                        </a:rPr>
                        <a:t>Criar beleza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002060"/>
                          </a:solidFill>
                        </a:rPr>
                        <a:t>0,50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6A1D1F4B-2FFF-FB46-9B7F-193826392237}"/>
              </a:ext>
            </a:extLst>
          </p:cNvPr>
          <p:cNvSpPr txBox="1"/>
          <p:nvPr/>
        </p:nvSpPr>
        <p:spPr>
          <a:xfrm>
            <a:off x="2295202" y="402935"/>
            <a:ext cx="6568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FF0000"/>
                </a:solidFill>
                <a:highlight>
                  <a:srgbClr val="FFFF00"/>
                </a:highlight>
              </a:rPr>
              <a:t>FIQUE ATENTO PARA CLASSIFICAÇÃO DA FUNÇÃO NA ANÁLISE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2214483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 que é modelo de Kano e como funciona nas empresas">
            <a:extLst>
              <a:ext uri="{FF2B5EF4-FFF2-40B4-BE49-F238E27FC236}">
                <a16:creationId xmlns:a16="http://schemas.microsoft.com/office/drawing/2014/main" id="{8818AFE3-600C-9F40-8C9A-4C515C51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31" y="2536063"/>
            <a:ext cx="6959697" cy="430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RAFUSO AUTO ATARRAXANTE CABEÇA PANELA 4,8X38MM B8 PHILIPS (UNID) -  Soedral - Materiais Elétricos e Hidráulicos">
            <a:extLst>
              <a:ext uri="{FF2B5EF4-FFF2-40B4-BE49-F238E27FC236}">
                <a16:creationId xmlns:a16="http://schemas.microsoft.com/office/drawing/2014/main" id="{CEFBF7B3-731D-3F43-B1B6-A74EEF45E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868567"/>
            <a:ext cx="882198" cy="83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ontador De Lápis Lâmina 23x6.3x0.6mm,Para Apontador De Lápis - Buy Lâmina  De Apontador De Lápis,Apontador De Lâmina,Lâmina De Apontador De Lápis  Product on Alibaba.com">
            <a:extLst>
              <a:ext uri="{FF2B5EF4-FFF2-40B4-BE49-F238E27FC236}">
                <a16:creationId xmlns:a16="http://schemas.microsoft.com/office/drawing/2014/main" id="{73548C1B-3B72-854A-9562-844117B44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868567"/>
            <a:ext cx="1572766" cy="157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pontador de Lápis Beautybox Duplo | Beautybox">
            <a:extLst>
              <a:ext uri="{FF2B5EF4-FFF2-40B4-BE49-F238E27FC236}">
                <a16:creationId xmlns:a16="http://schemas.microsoft.com/office/drawing/2014/main" id="{BE7CA866-7750-FE4D-9DE8-ACAC03B38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424" y="107148"/>
            <a:ext cx="1958905" cy="1958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pontador com Depósito Transparente Ref. 125LV Faber-Castell - lojaswessel">
            <a:extLst>
              <a:ext uri="{FF2B5EF4-FFF2-40B4-BE49-F238E27FC236}">
                <a16:creationId xmlns:a16="http://schemas.microsoft.com/office/drawing/2014/main" id="{4FD109FD-3DBF-E040-BC1F-1BFCBF852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39" y="342265"/>
            <a:ext cx="2454504" cy="245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pontador BRW Duplo de Metal - AP1298 - CasaDaArte">
            <a:extLst>
              <a:ext uri="{FF2B5EF4-FFF2-40B4-BE49-F238E27FC236}">
                <a16:creationId xmlns:a16="http://schemas.microsoft.com/office/drawing/2014/main" id="{2C2CE744-28BE-AF41-ADF8-1C37C1A3B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053" y="699634"/>
            <a:ext cx="1184124" cy="118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laza Japan - Apontador de lápis de coruja">
            <a:extLst>
              <a:ext uri="{FF2B5EF4-FFF2-40B4-BE49-F238E27FC236}">
                <a16:creationId xmlns:a16="http://schemas.microsoft.com/office/drawing/2014/main" id="{80BA6BEB-18DE-0443-BA6F-72D2B0C08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67613"/>
            <a:ext cx="1325089" cy="160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7664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LAB1">
      <a:dk1>
        <a:srgbClr val="262626"/>
      </a:dk1>
      <a:lt1>
        <a:srgbClr val="FFFFFF"/>
      </a:lt1>
      <a:dk2>
        <a:srgbClr val="262626"/>
      </a:dk2>
      <a:lt2>
        <a:srgbClr val="F2F2F2"/>
      </a:lt2>
      <a:accent1>
        <a:srgbClr val="FFD965"/>
      </a:accent1>
      <a:accent2>
        <a:srgbClr val="7F6000"/>
      </a:accent2>
      <a:accent3>
        <a:srgbClr val="FFC000"/>
      </a:accent3>
      <a:accent4>
        <a:srgbClr val="AC4F0F"/>
      </a:accent4>
      <a:accent5>
        <a:srgbClr val="EC7A2C"/>
      </a:accent5>
      <a:accent6>
        <a:srgbClr val="F8D0B4"/>
      </a:accent6>
      <a:hlink>
        <a:srgbClr val="C55A11"/>
      </a:hlink>
      <a:folHlink>
        <a:srgbClr val="F4B183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5" ma:contentTypeDescription="Crie um novo documento." ma:contentTypeScope="" ma:versionID="03a2bb3a47b51376378bf08e532d75c6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fa73517d4a9523936914bab2fc4498b3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F05EA6-08FF-46C9-A07C-BB5BE26DB2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949ED9-6636-4657-BC6A-A71724D8ABA6}">
  <ds:schemaRefs>
    <ds:schemaRef ds:uri="http://schemas.openxmlformats.org/package/2006/metadata/core-properties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D157944-4BAC-4085-901E-B78C301CFC8F}"/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778</Words>
  <Application>Microsoft Macintosh PowerPoint</Application>
  <PresentationFormat>Apresentação na tela (4:3)</PresentationFormat>
  <Paragraphs>237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Al Nile</vt:lpstr>
      <vt:lpstr>Arial</vt:lpstr>
      <vt:lpstr>Calibri</vt:lpstr>
      <vt:lpstr>Lato</vt:lpstr>
      <vt:lpstr>Lato Black</vt:lpstr>
      <vt:lpstr>Open Sans</vt:lpstr>
      <vt:lpstr>Tema do Office</vt:lpstr>
      <vt:lpstr>1_Tema do Office</vt:lpstr>
      <vt:lpstr>Apresentação do PowerPoint</vt:lpstr>
      <vt:lpstr>Apresentação do PowerPoint</vt:lpstr>
      <vt:lpstr>ABORDAGEM TRADICIONAL DE VALOR</vt:lpstr>
      <vt:lpstr>Apresentação do PowerPoint</vt:lpstr>
      <vt:lpstr>Apresentação do PowerPoint</vt:lpstr>
      <vt:lpstr>ANÁLISE DE VALORES</vt:lpstr>
      <vt:lpstr>Apresentação do PowerPoint</vt:lpstr>
      <vt:lpstr>Apresentação do PowerPoint</vt:lpstr>
      <vt:lpstr>1. Identificar as funções do produto</vt:lpstr>
      <vt:lpstr>Apresentação do PowerPoint</vt:lpstr>
      <vt:lpstr>Apresentação do PowerPoint</vt:lpstr>
      <vt:lpstr>1. CLASSIFICAÇÃO DAS FUNÇÕES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Kieckbusch</dc:creator>
  <cp:lastModifiedBy>Andrea Cristina dos Santos</cp:lastModifiedBy>
  <cp:revision>6</cp:revision>
  <dcterms:created xsi:type="dcterms:W3CDTF">2019-11-05T14:45:38Z</dcterms:created>
  <dcterms:modified xsi:type="dcterms:W3CDTF">2023-11-22T21:09:02Z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