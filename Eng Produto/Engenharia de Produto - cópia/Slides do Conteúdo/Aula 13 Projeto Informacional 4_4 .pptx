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7"/>
  </p:notesMasterIdLst>
  <p:handoutMasterIdLst>
    <p:handoutMasterId r:id="rId38"/>
  </p:handoutMasterIdLst>
  <p:sldIdLst>
    <p:sldId id="796" r:id="rId5"/>
    <p:sldId id="758" r:id="rId6"/>
    <p:sldId id="793" r:id="rId7"/>
    <p:sldId id="794" r:id="rId8"/>
    <p:sldId id="765" r:id="rId9"/>
    <p:sldId id="761" r:id="rId10"/>
    <p:sldId id="762" r:id="rId11"/>
    <p:sldId id="764" r:id="rId12"/>
    <p:sldId id="766" r:id="rId13"/>
    <p:sldId id="767" r:id="rId14"/>
    <p:sldId id="777" r:id="rId15"/>
    <p:sldId id="779" r:id="rId16"/>
    <p:sldId id="743" r:id="rId17"/>
    <p:sldId id="797" r:id="rId18"/>
    <p:sldId id="782" r:id="rId19"/>
    <p:sldId id="784" r:id="rId20"/>
    <p:sldId id="787" r:id="rId21"/>
    <p:sldId id="790" r:id="rId22"/>
    <p:sldId id="791" r:id="rId23"/>
    <p:sldId id="781" r:id="rId24"/>
    <p:sldId id="810" r:id="rId25"/>
    <p:sldId id="811" r:id="rId26"/>
    <p:sldId id="812" r:id="rId27"/>
    <p:sldId id="813" r:id="rId28"/>
    <p:sldId id="792" r:id="rId29"/>
    <p:sldId id="814" r:id="rId30"/>
    <p:sldId id="798" r:id="rId31"/>
    <p:sldId id="804" r:id="rId32"/>
    <p:sldId id="800" r:id="rId33"/>
    <p:sldId id="801" r:id="rId34"/>
    <p:sldId id="802" r:id="rId35"/>
    <p:sldId id="803" r:id="rId36"/>
  </p:sldIdLst>
  <p:sldSz cx="9144000" cy="6858000" type="screen4x3"/>
  <p:notesSz cx="7099300" cy="10234613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8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428465-9B94-425C-B333-0F00850FD9EB}" v="49" dt="2024-12-11T16:34:19.1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587" autoAdjust="0"/>
    <p:restoredTop sz="87049" autoAdjust="0"/>
  </p:normalViewPr>
  <p:slideViewPr>
    <p:cSldViewPr snapToGrid="0" showGuides="1">
      <p:cViewPr varScale="1">
        <p:scale>
          <a:sx n="113" d="100"/>
          <a:sy n="113" d="100"/>
        </p:scale>
        <p:origin x="2232" y="176"/>
      </p:cViewPr>
      <p:guideLst>
        <p:guide orient="horz" pos="2168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7266"/>
    </p:cViewPr>
  </p:sorter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 Cristina Dos Santos" userId="c1f965dc-8845-4afc-9e32-8f70830fffd6" providerId="ADAL" clId="{A23B2EDD-61C4-FC43-AF3C-7CEAEBBBA6D3}"/>
    <pc:docChg chg="custSel addSld delSld modSld">
      <pc:chgData name="Andrea Cristina Dos Santos" userId="c1f965dc-8845-4afc-9e32-8f70830fffd6" providerId="ADAL" clId="{A23B2EDD-61C4-FC43-AF3C-7CEAEBBBA6D3}" dt="2024-05-15T21:19:16.617" v="468" actId="2696"/>
      <pc:docMkLst>
        <pc:docMk/>
      </pc:docMkLst>
      <pc:sldChg chg="addSp delSp modSp mod">
        <pc:chgData name="Andrea Cristina Dos Santos" userId="c1f965dc-8845-4afc-9e32-8f70830fffd6" providerId="ADAL" clId="{A23B2EDD-61C4-FC43-AF3C-7CEAEBBBA6D3}" dt="2024-05-15T21:18:14.152" v="466" actId="1076"/>
        <pc:sldMkLst>
          <pc:docMk/>
          <pc:sldMk cId="0" sldId="784"/>
        </pc:sldMkLst>
        <pc:spChg chg="add mod">
          <ac:chgData name="Andrea Cristina Dos Santos" userId="c1f965dc-8845-4afc-9e32-8f70830fffd6" providerId="ADAL" clId="{A23B2EDD-61C4-FC43-AF3C-7CEAEBBBA6D3}" dt="2024-05-15T21:17:31.143" v="457" actId="1076"/>
          <ac:spMkLst>
            <pc:docMk/>
            <pc:sldMk cId="0" sldId="784"/>
            <ac:spMk id="2" creationId="{9C894244-B891-D8BA-AD0A-83F512C4BB7B}"/>
          </ac:spMkLst>
        </pc:spChg>
        <pc:spChg chg="add mod">
          <ac:chgData name="Andrea Cristina Dos Santos" userId="c1f965dc-8845-4afc-9e32-8f70830fffd6" providerId="ADAL" clId="{A23B2EDD-61C4-FC43-AF3C-7CEAEBBBA6D3}" dt="2024-05-15T21:17:31.143" v="457" actId="1076"/>
          <ac:spMkLst>
            <pc:docMk/>
            <pc:sldMk cId="0" sldId="784"/>
            <ac:spMk id="3" creationId="{858884CF-7EE5-F502-5A8D-B779BED5F522}"/>
          </ac:spMkLst>
        </pc:spChg>
        <pc:spChg chg="mod">
          <ac:chgData name="Andrea Cristina Dos Santos" userId="c1f965dc-8845-4afc-9e32-8f70830fffd6" providerId="ADAL" clId="{A23B2EDD-61C4-FC43-AF3C-7CEAEBBBA6D3}" dt="2024-05-15T21:11:58.491" v="262" actId="1076"/>
          <ac:spMkLst>
            <pc:docMk/>
            <pc:sldMk cId="0" sldId="784"/>
            <ac:spMk id="4" creationId="{9AEF903A-B870-F742-9C5B-3AE8832EF1C4}"/>
          </ac:spMkLst>
        </pc:spChg>
        <pc:spChg chg="add mod">
          <ac:chgData name="Andrea Cristina Dos Santos" userId="c1f965dc-8845-4afc-9e32-8f70830fffd6" providerId="ADAL" clId="{A23B2EDD-61C4-FC43-AF3C-7CEAEBBBA6D3}" dt="2024-05-15T21:17:31.143" v="457" actId="1076"/>
          <ac:spMkLst>
            <pc:docMk/>
            <pc:sldMk cId="0" sldId="784"/>
            <ac:spMk id="5" creationId="{04EC6597-05F2-A700-4541-7B671320B836}"/>
          </ac:spMkLst>
        </pc:spChg>
        <pc:spChg chg="add mod">
          <ac:chgData name="Andrea Cristina Dos Santos" userId="c1f965dc-8845-4afc-9e32-8f70830fffd6" providerId="ADAL" clId="{A23B2EDD-61C4-FC43-AF3C-7CEAEBBBA6D3}" dt="2024-05-15T21:17:31.143" v="457" actId="1076"/>
          <ac:spMkLst>
            <pc:docMk/>
            <pc:sldMk cId="0" sldId="784"/>
            <ac:spMk id="6" creationId="{FB2D127A-FCA0-927F-0DDE-8E7C39F6DB0B}"/>
          </ac:spMkLst>
        </pc:spChg>
        <pc:spChg chg="add mod">
          <ac:chgData name="Andrea Cristina Dos Santos" userId="c1f965dc-8845-4afc-9e32-8f70830fffd6" providerId="ADAL" clId="{A23B2EDD-61C4-FC43-AF3C-7CEAEBBBA6D3}" dt="2024-05-15T21:17:31.143" v="457" actId="1076"/>
          <ac:spMkLst>
            <pc:docMk/>
            <pc:sldMk cId="0" sldId="784"/>
            <ac:spMk id="7" creationId="{7B5B1901-344B-07A4-9D73-B693E50DCD42}"/>
          </ac:spMkLst>
        </pc:spChg>
        <pc:spChg chg="add mod">
          <ac:chgData name="Andrea Cristina Dos Santos" userId="c1f965dc-8845-4afc-9e32-8f70830fffd6" providerId="ADAL" clId="{A23B2EDD-61C4-FC43-AF3C-7CEAEBBBA6D3}" dt="2024-05-15T21:17:37.923" v="458" actId="1076"/>
          <ac:spMkLst>
            <pc:docMk/>
            <pc:sldMk cId="0" sldId="784"/>
            <ac:spMk id="8" creationId="{24A526A0-0719-4967-A278-42FF8ED29847}"/>
          </ac:spMkLst>
        </pc:spChg>
        <pc:spChg chg="add mod">
          <ac:chgData name="Andrea Cristina Dos Santos" userId="c1f965dc-8845-4afc-9e32-8f70830fffd6" providerId="ADAL" clId="{A23B2EDD-61C4-FC43-AF3C-7CEAEBBBA6D3}" dt="2024-05-15T21:17:31.143" v="457" actId="1076"/>
          <ac:spMkLst>
            <pc:docMk/>
            <pc:sldMk cId="0" sldId="784"/>
            <ac:spMk id="10" creationId="{F81731A3-5E0D-D746-7224-CDF5FF987583}"/>
          </ac:spMkLst>
        </pc:spChg>
        <pc:spChg chg="add mod">
          <ac:chgData name="Andrea Cristina Dos Santos" userId="c1f965dc-8845-4afc-9e32-8f70830fffd6" providerId="ADAL" clId="{A23B2EDD-61C4-FC43-AF3C-7CEAEBBBA6D3}" dt="2024-05-15T21:17:31.143" v="457" actId="1076"/>
          <ac:spMkLst>
            <pc:docMk/>
            <pc:sldMk cId="0" sldId="784"/>
            <ac:spMk id="11" creationId="{E577B625-0A28-F162-375B-D0645AD597D1}"/>
          </ac:spMkLst>
        </pc:spChg>
        <pc:spChg chg="add mod">
          <ac:chgData name="Andrea Cristina Dos Santos" userId="c1f965dc-8845-4afc-9e32-8f70830fffd6" providerId="ADAL" clId="{A23B2EDD-61C4-FC43-AF3C-7CEAEBBBA6D3}" dt="2024-05-15T21:17:31.143" v="457" actId="1076"/>
          <ac:spMkLst>
            <pc:docMk/>
            <pc:sldMk cId="0" sldId="784"/>
            <ac:spMk id="12" creationId="{13523FFA-3F6C-44BB-D2C9-6472A9CE04FD}"/>
          </ac:spMkLst>
        </pc:spChg>
        <pc:spChg chg="add mod">
          <ac:chgData name="Andrea Cristina Dos Santos" userId="c1f965dc-8845-4afc-9e32-8f70830fffd6" providerId="ADAL" clId="{A23B2EDD-61C4-FC43-AF3C-7CEAEBBBA6D3}" dt="2024-05-15T21:17:31.143" v="457" actId="1076"/>
          <ac:spMkLst>
            <pc:docMk/>
            <pc:sldMk cId="0" sldId="784"/>
            <ac:spMk id="13" creationId="{F2C8D96F-4FB0-1289-A031-A5D5AE597A68}"/>
          </ac:spMkLst>
        </pc:spChg>
        <pc:spChg chg="add del">
          <ac:chgData name="Andrea Cristina Dos Santos" userId="c1f965dc-8845-4afc-9e32-8f70830fffd6" providerId="ADAL" clId="{A23B2EDD-61C4-FC43-AF3C-7CEAEBBBA6D3}" dt="2024-05-15T21:16:08.645" v="443" actId="478"/>
          <ac:spMkLst>
            <pc:docMk/>
            <pc:sldMk cId="0" sldId="784"/>
            <ac:spMk id="14" creationId="{02C7DD11-BA36-C8DD-CEBE-EA2031969BAE}"/>
          </ac:spMkLst>
        </pc:spChg>
        <pc:spChg chg="add del mod">
          <ac:chgData name="Andrea Cristina Dos Santos" userId="c1f965dc-8845-4afc-9e32-8f70830fffd6" providerId="ADAL" clId="{A23B2EDD-61C4-FC43-AF3C-7CEAEBBBA6D3}" dt="2024-05-15T21:16:07.173" v="442" actId="478"/>
          <ac:spMkLst>
            <pc:docMk/>
            <pc:sldMk cId="0" sldId="784"/>
            <ac:spMk id="15" creationId="{02444C1E-E734-328C-BB9E-42C7BBB82A50}"/>
          </ac:spMkLst>
        </pc:spChg>
        <pc:spChg chg="add del mod">
          <ac:chgData name="Andrea Cristina Dos Santos" userId="c1f965dc-8845-4afc-9e32-8f70830fffd6" providerId="ADAL" clId="{A23B2EDD-61C4-FC43-AF3C-7CEAEBBBA6D3}" dt="2024-05-15T21:16:05.709" v="441" actId="478"/>
          <ac:spMkLst>
            <pc:docMk/>
            <pc:sldMk cId="0" sldId="784"/>
            <ac:spMk id="16" creationId="{B0DACE5F-1049-56A5-D25B-26745D3A5122}"/>
          </ac:spMkLst>
        </pc:spChg>
        <pc:spChg chg="add mod">
          <ac:chgData name="Andrea Cristina Dos Santos" userId="c1f965dc-8845-4afc-9e32-8f70830fffd6" providerId="ADAL" clId="{A23B2EDD-61C4-FC43-AF3C-7CEAEBBBA6D3}" dt="2024-05-15T21:18:14.152" v="466" actId="1076"/>
          <ac:spMkLst>
            <pc:docMk/>
            <pc:sldMk cId="0" sldId="784"/>
            <ac:spMk id="17" creationId="{B4F14F9E-647F-6764-375F-E0819892013D}"/>
          </ac:spMkLst>
        </pc:spChg>
        <pc:spChg chg="add mod">
          <ac:chgData name="Andrea Cristina Dos Santos" userId="c1f965dc-8845-4afc-9e32-8f70830fffd6" providerId="ADAL" clId="{A23B2EDD-61C4-FC43-AF3C-7CEAEBBBA6D3}" dt="2024-05-15T21:17:31.143" v="457" actId="1076"/>
          <ac:spMkLst>
            <pc:docMk/>
            <pc:sldMk cId="0" sldId="784"/>
            <ac:spMk id="18" creationId="{5F549DF3-92F1-975B-079C-6A3E8B70C9CB}"/>
          </ac:spMkLst>
        </pc:spChg>
        <pc:spChg chg="add mod">
          <ac:chgData name="Andrea Cristina Dos Santos" userId="c1f965dc-8845-4afc-9e32-8f70830fffd6" providerId="ADAL" clId="{A23B2EDD-61C4-FC43-AF3C-7CEAEBBBA6D3}" dt="2024-05-15T21:17:31.143" v="457" actId="1076"/>
          <ac:spMkLst>
            <pc:docMk/>
            <pc:sldMk cId="0" sldId="784"/>
            <ac:spMk id="19" creationId="{286FDDE3-83DF-67F3-2DCA-16A43803BC7F}"/>
          </ac:spMkLst>
        </pc:spChg>
        <pc:spChg chg="add mod">
          <ac:chgData name="Andrea Cristina Dos Santos" userId="c1f965dc-8845-4afc-9e32-8f70830fffd6" providerId="ADAL" clId="{A23B2EDD-61C4-FC43-AF3C-7CEAEBBBA6D3}" dt="2024-05-15T21:17:43.869" v="460" actId="14100"/>
          <ac:spMkLst>
            <pc:docMk/>
            <pc:sldMk cId="0" sldId="784"/>
            <ac:spMk id="20" creationId="{040E64AD-CA7A-D3E2-488E-4B434D734593}"/>
          </ac:spMkLst>
        </pc:spChg>
        <pc:spChg chg="add mod">
          <ac:chgData name="Andrea Cristina Dos Santos" userId="c1f965dc-8845-4afc-9e32-8f70830fffd6" providerId="ADAL" clId="{A23B2EDD-61C4-FC43-AF3C-7CEAEBBBA6D3}" dt="2024-05-15T21:18:07.105" v="465" actId="14100"/>
          <ac:spMkLst>
            <pc:docMk/>
            <pc:sldMk cId="0" sldId="784"/>
            <ac:spMk id="21" creationId="{89E2D4B5-9A55-703A-0523-E45587BF4587}"/>
          </ac:spMkLst>
        </pc:spChg>
        <pc:graphicFrameChg chg="add del mod modGraphic">
          <ac:chgData name="Andrea Cristina Dos Santos" userId="c1f965dc-8845-4afc-9e32-8f70830fffd6" providerId="ADAL" clId="{A23B2EDD-61C4-FC43-AF3C-7CEAEBBBA6D3}" dt="2024-05-15T21:10:05.821" v="240" actId="478"/>
          <ac:graphicFrameMkLst>
            <pc:docMk/>
            <pc:sldMk cId="0" sldId="784"/>
            <ac:graphicFrameMk id="9" creationId="{21265B62-F6A9-25C2-90C1-2EF9DC4204B5}"/>
          </ac:graphicFrameMkLst>
        </pc:graphicFrameChg>
        <pc:picChg chg="del mod">
          <ac:chgData name="Andrea Cristina Dos Santos" userId="c1f965dc-8845-4afc-9e32-8f70830fffd6" providerId="ADAL" clId="{A23B2EDD-61C4-FC43-AF3C-7CEAEBBBA6D3}" dt="2024-05-15T21:16:03.295" v="440" actId="478"/>
          <ac:picMkLst>
            <pc:docMk/>
            <pc:sldMk cId="0" sldId="784"/>
            <ac:picMk id="46085" creationId="{9E1212AA-8C3E-BEA9-FFA3-9A140054E0D4}"/>
          </ac:picMkLst>
        </pc:picChg>
      </pc:sldChg>
      <pc:sldChg chg="add del">
        <pc:chgData name="Andrea Cristina Dos Santos" userId="c1f965dc-8845-4afc-9e32-8f70830fffd6" providerId="ADAL" clId="{A23B2EDD-61C4-FC43-AF3C-7CEAEBBBA6D3}" dt="2024-05-15T21:19:16.617" v="468" actId="2696"/>
        <pc:sldMkLst>
          <pc:docMk/>
          <pc:sldMk cId="1676999604" sldId="814"/>
        </pc:sldMkLst>
      </pc:sldChg>
    </pc:docChg>
  </pc:docChgLst>
  <pc:docChgLst>
    <pc:chgData name="Andrea Cristina Dos Santos" userId="S::andreasantos@unb.br::c1f965dc-8845-4afc-9e32-8f70830fffd6" providerId="AD" clId="Web-{25428465-9B94-425C-B333-0F00850FD9EB}"/>
    <pc:docChg chg="addSld delSld modSld">
      <pc:chgData name="Andrea Cristina Dos Santos" userId="S::andreasantos@unb.br::c1f965dc-8845-4afc-9e32-8f70830fffd6" providerId="AD" clId="Web-{25428465-9B94-425C-B333-0F00850FD9EB}" dt="2024-12-11T16:34:19.184" v="32"/>
      <pc:docMkLst>
        <pc:docMk/>
      </pc:docMkLst>
      <pc:sldChg chg="del">
        <pc:chgData name="Andrea Cristina Dos Santos" userId="S::andreasantos@unb.br::c1f965dc-8845-4afc-9e32-8f70830fffd6" providerId="AD" clId="Web-{25428465-9B94-425C-B333-0F00850FD9EB}" dt="2024-12-11T16:34:19.184" v="32"/>
        <pc:sldMkLst>
          <pc:docMk/>
          <pc:sldMk cId="0" sldId="786"/>
        </pc:sldMkLst>
      </pc:sldChg>
      <pc:sldChg chg="modSp">
        <pc:chgData name="Andrea Cristina Dos Santos" userId="S::andreasantos@unb.br::c1f965dc-8845-4afc-9e32-8f70830fffd6" providerId="AD" clId="Web-{25428465-9B94-425C-B333-0F00850FD9EB}" dt="2024-12-11T16:30:45.037" v="5" actId="20577"/>
        <pc:sldMkLst>
          <pc:docMk/>
          <pc:sldMk cId="2409958199" sldId="798"/>
        </pc:sldMkLst>
        <pc:spChg chg="mod">
          <ac:chgData name="Andrea Cristina Dos Santos" userId="S::andreasantos@unb.br::c1f965dc-8845-4afc-9e32-8f70830fffd6" providerId="AD" clId="Web-{25428465-9B94-425C-B333-0F00850FD9EB}" dt="2024-12-11T16:30:45.037" v="5" actId="20577"/>
          <ac:spMkLst>
            <pc:docMk/>
            <pc:sldMk cId="2409958199" sldId="798"/>
            <ac:spMk id="3" creationId="{4D345F48-A10A-394F-99A8-6AD6EB3AD6FB}"/>
          </ac:spMkLst>
        </pc:spChg>
      </pc:sldChg>
      <pc:sldChg chg="del">
        <pc:chgData name="Andrea Cristina Dos Santos" userId="S::andreasantos@unb.br::c1f965dc-8845-4afc-9e32-8f70830fffd6" providerId="AD" clId="Web-{25428465-9B94-425C-B333-0F00850FD9EB}" dt="2024-12-11T16:32:23.306" v="10"/>
        <pc:sldMkLst>
          <pc:docMk/>
          <pc:sldMk cId="1398057717" sldId="799"/>
        </pc:sldMkLst>
      </pc:sldChg>
      <pc:sldChg chg="modSp">
        <pc:chgData name="Andrea Cristina Dos Santos" userId="S::andreasantos@unb.br::c1f965dc-8845-4afc-9e32-8f70830fffd6" providerId="AD" clId="Web-{25428465-9B94-425C-B333-0F00850FD9EB}" dt="2024-12-11T16:32:38.431" v="12" actId="20577"/>
        <pc:sldMkLst>
          <pc:docMk/>
          <pc:sldMk cId="768917415" sldId="800"/>
        </pc:sldMkLst>
        <pc:spChg chg="mod">
          <ac:chgData name="Andrea Cristina Dos Santos" userId="S::andreasantos@unb.br::c1f965dc-8845-4afc-9e32-8f70830fffd6" providerId="AD" clId="Web-{25428465-9B94-425C-B333-0F00850FD9EB}" dt="2024-12-11T16:32:38.431" v="12" actId="20577"/>
          <ac:spMkLst>
            <pc:docMk/>
            <pc:sldMk cId="768917415" sldId="800"/>
            <ac:spMk id="31745" creationId="{1A43D1E9-B186-636C-CA0B-DCB33D112BBF}"/>
          </ac:spMkLst>
        </pc:spChg>
      </pc:sldChg>
      <pc:sldChg chg="modSp">
        <pc:chgData name="Andrea Cristina Dos Santos" userId="S::andreasantos@unb.br::c1f965dc-8845-4afc-9e32-8f70830fffd6" providerId="AD" clId="Web-{25428465-9B94-425C-B333-0F00850FD9EB}" dt="2024-12-11T16:33:30.464" v="30" actId="20577"/>
        <pc:sldMkLst>
          <pc:docMk/>
          <pc:sldMk cId="4094919141" sldId="803"/>
        </pc:sldMkLst>
        <pc:spChg chg="mod">
          <ac:chgData name="Andrea Cristina Dos Santos" userId="S::andreasantos@unb.br::c1f965dc-8845-4afc-9e32-8f70830fffd6" providerId="AD" clId="Web-{25428465-9B94-425C-B333-0F00850FD9EB}" dt="2024-12-11T16:33:30.464" v="30" actId="20577"/>
          <ac:spMkLst>
            <pc:docMk/>
            <pc:sldMk cId="4094919141" sldId="803"/>
            <ac:spMk id="35841" creationId="{BDFC5BE6-E94B-2E5A-209D-83C5C219DADE}"/>
          </ac:spMkLst>
        </pc:spChg>
      </pc:sldChg>
      <pc:sldChg chg="del">
        <pc:chgData name="Andrea Cristina Dos Santos" userId="S::andreasantos@unb.br::c1f965dc-8845-4afc-9e32-8f70830fffd6" providerId="AD" clId="Web-{25428465-9B94-425C-B333-0F00850FD9EB}" dt="2024-12-11T16:33:31.292" v="31"/>
        <pc:sldMkLst>
          <pc:docMk/>
          <pc:sldMk cId="2616021327" sldId="805"/>
        </pc:sldMkLst>
      </pc:sldChg>
      <pc:sldChg chg="add replId">
        <pc:chgData name="Andrea Cristina Dos Santos" userId="S::andreasantos@unb.br::c1f965dc-8845-4afc-9e32-8f70830fffd6" providerId="AD" clId="Web-{25428465-9B94-425C-B333-0F00850FD9EB}" dt="2024-12-11T16:32:11.977" v="9"/>
        <pc:sldMkLst>
          <pc:docMk/>
          <pc:sldMk cId="4014465955" sldId="81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E79F8082-0BCC-5B40-BA34-D11F7C7894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lnSpc>
                <a:spcPct val="80000"/>
              </a:lnSpc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AFE9F9E-AAE1-8C41-98E3-B9CC40CA733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lnSpc>
                <a:spcPct val="80000"/>
              </a:lnSpc>
              <a:defRPr sz="1300">
                <a:latin typeface="Arial" charset="0"/>
              </a:defRPr>
            </a:lvl1pPr>
          </a:lstStyle>
          <a:p>
            <a:pPr>
              <a:defRPr/>
            </a:pPr>
            <a:fld id="{ADB031D2-C027-394B-9C98-56F51B4346B7}" type="datetimeFigureOut">
              <a:rPr lang="pt-BR"/>
              <a:pPr>
                <a:defRPr/>
              </a:pPr>
              <a:t>11/12/2024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70F3E58-E64A-B740-9344-5681F155B33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lnSpc>
                <a:spcPct val="80000"/>
              </a:lnSpc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D6FA19A-EB5D-814C-957F-09084D358D8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80000"/>
              </a:lnSpc>
              <a:defRPr sz="1300"/>
            </a:lvl1pPr>
          </a:lstStyle>
          <a:p>
            <a:fld id="{0E847D56-696D-2C48-80C4-2DCF1BEE9E33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32B4943F-7662-4B42-93F8-F1A6106E751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E5CB576A-D31C-D04A-9F95-9FECB806BF4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36D38972-2E79-4E6F-5C4C-FB8193611BE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5" name="Rectangle 5">
            <a:extLst>
              <a:ext uri="{FF2B5EF4-FFF2-40B4-BE49-F238E27FC236}">
                <a16:creationId xmlns:a16="http://schemas.microsoft.com/office/drawing/2014/main" id="{D7283094-2B47-8941-8160-45BAE5CBB65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30726" name="Rectangle 6">
            <a:extLst>
              <a:ext uri="{FF2B5EF4-FFF2-40B4-BE49-F238E27FC236}">
                <a16:creationId xmlns:a16="http://schemas.microsoft.com/office/drawing/2014/main" id="{D7C68635-9969-CE40-B62A-4B8384C667C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27" name="Rectangle 7">
            <a:extLst>
              <a:ext uri="{FF2B5EF4-FFF2-40B4-BE49-F238E27FC236}">
                <a16:creationId xmlns:a16="http://schemas.microsoft.com/office/drawing/2014/main" id="{1A496DCF-D34E-984F-98D3-9297E17ABB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fld id="{0D63B0A9-D3D1-914D-AE33-ED8ACDAE5CB5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7">
            <a:extLst>
              <a:ext uri="{FF2B5EF4-FFF2-40B4-BE49-F238E27FC236}">
                <a16:creationId xmlns:a16="http://schemas.microsoft.com/office/drawing/2014/main" id="{DB37F14F-5FD8-20A2-632F-3D065980A2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43449CA-7D9D-634D-AA52-789D78EF46B1}" type="slidenum">
              <a:rPr lang="pt-BR" altLang="pt-BR" sz="1300"/>
              <a:pPr/>
              <a:t>13</a:t>
            </a:fld>
            <a:endParaRPr lang="pt-BR" altLang="pt-BR" sz="1300"/>
          </a:p>
        </p:txBody>
      </p:sp>
      <p:sp>
        <p:nvSpPr>
          <p:cNvPr id="41986" name="Rectangle 2">
            <a:extLst>
              <a:ext uri="{FF2B5EF4-FFF2-40B4-BE49-F238E27FC236}">
                <a16:creationId xmlns:a16="http://schemas.microsoft.com/office/drawing/2014/main" id="{8CE91467-9C5B-3646-B2FE-F5E3C7C29C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906DDD79-1DBB-D15A-5BBA-C6F6FA7C31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Espaço Reservado para Imagem de Slide 1">
            <a:extLst>
              <a:ext uri="{FF2B5EF4-FFF2-40B4-BE49-F238E27FC236}">
                <a16:creationId xmlns:a16="http://schemas.microsoft.com/office/drawing/2014/main" id="{395E5C9E-738A-9F77-DF21-EC0D6F4188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0" name="Espaço Reservado para Anotações 2">
            <a:extLst>
              <a:ext uri="{FF2B5EF4-FFF2-40B4-BE49-F238E27FC236}">
                <a16:creationId xmlns:a16="http://schemas.microsoft.com/office/drawing/2014/main" id="{EFC29B49-CE18-AC2C-0AC9-C6EA0B62F6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Arial" panose="020B0604020202020204" pitchFamily="34" charset="0"/>
            </a:endParaRPr>
          </a:p>
        </p:txBody>
      </p:sp>
      <p:sp>
        <p:nvSpPr>
          <p:cNvPr id="32771" name="Espaço Reservado para Número de Slide 3">
            <a:extLst>
              <a:ext uri="{FF2B5EF4-FFF2-40B4-BE49-F238E27FC236}">
                <a16:creationId xmlns:a16="http://schemas.microsoft.com/office/drawing/2014/main" id="{71C023F8-3427-F154-EB3A-CA4F519371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C6A31D6-CD98-9340-9F95-89F748586E16}" type="slidenum">
              <a:rPr lang="pt-BR" altLang="pt-BR" sz="1300"/>
              <a:pPr/>
              <a:t>30</a:t>
            </a:fld>
            <a:endParaRPr lang="pt-BR" altLang="pt-BR" sz="1300"/>
          </a:p>
        </p:txBody>
      </p:sp>
    </p:spTree>
    <p:extLst>
      <p:ext uri="{BB962C8B-B14F-4D97-AF65-F5344CB8AC3E}">
        <p14:creationId xmlns:p14="http://schemas.microsoft.com/office/powerpoint/2010/main" val="31092955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52230EC-80E3-F881-65A7-72FC3D7502B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5857C5A-2C10-A423-4B4D-F5BB430CF7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724AA6E-437A-C3CA-D121-A587399AFF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82A54B7-8534-B947-BB9C-504E35B953BA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433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8968EC3-73A6-0561-02C5-05072D3B614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32DAB09-C2FC-11AB-554D-5557BFBA89C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9A25E93-33D5-D9E6-3904-E9D5816132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A1FB56F-EA15-FC41-81FB-9A7741CB24F9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991349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3433186-4218-B981-4E6E-BB013C45F6F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CFAA27F-6E00-90AA-20EF-BE93323D1E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3FD7EE1-0D6C-EC99-6FA1-DB13B0D5217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C21A0D5-52EF-B340-811C-10C1CB3BF78D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005598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12713" y="887413"/>
            <a:ext cx="4210050" cy="5238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475163" y="887413"/>
            <a:ext cx="4211637" cy="5238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204D2B-E3EA-009F-DC2E-A016B3F3E2B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F7DE96-2DAB-B576-DA1E-D80352443A5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7A5DB1-2F72-BB40-D546-CEA91504FF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6995DF-5983-D343-8D06-3869D827A20D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692228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779CB19-2069-021C-7C95-21EB7DC86F8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3FFD384-458C-3B99-5979-D77DA1FD99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840C0725-A2A7-0C77-DF13-487396D61E0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4146B9-0B98-5D43-88D2-3CD73DDEF57A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036862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1D00893-6365-51ED-C9C4-D5AB6330066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549CA4E-C282-42C5-2824-BF399DDA23E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1E30CA4-0C56-7154-C4EA-62EC2EAFF13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F34711-90E0-C54F-8C35-06176CF46183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532168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6551DCC2-4EBC-7BD5-257C-C330A8C77D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D41AFA8-BED0-C69A-DA3B-24C99F91120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A575654-E5C5-DEFA-8337-4316A9A386B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7780BBF-8348-D24D-9B19-37DEF15E9125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169161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799F18-AD75-85F0-F9D8-48F138CA500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198CAE-E5E0-41AD-F984-A5DBBDF442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3EA755-004D-33CE-4A8B-2F6EC1FD262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1F716DE-CF5B-1F43-B3D6-DC8470F366C9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221004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EB8928-542A-7AA7-D35F-B32D10DCFCF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C29776-9749-C6D1-6BCC-D50B0D1D8DA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8D9750-E971-F17A-B185-664520539F8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E2C4DC-C6F3-8B4B-B60D-942C10DC041E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683293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09C98D1-79C4-72F8-CF21-1320C77B3E2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C0361F5-C55C-094C-5252-7ACB1FEA199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5B1CE6C-65D5-5563-5737-8D49DBB981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202A222-E228-A64D-96DD-C88AD498C93C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63995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15100" y="0"/>
            <a:ext cx="2171700" cy="6126163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362700" cy="6126163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98F51A7-80A1-6CB8-8090-D12CB60CE89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4F0AC72-A2C9-5E8C-E4BA-5FD0D325C94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2E30525-B457-71DA-E62C-38D683F45D1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5A560BF-82E4-B74D-88DC-E8A0DD6FFC98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9317592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Título, text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0"/>
            <a:ext cx="7388225" cy="706438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112713" y="887413"/>
            <a:ext cx="4210050" cy="5238750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Gráfico 3"/>
          <p:cNvSpPr>
            <a:spLocks noGrp="1"/>
          </p:cNvSpPr>
          <p:nvPr>
            <p:ph type="chart" sz="half" idx="2"/>
          </p:nvPr>
        </p:nvSpPr>
        <p:spPr>
          <a:xfrm>
            <a:off x="4475163" y="887413"/>
            <a:ext cx="4211637" cy="5238750"/>
          </a:xfrm>
        </p:spPr>
        <p:txBody>
          <a:bodyPr/>
          <a:lstStyle/>
          <a:p>
            <a:pPr lvl="0"/>
            <a:endParaRPr lang="pt-BR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98FB5A-9506-E978-5A3D-C873AEEE46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16624C-E489-5633-CE17-5497EE74838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6891C2-0277-B005-939F-66FC8D13B6D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03ED1F-8E1C-B049-8BFD-6CC1FB2C0292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911879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01DA3F4-CFD1-C3EF-85D6-C11301AEE2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7388225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0AB2B5D-1DC5-5AE0-12FC-E113F43EF0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2713" y="887413"/>
            <a:ext cx="8574087" cy="523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4FC5066-E5FE-1947-B786-C6633DE118E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52DAFFF-5E4D-8F47-B1A7-7D8AC495E4E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lnSpc>
                <a:spcPct val="100000"/>
              </a:lnSpc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1E6166F-DEE2-A747-BD74-3C3C0528044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518D4301-F124-DC4A-ABBB-1F62CB1D2C07}" type="slidenum">
              <a:rPr lang="pt-BR" altLang="pt-BR"/>
              <a:pPr/>
              <a:t>‹nº›</a:t>
            </a:fld>
            <a:endParaRPr lang="pt-BR" altLang="pt-BR"/>
          </a:p>
        </p:txBody>
      </p:sp>
      <p:sp>
        <p:nvSpPr>
          <p:cNvPr id="1031" name="Rectangle 8">
            <a:extLst>
              <a:ext uri="{FF2B5EF4-FFF2-40B4-BE49-F238E27FC236}">
                <a16:creationId xmlns:a16="http://schemas.microsoft.com/office/drawing/2014/main" id="{464ECB33-77A6-F04F-9DED-A5890FADD83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25413" y="808038"/>
            <a:ext cx="7861300" cy="47625"/>
          </a:xfrm>
          <a:prstGeom prst="rect">
            <a:avLst/>
          </a:prstGeom>
          <a:gradFill rotWithShape="0">
            <a:gsLst>
              <a:gs pos="0">
                <a:srgbClr val="6464BF"/>
              </a:gs>
              <a:gs pos="100000">
                <a:srgbClr val="000096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lnSpc>
                <a:spcPct val="80000"/>
              </a:lnSpc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0000"/>
              </a:lnSpc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0000"/>
              </a:lnSpc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0000"/>
              </a:lnSpc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0000"/>
              </a:lnSpc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endParaRPr lang="pt-BR" altLang="pt-BR"/>
          </a:p>
        </p:txBody>
      </p:sp>
      <p:pic>
        <p:nvPicPr>
          <p:cNvPr id="1032" name="Picture 9">
            <a:extLst>
              <a:ext uri="{FF2B5EF4-FFF2-40B4-BE49-F238E27FC236}">
                <a16:creationId xmlns:a16="http://schemas.microsoft.com/office/drawing/2014/main" id="{FADCA42E-0708-BA9C-7A5D-FA290CD3927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3863" y="0"/>
            <a:ext cx="1100137" cy="85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andreasantos@gmail.com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e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CaixaDeTexto 2">
            <a:extLst>
              <a:ext uri="{FF2B5EF4-FFF2-40B4-BE49-F238E27FC236}">
                <a16:creationId xmlns:a16="http://schemas.microsoft.com/office/drawing/2014/main" id="{82C8E1F6-6FC8-A98B-5C38-FC5B067C33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913" y="3587750"/>
            <a:ext cx="7540625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b="1">
                <a:solidFill>
                  <a:srgbClr val="002060"/>
                </a:solidFill>
              </a:rPr>
              <a:t>Prof. Andréa Cristina dos Santos, Dr. Eng.</a:t>
            </a:r>
          </a:p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>
                <a:solidFill>
                  <a:srgbClr val="002060"/>
                </a:solidFill>
                <a:hlinkClick r:id="rId2"/>
              </a:rPr>
              <a:t>andreasantos@unb.</a:t>
            </a:r>
            <a:r>
              <a:rPr lang="pt-BR" altLang="pt-BR">
                <a:solidFill>
                  <a:srgbClr val="002060"/>
                </a:solidFill>
              </a:rPr>
              <a:t>br</a:t>
            </a:r>
          </a:p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>
              <a:solidFill>
                <a:srgbClr val="002060"/>
              </a:solidFill>
            </a:endParaRPr>
          </a:p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>
                <a:solidFill>
                  <a:srgbClr val="002060"/>
                </a:solidFill>
              </a:rPr>
              <a:t>4. PROJETO INFORMACIONAL</a:t>
            </a:r>
          </a:p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>
                <a:solidFill>
                  <a:srgbClr val="002060"/>
                </a:solidFill>
              </a:rPr>
              <a:t>4/4</a:t>
            </a:r>
          </a:p>
        </p:txBody>
      </p:sp>
      <p:sp>
        <p:nvSpPr>
          <p:cNvPr id="16386" name="CaixaDeTexto 1">
            <a:extLst>
              <a:ext uri="{FF2B5EF4-FFF2-40B4-BE49-F238E27FC236}">
                <a16:creationId xmlns:a16="http://schemas.microsoft.com/office/drawing/2014/main" id="{D8B09EE4-2E1B-6B56-C8E2-FC600B8AD3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463" y="1454150"/>
            <a:ext cx="7575550" cy="18161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b="1">
                <a:solidFill>
                  <a:schemeClr val="bg1"/>
                </a:solidFill>
              </a:rPr>
              <a:t>Universidade de Brasília</a:t>
            </a:r>
          </a:p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b="1">
                <a:solidFill>
                  <a:schemeClr val="bg1"/>
                </a:solidFill>
              </a:rPr>
              <a:t>Faculdade de Tecnologia</a:t>
            </a:r>
          </a:p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b="1">
                <a:solidFill>
                  <a:schemeClr val="bg1"/>
                </a:solidFill>
              </a:rPr>
              <a:t>Depart. de Engenharia de Produção </a:t>
            </a:r>
          </a:p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b="1">
                <a:solidFill>
                  <a:schemeClr val="bg1"/>
                </a:solidFill>
              </a:rPr>
              <a:t>Disciplina Engenharia de Produto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CaixaDeTexto 1">
            <a:extLst>
              <a:ext uri="{FF2B5EF4-FFF2-40B4-BE49-F238E27FC236}">
                <a16:creationId xmlns:a16="http://schemas.microsoft.com/office/drawing/2014/main" id="{AF233520-9BCF-BA31-567B-0467C82A78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9813" y="2286000"/>
            <a:ext cx="6985000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400" b="1">
                <a:solidFill>
                  <a:srgbClr val="FF0000"/>
                </a:solidFill>
              </a:rPr>
              <a:t>DESDOBRAMENTO DA FUNÇÃO QUALIDADE</a:t>
            </a:r>
          </a:p>
        </p:txBody>
      </p:sp>
      <p:sp>
        <p:nvSpPr>
          <p:cNvPr id="17410" name="CaixaDeTexto 2">
            <a:extLst>
              <a:ext uri="{FF2B5EF4-FFF2-40B4-BE49-F238E27FC236}">
                <a16:creationId xmlns:a16="http://schemas.microsoft.com/office/drawing/2014/main" id="{6A1FC0DC-2FC5-CADC-71D5-51CA75598C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2725" y="3089275"/>
            <a:ext cx="668337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dirty="0" err="1"/>
              <a:t>www.portaldeconhecimentos.org.br</a:t>
            </a:r>
            <a:r>
              <a:rPr lang="pt-BR" altLang="pt-BR" dirty="0"/>
              <a:t> </a:t>
            </a:r>
          </a:p>
        </p:txBody>
      </p:sp>
      <p:sp>
        <p:nvSpPr>
          <p:cNvPr id="17411" name="CaixaDeTexto 3">
            <a:extLst>
              <a:ext uri="{FF2B5EF4-FFF2-40B4-BE49-F238E27FC236}">
                <a16:creationId xmlns:a16="http://schemas.microsoft.com/office/drawing/2014/main" id="{A1AB6F6E-A940-8356-C068-A651BBED83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9500" y="3783013"/>
            <a:ext cx="44608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 b="1"/>
              <a:t>QFD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ítulo 1">
            <a:extLst>
              <a:ext uri="{FF2B5EF4-FFF2-40B4-BE49-F238E27FC236}">
                <a16:creationId xmlns:a16="http://schemas.microsoft.com/office/drawing/2014/main" id="{60C23836-4138-2B1E-0829-D9C0315E9C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Histórico</a:t>
            </a:r>
          </a:p>
        </p:txBody>
      </p:sp>
      <p:sp>
        <p:nvSpPr>
          <p:cNvPr id="18434" name="Espaço Reservado para Conteúdo 2">
            <a:extLst>
              <a:ext uri="{FF2B5EF4-FFF2-40B4-BE49-F238E27FC236}">
                <a16:creationId xmlns:a16="http://schemas.microsoft.com/office/drawing/2014/main" id="{97FB8385-5BFE-6D6E-1C28-5500B7F78F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46113" y="1290638"/>
            <a:ext cx="8072437" cy="4800600"/>
          </a:xfrm>
        </p:spPr>
        <p:txBody>
          <a:bodyPr/>
          <a:lstStyle/>
          <a:p>
            <a:r>
              <a:rPr lang="pt-BR" altLang="pt-BR" sz="2400"/>
              <a:t>Iniciou no final da década de 60, período pós-guerra no Japão, junto com o programas de TQC.</a:t>
            </a:r>
          </a:p>
          <a:p>
            <a:r>
              <a:rPr lang="pt-BR" altLang="pt-BR" sz="2400"/>
              <a:t>1972 foi realizada uma das primeiras aplicações em Estaleiro Mitushibishi Heavy Industry.</a:t>
            </a:r>
          </a:p>
          <a:p>
            <a:r>
              <a:rPr lang="pt-BR" altLang="pt-BR" sz="2400"/>
              <a:t>1978 Mizuno &amp; Akao publicaram sobre o QFD no Japão.</a:t>
            </a:r>
          </a:p>
          <a:p>
            <a:r>
              <a:rPr lang="pt-BR" altLang="pt-BR" sz="2400"/>
              <a:t>1986 Akao introduziu o QFD nos EUA, com um artigo.</a:t>
            </a:r>
          </a:p>
          <a:p>
            <a:r>
              <a:rPr lang="pt-BR" altLang="pt-BR" sz="2400"/>
              <a:t>1988 Akao realizou os primeiros cursos na Europa</a:t>
            </a:r>
          </a:p>
          <a:p>
            <a:r>
              <a:rPr lang="pt-BR" altLang="pt-BR" sz="2400"/>
              <a:t>1989 foi realizado o primeiro Simpósio em Detroid nos EUA  </a:t>
            </a:r>
          </a:p>
          <a:p>
            <a:r>
              <a:rPr lang="pt-BR" altLang="pt-BR" sz="2400"/>
              <a:t>1992 Foi celebrado o primeiro Simpósio Europeu. 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ítulo 1">
            <a:extLst>
              <a:ext uri="{FF2B5EF4-FFF2-40B4-BE49-F238E27FC236}">
                <a16:creationId xmlns:a16="http://schemas.microsoft.com/office/drawing/2014/main" id="{E4E41F0F-2E67-00F4-90AC-E4533062B6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Abrangência</a:t>
            </a:r>
          </a:p>
        </p:txBody>
      </p:sp>
      <p:sp>
        <p:nvSpPr>
          <p:cNvPr id="19458" name="Espaço Reservado para Conteúdo 2">
            <a:extLst>
              <a:ext uri="{FF2B5EF4-FFF2-40B4-BE49-F238E27FC236}">
                <a16:creationId xmlns:a16="http://schemas.microsoft.com/office/drawing/2014/main" id="{3962EE15-D1A8-AAF3-7966-904C1FFD1C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49300" y="1616075"/>
            <a:ext cx="7858125" cy="1643063"/>
          </a:xfrm>
        </p:spPr>
        <p:txBody>
          <a:bodyPr/>
          <a:lstStyle/>
          <a:p>
            <a:r>
              <a:rPr lang="pt-BR" altLang="pt-BR" sz="2400"/>
              <a:t>QFDr (</a:t>
            </a:r>
            <a:r>
              <a:rPr lang="pt-BR" altLang="pt-BR" sz="2400" i="1"/>
              <a:t>Quality function Deployment in a restricted sense</a:t>
            </a:r>
            <a:r>
              <a:rPr lang="pt-BR" altLang="pt-BR" sz="2400"/>
              <a:t>) é conhecido como o processo gerencial de desenvolvimento de produto orientado para o cliente.  Defini as atividades padrões para realizar o desenvolvimento de produto. </a:t>
            </a:r>
          </a:p>
          <a:p>
            <a:endParaRPr lang="pt-BR" altLang="pt-BR" sz="2400"/>
          </a:p>
        </p:txBody>
      </p:sp>
      <p:sp>
        <p:nvSpPr>
          <p:cNvPr id="19459" name="CaixaDeTexto 4">
            <a:extLst>
              <a:ext uri="{FF2B5EF4-FFF2-40B4-BE49-F238E27FC236}">
                <a16:creationId xmlns:a16="http://schemas.microsoft.com/office/drawing/2014/main" id="{52231CDA-EA0F-0CD1-61F2-934C014BEF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1813" y="935038"/>
            <a:ext cx="32146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/>
              <a:t>QFD = QFDr + </a:t>
            </a:r>
            <a:r>
              <a:rPr lang="pt-BR" altLang="pt-BR">
                <a:solidFill>
                  <a:srgbClr val="002060"/>
                </a:solidFill>
              </a:rPr>
              <a:t>QD</a:t>
            </a:r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0AB1E4F9-11CD-1145-A2F7-2307956901F4}"/>
              </a:ext>
            </a:extLst>
          </p:cNvPr>
          <p:cNvSpPr txBox="1">
            <a:spLocks/>
          </p:cNvSpPr>
          <p:nvPr/>
        </p:nvSpPr>
        <p:spPr>
          <a:xfrm>
            <a:off x="749300" y="3865563"/>
            <a:ext cx="7643813" cy="13589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65760" indent="-283464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"/>
              <a:defRPr/>
            </a:pPr>
            <a:r>
              <a:rPr lang="pt-BR" sz="2800" dirty="0">
                <a:latin typeface="+mn-lt"/>
              </a:rPr>
              <a:t>QD:  </a:t>
            </a:r>
            <a:r>
              <a:rPr lang="pt-BR" sz="2400" dirty="0">
                <a:latin typeface="Arial" charset="0"/>
              </a:rPr>
              <a:t>Desdobramento da Qualidade. É o método para desdobrar a voz do cliente em características do produto</a:t>
            </a:r>
            <a:r>
              <a:rPr lang="pt-BR" sz="2200" dirty="0">
                <a:latin typeface="Arial" charset="0"/>
              </a:rPr>
              <a:t>. </a:t>
            </a:r>
          </a:p>
        </p:txBody>
      </p:sp>
      <p:sp>
        <p:nvSpPr>
          <p:cNvPr id="13" name="Retângulo de cantos arredondados 12">
            <a:extLst>
              <a:ext uri="{FF2B5EF4-FFF2-40B4-BE49-F238E27FC236}">
                <a16:creationId xmlns:a16="http://schemas.microsoft.com/office/drawing/2014/main" id="{BECFF099-17DC-164D-9C27-A152935C5D25}"/>
              </a:ext>
            </a:extLst>
          </p:cNvPr>
          <p:cNvSpPr/>
          <p:nvPr/>
        </p:nvSpPr>
        <p:spPr>
          <a:xfrm>
            <a:off x="749300" y="3714750"/>
            <a:ext cx="7572375" cy="25717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endParaRPr lang="pt-BR"/>
          </a:p>
        </p:txBody>
      </p:sp>
      <p:sp>
        <p:nvSpPr>
          <p:cNvPr id="19462" name="CaixaDeTexto 13">
            <a:extLst>
              <a:ext uri="{FF2B5EF4-FFF2-40B4-BE49-F238E27FC236}">
                <a16:creationId xmlns:a16="http://schemas.microsoft.com/office/drawing/2014/main" id="{090FCA08-BD08-7CA7-0533-A72D03F945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6638" y="5267325"/>
            <a:ext cx="735647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400" i="1">
                <a:solidFill>
                  <a:srgbClr val="002060"/>
                </a:solidFill>
              </a:rPr>
              <a:t>Devido a difusão dos métodos  mais tradicionais nos EUA pela (ASI) o termo QFD = QD. 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ítulo 1">
            <a:extLst>
              <a:ext uri="{FF2B5EF4-FFF2-40B4-BE49-F238E27FC236}">
                <a16:creationId xmlns:a16="http://schemas.microsoft.com/office/drawing/2014/main" id="{99DD8AEF-6BC0-A56A-4035-753B83D862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77825" y="188913"/>
            <a:ext cx="7388225" cy="706437"/>
          </a:xfrm>
        </p:spPr>
        <p:txBody>
          <a:bodyPr/>
          <a:lstStyle/>
          <a:p>
            <a:r>
              <a:rPr lang="pt-BR" altLang="pt-BR"/>
              <a:t>ABRANGÊNCIA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3284B04-D087-564F-9078-4BADC2008DF4}"/>
              </a:ext>
            </a:extLst>
          </p:cNvPr>
          <p:cNvSpPr txBox="1">
            <a:spLocks/>
          </p:cNvSpPr>
          <p:nvPr/>
        </p:nvSpPr>
        <p:spPr>
          <a:xfrm>
            <a:off x="817563" y="1501775"/>
            <a:ext cx="7858125" cy="1643063"/>
          </a:xfrm>
          <a:prstGeom prst="rect">
            <a:avLst/>
          </a:prstGeom>
        </p:spPr>
        <p:txBody>
          <a:bodyPr/>
          <a:lstStyle/>
          <a:p>
            <a:pPr marL="365760" indent="-283464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"/>
              <a:defRPr/>
            </a:pPr>
            <a:r>
              <a:rPr lang="pt-BR" sz="2400" dirty="0">
                <a:highlight>
                  <a:srgbClr val="FFFF00"/>
                </a:highlight>
                <a:latin typeface="+mn-lt"/>
              </a:rPr>
              <a:t>A primeira matriz do método QFD é conhecida como </a:t>
            </a:r>
            <a:r>
              <a:rPr lang="pt-BR" sz="2400" dirty="0">
                <a:solidFill>
                  <a:srgbClr val="FF0000"/>
                </a:solidFill>
                <a:highlight>
                  <a:srgbClr val="FFFF00"/>
                </a:highlight>
                <a:latin typeface="+mn-lt"/>
              </a:rPr>
              <a:t>Casa da Qualidade</a:t>
            </a:r>
            <a:r>
              <a:rPr lang="pt-BR" sz="2400" dirty="0">
                <a:highlight>
                  <a:srgbClr val="FFFF00"/>
                </a:highlight>
                <a:latin typeface="+mn-lt"/>
              </a:rPr>
              <a:t>, é utilizada principal para tradução das necessidades dos clientes em requisitos de projeto do produto.</a:t>
            </a:r>
          </a:p>
          <a:p>
            <a:pPr marL="365760" indent="-283464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"/>
              <a:defRPr/>
            </a:pPr>
            <a:endParaRPr lang="pt-BR" sz="2400" dirty="0">
              <a:latin typeface="+mn-lt"/>
            </a:endParaRPr>
          </a:p>
          <a:p>
            <a:pPr marL="365760" indent="-283464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"/>
              <a:defRPr/>
            </a:pPr>
            <a:r>
              <a:rPr lang="pt-BR" sz="2400" dirty="0">
                <a:latin typeface="+mn-lt"/>
              </a:rPr>
              <a:t>Geralmente o QFD é tratado como a casa da qualidade (principalmente no projeto de produto), entretanto é importante ressaltar que o escopo do método </a:t>
            </a:r>
            <a:r>
              <a:rPr lang="pt-BR" sz="2400" dirty="0">
                <a:solidFill>
                  <a:srgbClr val="FF0000"/>
                </a:solidFill>
                <a:latin typeface="+mn-lt"/>
              </a:rPr>
              <a:t>é muito mais abrangente.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ítulo 1">
            <a:extLst>
              <a:ext uri="{FF2B5EF4-FFF2-40B4-BE49-F238E27FC236}">
                <a16:creationId xmlns:a16="http://schemas.microsoft.com/office/drawing/2014/main" id="{334A307A-C629-450D-A5B1-A0CF089E17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Requisitos de Projeto</a:t>
            </a:r>
          </a:p>
        </p:txBody>
      </p:sp>
      <p:sp>
        <p:nvSpPr>
          <p:cNvPr id="21506" name="Espaço Reservado para Conteúdo 2">
            <a:extLst>
              <a:ext uri="{FF2B5EF4-FFF2-40B4-BE49-F238E27FC236}">
                <a16:creationId xmlns:a16="http://schemas.microsoft.com/office/drawing/2014/main" id="{AEC32748-1D16-B863-9E00-64715A9263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25488" y="1082675"/>
            <a:ext cx="8197850" cy="5413375"/>
          </a:xfrm>
        </p:spPr>
        <p:txBody>
          <a:bodyPr/>
          <a:lstStyle/>
          <a:p>
            <a:pPr>
              <a:buFontTx/>
              <a:buNone/>
            </a:pPr>
            <a:r>
              <a:rPr lang="pt-BR" altLang="pt-BR" sz="2400"/>
              <a:t>Compreende-se por requisitos de projeto o conjunto de características que o produto deverá ter </a:t>
            </a:r>
            <a:r>
              <a:rPr lang="pt-BR" altLang="pt-BR" sz="2400" i="1">
                <a:solidFill>
                  <a:srgbClr val="002060"/>
                </a:solidFill>
              </a:rPr>
              <a:t>para atender as necessidades e expectativas dos clientes</a:t>
            </a:r>
            <a:r>
              <a:rPr lang="pt-BR" altLang="pt-BR" sz="2400"/>
              <a:t>.</a:t>
            </a:r>
          </a:p>
        </p:txBody>
      </p:sp>
      <p:pic>
        <p:nvPicPr>
          <p:cNvPr id="21507" name="Picture 6" descr="Untitled-1">
            <a:extLst>
              <a:ext uri="{FF2B5EF4-FFF2-40B4-BE49-F238E27FC236}">
                <a16:creationId xmlns:a16="http://schemas.microsoft.com/office/drawing/2014/main" id="{6F301FB2-54B1-C912-AD84-E86EF84EBB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875" y="2857500"/>
            <a:ext cx="4857750" cy="3297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5" descr="MCj02338440000[1]">
            <a:extLst>
              <a:ext uri="{FF2B5EF4-FFF2-40B4-BE49-F238E27FC236}">
                <a16:creationId xmlns:a16="http://schemas.microsoft.com/office/drawing/2014/main" id="{0439A1B6-5100-9FDA-9A18-1AE3529898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3500438"/>
            <a:ext cx="977900" cy="90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ítulo 1">
            <a:extLst>
              <a:ext uri="{FF2B5EF4-FFF2-40B4-BE49-F238E27FC236}">
                <a16:creationId xmlns:a16="http://schemas.microsoft.com/office/drawing/2014/main" id="{A4F04F78-BC3A-1BA3-99D3-5EA1E95826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98488" y="220663"/>
            <a:ext cx="7388225" cy="706437"/>
          </a:xfrm>
        </p:spPr>
        <p:txBody>
          <a:bodyPr/>
          <a:lstStyle/>
          <a:p>
            <a:r>
              <a:rPr lang="pt-BR" altLang="pt-BR" sz="2800" b="1"/>
              <a:t>QFD </a:t>
            </a:r>
          </a:p>
        </p:txBody>
      </p:sp>
      <p:sp>
        <p:nvSpPr>
          <p:cNvPr id="22530" name="Espaço Reservado para Conteúdo 2">
            <a:extLst>
              <a:ext uri="{FF2B5EF4-FFF2-40B4-BE49-F238E27FC236}">
                <a16:creationId xmlns:a16="http://schemas.microsoft.com/office/drawing/2014/main" id="{896AA17C-2690-928E-DB43-708EBA7DA2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49250" y="1281113"/>
            <a:ext cx="8794750" cy="5238750"/>
          </a:xfrm>
        </p:spPr>
        <p:txBody>
          <a:bodyPr/>
          <a:lstStyle/>
          <a:p>
            <a:r>
              <a:rPr lang="pt-BR" altLang="pt-BR"/>
              <a:t>É um método sistemático que auxilia na tradução das necessidades dos clientes em requisitos de projeto.</a:t>
            </a:r>
          </a:p>
          <a:p>
            <a:endParaRPr lang="pt-BR" altLang="pt-BR"/>
          </a:p>
          <a:p>
            <a:pPr>
              <a:buFontTx/>
              <a:buNone/>
            </a:pPr>
            <a:r>
              <a:rPr lang="pt-BR" altLang="pt-BR"/>
              <a:t> </a:t>
            </a:r>
          </a:p>
        </p:txBody>
      </p:sp>
      <p:pic>
        <p:nvPicPr>
          <p:cNvPr id="9" name="Picture 35" descr="Figura1">
            <a:extLst>
              <a:ext uri="{FF2B5EF4-FFF2-40B4-BE49-F238E27FC236}">
                <a16:creationId xmlns:a16="http://schemas.microsoft.com/office/drawing/2014/main" id="{4CA3C40A-7A28-2214-28B7-5BA4C42748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5500" y="2519363"/>
            <a:ext cx="3594100" cy="380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07FAC6-D5EC-BF4C-B59D-2ADA49E4EE06}"/>
              </a:ext>
            </a:extLst>
          </p:cNvPr>
          <p:cNvSpPr txBox="1">
            <a:spLocks/>
          </p:cNvSpPr>
          <p:nvPr/>
        </p:nvSpPr>
        <p:spPr>
          <a:xfrm>
            <a:off x="236538" y="0"/>
            <a:ext cx="8229600" cy="1143000"/>
          </a:xfrm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3600" dirty="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Algumas Considerações</a:t>
            </a:r>
          </a:p>
        </p:txBody>
      </p:sp>
      <p:pic>
        <p:nvPicPr>
          <p:cNvPr id="3" name="Picture 35" descr="Figura1">
            <a:extLst>
              <a:ext uri="{FF2B5EF4-FFF2-40B4-BE49-F238E27FC236}">
                <a16:creationId xmlns:a16="http://schemas.microsoft.com/office/drawing/2014/main" id="{6124DE91-C8FC-9D4F-E3F8-B9257A0A61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6713" y="412750"/>
            <a:ext cx="1536700" cy="162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3A7474E-F67C-D29E-BC7A-7D436568A1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6988" y="4525963"/>
            <a:ext cx="1214437" cy="344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 b="1">
                <a:solidFill>
                  <a:srgbClr val="002060"/>
                </a:solidFill>
                <a:latin typeface="Calibri" panose="020F0502020204030204" pitchFamily="34" charset="0"/>
              </a:rPr>
              <a:t>Concisa!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FA9E7D-7094-5E8E-E31A-4F9D4C97CB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4950" y="2547938"/>
            <a:ext cx="2987675" cy="2357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62EEE08A-9568-1495-42CA-631164DEF8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4825" y="1566863"/>
            <a:ext cx="2357438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 b="1">
                <a:solidFill>
                  <a:srgbClr val="002060"/>
                </a:solidFill>
                <a:latin typeface="Calibri" panose="020F0502020204030204" pitchFamily="34" charset="0"/>
              </a:rPr>
              <a:t>Equipe multidisciplinar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6BDA127-0DE8-C899-AE54-C91376C998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1988" y="2333625"/>
            <a:ext cx="3055937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 b="1">
                <a:solidFill>
                  <a:srgbClr val="002060"/>
                </a:solidFill>
                <a:latin typeface="Calibri" panose="020F0502020204030204" pitchFamily="34" charset="0"/>
              </a:rPr>
              <a:t>Favorece a aceitação interna e a probabilidade de sucesso.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57DB9AA-09D9-6B78-B65A-BB678F74F4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8200" y="3476625"/>
            <a:ext cx="2286000" cy="59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 b="1">
                <a:solidFill>
                  <a:srgbClr val="002060"/>
                </a:solidFill>
                <a:latin typeface="Calibri" panose="020F0502020204030204" pitchFamily="34" charset="0"/>
              </a:rPr>
              <a:t>Envolve áreas não funcionais e a CS.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ED6EBA3-0585-160D-6B94-9EC4CE328C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7825" y="5119688"/>
            <a:ext cx="5072063" cy="98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400" b="1">
                <a:solidFill>
                  <a:srgbClr val="002060"/>
                </a:solidFill>
                <a:latin typeface="Calibri" panose="020F0502020204030204" pitchFamily="34" charset="0"/>
              </a:rPr>
              <a:t>Sobretudo uma ferramenta de comunicação e estimulo ao trabalho multidisciplinar ao longo do projeto.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9E272F9-BD43-5BDB-5787-B7BED21CB7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644775"/>
            <a:ext cx="2428875" cy="108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 b="1">
                <a:solidFill>
                  <a:srgbClr val="002060"/>
                </a:solidFill>
                <a:latin typeface="Calibri" panose="020F0502020204030204" pitchFamily="34" charset="0"/>
              </a:rPr>
              <a:t>Faz com que as pessoas pensem juntas, em uma mesma direção.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9" grpId="0"/>
      <p:bldP spid="10" grpId="0"/>
      <p:bldP spid="12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3">
            <a:extLst>
              <a:ext uri="{FF2B5EF4-FFF2-40B4-BE49-F238E27FC236}">
                <a16:creationId xmlns:a16="http://schemas.microsoft.com/office/drawing/2014/main" id="{CEA0F3D7-2F34-C0E3-FBB5-8E728BA5124E}"/>
              </a:ext>
            </a:extLst>
          </p:cNvPr>
          <p:cNvSpPr>
            <a:spLocks/>
          </p:cNvSpPr>
          <p:nvPr/>
        </p:nvSpPr>
        <p:spPr bwMode="auto">
          <a:xfrm>
            <a:off x="4225925" y="2952750"/>
            <a:ext cx="3048000" cy="1581150"/>
          </a:xfrm>
          <a:custGeom>
            <a:avLst/>
            <a:gdLst>
              <a:gd name="T0" fmla="*/ 2147483646 w 1920"/>
              <a:gd name="T1" fmla="*/ 0 h 996"/>
              <a:gd name="T2" fmla="*/ 2147483646 w 1920"/>
              <a:gd name="T3" fmla="*/ 2147483646 h 996"/>
              <a:gd name="T4" fmla="*/ 2147483646 w 1920"/>
              <a:gd name="T5" fmla="*/ 2147483646 h 996"/>
              <a:gd name="T6" fmla="*/ 0 w 1920"/>
              <a:gd name="T7" fmla="*/ 2147483646 h 996"/>
              <a:gd name="T8" fmla="*/ 2147483646 w 1920"/>
              <a:gd name="T9" fmla="*/ 2147483646 h 996"/>
              <a:gd name="T10" fmla="*/ 2147483646 w 1920"/>
              <a:gd name="T11" fmla="*/ 0 h 99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920"/>
              <a:gd name="T19" fmla="*/ 0 h 996"/>
              <a:gd name="T20" fmla="*/ 1920 w 1920"/>
              <a:gd name="T21" fmla="*/ 996 h 99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920" h="996">
                <a:moveTo>
                  <a:pt x="1253" y="0"/>
                </a:moveTo>
                <a:lnTo>
                  <a:pt x="1920" y="512"/>
                </a:lnTo>
                <a:lnTo>
                  <a:pt x="832" y="996"/>
                </a:lnTo>
                <a:lnTo>
                  <a:pt x="0" y="987"/>
                </a:lnTo>
                <a:lnTo>
                  <a:pt x="18" y="566"/>
                </a:lnTo>
                <a:lnTo>
                  <a:pt x="1253" y="0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rgbClr val="FFFF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E33CBE9F-8E52-49E8-6778-0A047B647D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1313" y="3944938"/>
            <a:ext cx="1554162" cy="792162"/>
          </a:xfrm>
          <a:prstGeom prst="rightArrow">
            <a:avLst>
              <a:gd name="adj1" fmla="val 74269"/>
              <a:gd name="adj2" fmla="val 43426"/>
            </a:avLst>
          </a:prstGeom>
          <a:solidFill>
            <a:srgbClr val="FFFF00"/>
          </a:solidFill>
          <a:ln>
            <a:noFill/>
          </a:ln>
          <a:effectLst>
            <a:prstShdw prst="shdw17" dist="17961" dir="2700000">
              <a:srgbClr val="999900">
                <a:alpha val="74997"/>
              </a:srgbClr>
            </a:prst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/>
          <a:lstStyle>
            <a:lvl1pPr defTabSz="7620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000000"/>
                </a:solidFill>
                <a:latin typeface="Verdana" panose="020B0604030504040204" pitchFamily="34" charset="0"/>
              </a:rPr>
              <a:t>Características dos componentes</a:t>
            </a:r>
          </a:p>
        </p:txBody>
      </p:sp>
      <p:sp>
        <p:nvSpPr>
          <p:cNvPr id="4" name="Freeform 5">
            <a:extLst>
              <a:ext uri="{FF2B5EF4-FFF2-40B4-BE49-F238E27FC236}">
                <a16:creationId xmlns:a16="http://schemas.microsoft.com/office/drawing/2014/main" id="{02F9758E-2E93-16CB-AE2B-FE10DC9E5842}"/>
              </a:ext>
            </a:extLst>
          </p:cNvPr>
          <p:cNvSpPr>
            <a:spLocks/>
          </p:cNvSpPr>
          <p:nvPr/>
        </p:nvSpPr>
        <p:spPr bwMode="auto">
          <a:xfrm>
            <a:off x="3357563" y="2152650"/>
            <a:ext cx="2773362" cy="1277938"/>
          </a:xfrm>
          <a:custGeom>
            <a:avLst/>
            <a:gdLst>
              <a:gd name="T0" fmla="*/ 2147483646 w 1747"/>
              <a:gd name="T1" fmla="*/ 0 h 805"/>
              <a:gd name="T2" fmla="*/ 2147483646 w 1747"/>
              <a:gd name="T3" fmla="*/ 2147483646 h 805"/>
              <a:gd name="T4" fmla="*/ 2147483646 w 1747"/>
              <a:gd name="T5" fmla="*/ 2147483646 h 805"/>
              <a:gd name="T6" fmla="*/ 2147483646 w 1747"/>
              <a:gd name="T7" fmla="*/ 2147483646 h 805"/>
              <a:gd name="T8" fmla="*/ 0 w 1747"/>
              <a:gd name="T9" fmla="*/ 2147483646 h 805"/>
              <a:gd name="T10" fmla="*/ 2147483646 w 1747"/>
              <a:gd name="T11" fmla="*/ 2147483646 h 805"/>
              <a:gd name="T12" fmla="*/ 2147483646 w 1747"/>
              <a:gd name="T13" fmla="*/ 0 h 80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747"/>
              <a:gd name="T22" fmla="*/ 0 h 805"/>
              <a:gd name="T23" fmla="*/ 1747 w 1747"/>
              <a:gd name="T24" fmla="*/ 805 h 80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747" h="805">
                <a:moveTo>
                  <a:pt x="1079" y="0"/>
                </a:moveTo>
                <a:lnTo>
                  <a:pt x="1747" y="512"/>
                </a:lnTo>
                <a:lnTo>
                  <a:pt x="924" y="768"/>
                </a:lnTo>
                <a:lnTo>
                  <a:pt x="10" y="805"/>
                </a:lnTo>
                <a:lnTo>
                  <a:pt x="0" y="759"/>
                </a:lnTo>
                <a:lnTo>
                  <a:pt x="19" y="293"/>
                </a:lnTo>
                <a:lnTo>
                  <a:pt x="1079" y="0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rgbClr val="FFFF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5" name="AutoShape 6">
            <a:extLst>
              <a:ext uri="{FF2B5EF4-FFF2-40B4-BE49-F238E27FC236}">
                <a16:creationId xmlns:a16="http://schemas.microsoft.com/office/drawing/2014/main" id="{47F88CB8-8DD7-C7A9-89CC-EBEB0A233F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0238" y="3368675"/>
            <a:ext cx="1882775" cy="601663"/>
          </a:xfrm>
          <a:prstGeom prst="downArrow">
            <a:avLst>
              <a:gd name="adj1" fmla="val 75935"/>
              <a:gd name="adj2" fmla="val 38102"/>
            </a:avLst>
          </a:prstGeom>
          <a:solidFill>
            <a:srgbClr val="FFFF00"/>
          </a:solidFill>
          <a:ln>
            <a:noFill/>
          </a:ln>
          <a:effectLst>
            <a:prstShdw prst="shdw17" dist="17961" dir="2700000">
              <a:srgbClr val="999900">
                <a:alpha val="74997"/>
              </a:srgbClr>
            </a:prst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/>
          <a:lstStyle>
            <a:lvl1pPr defTabSz="7620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000000"/>
                </a:solidFill>
                <a:latin typeface="Verdana" panose="020B0604030504040204" pitchFamily="34" charset="0"/>
              </a:rPr>
              <a:t>Características dos componentes</a:t>
            </a:r>
          </a:p>
        </p:txBody>
      </p:sp>
      <p:sp>
        <p:nvSpPr>
          <p:cNvPr id="6" name="AutoShape 7">
            <a:extLst>
              <a:ext uri="{FF2B5EF4-FFF2-40B4-BE49-F238E27FC236}">
                <a16:creationId xmlns:a16="http://schemas.microsoft.com/office/drawing/2014/main" id="{6F80990D-F078-A854-687E-08A9625450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5050" y="2576513"/>
            <a:ext cx="1412875" cy="889000"/>
          </a:xfrm>
          <a:prstGeom prst="rightArrow">
            <a:avLst>
              <a:gd name="adj1" fmla="val 66843"/>
              <a:gd name="adj2" fmla="val 39732"/>
            </a:avLst>
          </a:prstGeom>
          <a:solidFill>
            <a:srgbClr val="FFCC00"/>
          </a:solidFill>
          <a:ln>
            <a:noFill/>
          </a:ln>
          <a:effectLst>
            <a:prstShdw prst="shdw17" dist="17961" dir="2700000">
              <a:srgbClr val="997A00">
                <a:alpha val="74997"/>
              </a:srgbClr>
            </a:prst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/>
          <a:lstStyle>
            <a:lvl1pPr defTabSz="7620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ts val="600"/>
              </a:spcBef>
              <a:buFontTx/>
              <a:buNone/>
            </a:pPr>
            <a:r>
              <a:rPr lang="pt-BR" altLang="pt-BR" sz="1000">
                <a:solidFill>
                  <a:srgbClr val="000000"/>
                </a:solidFill>
                <a:latin typeface="Verdana" panose="020B0604030504040204" pitchFamily="34" charset="0"/>
              </a:rPr>
              <a:t>Requisitos do Produto</a:t>
            </a:r>
          </a:p>
        </p:txBody>
      </p:sp>
      <p:sp>
        <p:nvSpPr>
          <p:cNvPr id="7" name="Freeform 8">
            <a:extLst>
              <a:ext uri="{FF2B5EF4-FFF2-40B4-BE49-F238E27FC236}">
                <a16:creationId xmlns:a16="http://schemas.microsoft.com/office/drawing/2014/main" id="{76897B44-0514-D26C-DBC4-36B8C60CF99A}"/>
              </a:ext>
            </a:extLst>
          </p:cNvPr>
          <p:cNvSpPr>
            <a:spLocks/>
          </p:cNvSpPr>
          <p:nvPr/>
        </p:nvSpPr>
        <p:spPr bwMode="auto">
          <a:xfrm>
            <a:off x="6580188" y="4040188"/>
            <a:ext cx="1712912" cy="1219200"/>
          </a:xfrm>
          <a:custGeom>
            <a:avLst/>
            <a:gdLst>
              <a:gd name="T0" fmla="*/ 2147483646 w 1079"/>
              <a:gd name="T1" fmla="*/ 0 h 768"/>
              <a:gd name="T2" fmla="*/ 2147483646 w 1079"/>
              <a:gd name="T3" fmla="*/ 2147483646 h 768"/>
              <a:gd name="T4" fmla="*/ 2147483646 w 1079"/>
              <a:gd name="T5" fmla="*/ 2147483646 h 768"/>
              <a:gd name="T6" fmla="*/ 2147483646 w 1079"/>
              <a:gd name="T7" fmla="*/ 2147483646 h 768"/>
              <a:gd name="T8" fmla="*/ 0 w 1079"/>
              <a:gd name="T9" fmla="*/ 2147483646 h 768"/>
              <a:gd name="T10" fmla="*/ 2147483646 w 1079"/>
              <a:gd name="T11" fmla="*/ 0 h 76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79"/>
              <a:gd name="T19" fmla="*/ 0 h 768"/>
              <a:gd name="T20" fmla="*/ 1079 w 1079"/>
              <a:gd name="T21" fmla="*/ 768 h 76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79" h="768">
                <a:moveTo>
                  <a:pt x="348" y="0"/>
                </a:moveTo>
                <a:lnTo>
                  <a:pt x="1042" y="521"/>
                </a:lnTo>
                <a:lnTo>
                  <a:pt x="1079" y="686"/>
                </a:lnTo>
                <a:lnTo>
                  <a:pt x="293" y="768"/>
                </a:lnTo>
                <a:lnTo>
                  <a:pt x="0" y="475"/>
                </a:lnTo>
                <a:lnTo>
                  <a:pt x="348" y="0"/>
                </a:lnTo>
                <a:close/>
              </a:path>
            </a:pathLst>
          </a:custGeom>
          <a:gradFill rotWithShape="0">
            <a:gsLst>
              <a:gs pos="0">
                <a:srgbClr val="FFFF00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8" name="AutoShape 9">
            <a:extLst>
              <a:ext uri="{FF2B5EF4-FFF2-40B4-BE49-F238E27FC236}">
                <a16:creationId xmlns:a16="http://schemas.microsoft.com/office/drawing/2014/main" id="{5B0C793F-08A9-CCE8-C618-906835910B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9638" y="5735638"/>
            <a:ext cx="1517650" cy="627062"/>
          </a:xfrm>
          <a:prstGeom prst="downArrow">
            <a:avLst>
              <a:gd name="adj1" fmla="val 81639"/>
              <a:gd name="adj2" fmla="val 36722"/>
            </a:avLst>
          </a:prstGeom>
          <a:solidFill>
            <a:srgbClr val="D9D9FF"/>
          </a:solidFill>
          <a:ln>
            <a:noFill/>
          </a:ln>
          <a:effectLst>
            <a:prstShdw prst="shdw17" dist="17961" dir="2700000">
              <a:srgbClr val="828299">
                <a:alpha val="74997"/>
              </a:srgbClr>
            </a:prst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/>
          <a:lstStyle>
            <a:lvl1pPr defTabSz="7620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100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algn="ctr">
              <a:lnSpc>
                <a:spcPct val="80000"/>
              </a:lnSpc>
              <a:spcBef>
                <a:spcPts val="600"/>
              </a:spcBef>
              <a:buFontTx/>
              <a:buNone/>
            </a:pPr>
            <a:r>
              <a:rPr lang="pt-BR" altLang="pt-BR" sz="1000">
                <a:solidFill>
                  <a:srgbClr val="000000"/>
                </a:solidFill>
                <a:latin typeface="Verdana" panose="020B0604030504040204" pitchFamily="34" charset="0"/>
              </a:rPr>
              <a:t>Controle das Operações de  Produção</a:t>
            </a:r>
          </a:p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100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sp>
        <p:nvSpPr>
          <p:cNvPr id="9" name="AutoShape 10">
            <a:extLst>
              <a:ext uri="{FF2B5EF4-FFF2-40B4-BE49-F238E27FC236}">
                <a16:creationId xmlns:a16="http://schemas.microsoft.com/office/drawing/2014/main" id="{08EB8997-C98A-09BB-233C-3224F4A514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8163" y="4810125"/>
            <a:ext cx="1439862" cy="863600"/>
          </a:xfrm>
          <a:prstGeom prst="rightArrow">
            <a:avLst>
              <a:gd name="adj1" fmla="val 64065"/>
              <a:gd name="adj2" fmla="val 55082"/>
            </a:avLst>
          </a:prstGeom>
          <a:solidFill>
            <a:schemeClr val="folHlink"/>
          </a:solidFill>
          <a:ln>
            <a:noFill/>
          </a:ln>
          <a:effectLst>
            <a:prstShdw prst="shdw17" dist="17961" dir="2700000">
              <a:srgbClr val="5C7A00">
                <a:alpha val="74997"/>
              </a:srgbClr>
            </a:prst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/>
          <a:lstStyle>
            <a:lvl1pPr defTabSz="7620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100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000">
                <a:solidFill>
                  <a:srgbClr val="000000"/>
                </a:solidFill>
                <a:latin typeface="Verdana" panose="020B0604030504040204" pitchFamily="34" charset="0"/>
              </a:rPr>
              <a:t>Processos-chave</a:t>
            </a:r>
          </a:p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100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sp>
        <p:nvSpPr>
          <p:cNvPr id="10" name="Freeform 11">
            <a:extLst>
              <a:ext uri="{FF2B5EF4-FFF2-40B4-BE49-F238E27FC236}">
                <a16:creationId xmlns:a16="http://schemas.microsoft.com/office/drawing/2014/main" id="{D75AA929-0333-D83B-2485-A5C8F781A72B}"/>
              </a:ext>
            </a:extLst>
          </p:cNvPr>
          <p:cNvSpPr>
            <a:spLocks/>
          </p:cNvSpPr>
          <p:nvPr/>
        </p:nvSpPr>
        <p:spPr bwMode="auto">
          <a:xfrm>
            <a:off x="2747963" y="1122363"/>
            <a:ext cx="1611312" cy="900112"/>
          </a:xfrm>
          <a:custGeom>
            <a:avLst/>
            <a:gdLst>
              <a:gd name="T0" fmla="*/ 2147483646 w 1015"/>
              <a:gd name="T1" fmla="*/ 0 h 567"/>
              <a:gd name="T2" fmla="*/ 0 w 1015"/>
              <a:gd name="T3" fmla="*/ 2147483646 h 567"/>
              <a:gd name="T4" fmla="*/ 2147483646 w 1015"/>
              <a:gd name="T5" fmla="*/ 2147483646 h 567"/>
              <a:gd name="T6" fmla="*/ 2147483646 w 1015"/>
              <a:gd name="T7" fmla="*/ 2147483646 h 567"/>
              <a:gd name="T8" fmla="*/ 2147483646 w 1015"/>
              <a:gd name="T9" fmla="*/ 2147483646 h 567"/>
              <a:gd name="T10" fmla="*/ 2147483646 w 1015"/>
              <a:gd name="T11" fmla="*/ 0 h 56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15"/>
              <a:gd name="T19" fmla="*/ 0 h 567"/>
              <a:gd name="T20" fmla="*/ 1015 w 1015"/>
              <a:gd name="T21" fmla="*/ 567 h 56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15" h="567">
                <a:moveTo>
                  <a:pt x="960" y="0"/>
                </a:moveTo>
                <a:lnTo>
                  <a:pt x="0" y="92"/>
                </a:lnTo>
                <a:lnTo>
                  <a:pt x="19" y="521"/>
                </a:lnTo>
                <a:lnTo>
                  <a:pt x="732" y="567"/>
                </a:lnTo>
                <a:lnTo>
                  <a:pt x="1015" y="558"/>
                </a:lnTo>
                <a:lnTo>
                  <a:pt x="960" y="0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rgbClr val="FFFF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1" name="AutoShape 12">
            <a:extLst>
              <a:ext uri="{FF2B5EF4-FFF2-40B4-BE49-F238E27FC236}">
                <a16:creationId xmlns:a16="http://schemas.microsoft.com/office/drawing/2014/main" id="{47223A8C-1B17-B350-E751-300AD23907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3975" y="2001838"/>
            <a:ext cx="1511300" cy="574675"/>
          </a:xfrm>
          <a:prstGeom prst="downArrow">
            <a:avLst>
              <a:gd name="adj1" fmla="val 76935"/>
              <a:gd name="adj2" fmla="val 34347"/>
            </a:avLst>
          </a:prstGeom>
          <a:solidFill>
            <a:srgbClr val="FFCC00"/>
          </a:solidFill>
          <a:ln>
            <a:noFill/>
          </a:ln>
          <a:effectLst>
            <a:prstShdw prst="shdw17" dist="17961" dir="2700000">
              <a:srgbClr val="997A00">
                <a:alpha val="74997"/>
              </a:srgbClr>
            </a:prst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/>
          <a:lstStyle>
            <a:lvl1pPr defTabSz="7620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100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algn="ctr">
              <a:lnSpc>
                <a:spcPct val="80000"/>
              </a:lnSpc>
              <a:spcBef>
                <a:spcPts val="600"/>
              </a:spcBef>
              <a:buFontTx/>
              <a:buNone/>
            </a:pPr>
            <a:r>
              <a:rPr lang="pt-BR" altLang="pt-BR" sz="1000">
                <a:solidFill>
                  <a:srgbClr val="000000"/>
                </a:solidFill>
                <a:latin typeface="Verdana" panose="020B0604030504040204" pitchFamily="34" charset="0"/>
              </a:rPr>
              <a:t>Requisitos do Produto</a:t>
            </a:r>
          </a:p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100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sp>
        <p:nvSpPr>
          <p:cNvPr id="12" name="AutoShape 13">
            <a:extLst>
              <a:ext uri="{FF2B5EF4-FFF2-40B4-BE49-F238E27FC236}">
                <a16:creationId xmlns:a16="http://schemas.microsoft.com/office/drawing/2014/main" id="{6A950B14-C4D1-221E-6E55-1F8182BA8B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1813" y="1281113"/>
            <a:ext cx="1198562" cy="720725"/>
          </a:xfrm>
          <a:prstGeom prst="rightArrow">
            <a:avLst>
              <a:gd name="adj1" fmla="val 73000"/>
              <a:gd name="adj2" fmla="val 33822"/>
            </a:avLst>
          </a:prstGeom>
          <a:solidFill>
            <a:srgbClr val="FF0000"/>
          </a:solidFill>
          <a:ln>
            <a:noFill/>
          </a:ln>
          <a:effectLst>
            <a:prstShdw prst="shdw17" dist="17961" dir="2700000">
              <a:srgbClr val="990000">
                <a:alpha val="74997"/>
              </a:srgbClr>
            </a:prst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/>
          <a:lstStyle>
            <a:lvl1pPr defTabSz="7620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pt-BR" altLang="pt-BR" sz="1000">
                <a:latin typeface="Verdana" panose="020B0604030504040204" pitchFamily="34" charset="0"/>
              </a:rPr>
              <a:t>Requisitos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pt-BR" altLang="pt-BR" sz="1000">
                <a:latin typeface="Verdana" panose="020B0604030504040204" pitchFamily="34" charset="0"/>
              </a:rPr>
              <a:t>Clientes</a:t>
            </a:r>
          </a:p>
        </p:txBody>
      </p:sp>
      <p:sp>
        <p:nvSpPr>
          <p:cNvPr id="13" name="AutoShape 14">
            <a:extLst>
              <a:ext uri="{FF2B5EF4-FFF2-40B4-BE49-F238E27FC236}">
                <a16:creationId xmlns:a16="http://schemas.microsoft.com/office/drawing/2014/main" id="{748E76D2-7093-9267-58CC-56F6C60C2E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4665663"/>
            <a:ext cx="1657350" cy="677862"/>
          </a:xfrm>
          <a:prstGeom prst="downArrow">
            <a:avLst>
              <a:gd name="adj1" fmla="val 81991"/>
              <a:gd name="adj2" fmla="val 39583"/>
            </a:avLst>
          </a:prstGeom>
          <a:solidFill>
            <a:schemeClr val="folHlink"/>
          </a:solidFill>
          <a:ln>
            <a:noFill/>
          </a:ln>
          <a:effectLst>
            <a:prstShdw prst="shdw17" dist="17961" dir="2700000">
              <a:srgbClr val="5C7A00">
                <a:alpha val="74997"/>
              </a:srgbClr>
            </a:prst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/>
          <a:lstStyle>
            <a:lvl1pPr defTabSz="7620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100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algn="ctr">
              <a:lnSpc>
                <a:spcPct val="80000"/>
              </a:lnSpc>
              <a:spcBef>
                <a:spcPts val="600"/>
              </a:spcBef>
              <a:buFontTx/>
              <a:buNone/>
            </a:pPr>
            <a:r>
              <a:rPr lang="pt-BR" altLang="pt-BR" sz="1000">
                <a:solidFill>
                  <a:srgbClr val="000000"/>
                </a:solidFill>
                <a:latin typeface="Verdana" panose="020B0604030504040204" pitchFamily="34" charset="0"/>
              </a:rPr>
              <a:t>Processos-chave</a:t>
            </a:r>
          </a:p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100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grpSp>
        <p:nvGrpSpPr>
          <p:cNvPr id="14" name="Grupo 45">
            <a:extLst>
              <a:ext uri="{FF2B5EF4-FFF2-40B4-BE49-F238E27FC236}">
                <a16:creationId xmlns:a16="http://schemas.microsoft.com/office/drawing/2014/main" id="{C03A2AB9-5525-F637-9F8D-E062776460D1}"/>
              </a:ext>
            </a:extLst>
          </p:cNvPr>
          <p:cNvGrpSpPr>
            <a:grpSpLocks/>
          </p:cNvGrpSpPr>
          <p:nvPr/>
        </p:nvGrpSpPr>
        <p:grpSpPr bwMode="auto">
          <a:xfrm>
            <a:off x="4033838" y="1065213"/>
            <a:ext cx="1082675" cy="968375"/>
            <a:chOff x="3563938" y="1393825"/>
            <a:chExt cx="1082675" cy="968375"/>
          </a:xfrm>
        </p:grpSpPr>
        <p:grpSp>
          <p:nvGrpSpPr>
            <p:cNvPr id="24620" name="Group 16">
              <a:extLst>
                <a:ext uri="{FF2B5EF4-FFF2-40B4-BE49-F238E27FC236}">
                  <a16:creationId xmlns:a16="http://schemas.microsoft.com/office/drawing/2014/main" id="{ACD1F628-5199-C443-503D-5523F84035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63939" y="1393825"/>
              <a:ext cx="1082676" cy="968377"/>
              <a:chOff x="1728" y="1200"/>
              <a:chExt cx="1344" cy="1488"/>
            </a:xfrm>
          </p:grpSpPr>
          <p:sp>
            <p:nvSpPr>
              <p:cNvPr id="24622" name="Rectangle 17">
                <a:extLst>
                  <a:ext uri="{FF2B5EF4-FFF2-40B4-BE49-F238E27FC236}">
                    <a16:creationId xmlns:a16="http://schemas.microsoft.com/office/drawing/2014/main" id="{1DA18D1D-0EBB-1443-5F53-AD706C123B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8" y="1440"/>
                <a:ext cx="288" cy="1008"/>
              </a:xfrm>
              <a:prstGeom prst="rect">
                <a:avLst/>
              </a:prstGeom>
              <a:solidFill>
                <a:srgbClr val="FFFFCC"/>
              </a:solidFill>
              <a:ln w="1905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pt-BR" altLang="pt-BR" sz="2000">
                  <a:latin typeface="Calibri" panose="020F0502020204030204" pitchFamily="34" charset="0"/>
                </a:endParaRPr>
              </a:p>
            </p:txBody>
          </p:sp>
          <p:sp>
            <p:nvSpPr>
              <p:cNvPr id="24623" name="Rectangle 18">
                <a:extLst>
                  <a:ext uri="{FF2B5EF4-FFF2-40B4-BE49-F238E27FC236}">
                    <a16:creationId xmlns:a16="http://schemas.microsoft.com/office/drawing/2014/main" id="{DF185ECB-A576-15CE-485E-111C95CCBD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6" y="1440"/>
                <a:ext cx="1056" cy="1008"/>
              </a:xfrm>
              <a:prstGeom prst="rect">
                <a:avLst/>
              </a:prstGeom>
              <a:solidFill>
                <a:srgbClr val="FFFFCC"/>
              </a:solidFill>
              <a:ln w="1905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pt-BR" altLang="pt-BR" sz="2000">
                  <a:latin typeface="Calibri" panose="020F0502020204030204" pitchFamily="34" charset="0"/>
                </a:endParaRPr>
              </a:p>
            </p:txBody>
          </p:sp>
          <p:sp>
            <p:nvSpPr>
              <p:cNvPr id="24624" name="Rectangle 19">
                <a:extLst>
                  <a:ext uri="{FF2B5EF4-FFF2-40B4-BE49-F238E27FC236}">
                    <a16:creationId xmlns:a16="http://schemas.microsoft.com/office/drawing/2014/main" id="{12AB005B-D6EB-C497-069E-6B261CC028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6" y="2448"/>
                <a:ext cx="1056" cy="240"/>
              </a:xfrm>
              <a:prstGeom prst="rect">
                <a:avLst/>
              </a:prstGeom>
              <a:solidFill>
                <a:srgbClr val="FFFFCC"/>
              </a:solidFill>
              <a:ln w="1905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pt-BR" altLang="pt-BR" sz="2000">
                  <a:latin typeface="Calibri" panose="020F0502020204030204" pitchFamily="34" charset="0"/>
                </a:endParaRPr>
              </a:p>
            </p:txBody>
          </p:sp>
          <p:sp>
            <p:nvSpPr>
              <p:cNvPr id="24625" name="Rectangle 20">
                <a:extLst>
                  <a:ext uri="{FF2B5EF4-FFF2-40B4-BE49-F238E27FC236}">
                    <a16:creationId xmlns:a16="http://schemas.microsoft.com/office/drawing/2014/main" id="{3A66EFCD-5B40-91FD-46CC-9F12CE77CD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6" y="1200"/>
                <a:ext cx="1056" cy="240"/>
              </a:xfrm>
              <a:prstGeom prst="rect">
                <a:avLst/>
              </a:prstGeom>
              <a:solidFill>
                <a:srgbClr val="FFFFCC"/>
              </a:solidFill>
              <a:ln w="1905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pt-BR" altLang="pt-BR" sz="200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24621" name="Text Box 22">
              <a:extLst>
                <a:ext uri="{FF2B5EF4-FFF2-40B4-BE49-F238E27FC236}">
                  <a16:creationId xmlns:a16="http://schemas.microsoft.com/office/drawing/2014/main" id="{7E839501-F402-F0D3-A28B-64327ED429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9838" y="1676400"/>
              <a:ext cx="863600" cy="365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defTabSz="7620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000">
                  <a:latin typeface="Verdana" panose="020B0604030504040204" pitchFamily="34" charset="0"/>
                </a:rPr>
                <a:t>Casa da Qualidade</a:t>
              </a:r>
            </a:p>
          </p:txBody>
        </p:sp>
      </p:grpSp>
      <p:grpSp>
        <p:nvGrpSpPr>
          <p:cNvPr id="16" name="Grupo 46">
            <a:extLst>
              <a:ext uri="{FF2B5EF4-FFF2-40B4-BE49-F238E27FC236}">
                <a16:creationId xmlns:a16="http://schemas.microsoft.com/office/drawing/2014/main" id="{231E8E82-60E8-F223-3748-2E9F92DDD38B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1985963"/>
            <a:ext cx="1781175" cy="984250"/>
            <a:chOff x="3874579" y="2301997"/>
            <a:chExt cx="1780098" cy="996830"/>
          </a:xfrm>
        </p:grpSpPr>
        <p:cxnSp>
          <p:nvCxnSpPr>
            <p:cNvPr id="24613" name="AutoShape 21">
              <a:extLst>
                <a:ext uri="{FF2B5EF4-FFF2-40B4-BE49-F238E27FC236}">
                  <a16:creationId xmlns:a16="http://schemas.microsoft.com/office/drawing/2014/main" id="{E56570AF-F024-47F2-9D3E-00AE3F4A2F00}"/>
                </a:ext>
              </a:extLst>
            </p:cNvPr>
            <p:cNvCxnSpPr>
              <a:cxnSpLocks noChangeShapeType="1"/>
              <a:stCxn id="24624" idx="2"/>
              <a:endCxn id="24616" idx="1"/>
            </p:cNvCxnSpPr>
            <p:nvPr/>
          </p:nvCxnSpPr>
          <p:spPr bwMode="auto">
            <a:xfrm rot="16200000" flipH="1">
              <a:off x="3966969" y="2209607"/>
              <a:ext cx="512641" cy="697422"/>
            </a:xfrm>
            <a:prstGeom prst="bentConnector2">
              <a:avLst/>
            </a:prstGeom>
            <a:noFill/>
            <a:ln w="57150">
              <a:solidFill>
                <a:srgbClr val="FF3300"/>
              </a:solidFill>
              <a:miter lim="800000"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24614" name="Group 23">
              <a:extLst>
                <a:ext uri="{FF2B5EF4-FFF2-40B4-BE49-F238E27FC236}">
                  <a16:creationId xmlns:a16="http://schemas.microsoft.com/office/drawing/2014/main" id="{579B6F86-0505-798D-FCBA-858398D3BC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72001" y="2330450"/>
              <a:ext cx="1082676" cy="968377"/>
              <a:chOff x="1728" y="1200"/>
              <a:chExt cx="1344" cy="1488"/>
            </a:xfrm>
          </p:grpSpPr>
          <p:sp>
            <p:nvSpPr>
              <p:cNvPr id="24616" name="Rectangle 24">
                <a:extLst>
                  <a:ext uri="{FF2B5EF4-FFF2-40B4-BE49-F238E27FC236}">
                    <a16:creationId xmlns:a16="http://schemas.microsoft.com/office/drawing/2014/main" id="{169FB4EB-AB32-F4D2-578F-059ABE973C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8" y="1440"/>
                <a:ext cx="288" cy="1008"/>
              </a:xfrm>
              <a:prstGeom prst="rect">
                <a:avLst/>
              </a:prstGeom>
              <a:solidFill>
                <a:srgbClr val="FFFFCC"/>
              </a:solidFill>
              <a:ln w="1905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pt-BR" altLang="pt-BR" sz="2000">
                  <a:latin typeface="Calibri" panose="020F0502020204030204" pitchFamily="34" charset="0"/>
                </a:endParaRPr>
              </a:p>
            </p:txBody>
          </p:sp>
          <p:sp>
            <p:nvSpPr>
              <p:cNvPr id="24617" name="Rectangle 25">
                <a:extLst>
                  <a:ext uri="{FF2B5EF4-FFF2-40B4-BE49-F238E27FC236}">
                    <a16:creationId xmlns:a16="http://schemas.microsoft.com/office/drawing/2014/main" id="{BEDEB6F4-BF16-9429-C632-89E10B0F03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6" y="1440"/>
                <a:ext cx="1056" cy="1008"/>
              </a:xfrm>
              <a:prstGeom prst="rect">
                <a:avLst/>
              </a:prstGeom>
              <a:solidFill>
                <a:srgbClr val="FFFFCC"/>
              </a:solidFill>
              <a:ln w="1905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pt-BR" altLang="pt-BR" sz="2000">
                  <a:latin typeface="Calibri" panose="020F0502020204030204" pitchFamily="34" charset="0"/>
                </a:endParaRPr>
              </a:p>
            </p:txBody>
          </p:sp>
          <p:sp>
            <p:nvSpPr>
              <p:cNvPr id="24618" name="Rectangle 26">
                <a:extLst>
                  <a:ext uri="{FF2B5EF4-FFF2-40B4-BE49-F238E27FC236}">
                    <a16:creationId xmlns:a16="http://schemas.microsoft.com/office/drawing/2014/main" id="{24614630-1612-B7F4-86E5-762B553B15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6" y="2448"/>
                <a:ext cx="1056" cy="240"/>
              </a:xfrm>
              <a:prstGeom prst="rect">
                <a:avLst/>
              </a:prstGeom>
              <a:solidFill>
                <a:srgbClr val="FFFFCC"/>
              </a:solidFill>
              <a:ln w="1905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pt-BR" altLang="pt-BR" sz="2000">
                  <a:latin typeface="Calibri" panose="020F0502020204030204" pitchFamily="34" charset="0"/>
                </a:endParaRPr>
              </a:p>
            </p:txBody>
          </p:sp>
          <p:sp>
            <p:nvSpPr>
              <p:cNvPr id="24619" name="Rectangle 27">
                <a:extLst>
                  <a:ext uri="{FF2B5EF4-FFF2-40B4-BE49-F238E27FC236}">
                    <a16:creationId xmlns:a16="http://schemas.microsoft.com/office/drawing/2014/main" id="{847753F5-02FE-DE0D-E531-448A660BE6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6" y="1200"/>
                <a:ext cx="1056" cy="240"/>
              </a:xfrm>
              <a:prstGeom prst="rect">
                <a:avLst/>
              </a:prstGeom>
              <a:solidFill>
                <a:srgbClr val="FFFFCC"/>
              </a:solidFill>
              <a:ln w="1905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pt-BR" altLang="pt-BR" sz="200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24615" name="Text Box 28">
              <a:extLst>
                <a:ext uri="{FF2B5EF4-FFF2-40B4-BE49-F238E27FC236}">
                  <a16:creationId xmlns:a16="http://schemas.microsoft.com/office/drawing/2014/main" id="{BAF614BA-5E53-1B89-E0F6-3B352E4FA8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7900" y="2547938"/>
              <a:ext cx="863600" cy="501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defTabSz="7620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000">
                  <a:latin typeface="Verdana" panose="020B0604030504040204" pitchFamily="34" charset="0"/>
                </a:rPr>
                <a:t>Planejam.   Compo-nentes</a:t>
              </a:r>
            </a:p>
          </p:txBody>
        </p:sp>
      </p:grpSp>
      <p:grpSp>
        <p:nvGrpSpPr>
          <p:cNvPr id="18" name="Grupo 47">
            <a:extLst>
              <a:ext uri="{FF2B5EF4-FFF2-40B4-BE49-F238E27FC236}">
                <a16:creationId xmlns:a16="http://schemas.microsoft.com/office/drawing/2014/main" id="{312B6AA7-36D8-C867-3CE3-1F5F311A4B74}"/>
              </a:ext>
            </a:extLst>
          </p:cNvPr>
          <p:cNvGrpSpPr>
            <a:grpSpLocks/>
          </p:cNvGrpSpPr>
          <p:nvPr/>
        </p:nvGrpSpPr>
        <p:grpSpPr bwMode="auto">
          <a:xfrm>
            <a:off x="5699125" y="2936875"/>
            <a:ext cx="1433513" cy="968375"/>
            <a:chOff x="5229226" y="3265488"/>
            <a:chExt cx="1433512" cy="968375"/>
          </a:xfrm>
        </p:grpSpPr>
        <p:cxnSp>
          <p:nvCxnSpPr>
            <p:cNvPr id="24606" name="AutoShape 29">
              <a:extLst>
                <a:ext uri="{FF2B5EF4-FFF2-40B4-BE49-F238E27FC236}">
                  <a16:creationId xmlns:a16="http://schemas.microsoft.com/office/drawing/2014/main" id="{77F088DB-8E83-A97E-4906-B8BF661C683F}"/>
                </a:ext>
              </a:extLst>
            </p:cNvPr>
            <p:cNvCxnSpPr>
              <a:cxnSpLocks noChangeShapeType="1"/>
              <a:endCxn id="24609" idx="1"/>
            </p:cNvCxnSpPr>
            <p:nvPr/>
          </p:nvCxnSpPr>
          <p:spPr bwMode="auto">
            <a:xfrm rot="16200000" flipH="1">
              <a:off x="5178425" y="3357563"/>
              <a:ext cx="442913" cy="341312"/>
            </a:xfrm>
            <a:prstGeom prst="bentConnector2">
              <a:avLst/>
            </a:prstGeom>
            <a:noFill/>
            <a:ln w="57150">
              <a:solidFill>
                <a:srgbClr val="FF3300"/>
              </a:solidFill>
              <a:miter lim="800000"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24607" name="Group 30">
              <a:extLst>
                <a:ext uri="{FF2B5EF4-FFF2-40B4-BE49-F238E27FC236}">
                  <a16:creationId xmlns:a16="http://schemas.microsoft.com/office/drawing/2014/main" id="{C8788910-2277-D2FF-D3E2-B0AFC370A9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80064" y="3265488"/>
              <a:ext cx="1082676" cy="968377"/>
              <a:chOff x="1728" y="1200"/>
              <a:chExt cx="1344" cy="1488"/>
            </a:xfrm>
          </p:grpSpPr>
          <p:sp>
            <p:nvSpPr>
              <p:cNvPr id="24609" name="Rectangle 31">
                <a:extLst>
                  <a:ext uri="{FF2B5EF4-FFF2-40B4-BE49-F238E27FC236}">
                    <a16:creationId xmlns:a16="http://schemas.microsoft.com/office/drawing/2014/main" id="{056F573E-AAC4-4170-F9A2-7D6F70F37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8" y="1440"/>
                <a:ext cx="288" cy="1008"/>
              </a:xfrm>
              <a:prstGeom prst="rect">
                <a:avLst/>
              </a:prstGeom>
              <a:solidFill>
                <a:srgbClr val="FFFFCC"/>
              </a:solidFill>
              <a:ln w="1905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pt-BR" altLang="pt-BR" sz="2000">
                  <a:latin typeface="Calibri" panose="020F0502020204030204" pitchFamily="34" charset="0"/>
                </a:endParaRPr>
              </a:p>
            </p:txBody>
          </p:sp>
          <p:sp>
            <p:nvSpPr>
              <p:cNvPr id="24610" name="Rectangle 32">
                <a:extLst>
                  <a:ext uri="{FF2B5EF4-FFF2-40B4-BE49-F238E27FC236}">
                    <a16:creationId xmlns:a16="http://schemas.microsoft.com/office/drawing/2014/main" id="{647B423B-45A0-03E9-29D0-8399DF8141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6" y="1440"/>
                <a:ext cx="1056" cy="1008"/>
              </a:xfrm>
              <a:prstGeom prst="rect">
                <a:avLst/>
              </a:prstGeom>
              <a:solidFill>
                <a:srgbClr val="FFFFCC"/>
              </a:solidFill>
              <a:ln w="1905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pt-BR" altLang="pt-BR" sz="2000">
                  <a:latin typeface="Calibri" panose="020F0502020204030204" pitchFamily="34" charset="0"/>
                </a:endParaRPr>
              </a:p>
            </p:txBody>
          </p:sp>
          <p:sp>
            <p:nvSpPr>
              <p:cNvPr id="24611" name="Rectangle 33">
                <a:extLst>
                  <a:ext uri="{FF2B5EF4-FFF2-40B4-BE49-F238E27FC236}">
                    <a16:creationId xmlns:a16="http://schemas.microsoft.com/office/drawing/2014/main" id="{27182BB9-9900-D68E-066D-6EB0720FAD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6" y="2448"/>
                <a:ext cx="1056" cy="240"/>
              </a:xfrm>
              <a:prstGeom prst="rect">
                <a:avLst/>
              </a:prstGeom>
              <a:solidFill>
                <a:srgbClr val="FFFFCC"/>
              </a:solidFill>
              <a:ln w="1905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pt-BR" altLang="pt-BR" sz="2000">
                  <a:latin typeface="Calibri" panose="020F0502020204030204" pitchFamily="34" charset="0"/>
                </a:endParaRPr>
              </a:p>
            </p:txBody>
          </p:sp>
          <p:sp>
            <p:nvSpPr>
              <p:cNvPr id="24612" name="Rectangle 34">
                <a:extLst>
                  <a:ext uri="{FF2B5EF4-FFF2-40B4-BE49-F238E27FC236}">
                    <a16:creationId xmlns:a16="http://schemas.microsoft.com/office/drawing/2014/main" id="{EDCE12EF-5209-E5B7-B8D8-7C06B8C152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6" y="1200"/>
                <a:ext cx="1056" cy="240"/>
              </a:xfrm>
              <a:prstGeom prst="rect">
                <a:avLst/>
              </a:prstGeom>
              <a:solidFill>
                <a:srgbClr val="FFFFCC"/>
              </a:solidFill>
              <a:ln w="1905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pt-BR" altLang="pt-BR" sz="200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24608" name="Text Box 35">
              <a:extLst>
                <a:ext uri="{FF2B5EF4-FFF2-40B4-BE49-F238E27FC236}">
                  <a16:creationId xmlns:a16="http://schemas.microsoft.com/office/drawing/2014/main" id="{867E6805-9052-EC1C-5136-40A2A70B32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95963" y="3554413"/>
              <a:ext cx="863600" cy="365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defTabSz="7620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000">
                  <a:latin typeface="Verdana" panose="020B0604030504040204" pitchFamily="34" charset="0"/>
                </a:rPr>
                <a:t>Planejam. Processos</a:t>
              </a:r>
            </a:p>
          </p:txBody>
        </p:sp>
      </p:grpSp>
      <p:grpSp>
        <p:nvGrpSpPr>
          <p:cNvPr id="20" name="Grupo 48">
            <a:extLst>
              <a:ext uri="{FF2B5EF4-FFF2-40B4-BE49-F238E27FC236}">
                <a16:creationId xmlns:a16="http://schemas.microsoft.com/office/drawing/2014/main" id="{4F1CD64E-30FF-4CA9-58D1-71BEFF4D4B45}"/>
              </a:ext>
            </a:extLst>
          </p:cNvPr>
          <p:cNvGrpSpPr>
            <a:grpSpLocks/>
          </p:cNvGrpSpPr>
          <p:nvPr/>
        </p:nvGrpSpPr>
        <p:grpSpPr bwMode="auto">
          <a:xfrm>
            <a:off x="6780213" y="3873500"/>
            <a:ext cx="1433512" cy="968375"/>
            <a:chOff x="6310314" y="4202113"/>
            <a:chExt cx="1433511" cy="968375"/>
          </a:xfrm>
        </p:grpSpPr>
        <p:cxnSp>
          <p:nvCxnSpPr>
            <p:cNvPr id="24599" name="AutoShape 36">
              <a:extLst>
                <a:ext uri="{FF2B5EF4-FFF2-40B4-BE49-F238E27FC236}">
                  <a16:creationId xmlns:a16="http://schemas.microsoft.com/office/drawing/2014/main" id="{45657AC3-D2F9-35D0-5E7E-2DD06171D495}"/>
                </a:ext>
              </a:extLst>
            </p:cNvPr>
            <p:cNvCxnSpPr>
              <a:cxnSpLocks noChangeShapeType="1"/>
              <a:endCxn id="24602" idx="1"/>
            </p:cNvCxnSpPr>
            <p:nvPr/>
          </p:nvCxnSpPr>
          <p:spPr bwMode="auto">
            <a:xfrm rot="16200000" flipH="1">
              <a:off x="6259513" y="4294188"/>
              <a:ext cx="442913" cy="341312"/>
            </a:xfrm>
            <a:prstGeom prst="bentConnector2">
              <a:avLst/>
            </a:prstGeom>
            <a:noFill/>
            <a:ln w="57150">
              <a:solidFill>
                <a:srgbClr val="FF3300"/>
              </a:solidFill>
              <a:miter lim="800000"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24600" name="Group 37">
              <a:extLst>
                <a:ext uri="{FF2B5EF4-FFF2-40B4-BE49-F238E27FC236}">
                  <a16:creationId xmlns:a16="http://schemas.microsoft.com/office/drawing/2014/main" id="{F18808EF-F54E-9B73-3267-E7DC53A864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61151" y="4202113"/>
              <a:ext cx="1082676" cy="968377"/>
              <a:chOff x="1728" y="1200"/>
              <a:chExt cx="1344" cy="1488"/>
            </a:xfrm>
          </p:grpSpPr>
          <p:sp>
            <p:nvSpPr>
              <p:cNvPr id="24602" name="Rectangle 38">
                <a:extLst>
                  <a:ext uri="{FF2B5EF4-FFF2-40B4-BE49-F238E27FC236}">
                    <a16:creationId xmlns:a16="http://schemas.microsoft.com/office/drawing/2014/main" id="{4B509562-2225-09DF-C97B-170A0715E0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8" y="1440"/>
                <a:ext cx="288" cy="1008"/>
              </a:xfrm>
              <a:prstGeom prst="rect">
                <a:avLst/>
              </a:prstGeom>
              <a:solidFill>
                <a:srgbClr val="FFFFCC"/>
              </a:solidFill>
              <a:ln w="1905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pt-BR" altLang="pt-BR" sz="2000">
                  <a:latin typeface="Calibri" panose="020F0502020204030204" pitchFamily="34" charset="0"/>
                </a:endParaRPr>
              </a:p>
            </p:txBody>
          </p:sp>
          <p:sp>
            <p:nvSpPr>
              <p:cNvPr id="24603" name="Rectangle 39">
                <a:extLst>
                  <a:ext uri="{FF2B5EF4-FFF2-40B4-BE49-F238E27FC236}">
                    <a16:creationId xmlns:a16="http://schemas.microsoft.com/office/drawing/2014/main" id="{758AEE7C-D70C-224F-11C1-BA6502E80C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6" y="1440"/>
                <a:ext cx="1056" cy="1008"/>
              </a:xfrm>
              <a:prstGeom prst="rect">
                <a:avLst/>
              </a:prstGeom>
              <a:solidFill>
                <a:srgbClr val="FFFFCC"/>
              </a:solidFill>
              <a:ln w="1905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pt-BR" altLang="pt-BR" sz="2000">
                  <a:latin typeface="Calibri" panose="020F0502020204030204" pitchFamily="34" charset="0"/>
                </a:endParaRPr>
              </a:p>
            </p:txBody>
          </p:sp>
          <p:sp>
            <p:nvSpPr>
              <p:cNvPr id="24604" name="Rectangle 40">
                <a:extLst>
                  <a:ext uri="{FF2B5EF4-FFF2-40B4-BE49-F238E27FC236}">
                    <a16:creationId xmlns:a16="http://schemas.microsoft.com/office/drawing/2014/main" id="{FF436FC8-0EB1-1831-54E1-42E19A6564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6" y="2448"/>
                <a:ext cx="1056" cy="240"/>
              </a:xfrm>
              <a:prstGeom prst="rect">
                <a:avLst/>
              </a:prstGeom>
              <a:solidFill>
                <a:srgbClr val="FFFFCC"/>
              </a:solidFill>
              <a:ln w="1905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pt-BR" altLang="pt-BR" sz="2000">
                  <a:latin typeface="Calibri" panose="020F0502020204030204" pitchFamily="34" charset="0"/>
                </a:endParaRPr>
              </a:p>
            </p:txBody>
          </p:sp>
          <p:sp>
            <p:nvSpPr>
              <p:cNvPr id="24605" name="Rectangle 41">
                <a:extLst>
                  <a:ext uri="{FF2B5EF4-FFF2-40B4-BE49-F238E27FC236}">
                    <a16:creationId xmlns:a16="http://schemas.microsoft.com/office/drawing/2014/main" id="{CA8656C1-1E86-D5AE-7492-50066AA5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6" y="1200"/>
                <a:ext cx="1056" cy="240"/>
              </a:xfrm>
              <a:prstGeom prst="rect">
                <a:avLst/>
              </a:prstGeom>
              <a:solidFill>
                <a:srgbClr val="FFFFCC"/>
              </a:solidFill>
              <a:ln w="1905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pt-BR" altLang="pt-BR" sz="200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24601" name="Text Box 42">
              <a:extLst>
                <a:ext uri="{FF2B5EF4-FFF2-40B4-BE49-F238E27FC236}">
                  <a16:creationId xmlns:a16="http://schemas.microsoft.com/office/drawing/2014/main" id="{4B1AF0FA-B692-C4E0-9E89-FF3D09BDFE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77050" y="4429132"/>
              <a:ext cx="863600" cy="5078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defTabSz="76200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000">
                  <a:latin typeface="Verdana" panose="020B0604030504040204" pitchFamily="34" charset="0"/>
                </a:rPr>
                <a:t>Planejam.</a:t>
              </a:r>
            </a:p>
            <a:p>
              <a:pPr algn="ctr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000">
                  <a:latin typeface="Verdana" panose="020B0604030504040204" pitchFamily="34" charset="0"/>
                </a:rPr>
                <a:t>Controle Produção</a:t>
              </a:r>
            </a:p>
          </p:txBody>
        </p:sp>
      </p:grpSp>
      <p:sp>
        <p:nvSpPr>
          <p:cNvPr id="45" name="AutoShape 5">
            <a:extLst>
              <a:ext uri="{FF2B5EF4-FFF2-40B4-BE49-F238E27FC236}">
                <a16:creationId xmlns:a16="http://schemas.microsoft.com/office/drawing/2014/main" id="{5B9F279C-40ED-7345-AC44-79FF68CE62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2213" y="885825"/>
            <a:ext cx="1255712" cy="309563"/>
          </a:xfrm>
          <a:prstGeom prst="wedgeRectCallout">
            <a:avLst>
              <a:gd name="adj1" fmla="val -74352"/>
              <a:gd name="adj2" fmla="val 32560"/>
            </a:avLst>
          </a:prstGeom>
          <a:gradFill rotWithShape="1">
            <a:gsLst>
              <a:gs pos="0">
                <a:srgbClr val="CFFFFF"/>
              </a:gs>
              <a:gs pos="35001">
                <a:srgbClr val="DDFEFF"/>
              </a:gs>
              <a:gs pos="100000">
                <a:srgbClr val="F0FFFF"/>
              </a:gs>
            </a:gsLst>
            <a:lin ang="16200000" scaled="1"/>
          </a:gradFill>
          <a:ln w="9525">
            <a:solidFill>
              <a:srgbClr val="B6DCDF"/>
            </a:solidFill>
            <a:miter lim="800000"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/>
          <a:p>
            <a:pPr algn="ctr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400" dirty="0">
                <a:latin typeface="+mn-lt"/>
              </a:rPr>
              <a:t>Mais usual</a:t>
            </a:r>
          </a:p>
        </p:txBody>
      </p:sp>
      <p:sp>
        <p:nvSpPr>
          <p:cNvPr id="46" name="AutoShape 5">
            <a:extLst>
              <a:ext uri="{FF2B5EF4-FFF2-40B4-BE49-F238E27FC236}">
                <a16:creationId xmlns:a16="http://schemas.microsoft.com/office/drawing/2014/main" id="{67B22DD5-6356-4E40-80C2-5D460070F3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8138" y="962025"/>
            <a:ext cx="1719262" cy="309563"/>
          </a:xfrm>
          <a:prstGeom prst="wedgeRectCallout">
            <a:avLst>
              <a:gd name="adj1" fmla="val -63287"/>
              <a:gd name="adj2" fmla="val 138199"/>
            </a:avLst>
          </a:prstGeom>
          <a:gradFill rotWithShape="1">
            <a:gsLst>
              <a:gs pos="0">
                <a:srgbClr val="CFFFFF"/>
              </a:gs>
              <a:gs pos="35001">
                <a:srgbClr val="DDFEFF"/>
              </a:gs>
              <a:gs pos="100000">
                <a:srgbClr val="F0FFFF"/>
              </a:gs>
            </a:gsLst>
            <a:lin ang="16200000" scaled="1"/>
          </a:gradFill>
          <a:ln w="9525">
            <a:solidFill>
              <a:srgbClr val="B6DCDF"/>
            </a:solidFill>
            <a:miter lim="800000"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/>
          <a:p>
            <a:pPr algn="ctr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400" dirty="0">
                <a:latin typeface="+mn-lt"/>
              </a:rPr>
              <a:t>Planej. do produto</a:t>
            </a:r>
          </a:p>
        </p:txBody>
      </p:sp>
      <p:sp>
        <p:nvSpPr>
          <p:cNvPr id="47" name="AutoShape 5">
            <a:extLst>
              <a:ext uri="{FF2B5EF4-FFF2-40B4-BE49-F238E27FC236}">
                <a16:creationId xmlns:a16="http://schemas.microsoft.com/office/drawing/2014/main" id="{E51C699D-4EA9-7844-BD8F-480BA1CFF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0650" y="1814513"/>
            <a:ext cx="1719263" cy="309562"/>
          </a:xfrm>
          <a:prstGeom prst="wedgeRectCallout">
            <a:avLst>
              <a:gd name="adj1" fmla="val -63287"/>
              <a:gd name="adj2" fmla="val 138199"/>
            </a:avLst>
          </a:prstGeom>
          <a:gradFill rotWithShape="1">
            <a:gsLst>
              <a:gs pos="0">
                <a:srgbClr val="CFFFFF"/>
              </a:gs>
              <a:gs pos="35001">
                <a:srgbClr val="DDFEFF"/>
              </a:gs>
              <a:gs pos="100000">
                <a:srgbClr val="F0FFFF"/>
              </a:gs>
            </a:gsLst>
            <a:lin ang="16200000" scaled="1"/>
          </a:gradFill>
          <a:ln w="9525">
            <a:solidFill>
              <a:srgbClr val="B6DCDF"/>
            </a:solidFill>
            <a:miter lim="800000"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/>
          <a:p>
            <a:pPr algn="ctr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400" dirty="0">
                <a:latin typeface="+mn-lt"/>
              </a:rPr>
              <a:t>Projeto do produto</a:t>
            </a:r>
          </a:p>
        </p:txBody>
      </p:sp>
      <p:sp>
        <p:nvSpPr>
          <p:cNvPr id="48" name="AutoShape 5">
            <a:extLst>
              <a:ext uri="{FF2B5EF4-FFF2-40B4-BE49-F238E27FC236}">
                <a16:creationId xmlns:a16="http://schemas.microsoft.com/office/drawing/2014/main" id="{27CD9CFF-DC54-EB4B-A74E-0A40767FEB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775" y="1957388"/>
            <a:ext cx="928688" cy="515937"/>
          </a:xfrm>
          <a:prstGeom prst="wedgeRectCallout">
            <a:avLst>
              <a:gd name="adj1" fmla="val 69954"/>
              <a:gd name="adj2" fmla="val -13588"/>
            </a:avLst>
          </a:prstGeom>
          <a:gradFill rotWithShape="1">
            <a:gsLst>
              <a:gs pos="0">
                <a:srgbClr val="CFFFFF"/>
              </a:gs>
              <a:gs pos="35001">
                <a:srgbClr val="DDFEFF"/>
              </a:gs>
              <a:gs pos="100000">
                <a:srgbClr val="F0FFFF"/>
              </a:gs>
            </a:gsLst>
            <a:lin ang="16200000" scaled="1"/>
          </a:gradFill>
          <a:ln w="9525">
            <a:solidFill>
              <a:srgbClr val="B6DCDF"/>
            </a:solidFill>
            <a:miter lim="800000"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/>
          <a:p>
            <a:pPr algn="ctr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400" dirty="0">
                <a:latin typeface="+mn-lt"/>
              </a:rPr>
              <a:t>Qualidade Exigida</a:t>
            </a:r>
          </a:p>
        </p:txBody>
      </p:sp>
      <p:sp>
        <p:nvSpPr>
          <p:cNvPr id="49" name="AutoShape 5">
            <a:extLst>
              <a:ext uri="{FF2B5EF4-FFF2-40B4-BE49-F238E27FC236}">
                <a16:creationId xmlns:a16="http://schemas.microsoft.com/office/drawing/2014/main" id="{58DDCDFF-FA04-5141-AB9E-0822DB0105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1400" y="2886075"/>
            <a:ext cx="1000125" cy="528638"/>
          </a:xfrm>
          <a:prstGeom prst="wedgeRectCallout">
            <a:avLst>
              <a:gd name="adj1" fmla="val 68009"/>
              <a:gd name="adj2" fmla="val -13685"/>
            </a:avLst>
          </a:prstGeom>
          <a:gradFill rotWithShape="1">
            <a:gsLst>
              <a:gs pos="0">
                <a:srgbClr val="CFFFFF"/>
              </a:gs>
              <a:gs pos="35001">
                <a:srgbClr val="DDFEFF"/>
              </a:gs>
              <a:gs pos="100000">
                <a:srgbClr val="F0FFFF"/>
              </a:gs>
            </a:gsLst>
            <a:lin ang="16200000" scaled="1"/>
          </a:gradFill>
          <a:ln w="9525">
            <a:solidFill>
              <a:srgbClr val="B6DCDF"/>
            </a:solidFill>
            <a:miter lim="800000"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/>
          <a:p>
            <a:pPr algn="ctr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400" dirty="0">
                <a:latin typeface="+mn-lt"/>
              </a:rPr>
              <a:t>Qualidade Planejada</a:t>
            </a:r>
          </a:p>
        </p:txBody>
      </p:sp>
      <p:sp>
        <p:nvSpPr>
          <p:cNvPr id="50" name="AutoShape 5">
            <a:extLst>
              <a:ext uri="{FF2B5EF4-FFF2-40B4-BE49-F238E27FC236}">
                <a16:creationId xmlns:a16="http://schemas.microsoft.com/office/drawing/2014/main" id="{7B19647B-22F8-8D43-8B7C-28185C8199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300" y="4148138"/>
            <a:ext cx="1076325" cy="534987"/>
          </a:xfrm>
          <a:prstGeom prst="wedgeRectCallout">
            <a:avLst>
              <a:gd name="adj1" fmla="val 68444"/>
              <a:gd name="adj2" fmla="val -15935"/>
            </a:avLst>
          </a:prstGeom>
          <a:gradFill rotWithShape="1">
            <a:gsLst>
              <a:gs pos="0">
                <a:srgbClr val="CFFFFF"/>
              </a:gs>
              <a:gs pos="35001">
                <a:srgbClr val="DDFEFF"/>
              </a:gs>
              <a:gs pos="100000">
                <a:srgbClr val="F0FFFF"/>
              </a:gs>
            </a:gsLst>
            <a:lin ang="16200000" scaled="1"/>
          </a:gradFill>
          <a:ln w="9525">
            <a:solidFill>
              <a:srgbClr val="B6DCDF"/>
            </a:solidFill>
            <a:miter lim="800000"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  <p:txBody>
          <a:bodyPr/>
          <a:lstStyle/>
          <a:p>
            <a:pPr algn="ctr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400" dirty="0">
                <a:latin typeface="+mn-lt"/>
              </a:rPr>
              <a:t>Qualidade Projetada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7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0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7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6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3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autoUpdateAnimBg="0"/>
      <p:bldP spid="5" grpId="0" animBg="1" autoUpdateAnimBg="0"/>
      <p:bldP spid="6" grpId="0" animBg="1" autoUpdateAnimBg="0"/>
      <p:bldP spid="8" grpId="0" animBg="1" autoUpdateAnimBg="0"/>
      <p:bldP spid="9" grpId="0" animBg="1" autoUpdateAnimBg="0"/>
      <p:bldP spid="11" grpId="0" animBg="1" autoUpdateAnimBg="0"/>
      <p:bldP spid="12" grpId="0" animBg="1" autoUpdateAnimBg="0"/>
      <p:bldP spid="13" grpId="0" animBg="1" autoUpdateAnimBg="0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ítulo 1">
            <a:extLst>
              <a:ext uri="{FF2B5EF4-FFF2-40B4-BE49-F238E27FC236}">
                <a16:creationId xmlns:a16="http://schemas.microsoft.com/office/drawing/2014/main" id="{A4253E9C-6C83-4BB9-4DDF-2B026CB395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7975" y="0"/>
            <a:ext cx="7789863" cy="1143000"/>
          </a:xfrm>
        </p:spPr>
        <p:txBody>
          <a:bodyPr/>
          <a:lstStyle/>
          <a:p>
            <a:r>
              <a:rPr lang="pt-BR" altLang="pt-BR"/>
              <a:t>Matriz da Casa da Qualidade do QFD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E5F5C17-BA40-2F45-BA6A-65B3FE929944}"/>
              </a:ext>
            </a:extLst>
          </p:cNvPr>
          <p:cNvSpPr/>
          <p:nvPr/>
        </p:nvSpPr>
        <p:spPr>
          <a:xfrm>
            <a:off x="1714500" y="3500438"/>
            <a:ext cx="1500188" cy="20002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r>
              <a:rPr lang="pt-BR" sz="1800" dirty="0">
                <a:solidFill>
                  <a:schemeClr val="tx1"/>
                </a:solidFill>
              </a:rPr>
              <a:t>Requisitos dos clientes</a:t>
            </a:r>
          </a:p>
        </p:txBody>
      </p:sp>
      <p:sp>
        <p:nvSpPr>
          <p:cNvPr id="25603" name="CaixaDeTexto 5">
            <a:extLst>
              <a:ext uri="{FF2B5EF4-FFF2-40B4-BE49-F238E27FC236}">
                <a16:creationId xmlns:a16="http://schemas.microsoft.com/office/drawing/2014/main" id="{AB7EB136-44EE-A8E4-D3C7-9B817B69AC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1700" y="3586163"/>
            <a:ext cx="5000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/>
              <a:t>(1)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71314EA-338B-FC4F-B233-A8F81240872E}"/>
              </a:ext>
            </a:extLst>
          </p:cNvPr>
          <p:cNvSpPr/>
          <p:nvPr/>
        </p:nvSpPr>
        <p:spPr>
          <a:xfrm rot="16200000">
            <a:off x="2536032" y="4250531"/>
            <a:ext cx="2000250" cy="5000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r>
              <a:rPr lang="pt-BR" sz="1800" dirty="0">
                <a:solidFill>
                  <a:schemeClr val="tx1"/>
                </a:solidFill>
              </a:rPr>
              <a:t>Importância</a:t>
            </a:r>
          </a:p>
        </p:txBody>
      </p:sp>
      <p:sp>
        <p:nvSpPr>
          <p:cNvPr id="25605" name="CaixaDeTexto 7">
            <a:extLst>
              <a:ext uri="{FF2B5EF4-FFF2-40B4-BE49-F238E27FC236}">
                <a16:creationId xmlns:a16="http://schemas.microsoft.com/office/drawing/2014/main" id="{1E528A8F-9164-F93F-72C0-710EFDDF67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0250" y="3540125"/>
            <a:ext cx="5000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/>
              <a:t>(2)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33A20B1-1067-9B4F-B430-CBA80052530C}"/>
              </a:ext>
            </a:extLst>
          </p:cNvPr>
          <p:cNvSpPr/>
          <p:nvPr/>
        </p:nvSpPr>
        <p:spPr>
          <a:xfrm>
            <a:off x="6072188" y="3500438"/>
            <a:ext cx="1825625" cy="200025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r>
              <a:rPr lang="pt-BR" sz="1800" dirty="0">
                <a:solidFill>
                  <a:schemeClr val="tx1"/>
                </a:solidFill>
              </a:rPr>
              <a:t>Benchmarking</a:t>
            </a:r>
          </a:p>
          <a:p>
            <a:pPr algn="ctr">
              <a:lnSpc>
                <a:spcPct val="80000"/>
              </a:lnSpc>
              <a:defRPr/>
            </a:pPr>
            <a:r>
              <a:rPr lang="pt-BR" sz="1800" dirty="0">
                <a:solidFill>
                  <a:schemeClr val="tx1"/>
                </a:solidFill>
              </a:rPr>
              <a:t>Competitivo</a:t>
            </a:r>
          </a:p>
        </p:txBody>
      </p:sp>
      <p:sp>
        <p:nvSpPr>
          <p:cNvPr id="25607" name="CaixaDeTexto 9">
            <a:extLst>
              <a:ext uri="{FF2B5EF4-FFF2-40B4-BE49-F238E27FC236}">
                <a16:creationId xmlns:a16="http://schemas.microsoft.com/office/drawing/2014/main" id="{8D5AE3E7-8C41-0E60-BAFD-E20887853F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2313" y="3143250"/>
            <a:ext cx="5000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>
                <a:solidFill>
                  <a:schemeClr val="bg1"/>
                </a:solidFill>
              </a:rPr>
              <a:t>(3)</a:t>
            </a:r>
          </a:p>
        </p:txBody>
      </p:sp>
      <p:sp>
        <p:nvSpPr>
          <p:cNvPr id="25608" name="CaixaDeTexto 10">
            <a:extLst>
              <a:ext uri="{FF2B5EF4-FFF2-40B4-BE49-F238E27FC236}">
                <a16:creationId xmlns:a16="http://schemas.microsoft.com/office/drawing/2014/main" id="{0342A4E8-6249-4753-33DA-DF8A97CAC3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2100" y="3532188"/>
            <a:ext cx="5000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/>
              <a:t>(3)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5DEDCC08-D55A-7F42-8AEA-35C942D3B41F}"/>
              </a:ext>
            </a:extLst>
          </p:cNvPr>
          <p:cNvSpPr/>
          <p:nvPr/>
        </p:nvSpPr>
        <p:spPr>
          <a:xfrm>
            <a:off x="3857625" y="3500438"/>
            <a:ext cx="2143125" cy="20002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r>
              <a:rPr lang="pt-BR" dirty="0">
                <a:solidFill>
                  <a:schemeClr val="tx1"/>
                </a:solidFill>
              </a:rPr>
              <a:t>Matriz de relacionamentos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92606BA-FCFA-9F48-ADB1-DA012D0E4BC7}"/>
              </a:ext>
            </a:extLst>
          </p:cNvPr>
          <p:cNvSpPr/>
          <p:nvPr/>
        </p:nvSpPr>
        <p:spPr>
          <a:xfrm>
            <a:off x="3857625" y="2857500"/>
            <a:ext cx="2143125" cy="56197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r>
              <a:rPr lang="pt-BR" sz="1800" dirty="0">
                <a:solidFill>
                  <a:schemeClr val="tx1"/>
                </a:solidFill>
              </a:rPr>
              <a:t>Requisitos dos Produtos</a:t>
            </a:r>
          </a:p>
        </p:txBody>
      </p:sp>
      <p:sp>
        <p:nvSpPr>
          <p:cNvPr id="25611" name="CaixaDeTexto 13">
            <a:extLst>
              <a:ext uri="{FF2B5EF4-FFF2-40B4-BE49-F238E27FC236}">
                <a16:creationId xmlns:a16="http://schemas.microsoft.com/office/drawing/2014/main" id="{162D91DC-74F6-D481-22F5-4A8808C39513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5357813" y="3071813"/>
            <a:ext cx="723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/>
              <a:t>(4)</a:t>
            </a:r>
          </a:p>
        </p:txBody>
      </p:sp>
      <p:sp>
        <p:nvSpPr>
          <p:cNvPr id="25612" name="CaixaDeTexto 14">
            <a:extLst>
              <a:ext uri="{FF2B5EF4-FFF2-40B4-BE49-F238E27FC236}">
                <a16:creationId xmlns:a16="http://schemas.microsoft.com/office/drawing/2014/main" id="{41844E0B-E5A0-6272-75D9-6868CD309F56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4664075" y="3611563"/>
            <a:ext cx="7239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/>
              <a:t>(5)</a:t>
            </a:r>
          </a:p>
        </p:txBody>
      </p:sp>
      <p:sp>
        <p:nvSpPr>
          <p:cNvPr id="16" name="Triângulo isósceles 15">
            <a:extLst>
              <a:ext uri="{FF2B5EF4-FFF2-40B4-BE49-F238E27FC236}">
                <a16:creationId xmlns:a16="http://schemas.microsoft.com/office/drawing/2014/main" id="{CEC87F64-6CEB-7A42-93F7-1F690A52062C}"/>
              </a:ext>
            </a:extLst>
          </p:cNvPr>
          <p:cNvSpPr/>
          <p:nvPr/>
        </p:nvSpPr>
        <p:spPr>
          <a:xfrm>
            <a:off x="3857625" y="1643063"/>
            <a:ext cx="2143125" cy="1143000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r>
              <a:rPr lang="pt-BR" sz="1600" dirty="0">
                <a:solidFill>
                  <a:schemeClr val="tx1"/>
                </a:solidFill>
              </a:rPr>
              <a:t>Matriz de correção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677EB0C6-A79D-2F41-8BEB-74B88E7BBBB7}"/>
              </a:ext>
            </a:extLst>
          </p:cNvPr>
          <p:cNvSpPr/>
          <p:nvPr/>
        </p:nvSpPr>
        <p:spPr>
          <a:xfrm>
            <a:off x="3810000" y="5572125"/>
            <a:ext cx="2071688" cy="56197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r>
              <a:rPr lang="pt-BR" sz="1800" dirty="0">
                <a:solidFill>
                  <a:schemeClr val="tx1"/>
                </a:solidFill>
              </a:rPr>
              <a:t>Quantificação dos produtos (6)</a:t>
            </a:r>
          </a:p>
        </p:txBody>
      </p:sp>
      <p:sp>
        <p:nvSpPr>
          <p:cNvPr id="25615" name="CaixaDeTexto 17">
            <a:extLst>
              <a:ext uri="{FF2B5EF4-FFF2-40B4-BE49-F238E27FC236}">
                <a16:creationId xmlns:a16="http://schemas.microsoft.com/office/drawing/2014/main" id="{F1CFFB1D-5538-33EA-CE9E-1476F00AE6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4875" y="1857375"/>
            <a:ext cx="928688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600"/>
              <a:t>(7)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ítulo 1">
            <a:extLst>
              <a:ext uri="{FF2B5EF4-FFF2-40B4-BE49-F238E27FC236}">
                <a16:creationId xmlns:a16="http://schemas.microsoft.com/office/drawing/2014/main" id="{4A888219-3344-BAB3-6694-A6BC828067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1013" y="0"/>
            <a:ext cx="5072062" cy="1143000"/>
          </a:xfrm>
        </p:spPr>
        <p:txBody>
          <a:bodyPr/>
          <a:lstStyle/>
          <a:p>
            <a:r>
              <a:rPr lang="pt-BR" altLang="pt-BR"/>
              <a:t>Requisitos dos clientes</a:t>
            </a:r>
          </a:p>
        </p:txBody>
      </p:sp>
      <p:sp>
        <p:nvSpPr>
          <p:cNvPr id="38914" name="CaixaDeTexto 10">
            <a:extLst>
              <a:ext uri="{FF2B5EF4-FFF2-40B4-BE49-F238E27FC236}">
                <a16:creationId xmlns:a16="http://schemas.microsoft.com/office/drawing/2014/main" id="{D99A5A7A-8CBD-20FB-383F-763C5C413E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938" y="963613"/>
            <a:ext cx="5270500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400"/>
              <a:t>Exemplo de um retroprojetor</a:t>
            </a:r>
          </a:p>
        </p:txBody>
      </p:sp>
      <p:sp>
        <p:nvSpPr>
          <p:cNvPr id="38915" name="CaixaDeTexto 12">
            <a:extLst>
              <a:ext uri="{FF2B5EF4-FFF2-40B4-BE49-F238E27FC236}">
                <a16:creationId xmlns:a16="http://schemas.microsoft.com/office/drawing/2014/main" id="{B27279D8-E274-8C1A-1110-BBBC1460D5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25" y="1377950"/>
            <a:ext cx="1643063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400"/>
              <a:t>Nível primário</a:t>
            </a:r>
          </a:p>
        </p:txBody>
      </p:sp>
      <p:sp>
        <p:nvSpPr>
          <p:cNvPr id="38916" name="CaixaDeTexto 13">
            <a:extLst>
              <a:ext uri="{FF2B5EF4-FFF2-40B4-BE49-F238E27FC236}">
                <a16:creationId xmlns:a16="http://schemas.microsoft.com/office/drawing/2014/main" id="{98E2EB47-F4D7-EEBD-B709-28C01DB1D0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0" y="1362075"/>
            <a:ext cx="23955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000"/>
              <a:t>Nível secundário</a:t>
            </a:r>
          </a:p>
        </p:txBody>
      </p:sp>
      <p:sp>
        <p:nvSpPr>
          <p:cNvPr id="38917" name="CaixaDeTexto 14">
            <a:extLst>
              <a:ext uri="{FF2B5EF4-FFF2-40B4-BE49-F238E27FC236}">
                <a16:creationId xmlns:a16="http://schemas.microsoft.com/office/drawing/2014/main" id="{96CB9F09-6ACB-1C80-CC13-AD799381A6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8888" y="1377950"/>
            <a:ext cx="31924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400"/>
              <a:t>Nível terciário</a:t>
            </a:r>
          </a:p>
        </p:txBody>
      </p:sp>
      <p:sp>
        <p:nvSpPr>
          <p:cNvPr id="38918" name="CaixaDeTexto 15">
            <a:extLst>
              <a:ext uri="{FF2B5EF4-FFF2-40B4-BE49-F238E27FC236}">
                <a16:creationId xmlns:a16="http://schemas.microsoft.com/office/drawing/2014/main" id="{4DA1E62A-7A02-1253-2DAB-FA0F189AB9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888" y="2268538"/>
            <a:ext cx="182086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800">
                <a:cs typeface="Arial" panose="020B0604020202020204" pitchFamily="34" charset="0"/>
              </a:rPr>
              <a:t>1. Bom funcionamento </a:t>
            </a:r>
          </a:p>
        </p:txBody>
      </p:sp>
      <p:sp>
        <p:nvSpPr>
          <p:cNvPr id="38919" name="CaixaDeTexto 16">
            <a:extLst>
              <a:ext uri="{FF2B5EF4-FFF2-40B4-BE49-F238E27FC236}">
                <a16:creationId xmlns:a16="http://schemas.microsoft.com/office/drawing/2014/main" id="{A5775BA8-9011-7B40-1C18-146B9A4CCB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5700" y="2092325"/>
            <a:ext cx="207168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800">
                <a:cs typeface="Arial" panose="020B0604020202020204" pitchFamily="34" charset="0"/>
              </a:rPr>
              <a:t>1. 1 Alta fidelidade de reprodução </a:t>
            </a:r>
          </a:p>
        </p:txBody>
      </p:sp>
      <p:sp>
        <p:nvSpPr>
          <p:cNvPr id="38920" name="CaixaDeTexto 17">
            <a:extLst>
              <a:ext uri="{FF2B5EF4-FFF2-40B4-BE49-F238E27FC236}">
                <a16:creationId xmlns:a16="http://schemas.microsoft.com/office/drawing/2014/main" id="{1ED3BE47-7CAC-2B7E-208E-2C8D9D5440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9163" y="1743075"/>
            <a:ext cx="4414837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800">
                <a:cs typeface="Arial" panose="020B0604020202020204" pitchFamily="34" charset="0"/>
              </a:rPr>
              <a:t>1.1.1 Imagem projetada com Nitidez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BR" altLang="pt-BR" sz="1800">
                <a:cs typeface="Arial" panose="020B0604020202020204" pitchFamily="34" charset="0"/>
              </a:rPr>
              <a:t>1.1.2 Imagem projetada com clareza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BR" altLang="pt-BR" sz="1800">
                <a:cs typeface="Arial" panose="020B0604020202020204" pitchFamily="34" charset="0"/>
              </a:rPr>
              <a:t>1.1.3 Projeta imagem completa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BR" altLang="pt-BR" sz="1800">
                <a:cs typeface="Arial" panose="020B0604020202020204" pitchFamily="34" charset="0"/>
              </a:rPr>
              <a:t>1.1.4 Ampliação uniforme da imagem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BR" altLang="pt-BR" sz="1800">
                <a:cs typeface="Arial" panose="020B0604020202020204" pitchFamily="34" charset="0"/>
              </a:rPr>
              <a:t>1.1.5 Mantêm cores do original  </a:t>
            </a:r>
          </a:p>
        </p:txBody>
      </p:sp>
      <p:sp>
        <p:nvSpPr>
          <p:cNvPr id="38921" name="CaixaDeTexto 18">
            <a:extLst>
              <a:ext uri="{FF2B5EF4-FFF2-40B4-BE49-F238E27FC236}">
                <a16:creationId xmlns:a16="http://schemas.microsoft.com/office/drawing/2014/main" id="{B8ABAF6B-8F72-EFA9-BC56-9C01E00716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4100" y="3376613"/>
            <a:ext cx="23431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800">
                <a:cs typeface="Arial" panose="020B0604020202020204" pitchFamily="34" charset="0"/>
              </a:rPr>
              <a:t>1.2 Funcionamento uniforme</a:t>
            </a:r>
          </a:p>
        </p:txBody>
      </p:sp>
      <p:sp>
        <p:nvSpPr>
          <p:cNvPr id="38922" name="CaixaDeTexto 19">
            <a:extLst>
              <a:ext uri="{FF2B5EF4-FFF2-40B4-BE49-F238E27FC236}">
                <a16:creationId xmlns:a16="http://schemas.microsoft.com/office/drawing/2014/main" id="{CA3DCF5D-69D6-1BEC-01E6-50E9FA31FA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0925" y="3194050"/>
            <a:ext cx="3643313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800">
                <a:cs typeface="Arial" panose="020B0604020202020204" pitchFamily="34" charset="0"/>
              </a:rPr>
              <a:t>1.2.1 Funciona sem interrupção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BR" altLang="pt-BR" sz="1800">
                <a:cs typeface="Arial" panose="020B0604020202020204" pitchFamily="34" charset="0"/>
              </a:rPr>
              <a:t>1.2.2 Funciona silenciosamente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BR" altLang="pt-BR" sz="1800">
                <a:cs typeface="Arial" panose="020B0604020202020204" pitchFamily="34" charset="0"/>
              </a:rPr>
              <a:t>1.2.3 Funciona sem trepidar</a:t>
            </a:r>
          </a:p>
        </p:txBody>
      </p:sp>
      <p:sp>
        <p:nvSpPr>
          <p:cNvPr id="38923" name="CaixaDeTexto 20">
            <a:extLst>
              <a:ext uri="{FF2B5EF4-FFF2-40B4-BE49-F238E27FC236}">
                <a16:creationId xmlns:a16="http://schemas.microsoft.com/office/drawing/2014/main" id="{C1BE6A30-A219-4E2F-30B3-1BB66A1C38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888" y="4418013"/>
            <a:ext cx="164306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800">
                <a:cs typeface="Arial" panose="020B0604020202020204" pitchFamily="34" charset="0"/>
              </a:rPr>
              <a:t>2. Fácil operação</a:t>
            </a:r>
          </a:p>
        </p:txBody>
      </p:sp>
      <p:sp>
        <p:nvSpPr>
          <p:cNvPr id="38924" name="CaixaDeTexto 21">
            <a:extLst>
              <a:ext uri="{FF2B5EF4-FFF2-40B4-BE49-F238E27FC236}">
                <a16:creationId xmlns:a16="http://schemas.microsoft.com/office/drawing/2014/main" id="{BE3E32CF-F26D-D615-BDC6-A2576D11F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9663" y="4170363"/>
            <a:ext cx="2071687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800">
                <a:cs typeface="Arial" panose="020B0604020202020204" pitchFamily="34" charset="0"/>
              </a:rPr>
              <a:t>2.1  Fácil de ligar e desligar </a:t>
            </a:r>
          </a:p>
        </p:txBody>
      </p:sp>
      <p:sp>
        <p:nvSpPr>
          <p:cNvPr id="38925" name="CaixaDeTexto 22">
            <a:extLst>
              <a:ext uri="{FF2B5EF4-FFF2-40B4-BE49-F238E27FC236}">
                <a16:creationId xmlns:a16="http://schemas.microsoft.com/office/drawing/2014/main" id="{49EB74F7-B050-56C3-3436-12A9C59DC1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8050" y="4130675"/>
            <a:ext cx="4189413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600">
                <a:cs typeface="Arial" panose="020B0604020202020204" pitchFamily="34" charset="0"/>
              </a:rPr>
              <a:t>2.1.1 Fácil acesso ao comando Liga/desliga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BR" altLang="pt-BR" sz="1800">
                <a:cs typeface="Arial" panose="020B0604020202020204" pitchFamily="34" charset="0"/>
              </a:rPr>
              <a:t>2.1.2 Acionamento rápido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BR" altLang="pt-BR" sz="1800">
                <a:cs typeface="Arial" panose="020B0604020202020204" pitchFamily="34" charset="0"/>
              </a:rPr>
              <a:t>2.1.3 Acionamento sem esforço </a:t>
            </a:r>
          </a:p>
        </p:txBody>
      </p:sp>
      <p:sp>
        <p:nvSpPr>
          <p:cNvPr id="38926" name="CaixaDeTexto 23">
            <a:extLst>
              <a:ext uri="{FF2B5EF4-FFF2-40B4-BE49-F238E27FC236}">
                <a16:creationId xmlns:a16="http://schemas.microsoft.com/office/drawing/2014/main" id="{17111350-5C6E-B342-176C-B87070209E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3788" y="5113338"/>
            <a:ext cx="2071687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800">
                <a:cs typeface="Arial" panose="020B0604020202020204" pitchFamily="34" charset="0"/>
              </a:rPr>
              <a:t>2.2  Fácil de focalizar</a:t>
            </a:r>
          </a:p>
        </p:txBody>
      </p:sp>
      <p:sp>
        <p:nvSpPr>
          <p:cNvPr id="38927" name="CaixaDeTexto 24">
            <a:extLst>
              <a:ext uri="{FF2B5EF4-FFF2-40B4-BE49-F238E27FC236}">
                <a16:creationId xmlns:a16="http://schemas.microsoft.com/office/drawing/2014/main" id="{9DCB816F-D049-3EC2-572A-40A7720AD6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7425" y="5026025"/>
            <a:ext cx="4046538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800">
                <a:cs typeface="Arial" panose="020B0604020202020204" pitchFamily="34" charset="0"/>
              </a:rPr>
              <a:t>2.2.1 Fácil de entender o modo de focalizar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BR" altLang="pt-BR" sz="1800">
                <a:cs typeface="Arial" panose="020B0604020202020204" pitchFamily="34" charset="0"/>
              </a:rPr>
              <a:t>2.2.2 Focaliza sem esforço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BR" altLang="pt-BR" sz="1800">
                <a:cs typeface="Arial" panose="020B0604020202020204" pitchFamily="34" charset="0"/>
              </a:rPr>
              <a:t>2.2.3 Focaliza rapidamente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BR" altLang="pt-BR" sz="1800">
                <a:cs typeface="Arial" panose="020B0604020202020204" pitchFamily="34" charset="0"/>
              </a:rPr>
              <a:t>2.2.4 Mantêm o foco com o uso prolongado </a:t>
            </a:r>
          </a:p>
          <a:p>
            <a:pPr>
              <a:spcBef>
                <a:spcPct val="0"/>
              </a:spcBef>
              <a:buFontTx/>
              <a:buNone/>
            </a:pPr>
            <a:endParaRPr lang="pt-BR" altLang="pt-BR" sz="1800">
              <a:cs typeface="Arial" panose="020B0604020202020204" pitchFamily="34" charset="0"/>
            </a:endParaRP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2027C668-896A-474F-B407-CA2B20BB1708}"/>
              </a:ext>
            </a:extLst>
          </p:cNvPr>
          <p:cNvSpPr/>
          <p:nvPr/>
        </p:nvSpPr>
        <p:spPr>
          <a:xfrm>
            <a:off x="425450" y="1377950"/>
            <a:ext cx="1857375" cy="428625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sz="2800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88D00A74-784A-4F4F-9D23-85EA6D08B44A}"/>
              </a:ext>
            </a:extLst>
          </p:cNvPr>
          <p:cNvSpPr/>
          <p:nvPr/>
        </p:nvSpPr>
        <p:spPr>
          <a:xfrm>
            <a:off x="2282825" y="1377950"/>
            <a:ext cx="2430463" cy="428625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sz="2800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D67DA97B-75FD-6643-865E-1BF5714D9EE6}"/>
              </a:ext>
            </a:extLst>
          </p:cNvPr>
          <p:cNvSpPr/>
          <p:nvPr/>
        </p:nvSpPr>
        <p:spPr>
          <a:xfrm>
            <a:off x="4713288" y="1377950"/>
            <a:ext cx="4162425" cy="428625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sz="2800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749FF3CC-D763-8C46-919C-F6AAE10195EA}"/>
              </a:ext>
            </a:extLst>
          </p:cNvPr>
          <p:cNvSpPr/>
          <p:nvPr/>
        </p:nvSpPr>
        <p:spPr>
          <a:xfrm>
            <a:off x="4824413" y="1743075"/>
            <a:ext cx="4130675" cy="152082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sz="2800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CD37F556-6AB2-5340-95AF-7DD5A5D6AF9E}"/>
              </a:ext>
            </a:extLst>
          </p:cNvPr>
          <p:cNvSpPr/>
          <p:nvPr/>
        </p:nvSpPr>
        <p:spPr>
          <a:xfrm>
            <a:off x="4745038" y="1812925"/>
            <a:ext cx="4146550" cy="140335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sz="2800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DF84A0B8-5FA9-8C4B-9B3C-E946E25FF922}"/>
              </a:ext>
            </a:extLst>
          </p:cNvPr>
          <p:cNvSpPr/>
          <p:nvPr/>
        </p:nvSpPr>
        <p:spPr>
          <a:xfrm>
            <a:off x="4729163" y="4168775"/>
            <a:ext cx="4146550" cy="85725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sz="2800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D3685818-21AA-E84B-8C00-FDFA62B2C6C9}"/>
              </a:ext>
            </a:extLst>
          </p:cNvPr>
          <p:cNvSpPr/>
          <p:nvPr/>
        </p:nvSpPr>
        <p:spPr>
          <a:xfrm>
            <a:off x="4749800" y="4995863"/>
            <a:ext cx="4205288" cy="1862137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sz="2800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27ED0A1D-5A27-7843-B86E-6FA91CEB0031}"/>
              </a:ext>
            </a:extLst>
          </p:cNvPr>
          <p:cNvSpPr/>
          <p:nvPr/>
        </p:nvSpPr>
        <p:spPr>
          <a:xfrm>
            <a:off x="2282825" y="1806575"/>
            <a:ext cx="2446338" cy="1425575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sz="2800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7C732E48-8B0E-684E-AC7E-463F2C0A3A29}"/>
              </a:ext>
            </a:extLst>
          </p:cNvPr>
          <p:cNvSpPr/>
          <p:nvPr/>
        </p:nvSpPr>
        <p:spPr>
          <a:xfrm>
            <a:off x="2298700" y="3248025"/>
            <a:ext cx="2557463" cy="89852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sz="2800"/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E686C578-6C16-E240-BFE7-BB7E108CCD61}"/>
              </a:ext>
            </a:extLst>
          </p:cNvPr>
          <p:cNvSpPr/>
          <p:nvPr/>
        </p:nvSpPr>
        <p:spPr>
          <a:xfrm>
            <a:off x="2282825" y="4138613"/>
            <a:ext cx="2478088" cy="857250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sz="2800"/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8E2E25D0-F40E-7C4F-BC7E-BE7C2987D23E}"/>
              </a:ext>
            </a:extLst>
          </p:cNvPr>
          <p:cNvSpPr/>
          <p:nvPr/>
        </p:nvSpPr>
        <p:spPr>
          <a:xfrm>
            <a:off x="2298700" y="5011738"/>
            <a:ext cx="2478088" cy="1846262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sz="2800"/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CF058C71-52D3-5148-8D39-3BFF06330C31}"/>
              </a:ext>
            </a:extLst>
          </p:cNvPr>
          <p:cNvSpPr/>
          <p:nvPr/>
        </p:nvSpPr>
        <p:spPr>
          <a:xfrm>
            <a:off x="425450" y="1806575"/>
            <a:ext cx="1857375" cy="2339975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sz="2800"/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F9843707-FAB6-D44A-8C8A-AC6CE665402D}"/>
              </a:ext>
            </a:extLst>
          </p:cNvPr>
          <p:cNvSpPr/>
          <p:nvPr/>
        </p:nvSpPr>
        <p:spPr>
          <a:xfrm>
            <a:off x="441325" y="4168775"/>
            <a:ext cx="1857375" cy="2689225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sz="2800"/>
          </a:p>
        </p:txBody>
      </p:sp>
      <p:pic>
        <p:nvPicPr>
          <p:cNvPr id="38941" name="Picture 1">
            <a:extLst>
              <a:ext uri="{FF2B5EF4-FFF2-40B4-BE49-F238E27FC236}">
                <a16:creationId xmlns:a16="http://schemas.microsoft.com/office/drawing/2014/main" id="{BBAD25AD-8CEF-78FE-02B1-FBFECFC74F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7438" y="0"/>
            <a:ext cx="1812925" cy="138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" name="Elipse 39">
            <a:extLst>
              <a:ext uri="{FF2B5EF4-FFF2-40B4-BE49-F238E27FC236}">
                <a16:creationId xmlns:a16="http://schemas.microsoft.com/office/drawing/2014/main" id="{C19C019D-3133-234D-AA1B-D0120E771AAA}"/>
              </a:ext>
            </a:extLst>
          </p:cNvPr>
          <p:cNvSpPr/>
          <p:nvPr/>
        </p:nvSpPr>
        <p:spPr>
          <a:xfrm>
            <a:off x="6018213" y="249238"/>
            <a:ext cx="679450" cy="117951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endParaRPr lang="pt-BR"/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B2D37F53-DB4C-0842-8AE3-7679FD1BBC7A}"/>
              </a:ext>
            </a:extLst>
          </p:cNvPr>
          <p:cNvSpPr/>
          <p:nvPr/>
        </p:nvSpPr>
        <p:spPr>
          <a:xfrm>
            <a:off x="4713288" y="3221038"/>
            <a:ext cx="4173537" cy="941387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sz="2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7" name="Picture 2">
            <a:extLst>
              <a:ext uri="{FF2B5EF4-FFF2-40B4-BE49-F238E27FC236}">
                <a16:creationId xmlns:a16="http://schemas.microsoft.com/office/drawing/2014/main" id="{721E256A-4CF9-2225-56BA-A62DF3AB08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0813" y="428625"/>
            <a:ext cx="2125662" cy="162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38" name="Título 1">
            <a:extLst>
              <a:ext uri="{FF2B5EF4-FFF2-40B4-BE49-F238E27FC236}">
                <a16:creationId xmlns:a16="http://schemas.microsoft.com/office/drawing/2014/main" id="{017B322C-0D34-0839-C4AF-A63182473F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84200" y="768350"/>
            <a:ext cx="5072063" cy="1143000"/>
          </a:xfrm>
        </p:spPr>
        <p:txBody>
          <a:bodyPr/>
          <a:lstStyle/>
          <a:p>
            <a:r>
              <a:rPr lang="pt-BR" altLang="pt-BR"/>
              <a:t>Importância dos requisitos dos clientes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9E5554D1-9162-2841-8B0E-2DA8B46AE379}"/>
              </a:ext>
            </a:extLst>
          </p:cNvPr>
          <p:cNvSpPr/>
          <p:nvPr/>
        </p:nvSpPr>
        <p:spPr>
          <a:xfrm>
            <a:off x="6858000" y="714375"/>
            <a:ext cx="642938" cy="121443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endParaRPr lang="pt-BR"/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9A683A74-A9FD-3347-B91A-1C71985D2811}"/>
              </a:ext>
            </a:extLst>
          </p:cNvPr>
          <p:cNvSpPr/>
          <p:nvPr/>
        </p:nvSpPr>
        <p:spPr>
          <a:xfrm>
            <a:off x="1073150" y="1897063"/>
            <a:ext cx="4681538" cy="642937"/>
          </a:xfrm>
          <a:prstGeom prst="rect">
            <a:avLst/>
          </a:prstGeom>
          <a:noFill/>
          <a:ln w="31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endParaRPr lang="pt-BR"/>
          </a:p>
        </p:txBody>
      </p:sp>
      <p:sp>
        <p:nvSpPr>
          <p:cNvPr id="39941" name="CaixaDeTexto 40">
            <a:extLst>
              <a:ext uri="{FF2B5EF4-FFF2-40B4-BE49-F238E27FC236}">
                <a16:creationId xmlns:a16="http://schemas.microsoft.com/office/drawing/2014/main" id="{521AD7A8-C2B3-5ACE-2202-B3E09189F1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050" y="3163888"/>
            <a:ext cx="7358063" cy="310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 u="sng"/>
              <a:t>Exemplo de ponderação utilizada.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2000"/>
              <a:t>Marque um X no número: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2000"/>
              <a:t>5 Para os itens que considera </a:t>
            </a:r>
            <a:r>
              <a:rPr lang="pt-BR" altLang="pt-BR" sz="2000" b="1"/>
              <a:t>muito importante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2000"/>
              <a:t>4 Para os itens que considera </a:t>
            </a:r>
            <a:r>
              <a:rPr lang="pt-BR" altLang="pt-BR" sz="2000" b="1"/>
              <a:t>importante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2000"/>
              <a:t>3 Para os itens que considera que têm </a:t>
            </a:r>
            <a:r>
              <a:rPr lang="pt-BR" altLang="pt-BR" sz="2000" b="1"/>
              <a:t>alguma importância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2000"/>
              <a:t>2 Para os itens que considera que têm </a:t>
            </a:r>
            <a:r>
              <a:rPr lang="pt-BR" altLang="pt-BR" sz="2000" b="1"/>
              <a:t>pouca importância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2000"/>
              <a:t>1 Para os itens que considera que têm </a:t>
            </a:r>
            <a:r>
              <a:rPr lang="pt-BR" altLang="pt-BR" sz="2000" b="1"/>
              <a:t>nenhuma importância</a:t>
            </a:r>
          </a:p>
        </p:txBody>
      </p:sp>
      <p:sp>
        <p:nvSpPr>
          <p:cNvPr id="39942" name="CaixaDeTexto 41">
            <a:extLst>
              <a:ext uri="{FF2B5EF4-FFF2-40B4-BE49-F238E27FC236}">
                <a16:creationId xmlns:a16="http://schemas.microsoft.com/office/drawing/2014/main" id="{840E361A-8EDA-1A93-D954-990CDF633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50" y="2071688"/>
            <a:ext cx="40719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/>
              <a:t>Ouvir a voz do cliente = mudge 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>
            <a:extLst>
              <a:ext uri="{FF2B5EF4-FFF2-40B4-BE49-F238E27FC236}">
                <a16:creationId xmlns:a16="http://schemas.microsoft.com/office/drawing/2014/main" id="{983D08F2-06C2-C122-D20A-DCD429C32A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1950" y="0"/>
            <a:ext cx="7388225" cy="706438"/>
          </a:xfrm>
        </p:spPr>
        <p:txBody>
          <a:bodyPr/>
          <a:lstStyle/>
          <a:p>
            <a:pPr eaLnBrk="1" hangingPunct="1"/>
            <a:r>
              <a:rPr lang="en-US" altLang="pt-BR"/>
              <a:t>3. DIAGRAMA DE MUDGE</a:t>
            </a:r>
            <a:endParaRPr lang="pt-BR" altLang="pt-BR"/>
          </a:p>
        </p:txBody>
      </p:sp>
      <p:sp>
        <p:nvSpPr>
          <p:cNvPr id="193542" name="Rectangle 6">
            <a:extLst>
              <a:ext uri="{FF2B5EF4-FFF2-40B4-BE49-F238E27FC236}">
                <a16:creationId xmlns:a16="http://schemas.microsoft.com/office/drawing/2014/main" id="{5FBCF6D6-AA64-5F02-F531-6C8246CBEAC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61950" y="1238250"/>
            <a:ext cx="4210050" cy="5238750"/>
          </a:xfrm>
        </p:spPr>
        <p:txBody>
          <a:bodyPr/>
          <a:lstStyle/>
          <a:p>
            <a:pPr eaLnBrk="1" hangingPunct="1"/>
            <a:r>
              <a:rPr lang="pt-BR" altLang="pt-BR"/>
              <a:t>Os </a:t>
            </a:r>
            <a:r>
              <a:rPr lang="pt-BR" altLang="pt-BR">
                <a:solidFill>
                  <a:srgbClr val="B40000"/>
                </a:solidFill>
              </a:rPr>
              <a:t>requisitos</a:t>
            </a:r>
            <a:r>
              <a:rPr lang="pt-BR" altLang="pt-BR"/>
              <a:t> dos clientes são </a:t>
            </a:r>
            <a:r>
              <a:rPr lang="pt-BR" altLang="pt-BR">
                <a:solidFill>
                  <a:srgbClr val="B40000"/>
                </a:solidFill>
              </a:rPr>
              <a:t>comparados aos pares</a:t>
            </a:r>
            <a:r>
              <a:rPr lang="pt-BR" altLang="pt-BR"/>
              <a:t>.</a:t>
            </a:r>
          </a:p>
        </p:txBody>
      </p:sp>
      <p:sp>
        <p:nvSpPr>
          <p:cNvPr id="193543" name="Rectangle 7">
            <a:extLst>
              <a:ext uri="{FF2B5EF4-FFF2-40B4-BE49-F238E27FC236}">
                <a16:creationId xmlns:a16="http://schemas.microsoft.com/office/drawing/2014/main" id="{EAD9159F-26CD-42B3-D402-BD583E26EBA6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222750" y="1962150"/>
            <a:ext cx="4452938" cy="3797300"/>
          </a:xfrm>
        </p:spPr>
        <p:txBody>
          <a:bodyPr/>
          <a:lstStyle/>
          <a:p>
            <a:pPr eaLnBrk="1" hangingPunct="1"/>
            <a:r>
              <a:rPr lang="pt-BR" altLang="pt-BR"/>
              <a:t>Em cada comparação </a:t>
            </a:r>
            <a:r>
              <a:rPr lang="pt-BR" altLang="pt-BR">
                <a:solidFill>
                  <a:srgbClr val="B40000"/>
                </a:solidFill>
              </a:rPr>
              <a:t>duas perguntas</a:t>
            </a:r>
            <a:r>
              <a:rPr lang="pt-BR" altLang="pt-BR"/>
              <a:t>:</a:t>
            </a:r>
          </a:p>
          <a:p>
            <a:pPr lvl="1" eaLnBrk="1" hangingPunct="1"/>
            <a:r>
              <a:rPr lang="pt-BR" altLang="pt-BR">
                <a:solidFill>
                  <a:srgbClr val="B40000"/>
                </a:solidFill>
              </a:rPr>
              <a:t>Qual</a:t>
            </a:r>
            <a:r>
              <a:rPr lang="pt-BR" altLang="pt-BR"/>
              <a:t> requisito é </a:t>
            </a:r>
            <a:r>
              <a:rPr lang="pt-BR" altLang="pt-BR">
                <a:solidFill>
                  <a:srgbClr val="B40000"/>
                </a:solidFill>
              </a:rPr>
              <a:t>mais importante</a:t>
            </a:r>
            <a:r>
              <a:rPr lang="pt-BR" altLang="pt-BR"/>
              <a:t> para o sucesso do produto?</a:t>
            </a:r>
          </a:p>
          <a:p>
            <a:pPr lvl="1" eaLnBrk="1" hangingPunct="1"/>
            <a:r>
              <a:rPr lang="pt-BR" altLang="pt-BR">
                <a:solidFill>
                  <a:srgbClr val="B40000"/>
                </a:solidFill>
              </a:rPr>
              <a:t>Quanto mais importante</a:t>
            </a:r>
            <a:r>
              <a:rPr lang="pt-BR" altLang="pt-BR"/>
              <a:t> é este requisito?</a:t>
            </a:r>
          </a:p>
          <a:p>
            <a:pPr eaLnBrk="1" hangingPunct="1"/>
            <a:endParaRPr lang="pt-BR" altLang="pt-BR" sz="3200"/>
          </a:p>
        </p:txBody>
      </p:sp>
      <p:sp>
        <p:nvSpPr>
          <p:cNvPr id="193541" name="Rectangle 5">
            <a:extLst>
              <a:ext uri="{FF2B5EF4-FFF2-40B4-BE49-F238E27FC236}">
                <a16:creationId xmlns:a16="http://schemas.microsoft.com/office/drawing/2014/main" id="{F243082A-FD36-D448-1A0F-527F440D62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2813" y="476250"/>
            <a:ext cx="142875" cy="146050"/>
          </a:xfrm>
          <a:prstGeom prst="rect">
            <a:avLst/>
          </a:prstGeom>
          <a:solidFill>
            <a:srgbClr val="B40000"/>
          </a:solidFill>
          <a:ln w="9525">
            <a:solidFill>
              <a:srgbClr val="B4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000"/>
          </a:p>
        </p:txBody>
      </p:sp>
      <p:pic>
        <p:nvPicPr>
          <p:cNvPr id="193550" name="Picture 14" descr="Untitled-8">
            <a:extLst>
              <a:ext uri="{FF2B5EF4-FFF2-40B4-BE49-F238E27FC236}">
                <a16:creationId xmlns:a16="http://schemas.microsoft.com/office/drawing/2014/main" id="{B08981B0-F87F-24F5-0273-C4C630C745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4800" y="3308350"/>
            <a:ext cx="2308225" cy="273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6" name="Text Box 15">
            <a:extLst>
              <a:ext uri="{FF2B5EF4-FFF2-40B4-BE49-F238E27FC236}">
                <a16:creationId xmlns:a16="http://schemas.microsoft.com/office/drawing/2014/main" id="{A89CE0F0-0F0F-ABE3-4610-DEA37EAC74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6308725"/>
            <a:ext cx="69119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pt-BR" altLang="pt-BR" sz="1600" i="1">
                <a:solidFill>
                  <a:srgbClr val="B40000"/>
                </a:solidFill>
                <a:latin typeface="Verdana" panose="020B0604030504040204" pitchFamily="34" charset="0"/>
              </a:rPr>
              <a:t>PI / Identif. Req. dos Clientes / Valorar Req. Dos Clientes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542" grpId="0" build="p"/>
      <p:bldP spid="19354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09" name="Picture 2">
            <a:extLst>
              <a:ext uri="{FF2B5EF4-FFF2-40B4-BE49-F238E27FC236}">
                <a16:creationId xmlns:a16="http://schemas.microsoft.com/office/drawing/2014/main" id="{EB0A62E9-B7B4-EFD4-31C3-16784CDDB1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4325"/>
            <a:ext cx="4524375" cy="433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0" name="Picture 3">
            <a:extLst>
              <a:ext uri="{FF2B5EF4-FFF2-40B4-BE49-F238E27FC236}">
                <a16:creationId xmlns:a16="http://schemas.microsoft.com/office/drawing/2014/main" id="{5D4CBC95-AED6-B7CB-95D6-7A36135300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7463" y="2012950"/>
            <a:ext cx="5553075" cy="318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1" name="CaixaDeTexto 3">
            <a:extLst>
              <a:ext uri="{FF2B5EF4-FFF2-40B4-BE49-F238E27FC236}">
                <a16:creationId xmlns:a16="http://schemas.microsoft.com/office/drawing/2014/main" id="{FA4C8BF0-C3A7-1097-22EF-E93E225F6F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575" y="946150"/>
            <a:ext cx="66690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 b="1">
                <a:solidFill>
                  <a:srgbClr val="FF0000"/>
                </a:solidFill>
              </a:rPr>
              <a:t>GRÁFICO DE PARETO DOS REQUISITOS DOS CLIENTES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ítulo 1">
            <a:extLst>
              <a:ext uri="{FF2B5EF4-FFF2-40B4-BE49-F238E27FC236}">
                <a16:creationId xmlns:a16="http://schemas.microsoft.com/office/drawing/2014/main" id="{06631DC8-02FC-A36C-18E9-F338B627E0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44513" y="569913"/>
            <a:ext cx="7497762" cy="1143000"/>
          </a:xfrm>
        </p:spPr>
        <p:txBody>
          <a:bodyPr/>
          <a:lstStyle/>
          <a:p>
            <a:r>
              <a:rPr lang="pt-BR" altLang="pt-BR"/>
              <a:t>REQUISITOS DE PROJETO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2F297A4-F205-BF41-850C-61BEEDA9241E}"/>
              </a:ext>
            </a:extLst>
          </p:cNvPr>
          <p:cNvSpPr/>
          <p:nvPr/>
        </p:nvSpPr>
        <p:spPr>
          <a:xfrm>
            <a:off x="1500188" y="3571875"/>
            <a:ext cx="1500187" cy="20002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r>
              <a:rPr lang="pt-BR" dirty="0">
                <a:solidFill>
                  <a:schemeClr val="tx1"/>
                </a:solidFill>
              </a:rPr>
              <a:t>Requisitos dos clientes</a:t>
            </a:r>
          </a:p>
        </p:txBody>
      </p:sp>
      <p:sp>
        <p:nvSpPr>
          <p:cNvPr id="44035" name="CaixaDeTexto 4">
            <a:extLst>
              <a:ext uri="{FF2B5EF4-FFF2-40B4-BE49-F238E27FC236}">
                <a16:creationId xmlns:a16="http://schemas.microsoft.com/office/drawing/2014/main" id="{368E1D1F-D0F4-FF71-AC51-8C16158E42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2838" y="3721100"/>
            <a:ext cx="5000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/>
              <a:t>(1)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6F0F0BEB-B462-144B-9A7A-708481999C8E}"/>
              </a:ext>
            </a:extLst>
          </p:cNvPr>
          <p:cNvSpPr/>
          <p:nvPr/>
        </p:nvSpPr>
        <p:spPr>
          <a:xfrm>
            <a:off x="3143250" y="3571875"/>
            <a:ext cx="2143125" cy="20002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5B3ACA64-0AD8-0D4E-BA36-7A25DF1CE5EF}"/>
              </a:ext>
            </a:extLst>
          </p:cNvPr>
          <p:cNvSpPr/>
          <p:nvPr/>
        </p:nvSpPr>
        <p:spPr>
          <a:xfrm>
            <a:off x="3143250" y="2928938"/>
            <a:ext cx="2143125" cy="56197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r>
              <a:rPr lang="pt-BR" dirty="0">
                <a:solidFill>
                  <a:schemeClr val="tx1"/>
                </a:solidFill>
              </a:rPr>
              <a:t>Requisitos dos Produtos</a:t>
            </a:r>
          </a:p>
        </p:txBody>
      </p:sp>
      <p:sp>
        <p:nvSpPr>
          <p:cNvPr id="44038" name="CaixaDeTexto 12">
            <a:extLst>
              <a:ext uri="{FF2B5EF4-FFF2-40B4-BE49-F238E27FC236}">
                <a16:creationId xmlns:a16="http://schemas.microsoft.com/office/drawing/2014/main" id="{DFC31DAF-D5A5-C68E-6109-4C5218CBD371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4643438" y="3143250"/>
            <a:ext cx="723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/>
              <a:t>(4)</a:t>
            </a:r>
          </a:p>
        </p:txBody>
      </p:sp>
      <p:sp>
        <p:nvSpPr>
          <p:cNvPr id="15" name="Triângulo isósceles 14">
            <a:extLst>
              <a:ext uri="{FF2B5EF4-FFF2-40B4-BE49-F238E27FC236}">
                <a16:creationId xmlns:a16="http://schemas.microsoft.com/office/drawing/2014/main" id="{65667F24-FD76-A146-918B-F12BD2FD7971}"/>
              </a:ext>
            </a:extLst>
          </p:cNvPr>
          <p:cNvSpPr/>
          <p:nvPr/>
        </p:nvSpPr>
        <p:spPr>
          <a:xfrm>
            <a:off x="3143250" y="1714500"/>
            <a:ext cx="2143125" cy="1143000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r>
              <a:rPr lang="pt-BR" sz="1600" dirty="0">
                <a:solidFill>
                  <a:schemeClr val="tx1"/>
                </a:solidFill>
              </a:rPr>
              <a:t>Matriz de correção</a:t>
            </a:r>
          </a:p>
        </p:txBody>
      </p:sp>
      <p:sp>
        <p:nvSpPr>
          <p:cNvPr id="44040" name="CaixaDeTexto 16">
            <a:extLst>
              <a:ext uri="{FF2B5EF4-FFF2-40B4-BE49-F238E27FC236}">
                <a16:creationId xmlns:a16="http://schemas.microsoft.com/office/drawing/2014/main" id="{E4C0D6A0-20B3-C0D7-0882-29D40EE1E8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500" y="1928813"/>
            <a:ext cx="9286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/>
              <a:t>(7)</a:t>
            </a:r>
          </a:p>
        </p:txBody>
      </p:sp>
      <p:sp>
        <p:nvSpPr>
          <p:cNvPr id="19" name="Seta dobrada para cima 18">
            <a:extLst>
              <a:ext uri="{FF2B5EF4-FFF2-40B4-BE49-F238E27FC236}">
                <a16:creationId xmlns:a16="http://schemas.microsoft.com/office/drawing/2014/main" id="{E35E39C7-E197-BB4A-8FCE-43BF67A1437B}"/>
              </a:ext>
            </a:extLst>
          </p:cNvPr>
          <p:cNvSpPr/>
          <p:nvPr/>
        </p:nvSpPr>
        <p:spPr>
          <a:xfrm>
            <a:off x="3071813" y="3571875"/>
            <a:ext cx="1500187" cy="857250"/>
          </a:xfrm>
          <a:prstGeom prst="bentUp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endParaRPr lang="pt-BR"/>
          </a:p>
        </p:txBody>
      </p:sp>
      <p:sp>
        <p:nvSpPr>
          <p:cNvPr id="44042" name="CaixaDeTexto 33">
            <a:extLst>
              <a:ext uri="{FF2B5EF4-FFF2-40B4-BE49-F238E27FC236}">
                <a16:creationId xmlns:a16="http://schemas.microsoft.com/office/drawing/2014/main" id="{0E8A7D49-F7EF-5C6E-ED95-171B819729C8}"/>
              </a:ext>
            </a:extLst>
          </p:cNvPr>
          <p:cNvSpPr txBox="1">
            <a:spLocks noChangeArrowheads="1"/>
          </p:cNvSpPr>
          <p:nvPr/>
        </p:nvSpPr>
        <p:spPr bwMode="auto">
          <a:xfrm rot="-1088811">
            <a:off x="3541713" y="4457700"/>
            <a:ext cx="16430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i="1">
                <a:solidFill>
                  <a:srgbClr val="FF0000"/>
                </a:solidFill>
              </a:rPr>
              <a:t>Extração  </a:t>
            </a:r>
          </a:p>
        </p:txBody>
      </p:sp>
      <p:sp>
        <p:nvSpPr>
          <p:cNvPr id="44043" name="CaixaDeTexto 34">
            <a:extLst>
              <a:ext uri="{FF2B5EF4-FFF2-40B4-BE49-F238E27FC236}">
                <a16:creationId xmlns:a16="http://schemas.microsoft.com/office/drawing/2014/main" id="{990DC179-8C63-766E-F8E9-5D3A4A6A53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3563" y="3071813"/>
            <a:ext cx="3214687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400"/>
              <a:t>Os requisitos de clientes são extraídos  em </a:t>
            </a:r>
            <a:r>
              <a:rPr lang="pt-BR" altLang="pt-BR" sz="2400">
                <a:solidFill>
                  <a:srgbClr val="FF0000"/>
                </a:solidFill>
              </a:rPr>
              <a:t>características técnicas possíveis de ser medidos </a:t>
            </a:r>
            <a:r>
              <a:rPr lang="pt-BR" altLang="pt-BR" sz="2400"/>
              <a:t>por algum sensor.  </a:t>
            </a:r>
          </a:p>
        </p:txBody>
      </p:sp>
      <p:pic>
        <p:nvPicPr>
          <p:cNvPr id="44044" name="Picture 1">
            <a:extLst>
              <a:ext uri="{FF2B5EF4-FFF2-40B4-BE49-F238E27FC236}">
                <a16:creationId xmlns:a16="http://schemas.microsoft.com/office/drawing/2014/main" id="{0BEEC4F4-3781-D86C-9621-AE355240CD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5063" y="285750"/>
            <a:ext cx="2643187" cy="202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" name="Elipse 36">
            <a:extLst>
              <a:ext uri="{FF2B5EF4-FFF2-40B4-BE49-F238E27FC236}">
                <a16:creationId xmlns:a16="http://schemas.microsoft.com/office/drawing/2014/main" id="{9A17DADF-733F-8F48-AD88-8B2FA55C0884}"/>
              </a:ext>
            </a:extLst>
          </p:cNvPr>
          <p:cNvSpPr/>
          <p:nvPr/>
        </p:nvSpPr>
        <p:spPr>
          <a:xfrm>
            <a:off x="7000875" y="642938"/>
            <a:ext cx="1214438" cy="5715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endParaRPr lang="pt-B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9AEF903A-B870-F742-9C5B-3AE8832EF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" y="1235013"/>
            <a:ext cx="5000625" cy="461962"/>
          </a:xfrm>
        </p:spPr>
        <p:txBody>
          <a:bodyPr rtlCol="0">
            <a:spAutoFit/>
          </a:bodyPr>
          <a:lstStyle/>
          <a:p>
            <a:pPr>
              <a:defRPr/>
            </a:pPr>
            <a:r>
              <a:rPr lang="pt-BR" dirty="0">
                <a:solidFill>
                  <a:schemeClr val="tx1"/>
                </a:solidFill>
                <a:ea typeface="+mn-ea"/>
                <a:cs typeface="Arial" pitchFamily="34" charset="0"/>
              </a:rPr>
              <a:t>Exemplo do retroprojetor</a:t>
            </a:r>
          </a:p>
        </p:txBody>
      </p:sp>
      <p:sp>
        <p:nvSpPr>
          <p:cNvPr id="35" name="Título 1">
            <a:extLst>
              <a:ext uri="{FF2B5EF4-FFF2-40B4-BE49-F238E27FC236}">
                <a16:creationId xmlns:a16="http://schemas.microsoft.com/office/drawing/2014/main" id="{52E336F3-D45C-724D-99C4-78CC9ABF6E67}"/>
              </a:ext>
            </a:extLst>
          </p:cNvPr>
          <p:cNvSpPr txBox="1">
            <a:spLocks/>
          </p:cNvSpPr>
          <p:nvPr/>
        </p:nvSpPr>
        <p:spPr>
          <a:xfrm>
            <a:off x="401638" y="0"/>
            <a:ext cx="7497762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4300" dirty="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Requisitos de Projeto</a:t>
            </a:r>
          </a:p>
        </p:txBody>
      </p:sp>
      <p:pic>
        <p:nvPicPr>
          <p:cNvPr id="46083" name="Picture 1">
            <a:extLst>
              <a:ext uri="{FF2B5EF4-FFF2-40B4-BE49-F238E27FC236}">
                <a16:creationId xmlns:a16="http://schemas.microsoft.com/office/drawing/2014/main" id="{CAD1FE21-A9A8-71E1-EBB3-9CC98595D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5063" y="285750"/>
            <a:ext cx="2643187" cy="202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" name="Elipse 36">
            <a:extLst>
              <a:ext uri="{FF2B5EF4-FFF2-40B4-BE49-F238E27FC236}">
                <a16:creationId xmlns:a16="http://schemas.microsoft.com/office/drawing/2014/main" id="{15A509DA-AF37-F14F-8198-D66F6C7F326A}"/>
              </a:ext>
            </a:extLst>
          </p:cNvPr>
          <p:cNvSpPr/>
          <p:nvPr/>
        </p:nvSpPr>
        <p:spPr>
          <a:xfrm>
            <a:off x="7000875" y="642938"/>
            <a:ext cx="1214438" cy="5715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C894244-B891-D8BA-AD0A-83F512C4BB7B}"/>
              </a:ext>
            </a:extLst>
          </p:cNvPr>
          <p:cNvSpPr txBox="1"/>
          <p:nvPr/>
        </p:nvSpPr>
        <p:spPr>
          <a:xfrm rot="16200000">
            <a:off x="2393856" y="3713694"/>
            <a:ext cx="2087385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Altura (cm) (-)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58884CF-7EE5-F502-5A8D-B779BED5F522}"/>
              </a:ext>
            </a:extLst>
          </p:cNvPr>
          <p:cNvSpPr txBox="1"/>
          <p:nvPr/>
        </p:nvSpPr>
        <p:spPr>
          <a:xfrm rot="16200000">
            <a:off x="2831835" y="3691535"/>
            <a:ext cx="2125293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Largura (cm) (-)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4EC6597-05F2-A700-4541-7B671320B836}"/>
              </a:ext>
            </a:extLst>
          </p:cNvPr>
          <p:cNvSpPr txBox="1"/>
          <p:nvPr/>
        </p:nvSpPr>
        <p:spPr>
          <a:xfrm rot="16200000">
            <a:off x="3577434" y="3385359"/>
            <a:ext cx="2128502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Razão altura/largura (cm3) (=)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B2D127A-FCA0-927F-0DDE-8E7C39F6DB0B}"/>
              </a:ext>
            </a:extLst>
          </p:cNvPr>
          <p:cNvSpPr txBox="1"/>
          <p:nvPr/>
        </p:nvSpPr>
        <p:spPr>
          <a:xfrm rot="16200000">
            <a:off x="4628244" y="3526566"/>
            <a:ext cx="2147456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err="1"/>
              <a:t>Nivel</a:t>
            </a:r>
            <a:r>
              <a:rPr lang="pt-BR" dirty="0"/>
              <a:t> de ruído (dB) (-)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B5B1901-344B-07A4-9D73-B693E50DCD42}"/>
              </a:ext>
            </a:extLst>
          </p:cNvPr>
          <p:cNvSpPr txBox="1"/>
          <p:nvPr/>
        </p:nvSpPr>
        <p:spPr>
          <a:xfrm rot="16200000">
            <a:off x="5495615" y="3548725"/>
            <a:ext cx="2169617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Área de projeção (m2) (+)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4A526A0-0719-4967-A278-42FF8ED29847}"/>
              </a:ext>
            </a:extLst>
          </p:cNvPr>
          <p:cNvSpPr txBox="1"/>
          <p:nvPr/>
        </p:nvSpPr>
        <p:spPr>
          <a:xfrm>
            <a:off x="547599" y="5054865"/>
            <a:ext cx="22384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dirty="0"/>
              <a:t>Fácil de guardar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F81731A3-5E0D-D746-7224-CDF5FF987583}"/>
              </a:ext>
            </a:extLst>
          </p:cNvPr>
          <p:cNvSpPr txBox="1">
            <a:spLocks/>
          </p:cNvSpPr>
          <p:nvPr/>
        </p:nvSpPr>
        <p:spPr bwMode="auto">
          <a:xfrm>
            <a:off x="3296740" y="2308225"/>
            <a:ext cx="50006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pt-BR" kern="0" dirty="0">
                <a:solidFill>
                  <a:srgbClr val="0070C0"/>
                </a:solidFill>
                <a:ea typeface="+mn-ea"/>
                <a:cs typeface="Arial" pitchFamily="34" charset="0"/>
              </a:rPr>
              <a:t>Requisito do produto</a:t>
            </a: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E577B625-0A28-F162-375B-D0645AD597D1}"/>
              </a:ext>
            </a:extLst>
          </p:cNvPr>
          <p:cNvSpPr txBox="1">
            <a:spLocks/>
          </p:cNvSpPr>
          <p:nvPr/>
        </p:nvSpPr>
        <p:spPr bwMode="auto">
          <a:xfrm>
            <a:off x="190511" y="4516845"/>
            <a:ext cx="50006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pt-BR" kern="0" dirty="0">
                <a:solidFill>
                  <a:srgbClr val="0070C0"/>
                </a:solidFill>
                <a:ea typeface="+mn-ea"/>
                <a:cs typeface="Arial" pitchFamily="34" charset="0"/>
              </a:rPr>
              <a:t>Requisito do Cliente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3523FFA-3F6C-44BB-D2C9-6472A9CE04FD}"/>
              </a:ext>
            </a:extLst>
          </p:cNvPr>
          <p:cNvSpPr txBox="1"/>
          <p:nvPr/>
        </p:nvSpPr>
        <p:spPr>
          <a:xfrm>
            <a:off x="729828" y="5635738"/>
            <a:ext cx="22384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dirty="0"/>
              <a:t>Ser silencioso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2C8D96F-4FB0-1289-A031-A5D5AE597A68}"/>
              </a:ext>
            </a:extLst>
          </p:cNvPr>
          <p:cNvSpPr txBox="1"/>
          <p:nvPr/>
        </p:nvSpPr>
        <p:spPr>
          <a:xfrm>
            <a:off x="155584" y="6132406"/>
            <a:ext cx="28127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dirty="0"/>
              <a:t>Fácil de posicionar a imagem</a:t>
            </a:r>
          </a:p>
        </p:txBody>
      </p:sp>
      <p:sp>
        <p:nvSpPr>
          <p:cNvPr id="17" name="Seta Dobrada para Cima 16">
            <a:extLst>
              <a:ext uri="{FF2B5EF4-FFF2-40B4-BE49-F238E27FC236}">
                <a16:creationId xmlns:a16="http://schemas.microsoft.com/office/drawing/2014/main" id="{B4F14F9E-647F-6764-375F-E0819892013D}"/>
              </a:ext>
            </a:extLst>
          </p:cNvPr>
          <p:cNvSpPr/>
          <p:nvPr/>
        </p:nvSpPr>
        <p:spPr bwMode="auto">
          <a:xfrm>
            <a:off x="3296740" y="5112428"/>
            <a:ext cx="2642104" cy="859395"/>
          </a:xfrm>
          <a:prstGeom prst="bentUpArrow">
            <a:avLst>
              <a:gd name="adj1" fmla="val 0"/>
              <a:gd name="adj2" fmla="val 25000"/>
              <a:gd name="adj3" fmla="val 2500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Seta Dobrada para Cima 17">
            <a:extLst>
              <a:ext uri="{FF2B5EF4-FFF2-40B4-BE49-F238E27FC236}">
                <a16:creationId xmlns:a16="http://schemas.microsoft.com/office/drawing/2014/main" id="{5F549DF3-92F1-975B-079C-6A3E8B70C9CB}"/>
              </a:ext>
            </a:extLst>
          </p:cNvPr>
          <p:cNvSpPr/>
          <p:nvPr/>
        </p:nvSpPr>
        <p:spPr bwMode="auto">
          <a:xfrm>
            <a:off x="2968291" y="5024676"/>
            <a:ext cx="4032584" cy="1505431"/>
          </a:xfrm>
          <a:prstGeom prst="bentUpArrow">
            <a:avLst>
              <a:gd name="adj1" fmla="val 0"/>
              <a:gd name="adj2" fmla="val 25000"/>
              <a:gd name="adj3" fmla="val 2500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9" name="Seta Dobrada para Cima 18">
            <a:extLst>
              <a:ext uri="{FF2B5EF4-FFF2-40B4-BE49-F238E27FC236}">
                <a16:creationId xmlns:a16="http://schemas.microsoft.com/office/drawing/2014/main" id="{286FDDE3-83DF-67F3-2DCA-16A43803BC7F}"/>
              </a:ext>
            </a:extLst>
          </p:cNvPr>
          <p:cNvSpPr/>
          <p:nvPr/>
        </p:nvSpPr>
        <p:spPr bwMode="auto">
          <a:xfrm>
            <a:off x="3324208" y="4954236"/>
            <a:ext cx="1450992" cy="601369"/>
          </a:xfrm>
          <a:prstGeom prst="bentUpArrow">
            <a:avLst>
              <a:gd name="adj1" fmla="val 0"/>
              <a:gd name="adj2" fmla="val 25000"/>
              <a:gd name="adj3" fmla="val 2500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Seta Dobrada para Cima 19">
            <a:extLst>
              <a:ext uri="{FF2B5EF4-FFF2-40B4-BE49-F238E27FC236}">
                <a16:creationId xmlns:a16="http://schemas.microsoft.com/office/drawing/2014/main" id="{040E64AD-CA7A-D3E2-488E-4B434D734593}"/>
              </a:ext>
            </a:extLst>
          </p:cNvPr>
          <p:cNvSpPr/>
          <p:nvPr/>
        </p:nvSpPr>
        <p:spPr bwMode="auto">
          <a:xfrm>
            <a:off x="2956627" y="4924141"/>
            <a:ext cx="1013340" cy="524372"/>
          </a:xfrm>
          <a:prstGeom prst="bentUpArrow">
            <a:avLst>
              <a:gd name="adj1" fmla="val 15070"/>
              <a:gd name="adj2" fmla="val 25000"/>
              <a:gd name="adj3" fmla="val 2500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Seta Dobrada para Cima 20">
            <a:extLst>
              <a:ext uri="{FF2B5EF4-FFF2-40B4-BE49-F238E27FC236}">
                <a16:creationId xmlns:a16="http://schemas.microsoft.com/office/drawing/2014/main" id="{89E2D4B5-9A55-703A-0523-E45587BF4587}"/>
              </a:ext>
            </a:extLst>
          </p:cNvPr>
          <p:cNvSpPr/>
          <p:nvPr/>
        </p:nvSpPr>
        <p:spPr bwMode="auto">
          <a:xfrm>
            <a:off x="2984573" y="4883403"/>
            <a:ext cx="552960" cy="354642"/>
          </a:xfrm>
          <a:prstGeom prst="bentUpArrow">
            <a:avLst>
              <a:gd name="adj1" fmla="val 0"/>
              <a:gd name="adj2" fmla="val 25000"/>
              <a:gd name="adj3" fmla="val 2500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29" name="Picture 2">
            <a:extLst>
              <a:ext uri="{FF2B5EF4-FFF2-40B4-BE49-F238E27FC236}">
                <a16:creationId xmlns:a16="http://schemas.microsoft.com/office/drawing/2014/main" id="{543716C4-893A-3CA6-8B06-4F8B74BBF4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750" y="352425"/>
            <a:ext cx="8337550" cy="600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ítulo 1">
            <a:extLst>
              <a:ext uri="{FF2B5EF4-FFF2-40B4-BE49-F238E27FC236}">
                <a16:creationId xmlns:a16="http://schemas.microsoft.com/office/drawing/2014/main" id="{F8B08DCB-475A-BA4F-B6A7-2759FBE4D744}"/>
              </a:ext>
            </a:extLst>
          </p:cNvPr>
          <p:cNvSpPr txBox="1">
            <a:spLocks/>
          </p:cNvSpPr>
          <p:nvPr/>
        </p:nvSpPr>
        <p:spPr>
          <a:xfrm>
            <a:off x="1071563" y="714375"/>
            <a:ext cx="5286375" cy="1143000"/>
          </a:xfrm>
          <a:prstGeom prst="rect">
            <a:avLst/>
          </a:prstGeom>
        </p:spPr>
        <p:txBody>
          <a:bodyPr anchor="ctr">
            <a:normAutofit fontScale="7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4300" dirty="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Quantificação dos requisitos de projeto de produto</a:t>
            </a:r>
          </a:p>
        </p:txBody>
      </p:sp>
      <p:pic>
        <p:nvPicPr>
          <p:cNvPr id="49154" name="Picture 1">
            <a:extLst>
              <a:ext uri="{FF2B5EF4-FFF2-40B4-BE49-F238E27FC236}">
                <a16:creationId xmlns:a16="http://schemas.microsoft.com/office/drawing/2014/main" id="{8C0E6D13-9129-7D81-D39E-6F3445548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0" y="142875"/>
            <a:ext cx="2643188" cy="202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Elipse 34">
            <a:extLst>
              <a:ext uri="{FF2B5EF4-FFF2-40B4-BE49-F238E27FC236}">
                <a16:creationId xmlns:a16="http://schemas.microsoft.com/office/drawing/2014/main" id="{B6082D75-6D59-6E46-AFD5-1897B9103C3E}"/>
              </a:ext>
            </a:extLst>
          </p:cNvPr>
          <p:cNvSpPr/>
          <p:nvPr/>
        </p:nvSpPr>
        <p:spPr>
          <a:xfrm>
            <a:off x="7072313" y="1714500"/>
            <a:ext cx="1214437" cy="5715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endParaRPr lang="pt-BR"/>
          </a:p>
        </p:txBody>
      </p:sp>
      <p:sp>
        <p:nvSpPr>
          <p:cNvPr id="49156" name="CaixaDeTexto 35">
            <a:extLst>
              <a:ext uri="{FF2B5EF4-FFF2-40B4-BE49-F238E27FC236}">
                <a16:creationId xmlns:a16="http://schemas.microsoft.com/office/drawing/2014/main" id="{C54FDED2-4391-25DF-FBEA-248509479A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5875" y="4214813"/>
            <a:ext cx="1785938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400">
                <a:cs typeface="Arial" panose="020B0604020202020204" pitchFamily="34" charset="0"/>
              </a:rPr>
              <a:t>Baixo aquecimento</a:t>
            </a:r>
          </a:p>
        </p:txBody>
      </p:sp>
      <p:sp>
        <p:nvSpPr>
          <p:cNvPr id="49157" name="CaixaDeTexto 36">
            <a:extLst>
              <a:ext uri="{FF2B5EF4-FFF2-40B4-BE49-F238E27FC236}">
                <a16:creationId xmlns:a16="http://schemas.microsoft.com/office/drawing/2014/main" id="{754FC8DF-2CAC-44B0-A8B0-B46A415A5E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5875" y="4572000"/>
            <a:ext cx="1785938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400">
                <a:cs typeface="Arial" panose="020B0604020202020204" pitchFamily="34" charset="0"/>
              </a:rPr>
              <a:t>Baixo ruído</a:t>
            </a:r>
          </a:p>
        </p:txBody>
      </p:sp>
      <p:sp>
        <p:nvSpPr>
          <p:cNvPr id="49158" name="CaixaDeTexto 37">
            <a:extLst>
              <a:ext uri="{FF2B5EF4-FFF2-40B4-BE49-F238E27FC236}">
                <a16:creationId xmlns:a16="http://schemas.microsoft.com/office/drawing/2014/main" id="{DDC80B6F-106D-58CE-51B4-F6CD163FA7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5875" y="4929188"/>
            <a:ext cx="1785938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400">
                <a:cs typeface="Arial" panose="020B0604020202020204" pitchFamily="34" charset="0"/>
              </a:rPr>
              <a:t>Foco homogêneo</a:t>
            </a:r>
          </a:p>
        </p:txBody>
      </p:sp>
      <p:sp>
        <p:nvSpPr>
          <p:cNvPr id="49159" name="CaixaDeTexto 38">
            <a:extLst>
              <a:ext uri="{FF2B5EF4-FFF2-40B4-BE49-F238E27FC236}">
                <a16:creationId xmlns:a16="http://schemas.microsoft.com/office/drawing/2014/main" id="{8E3D63B1-1CAA-DD4C-9C66-98C6012C25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5875" y="5286375"/>
            <a:ext cx="1785938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400">
                <a:cs typeface="Arial" panose="020B0604020202020204" pitchFamily="34" charset="0"/>
              </a:rPr>
              <a:t>Fácil ajuste de foco</a:t>
            </a:r>
          </a:p>
        </p:txBody>
      </p:sp>
      <p:sp>
        <p:nvSpPr>
          <p:cNvPr id="49160" name="CaixaDeTexto 39">
            <a:extLst>
              <a:ext uri="{FF2B5EF4-FFF2-40B4-BE49-F238E27FC236}">
                <a16:creationId xmlns:a16="http://schemas.microsoft.com/office/drawing/2014/main" id="{39E0F4D8-7F8C-ACC1-DFDD-1EB34A783D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5875" y="5643563"/>
            <a:ext cx="1785938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400">
                <a:cs typeface="Arial" panose="020B0604020202020204" pitchFamily="34" charset="0"/>
              </a:rPr>
              <a:t>Boa ampliação</a:t>
            </a:r>
          </a:p>
        </p:txBody>
      </p:sp>
      <p:sp>
        <p:nvSpPr>
          <p:cNvPr id="49161" name="CaixaDeTexto 40">
            <a:extLst>
              <a:ext uri="{FF2B5EF4-FFF2-40B4-BE49-F238E27FC236}">
                <a16:creationId xmlns:a16="http://schemas.microsoft.com/office/drawing/2014/main" id="{3496A3E0-C853-C4DE-9492-2A5B22EC3493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2475707" y="3096419"/>
            <a:ext cx="1785937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400">
                <a:cs typeface="Arial" panose="020B0604020202020204" pitchFamily="34" charset="0"/>
              </a:rPr>
              <a:t>(-) peso limitado</a:t>
            </a:r>
          </a:p>
        </p:txBody>
      </p:sp>
      <p:sp>
        <p:nvSpPr>
          <p:cNvPr id="49162" name="CaixaDeTexto 41">
            <a:extLst>
              <a:ext uri="{FF2B5EF4-FFF2-40B4-BE49-F238E27FC236}">
                <a16:creationId xmlns:a16="http://schemas.microsoft.com/office/drawing/2014/main" id="{ED62C366-9936-35E7-EAE2-8BD8CB1D7188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2940844" y="2988469"/>
            <a:ext cx="1785937" cy="5238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400">
                <a:cs typeface="Arial" panose="020B0604020202020204" pitchFamily="34" charset="0"/>
              </a:rPr>
              <a:t>(-) Temperatura externa da carcaça</a:t>
            </a:r>
          </a:p>
        </p:txBody>
      </p:sp>
      <p:sp>
        <p:nvSpPr>
          <p:cNvPr id="49163" name="CaixaDeTexto 42">
            <a:extLst>
              <a:ext uri="{FF2B5EF4-FFF2-40B4-BE49-F238E27FC236}">
                <a16:creationId xmlns:a16="http://schemas.microsoft.com/office/drawing/2014/main" id="{BB9ACD28-4B68-B786-E1B5-D09FC4A6224B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3512344" y="2988469"/>
            <a:ext cx="1785937" cy="5238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400">
                <a:cs typeface="Arial" panose="020B0604020202020204" pitchFamily="34" charset="0"/>
              </a:rPr>
              <a:t>(-) inexistência de cantos vivos</a:t>
            </a:r>
          </a:p>
        </p:txBody>
      </p:sp>
      <p:sp>
        <p:nvSpPr>
          <p:cNvPr id="49164" name="CaixaDeTexto 43">
            <a:extLst>
              <a:ext uri="{FF2B5EF4-FFF2-40B4-BE49-F238E27FC236}">
                <a16:creationId xmlns:a16="http://schemas.microsoft.com/office/drawing/2014/main" id="{2C87C5FD-C048-90BE-8929-74E8106D187C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4012407" y="2988469"/>
            <a:ext cx="1785937" cy="5238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400">
                <a:cs typeface="Arial" panose="020B0604020202020204" pitchFamily="34" charset="0"/>
              </a:rPr>
              <a:t>(+) Conjunto de lentes adequado</a:t>
            </a:r>
          </a:p>
        </p:txBody>
      </p:sp>
      <p:sp>
        <p:nvSpPr>
          <p:cNvPr id="49165" name="CaixaDeTexto 44">
            <a:extLst>
              <a:ext uri="{FF2B5EF4-FFF2-40B4-BE49-F238E27FC236}">
                <a16:creationId xmlns:a16="http://schemas.microsoft.com/office/drawing/2014/main" id="{42B4E11E-98DE-7780-F922-44C0FA74C5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4688" y="4214813"/>
            <a:ext cx="285750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1400">
              <a:cs typeface="Arial" panose="020B0604020202020204" pitchFamily="34" charset="0"/>
            </a:endParaRPr>
          </a:p>
        </p:txBody>
      </p:sp>
      <p:sp>
        <p:nvSpPr>
          <p:cNvPr id="49166" name="CaixaDeTexto 45">
            <a:extLst>
              <a:ext uri="{FF2B5EF4-FFF2-40B4-BE49-F238E27FC236}">
                <a16:creationId xmlns:a16="http://schemas.microsoft.com/office/drawing/2014/main" id="{33AEEDE4-9F09-2279-7EAA-F661CC868F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75" y="4214813"/>
            <a:ext cx="500063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1400">
              <a:cs typeface="Arial" panose="020B0604020202020204" pitchFamily="34" charset="0"/>
            </a:endParaRPr>
          </a:p>
        </p:txBody>
      </p:sp>
      <p:sp>
        <p:nvSpPr>
          <p:cNvPr id="49167" name="CaixaDeTexto 46">
            <a:extLst>
              <a:ext uri="{FF2B5EF4-FFF2-40B4-BE49-F238E27FC236}">
                <a16:creationId xmlns:a16="http://schemas.microsoft.com/office/drawing/2014/main" id="{CF596EBE-1A0E-BAA4-ABBE-B65391E47D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3375" y="4214813"/>
            <a:ext cx="500063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1400">
              <a:cs typeface="Arial" panose="020B0604020202020204" pitchFamily="34" charset="0"/>
            </a:endParaRPr>
          </a:p>
        </p:txBody>
      </p:sp>
      <p:sp>
        <p:nvSpPr>
          <p:cNvPr id="49168" name="CaixaDeTexto 47">
            <a:extLst>
              <a:ext uri="{FF2B5EF4-FFF2-40B4-BE49-F238E27FC236}">
                <a16:creationId xmlns:a16="http://schemas.microsoft.com/office/drawing/2014/main" id="{D892795E-0829-C6E5-71A4-6CD0F45200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4875" y="4214813"/>
            <a:ext cx="500063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1400">
              <a:cs typeface="Arial" panose="020B0604020202020204" pitchFamily="34" charset="0"/>
            </a:endParaRPr>
          </a:p>
        </p:txBody>
      </p:sp>
      <p:sp>
        <p:nvSpPr>
          <p:cNvPr id="49169" name="CaixaDeTexto 48">
            <a:extLst>
              <a:ext uri="{FF2B5EF4-FFF2-40B4-BE49-F238E27FC236}">
                <a16:creationId xmlns:a16="http://schemas.microsoft.com/office/drawing/2014/main" id="{ED19A728-D554-9518-CB3B-45156769BA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4688" y="4572000"/>
            <a:ext cx="285750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1400">
              <a:cs typeface="Arial" panose="020B0604020202020204" pitchFamily="34" charset="0"/>
            </a:endParaRPr>
          </a:p>
        </p:txBody>
      </p:sp>
      <p:sp>
        <p:nvSpPr>
          <p:cNvPr id="49170" name="CaixaDeTexto 49">
            <a:extLst>
              <a:ext uri="{FF2B5EF4-FFF2-40B4-BE49-F238E27FC236}">
                <a16:creationId xmlns:a16="http://schemas.microsoft.com/office/drawing/2014/main" id="{A3CCD15B-ED19-7F73-8A0A-EA74492AF6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75" y="4572000"/>
            <a:ext cx="500063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1400">
              <a:cs typeface="Arial" panose="020B0604020202020204" pitchFamily="34" charset="0"/>
            </a:endParaRPr>
          </a:p>
        </p:txBody>
      </p:sp>
      <p:sp>
        <p:nvSpPr>
          <p:cNvPr id="49171" name="CaixaDeTexto 50">
            <a:extLst>
              <a:ext uri="{FF2B5EF4-FFF2-40B4-BE49-F238E27FC236}">
                <a16:creationId xmlns:a16="http://schemas.microsoft.com/office/drawing/2014/main" id="{A91B6F13-504C-2F74-C29D-DACD6B1AD6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3375" y="4572000"/>
            <a:ext cx="500063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1400">
              <a:cs typeface="Arial" panose="020B0604020202020204" pitchFamily="34" charset="0"/>
            </a:endParaRPr>
          </a:p>
        </p:txBody>
      </p:sp>
      <p:sp>
        <p:nvSpPr>
          <p:cNvPr id="49172" name="CaixaDeTexto 51">
            <a:extLst>
              <a:ext uri="{FF2B5EF4-FFF2-40B4-BE49-F238E27FC236}">
                <a16:creationId xmlns:a16="http://schemas.microsoft.com/office/drawing/2014/main" id="{356D0650-9EFC-578C-7BF3-61F104C875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4875" y="4572000"/>
            <a:ext cx="500063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1400">
              <a:cs typeface="Arial" panose="020B0604020202020204" pitchFamily="34" charset="0"/>
            </a:endParaRPr>
          </a:p>
        </p:txBody>
      </p:sp>
      <p:sp>
        <p:nvSpPr>
          <p:cNvPr id="49173" name="CaixaDeTexto 52">
            <a:extLst>
              <a:ext uri="{FF2B5EF4-FFF2-40B4-BE49-F238E27FC236}">
                <a16:creationId xmlns:a16="http://schemas.microsoft.com/office/drawing/2014/main" id="{E2769472-638C-36CB-B52F-1F2B46F1F6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4688" y="4929188"/>
            <a:ext cx="285750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1400">
              <a:cs typeface="Arial" panose="020B0604020202020204" pitchFamily="34" charset="0"/>
            </a:endParaRPr>
          </a:p>
        </p:txBody>
      </p:sp>
      <p:sp>
        <p:nvSpPr>
          <p:cNvPr id="49174" name="CaixaDeTexto 53">
            <a:extLst>
              <a:ext uri="{FF2B5EF4-FFF2-40B4-BE49-F238E27FC236}">
                <a16:creationId xmlns:a16="http://schemas.microsoft.com/office/drawing/2014/main" id="{B6D9FE23-7B9A-2425-997F-DF0139388C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75" y="4929188"/>
            <a:ext cx="500063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1400">
              <a:cs typeface="Arial" panose="020B0604020202020204" pitchFamily="34" charset="0"/>
            </a:endParaRPr>
          </a:p>
        </p:txBody>
      </p:sp>
      <p:sp>
        <p:nvSpPr>
          <p:cNvPr id="49175" name="CaixaDeTexto 54">
            <a:extLst>
              <a:ext uri="{FF2B5EF4-FFF2-40B4-BE49-F238E27FC236}">
                <a16:creationId xmlns:a16="http://schemas.microsoft.com/office/drawing/2014/main" id="{5F1AD8C4-371B-CDE9-F5C7-C0C86FCC2C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3375" y="4929188"/>
            <a:ext cx="500063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1400">
              <a:cs typeface="Arial" panose="020B0604020202020204" pitchFamily="34" charset="0"/>
            </a:endParaRPr>
          </a:p>
        </p:txBody>
      </p:sp>
      <p:sp>
        <p:nvSpPr>
          <p:cNvPr id="49176" name="CaixaDeTexto 55">
            <a:extLst>
              <a:ext uri="{FF2B5EF4-FFF2-40B4-BE49-F238E27FC236}">
                <a16:creationId xmlns:a16="http://schemas.microsoft.com/office/drawing/2014/main" id="{483F1406-BA59-DE0E-D86B-5FDAE385A8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4875" y="4929188"/>
            <a:ext cx="500063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1400">
              <a:cs typeface="Arial" panose="020B0604020202020204" pitchFamily="34" charset="0"/>
            </a:endParaRPr>
          </a:p>
        </p:txBody>
      </p:sp>
      <p:sp>
        <p:nvSpPr>
          <p:cNvPr id="49177" name="CaixaDeTexto 56">
            <a:extLst>
              <a:ext uri="{FF2B5EF4-FFF2-40B4-BE49-F238E27FC236}">
                <a16:creationId xmlns:a16="http://schemas.microsoft.com/office/drawing/2014/main" id="{74BEA652-408C-AEE4-A858-A3A1BC8826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4688" y="5286375"/>
            <a:ext cx="285750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1400">
              <a:cs typeface="Arial" panose="020B0604020202020204" pitchFamily="34" charset="0"/>
            </a:endParaRPr>
          </a:p>
        </p:txBody>
      </p:sp>
      <p:sp>
        <p:nvSpPr>
          <p:cNvPr id="49178" name="CaixaDeTexto 57">
            <a:extLst>
              <a:ext uri="{FF2B5EF4-FFF2-40B4-BE49-F238E27FC236}">
                <a16:creationId xmlns:a16="http://schemas.microsoft.com/office/drawing/2014/main" id="{A7A4D467-51EC-58E0-6BBF-3DAA724696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75" y="5286375"/>
            <a:ext cx="500063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1400">
              <a:cs typeface="Arial" panose="020B0604020202020204" pitchFamily="34" charset="0"/>
            </a:endParaRPr>
          </a:p>
        </p:txBody>
      </p:sp>
      <p:sp>
        <p:nvSpPr>
          <p:cNvPr id="49179" name="CaixaDeTexto 58">
            <a:extLst>
              <a:ext uri="{FF2B5EF4-FFF2-40B4-BE49-F238E27FC236}">
                <a16:creationId xmlns:a16="http://schemas.microsoft.com/office/drawing/2014/main" id="{6F9C4171-0703-C167-9268-DE5F01D941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3375" y="5286375"/>
            <a:ext cx="500063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1400">
              <a:cs typeface="Arial" panose="020B0604020202020204" pitchFamily="34" charset="0"/>
            </a:endParaRPr>
          </a:p>
        </p:txBody>
      </p:sp>
      <p:sp>
        <p:nvSpPr>
          <p:cNvPr id="49180" name="CaixaDeTexto 59">
            <a:extLst>
              <a:ext uri="{FF2B5EF4-FFF2-40B4-BE49-F238E27FC236}">
                <a16:creationId xmlns:a16="http://schemas.microsoft.com/office/drawing/2014/main" id="{F8F9E728-75B8-E95D-CCA5-70FF58D823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4875" y="5286375"/>
            <a:ext cx="500063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1400">
              <a:cs typeface="Arial" panose="020B0604020202020204" pitchFamily="34" charset="0"/>
            </a:endParaRPr>
          </a:p>
        </p:txBody>
      </p:sp>
      <p:sp>
        <p:nvSpPr>
          <p:cNvPr id="49181" name="CaixaDeTexto 60">
            <a:extLst>
              <a:ext uri="{FF2B5EF4-FFF2-40B4-BE49-F238E27FC236}">
                <a16:creationId xmlns:a16="http://schemas.microsoft.com/office/drawing/2014/main" id="{69C114A6-1C35-CE81-1FA3-EE074B1F2A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4688" y="5643563"/>
            <a:ext cx="285750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1400">
              <a:cs typeface="Arial" panose="020B0604020202020204" pitchFamily="34" charset="0"/>
            </a:endParaRPr>
          </a:p>
        </p:txBody>
      </p:sp>
      <p:sp>
        <p:nvSpPr>
          <p:cNvPr id="49182" name="CaixaDeTexto 61">
            <a:extLst>
              <a:ext uri="{FF2B5EF4-FFF2-40B4-BE49-F238E27FC236}">
                <a16:creationId xmlns:a16="http://schemas.microsoft.com/office/drawing/2014/main" id="{179C184C-EE3E-C99E-1F97-01066E2467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75" y="5643563"/>
            <a:ext cx="500063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1400">
              <a:cs typeface="Arial" panose="020B0604020202020204" pitchFamily="34" charset="0"/>
            </a:endParaRPr>
          </a:p>
        </p:txBody>
      </p:sp>
      <p:sp>
        <p:nvSpPr>
          <p:cNvPr id="49183" name="CaixaDeTexto 62">
            <a:extLst>
              <a:ext uri="{FF2B5EF4-FFF2-40B4-BE49-F238E27FC236}">
                <a16:creationId xmlns:a16="http://schemas.microsoft.com/office/drawing/2014/main" id="{216F88A4-4085-FF6C-C6BB-32451A3255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3375" y="5643563"/>
            <a:ext cx="500063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1400">
              <a:cs typeface="Arial" panose="020B0604020202020204" pitchFamily="34" charset="0"/>
            </a:endParaRPr>
          </a:p>
        </p:txBody>
      </p:sp>
      <p:sp>
        <p:nvSpPr>
          <p:cNvPr id="49184" name="CaixaDeTexto 63">
            <a:extLst>
              <a:ext uri="{FF2B5EF4-FFF2-40B4-BE49-F238E27FC236}">
                <a16:creationId xmlns:a16="http://schemas.microsoft.com/office/drawing/2014/main" id="{099CFDAF-D4AD-C002-C3D0-5BDC2ABD98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4875" y="5643563"/>
            <a:ext cx="500063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1400">
              <a:cs typeface="Arial" panose="020B0604020202020204" pitchFamily="34" charset="0"/>
            </a:endParaRPr>
          </a:p>
        </p:txBody>
      </p:sp>
      <p:sp>
        <p:nvSpPr>
          <p:cNvPr id="65" name="Multiplicar 64">
            <a:extLst>
              <a:ext uri="{FF2B5EF4-FFF2-40B4-BE49-F238E27FC236}">
                <a16:creationId xmlns:a16="http://schemas.microsoft.com/office/drawing/2014/main" id="{B723058B-13E9-F448-95FB-7D9D4A880420}"/>
              </a:ext>
            </a:extLst>
          </p:cNvPr>
          <p:cNvSpPr/>
          <p:nvPr/>
        </p:nvSpPr>
        <p:spPr>
          <a:xfrm>
            <a:off x="3143250" y="4214813"/>
            <a:ext cx="428625" cy="285750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endParaRPr lang="pt-BR"/>
          </a:p>
        </p:txBody>
      </p:sp>
      <p:sp>
        <p:nvSpPr>
          <p:cNvPr id="66" name="Multiplicar 65">
            <a:extLst>
              <a:ext uri="{FF2B5EF4-FFF2-40B4-BE49-F238E27FC236}">
                <a16:creationId xmlns:a16="http://schemas.microsoft.com/office/drawing/2014/main" id="{A54A5E09-3B43-DE4C-AF10-6C331DADA04F}"/>
              </a:ext>
            </a:extLst>
          </p:cNvPr>
          <p:cNvSpPr/>
          <p:nvPr/>
        </p:nvSpPr>
        <p:spPr>
          <a:xfrm>
            <a:off x="4143375" y="4214813"/>
            <a:ext cx="428625" cy="285750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endParaRPr lang="pt-BR"/>
          </a:p>
        </p:txBody>
      </p:sp>
      <p:sp>
        <p:nvSpPr>
          <p:cNvPr id="67" name="Multiplicar 66">
            <a:extLst>
              <a:ext uri="{FF2B5EF4-FFF2-40B4-BE49-F238E27FC236}">
                <a16:creationId xmlns:a16="http://schemas.microsoft.com/office/drawing/2014/main" id="{325D327A-9D60-AF4B-906F-87905DF81143}"/>
              </a:ext>
            </a:extLst>
          </p:cNvPr>
          <p:cNvSpPr/>
          <p:nvPr/>
        </p:nvSpPr>
        <p:spPr>
          <a:xfrm>
            <a:off x="3643313" y="4572000"/>
            <a:ext cx="428625" cy="285750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endParaRPr lang="pt-BR"/>
          </a:p>
        </p:txBody>
      </p:sp>
      <p:sp>
        <p:nvSpPr>
          <p:cNvPr id="68" name="Multiplicar 67">
            <a:extLst>
              <a:ext uri="{FF2B5EF4-FFF2-40B4-BE49-F238E27FC236}">
                <a16:creationId xmlns:a16="http://schemas.microsoft.com/office/drawing/2014/main" id="{9ADAF62D-8198-5544-982D-3280CB10F04E}"/>
              </a:ext>
            </a:extLst>
          </p:cNvPr>
          <p:cNvSpPr/>
          <p:nvPr/>
        </p:nvSpPr>
        <p:spPr>
          <a:xfrm>
            <a:off x="4214813" y="4572000"/>
            <a:ext cx="428625" cy="285750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endParaRPr lang="pt-BR"/>
          </a:p>
        </p:txBody>
      </p:sp>
      <p:sp>
        <p:nvSpPr>
          <p:cNvPr id="69" name="Multiplicar 68">
            <a:extLst>
              <a:ext uri="{FF2B5EF4-FFF2-40B4-BE49-F238E27FC236}">
                <a16:creationId xmlns:a16="http://schemas.microsoft.com/office/drawing/2014/main" id="{FB65BE4B-A260-FA4C-806D-47EA5287E504}"/>
              </a:ext>
            </a:extLst>
          </p:cNvPr>
          <p:cNvSpPr/>
          <p:nvPr/>
        </p:nvSpPr>
        <p:spPr>
          <a:xfrm>
            <a:off x="4786313" y="4572000"/>
            <a:ext cx="428625" cy="285750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endParaRPr lang="pt-BR"/>
          </a:p>
        </p:txBody>
      </p:sp>
      <p:sp>
        <p:nvSpPr>
          <p:cNvPr id="70" name="Multiplicar 69">
            <a:extLst>
              <a:ext uri="{FF2B5EF4-FFF2-40B4-BE49-F238E27FC236}">
                <a16:creationId xmlns:a16="http://schemas.microsoft.com/office/drawing/2014/main" id="{1A8B4036-368F-C84F-8212-A96985A5A701}"/>
              </a:ext>
            </a:extLst>
          </p:cNvPr>
          <p:cNvSpPr/>
          <p:nvPr/>
        </p:nvSpPr>
        <p:spPr>
          <a:xfrm>
            <a:off x="3143250" y="4929188"/>
            <a:ext cx="428625" cy="285750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endParaRPr lang="pt-BR"/>
          </a:p>
        </p:txBody>
      </p:sp>
      <p:sp>
        <p:nvSpPr>
          <p:cNvPr id="71" name="Multiplicar 70">
            <a:extLst>
              <a:ext uri="{FF2B5EF4-FFF2-40B4-BE49-F238E27FC236}">
                <a16:creationId xmlns:a16="http://schemas.microsoft.com/office/drawing/2014/main" id="{BC31A9AA-4339-0846-A36F-6B72238D469F}"/>
              </a:ext>
            </a:extLst>
          </p:cNvPr>
          <p:cNvSpPr/>
          <p:nvPr/>
        </p:nvSpPr>
        <p:spPr>
          <a:xfrm>
            <a:off x="4214813" y="5000625"/>
            <a:ext cx="428625" cy="285750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endParaRPr lang="pt-BR"/>
          </a:p>
        </p:txBody>
      </p:sp>
      <p:sp>
        <p:nvSpPr>
          <p:cNvPr id="72" name="Fluxograma: Somador 71">
            <a:extLst>
              <a:ext uri="{FF2B5EF4-FFF2-40B4-BE49-F238E27FC236}">
                <a16:creationId xmlns:a16="http://schemas.microsoft.com/office/drawing/2014/main" id="{BE3309AA-653A-B14B-8203-16B484B10557}"/>
              </a:ext>
            </a:extLst>
          </p:cNvPr>
          <p:cNvSpPr/>
          <p:nvPr/>
        </p:nvSpPr>
        <p:spPr>
          <a:xfrm>
            <a:off x="3714750" y="4214813"/>
            <a:ext cx="214313" cy="285750"/>
          </a:xfrm>
          <a:prstGeom prst="flowChartSummingJunc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endParaRPr lang="pt-BR"/>
          </a:p>
        </p:txBody>
      </p:sp>
      <p:sp>
        <p:nvSpPr>
          <p:cNvPr id="73" name="Fluxograma: Somador 72">
            <a:extLst>
              <a:ext uri="{FF2B5EF4-FFF2-40B4-BE49-F238E27FC236}">
                <a16:creationId xmlns:a16="http://schemas.microsoft.com/office/drawing/2014/main" id="{F7E7AEDE-0216-984F-9966-5239C5AFD99C}"/>
              </a:ext>
            </a:extLst>
          </p:cNvPr>
          <p:cNvSpPr/>
          <p:nvPr/>
        </p:nvSpPr>
        <p:spPr>
          <a:xfrm>
            <a:off x="4857750" y="5643563"/>
            <a:ext cx="214313" cy="285750"/>
          </a:xfrm>
          <a:prstGeom prst="flowChartSummingJunc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endParaRPr lang="pt-BR"/>
          </a:p>
        </p:txBody>
      </p:sp>
      <p:sp>
        <p:nvSpPr>
          <p:cNvPr id="74" name="Fluxograma: Extrair 73">
            <a:extLst>
              <a:ext uri="{FF2B5EF4-FFF2-40B4-BE49-F238E27FC236}">
                <a16:creationId xmlns:a16="http://schemas.microsoft.com/office/drawing/2014/main" id="{E25D9969-8F54-8B42-ABE8-0E7DD9274684}"/>
              </a:ext>
            </a:extLst>
          </p:cNvPr>
          <p:cNvSpPr/>
          <p:nvPr/>
        </p:nvSpPr>
        <p:spPr>
          <a:xfrm>
            <a:off x="4786313" y="4286250"/>
            <a:ext cx="357187" cy="214313"/>
          </a:xfrm>
          <a:prstGeom prst="flowChartExtra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endParaRPr lang="pt-BR"/>
          </a:p>
        </p:txBody>
      </p:sp>
      <p:sp>
        <p:nvSpPr>
          <p:cNvPr id="75" name="Fluxograma: Extrair 74">
            <a:extLst>
              <a:ext uri="{FF2B5EF4-FFF2-40B4-BE49-F238E27FC236}">
                <a16:creationId xmlns:a16="http://schemas.microsoft.com/office/drawing/2014/main" id="{4BF2F118-DCCF-FF47-A0A6-53AD6DD6BD16}"/>
              </a:ext>
            </a:extLst>
          </p:cNvPr>
          <p:cNvSpPr/>
          <p:nvPr/>
        </p:nvSpPr>
        <p:spPr>
          <a:xfrm>
            <a:off x="3214688" y="4643438"/>
            <a:ext cx="357187" cy="214312"/>
          </a:xfrm>
          <a:prstGeom prst="flowChartExtra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endParaRPr lang="pt-BR"/>
          </a:p>
        </p:txBody>
      </p:sp>
      <p:sp>
        <p:nvSpPr>
          <p:cNvPr id="76" name="Fluxograma: Extrair 75">
            <a:extLst>
              <a:ext uri="{FF2B5EF4-FFF2-40B4-BE49-F238E27FC236}">
                <a16:creationId xmlns:a16="http://schemas.microsoft.com/office/drawing/2014/main" id="{A191855D-4C6C-5749-B362-CBAD6813C04E}"/>
              </a:ext>
            </a:extLst>
          </p:cNvPr>
          <p:cNvSpPr/>
          <p:nvPr/>
        </p:nvSpPr>
        <p:spPr>
          <a:xfrm>
            <a:off x="3643313" y="5000625"/>
            <a:ext cx="357187" cy="214313"/>
          </a:xfrm>
          <a:prstGeom prst="flowChartExtra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endParaRPr lang="pt-BR"/>
          </a:p>
        </p:txBody>
      </p:sp>
      <p:sp>
        <p:nvSpPr>
          <p:cNvPr id="77" name="Fluxograma: Somador 76">
            <a:extLst>
              <a:ext uri="{FF2B5EF4-FFF2-40B4-BE49-F238E27FC236}">
                <a16:creationId xmlns:a16="http://schemas.microsoft.com/office/drawing/2014/main" id="{7245B5F7-95DB-EB4E-81E1-7BE8E88278DE}"/>
              </a:ext>
            </a:extLst>
          </p:cNvPr>
          <p:cNvSpPr/>
          <p:nvPr/>
        </p:nvSpPr>
        <p:spPr>
          <a:xfrm>
            <a:off x="4857750" y="4929188"/>
            <a:ext cx="214313" cy="285750"/>
          </a:xfrm>
          <a:prstGeom prst="flowChartSummingJunc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endParaRPr lang="pt-BR"/>
          </a:p>
        </p:txBody>
      </p:sp>
      <p:sp>
        <p:nvSpPr>
          <p:cNvPr id="78" name="Fluxograma: Extrair 77">
            <a:extLst>
              <a:ext uri="{FF2B5EF4-FFF2-40B4-BE49-F238E27FC236}">
                <a16:creationId xmlns:a16="http://schemas.microsoft.com/office/drawing/2014/main" id="{7E6E99DF-9041-FF40-A993-50287D5E9A0D}"/>
              </a:ext>
            </a:extLst>
          </p:cNvPr>
          <p:cNvSpPr/>
          <p:nvPr/>
        </p:nvSpPr>
        <p:spPr>
          <a:xfrm>
            <a:off x="3214688" y="5357813"/>
            <a:ext cx="357187" cy="214312"/>
          </a:xfrm>
          <a:prstGeom prst="flowChartExtra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endParaRPr lang="pt-BR"/>
          </a:p>
        </p:txBody>
      </p:sp>
      <p:sp>
        <p:nvSpPr>
          <p:cNvPr id="79" name="Multiplicar 78">
            <a:extLst>
              <a:ext uri="{FF2B5EF4-FFF2-40B4-BE49-F238E27FC236}">
                <a16:creationId xmlns:a16="http://schemas.microsoft.com/office/drawing/2014/main" id="{5C96EE1F-E43E-8D49-B8C2-CCE5B31B7136}"/>
              </a:ext>
            </a:extLst>
          </p:cNvPr>
          <p:cNvSpPr/>
          <p:nvPr/>
        </p:nvSpPr>
        <p:spPr>
          <a:xfrm>
            <a:off x="3643313" y="5286375"/>
            <a:ext cx="428625" cy="285750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endParaRPr lang="pt-BR"/>
          </a:p>
        </p:txBody>
      </p:sp>
      <p:sp>
        <p:nvSpPr>
          <p:cNvPr id="80" name="Fluxograma: Extrair 79">
            <a:extLst>
              <a:ext uri="{FF2B5EF4-FFF2-40B4-BE49-F238E27FC236}">
                <a16:creationId xmlns:a16="http://schemas.microsoft.com/office/drawing/2014/main" id="{4F6E7133-74BF-D24B-91C2-6A424AFC1AC8}"/>
              </a:ext>
            </a:extLst>
          </p:cNvPr>
          <p:cNvSpPr/>
          <p:nvPr/>
        </p:nvSpPr>
        <p:spPr>
          <a:xfrm>
            <a:off x="4214813" y="5286375"/>
            <a:ext cx="357187" cy="214313"/>
          </a:xfrm>
          <a:prstGeom prst="flowChartExtra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endParaRPr lang="pt-BR"/>
          </a:p>
        </p:txBody>
      </p:sp>
      <p:sp>
        <p:nvSpPr>
          <p:cNvPr id="81" name="Fluxograma: Conector 80">
            <a:extLst>
              <a:ext uri="{FF2B5EF4-FFF2-40B4-BE49-F238E27FC236}">
                <a16:creationId xmlns:a16="http://schemas.microsoft.com/office/drawing/2014/main" id="{2A7FC084-94C9-044D-9701-F69976CB3248}"/>
              </a:ext>
            </a:extLst>
          </p:cNvPr>
          <p:cNvSpPr/>
          <p:nvPr/>
        </p:nvSpPr>
        <p:spPr>
          <a:xfrm>
            <a:off x="4857750" y="5286375"/>
            <a:ext cx="285750" cy="285750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endParaRPr lang="pt-BR"/>
          </a:p>
        </p:txBody>
      </p:sp>
      <p:sp>
        <p:nvSpPr>
          <p:cNvPr id="82" name="Fluxograma: Extrair 81">
            <a:extLst>
              <a:ext uri="{FF2B5EF4-FFF2-40B4-BE49-F238E27FC236}">
                <a16:creationId xmlns:a16="http://schemas.microsoft.com/office/drawing/2014/main" id="{40D2795C-4B83-2545-8910-17BEA2A0455A}"/>
              </a:ext>
            </a:extLst>
          </p:cNvPr>
          <p:cNvSpPr/>
          <p:nvPr/>
        </p:nvSpPr>
        <p:spPr>
          <a:xfrm>
            <a:off x="3214688" y="5715000"/>
            <a:ext cx="357187" cy="214313"/>
          </a:xfrm>
          <a:prstGeom prst="flowChartExtra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endParaRPr lang="pt-BR"/>
          </a:p>
        </p:txBody>
      </p:sp>
      <p:sp>
        <p:nvSpPr>
          <p:cNvPr id="83" name="Multiplicar 82">
            <a:extLst>
              <a:ext uri="{FF2B5EF4-FFF2-40B4-BE49-F238E27FC236}">
                <a16:creationId xmlns:a16="http://schemas.microsoft.com/office/drawing/2014/main" id="{AEEC7D55-F425-E441-9B7F-C91E4580FF89}"/>
              </a:ext>
            </a:extLst>
          </p:cNvPr>
          <p:cNvSpPr/>
          <p:nvPr/>
        </p:nvSpPr>
        <p:spPr>
          <a:xfrm>
            <a:off x="3643313" y="5715000"/>
            <a:ext cx="428625" cy="285750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endParaRPr lang="pt-BR"/>
          </a:p>
        </p:txBody>
      </p:sp>
      <p:sp>
        <p:nvSpPr>
          <p:cNvPr id="84" name="Multiplicar 83">
            <a:extLst>
              <a:ext uri="{FF2B5EF4-FFF2-40B4-BE49-F238E27FC236}">
                <a16:creationId xmlns:a16="http://schemas.microsoft.com/office/drawing/2014/main" id="{577CEA67-E00B-054D-BEE6-470A09C37EBA}"/>
              </a:ext>
            </a:extLst>
          </p:cNvPr>
          <p:cNvSpPr/>
          <p:nvPr/>
        </p:nvSpPr>
        <p:spPr>
          <a:xfrm>
            <a:off x="4214813" y="5715000"/>
            <a:ext cx="428625" cy="285750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endParaRPr lang="pt-BR"/>
          </a:p>
        </p:txBody>
      </p:sp>
      <p:sp>
        <p:nvSpPr>
          <p:cNvPr id="49205" name="CaixaDeTexto 84">
            <a:extLst>
              <a:ext uri="{FF2B5EF4-FFF2-40B4-BE49-F238E27FC236}">
                <a16:creationId xmlns:a16="http://schemas.microsoft.com/office/drawing/2014/main" id="{0B104083-66F2-59DE-B37F-10F771F37A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4688" y="1785938"/>
            <a:ext cx="2000250" cy="5238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400">
                <a:cs typeface="Arial" panose="020B0604020202020204" pitchFamily="34" charset="0"/>
              </a:rPr>
              <a:t>REQUISITOS DE PROJETO</a:t>
            </a:r>
          </a:p>
        </p:txBody>
      </p:sp>
      <p:sp>
        <p:nvSpPr>
          <p:cNvPr id="49206" name="CaixaDeTexto 85">
            <a:extLst>
              <a:ext uri="{FF2B5EF4-FFF2-40B4-BE49-F238E27FC236}">
                <a16:creationId xmlns:a16="http://schemas.microsoft.com/office/drawing/2014/main" id="{117B4335-9C52-CA17-D517-02FD83FF1A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3571875"/>
            <a:ext cx="2000250" cy="5238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400">
                <a:cs typeface="Arial" panose="020B0604020202020204" pitchFamily="34" charset="0"/>
              </a:rPr>
              <a:t>REQUISITOS DOS CLIENTES </a:t>
            </a:r>
          </a:p>
        </p:txBody>
      </p:sp>
      <p:sp>
        <p:nvSpPr>
          <p:cNvPr id="49207" name="CaixaDeTexto 86">
            <a:extLst>
              <a:ext uri="{FF2B5EF4-FFF2-40B4-BE49-F238E27FC236}">
                <a16:creationId xmlns:a16="http://schemas.microsoft.com/office/drawing/2014/main" id="{885664C8-059C-D18F-C7AD-C309506EFB5C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4368801" y="2846387"/>
            <a:ext cx="2286000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400">
                <a:cs typeface="Arial" panose="020B0604020202020204" pitchFamily="34" charset="0"/>
              </a:rPr>
              <a:t>Valor de importância</a:t>
            </a:r>
          </a:p>
        </p:txBody>
      </p:sp>
      <p:sp>
        <p:nvSpPr>
          <p:cNvPr id="49208" name="CaixaDeTexto 87">
            <a:extLst>
              <a:ext uri="{FF2B5EF4-FFF2-40B4-BE49-F238E27FC236}">
                <a16:creationId xmlns:a16="http://schemas.microsoft.com/office/drawing/2014/main" id="{346D51A7-AAE8-8DFA-C38F-2AB68D8476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7813" y="4214813"/>
            <a:ext cx="357187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400">
                <a:cs typeface="Arial" panose="020B0604020202020204" pitchFamily="34" charset="0"/>
              </a:rPr>
              <a:t>4</a:t>
            </a:r>
          </a:p>
        </p:txBody>
      </p:sp>
      <p:sp>
        <p:nvSpPr>
          <p:cNvPr id="49209" name="CaixaDeTexto 88">
            <a:extLst>
              <a:ext uri="{FF2B5EF4-FFF2-40B4-BE49-F238E27FC236}">
                <a16:creationId xmlns:a16="http://schemas.microsoft.com/office/drawing/2014/main" id="{19A50DB0-12D6-20E4-49FF-F7FBEECFE1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7813" y="4643438"/>
            <a:ext cx="357187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400">
                <a:cs typeface="Arial" panose="020B0604020202020204" pitchFamily="34" charset="0"/>
              </a:rPr>
              <a:t>4</a:t>
            </a:r>
          </a:p>
        </p:txBody>
      </p:sp>
      <p:sp>
        <p:nvSpPr>
          <p:cNvPr id="49210" name="CaixaDeTexto 89">
            <a:extLst>
              <a:ext uri="{FF2B5EF4-FFF2-40B4-BE49-F238E27FC236}">
                <a16:creationId xmlns:a16="http://schemas.microsoft.com/office/drawing/2014/main" id="{797AAE35-56A1-688C-2050-24D106F7FF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7813" y="5000625"/>
            <a:ext cx="357187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400">
                <a:cs typeface="Arial" panose="020B0604020202020204" pitchFamily="34" charset="0"/>
              </a:rPr>
              <a:t>5</a:t>
            </a:r>
          </a:p>
        </p:txBody>
      </p:sp>
      <p:sp>
        <p:nvSpPr>
          <p:cNvPr id="49211" name="CaixaDeTexto 90">
            <a:extLst>
              <a:ext uri="{FF2B5EF4-FFF2-40B4-BE49-F238E27FC236}">
                <a16:creationId xmlns:a16="http://schemas.microsoft.com/office/drawing/2014/main" id="{DC30AEB5-7CE7-BD52-98D4-64A4474715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7813" y="5357813"/>
            <a:ext cx="357187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400">
                <a:cs typeface="Arial" panose="020B0604020202020204" pitchFamily="34" charset="0"/>
              </a:rPr>
              <a:t>3</a:t>
            </a:r>
          </a:p>
        </p:txBody>
      </p:sp>
      <p:sp>
        <p:nvSpPr>
          <p:cNvPr id="49212" name="CaixaDeTexto 91">
            <a:extLst>
              <a:ext uri="{FF2B5EF4-FFF2-40B4-BE49-F238E27FC236}">
                <a16:creationId xmlns:a16="http://schemas.microsoft.com/office/drawing/2014/main" id="{BF1C3A52-E149-E6B6-5B6D-572082E3E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7813" y="5715000"/>
            <a:ext cx="357187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400">
                <a:cs typeface="Arial" panose="020B0604020202020204" pitchFamily="34" charset="0"/>
              </a:rPr>
              <a:t>5</a:t>
            </a:r>
          </a:p>
        </p:txBody>
      </p:sp>
      <p:sp>
        <p:nvSpPr>
          <p:cNvPr id="49213" name="CaixaDeTexto 92">
            <a:extLst>
              <a:ext uri="{FF2B5EF4-FFF2-40B4-BE49-F238E27FC236}">
                <a16:creationId xmlns:a16="http://schemas.microsoft.com/office/drawing/2014/main" id="{FEDE200E-8E7C-D622-8E92-10D9361AAD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6072188"/>
            <a:ext cx="2357438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400">
                <a:cs typeface="Arial" panose="020B0604020202020204" pitchFamily="34" charset="0"/>
              </a:rPr>
              <a:t>Valor de importância</a:t>
            </a:r>
          </a:p>
        </p:txBody>
      </p:sp>
      <p:sp>
        <p:nvSpPr>
          <p:cNvPr id="49214" name="CaixaDeTexto 93">
            <a:extLst>
              <a:ext uri="{FF2B5EF4-FFF2-40B4-BE49-F238E27FC236}">
                <a16:creationId xmlns:a16="http://schemas.microsoft.com/office/drawing/2014/main" id="{B2403C15-2517-002F-431D-3879002371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4688" y="6072188"/>
            <a:ext cx="357187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400">
                <a:cs typeface="Arial" panose="020B0604020202020204" pitchFamily="34" charset="0"/>
              </a:rPr>
              <a:t>9</a:t>
            </a:r>
          </a:p>
        </p:txBody>
      </p:sp>
      <p:sp>
        <p:nvSpPr>
          <p:cNvPr id="49215" name="CaixaDeTexto 94">
            <a:extLst>
              <a:ext uri="{FF2B5EF4-FFF2-40B4-BE49-F238E27FC236}">
                <a16:creationId xmlns:a16="http://schemas.microsoft.com/office/drawing/2014/main" id="{990FB5E1-E484-D63C-4418-73AC5C3A01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3313" y="6072188"/>
            <a:ext cx="500062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400">
                <a:cs typeface="Arial" panose="020B0604020202020204" pitchFamily="34" charset="0"/>
              </a:rPr>
              <a:t>25</a:t>
            </a:r>
          </a:p>
        </p:txBody>
      </p:sp>
      <p:sp>
        <p:nvSpPr>
          <p:cNvPr id="49216" name="CaixaDeTexto 95">
            <a:extLst>
              <a:ext uri="{FF2B5EF4-FFF2-40B4-BE49-F238E27FC236}">
                <a16:creationId xmlns:a16="http://schemas.microsoft.com/office/drawing/2014/main" id="{727F2D21-8F27-70CA-C499-8CBCD38D2F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4813" y="6072188"/>
            <a:ext cx="357187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400">
                <a:cs typeface="Arial" panose="020B0604020202020204" pitchFamily="34" charset="0"/>
              </a:rPr>
              <a:t>3</a:t>
            </a:r>
          </a:p>
        </p:txBody>
      </p:sp>
      <p:sp>
        <p:nvSpPr>
          <p:cNvPr id="49217" name="CaixaDeTexto 96">
            <a:extLst>
              <a:ext uri="{FF2B5EF4-FFF2-40B4-BE49-F238E27FC236}">
                <a16:creationId xmlns:a16="http://schemas.microsoft.com/office/drawing/2014/main" id="{E60863B2-1FE7-1733-BF4C-C08A350BE6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4875" y="6072188"/>
            <a:ext cx="500063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400">
                <a:cs typeface="Arial" panose="020B0604020202020204" pitchFamily="34" charset="0"/>
              </a:rPr>
              <a:t>63</a:t>
            </a:r>
          </a:p>
        </p:txBody>
      </p:sp>
      <p:sp>
        <p:nvSpPr>
          <p:cNvPr id="49218" name="CaixaDeTexto 97">
            <a:extLst>
              <a:ext uri="{FF2B5EF4-FFF2-40B4-BE49-F238E27FC236}">
                <a16:creationId xmlns:a16="http://schemas.microsoft.com/office/drawing/2014/main" id="{1E3F1070-0DD2-5C8E-A6F7-3CB2FA3804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2188" y="2643188"/>
            <a:ext cx="250031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/>
              <a:t>Conjunto de lentes adequado</a:t>
            </a:r>
          </a:p>
        </p:txBody>
      </p:sp>
      <p:sp>
        <p:nvSpPr>
          <p:cNvPr id="49219" name="CaixaDeTexto 99">
            <a:extLst>
              <a:ext uri="{FF2B5EF4-FFF2-40B4-BE49-F238E27FC236}">
                <a16:creationId xmlns:a16="http://schemas.microsoft.com/office/drawing/2014/main" id="{E3CF1581-4525-215F-FFB6-A7D98975A7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9313" y="3357563"/>
            <a:ext cx="271462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/>
              <a:t>RP = 4X1 + 4X0 + 5X5 +3X3+5X5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/>
              <a:t>RP = 63 </a:t>
            </a:r>
          </a:p>
        </p:txBody>
      </p:sp>
      <p:sp>
        <p:nvSpPr>
          <p:cNvPr id="49220" name="CaixaDeTexto 100">
            <a:extLst>
              <a:ext uri="{FF2B5EF4-FFF2-40B4-BE49-F238E27FC236}">
                <a16:creationId xmlns:a16="http://schemas.microsoft.com/office/drawing/2014/main" id="{8BFA796D-40DD-0B51-040F-0D489404EC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6429375"/>
            <a:ext cx="2357438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400">
                <a:cs typeface="Arial" panose="020B0604020202020204" pitchFamily="34" charset="0"/>
              </a:rPr>
              <a:t>Classificação importância</a:t>
            </a:r>
          </a:p>
        </p:txBody>
      </p:sp>
      <p:sp>
        <p:nvSpPr>
          <p:cNvPr id="49221" name="CaixaDeTexto 101">
            <a:extLst>
              <a:ext uri="{FF2B5EF4-FFF2-40B4-BE49-F238E27FC236}">
                <a16:creationId xmlns:a16="http://schemas.microsoft.com/office/drawing/2014/main" id="{C94231D9-7551-57F9-5EE5-EE9C9BDDEE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4688" y="6429375"/>
            <a:ext cx="357187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400">
                <a:cs typeface="Arial" panose="020B0604020202020204" pitchFamily="34" charset="0"/>
              </a:rPr>
              <a:t>3</a:t>
            </a:r>
          </a:p>
        </p:txBody>
      </p:sp>
      <p:sp>
        <p:nvSpPr>
          <p:cNvPr id="49222" name="CaixaDeTexto 102">
            <a:extLst>
              <a:ext uri="{FF2B5EF4-FFF2-40B4-BE49-F238E27FC236}">
                <a16:creationId xmlns:a16="http://schemas.microsoft.com/office/drawing/2014/main" id="{E47D4B68-076E-7E75-AC8A-B3FC006815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3313" y="6429375"/>
            <a:ext cx="500062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400">
                <a:cs typeface="Arial" panose="020B0604020202020204" pitchFamily="34" charset="0"/>
              </a:rPr>
              <a:t>2</a:t>
            </a:r>
          </a:p>
        </p:txBody>
      </p:sp>
      <p:sp>
        <p:nvSpPr>
          <p:cNvPr id="49223" name="CaixaDeTexto 103">
            <a:extLst>
              <a:ext uri="{FF2B5EF4-FFF2-40B4-BE49-F238E27FC236}">
                <a16:creationId xmlns:a16="http://schemas.microsoft.com/office/drawing/2014/main" id="{65D04537-7424-29D1-165A-F6496BAC25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4813" y="6429375"/>
            <a:ext cx="357187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400">
                <a:cs typeface="Arial" panose="020B0604020202020204" pitchFamily="34" charset="0"/>
              </a:rPr>
              <a:t>4</a:t>
            </a:r>
          </a:p>
        </p:txBody>
      </p:sp>
      <p:sp>
        <p:nvSpPr>
          <p:cNvPr id="49224" name="CaixaDeTexto 104">
            <a:extLst>
              <a:ext uri="{FF2B5EF4-FFF2-40B4-BE49-F238E27FC236}">
                <a16:creationId xmlns:a16="http://schemas.microsoft.com/office/drawing/2014/main" id="{9B1E4CA9-5140-F07A-1FC1-9E358143C2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4875" y="6429375"/>
            <a:ext cx="500063" cy="307975"/>
          </a:xfrm>
          <a:prstGeom prst="rect">
            <a:avLst/>
          </a:prstGeom>
          <a:noFill/>
          <a:ln w="6350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1400">
                <a:cs typeface="Arial" panose="020B0604020202020204" pitchFamily="34" charset="0"/>
              </a:rPr>
              <a:t>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7" name="Picture 2">
            <a:extLst>
              <a:ext uri="{FF2B5EF4-FFF2-40B4-BE49-F238E27FC236}">
                <a16:creationId xmlns:a16="http://schemas.microsoft.com/office/drawing/2014/main" id="{973A70F6-0A96-69E7-88CF-5502107EAA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25" y="376238"/>
            <a:ext cx="8210550" cy="610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Título 1">
            <a:extLst>
              <a:ext uri="{FF2B5EF4-FFF2-40B4-BE49-F238E27FC236}">
                <a16:creationId xmlns:a16="http://schemas.microsoft.com/office/drawing/2014/main" id="{0330B8AB-2BD8-48AF-43A6-3085D5C9CD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4825" y="625475"/>
            <a:ext cx="5072063" cy="1143000"/>
          </a:xfrm>
        </p:spPr>
        <p:txBody>
          <a:bodyPr/>
          <a:lstStyle/>
          <a:p>
            <a:r>
              <a:rPr lang="pt-BR" altLang="pt-BR"/>
              <a:t>BENCHMARKING COMPETITIVO</a:t>
            </a:r>
          </a:p>
        </p:txBody>
      </p:sp>
      <p:sp>
        <p:nvSpPr>
          <p:cNvPr id="51202" name="CaixaDeTexto 42">
            <a:extLst>
              <a:ext uri="{FF2B5EF4-FFF2-40B4-BE49-F238E27FC236}">
                <a16:creationId xmlns:a16="http://schemas.microsoft.com/office/drawing/2014/main" id="{CAC1F772-3778-330A-2659-F95D4B0D83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6150" y="2087563"/>
            <a:ext cx="74295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400">
                <a:cs typeface="Arial" panose="020B0604020202020204" pitchFamily="34" charset="0"/>
              </a:rPr>
              <a:t>Ouvindo o cliente compara-se os requisitos em relação ao </a:t>
            </a:r>
            <a:r>
              <a:rPr lang="pt-BR" altLang="pt-BR" sz="2400" b="1">
                <a:cs typeface="Arial" panose="020B0604020202020204" pitchFamily="34" charset="0"/>
              </a:rPr>
              <a:t>desempenho </a:t>
            </a:r>
            <a:r>
              <a:rPr lang="pt-BR" altLang="pt-BR" sz="2400">
                <a:cs typeface="Arial" panose="020B0604020202020204" pitchFamily="34" charset="0"/>
              </a:rPr>
              <a:t>dos produtos existentes no mercado </a:t>
            </a:r>
          </a:p>
        </p:txBody>
      </p:sp>
      <p:sp>
        <p:nvSpPr>
          <p:cNvPr id="51203" name="CaixaDeTexto 43">
            <a:extLst>
              <a:ext uri="{FF2B5EF4-FFF2-40B4-BE49-F238E27FC236}">
                <a16:creationId xmlns:a16="http://schemas.microsoft.com/office/drawing/2014/main" id="{754B7B5F-6605-3C26-36A0-50D58E4D10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000500"/>
            <a:ext cx="75723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/>
              <a:t>MARCA X</a:t>
            </a:r>
          </a:p>
        </p:txBody>
      </p:sp>
      <p:sp>
        <p:nvSpPr>
          <p:cNvPr id="51204" name="CaixaDeTexto 44">
            <a:extLst>
              <a:ext uri="{FF2B5EF4-FFF2-40B4-BE49-F238E27FC236}">
                <a16:creationId xmlns:a16="http://schemas.microsoft.com/office/drawing/2014/main" id="{BEED8A7D-3BDD-1BAC-E01A-6E842B91C7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4625" y="4000500"/>
            <a:ext cx="428625" cy="369888"/>
          </a:xfrm>
          <a:prstGeom prst="rect">
            <a:avLst/>
          </a:prstGeom>
          <a:noFill/>
          <a:ln w="9525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>
                <a:cs typeface="Arial" panose="020B0604020202020204" pitchFamily="34" charset="0"/>
              </a:rPr>
              <a:t>1 </a:t>
            </a:r>
          </a:p>
        </p:txBody>
      </p:sp>
      <p:sp>
        <p:nvSpPr>
          <p:cNvPr id="51205" name="CaixaDeTexto 47">
            <a:extLst>
              <a:ext uri="{FF2B5EF4-FFF2-40B4-BE49-F238E27FC236}">
                <a16:creationId xmlns:a16="http://schemas.microsoft.com/office/drawing/2014/main" id="{F8AA8A68-6B3C-FD1A-1060-8A1EEA9C00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1250" y="3643313"/>
            <a:ext cx="127635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/>
              <a:t>péssimo</a:t>
            </a:r>
          </a:p>
        </p:txBody>
      </p:sp>
      <p:sp>
        <p:nvSpPr>
          <p:cNvPr id="51206" name="CaixaDeTexto 48">
            <a:extLst>
              <a:ext uri="{FF2B5EF4-FFF2-40B4-BE49-F238E27FC236}">
                <a16:creationId xmlns:a16="http://schemas.microsoft.com/office/drawing/2014/main" id="{3E39917B-868A-9A76-0A52-3BE20CB8C3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4000500"/>
            <a:ext cx="428625" cy="369888"/>
          </a:xfrm>
          <a:prstGeom prst="rect">
            <a:avLst/>
          </a:prstGeom>
          <a:noFill/>
          <a:ln w="9525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>
                <a:cs typeface="Arial" panose="020B0604020202020204" pitchFamily="34" charset="0"/>
              </a:rPr>
              <a:t>2 </a:t>
            </a:r>
          </a:p>
        </p:txBody>
      </p:sp>
      <p:sp>
        <p:nvSpPr>
          <p:cNvPr id="51207" name="CaixaDeTexto 49">
            <a:extLst>
              <a:ext uri="{FF2B5EF4-FFF2-40B4-BE49-F238E27FC236}">
                <a16:creationId xmlns:a16="http://schemas.microsoft.com/office/drawing/2014/main" id="{26FFDBC7-CCE2-2EBF-0822-455C4CE76D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4750" y="3643313"/>
            <a:ext cx="10715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/>
              <a:t>Ruim</a:t>
            </a:r>
          </a:p>
        </p:txBody>
      </p:sp>
      <p:sp>
        <p:nvSpPr>
          <p:cNvPr id="51208" name="CaixaDeTexto 50">
            <a:extLst>
              <a:ext uri="{FF2B5EF4-FFF2-40B4-BE49-F238E27FC236}">
                <a16:creationId xmlns:a16="http://schemas.microsoft.com/office/drawing/2014/main" id="{7ED3CACB-9881-0C19-2A43-A844AF1DAA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9188" y="4000500"/>
            <a:ext cx="428625" cy="369888"/>
          </a:xfrm>
          <a:prstGeom prst="rect">
            <a:avLst/>
          </a:prstGeom>
          <a:noFill/>
          <a:ln w="9525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>
                <a:cs typeface="Arial" panose="020B0604020202020204" pitchFamily="34" charset="0"/>
              </a:rPr>
              <a:t>3 </a:t>
            </a:r>
          </a:p>
        </p:txBody>
      </p:sp>
      <p:sp>
        <p:nvSpPr>
          <p:cNvPr id="51209" name="CaixaDeTexto 51">
            <a:extLst>
              <a:ext uri="{FF2B5EF4-FFF2-40B4-BE49-F238E27FC236}">
                <a16:creationId xmlns:a16="http://schemas.microsoft.com/office/drawing/2014/main" id="{C531F064-F6FA-563B-8FD5-B4AD76A515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438" y="3643313"/>
            <a:ext cx="1220787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/>
              <a:t>Regular </a:t>
            </a:r>
          </a:p>
        </p:txBody>
      </p:sp>
      <p:sp>
        <p:nvSpPr>
          <p:cNvPr id="51210" name="CaixaDeTexto 54">
            <a:extLst>
              <a:ext uri="{FF2B5EF4-FFF2-40B4-BE49-F238E27FC236}">
                <a16:creationId xmlns:a16="http://schemas.microsoft.com/office/drawing/2014/main" id="{CD1C57D3-0DDE-6824-8C09-D4A2B67BA8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0750" y="4000500"/>
            <a:ext cx="428625" cy="369888"/>
          </a:xfrm>
          <a:prstGeom prst="rect">
            <a:avLst/>
          </a:prstGeom>
          <a:noFill/>
          <a:ln w="9525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>
                <a:cs typeface="Arial" panose="020B0604020202020204" pitchFamily="34" charset="0"/>
              </a:rPr>
              <a:t>4 </a:t>
            </a:r>
          </a:p>
        </p:txBody>
      </p:sp>
      <p:sp>
        <p:nvSpPr>
          <p:cNvPr id="51211" name="CaixaDeTexto 55">
            <a:extLst>
              <a:ext uri="{FF2B5EF4-FFF2-40B4-BE49-F238E27FC236}">
                <a16:creationId xmlns:a16="http://schemas.microsoft.com/office/drawing/2014/main" id="{2C247660-36F3-E763-FF7F-3B8FF48C68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7875" y="3643313"/>
            <a:ext cx="10715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/>
              <a:t>Bom</a:t>
            </a:r>
          </a:p>
        </p:txBody>
      </p:sp>
      <p:sp>
        <p:nvSpPr>
          <p:cNvPr id="51212" name="CaixaDeTexto 56">
            <a:extLst>
              <a:ext uri="{FF2B5EF4-FFF2-40B4-BE49-F238E27FC236}">
                <a16:creationId xmlns:a16="http://schemas.microsoft.com/office/drawing/2014/main" id="{422DB0A5-CA35-B609-B67C-EAC349D25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2313" y="4000500"/>
            <a:ext cx="428625" cy="369888"/>
          </a:xfrm>
          <a:prstGeom prst="rect">
            <a:avLst/>
          </a:prstGeom>
          <a:noFill/>
          <a:ln w="9525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>
                <a:cs typeface="Arial" panose="020B0604020202020204" pitchFamily="34" charset="0"/>
              </a:rPr>
              <a:t>5 </a:t>
            </a:r>
          </a:p>
        </p:txBody>
      </p:sp>
      <p:sp>
        <p:nvSpPr>
          <p:cNvPr id="51213" name="CaixaDeTexto 57">
            <a:extLst>
              <a:ext uri="{FF2B5EF4-FFF2-40B4-BE49-F238E27FC236}">
                <a16:creationId xmlns:a16="http://schemas.microsoft.com/office/drawing/2014/main" id="{2D6F5167-F262-47E4-E095-B72AE826BD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3643313"/>
            <a:ext cx="10715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/>
              <a:t>Ótimo</a:t>
            </a:r>
          </a:p>
        </p:txBody>
      </p:sp>
      <p:sp>
        <p:nvSpPr>
          <p:cNvPr id="51214" name="CaixaDeTexto 58">
            <a:extLst>
              <a:ext uri="{FF2B5EF4-FFF2-40B4-BE49-F238E27FC236}">
                <a16:creationId xmlns:a16="http://schemas.microsoft.com/office/drawing/2014/main" id="{0673A32D-2D58-5F46-80F9-120BCC0ADA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500563"/>
            <a:ext cx="75723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/>
              <a:t>MARCA Y</a:t>
            </a:r>
          </a:p>
        </p:txBody>
      </p:sp>
      <p:sp>
        <p:nvSpPr>
          <p:cNvPr id="51215" name="CaixaDeTexto 59">
            <a:extLst>
              <a:ext uri="{FF2B5EF4-FFF2-40B4-BE49-F238E27FC236}">
                <a16:creationId xmlns:a16="http://schemas.microsoft.com/office/drawing/2014/main" id="{2C9898D0-AA55-6F56-CA82-8AAF114E9A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4625" y="4500563"/>
            <a:ext cx="428625" cy="369887"/>
          </a:xfrm>
          <a:prstGeom prst="rect">
            <a:avLst/>
          </a:prstGeom>
          <a:noFill/>
          <a:ln w="9525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>
                <a:cs typeface="Arial" panose="020B0604020202020204" pitchFamily="34" charset="0"/>
              </a:rPr>
              <a:t>1 </a:t>
            </a:r>
          </a:p>
        </p:txBody>
      </p:sp>
      <p:sp>
        <p:nvSpPr>
          <p:cNvPr id="51216" name="CaixaDeTexto 60">
            <a:extLst>
              <a:ext uri="{FF2B5EF4-FFF2-40B4-BE49-F238E27FC236}">
                <a16:creationId xmlns:a16="http://schemas.microsoft.com/office/drawing/2014/main" id="{CF922181-895B-2723-C93F-9634ECABF2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4500563"/>
            <a:ext cx="428625" cy="369887"/>
          </a:xfrm>
          <a:prstGeom prst="rect">
            <a:avLst/>
          </a:prstGeom>
          <a:noFill/>
          <a:ln w="9525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>
                <a:cs typeface="Arial" panose="020B0604020202020204" pitchFamily="34" charset="0"/>
              </a:rPr>
              <a:t>2 </a:t>
            </a:r>
          </a:p>
        </p:txBody>
      </p:sp>
      <p:sp>
        <p:nvSpPr>
          <p:cNvPr id="51217" name="CaixaDeTexto 61">
            <a:extLst>
              <a:ext uri="{FF2B5EF4-FFF2-40B4-BE49-F238E27FC236}">
                <a16:creationId xmlns:a16="http://schemas.microsoft.com/office/drawing/2014/main" id="{0CA584EB-2D2F-E241-C229-D2C5C826C4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9188" y="4500563"/>
            <a:ext cx="428625" cy="369887"/>
          </a:xfrm>
          <a:prstGeom prst="rect">
            <a:avLst/>
          </a:prstGeom>
          <a:noFill/>
          <a:ln w="9525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>
                <a:cs typeface="Arial" panose="020B0604020202020204" pitchFamily="34" charset="0"/>
              </a:rPr>
              <a:t>3 </a:t>
            </a:r>
          </a:p>
        </p:txBody>
      </p:sp>
      <p:sp>
        <p:nvSpPr>
          <p:cNvPr id="51218" name="CaixaDeTexto 62">
            <a:extLst>
              <a:ext uri="{FF2B5EF4-FFF2-40B4-BE49-F238E27FC236}">
                <a16:creationId xmlns:a16="http://schemas.microsoft.com/office/drawing/2014/main" id="{20537ED2-27DC-84E6-55EA-25ABFC04CD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0750" y="4500563"/>
            <a:ext cx="428625" cy="369887"/>
          </a:xfrm>
          <a:prstGeom prst="rect">
            <a:avLst/>
          </a:prstGeom>
          <a:noFill/>
          <a:ln w="9525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>
                <a:cs typeface="Arial" panose="020B0604020202020204" pitchFamily="34" charset="0"/>
              </a:rPr>
              <a:t>4 </a:t>
            </a:r>
          </a:p>
        </p:txBody>
      </p:sp>
      <p:sp>
        <p:nvSpPr>
          <p:cNvPr id="51219" name="CaixaDeTexto 63">
            <a:extLst>
              <a:ext uri="{FF2B5EF4-FFF2-40B4-BE49-F238E27FC236}">
                <a16:creationId xmlns:a16="http://schemas.microsoft.com/office/drawing/2014/main" id="{435E0903-DCB7-D26A-A76A-726F701D1B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2313" y="4500563"/>
            <a:ext cx="428625" cy="369887"/>
          </a:xfrm>
          <a:prstGeom prst="rect">
            <a:avLst/>
          </a:prstGeom>
          <a:noFill/>
          <a:ln w="9525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>
                <a:cs typeface="Arial" panose="020B0604020202020204" pitchFamily="34" charset="0"/>
              </a:rPr>
              <a:t>5 </a:t>
            </a:r>
          </a:p>
        </p:txBody>
      </p:sp>
      <p:sp>
        <p:nvSpPr>
          <p:cNvPr id="51220" name="CaixaDeTexto 64">
            <a:extLst>
              <a:ext uri="{FF2B5EF4-FFF2-40B4-BE49-F238E27FC236}">
                <a16:creationId xmlns:a16="http://schemas.microsoft.com/office/drawing/2014/main" id="{81B4F6C3-5D5A-7D81-60C4-A0A10386B8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5072063"/>
            <a:ext cx="75723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/>
              <a:t>MARCA Z</a:t>
            </a:r>
          </a:p>
        </p:txBody>
      </p:sp>
      <p:sp>
        <p:nvSpPr>
          <p:cNvPr id="51221" name="CaixaDeTexto 65">
            <a:extLst>
              <a:ext uri="{FF2B5EF4-FFF2-40B4-BE49-F238E27FC236}">
                <a16:creationId xmlns:a16="http://schemas.microsoft.com/office/drawing/2014/main" id="{657EF72B-E1E8-DCB5-C749-E4C8414DAD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4625" y="5072063"/>
            <a:ext cx="428625" cy="369887"/>
          </a:xfrm>
          <a:prstGeom prst="rect">
            <a:avLst/>
          </a:prstGeom>
          <a:noFill/>
          <a:ln w="9525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>
                <a:cs typeface="Arial" panose="020B0604020202020204" pitchFamily="34" charset="0"/>
              </a:rPr>
              <a:t>1 </a:t>
            </a:r>
          </a:p>
        </p:txBody>
      </p:sp>
      <p:sp>
        <p:nvSpPr>
          <p:cNvPr id="51222" name="CaixaDeTexto 66">
            <a:extLst>
              <a:ext uri="{FF2B5EF4-FFF2-40B4-BE49-F238E27FC236}">
                <a16:creationId xmlns:a16="http://schemas.microsoft.com/office/drawing/2014/main" id="{532B635F-4A49-6580-14F9-59FFC65CF2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072063"/>
            <a:ext cx="428625" cy="369887"/>
          </a:xfrm>
          <a:prstGeom prst="rect">
            <a:avLst/>
          </a:prstGeom>
          <a:noFill/>
          <a:ln w="9525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>
                <a:cs typeface="Arial" panose="020B0604020202020204" pitchFamily="34" charset="0"/>
              </a:rPr>
              <a:t>2 </a:t>
            </a:r>
          </a:p>
        </p:txBody>
      </p:sp>
      <p:sp>
        <p:nvSpPr>
          <p:cNvPr id="51223" name="CaixaDeTexto 67">
            <a:extLst>
              <a:ext uri="{FF2B5EF4-FFF2-40B4-BE49-F238E27FC236}">
                <a16:creationId xmlns:a16="http://schemas.microsoft.com/office/drawing/2014/main" id="{EBC349C5-9BA1-D3BB-C635-DC9B021A7D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9188" y="5072063"/>
            <a:ext cx="428625" cy="369887"/>
          </a:xfrm>
          <a:prstGeom prst="rect">
            <a:avLst/>
          </a:prstGeom>
          <a:noFill/>
          <a:ln w="9525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>
                <a:cs typeface="Arial" panose="020B0604020202020204" pitchFamily="34" charset="0"/>
              </a:rPr>
              <a:t>3 </a:t>
            </a:r>
          </a:p>
        </p:txBody>
      </p:sp>
      <p:sp>
        <p:nvSpPr>
          <p:cNvPr id="51224" name="CaixaDeTexto 68">
            <a:extLst>
              <a:ext uri="{FF2B5EF4-FFF2-40B4-BE49-F238E27FC236}">
                <a16:creationId xmlns:a16="http://schemas.microsoft.com/office/drawing/2014/main" id="{A6447268-4C92-9060-83E7-B61B7BD40E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0750" y="5072063"/>
            <a:ext cx="428625" cy="369887"/>
          </a:xfrm>
          <a:prstGeom prst="rect">
            <a:avLst/>
          </a:prstGeom>
          <a:noFill/>
          <a:ln w="9525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>
                <a:cs typeface="Arial" panose="020B0604020202020204" pitchFamily="34" charset="0"/>
              </a:rPr>
              <a:t>4 </a:t>
            </a:r>
          </a:p>
        </p:txBody>
      </p:sp>
      <p:sp>
        <p:nvSpPr>
          <p:cNvPr id="51225" name="CaixaDeTexto 69">
            <a:extLst>
              <a:ext uri="{FF2B5EF4-FFF2-40B4-BE49-F238E27FC236}">
                <a16:creationId xmlns:a16="http://schemas.microsoft.com/office/drawing/2014/main" id="{3309B39B-2ACA-AF83-85FB-4ADE0B64A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2313" y="5072063"/>
            <a:ext cx="428625" cy="369887"/>
          </a:xfrm>
          <a:prstGeom prst="rect">
            <a:avLst/>
          </a:prstGeom>
          <a:noFill/>
          <a:ln w="9525">
            <a:solidFill>
              <a:srgbClr val="0020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>
                <a:cs typeface="Arial" panose="020B0604020202020204" pitchFamily="34" charset="0"/>
              </a:rPr>
              <a:t>5 </a:t>
            </a:r>
          </a:p>
        </p:txBody>
      </p:sp>
      <p:cxnSp>
        <p:nvCxnSpPr>
          <p:cNvPr id="78" name="Conector de seta reta 77">
            <a:extLst>
              <a:ext uri="{FF2B5EF4-FFF2-40B4-BE49-F238E27FC236}">
                <a16:creationId xmlns:a16="http://schemas.microsoft.com/office/drawing/2014/main" id="{8A0F0DB8-3E81-AF4C-9918-F75F1A8019FE}"/>
              </a:ext>
            </a:extLst>
          </p:cNvPr>
          <p:cNvCxnSpPr/>
          <p:nvPr/>
        </p:nvCxnSpPr>
        <p:spPr>
          <a:xfrm>
            <a:off x="6746875" y="5684838"/>
            <a:ext cx="857250" cy="1587"/>
          </a:xfrm>
          <a:prstGeom prst="straightConnector1">
            <a:avLst/>
          </a:prstGeom>
          <a:ln w="571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 de seta reta 79">
            <a:extLst>
              <a:ext uri="{FF2B5EF4-FFF2-40B4-BE49-F238E27FC236}">
                <a16:creationId xmlns:a16="http://schemas.microsoft.com/office/drawing/2014/main" id="{B31D97DA-9A4A-AC4B-B985-460793551E04}"/>
              </a:ext>
            </a:extLst>
          </p:cNvPr>
          <p:cNvCxnSpPr/>
          <p:nvPr/>
        </p:nvCxnSpPr>
        <p:spPr>
          <a:xfrm rot="10800000">
            <a:off x="2509838" y="5716588"/>
            <a:ext cx="714375" cy="1587"/>
          </a:xfrm>
          <a:prstGeom prst="straightConnector1">
            <a:avLst/>
          </a:prstGeom>
          <a:ln w="571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228" name="CaixaDeTexto 83">
            <a:extLst>
              <a:ext uri="{FF2B5EF4-FFF2-40B4-BE49-F238E27FC236}">
                <a16:creationId xmlns:a16="http://schemas.microsoft.com/office/drawing/2014/main" id="{8A9FE7E3-2BB9-6009-096D-5512C0E4A0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7725" y="5826125"/>
            <a:ext cx="1857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 b="1">
                <a:solidFill>
                  <a:srgbClr val="FF0000"/>
                </a:solidFill>
              </a:rPr>
              <a:t>MELHOR </a:t>
            </a:r>
          </a:p>
        </p:txBody>
      </p:sp>
      <p:sp>
        <p:nvSpPr>
          <p:cNvPr id="51229" name="CaixaDeTexto 84">
            <a:extLst>
              <a:ext uri="{FF2B5EF4-FFF2-40B4-BE49-F238E27FC236}">
                <a16:creationId xmlns:a16="http://schemas.microsoft.com/office/drawing/2014/main" id="{1A2AC4C6-7DD8-2112-8660-5779AD568A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5921375"/>
            <a:ext cx="1857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 b="1">
                <a:solidFill>
                  <a:srgbClr val="FF0000"/>
                </a:solidFill>
              </a:rPr>
              <a:t>PIOR </a:t>
            </a:r>
          </a:p>
        </p:txBody>
      </p:sp>
      <p:pic>
        <p:nvPicPr>
          <p:cNvPr id="51230" name="Picture 1">
            <a:extLst>
              <a:ext uri="{FF2B5EF4-FFF2-40B4-BE49-F238E27FC236}">
                <a16:creationId xmlns:a16="http://schemas.microsoft.com/office/drawing/2014/main" id="{5EE9304E-A1B0-937A-DA27-A0A73BD4ED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3625" y="0"/>
            <a:ext cx="2643188" cy="202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" name="Elipse 86">
            <a:extLst>
              <a:ext uri="{FF2B5EF4-FFF2-40B4-BE49-F238E27FC236}">
                <a16:creationId xmlns:a16="http://schemas.microsoft.com/office/drawing/2014/main" id="{A3163C34-6093-3F40-AB60-DB09342B1841}"/>
              </a:ext>
            </a:extLst>
          </p:cNvPr>
          <p:cNvSpPr/>
          <p:nvPr/>
        </p:nvSpPr>
        <p:spPr>
          <a:xfrm>
            <a:off x="8072438" y="642938"/>
            <a:ext cx="785812" cy="12858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80000"/>
              </a:lnSpc>
              <a:defRPr/>
            </a:pPr>
            <a:endParaRPr lang="pt-B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5" name="Imagem 3">
            <a:extLst>
              <a:ext uri="{FF2B5EF4-FFF2-40B4-BE49-F238E27FC236}">
                <a16:creationId xmlns:a16="http://schemas.microsoft.com/office/drawing/2014/main" id="{F9581CE5-B88F-B5BF-B20C-ACE5D78E85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Título 1">
            <a:extLst>
              <a:ext uri="{FF2B5EF4-FFF2-40B4-BE49-F238E27FC236}">
                <a16:creationId xmlns:a16="http://schemas.microsoft.com/office/drawing/2014/main" id="{8FF758C3-5545-04F5-1129-EF1FDEFB15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53250" name="Imagem 3">
            <a:extLst>
              <a:ext uri="{FF2B5EF4-FFF2-40B4-BE49-F238E27FC236}">
                <a16:creationId xmlns:a16="http://schemas.microsoft.com/office/drawing/2014/main" id="{FA86C2D8-BBCE-390E-94AC-EC30B17EF2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ítulo 1">
            <a:extLst>
              <a:ext uri="{FF2B5EF4-FFF2-40B4-BE49-F238E27FC236}">
                <a16:creationId xmlns:a16="http://schemas.microsoft.com/office/drawing/2014/main" id="{40717405-71FD-863B-D183-0DE9253541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54274" name="Imagem 4">
            <a:extLst>
              <a:ext uri="{FF2B5EF4-FFF2-40B4-BE49-F238E27FC236}">
                <a16:creationId xmlns:a16="http://schemas.microsoft.com/office/drawing/2014/main" id="{86479254-C1BA-EBAF-23CE-94CF2D285A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7" name="Imagem 3">
            <a:extLst>
              <a:ext uri="{FF2B5EF4-FFF2-40B4-BE49-F238E27FC236}">
                <a16:creationId xmlns:a16="http://schemas.microsoft.com/office/drawing/2014/main" id="{27DE879F-A329-CBF6-3286-E649FD41FD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850" y="0"/>
            <a:ext cx="69723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298" name="Retângulo 4">
            <a:extLst>
              <a:ext uri="{FF2B5EF4-FFF2-40B4-BE49-F238E27FC236}">
                <a16:creationId xmlns:a16="http://schemas.microsoft.com/office/drawing/2014/main" id="{14FC0A5D-DE1B-D921-0D41-52897605BC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875" y="252413"/>
            <a:ext cx="311785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100" i="1">
                <a:solidFill>
                  <a:srgbClr val="5E5E5E"/>
                </a:solidFill>
              </a:rPr>
              <a:t>Fonte: MARTINS, Petrônio G.; LAUGENI. Fernando P. </a:t>
            </a:r>
            <a:r>
              <a:rPr lang="pt-BR" altLang="pt-BR" sz="1100" b="1" i="1">
                <a:solidFill>
                  <a:srgbClr val="5E5E5E"/>
                </a:solidFill>
              </a:rPr>
              <a:t>Administração da Produção.</a:t>
            </a:r>
            <a:r>
              <a:rPr lang="pt-BR" altLang="pt-BR" sz="1100" i="1">
                <a:solidFill>
                  <a:srgbClr val="5E5E5E"/>
                </a:solidFill>
              </a:rPr>
              <a:t> São Paulo : Saraiva, 5ª Ed., 2005.</a:t>
            </a:r>
            <a:endParaRPr lang="pt-BR" altLang="pt-BR"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321" name="Grupo 1">
            <a:extLst>
              <a:ext uri="{FF2B5EF4-FFF2-40B4-BE49-F238E27FC236}">
                <a16:creationId xmlns:a16="http://schemas.microsoft.com/office/drawing/2014/main" id="{E760EC83-7BDE-1614-FA3C-462B9AEB8A1F}"/>
              </a:ext>
            </a:extLst>
          </p:cNvPr>
          <p:cNvGrpSpPr>
            <a:grpSpLocks/>
          </p:cNvGrpSpPr>
          <p:nvPr/>
        </p:nvGrpSpPr>
        <p:grpSpPr bwMode="auto">
          <a:xfrm>
            <a:off x="3629025" y="369888"/>
            <a:ext cx="2368550" cy="1084262"/>
            <a:chOff x="4714876" y="4143380"/>
            <a:chExt cx="4214842" cy="1928826"/>
          </a:xfrm>
        </p:grpSpPr>
        <p:sp>
          <p:nvSpPr>
            <p:cNvPr id="3" name="Pergaminho vertical 2">
              <a:extLst>
                <a:ext uri="{FF2B5EF4-FFF2-40B4-BE49-F238E27FC236}">
                  <a16:creationId xmlns:a16="http://schemas.microsoft.com/office/drawing/2014/main" id="{DE20963F-7560-4946-A594-9C6DF0CBDCFF}"/>
                </a:ext>
              </a:extLst>
            </p:cNvPr>
            <p:cNvSpPr/>
            <p:nvPr/>
          </p:nvSpPr>
          <p:spPr>
            <a:xfrm>
              <a:off x="4714876" y="4143380"/>
              <a:ext cx="4214842" cy="1928826"/>
            </a:xfrm>
            <a:prstGeom prst="verticalScroll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pt-BR" sz="900"/>
            </a:p>
          </p:txBody>
        </p:sp>
        <p:pic>
          <p:nvPicPr>
            <p:cNvPr id="56325" name="Picture 8" descr="Untitled-2">
              <a:extLst>
                <a:ext uri="{FF2B5EF4-FFF2-40B4-BE49-F238E27FC236}">
                  <a16:creationId xmlns:a16="http://schemas.microsoft.com/office/drawing/2014/main" id="{EDA722B1-0FC2-C488-8BEB-4D882BC4E7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13480" y="4896890"/>
              <a:ext cx="3459048" cy="9610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6326" name="CaixaDeTexto 7">
              <a:extLst>
                <a:ext uri="{FF2B5EF4-FFF2-40B4-BE49-F238E27FC236}">
                  <a16:creationId xmlns:a16="http://schemas.microsoft.com/office/drawing/2014/main" id="{0D68D9E3-B7ED-98BA-14D2-703FA4649B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9706" y="4508200"/>
              <a:ext cx="3214710" cy="465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100">
                  <a:latin typeface="Calibri" panose="020F0502020204030204" pitchFamily="34" charset="0"/>
                </a:rPr>
                <a:t>Lista de Especificações-Meta</a:t>
              </a:r>
            </a:p>
          </p:txBody>
        </p:sp>
      </p:grpSp>
      <p:graphicFrame>
        <p:nvGraphicFramePr>
          <p:cNvPr id="56322" name="Object 3">
            <a:extLst>
              <a:ext uri="{FF2B5EF4-FFF2-40B4-BE49-F238E27FC236}">
                <a16:creationId xmlns:a16="http://schemas.microsoft.com/office/drawing/2014/main" id="{350DA0D9-C005-A960-F8E7-61914FBE2D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1325" y="1811338"/>
          <a:ext cx="8418513" cy="5046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igura" r:id="rId3" imgW="18364200" imgH="13042900" progId="Word.Picture.8">
                  <p:embed/>
                </p:oleObj>
              </mc:Choice>
              <mc:Fallback>
                <p:oleObj name="Figura" r:id="rId3" imgW="18364200" imgH="13042900" progId="Word.Picture.8">
                  <p:embed/>
                  <p:pic>
                    <p:nvPicPr>
                      <p:cNvPr id="56322" name="Object 3">
                        <a:extLst>
                          <a:ext uri="{FF2B5EF4-FFF2-40B4-BE49-F238E27FC236}">
                            <a16:creationId xmlns:a16="http://schemas.microsoft.com/office/drawing/2014/main" id="{350DA0D9-C005-A960-F8E7-61914FBE2D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309" t="2307" r="1146" b="6691"/>
                      <a:stretch>
                        <a:fillRect/>
                      </a:stretch>
                    </p:blipFill>
                    <p:spPr bwMode="auto">
                      <a:xfrm>
                        <a:off x="441325" y="1811338"/>
                        <a:ext cx="8418513" cy="5046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6323" name="Picture 4" descr="Untitled-4">
            <a:extLst>
              <a:ext uri="{FF2B5EF4-FFF2-40B4-BE49-F238E27FC236}">
                <a16:creationId xmlns:a16="http://schemas.microsoft.com/office/drawing/2014/main" id="{704B5C35-2B49-A51B-58C8-C381F32503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275" y="-381000"/>
            <a:ext cx="1571625" cy="2271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5" name="Imagem 1">
            <a:extLst>
              <a:ext uri="{FF2B5EF4-FFF2-40B4-BE49-F238E27FC236}">
                <a16:creationId xmlns:a16="http://schemas.microsoft.com/office/drawing/2014/main" id="{639B2BA7-D986-9D7C-F089-CE11DFA518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1336675"/>
            <a:ext cx="8424863" cy="442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144659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4D345F48-A10A-394F-99A8-6AD6EB3AD6FB}"/>
              </a:ext>
            </a:extLst>
          </p:cNvPr>
          <p:cNvSpPr txBox="1"/>
          <p:nvPr/>
        </p:nvSpPr>
        <p:spPr>
          <a:xfrm>
            <a:off x="402452" y="1158414"/>
            <a:ext cx="8485961" cy="5144422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pt-BR" b="1" dirty="0">
                <a:solidFill>
                  <a:srgbClr val="002060"/>
                </a:solidFill>
                <a:latin typeface="Arial" charset="0"/>
              </a:rPr>
              <a:t>CUIDADOS NA REDA</a:t>
            </a:r>
            <a:r>
              <a:rPr lang="en-US" b="1" dirty="0">
                <a:solidFill>
                  <a:srgbClr val="002060"/>
                </a:solidFill>
                <a:latin typeface="Arial" charset="0"/>
              </a:rPr>
              <a:t>ÇÃO DAS ESPECIFICAÇÕES (HOOKS, 1993).</a:t>
            </a:r>
          </a:p>
          <a:p>
            <a:pPr marL="342900" indent="-342900">
              <a:lnSpc>
                <a:spcPct val="80000"/>
              </a:lnSpc>
              <a:buFont typeface="Wingdings" charset="2"/>
              <a:buChar char="ü"/>
              <a:defRPr/>
            </a:pPr>
            <a:endParaRPr lang="en-US" dirty="0">
              <a:latin typeface="Arial" charset="0"/>
            </a:endParaRPr>
          </a:p>
          <a:p>
            <a:pPr marL="342900" indent="-342900">
              <a:lnSpc>
                <a:spcPct val="150000"/>
              </a:lnSpc>
              <a:buFont typeface="Wingdings" charset="2"/>
              <a:buChar char="ü"/>
              <a:defRPr/>
            </a:pPr>
            <a:r>
              <a:rPr lang="en-US" dirty="0" err="1">
                <a:latin typeface="Arial"/>
                <a:cs typeface="Arial"/>
              </a:rPr>
              <a:t>Evitar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superposições</a:t>
            </a:r>
            <a:r>
              <a:rPr lang="en-US" dirty="0">
                <a:latin typeface="Arial"/>
                <a:cs typeface="Arial"/>
              </a:rPr>
              <a:t> ruins </a:t>
            </a:r>
            <a:r>
              <a:rPr lang="en-US" dirty="0" err="1">
                <a:latin typeface="Arial"/>
                <a:cs typeface="Arial"/>
              </a:rPr>
              <a:t>ou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erradas</a:t>
            </a:r>
            <a:r>
              <a:rPr lang="en-US" dirty="0">
                <a:latin typeface="Arial"/>
                <a:cs typeface="Arial"/>
              </a:rPr>
              <a:t>;</a:t>
            </a:r>
          </a:p>
          <a:p>
            <a:pPr marL="342900" indent="-342900">
              <a:lnSpc>
                <a:spcPct val="150000"/>
              </a:lnSpc>
              <a:buFont typeface="Wingdings" charset="2"/>
              <a:buChar char="ü"/>
              <a:defRPr/>
            </a:pPr>
            <a:r>
              <a:rPr lang="en-US" dirty="0" err="1">
                <a:latin typeface="Arial"/>
                <a:cs typeface="Arial"/>
              </a:rPr>
              <a:t>Redigir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requisitos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ou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especificações</a:t>
            </a:r>
            <a:r>
              <a:rPr lang="en-US" dirty="0">
                <a:latin typeface="Arial"/>
                <a:cs typeface="Arial"/>
              </a:rPr>
              <a:t> (o que </a:t>
            </a:r>
            <a:r>
              <a:rPr lang="en-US" dirty="0" err="1">
                <a:latin typeface="Arial"/>
                <a:cs typeface="Arial"/>
              </a:rPr>
              <a:t>fazer</a:t>
            </a:r>
            <a:r>
              <a:rPr lang="en-US" dirty="0">
                <a:latin typeface="Arial"/>
                <a:cs typeface="Arial"/>
              </a:rPr>
              <a:t>) e </a:t>
            </a:r>
            <a:r>
              <a:rPr lang="en-US" b="1" dirty="0" err="1">
                <a:latin typeface="Arial"/>
                <a:cs typeface="Arial"/>
              </a:rPr>
              <a:t>não</a:t>
            </a:r>
            <a:r>
              <a:rPr lang="en-US" b="1" dirty="0">
                <a:latin typeface="Arial"/>
                <a:cs typeface="Arial"/>
              </a:rPr>
              <a:t> </a:t>
            </a:r>
            <a:r>
              <a:rPr lang="en-US" b="1" dirty="0" err="1">
                <a:latin typeface="Arial"/>
                <a:cs typeface="Arial"/>
              </a:rPr>
              <a:t>formas</a:t>
            </a:r>
            <a:r>
              <a:rPr lang="en-US" b="1" dirty="0">
                <a:latin typeface="Arial"/>
                <a:cs typeface="Arial"/>
              </a:rPr>
              <a:t> de </a:t>
            </a:r>
            <a:r>
              <a:rPr lang="en-US" b="1" dirty="0" err="1">
                <a:latin typeface="Arial"/>
                <a:cs typeface="Arial"/>
              </a:rPr>
              <a:t>implementar</a:t>
            </a:r>
            <a:r>
              <a:rPr lang="en-US" b="1" dirty="0">
                <a:latin typeface="Arial"/>
                <a:cs typeface="Arial"/>
              </a:rPr>
              <a:t> (</a:t>
            </a:r>
            <a:r>
              <a:rPr lang="en-US" b="1" dirty="0" err="1">
                <a:latin typeface="Arial"/>
                <a:cs typeface="Arial"/>
              </a:rPr>
              <a:t>como</a:t>
            </a:r>
            <a:r>
              <a:rPr lang="en-US" b="1" dirty="0">
                <a:latin typeface="Arial"/>
                <a:cs typeface="Arial"/>
              </a:rPr>
              <a:t> </a:t>
            </a:r>
            <a:r>
              <a:rPr lang="en-US" b="1" dirty="0" err="1">
                <a:latin typeface="Arial"/>
                <a:cs typeface="Arial"/>
              </a:rPr>
              <a:t>fazer</a:t>
            </a:r>
            <a:r>
              <a:rPr lang="en-US" b="1" dirty="0">
                <a:latin typeface="Arial"/>
                <a:cs typeface="Arial"/>
              </a:rPr>
              <a:t>);</a:t>
            </a:r>
          </a:p>
          <a:p>
            <a:pPr marL="342900" indent="-342900">
              <a:lnSpc>
                <a:spcPct val="150000"/>
              </a:lnSpc>
              <a:buFont typeface="Wingdings" charset="2"/>
              <a:buChar char="ü"/>
              <a:defRPr/>
            </a:pPr>
            <a:r>
              <a:rPr lang="en-US" dirty="0" err="1">
                <a:latin typeface="Arial"/>
                <a:cs typeface="Arial"/>
              </a:rPr>
              <a:t>Descrever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especificações</a:t>
            </a:r>
            <a:r>
              <a:rPr lang="en-US" dirty="0">
                <a:latin typeface="Arial"/>
                <a:cs typeface="Arial"/>
              </a:rPr>
              <a:t> e </a:t>
            </a:r>
            <a:r>
              <a:rPr lang="en-US" dirty="0" err="1">
                <a:latin typeface="Arial"/>
                <a:cs typeface="Arial"/>
              </a:rPr>
              <a:t>não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operações</a:t>
            </a:r>
            <a:r>
              <a:rPr lang="en-US" dirty="0">
                <a:latin typeface="Arial"/>
                <a:cs typeface="Arial"/>
              </a:rPr>
              <a:t> do </a:t>
            </a:r>
            <a:r>
              <a:rPr lang="en-US" dirty="0" err="1">
                <a:latin typeface="Arial"/>
                <a:cs typeface="Arial"/>
              </a:rPr>
              <a:t>produto</a:t>
            </a:r>
            <a:r>
              <a:rPr lang="en-US" dirty="0">
                <a:latin typeface="Arial"/>
                <a:cs typeface="Arial"/>
              </a:rPr>
              <a:t> a ser </a:t>
            </a:r>
            <a:r>
              <a:rPr lang="en-US" dirty="0" err="1">
                <a:latin typeface="Arial"/>
                <a:cs typeface="Arial"/>
              </a:rPr>
              <a:t>desenvolvido</a:t>
            </a:r>
            <a:r>
              <a:rPr lang="en-US" dirty="0">
                <a:latin typeface="Arial"/>
                <a:cs typeface="Arial"/>
              </a:rPr>
              <a:t>;</a:t>
            </a:r>
          </a:p>
          <a:p>
            <a:pPr marL="342900" indent="-342900">
              <a:lnSpc>
                <a:spcPct val="150000"/>
              </a:lnSpc>
              <a:buFont typeface="Wingdings" charset="2"/>
              <a:buChar char="ü"/>
              <a:defRPr/>
            </a:pPr>
            <a:r>
              <a:rPr lang="en-US" dirty="0" err="1">
                <a:latin typeface="Arial" charset="0"/>
              </a:rPr>
              <a:t>Adotar</a:t>
            </a:r>
            <a:r>
              <a:rPr lang="en-US" dirty="0">
                <a:latin typeface="Arial" charset="0"/>
              </a:rPr>
              <a:t> </a:t>
            </a:r>
            <a:r>
              <a:rPr lang="en-US" dirty="0" err="1">
                <a:latin typeface="Arial" charset="0"/>
              </a:rPr>
              <a:t>termos</a:t>
            </a:r>
            <a:r>
              <a:rPr lang="en-US" dirty="0">
                <a:latin typeface="Arial" charset="0"/>
              </a:rPr>
              <a:t> </a:t>
            </a:r>
            <a:r>
              <a:rPr lang="en-US" dirty="0" err="1">
                <a:latin typeface="Arial" charset="0"/>
              </a:rPr>
              <a:t>preciso</a:t>
            </a:r>
            <a:r>
              <a:rPr lang="en-US" dirty="0">
                <a:latin typeface="Arial" charset="0"/>
              </a:rPr>
              <a:t> e com </a:t>
            </a:r>
            <a:r>
              <a:rPr lang="en-US" dirty="0" err="1">
                <a:latin typeface="Arial" charset="0"/>
              </a:rPr>
              <a:t>sentidos</a:t>
            </a:r>
            <a:r>
              <a:rPr lang="en-US" dirty="0">
                <a:latin typeface="Arial" charset="0"/>
              </a:rPr>
              <a:t> </a:t>
            </a:r>
            <a:r>
              <a:rPr lang="en-US" dirty="0" err="1">
                <a:latin typeface="Arial" charset="0"/>
              </a:rPr>
              <a:t>positivos</a:t>
            </a:r>
            <a:r>
              <a:rPr lang="en-US" dirty="0">
                <a:latin typeface="Arial" charset="0"/>
              </a:rPr>
              <a:t>;</a:t>
            </a:r>
          </a:p>
          <a:p>
            <a:pPr marL="342900" indent="-342900">
              <a:lnSpc>
                <a:spcPct val="150000"/>
              </a:lnSpc>
              <a:buFont typeface="Wingdings" charset="2"/>
              <a:buChar char="ü"/>
              <a:defRPr/>
            </a:pPr>
            <a:r>
              <a:rPr lang="en-US" dirty="0" err="1">
                <a:latin typeface="Arial" charset="0"/>
              </a:rPr>
              <a:t>Adotar</a:t>
            </a:r>
            <a:r>
              <a:rPr lang="en-US" dirty="0">
                <a:latin typeface="Arial" charset="0"/>
              </a:rPr>
              <a:t>, </a:t>
            </a:r>
            <a:r>
              <a:rPr lang="en-US" dirty="0" err="1">
                <a:latin typeface="Arial" charset="0"/>
              </a:rPr>
              <a:t>nas</a:t>
            </a:r>
            <a:r>
              <a:rPr lang="en-US" dirty="0">
                <a:latin typeface="Arial" charset="0"/>
              </a:rPr>
              <a:t> </a:t>
            </a:r>
            <a:r>
              <a:rPr lang="en-US" dirty="0" err="1">
                <a:latin typeface="Arial" charset="0"/>
              </a:rPr>
              <a:t>sentenças</a:t>
            </a:r>
            <a:r>
              <a:rPr lang="en-US" dirty="0">
                <a:latin typeface="Arial" charset="0"/>
              </a:rPr>
              <a:t>, boa </a:t>
            </a:r>
            <a:r>
              <a:rPr lang="en-US" dirty="0" err="1">
                <a:latin typeface="Arial" charset="0"/>
              </a:rPr>
              <a:t>gramática</a:t>
            </a:r>
            <a:r>
              <a:rPr lang="en-US" dirty="0">
                <a:latin typeface="Arial" charset="0"/>
              </a:rPr>
              <a:t> e </a:t>
            </a:r>
            <a:r>
              <a:rPr lang="en-US" dirty="0" err="1">
                <a:latin typeface="Arial" charset="0"/>
              </a:rPr>
              <a:t>estrutura</a:t>
            </a:r>
            <a:r>
              <a:rPr lang="en-US" dirty="0">
                <a:latin typeface="Arial" charset="0"/>
              </a:rPr>
              <a:t> </a:t>
            </a:r>
            <a:r>
              <a:rPr lang="en-US" dirty="0" err="1">
                <a:latin typeface="Arial" charset="0"/>
              </a:rPr>
              <a:t>correta</a:t>
            </a:r>
            <a:r>
              <a:rPr lang="en-US" dirty="0">
                <a:latin typeface="Arial" charset="0"/>
              </a:rPr>
              <a:t>,</a:t>
            </a:r>
          </a:p>
          <a:p>
            <a:pPr marL="342900" indent="-342900">
              <a:lnSpc>
                <a:spcPct val="150000"/>
              </a:lnSpc>
              <a:buFont typeface="Wingdings" charset="2"/>
              <a:buChar char="ü"/>
              <a:defRPr/>
            </a:pPr>
            <a:r>
              <a:rPr lang="en-US" dirty="0" err="1">
                <a:latin typeface="Arial" charset="0"/>
              </a:rPr>
              <a:t>Evitar</a:t>
            </a:r>
            <a:r>
              <a:rPr lang="en-US" dirty="0">
                <a:latin typeface="Arial" charset="0"/>
              </a:rPr>
              <a:t> o </a:t>
            </a:r>
            <a:r>
              <a:rPr lang="en-US" dirty="0" err="1">
                <a:latin typeface="Arial" charset="0"/>
              </a:rPr>
              <a:t>esquecimento</a:t>
            </a:r>
            <a:r>
              <a:rPr lang="en-US" dirty="0">
                <a:latin typeface="Arial" charset="0"/>
              </a:rPr>
              <a:t> de </a:t>
            </a:r>
            <a:r>
              <a:rPr lang="en-US" dirty="0" err="1">
                <a:latin typeface="Arial" charset="0"/>
              </a:rPr>
              <a:t>especificações</a:t>
            </a:r>
            <a:r>
              <a:rPr lang="en-US" dirty="0">
                <a:latin typeface="Arial" charset="0"/>
              </a:rPr>
              <a:t>;</a:t>
            </a:r>
          </a:p>
          <a:p>
            <a:pPr marL="342900" indent="-342900">
              <a:lnSpc>
                <a:spcPct val="150000"/>
              </a:lnSpc>
              <a:buFont typeface="Wingdings" charset="2"/>
              <a:buChar char="ü"/>
              <a:defRPr/>
            </a:pPr>
            <a:r>
              <a:rPr lang="en-US" dirty="0" err="1">
                <a:latin typeface="Arial" charset="0"/>
              </a:rPr>
              <a:t>Evitar</a:t>
            </a:r>
            <a:r>
              <a:rPr lang="en-US" dirty="0">
                <a:latin typeface="Arial" charset="0"/>
              </a:rPr>
              <a:t> o super-</a:t>
            </a:r>
            <a:r>
              <a:rPr lang="en-US" dirty="0" err="1">
                <a:latin typeface="Arial" charset="0"/>
              </a:rPr>
              <a:t>dimensionamento</a:t>
            </a:r>
            <a:r>
              <a:rPr lang="en-US" dirty="0">
                <a:latin typeface="Arial" charset="0"/>
              </a:rPr>
              <a:t>, </a:t>
            </a:r>
            <a:r>
              <a:rPr lang="en-US" dirty="0" err="1">
                <a:latin typeface="Arial" charset="0"/>
              </a:rPr>
              <a:t>ou</a:t>
            </a:r>
            <a:r>
              <a:rPr lang="en-US" dirty="0">
                <a:latin typeface="Arial" charset="0"/>
              </a:rPr>
              <a:t> a </a:t>
            </a:r>
            <a:r>
              <a:rPr lang="en-US" dirty="0" err="1">
                <a:latin typeface="Arial" charset="0"/>
              </a:rPr>
              <a:t>redundância</a:t>
            </a:r>
            <a:r>
              <a:rPr lang="en-US" dirty="0">
                <a:latin typeface="Arial" charset="0"/>
              </a:rPr>
              <a:t>, das </a:t>
            </a:r>
            <a:r>
              <a:rPr lang="en-US" dirty="0" err="1">
                <a:latin typeface="Arial" charset="0"/>
              </a:rPr>
              <a:t>especificações</a:t>
            </a:r>
            <a:r>
              <a:rPr lang="en-US" dirty="0">
                <a:latin typeface="Arial" charset="0"/>
              </a:rPr>
              <a:t> de </a:t>
            </a:r>
            <a:r>
              <a:rPr lang="en-US" dirty="0" err="1">
                <a:latin typeface="Arial" charset="0"/>
              </a:rPr>
              <a:t>projeto</a:t>
            </a:r>
            <a:r>
              <a:rPr lang="en-US" dirty="0">
                <a:latin typeface="Arial" charset="0"/>
              </a:rPr>
              <a:t>.</a:t>
            </a:r>
            <a:endParaRPr lang="pt-BR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99581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tângulo 1">
            <a:extLst>
              <a:ext uri="{FF2B5EF4-FFF2-40B4-BE49-F238E27FC236}">
                <a16:creationId xmlns:a16="http://schemas.microsoft.com/office/drawing/2014/main" id="{172925CA-0BB0-4A40-B1CC-BDDE2EFC51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9650" y="1128713"/>
            <a:ext cx="7156450" cy="471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pt-BR" sz="2000" b="1">
                <a:solidFill>
                  <a:srgbClr val="002060"/>
                </a:solidFill>
              </a:rPr>
              <a:t>VIABILIDADE: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pt-BR" sz="2000">
                <a:solidFill>
                  <a:srgbClr val="002060"/>
                </a:solidFill>
              </a:rPr>
              <a:t>É necessário que cada especificação seja passível de implementação dentro das capacidades e limitações do sistema em desenvolvimento e de seu meio ambiente.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n-US" altLang="pt-BR" sz="20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pt-BR" sz="2000">
                <a:solidFill>
                  <a:srgbClr val="002060"/>
                </a:solidFill>
              </a:rPr>
              <a:t>Os profissionais da equipe de desenvolvimento devem participar da elicitação das necessidades e realizar uma análise do que é, e não é, viável tecnicamente e o que só pode ser efetuado com altos custos ou outros resultados negativos.</a:t>
            </a:r>
            <a:endParaRPr lang="pt-BR" altLang="pt-BR" sz="2000">
              <a:solidFill>
                <a:srgbClr val="002060"/>
              </a:solidFill>
            </a:endParaRPr>
          </a:p>
        </p:txBody>
      </p:sp>
      <p:sp>
        <p:nvSpPr>
          <p:cNvPr id="30722" name="CaixaDeTexto 2">
            <a:extLst>
              <a:ext uri="{FF2B5EF4-FFF2-40B4-BE49-F238E27FC236}">
                <a16:creationId xmlns:a16="http://schemas.microsoft.com/office/drawing/2014/main" id="{02E39072-FC91-32E7-8524-B65880762B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5038" y="361950"/>
            <a:ext cx="69754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 b="1">
                <a:solidFill>
                  <a:srgbClr val="002060"/>
                </a:solidFill>
              </a:rPr>
              <a:t>QUALIDADE DAS ESPECIFICA</a:t>
            </a:r>
            <a:r>
              <a:rPr lang="en-US" altLang="pt-BR" sz="2000" b="1">
                <a:solidFill>
                  <a:srgbClr val="002060"/>
                </a:solidFill>
              </a:rPr>
              <a:t>ÇÕES DE PROJETO</a:t>
            </a:r>
            <a:endParaRPr lang="pt-BR" altLang="pt-BR" sz="2000" b="1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58671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CaixaDeTexto 1">
            <a:extLst>
              <a:ext uri="{FF2B5EF4-FFF2-40B4-BE49-F238E27FC236}">
                <a16:creationId xmlns:a16="http://schemas.microsoft.com/office/drawing/2014/main" id="{1A43D1E9-B186-636C-CA0B-DCB33D112B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538" y="763588"/>
            <a:ext cx="7974012" cy="32669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2000" b="1" dirty="0">
                <a:solidFill>
                  <a:srgbClr val="002060"/>
                </a:solidFill>
                <a:latin typeface="Arial"/>
                <a:cs typeface="Arial"/>
              </a:rPr>
              <a:t>PRIORIZ</a:t>
            </a:r>
            <a:r>
              <a:rPr lang="en-US" altLang="pt-BR" sz="2000" b="1" dirty="0">
                <a:solidFill>
                  <a:srgbClr val="002060"/>
                </a:solidFill>
                <a:latin typeface="Arial"/>
                <a:cs typeface="Arial"/>
              </a:rPr>
              <a:t>ÁVEL: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pt-BR" sz="2000" b="1" dirty="0">
                <a:solidFill>
                  <a:srgbClr val="00B050"/>
                </a:solidFill>
                <a:latin typeface="Arial"/>
                <a:cs typeface="Arial"/>
              </a:rPr>
              <a:t>A </a:t>
            </a:r>
            <a:r>
              <a:rPr lang="en-US" altLang="pt-BR" sz="2000" b="1" dirty="0" err="1">
                <a:solidFill>
                  <a:srgbClr val="00B050"/>
                </a:solidFill>
                <a:latin typeface="Arial"/>
                <a:cs typeface="Arial"/>
              </a:rPr>
              <a:t>cada</a:t>
            </a:r>
            <a:r>
              <a:rPr lang="en-US" altLang="pt-BR" sz="2000" b="1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lang="en-US" altLang="pt-BR" sz="2000" b="1" dirty="0" err="1">
                <a:solidFill>
                  <a:srgbClr val="00B050"/>
                </a:solidFill>
                <a:latin typeface="Arial"/>
                <a:cs typeface="Arial"/>
              </a:rPr>
              <a:t>especificação</a:t>
            </a:r>
            <a:r>
              <a:rPr lang="en-US" altLang="pt-BR" sz="2000" b="1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lang="en-US" altLang="pt-BR" sz="2000" b="1" dirty="0" err="1">
                <a:solidFill>
                  <a:srgbClr val="00B050"/>
                </a:solidFill>
                <a:latin typeface="Arial"/>
                <a:cs typeface="Arial"/>
              </a:rPr>
              <a:t>deve</a:t>
            </a:r>
            <a:r>
              <a:rPr lang="en-US" altLang="pt-BR" sz="2000" b="1" dirty="0">
                <a:solidFill>
                  <a:srgbClr val="00B050"/>
                </a:solidFill>
                <a:latin typeface="Arial"/>
                <a:cs typeface="Arial"/>
              </a:rPr>
              <a:t> haver </a:t>
            </a:r>
            <a:r>
              <a:rPr lang="en-US" altLang="pt-BR" sz="2000" b="1" dirty="0" err="1">
                <a:solidFill>
                  <a:srgbClr val="00B050"/>
                </a:solidFill>
                <a:latin typeface="Arial"/>
                <a:cs typeface="Arial"/>
              </a:rPr>
              <a:t>possibilidade</a:t>
            </a:r>
            <a:r>
              <a:rPr lang="en-US" altLang="pt-BR" sz="2000" b="1" dirty="0">
                <a:solidFill>
                  <a:srgbClr val="00B050"/>
                </a:solidFill>
                <a:latin typeface="Arial"/>
                <a:cs typeface="Arial"/>
              </a:rPr>
              <a:t> de se </a:t>
            </a:r>
            <a:r>
              <a:rPr lang="en-US" altLang="pt-BR" sz="2000" b="1" dirty="0" err="1">
                <a:solidFill>
                  <a:srgbClr val="00B050"/>
                </a:solidFill>
                <a:latin typeface="Arial"/>
                <a:cs typeface="Arial"/>
              </a:rPr>
              <a:t>atribuir</a:t>
            </a:r>
            <a:r>
              <a:rPr lang="en-US" altLang="pt-BR" sz="2000" b="1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lang="en-US" altLang="pt-BR" sz="2000" b="1" dirty="0" err="1">
                <a:solidFill>
                  <a:srgbClr val="00B050"/>
                </a:solidFill>
                <a:latin typeface="Arial"/>
                <a:cs typeface="Arial"/>
              </a:rPr>
              <a:t>prioridade</a:t>
            </a:r>
            <a:r>
              <a:rPr lang="en-US" altLang="pt-BR" sz="2000" b="1" dirty="0">
                <a:solidFill>
                  <a:srgbClr val="00B050"/>
                </a:solidFill>
                <a:latin typeface="Arial"/>
                <a:cs typeface="Arial"/>
              </a:rPr>
              <a:t> de </a:t>
            </a:r>
            <a:r>
              <a:rPr lang="en-US" altLang="pt-BR" sz="2000" b="1" dirty="0" err="1">
                <a:solidFill>
                  <a:srgbClr val="00B050"/>
                </a:solidFill>
                <a:latin typeface="Arial"/>
                <a:cs typeface="Arial"/>
              </a:rPr>
              <a:t>implementação</a:t>
            </a:r>
            <a:r>
              <a:rPr lang="en-US" altLang="pt-BR" sz="2000" b="1" dirty="0">
                <a:solidFill>
                  <a:srgbClr val="00B050"/>
                </a:solidFill>
                <a:latin typeface="Arial"/>
                <a:cs typeface="Arial"/>
              </a:rPr>
              <a:t> no </a:t>
            </a:r>
            <a:r>
              <a:rPr lang="en-US" altLang="pt-BR" sz="2000" b="1" dirty="0" err="1">
                <a:solidFill>
                  <a:srgbClr val="00B050"/>
                </a:solidFill>
                <a:latin typeface="Arial"/>
                <a:cs typeface="Arial"/>
              </a:rPr>
              <a:t>produto</a:t>
            </a:r>
            <a:r>
              <a:rPr lang="en-US" altLang="pt-BR" sz="2000" b="1" dirty="0">
                <a:solidFill>
                  <a:srgbClr val="00B050"/>
                </a:solidFill>
                <a:latin typeface="Arial"/>
                <a:cs typeface="Arial"/>
              </a:rPr>
              <a:t>, </a:t>
            </a:r>
            <a:r>
              <a:rPr lang="en-US" altLang="pt-BR" sz="2000" b="1" dirty="0" err="1">
                <a:solidFill>
                  <a:srgbClr val="00B050"/>
                </a:solidFill>
                <a:latin typeface="Arial"/>
                <a:cs typeface="Arial"/>
              </a:rPr>
              <a:t>baseada</a:t>
            </a:r>
            <a:r>
              <a:rPr lang="en-US" altLang="pt-BR" sz="2000" b="1" dirty="0">
                <a:solidFill>
                  <a:srgbClr val="00B050"/>
                </a:solidFill>
                <a:latin typeface="Arial"/>
                <a:cs typeface="Arial"/>
              </a:rPr>
              <a:t>, </a:t>
            </a:r>
            <a:r>
              <a:rPr lang="en-US" altLang="pt-BR" sz="2000" b="1" dirty="0" err="1">
                <a:solidFill>
                  <a:srgbClr val="00B050"/>
                </a:solidFill>
                <a:latin typeface="Arial"/>
                <a:cs typeface="Arial"/>
              </a:rPr>
              <a:t>principalmente</a:t>
            </a:r>
            <a:r>
              <a:rPr lang="en-US" altLang="pt-BR" sz="2000" b="1" dirty="0">
                <a:solidFill>
                  <a:srgbClr val="00B050"/>
                </a:solidFill>
                <a:latin typeface="Arial"/>
                <a:cs typeface="Arial"/>
              </a:rPr>
              <a:t>, </a:t>
            </a:r>
            <a:r>
              <a:rPr lang="en-US" altLang="pt-BR" sz="2000" b="1" dirty="0" err="1">
                <a:solidFill>
                  <a:srgbClr val="00B050"/>
                </a:solidFill>
                <a:latin typeface="Arial"/>
                <a:cs typeface="Arial"/>
              </a:rPr>
              <a:t>nos</a:t>
            </a:r>
            <a:r>
              <a:rPr lang="en-US" altLang="pt-BR" sz="2000" b="1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lang="en-US" altLang="pt-BR" sz="2000" b="1" dirty="0" err="1">
                <a:solidFill>
                  <a:srgbClr val="00B050"/>
                </a:solidFill>
                <a:latin typeface="Arial"/>
                <a:cs typeface="Arial"/>
              </a:rPr>
              <a:t>valores</a:t>
            </a:r>
            <a:r>
              <a:rPr lang="en-US" altLang="pt-BR" sz="2000" b="1" dirty="0">
                <a:solidFill>
                  <a:srgbClr val="00B050"/>
                </a:solidFill>
                <a:latin typeface="Arial"/>
                <a:cs typeface="Arial"/>
              </a:rPr>
              <a:t> de </a:t>
            </a:r>
            <a:r>
              <a:rPr lang="en-US" altLang="pt-BR" sz="2000" b="1" dirty="0" err="1">
                <a:solidFill>
                  <a:srgbClr val="00B050"/>
                </a:solidFill>
                <a:latin typeface="Arial"/>
                <a:cs typeface="Arial"/>
              </a:rPr>
              <a:t>importância</a:t>
            </a:r>
            <a:r>
              <a:rPr lang="en-US" altLang="pt-BR" sz="2000" b="1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lang="en-US" altLang="pt-BR" sz="2000" b="1" dirty="0" err="1">
                <a:solidFill>
                  <a:srgbClr val="00B050"/>
                </a:solidFill>
                <a:latin typeface="Arial"/>
                <a:cs typeface="Arial"/>
              </a:rPr>
              <a:t>atribuídos</a:t>
            </a:r>
            <a:r>
              <a:rPr lang="en-US" altLang="pt-BR" sz="2000" b="1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lang="en-US" altLang="pt-BR" sz="2000" b="1" dirty="0" err="1">
                <a:solidFill>
                  <a:srgbClr val="00B050"/>
                </a:solidFill>
                <a:latin typeface="Arial"/>
                <a:cs typeface="Arial"/>
              </a:rPr>
              <a:t>pelos</a:t>
            </a:r>
            <a:r>
              <a:rPr lang="en-US" altLang="pt-BR" sz="2000" b="1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lang="en-US" altLang="pt-BR" sz="2000" b="1" dirty="0" err="1">
                <a:solidFill>
                  <a:srgbClr val="00B050"/>
                </a:solidFill>
                <a:latin typeface="Arial"/>
                <a:cs typeface="Arial"/>
              </a:rPr>
              <a:t>usuários</a:t>
            </a:r>
            <a:r>
              <a:rPr lang="en-US" altLang="pt-BR" sz="2000" b="1" dirty="0">
                <a:solidFill>
                  <a:srgbClr val="00B050"/>
                </a:solidFill>
                <a:latin typeface="Arial"/>
                <a:cs typeface="Arial"/>
              </a:rPr>
              <a:t> do </a:t>
            </a:r>
            <a:r>
              <a:rPr lang="en-US" altLang="pt-BR" sz="2000" b="1" dirty="0" err="1">
                <a:solidFill>
                  <a:srgbClr val="00B050"/>
                </a:solidFill>
                <a:latin typeface="Arial"/>
                <a:cs typeface="Arial"/>
              </a:rPr>
              <a:t>projeto</a:t>
            </a:r>
            <a:r>
              <a:rPr lang="en-US" altLang="pt-BR" sz="2000" b="1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lang="en-US" altLang="pt-BR" sz="2000" b="1" dirty="0" err="1">
                <a:solidFill>
                  <a:srgbClr val="00B050"/>
                </a:solidFill>
                <a:latin typeface="Arial"/>
                <a:cs typeface="Arial"/>
              </a:rPr>
              <a:t>ou</a:t>
            </a:r>
            <a:r>
              <a:rPr lang="en-US" altLang="pt-BR" sz="2000" b="1" dirty="0">
                <a:solidFill>
                  <a:srgbClr val="00B050"/>
                </a:solidFill>
                <a:latin typeface="Arial"/>
                <a:cs typeface="Arial"/>
              </a:rPr>
              <a:t> do </a:t>
            </a:r>
            <a:r>
              <a:rPr lang="en-US" altLang="pt-BR" sz="2000" b="1" dirty="0" err="1">
                <a:solidFill>
                  <a:srgbClr val="00B050"/>
                </a:solidFill>
                <a:latin typeface="Arial"/>
                <a:cs typeface="Arial"/>
              </a:rPr>
              <a:t>produto</a:t>
            </a:r>
            <a:r>
              <a:rPr lang="en-US" altLang="pt-BR" sz="2000" b="1" dirty="0">
                <a:solidFill>
                  <a:srgbClr val="00B050"/>
                </a:solidFill>
                <a:latin typeface="Arial"/>
                <a:cs typeface="Arial"/>
              </a:rPr>
              <a:t>, no </a:t>
            </a:r>
            <a:r>
              <a:rPr lang="en-US" altLang="pt-BR" sz="2000" b="1" dirty="0" err="1">
                <a:solidFill>
                  <a:srgbClr val="00B050"/>
                </a:solidFill>
                <a:latin typeface="Arial"/>
                <a:cs typeface="Arial"/>
              </a:rPr>
              <a:t>custo</a:t>
            </a:r>
            <a:r>
              <a:rPr lang="en-US" altLang="pt-BR" sz="2000" b="1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lang="en-US" altLang="pt-BR" sz="2000" b="1" dirty="0" err="1">
                <a:solidFill>
                  <a:srgbClr val="00B050"/>
                </a:solidFill>
                <a:latin typeface="Arial"/>
                <a:cs typeface="Arial"/>
              </a:rPr>
              <a:t>relativo</a:t>
            </a:r>
            <a:r>
              <a:rPr lang="en-US" altLang="pt-BR" sz="2000" b="1" dirty="0">
                <a:solidFill>
                  <a:srgbClr val="00B050"/>
                </a:solidFill>
                <a:latin typeface="Arial"/>
                <a:cs typeface="Arial"/>
              </a:rPr>
              <a:t> de </a:t>
            </a:r>
            <a:r>
              <a:rPr lang="en-US" altLang="pt-BR" sz="2000" b="1" dirty="0" err="1">
                <a:solidFill>
                  <a:srgbClr val="00B050"/>
                </a:solidFill>
                <a:latin typeface="Arial"/>
                <a:cs typeface="Arial"/>
              </a:rPr>
              <a:t>sua</a:t>
            </a:r>
            <a:r>
              <a:rPr lang="en-US" altLang="pt-BR" sz="2000" b="1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lang="en-US" altLang="pt-BR" sz="2000" b="1" dirty="0" err="1">
                <a:solidFill>
                  <a:srgbClr val="00B050"/>
                </a:solidFill>
                <a:latin typeface="Arial"/>
                <a:cs typeface="Arial"/>
              </a:rPr>
              <a:t>implementação</a:t>
            </a:r>
            <a:r>
              <a:rPr lang="en-US" altLang="pt-BR" sz="2000" b="1" dirty="0">
                <a:solidFill>
                  <a:srgbClr val="00B050"/>
                </a:solidFill>
                <a:latin typeface="Arial"/>
                <a:cs typeface="Arial"/>
              </a:rPr>
              <a:t> e </a:t>
            </a:r>
            <a:r>
              <a:rPr lang="en-US" altLang="pt-BR" sz="2000" b="1" dirty="0" err="1">
                <a:solidFill>
                  <a:srgbClr val="00B050"/>
                </a:solidFill>
                <a:latin typeface="Arial"/>
                <a:cs typeface="Arial"/>
              </a:rPr>
              <a:t>nos</a:t>
            </a:r>
            <a:r>
              <a:rPr lang="en-US" altLang="pt-BR" sz="2000" b="1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lang="en-US" altLang="pt-BR" sz="2000" b="1" dirty="0" err="1">
                <a:solidFill>
                  <a:srgbClr val="00B050"/>
                </a:solidFill>
                <a:latin typeface="Arial"/>
                <a:cs typeface="Arial"/>
              </a:rPr>
              <a:t>riscos</a:t>
            </a:r>
            <a:r>
              <a:rPr lang="en-US" altLang="pt-BR" sz="2000" b="1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lang="en-US" altLang="pt-BR" sz="2000" b="1" dirty="0" err="1">
                <a:solidFill>
                  <a:srgbClr val="00B050"/>
                </a:solidFill>
                <a:latin typeface="Arial"/>
                <a:cs typeface="Arial"/>
              </a:rPr>
              <a:t>técnicos</a:t>
            </a:r>
            <a:r>
              <a:rPr lang="en-US" altLang="pt-BR" sz="2000" b="1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lang="en-US" altLang="pt-BR" sz="2000" b="1" dirty="0" err="1">
                <a:solidFill>
                  <a:srgbClr val="00B050"/>
                </a:solidFill>
                <a:latin typeface="Arial"/>
                <a:cs typeface="Arial"/>
              </a:rPr>
              <a:t>associados</a:t>
            </a:r>
            <a:r>
              <a:rPr lang="en-US" altLang="pt-BR" sz="2000" b="1" dirty="0">
                <a:solidFill>
                  <a:srgbClr val="00B050"/>
                </a:solidFill>
                <a:latin typeface="Arial"/>
                <a:cs typeface="Arial"/>
              </a:rPr>
              <a:t>.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pt-BR" altLang="pt-BR" sz="2000" dirty="0">
              <a:solidFill>
                <a:srgbClr val="002060"/>
              </a:solidFill>
              <a:latin typeface="Arial"/>
              <a:cs typeface="Arial"/>
            </a:endParaRPr>
          </a:p>
        </p:txBody>
      </p:sp>
      <p:sp>
        <p:nvSpPr>
          <p:cNvPr id="31746" name="CaixaDeTexto 2">
            <a:extLst>
              <a:ext uri="{FF2B5EF4-FFF2-40B4-BE49-F238E27FC236}">
                <a16:creationId xmlns:a16="http://schemas.microsoft.com/office/drawing/2014/main" id="{CF9E7C7F-A687-1C57-0E63-79D5A5008E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5038" y="361950"/>
            <a:ext cx="69754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 b="1">
                <a:solidFill>
                  <a:srgbClr val="002060"/>
                </a:solidFill>
              </a:rPr>
              <a:t>QUALIDADE DAS ESPECIFICA</a:t>
            </a:r>
            <a:r>
              <a:rPr lang="en-US" altLang="pt-BR" sz="2000" b="1">
                <a:solidFill>
                  <a:srgbClr val="002060"/>
                </a:solidFill>
              </a:rPr>
              <a:t>ÇÕES DE PROJETO</a:t>
            </a:r>
            <a:endParaRPr lang="pt-BR" altLang="pt-BR" sz="2000" b="1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89174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CaixaDeTexto 1">
            <a:extLst>
              <a:ext uri="{FF2B5EF4-FFF2-40B4-BE49-F238E27FC236}">
                <a16:creationId xmlns:a16="http://schemas.microsoft.com/office/drawing/2014/main" id="{AF6BF773-0A3C-941B-23B3-DB821C583D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313" y="1041400"/>
            <a:ext cx="8356600" cy="517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pt-BR" sz="2000">
                <a:solidFill>
                  <a:srgbClr val="002060"/>
                </a:solidFill>
              </a:rPr>
              <a:t>CONSISTÊNCIA: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pt-BR" sz="2000">
                <a:solidFill>
                  <a:srgbClr val="002060"/>
                </a:solidFill>
              </a:rPr>
              <a:t>O conjunto de especificações ou a especificação, individualmente, não deve apresentar contradições e sim coerência lógica em um pensamento com fundamentação, estabilidade e veracidade.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n-US" altLang="pt-BR" sz="20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pt-BR" sz="2000">
                <a:solidFill>
                  <a:srgbClr val="002060"/>
                </a:solidFill>
              </a:rPr>
              <a:t>QUANTIFICÁVEL: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pt-BR" sz="2000">
                <a:solidFill>
                  <a:srgbClr val="002060"/>
                </a:solidFill>
              </a:rPr>
              <a:t>Deve-se, na medida do possível, atribuir valores quantitativos às  especificações de projeto. Deve-se especificar um atributo de um sistema a ser projetado.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pt-BR" sz="2000">
                <a:solidFill>
                  <a:srgbClr val="002060"/>
                </a:solidFill>
              </a:rPr>
              <a:t>Sem um quantificação pode ocorrer a elevação de custo devido a um superdimensionamento ou, o valor necessário não é atingido.</a:t>
            </a:r>
            <a:endParaRPr lang="pt-BR" altLang="pt-BR" sz="2000">
              <a:solidFill>
                <a:srgbClr val="002060"/>
              </a:solidFill>
            </a:endParaRPr>
          </a:p>
        </p:txBody>
      </p:sp>
      <p:sp>
        <p:nvSpPr>
          <p:cNvPr id="33794" name="CaixaDeTexto 2">
            <a:extLst>
              <a:ext uri="{FF2B5EF4-FFF2-40B4-BE49-F238E27FC236}">
                <a16:creationId xmlns:a16="http://schemas.microsoft.com/office/drawing/2014/main" id="{D021AE5C-6470-7210-C9E8-355FDDB038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5038" y="361950"/>
            <a:ext cx="69754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 b="1">
                <a:solidFill>
                  <a:srgbClr val="002060"/>
                </a:solidFill>
              </a:rPr>
              <a:t>QUALIDADE DAS ESPECIFICA</a:t>
            </a:r>
            <a:r>
              <a:rPr lang="en-US" altLang="pt-BR" sz="2000" b="1">
                <a:solidFill>
                  <a:srgbClr val="002060"/>
                </a:solidFill>
              </a:rPr>
              <a:t>ÇÕES DE PROJETO</a:t>
            </a:r>
            <a:endParaRPr lang="pt-BR" altLang="pt-BR" sz="2000" b="1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4386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CaixaDeTexto 1">
            <a:extLst>
              <a:ext uri="{FF2B5EF4-FFF2-40B4-BE49-F238E27FC236}">
                <a16:creationId xmlns:a16="http://schemas.microsoft.com/office/drawing/2014/main" id="{F561AA6B-BA84-84A3-E890-E76DF98C9A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088" y="1339850"/>
            <a:ext cx="8824912" cy="470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2000">
                <a:solidFill>
                  <a:srgbClr val="002060"/>
                </a:solidFill>
              </a:rPr>
              <a:t>COMPLETEZA: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2000">
                <a:solidFill>
                  <a:srgbClr val="002060"/>
                </a:solidFill>
              </a:rPr>
              <a:t>No conjunto das especifica</a:t>
            </a:r>
            <a:r>
              <a:rPr lang="en-US" altLang="pt-BR" sz="2000">
                <a:solidFill>
                  <a:srgbClr val="002060"/>
                </a:solidFill>
              </a:rPr>
              <a:t>ções não devem ocorrer omissões. Completeza também deve ser uma qualidade na declaração individual de uma especificação. 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pt-BR" sz="2000">
                <a:solidFill>
                  <a:srgbClr val="002060"/>
                </a:solidFill>
              </a:rPr>
              <a:t>VERIFICABILIDADE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pt-BR" sz="2000">
                <a:solidFill>
                  <a:srgbClr val="002060"/>
                </a:solidFill>
              </a:rPr>
              <a:t>Sendo quantificável, deve-se prever testes, usos, aplicações ou demonstrações para verificar se cada especificação foi devidamente implementada no produto. No caso da especificação não ser verificável ou mensurável, a constatação de sua implementação torna-se uma questão de opinião.</a:t>
            </a:r>
            <a:endParaRPr lang="pt-BR" altLang="pt-BR" sz="2000">
              <a:solidFill>
                <a:srgbClr val="002060"/>
              </a:solidFill>
            </a:endParaRPr>
          </a:p>
        </p:txBody>
      </p:sp>
      <p:sp>
        <p:nvSpPr>
          <p:cNvPr id="34818" name="CaixaDeTexto 2">
            <a:extLst>
              <a:ext uri="{FF2B5EF4-FFF2-40B4-BE49-F238E27FC236}">
                <a16:creationId xmlns:a16="http://schemas.microsoft.com/office/drawing/2014/main" id="{AC833898-E8E6-0D92-B9DC-CE6AFA72C9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5038" y="361950"/>
            <a:ext cx="69754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 b="1">
                <a:solidFill>
                  <a:srgbClr val="002060"/>
                </a:solidFill>
              </a:rPr>
              <a:t>QUALIDADE DAS ESPECIFICA</a:t>
            </a:r>
            <a:r>
              <a:rPr lang="en-US" altLang="pt-BR" sz="2000" b="1">
                <a:solidFill>
                  <a:srgbClr val="002060"/>
                </a:solidFill>
              </a:rPr>
              <a:t>ÇÕES DE PROJETO</a:t>
            </a:r>
            <a:endParaRPr lang="pt-BR" altLang="pt-BR" sz="2000" b="1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66945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CaixaDeTexto 1">
            <a:extLst>
              <a:ext uri="{FF2B5EF4-FFF2-40B4-BE49-F238E27FC236}">
                <a16:creationId xmlns:a16="http://schemas.microsoft.com/office/drawing/2014/main" id="{BDFC5BE6-E94B-2E5A-209D-83C5C219DA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588" y="850900"/>
            <a:ext cx="8358187" cy="55753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2000" b="1" dirty="0">
                <a:solidFill>
                  <a:srgbClr val="002060"/>
                </a:solidFill>
                <a:latin typeface="Arial"/>
                <a:cs typeface="Arial"/>
              </a:rPr>
              <a:t>UNICIDADE: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BR" altLang="pt-BR" sz="2000" dirty="0">
                <a:solidFill>
                  <a:srgbClr val="002060"/>
                </a:solidFill>
                <a:latin typeface="Arial"/>
                <a:cs typeface="Arial"/>
              </a:rPr>
              <a:t>O</a:t>
            </a:r>
            <a:r>
              <a:rPr lang="en-US" altLang="pt-BR" sz="200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lang="en-US" altLang="pt-BR" sz="2000" dirty="0" err="1">
                <a:solidFill>
                  <a:srgbClr val="002060"/>
                </a:solidFill>
                <a:latin typeface="Arial"/>
                <a:cs typeface="Arial"/>
              </a:rPr>
              <a:t>leitor</a:t>
            </a:r>
            <a:r>
              <a:rPr lang="en-US" altLang="pt-BR" sz="2000" dirty="0">
                <a:solidFill>
                  <a:srgbClr val="002060"/>
                </a:solidFill>
                <a:latin typeface="Arial"/>
                <a:cs typeface="Arial"/>
              </a:rPr>
              <a:t> da </a:t>
            </a:r>
            <a:r>
              <a:rPr lang="en-US" altLang="pt-BR" sz="2000" dirty="0" err="1">
                <a:solidFill>
                  <a:srgbClr val="002060"/>
                </a:solidFill>
                <a:latin typeface="Arial"/>
                <a:cs typeface="Arial"/>
              </a:rPr>
              <a:t>declaração</a:t>
            </a:r>
            <a:r>
              <a:rPr lang="en-US" altLang="pt-BR" sz="2000" dirty="0">
                <a:solidFill>
                  <a:srgbClr val="002060"/>
                </a:solidFill>
                <a:latin typeface="Arial"/>
                <a:cs typeface="Arial"/>
              </a:rPr>
              <a:t> de </a:t>
            </a:r>
            <a:r>
              <a:rPr lang="en-US" altLang="pt-BR" sz="2000" dirty="0" err="1">
                <a:solidFill>
                  <a:srgbClr val="002060"/>
                </a:solidFill>
                <a:latin typeface="Arial"/>
                <a:cs typeface="Arial"/>
              </a:rPr>
              <a:t>uma</a:t>
            </a:r>
            <a:r>
              <a:rPr lang="en-US" altLang="pt-BR" sz="200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lang="en-US" altLang="pt-BR" sz="2000" dirty="0" err="1">
                <a:solidFill>
                  <a:srgbClr val="002060"/>
                </a:solidFill>
                <a:latin typeface="Arial"/>
                <a:cs typeface="Arial"/>
              </a:rPr>
              <a:t>especificação</a:t>
            </a:r>
            <a:r>
              <a:rPr lang="en-US" altLang="pt-BR" sz="200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lang="en-US" altLang="pt-BR" sz="2000" dirty="0" err="1">
                <a:solidFill>
                  <a:srgbClr val="002060"/>
                </a:solidFill>
                <a:latin typeface="Arial"/>
                <a:cs typeface="Arial"/>
              </a:rPr>
              <a:t>deve</a:t>
            </a:r>
            <a:r>
              <a:rPr lang="en-US" altLang="pt-BR" sz="200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lang="en-US" altLang="pt-BR" sz="2000" dirty="0" err="1">
                <a:solidFill>
                  <a:srgbClr val="002060"/>
                </a:solidFill>
                <a:latin typeface="Arial"/>
                <a:cs typeface="Arial"/>
              </a:rPr>
              <a:t>extrair</a:t>
            </a:r>
            <a:r>
              <a:rPr lang="en-US" altLang="pt-BR" sz="200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lang="en-US" altLang="pt-BR" sz="2000" dirty="0" err="1">
                <a:solidFill>
                  <a:srgbClr val="002060"/>
                </a:solidFill>
                <a:latin typeface="Arial"/>
                <a:cs typeface="Arial"/>
              </a:rPr>
              <a:t>uma</a:t>
            </a:r>
            <a:r>
              <a:rPr lang="en-US" altLang="pt-BR" sz="200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lang="en-US" altLang="pt-BR" sz="2000" dirty="0" err="1">
                <a:solidFill>
                  <a:srgbClr val="002060"/>
                </a:solidFill>
                <a:latin typeface="Arial"/>
                <a:cs typeface="Arial"/>
              </a:rPr>
              <a:t>única</a:t>
            </a:r>
            <a:r>
              <a:rPr lang="en-US" altLang="pt-BR" sz="200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lang="en-US" altLang="pt-BR" sz="2000" dirty="0" err="1">
                <a:solidFill>
                  <a:srgbClr val="002060"/>
                </a:solidFill>
                <a:latin typeface="Arial"/>
                <a:cs typeface="Arial"/>
              </a:rPr>
              <a:t>interpretação</a:t>
            </a:r>
            <a:r>
              <a:rPr lang="en-US" altLang="pt-BR" sz="2000" dirty="0">
                <a:solidFill>
                  <a:srgbClr val="002060"/>
                </a:solidFill>
                <a:latin typeface="Arial"/>
                <a:cs typeface="Arial"/>
              </a:rPr>
              <a:t>, </a:t>
            </a:r>
            <a:r>
              <a:rPr lang="en-US" altLang="pt-BR" sz="2000" dirty="0" err="1">
                <a:solidFill>
                  <a:srgbClr val="002060"/>
                </a:solidFill>
                <a:latin typeface="Arial"/>
                <a:cs typeface="Arial"/>
              </a:rPr>
              <a:t>ou</a:t>
            </a:r>
            <a:r>
              <a:rPr lang="en-US" altLang="pt-BR" sz="200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lang="en-US" altLang="pt-BR" sz="2000" dirty="0" err="1">
                <a:solidFill>
                  <a:srgbClr val="002060"/>
                </a:solidFill>
                <a:latin typeface="Arial"/>
                <a:cs typeface="Arial"/>
              </a:rPr>
              <a:t>diferentes</a:t>
            </a:r>
            <a:r>
              <a:rPr lang="en-US" altLang="pt-BR" sz="200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lang="en-US" altLang="pt-BR" sz="2000" dirty="0" err="1">
                <a:solidFill>
                  <a:srgbClr val="002060"/>
                </a:solidFill>
                <a:latin typeface="Arial"/>
                <a:cs typeface="Arial"/>
              </a:rPr>
              <a:t>leitores</a:t>
            </a:r>
            <a:r>
              <a:rPr lang="en-US" altLang="pt-BR" sz="200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lang="en-US" altLang="pt-BR" sz="2000" dirty="0" err="1">
                <a:solidFill>
                  <a:srgbClr val="002060"/>
                </a:solidFill>
                <a:latin typeface="Arial"/>
                <a:cs typeface="Arial"/>
              </a:rPr>
              <a:t>devem</a:t>
            </a:r>
            <a:r>
              <a:rPr lang="en-US" altLang="pt-BR" sz="200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lang="en-US" altLang="pt-BR" sz="2000" dirty="0" err="1">
                <a:solidFill>
                  <a:srgbClr val="002060"/>
                </a:solidFill>
                <a:latin typeface="Arial"/>
                <a:cs typeface="Arial"/>
              </a:rPr>
              <a:t>chegar</a:t>
            </a:r>
            <a:r>
              <a:rPr lang="en-US" altLang="pt-BR" sz="2000" dirty="0">
                <a:solidFill>
                  <a:srgbClr val="002060"/>
                </a:solidFill>
                <a:latin typeface="Arial"/>
                <a:cs typeface="Arial"/>
              </a:rPr>
              <a:t> a </a:t>
            </a:r>
            <a:r>
              <a:rPr lang="en-US" altLang="pt-BR" sz="2000" dirty="0" err="1">
                <a:solidFill>
                  <a:srgbClr val="002060"/>
                </a:solidFill>
                <a:latin typeface="Arial"/>
                <a:cs typeface="Arial"/>
              </a:rPr>
              <a:t>mesma</a:t>
            </a:r>
            <a:r>
              <a:rPr lang="en-US" altLang="pt-BR" sz="200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lang="en-US" altLang="pt-BR" sz="2000" dirty="0" err="1">
                <a:solidFill>
                  <a:srgbClr val="002060"/>
                </a:solidFill>
                <a:latin typeface="Arial"/>
                <a:cs typeface="Arial"/>
              </a:rPr>
              <a:t>conclusão</a:t>
            </a:r>
            <a:r>
              <a:rPr lang="en-US" altLang="pt-BR" sz="2000" dirty="0">
                <a:solidFill>
                  <a:srgbClr val="002060"/>
                </a:solidFill>
                <a:latin typeface="Arial"/>
                <a:cs typeface="Arial"/>
              </a:rPr>
              <a:t>.</a:t>
            </a:r>
          </a:p>
          <a:p>
            <a:pPr>
              <a:spcBef>
                <a:spcPct val="0"/>
              </a:spcBef>
              <a:buNone/>
            </a:pPr>
            <a:r>
              <a:rPr lang="en-US" altLang="pt-BR" sz="2000" dirty="0" err="1">
                <a:solidFill>
                  <a:srgbClr val="002060"/>
                </a:solidFill>
                <a:latin typeface="Arial"/>
                <a:cs typeface="Arial"/>
              </a:rPr>
              <a:t>Devem</a:t>
            </a:r>
            <a:r>
              <a:rPr lang="en-US" altLang="pt-BR" sz="2000" dirty="0">
                <a:solidFill>
                  <a:srgbClr val="002060"/>
                </a:solidFill>
                <a:latin typeface="Arial"/>
                <a:cs typeface="Arial"/>
              </a:rPr>
              <a:t> ser </a:t>
            </a:r>
            <a:r>
              <a:rPr lang="en-US" altLang="pt-BR" sz="2000" dirty="0" err="1">
                <a:solidFill>
                  <a:srgbClr val="002060"/>
                </a:solidFill>
                <a:latin typeface="Arial"/>
                <a:cs typeface="Arial"/>
              </a:rPr>
              <a:t>evitadas</a:t>
            </a:r>
            <a:r>
              <a:rPr lang="en-US" altLang="pt-BR" sz="200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lang="en-US" altLang="pt-BR" sz="2000" dirty="0" err="1">
                <a:solidFill>
                  <a:srgbClr val="002060"/>
                </a:solidFill>
                <a:latin typeface="Arial"/>
                <a:cs typeface="Arial"/>
              </a:rPr>
              <a:t>palavras</a:t>
            </a:r>
            <a:r>
              <a:rPr lang="en-US" altLang="pt-BR" sz="2000" dirty="0">
                <a:solidFill>
                  <a:srgbClr val="002060"/>
                </a:solidFill>
                <a:latin typeface="Arial"/>
                <a:cs typeface="Arial"/>
              </a:rPr>
              <a:t> tais </a:t>
            </a:r>
            <a:r>
              <a:rPr lang="en-US" altLang="pt-BR" sz="2000" dirty="0" err="1">
                <a:solidFill>
                  <a:srgbClr val="002060"/>
                </a:solidFill>
                <a:latin typeface="Arial"/>
                <a:cs typeface="Arial"/>
              </a:rPr>
              <a:t>como</a:t>
            </a:r>
            <a:r>
              <a:rPr lang="en-US" altLang="pt-BR" sz="2000" dirty="0">
                <a:solidFill>
                  <a:srgbClr val="002060"/>
                </a:solidFill>
                <a:latin typeface="Arial"/>
                <a:cs typeface="Arial"/>
              </a:rPr>
              <a:t>: </a:t>
            </a:r>
            <a:endParaRPr lang="en-US" dirty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pt-BR" sz="2000" dirty="0">
                <a:solidFill>
                  <a:srgbClr val="002060"/>
                </a:solidFill>
                <a:latin typeface="Arial"/>
                <a:cs typeface="Arial"/>
              </a:rPr>
              <a:t>ser </a:t>
            </a:r>
            <a:r>
              <a:rPr lang="en-US" altLang="pt-BR" sz="2000" dirty="0" err="1">
                <a:solidFill>
                  <a:srgbClr val="002060"/>
                </a:solidFill>
                <a:latin typeface="Arial"/>
                <a:cs typeface="Arial"/>
              </a:rPr>
              <a:t>amigável</a:t>
            </a:r>
            <a:r>
              <a:rPr lang="en-US" altLang="pt-BR" sz="2000" dirty="0">
                <a:solidFill>
                  <a:srgbClr val="002060"/>
                </a:solidFill>
                <a:latin typeface="Arial"/>
                <a:cs typeface="Arial"/>
              </a:rPr>
              <a:t>, </a:t>
            </a:r>
            <a:r>
              <a:rPr lang="en-US" altLang="pt-BR" sz="2000" dirty="0" err="1">
                <a:solidFill>
                  <a:srgbClr val="002060"/>
                </a:solidFill>
                <a:latin typeface="Arial"/>
                <a:cs typeface="Arial"/>
              </a:rPr>
              <a:t>fácil</a:t>
            </a:r>
            <a:r>
              <a:rPr lang="en-US" altLang="pt-BR" sz="2000" dirty="0">
                <a:solidFill>
                  <a:srgbClr val="002060"/>
                </a:solidFill>
                <a:latin typeface="Arial"/>
                <a:cs typeface="Arial"/>
              </a:rPr>
              <a:t>, simples, </a:t>
            </a:r>
            <a:r>
              <a:rPr lang="en-US" altLang="pt-BR" sz="2000" dirty="0" err="1">
                <a:solidFill>
                  <a:srgbClr val="002060"/>
                </a:solidFill>
                <a:latin typeface="Arial"/>
                <a:cs typeface="Arial"/>
              </a:rPr>
              <a:t>rápido</a:t>
            </a:r>
            <a:r>
              <a:rPr lang="en-US" altLang="pt-BR" sz="2000" dirty="0">
                <a:solidFill>
                  <a:srgbClr val="002060"/>
                </a:solidFill>
                <a:latin typeface="Arial"/>
                <a:cs typeface="Arial"/>
              </a:rPr>
              <a:t>, </a:t>
            </a:r>
            <a:r>
              <a:rPr lang="en-US" altLang="pt-BR" sz="2000" dirty="0" err="1">
                <a:solidFill>
                  <a:srgbClr val="002060"/>
                </a:solidFill>
                <a:latin typeface="Arial"/>
                <a:cs typeface="Arial"/>
              </a:rPr>
              <a:t>suficiente</a:t>
            </a:r>
            <a:r>
              <a:rPr lang="en-US" altLang="pt-BR" sz="2000" dirty="0">
                <a:solidFill>
                  <a:srgbClr val="002060"/>
                </a:solidFill>
                <a:latin typeface="Arial"/>
                <a:cs typeface="Arial"/>
              </a:rPr>
              <a:t>, </a:t>
            </a:r>
            <a:r>
              <a:rPr lang="en-US" altLang="pt-BR" sz="2000" dirty="0" err="1">
                <a:solidFill>
                  <a:srgbClr val="002060"/>
                </a:solidFill>
                <a:latin typeface="Arial"/>
                <a:cs typeface="Arial"/>
              </a:rPr>
              <a:t>adequado</a:t>
            </a:r>
            <a:r>
              <a:rPr lang="en-US" altLang="pt-BR" sz="2000" dirty="0">
                <a:solidFill>
                  <a:srgbClr val="002060"/>
                </a:solidFill>
                <a:latin typeface="Arial"/>
                <a:cs typeface="Arial"/>
              </a:rPr>
              <a:t>, </a:t>
            </a:r>
            <a:r>
              <a:rPr lang="en-US" altLang="pt-BR" sz="2000" dirty="0" err="1">
                <a:solidFill>
                  <a:srgbClr val="002060"/>
                </a:solidFill>
                <a:latin typeface="Arial"/>
                <a:cs typeface="Arial"/>
              </a:rPr>
              <a:t>eficiente</a:t>
            </a:r>
            <a:r>
              <a:rPr lang="en-US" altLang="pt-BR" sz="2000" dirty="0">
                <a:solidFill>
                  <a:srgbClr val="002060"/>
                </a:solidFill>
                <a:latin typeface="Arial"/>
                <a:cs typeface="Arial"/>
              </a:rPr>
              <a:t>, </a:t>
            </a:r>
            <a:r>
              <a:rPr lang="en-US" altLang="pt-BR" sz="2000" dirty="0" err="1">
                <a:solidFill>
                  <a:srgbClr val="002060"/>
                </a:solidFill>
                <a:latin typeface="Arial"/>
                <a:cs typeface="Arial"/>
              </a:rPr>
              <a:t>estado</a:t>
            </a:r>
            <a:r>
              <a:rPr lang="en-US" altLang="pt-BR" sz="2000" dirty="0">
                <a:solidFill>
                  <a:srgbClr val="002060"/>
                </a:solidFill>
                <a:latin typeface="Arial"/>
                <a:cs typeface="Arial"/>
              </a:rPr>
              <a:t>-da-</a:t>
            </a:r>
            <a:r>
              <a:rPr lang="en-US" altLang="pt-BR" sz="2000" dirty="0" err="1">
                <a:solidFill>
                  <a:srgbClr val="002060"/>
                </a:solidFill>
                <a:latin typeface="Arial"/>
                <a:cs typeface="Arial"/>
              </a:rPr>
              <a:t>arte</a:t>
            </a:r>
            <a:r>
              <a:rPr lang="en-US" altLang="pt-BR" sz="2000" dirty="0">
                <a:solidFill>
                  <a:srgbClr val="002060"/>
                </a:solidFill>
                <a:latin typeface="Arial"/>
                <a:cs typeface="Arial"/>
              </a:rPr>
              <a:t>, </a:t>
            </a:r>
            <a:r>
              <a:rPr lang="en-US" altLang="pt-BR" sz="2000" dirty="0" err="1">
                <a:solidFill>
                  <a:srgbClr val="002060"/>
                </a:solidFill>
                <a:latin typeface="Arial"/>
                <a:cs typeface="Arial"/>
              </a:rPr>
              <a:t>melhorado</a:t>
            </a:r>
            <a:r>
              <a:rPr lang="en-US" altLang="pt-BR" sz="2000" dirty="0">
                <a:solidFill>
                  <a:srgbClr val="002060"/>
                </a:solidFill>
                <a:latin typeface="Arial"/>
                <a:cs typeface="Arial"/>
              </a:rPr>
              <a:t>, </a:t>
            </a:r>
            <a:r>
              <a:rPr lang="en-US" altLang="pt-BR" sz="2000" dirty="0" err="1">
                <a:solidFill>
                  <a:srgbClr val="002060"/>
                </a:solidFill>
                <a:latin typeface="Arial"/>
                <a:cs typeface="Arial"/>
              </a:rPr>
              <a:t>máximo</a:t>
            </a:r>
            <a:r>
              <a:rPr lang="en-US" altLang="pt-BR" sz="200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lang="en-US" altLang="pt-BR" sz="2000" dirty="0" err="1">
                <a:solidFill>
                  <a:srgbClr val="002060"/>
                </a:solidFill>
                <a:latin typeface="Arial"/>
                <a:cs typeface="Arial"/>
              </a:rPr>
              <a:t>ou</a:t>
            </a:r>
            <a:r>
              <a:rPr lang="en-US" altLang="pt-BR" sz="200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lang="en-US" altLang="pt-BR" sz="2000" dirty="0" err="1">
                <a:solidFill>
                  <a:srgbClr val="002060"/>
                </a:solidFill>
                <a:latin typeface="Arial"/>
                <a:cs typeface="Arial"/>
              </a:rPr>
              <a:t>mínimo</a:t>
            </a:r>
            <a:r>
              <a:rPr lang="en-US" altLang="pt-BR" sz="2000" dirty="0">
                <a:solidFill>
                  <a:srgbClr val="002060"/>
                </a:solidFill>
                <a:latin typeface="Arial"/>
                <a:cs typeface="Arial"/>
              </a:rPr>
              <a:t>. </a:t>
            </a:r>
            <a:endParaRPr lang="en-US" dirty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pt-BR" sz="2000" dirty="0" err="1">
                <a:solidFill>
                  <a:srgbClr val="002060"/>
                </a:solidFill>
                <a:latin typeface="Arial"/>
                <a:cs typeface="Arial"/>
              </a:rPr>
              <a:t>Diferentes</a:t>
            </a:r>
            <a:r>
              <a:rPr lang="en-US" altLang="pt-BR" sz="200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lang="en-US" altLang="pt-BR" sz="2000" dirty="0" err="1">
                <a:solidFill>
                  <a:srgbClr val="002060"/>
                </a:solidFill>
                <a:latin typeface="Arial"/>
                <a:cs typeface="Arial"/>
              </a:rPr>
              <a:t>leitores</a:t>
            </a:r>
            <a:r>
              <a:rPr lang="en-US" altLang="pt-BR" sz="200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lang="en-US" altLang="pt-BR" sz="2000" dirty="0" err="1">
                <a:solidFill>
                  <a:srgbClr val="002060"/>
                </a:solidFill>
                <a:latin typeface="Arial"/>
                <a:cs typeface="Arial"/>
              </a:rPr>
              <a:t>terão</a:t>
            </a:r>
            <a:r>
              <a:rPr lang="en-US" altLang="pt-BR" sz="200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lang="en-US" altLang="pt-BR" sz="2000" dirty="0" err="1">
                <a:solidFill>
                  <a:srgbClr val="002060"/>
                </a:solidFill>
                <a:latin typeface="Arial"/>
                <a:cs typeface="Arial"/>
              </a:rPr>
              <a:t>avaliações</a:t>
            </a:r>
            <a:r>
              <a:rPr lang="en-US" altLang="pt-BR" sz="200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lang="en-US" altLang="pt-BR" sz="2000" dirty="0" err="1">
                <a:solidFill>
                  <a:srgbClr val="002060"/>
                </a:solidFill>
                <a:latin typeface="Arial"/>
                <a:cs typeface="Arial"/>
              </a:rPr>
              <a:t>diversas</a:t>
            </a:r>
            <a:r>
              <a:rPr lang="en-US" altLang="pt-BR" sz="200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lang="en-US" altLang="pt-BR" sz="2000" dirty="0" err="1">
                <a:solidFill>
                  <a:srgbClr val="002060"/>
                </a:solidFill>
                <a:latin typeface="Arial"/>
                <a:cs typeface="Arial"/>
              </a:rPr>
              <a:t>destes</a:t>
            </a:r>
            <a:r>
              <a:rPr lang="en-US" altLang="pt-BR" sz="200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lang="en-US" altLang="pt-BR" sz="2000" dirty="0" err="1">
                <a:solidFill>
                  <a:srgbClr val="002060"/>
                </a:solidFill>
                <a:latin typeface="Arial"/>
                <a:cs typeface="Arial"/>
              </a:rPr>
              <a:t>termos</a:t>
            </a:r>
            <a:r>
              <a:rPr lang="en-US" altLang="pt-BR" sz="2000" dirty="0">
                <a:solidFill>
                  <a:srgbClr val="002060"/>
                </a:solidFill>
                <a:latin typeface="Arial"/>
                <a:cs typeface="Arial"/>
              </a:rPr>
              <a:t>.</a:t>
            </a:r>
            <a:endParaRPr lang="en-US" dirty="0">
              <a:latin typeface="Arial"/>
              <a:cs typeface="Arial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pt-BR" sz="2000" b="1" dirty="0">
                <a:solidFill>
                  <a:srgbClr val="002060"/>
                </a:solidFill>
                <a:latin typeface="Arial"/>
                <a:cs typeface="Arial"/>
              </a:rPr>
              <a:t>RASTREABILIDADE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pt-BR" sz="2000" dirty="0">
                <a:solidFill>
                  <a:srgbClr val="002060"/>
                </a:solidFill>
                <a:latin typeface="Arial"/>
                <a:cs typeface="Arial"/>
              </a:rPr>
              <a:t>Cada </a:t>
            </a:r>
            <a:r>
              <a:rPr lang="en-US" altLang="pt-BR" sz="2000" dirty="0" err="1">
                <a:solidFill>
                  <a:srgbClr val="002060"/>
                </a:solidFill>
                <a:latin typeface="Arial"/>
                <a:cs typeface="Arial"/>
              </a:rPr>
              <a:t>especificação</a:t>
            </a:r>
            <a:r>
              <a:rPr lang="en-US" altLang="pt-BR" sz="200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lang="en-US" altLang="pt-BR" sz="2000" dirty="0" err="1">
                <a:solidFill>
                  <a:srgbClr val="002060"/>
                </a:solidFill>
                <a:latin typeface="Arial"/>
                <a:cs typeface="Arial"/>
              </a:rPr>
              <a:t>deve</a:t>
            </a:r>
            <a:r>
              <a:rPr lang="en-US" altLang="pt-BR" sz="200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lang="en-US" altLang="pt-BR" sz="2000" dirty="0" err="1">
                <a:solidFill>
                  <a:srgbClr val="002060"/>
                </a:solidFill>
                <a:latin typeface="Arial"/>
                <a:cs typeface="Arial"/>
              </a:rPr>
              <a:t>documentar</a:t>
            </a:r>
            <a:r>
              <a:rPr lang="en-US" altLang="pt-BR" sz="2000" dirty="0">
                <a:solidFill>
                  <a:srgbClr val="002060"/>
                </a:solidFill>
                <a:latin typeface="Arial"/>
                <a:cs typeface="Arial"/>
              </a:rPr>
              <a:t> algo que </a:t>
            </a:r>
            <a:r>
              <a:rPr lang="en-US" altLang="pt-BR" sz="2000" dirty="0" err="1">
                <a:solidFill>
                  <a:srgbClr val="002060"/>
                </a:solidFill>
                <a:latin typeface="Arial"/>
                <a:cs typeface="Arial"/>
              </a:rPr>
              <a:t>os</a:t>
            </a:r>
            <a:r>
              <a:rPr lang="en-US" altLang="pt-BR" sz="200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lang="en-US" altLang="pt-BR" sz="2000" dirty="0" err="1">
                <a:solidFill>
                  <a:srgbClr val="002060"/>
                </a:solidFill>
                <a:latin typeface="Arial"/>
                <a:cs typeface="Arial"/>
              </a:rPr>
              <a:t>usuários</a:t>
            </a:r>
            <a:r>
              <a:rPr lang="en-US" altLang="pt-BR" sz="200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lang="en-US" altLang="pt-BR" sz="2000" dirty="0" err="1">
                <a:solidFill>
                  <a:srgbClr val="002060"/>
                </a:solidFill>
                <a:latin typeface="Arial"/>
                <a:cs typeface="Arial"/>
              </a:rPr>
              <a:t>necessitam</a:t>
            </a:r>
            <a:r>
              <a:rPr lang="en-US" altLang="pt-BR" sz="200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lang="en-US" altLang="pt-BR" sz="2000" dirty="0" err="1">
                <a:solidFill>
                  <a:srgbClr val="002060"/>
                </a:solidFill>
                <a:latin typeface="Arial"/>
                <a:cs typeface="Arial"/>
              </a:rPr>
              <a:t>ou</a:t>
            </a:r>
            <a:r>
              <a:rPr lang="en-US" altLang="pt-BR" sz="2000" dirty="0">
                <a:solidFill>
                  <a:srgbClr val="002060"/>
                </a:solidFill>
                <a:latin typeface="Arial"/>
                <a:cs typeface="Arial"/>
              </a:rPr>
              <a:t> algo que </a:t>
            </a:r>
            <a:r>
              <a:rPr lang="en-US" altLang="pt-BR" sz="2000" dirty="0" err="1">
                <a:solidFill>
                  <a:srgbClr val="002060"/>
                </a:solidFill>
                <a:latin typeface="Arial"/>
                <a:cs typeface="Arial"/>
              </a:rPr>
              <a:t>seja</a:t>
            </a:r>
            <a:r>
              <a:rPr lang="en-US" altLang="pt-BR" sz="200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lang="en-US" altLang="pt-BR" sz="2000" dirty="0" err="1">
                <a:solidFill>
                  <a:srgbClr val="002060"/>
                </a:solidFill>
                <a:latin typeface="Arial"/>
                <a:cs typeface="Arial"/>
              </a:rPr>
              <a:t>requerido</a:t>
            </a:r>
            <a:r>
              <a:rPr lang="en-US" altLang="pt-BR" sz="2000" dirty="0">
                <a:solidFill>
                  <a:srgbClr val="002060"/>
                </a:solidFill>
                <a:latin typeface="Arial"/>
                <a:cs typeface="Arial"/>
              </a:rPr>
              <a:t> para o </a:t>
            </a:r>
            <a:r>
              <a:rPr lang="en-US" altLang="pt-BR" sz="2000" dirty="0" err="1">
                <a:solidFill>
                  <a:srgbClr val="002060"/>
                </a:solidFill>
                <a:latin typeface="Arial"/>
                <a:cs typeface="Arial"/>
              </a:rPr>
              <a:t>produto</a:t>
            </a:r>
            <a:r>
              <a:rPr lang="en-US" altLang="pt-BR" sz="2000" dirty="0">
                <a:solidFill>
                  <a:srgbClr val="002060"/>
                </a:solidFill>
                <a:latin typeface="Arial"/>
                <a:cs typeface="Arial"/>
              </a:rPr>
              <a:t> se </a:t>
            </a:r>
            <a:r>
              <a:rPr lang="en-US" altLang="pt-BR" sz="2000" dirty="0" err="1">
                <a:solidFill>
                  <a:srgbClr val="002060"/>
                </a:solidFill>
                <a:latin typeface="Arial"/>
                <a:cs typeface="Arial"/>
              </a:rPr>
              <a:t>conformar</a:t>
            </a:r>
            <a:r>
              <a:rPr lang="en-US" altLang="pt-BR" sz="2000" dirty="0">
                <a:solidFill>
                  <a:srgbClr val="002060"/>
                </a:solidFill>
                <a:latin typeface="Arial"/>
                <a:cs typeface="Arial"/>
              </a:rPr>
              <a:t> a </a:t>
            </a:r>
            <a:r>
              <a:rPr lang="en-US" altLang="pt-BR" sz="2000" dirty="0" err="1">
                <a:solidFill>
                  <a:srgbClr val="002060"/>
                </a:solidFill>
                <a:latin typeface="Arial"/>
                <a:cs typeface="Arial"/>
              </a:rPr>
              <a:t>uma</a:t>
            </a:r>
            <a:r>
              <a:rPr lang="en-US" altLang="pt-BR" sz="200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lang="en-US" altLang="pt-BR" sz="2000" dirty="0" err="1">
                <a:solidFill>
                  <a:srgbClr val="002060"/>
                </a:solidFill>
                <a:latin typeface="Arial"/>
                <a:cs typeface="Arial"/>
              </a:rPr>
              <a:t>especificação</a:t>
            </a:r>
            <a:r>
              <a:rPr lang="en-US" altLang="pt-BR" sz="2000" dirty="0">
                <a:solidFill>
                  <a:srgbClr val="002060"/>
                </a:solidFill>
                <a:latin typeface="Arial"/>
                <a:cs typeface="Arial"/>
              </a:rPr>
              <a:t> externa, </a:t>
            </a:r>
            <a:r>
              <a:rPr lang="en-US" altLang="pt-BR" sz="2000" dirty="0" err="1">
                <a:solidFill>
                  <a:srgbClr val="002060"/>
                </a:solidFill>
                <a:latin typeface="Arial"/>
                <a:cs typeface="Arial"/>
              </a:rPr>
              <a:t>uma</a:t>
            </a:r>
            <a:r>
              <a:rPr lang="en-US" altLang="pt-BR" sz="2000" dirty="0">
                <a:solidFill>
                  <a:srgbClr val="002060"/>
                </a:solidFill>
                <a:latin typeface="Arial"/>
                <a:cs typeface="Arial"/>
              </a:rPr>
              <a:t> interface </a:t>
            </a:r>
            <a:r>
              <a:rPr lang="en-US" altLang="pt-BR" sz="2000" dirty="0" err="1">
                <a:solidFill>
                  <a:srgbClr val="002060"/>
                </a:solidFill>
                <a:latin typeface="Arial"/>
                <a:cs typeface="Arial"/>
              </a:rPr>
              <a:t>ou</a:t>
            </a:r>
            <a:r>
              <a:rPr lang="en-US" altLang="pt-BR" sz="200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lang="en-US" altLang="pt-BR" sz="2000" dirty="0" err="1">
                <a:solidFill>
                  <a:srgbClr val="002060"/>
                </a:solidFill>
                <a:latin typeface="Arial"/>
                <a:cs typeface="Arial"/>
              </a:rPr>
              <a:t>uma</a:t>
            </a:r>
            <a:r>
              <a:rPr lang="en-US" altLang="pt-BR" sz="2000" dirty="0">
                <a:solidFill>
                  <a:srgbClr val="002060"/>
                </a:solidFill>
                <a:latin typeface="Arial"/>
                <a:cs typeface="Arial"/>
              </a:rPr>
              <a:t> norma.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n-US" altLang="pt-BR" sz="2000">
              <a:solidFill>
                <a:srgbClr val="002060"/>
              </a:solidFill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pt-BR" sz="2000" dirty="0">
                <a:solidFill>
                  <a:srgbClr val="002060"/>
                </a:solidFill>
                <a:latin typeface="Arial"/>
                <a:cs typeface="Arial"/>
              </a:rPr>
              <a:t>A </a:t>
            </a:r>
            <a:r>
              <a:rPr lang="en-US" altLang="pt-BR" sz="2000" dirty="0" err="1">
                <a:solidFill>
                  <a:srgbClr val="002060"/>
                </a:solidFill>
                <a:latin typeface="Arial"/>
                <a:cs typeface="Arial"/>
              </a:rPr>
              <a:t>origem</a:t>
            </a:r>
            <a:r>
              <a:rPr lang="en-US" altLang="pt-BR" sz="2000" dirty="0">
                <a:solidFill>
                  <a:srgbClr val="002060"/>
                </a:solidFill>
                <a:latin typeface="Arial"/>
                <a:cs typeface="Arial"/>
              </a:rPr>
              <a:t> de </a:t>
            </a:r>
            <a:r>
              <a:rPr lang="en-US" altLang="pt-BR" sz="2000" dirty="0" err="1">
                <a:solidFill>
                  <a:srgbClr val="002060"/>
                </a:solidFill>
                <a:latin typeface="Arial"/>
                <a:cs typeface="Arial"/>
              </a:rPr>
              <a:t>cada</a:t>
            </a:r>
            <a:r>
              <a:rPr lang="en-US" altLang="pt-BR" sz="200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lang="en-US" altLang="pt-BR" sz="2000" dirty="0" err="1">
                <a:solidFill>
                  <a:srgbClr val="002060"/>
                </a:solidFill>
                <a:latin typeface="Arial"/>
                <a:cs typeface="Arial"/>
              </a:rPr>
              <a:t>especificação</a:t>
            </a:r>
            <a:r>
              <a:rPr lang="en-US" altLang="pt-BR" sz="200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lang="en-US" altLang="pt-BR" sz="2000" dirty="0" err="1">
                <a:solidFill>
                  <a:srgbClr val="002060"/>
                </a:solidFill>
                <a:latin typeface="Arial"/>
                <a:cs typeface="Arial"/>
              </a:rPr>
              <a:t>deve</a:t>
            </a:r>
            <a:r>
              <a:rPr lang="en-US" altLang="pt-BR" sz="2000" dirty="0">
                <a:solidFill>
                  <a:srgbClr val="002060"/>
                </a:solidFill>
                <a:latin typeface="Arial"/>
                <a:cs typeface="Arial"/>
              </a:rPr>
              <a:t> ser </a:t>
            </a:r>
            <a:r>
              <a:rPr lang="en-US" altLang="pt-BR" sz="2000" dirty="0" err="1">
                <a:solidFill>
                  <a:srgbClr val="002060"/>
                </a:solidFill>
                <a:latin typeface="Arial"/>
                <a:cs typeface="Arial"/>
              </a:rPr>
              <a:t>rastreada</a:t>
            </a:r>
            <a:r>
              <a:rPr lang="en-US" altLang="pt-BR" sz="2000" dirty="0">
                <a:solidFill>
                  <a:srgbClr val="002060"/>
                </a:solidFill>
                <a:latin typeface="Arial"/>
                <a:cs typeface="Arial"/>
              </a:rPr>
              <a:t>, </a:t>
            </a:r>
            <a:r>
              <a:rPr lang="en-US" altLang="pt-BR" sz="2000" dirty="0" err="1">
                <a:solidFill>
                  <a:srgbClr val="002060"/>
                </a:solidFill>
                <a:latin typeface="Arial"/>
                <a:cs typeface="Arial"/>
              </a:rPr>
              <a:t>seja</a:t>
            </a:r>
            <a:r>
              <a:rPr lang="en-US" altLang="pt-BR" sz="200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lang="en-US" altLang="pt-BR" sz="2000" dirty="0" err="1">
                <a:solidFill>
                  <a:srgbClr val="002060"/>
                </a:solidFill>
                <a:latin typeface="Arial"/>
                <a:cs typeface="Arial"/>
              </a:rPr>
              <a:t>uma</a:t>
            </a:r>
            <a:r>
              <a:rPr lang="en-US" altLang="pt-BR" sz="2000" dirty="0">
                <a:solidFill>
                  <a:srgbClr val="002060"/>
                </a:solidFill>
                <a:latin typeface="Arial"/>
                <a:cs typeface="Arial"/>
              </a:rPr>
              <a:t> norma </a:t>
            </a:r>
            <a:r>
              <a:rPr lang="en-US" altLang="pt-BR" sz="2000" dirty="0" err="1">
                <a:solidFill>
                  <a:srgbClr val="002060"/>
                </a:solidFill>
                <a:latin typeface="Arial"/>
                <a:cs typeface="Arial"/>
              </a:rPr>
              <a:t>ou</a:t>
            </a:r>
            <a:r>
              <a:rPr lang="en-US" altLang="pt-BR" sz="2000" dirty="0">
                <a:solidFill>
                  <a:srgbClr val="002060"/>
                </a:solidFill>
                <a:latin typeface="Arial"/>
                <a:cs typeface="Arial"/>
              </a:rPr>
              <a:t> a entrada de um dos </a:t>
            </a:r>
            <a:r>
              <a:rPr lang="en-US" altLang="pt-BR" sz="2000" dirty="0" err="1">
                <a:solidFill>
                  <a:srgbClr val="002060"/>
                </a:solidFill>
                <a:latin typeface="Arial"/>
                <a:cs typeface="Arial"/>
              </a:rPr>
              <a:t>possíveis</a:t>
            </a:r>
            <a:r>
              <a:rPr lang="en-US" altLang="pt-BR" sz="200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lang="en-US" altLang="pt-BR" sz="2000" dirty="0" err="1">
                <a:solidFill>
                  <a:srgbClr val="002060"/>
                </a:solidFill>
                <a:latin typeface="Arial"/>
                <a:cs typeface="Arial"/>
              </a:rPr>
              <a:t>clientes</a:t>
            </a:r>
            <a:r>
              <a:rPr lang="en-US" altLang="pt-BR" sz="200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lang="en-US" altLang="pt-BR" sz="2000" dirty="0" err="1">
                <a:solidFill>
                  <a:srgbClr val="002060"/>
                </a:solidFill>
                <a:latin typeface="Arial"/>
                <a:cs typeface="Arial"/>
              </a:rPr>
              <a:t>diretos</a:t>
            </a:r>
            <a:r>
              <a:rPr lang="en-US" altLang="pt-BR" sz="2000" dirty="0">
                <a:solidFill>
                  <a:srgbClr val="002060"/>
                </a:solidFill>
                <a:latin typeface="Arial"/>
                <a:cs typeface="Arial"/>
              </a:rPr>
              <a:t> e </a:t>
            </a:r>
            <a:r>
              <a:rPr lang="en-US" altLang="pt-BR" sz="2000" dirty="0" err="1">
                <a:solidFill>
                  <a:srgbClr val="002060"/>
                </a:solidFill>
                <a:latin typeface="Arial"/>
                <a:cs typeface="Arial"/>
              </a:rPr>
              <a:t>indiretos</a:t>
            </a:r>
            <a:r>
              <a:rPr lang="en-US" altLang="pt-BR" sz="2000" dirty="0">
                <a:solidFill>
                  <a:srgbClr val="002060"/>
                </a:solidFill>
                <a:latin typeface="Arial"/>
                <a:cs typeface="Arial"/>
              </a:rPr>
              <a:t>.</a:t>
            </a:r>
            <a:endParaRPr lang="pt-BR" altLang="pt-BR" sz="2000" dirty="0">
              <a:solidFill>
                <a:srgbClr val="002060"/>
              </a:solidFill>
              <a:latin typeface="Arial"/>
              <a:cs typeface="Arial"/>
            </a:endParaRPr>
          </a:p>
        </p:txBody>
      </p:sp>
      <p:sp>
        <p:nvSpPr>
          <p:cNvPr id="35842" name="CaixaDeTexto 2">
            <a:extLst>
              <a:ext uri="{FF2B5EF4-FFF2-40B4-BE49-F238E27FC236}">
                <a16:creationId xmlns:a16="http://schemas.microsoft.com/office/drawing/2014/main" id="{2458067B-A97E-F907-04EB-1C7B51D0CD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5038" y="361950"/>
            <a:ext cx="69754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 b="1">
                <a:solidFill>
                  <a:srgbClr val="002060"/>
                </a:solidFill>
              </a:rPr>
              <a:t>QUALIDADE DAS ESPECIFICA</a:t>
            </a:r>
            <a:r>
              <a:rPr lang="en-US" altLang="pt-BR" sz="2000" b="1">
                <a:solidFill>
                  <a:srgbClr val="002060"/>
                </a:solidFill>
              </a:rPr>
              <a:t>ÇÕES DE PROJETO</a:t>
            </a:r>
            <a:endParaRPr lang="pt-BR" altLang="pt-BR" sz="2000" b="1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4919141"/>
      </p:ext>
    </p:extLst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8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8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FB952CF52B7DE4ABAC1D5EF85AB9ACF" ma:contentTypeVersion="8" ma:contentTypeDescription="Crie um novo documento." ma:contentTypeScope="" ma:versionID="4012478236954615fd655ec24943ae3a">
  <xsd:schema xmlns:xsd="http://www.w3.org/2001/XMLSchema" xmlns:xs="http://www.w3.org/2001/XMLSchema" xmlns:p="http://schemas.microsoft.com/office/2006/metadata/properties" xmlns:ns2="0616edac-8b85-431d-b1bb-a5cc9cdccc91" targetNamespace="http://schemas.microsoft.com/office/2006/metadata/properties" ma:root="true" ma:fieldsID="e7b2c68f65d9ff28806c01b3f086190d" ns2:_="">
    <xsd:import namespace="0616edac-8b85-431d-b1bb-a5cc9cdccc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16edac-8b85-431d-b1bb-a5cc9cdccc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75FCAE9-7A3B-4251-B349-C8B92A4AE0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616edac-8b85-431d-b1bb-a5cc9cdccc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985E0FF-5851-446C-AAAE-352C2F017B4A}">
  <ds:schemaRefs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purl.org/dc/elements/1.1/"/>
    <ds:schemaRef ds:uri="0616edac-8b85-431d-b1bb-a5cc9cdccc91"/>
    <ds:schemaRef ds:uri="http://schemas.microsoft.com/office/infopath/2007/PartnerControls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3094987A-0300-4C9F-9D21-F6261ADAF00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2841</TotalTime>
  <Words>1704</Words>
  <Application>Microsoft Office PowerPoint</Application>
  <PresentationFormat>Apresentação na tela (4:3)</PresentationFormat>
  <Paragraphs>274</Paragraphs>
  <Slides>32</Slides>
  <Notes>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32</vt:i4>
      </vt:variant>
    </vt:vector>
  </HeadingPairs>
  <TitlesOfParts>
    <vt:vector size="33" baseType="lpstr">
      <vt:lpstr>Design padrão</vt:lpstr>
      <vt:lpstr>Apresentação do PowerPoint</vt:lpstr>
      <vt:lpstr>Apresentação do PowerPoint</vt:lpstr>
      <vt:lpstr>Histórico</vt:lpstr>
      <vt:lpstr>Abrangência</vt:lpstr>
      <vt:lpstr>ABRANGÊNCIA</vt:lpstr>
      <vt:lpstr>Requisitos de Projeto</vt:lpstr>
      <vt:lpstr>QFD </vt:lpstr>
      <vt:lpstr>Apresentação do PowerPoint</vt:lpstr>
      <vt:lpstr>Apresentação do PowerPoint</vt:lpstr>
      <vt:lpstr>Matriz da Casa da Qualidade do QFD</vt:lpstr>
      <vt:lpstr>Requisitos dos clientes</vt:lpstr>
      <vt:lpstr>Importância dos requisitos dos clientes</vt:lpstr>
      <vt:lpstr>3. DIAGRAMA DE MUDGE</vt:lpstr>
      <vt:lpstr>Apresentação do PowerPoint</vt:lpstr>
      <vt:lpstr>REQUISITOS DE PROJETO</vt:lpstr>
      <vt:lpstr>Exemplo do retroprojetor</vt:lpstr>
      <vt:lpstr>Apresentação do PowerPoint</vt:lpstr>
      <vt:lpstr>Apresentação do PowerPoint</vt:lpstr>
      <vt:lpstr>Apresentação do PowerPoint</vt:lpstr>
      <vt:lpstr>BENCHMARKING COMPETITIVO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UFSC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Forcellini</dc:creator>
  <cp:lastModifiedBy>Andrea Cristina dos Santos</cp:lastModifiedBy>
  <cp:revision>321</cp:revision>
  <dcterms:created xsi:type="dcterms:W3CDTF">2005-02-20T23:18:54Z</dcterms:created>
  <dcterms:modified xsi:type="dcterms:W3CDTF">2024-12-11T16:34:19Z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0x010100FFB952CF52B7DE4ABAC1D5EF85AB9ACF</vt:lpwstr>
  </property>
</Properties>
</file>