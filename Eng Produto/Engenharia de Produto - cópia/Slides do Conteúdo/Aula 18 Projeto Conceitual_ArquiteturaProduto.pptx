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1"/>
  </p:notesMasterIdLst>
  <p:sldIdLst>
    <p:sldId id="833" r:id="rId5"/>
    <p:sldId id="271" r:id="rId6"/>
    <p:sldId id="272" r:id="rId7"/>
    <p:sldId id="835" r:id="rId8"/>
    <p:sldId id="267" r:id="rId9"/>
    <p:sldId id="837" r:id="rId10"/>
    <p:sldId id="266" r:id="rId11"/>
    <p:sldId id="305" r:id="rId12"/>
    <p:sldId id="838" r:id="rId13"/>
    <p:sldId id="852" r:id="rId14"/>
    <p:sldId id="281" r:id="rId15"/>
    <p:sldId id="435" r:id="rId16"/>
    <p:sldId id="403" r:id="rId17"/>
    <p:sldId id="404" r:id="rId18"/>
    <p:sldId id="442" r:id="rId19"/>
    <p:sldId id="443" r:id="rId20"/>
    <p:sldId id="438" r:id="rId21"/>
    <p:sldId id="439" r:id="rId22"/>
    <p:sldId id="440" r:id="rId23"/>
    <p:sldId id="441" r:id="rId24"/>
    <p:sldId id="450" r:id="rId25"/>
    <p:sldId id="840" r:id="rId26"/>
    <p:sldId id="445" r:id="rId27"/>
    <p:sldId id="446" r:id="rId28"/>
    <p:sldId id="841" r:id="rId29"/>
    <p:sldId id="447" r:id="rId30"/>
    <p:sldId id="448" r:id="rId31"/>
    <p:sldId id="449" r:id="rId32"/>
    <p:sldId id="376" r:id="rId33"/>
    <p:sldId id="457" r:id="rId34"/>
    <p:sldId id="844" r:id="rId35"/>
    <p:sldId id="845" r:id="rId36"/>
    <p:sldId id="847" r:id="rId37"/>
    <p:sldId id="846" r:id="rId38"/>
    <p:sldId id="848" r:id="rId39"/>
    <p:sldId id="849" r:id="rId40"/>
    <p:sldId id="850" r:id="rId41"/>
    <p:sldId id="851" r:id="rId42"/>
    <p:sldId id="842" r:id="rId43"/>
    <p:sldId id="843" r:id="rId44"/>
    <p:sldId id="451" r:id="rId45"/>
    <p:sldId id="452" r:id="rId46"/>
    <p:sldId id="453" r:id="rId47"/>
    <p:sldId id="454" r:id="rId48"/>
    <p:sldId id="455" r:id="rId49"/>
    <p:sldId id="456" r:id="rId50"/>
    <p:sldId id="458" r:id="rId51"/>
    <p:sldId id="459" r:id="rId52"/>
    <p:sldId id="460" r:id="rId53"/>
    <p:sldId id="461" r:id="rId54"/>
    <p:sldId id="462" r:id="rId55"/>
    <p:sldId id="463" r:id="rId56"/>
    <p:sldId id="464" r:id="rId57"/>
    <p:sldId id="465" r:id="rId58"/>
    <p:sldId id="466" r:id="rId59"/>
    <p:sldId id="467" r:id="rId60"/>
    <p:sldId id="468" r:id="rId61"/>
    <p:sldId id="469" r:id="rId62"/>
    <p:sldId id="470" r:id="rId63"/>
    <p:sldId id="471" r:id="rId64"/>
    <p:sldId id="472" r:id="rId65"/>
    <p:sldId id="473" r:id="rId66"/>
    <p:sldId id="474" r:id="rId67"/>
    <p:sldId id="475" r:id="rId68"/>
    <p:sldId id="476" r:id="rId69"/>
    <p:sldId id="477" r:id="rId7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1F1A8-56BC-4978-84B5-2FC96B66162F}" v="8" dt="2025-01-15T22:08:54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9"/>
  </p:normalViewPr>
  <p:slideViewPr>
    <p:cSldViewPr snapToGrid="0" snapToObjects="1">
      <p:cViewPr varScale="1">
        <p:scale>
          <a:sx n="87" d="100"/>
          <a:sy n="87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S::andreasantos@unb.br::c1f965dc-8845-4afc-9e32-8f70830fffd6" providerId="AD" clId="Web-{B781F1A8-56BC-4978-84B5-2FC96B66162F}"/>
    <pc:docChg chg="modSld">
      <pc:chgData name="Andrea Cristina Dos Santos" userId="S::andreasantos@unb.br::c1f965dc-8845-4afc-9e32-8f70830fffd6" providerId="AD" clId="Web-{B781F1A8-56BC-4978-84B5-2FC96B66162F}" dt="2025-01-15T22:08:54.679" v="6" actId="20577"/>
      <pc:docMkLst>
        <pc:docMk/>
      </pc:docMkLst>
      <pc:sldChg chg="mod modShow">
        <pc:chgData name="Andrea Cristina Dos Santos" userId="S::andreasantos@unb.br::c1f965dc-8845-4afc-9e32-8f70830fffd6" providerId="AD" clId="Web-{B781F1A8-56BC-4978-84B5-2FC96B66162F}" dt="2025-01-15T22:08:15.333" v="0"/>
        <pc:sldMkLst>
          <pc:docMk/>
          <pc:sldMk cId="3409596318" sldId="271"/>
        </pc:sldMkLst>
      </pc:sldChg>
      <pc:sldChg chg="modSp">
        <pc:chgData name="Andrea Cristina Dos Santos" userId="S::andreasantos@unb.br::c1f965dc-8845-4afc-9e32-8f70830fffd6" providerId="AD" clId="Web-{B781F1A8-56BC-4978-84B5-2FC96B66162F}" dt="2025-01-15T22:08:54.679" v="6" actId="20577"/>
        <pc:sldMkLst>
          <pc:docMk/>
          <pc:sldMk cId="3438353878" sldId="404"/>
        </pc:sldMkLst>
        <pc:spChg chg="mod">
          <ac:chgData name="Andrea Cristina Dos Santos" userId="S::andreasantos@unb.br::c1f965dc-8845-4afc-9e32-8f70830fffd6" providerId="AD" clId="Web-{B781F1A8-56BC-4978-84B5-2FC96B66162F}" dt="2025-01-15T22:08:54.679" v="6" actId="20577"/>
          <ac:spMkLst>
            <pc:docMk/>
            <pc:sldMk cId="3438353878" sldId="404"/>
            <ac:spMk id="31746" creationId="{324E4C53-0EDA-2547-8900-670C823BEFE9}"/>
          </ac:spMkLst>
        </pc:spChg>
      </pc:sldChg>
    </pc:docChg>
  </pc:docChgLst>
  <pc:docChgLst>
    <pc:chgData name="Andrea Cristina Dos Santos" userId="S::andreasantos@unb.br::c1f965dc-8845-4afc-9e32-8f70830fffd6" providerId="AD" clId="Web-{17D4DFCD-6589-4EE7-A117-72399C49B639}"/>
    <pc:docChg chg="modSld">
      <pc:chgData name="Andrea Cristina Dos Santos" userId="S::andreasantos@unb.br::c1f965dc-8845-4afc-9e32-8f70830fffd6" providerId="AD" clId="Web-{17D4DFCD-6589-4EE7-A117-72399C49B639}" dt="2022-08-17T12:18:46.934" v="3" actId="1076"/>
      <pc:docMkLst>
        <pc:docMk/>
      </pc:docMkLst>
      <pc:sldChg chg="modSp">
        <pc:chgData name="Andrea Cristina Dos Santos" userId="S::andreasantos@unb.br::c1f965dc-8845-4afc-9e32-8f70830fffd6" providerId="AD" clId="Web-{17D4DFCD-6589-4EE7-A117-72399C49B639}" dt="2022-08-17T12:18:46.934" v="3" actId="1076"/>
        <pc:sldMkLst>
          <pc:docMk/>
          <pc:sldMk cId="3548396440" sldId="460"/>
        </pc:sldMkLst>
      </pc:sldChg>
      <pc:sldChg chg="modSp">
        <pc:chgData name="Andrea Cristina Dos Santos" userId="S::andreasantos@unb.br::c1f965dc-8845-4afc-9e32-8f70830fffd6" providerId="AD" clId="Web-{17D4DFCD-6589-4EE7-A117-72399C49B639}" dt="2022-08-17T12:16:51.072" v="1" actId="14100"/>
        <pc:sldMkLst>
          <pc:docMk/>
          <pc:sldMk cId="2849705452" sldId="8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EB403-4D56-7746-A32B-C76EB7CAF8C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B823D-AE4B-584F-8634-57C2E126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78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9788181E-187D-8744-92DF-1CCB2DC02C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30EE72D-80FC-2D47-AD6A-9519B095ED08}" type="slidenum">
              <a:rPr lang="pt-BR" altLang="pt-BR" sz="1300"/>
              <a:pPr/>
              <a:t>8</a:t>
            </a:fld>
            <a:endParaRPr lang="pt-BR" altLang="pt-BR" sz="13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730D4A96-6BE3-3A45-8AC4-987D4545C4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7FAA895-5A37-774F-8551-0B2AFC124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376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BAAA3B75-1AF2-9A44-BFF2-4425E96810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1DF44D-0666-AE4F-9DF7-8628B11FB737}" type="slidenum">
              <a:rPr lang="pt-BR" altLang="pt-BR" sz="1300" smtClean="0"/>
              <a:pPr>
                <a:spcBef>
                  <a:spcPct val="0"/>
                </a:spcBef>
              </a:pPr>
              <a:t>11</a:t>
            </a:fld>
            <a:endParaRPr lang="pt-BR" altLang="pt-BR" sz="13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AAC97565-009B-9343-B30E-D2D5A9E055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9E4CFE4-D1C7-4A4F-9C33-FBBA66D8B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194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B68A7911-D2F1-5944-8C00-43D28EFC2B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6918ED-5C86-CA4B-BFD4-1848DFB6977F}" type="slidenum">
              <a:rPr lang="pt-BR" altLang="pt-BR" sz="1300" smtClean="0"/>
              <a:pPr>
                <a:spcBef>
                  <a:spcPct val="0"/>
                </a:spcBef>
              </a:pPr>
              <a:t>12</a:t>
            </a:fld>
            <a:endParaRPr lang="pt-BR" altLang="pt-BR" sz="13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7AA6B622-CE12-A54D-874A-D02515E2FE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060C91F-45AE-074A-80F0-F035A224B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862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9936D329-F839-154D-B991-13F771B1A2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3110FBE-0B8C-2C40-A2A0-EFA52849AF3C}" type="slidenum">
              <a:rPr lang="pt-BR" altLang="pt-BR" sz="1300" smtClean="0"/>
              <a:pPr>
                <a:spcBef>
                  <a:spcPct val="0"/>
                </a:spcBef>
              </a:pPr>
              <a:t>13</a:t>
            </a:fld>
            <a:endParaRPr lang="pt-BR" altLang="pt-BR" sz="13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6C71E7C4-3AB6-154F-92BD-28ED8546C9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A4661B7-E483-464C-973C-FCC21ECD2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958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5985FA2B-0606-E94A-A2C2-816018AEBB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7D22A5-53CC-3E48-84BB-F67B29DDA14A}" type="slidenum">
              <a:rPr lang="pt-BR" altLang="pt-BR" sz="1300" smtClean="0"/>
              <a:pPr>
                <a:spcBef>
                  <a:spcPct val="0"/>
                </a:spcBef>
              </a:pPr>
              <a:t>14</a:t>
            </a:fld>
            <a:endParaRPr lang="pt-BR" altLang="pt-BR" sz="13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94498B1-7150-DF47-97F8-6435A86BE9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DCBC7D5-DF47-604A-AD4C-02AFA2D16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352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3F0B6540-0558-4443-B03D-ED4A492C09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B54FD2-E878-AC44-9260-D991A23BE1CB}" type="slidenum">
              <a:rPr lang="pt-BR" altLang="pt-BR" sz="1300" smtClean="0"/>
              <a:pPr>
                <a:spcBef>
                  <a:spcPct val="0"/>
                </a:spcBef>
              </a:pPr>
              <a:t>29</a:t>
            </a:fld>
            <a:endParaRPr lang="pt-BR" altLang="pt-BR" sz="13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49A9043B-B805-6649-8332-DCAFC5950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6140983-592E-8F4B-B95D-DE78BFA65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073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E383B9D6-F82A-DA49-B79D-AF008971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C7AE40-0274-3E46-AE16-C105802635B6}" type="slidenum">
              <a:rPr lang="pt-BR" altLang="pt-BR" sz="1300" smtClean="0"/>
              <a:pPr>
                <a:spcBef>
                  <a:spcPct val="0"/>
                </a:spcBef>
              </a:pPr>
              <a:t>30</a:t>
            </a:fld>
            <a:endParaRPr lang="pt-BR" altLang="pt-BR" sz="13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508ABB5-FAFE-B045-AD19-5FA46469B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41632FF-F17F-3043-8CB9-5E2D1527F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079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características do produto e as seus atributos são definidas do ponto de vista do mercado e derivam de restrições de combinação. A síntese resultante (Árvore de Atributos) é complementada por previsões de quantidade ou vendas reais.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B823D-AE4B-584F-8634-57C2E126EFC0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653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segunda visão do produto demonstra a relação entre as exigências do mercado e a implementação técnica. Numa primeira aproximação, presume-se que as variantes dos componentes técnicos devem ser justificadas exclusivamente pelas exigências do mercado. Seguindo este entendimento, um componente só é alterado ou desenvolvido se existirem requisitos concretos de mercado por detrás dele. Se forem conhecidas, as necessidades de quantidade e número das futuras variantes de componentes podem ser determinadas com a ajuda da experiência do desenvolvimento.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B823D-AE4B-584F-8634-57C2E126EFC0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807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64DEDACA-7BA5-8242-BEB2-BF39EE1281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50694F-566D-0247-B834-8C2E663D04F5}" type="slidenum">
              <a:rPr lang="pt-BR" altLang="pt-BR" sz="1300" smtClean="0"/>
              <a:pPr>
                <a:spcBef>
                  <a:spcPct val="0"/>
                </a:spcBef>
              </a:pPr>
              <a:t>47</a:t>
            </a:fld>
            <a:endParaRPr lang="pt-BR" altLang="pt-BR" sz="13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5869792A-6471-1E4C-A679-2EC3931C77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8F7F029-3843-AD40-93F6-8284FAC3B2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60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1A421-854F-D34F-B98E-543CBEC09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5A729E-81B5-C942-8FD2-6A05BE60C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DA9E3-52F7-EF42-8B94-E97BA970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238B52-04A6-1848-83F7-2E1C8179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8BFE8B-FFA3-5743-98F5-3881BCF7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00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5E2C4-BE73-FA43-8121-5656C243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0E5C7D-A701-924D-9247-D5291B928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6E442C-CFB0-2243-A420-B9D656CE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569E8-0F1B-E14E-B455-C782A324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C2BE9D-C275-2D48-A81D-2C6716E0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41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EFC5C-A788-0645-866A-6672B63C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F964BF-6C91-E64C-BD8F-91C45FCA2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A619CE-9B2D-6F46-A0E8-8596B609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DF6699-5BBF-FC45-B55F-3EC54202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1985D-0E11-FD41-8AAB-BB5B7C88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64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94699-3000-BC41-A72C-F48BD590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0F4B31-4DC7-AD47-9201-A378C2277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FD9DB0-407C-BE44-8F1A-BB7DA686C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EEFAD6-C3C1-794D-95C5-704BCB4ED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76130B-0524-D943-BB1C-0286A2E7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1F0E3F-DB8A-984F-9A6A-40B87CA0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62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F7E41-D28B-5945-9C7D-E7E46105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A1E05D-4AEB-7548-A212-8C18AA6B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437F5E-132B-A843-ABE6-79073E371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C016D8-CE24-8148-A02F-5BAC6D343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058711-2863-B642-9C7C-CD8288954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B55CF1-6CC6-384B-BB0B-0707029B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DE28C4-029A-A34B-A705-D534B67E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1BB99B-92A2-D545-B2F7-005FB027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81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299E4-158F-9044-A9A4-FCBC0E05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393506-F782-474C-BDED-B4F6843A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B42959-3E8B-6844-878B-EF28FC88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80B0D6-54BE-3445-82D0-B73D6C9D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7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15445E-3FEA-8448-8762-ADF2F42C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A30B69-17CD-6D49-9F09-278B7729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8FE9E3-12D7-E248-ABA6-5D3B5F62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95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58039-ED4D-DB4F-B75B-44529B56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40F11-03C8-D44B-828C-ADD3C55AB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372F4E-5742-A34D-88D2-87F4C6F6C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716B26-C3CA-E944-9472-BB97F722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AE8A56-5CA3-0E4B-9E9B-2F1BE5D6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2429E4-E553-1C49-949C-EC53E86E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369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0085E-E242-9C4D-8762-5744E4DB8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2C1372-6436-FF46-88C5-222C1C051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7B8992-8B25-E745-A20E-8ECF76725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B17848-354E-8149-9583-58819D105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90BA5E-42AF-E041-9BA3-AB62CC1D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23E793-C771-CA49-831C-8882B56D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54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574C9-0203-F249-8A0E-D1C5D572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9ED097-8FFF-5140-88A5-034FED427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EF9614-9556-2A4F-BCD3-9003547A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1F54F2-9934-F545-AA80-3412DA70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A09550-1DFF-A145-A8AE-2CFD7FB0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13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A3A837-B767-6749-AB4B-125AEDD86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1A1C0D-9610-D740-8638-0DA3F764B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A6AA27-5F5E-AF4A-A291-35926DAF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E798FE-6D2C-3E45-A136-3E4603AD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3DC8DF-E109-FD4E-948F-55B2756B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41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C8DC1A-35D9-5242-BE8D-589CD230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CD8FA5-9453-CF42-9990-A12932317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2E9BA-30AB-3447-9D2B-530A8A58F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ABD36-DF5F-4C47-896F-D334EB2C4141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BA631E-FC80-5F42-AD49-8843CF0E3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C9D6D-EF09-C243-9D4F-E59C82BDA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D5473-E8C9-5D47-AE0C-45EA95A84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93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3.emf"/><Relationship Id="rId26" Type="http://schemas.openxmlformats.org/officeDocument/2006/relationships/image" Target="../media/image17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0.e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emf"/><Relationship Id="rId20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6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8.emf"/><Relationship Id="rId10" Type="http://schemas.openxmlformats.org/officeDocument/2006/relationships/image" Target="../media/image9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6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1.emf"/><Relationship Id="rId22" Type="http://schemas.openxmlformats.org/officeDocument/2006/relationships/image" Target="../media/image15.emf"/><Relationship Id="rId27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otorshow.com.br/avaliacao-toyota-rav4-hybrid-traz-combinacao/" TargetMode="External"/><Relationship Id="rId7" Type="http://schemas.openxmlformats.org/officeDocument/2006/relationships/image" Target="../media/image31.jpeg"/><Relationship Id="rId2" Type="http://schemas.openxmlformats.org/officeDocument/2006/relationships/hyperlink" Target="https://motorshow.com.br/avaliacao-toyota-camry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hyperlink" Target="https://motorshow.com.br/impressoes-toyota-corolla-2020-do-basico-2-0-ao-top-de-linha-hibrido/" TargetMode="External"/><Relationship Id="rId4" Type="http://schemas.openxmlformats.org/officeDocument/2006/relationships/hyperlink" Target="https://motorshow.com.br/avaliacao-toyota-prius-boa-opcao-sedas-medios-tradicionais/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dsmweb.org/building-and-creating-a-dsm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ítulo 1">
            <a:extLst>
              <a:ext uri="{FF2B5EF4-FFF2-40B4-BE49-F238E27FC236}">
                <a16:creationId xmlns:a16="http://schemas.microsoft.com/office/drawing/2014/main" id="{DF12D3E1-C27C-224E-9C60-8F96E702E8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37733" y="734730"/>
            <a:ext cx="8624888" cy="1470025"/>
          </a:xfrm>
        </p:spPr>
        <p:txBody>
          <a:bodyPr>
            <a:normAutofit fontScale="90000"/>
          </a:bodyPr>
          <a:lstStyle/>
          <a:p>
            <a:r>
              <a:rPr lang="pt-BR" altLang="pt-BR" sz="3200" dirty="0">
                <a:ea typeface="ＭＳ Ｐゴシック" panose="020B0600070205080204" pitchFamily="34" charset="-128"/>
              </a:rPr>
              <a:t>Universidade de Brasília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r>
              <a:rPr lang="pt-BR" altLang="pt-BR" sz="3200" dirty="0">
                <a:ea typeface="ＭＳ Ｐゴシック" panose="020B0600070205080204" pitchFamily="34" charset="-128"/>
              </a:rPr>
              <a:t>Departamento de Engenharia de Produção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r>
              <a:rPr lang="pt-BR" altLang="pt-BR" sz="3200" dirty="0">
                <a:ea typeface="ＭＳ Ｐゴシック" panose="020B0600070205080204" pitchFamily="34" charset="-128"/>
              </a:rPr>
              <a:t>Disciplina: Engenharia de Produto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r>
              <a:rPr lang="pt-BR" altLang="pt-BR" sz="3200" dirty="0">
                <a:ea typeface="ＭＳ Ｐゴシック" panose="020B0600070205080204" pitchFamily="34" charset="-128"/>
              </a:rPr>
              <a:t>  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endParaRPr lang="pt-BR" altLang="pt-BR" sz="3200" dirty="0">
              <a:ea typeface="ＭＳ Ｐゴシック" panose="020B0600070205080204" pitchFamily="34" charset="-128"/>
            </a:endParaRPr>
          </a:p>
        </p:txBody>
      </p:sp>
      <p:sp>
        <p:nvSpPr>
          <p:cNvPr id="16386" name="Subtítulo 2">
            <a:extLst>
              <a:ext uri="{FF2B5EF4-FFF2-40B4-BE49-F238E27FC236}">
                <a16:creationId xmlns:a16="http://schemas.microsoft.com/office/drawing/2014/main" id="{E0AA482A-9EED-9642-B6C9-16B84286CC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2378843"/>
            <a:ext cx="8903110" cy="2532369"/>
          </a:xfrm>
        </p:spPr>
        <p:txBody>
          <a:bodyPr>
            <a:normAutofit/>
          </a:bodyPr>
          <a:lstStyle/>
          <a:p>
            <a:r>
              <a:rPr lang="pt-BR" altLang="pt-BR" dirty="0">
                <a:ea typeface="ＭＳ Ｐゴシック" panose="020B0600070205080204" pitchFamily="34" charset="-128"/>
              </a:rPr>
              <a:t>Aula 18   – </a:t>
            </a:r>
            <a:r>
              <a:rPr lang="pt-BR" altLang="pt-BR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PROJETO CONCEITUAL</a:t>
            </a:r>
          </a:p>
          <a:p>
            <a:r>
              <a:rPr lang="pt-BR" altLang="pt-BR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ARQUITETURA DO PRODUTO</a:t>
            </a:r>
          </a:p>
          <a:p>
            <a:r>
              <a:rPr lang="pt-BR" altLang="pt-BR" dirty="0">
                <a:ea typeface="ＭＳ Ｐゴシック" panose="020B0600070205080204" pitchFamily="34" charset="-128"/>
              </a:rPr>
              <a:t>Profa. Andréa Santos</a:t>
            </a:r>
          </a:p>
          <a:p>
            <a:endParaRPr lang="pt-BR" altLang="pt-BR" dirty="0">
              <a:ea typeface="ＭＳ Ｐゴシック" panose="020B0600070205080204" pitchFamily="34" charset="-128"/>
            </a:endParaRPr>
          </a:p>
        </p:txBody>
      </p:sp>
      <p:sp>
        <p:nvSpPr>
          <p:cNvPr id="16387" name="CaixaDeTexto 3">
            <a:extLst>
              <a:ext uri="{FF2B5EF4-FFF2-40B4-BE49-F238E27FC236}">
                <a16:creationId xmlns:a16="http://schemas.microsoft.com/office/drawing/2014/main" id="{006B801A-9F5D-EA4A-8F5B-AF84A61B3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4399" y="5259387"/>
            <a:ext cx="7056438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dirty="0"/>
              <a:t>Fonte: Capítulo 7  -</a:t>
            </a:r>
            <a:r>
              <a:rPr lang="pt-BR" altLang="pt-BR" sz="2000" dirty="0" err="1"/>
              <a:t>Rozenfeld</a:t>
            </a:r>
            <a:r>
              <a:rPr lang="pt-BR" altLang="pt-BR" sz="2000" dirty="0"/>
              <a:t> et al (2006)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dirty="0"/>
              <a:t>               Capítulo  6 – Back  et al (2008)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 dirty="0"/>
              <a:t>Capítulo 7 – </a:t>
            </a:r>
            <a:r>
              <a:rPr lang="pt-BR" altLang="pt-BR" sz="2000" b="1" dirty="0" err="1"/>
              <a:t>Baxter</a:t>
            </a:r>
            <a:r>
              <a:rPr lang="pt-BR" altLang="pt-BR" sz="2000" b="1" dirty="0"/>
              <a:t> (2003)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 dirty="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773B6-C447-8D45-8ACA-69E5B7545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066" y="503238"/>
            <a:ext cx="9144000" cy="627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047760-DD3D-B943-A3AC-7F5357C5C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704" y="0"/>
            <a:ext cx="73882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pt-BR" b="1"/>
              <a:t>MÉTODOS DE CRIATIVIDADE</a:t>
            </a:r>
          </a:p>
        </p:txBody>
      </p:sp>
    </p:spTree>
    <p:extLst>
      <p:ext uri="{BB962C8B-B14F-4D97-AF65-F5344CB8AC3E}">
        <p14:creationId xmlns:p14="http://schemas.microsoft.com/office/powerpoint/2010/main" val="340959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0D163E4-B71E-F243-B19A-60CFD6E0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271" y="1569508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E8ECC593-474E-8F44-9CDF-689D0BBFA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121" y="1807633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1E28BCA9-F18F-D944-BA97-09CE32DEC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008" y="4088871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7A120405-484B-284E-A688-6E732020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508" y="4755621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B1DB5E6C-EBE1-1F41-ADC9-E4088D21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21" y="4731808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dos princípios de soluções)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56C0622E-D11C-4B44-B36B-4B80A085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646" y="4090458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99023883-D15F-E548-A094-94FA62576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208" y="1845733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DBFF105D-81BE-574A-B1AB-7C3FB52EC401}"/>
              </a:ext>
            </a:extLst>
          </p:cNvPr>
          <p:cNvGrpSpPr>
            <a:grpSpLocks/>
          </p:cNvGrpSpPr>
          <p:nvPr/>
        </p:nvGrpSpPr>
        <p:grpSpPr bwMode="auto">
          <a:xfrm>
            <a:off x="5909733" y="897996"/>
            <a:ext cx="1649413" cy="4724400"/>
            <a:chOff x="2880" y="747"/>
            <a:chExt cx="1039" cy="2976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B20FE7D-AA0D-5D43-8A09-3B67B07D6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774DED04-E249-FF4A-8FBB-310097285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9171BA6B-749C-2046-9090-65A8A7A5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47279D02-6B64-A64E-9B1D-E79850484F23}"/>
              </a:ext>
            </a:extLst>
          </p:cNvPr>
          <p:cNvGrpSpPr>
            <a:grpSpLocks/>
          </p:cNvGrpSpPr>
          <p:nvPr/>
        </p:nvGrpSpPr>
        <p:grpSpPr bwMode="auto">
          <a:xfrm>
            <a:off x="2390246" y="2728383"/>
            <a:ext cx="7116762" cy="565150"/>
            <a:chOff x="663" y="1900"/>
            <a:chExt cx="4483" cy="356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93D24138-891C-774D-AB86-AA868FD34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42E6C277-66B3-4B45-9770-7CF86FC08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5A0ABF73-3B40-2943-A4EA-8EBD879C9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19" name="Text Box 13">
            <a:extLst>
              <a:ext uri="{FF2B5EF4-FFF2-40B4-BE49-F238E27FC236}">
                <a16:creationId xmlns:a16="http://schemas.microsoft.com/office/drawing/2014/main" id="{C9383A49-31A4-8243-AB8E-D036676A9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208" y="959908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0" name="Group 14">
            <a:extLst>
              <a:ext uri="{FF2B5EF4-FFF2-40B4-BE49-F238E27FC236}">
                <a16:creationId xmlns:a16="http://schemas.microsoft.com/office/drawing/2014/main" id="{6EAA91D5-564F-B04A-8626-43ABEA1FFC14}"/>
              </a:ext>
            </a:extLst>
          </p:cNvPr>
          <p:cNvGrpSpPr>
            <a:grpSpLocks/>
          </p:cNvGrpSpPr>
          <p:nvPr/>
        </p:nvGrpSpPr>
        <p:grpSpPr bwMode="auto">
          <a:xfrm>
            <a:off x="4365096" y="2464858"/>
            <a:ext cx="665162" cy="1595438"/>
            <a:chOff x="1988" y="1815"/>
            <a:chExt cx="419" cy="1005"/>
          </a:xfrm>
        </p:grpSpPr>
        <p:sp>
          <p:nvSpPr>
            <p:cNvPr id="21" name="AutoShape 15">
              <a:extLst>
                <a:ext uri="{FF2B5EF4-FFF2-40B4-BE49-F238E27FC236}">
                  <a16:creationId xmlns:a16="http://schemas.microsoft.com/office/drawing/2014/main" id="{266E1997-2FC4-1C46-B2D2-64102530E3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F0721D4A-67ED-F449-9DA8-FE316357B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D2648315-DD42-F744-B0B5-FA80190D3673}"/>
              </a:ext>
            </a:extLst>
          </p:cNvPr>
          <p:cNvGrpSpPr>
            <a:grpSpLocks/>
          </p:cNvGrpSpPr>
          <p:nvPr/>
        </p:nvGrpSpPr>
        <p:grpSpPr bwMode="auto">
          <a:xfrm>
            <a:off x="5460471" y="4052358"/>
            <a:ext cx="973137" cy="638175"/>
            <a:chOff x="4590" y="1024"/>
            <a:chExt cx="613" cy="402"/>
          </a:xfrm>
        </p:grpSpPr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A4A4AC5B-CADA-6649-A498-A464A02D3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846E4CDE-72C1-D64F-BF51-F601DC563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E3FFFF-DBFF-2046-967C-CE3F6FC7DB61}"/>
              </a:ext>
            </a:extLst>
          </p:cNvPr>
          <p:cNvGrpSpPr>
            <a:grpSpLocks/>
          </p:cNvGrpSpPr>
          <p:nvPr/>
        </p:nvGrpSpPr>
        <p:grpSpPr bwMode="auto">
          <a:xfrm>
            <a:off x="6809846" y="2529946"/>
            <a:ext cx="665162" cy="1408112"/>
            <a:chOff x="4965" y="915"/>
            <a:chExt cx="419" cy="887"/>
          </a:xfrm>
        </p:grpSpPr>
        <p:sp>
          <p:nvSpPr>
            <p:cNvPr id="27" name="AutoShape 26">
              <a:extLst>
                <a:ext uri="{FF2B5EF4-FFF2-40B4-BE49-F238E27FC236}">
                  <a16:creationId xmlns:a16="http://schemas.microsoft.com/office/drawing/2014/main" id="{7BC56FCD-0D12-DD47-ABDE-1253D7F18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893352B8-8BD8-DF4F-84F0-2D08E7C48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9" name="Text Box 29">
            <a:extLst>
              <a:ext uri="{FF2B5EF4-FFF2-40B4-BE49-F238E27FC236}">
                <a16:creationId xmlns:a16="http://schemas.microsoft.com/office/drawing/2014/main" id="{923BEC4D-3C43-EA4E-A6F3-4DECC0DF5B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228695" y="2282296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FA61A03-5A37-0046-9FFF-E335C67E2E25}"/>
              </a:ext>
            </a:extLst>
          </p:cNvPr>
          <p:cNvGrpSpPr>
            <a:grpSpLocks/>
          </p:cNvGrpSpPr>
          <p:nvPr/>
        </p:nvGrpSpPr>
        <p:grpSpPr bwMode="auto">
          <a:xfrm>
            <a:off x="1269470" y="1926696"/>
            <a:ext cx="2470151" cy="638175"/>
            <a:chOff x="-43" y="1395"/>
            <a:chExt cx="1556" cy="402"/>
          </a:xfrm>
        </p:grpSpPr>
        <p:sp>
          <p:nvSpPr>
            <p:cNvPr id="31" name="AutoShape 31">
              <a:extLst>
                <a:ext uri="{FF2B5EF4-FFF2-40B4-BE49-F238E27FC236}">
                  <a16:creationId xmlns:a16="http://schemas.microsoft.com/office/drawing/2014/main" id="{14DB2AF6-7A31-2C41-8D42-CF134EF0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7A12F1EB-AE7F-8A40-B518-D89AF757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09CB098A-283B-D64E-8892-1B80CA370FD5}"/>
              </a:ext>
            </a:extLst>
          </p:cNvPr>
          <p:cNvGrpSpPr>
            <a:grpSpLocks/>
          </p:cNvGrpSpPr>
          <p:nvPr/>
        </p:nvGrpSpPr>
        <p:grpSpPr bwMode="auto">
          <a:xfrm>
            <a:off x="8173508" y="1933046"/>
            <a:ext cx="2047875" cy="638175"/>
            <a:chOff x="4306" y="1399"/>
            <a:chExt cx="1290" cy="402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73045468-3101-934E-A059-7FD901868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88FB826F-0450-DA4D-AA16-6470456BB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90602C74-371C-264A-A379-16B2318D21EC}"/>
              </a:ext>
            </a:extLst>
          </p:cNvPr>
          <p:cNvGrpSpPr>
            <a:grpSpLocks/>
          </p:cNvGrpSpPr>
          <p:nvPr/>
        </p:nvGrpSpPr>
        <p:grpSpPr bwMode="auto">
          <a:xfrm>
            <a:off x="1218670" y="1326621"/>
            <a:ext cx="4057650" cy="4737100"/>
            <a:chOff x="165" y="1145"/>
            <a:chExt cx="2362" cy="2984"/>
          </a:xfrm>
        </p:grpSpPr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5FEEF8AB-C5C0-B44E-B63B-8C9EDAEB0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" y="3611"/>
              <a:ext cx="1133" cy="518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solidFill>
                    <a:schemeClr val="bg1"/>
                  </a:solidFill>
                </a:rPr>
                <a:t>Modelagem funcional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098FF7-0331-A144-B56F-D5E22D279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" y="1145"/>
              <a:ext cx="860" cy="2368"/>
            </a:xfrm>
            <a:prstGeom prst="ellipse">
              <a:avLst/>
            </a:prstGeom>
            <a:noFill/>
            <a:ln w="317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5F635143-A52B-3C44-A946-5D5D25226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4" y="2871"/>
              <a:ext cx="877" cy="7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</p:grp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24B30-82A0-D94D-A4D3-D809CFE46FC1}"/>
              </a:ext>
            </a:extLst>
          </p:cNvPr>
          <p:cNvSpPr txBox="1"/>
          <p:nvPr/>
        </p:nvSpPr>
        <p:spPr>
          <a:xfrm>
            <a:off x="925512" y="6127905"/>
            <a:ext cx="6109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CONSTRUIR AS ALTERNATIVAS FUNCIONAIS</a:t>
            </a:r>
          </a:p>
          <a:p>
            <a:pPr marL="342900" indent="-342900" algn="ctr"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SELECIONAR AS ALTERNATIVAS FUNCIONAIS </a:t>
            </a:r>
          </a:p>
        </p:txBody>
      </p:sp>
    </p:spTree>
    <p:extLst>
      <p:ext uri="{BB962C8B-B14F-4D97-AF65-F5344CB8AC3E}">
        <p14:creationId xmlns:p14="http://schemas.microsoft.com/office/powerpoint/2010/main" val="322706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0D163E4-B71E-F243-B19A-60CFD6E0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271" y="1569508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E8ECC593-474E-8F44-9CDF-689D0BBFA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121" y="1807633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1E28BCA9-F18F-D944-BA97-09CE32DEC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008" y="4088871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7A120405-484B-284E-A688-6E732020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508" y="4755621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B1DB5E6C-EBE1-1F41-ADC9-E4088D21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21" y="4731808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 dirty="0"/>
              <a:t>(Campo dos princípios de soluções)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56C0622E-D11C-4B44-B36B-4B80A085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646" y="4090458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99023883-D15F-E548-A094-94FA62576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208" y="1845733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DBFF105D-81BE-574A-B1AB-7C3FB52EC401}"/>
              </a:ext>
            </a:extLst>
          </p:cNvPr>
          <p:cNvGrpSpPr>
            <a:grpSpLocks/>
          </p:cNvGrpSpPr>
          <p:nvPr/>
        </p:nvGrpSpPr>
        <p:grpSpPr bwMode="auto">
          <a:xfrm>
            <a:off x="5909733" y="897996"/>
            <a:ext cx="1649413" cy="4724400"/>
            <a:chOff x="2880" y="747"/>
            <a:chExt cx="1039" cy="2976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B20FE7D-AA0D-5D43-8A09-3B67B07D6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774DED04-E249-FF4A-8FBB-310097285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9171BA6B-749C-2046-9090-65A8A7A5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47279D02-6B64-A64E-9B1D-E79850484F23}"/>
              </a:ext>
            </a:extLst>
          </p:cNvPr>
          <p:cNvGrpSpPr>
            <a:grpSpLocks/>
          </p:cNvGrpSpPr>
          <p:nvPr/>
        </p:nvGrpSpPr>
        <p:grpSpPr bwMode="auto">
          <a:xfrm>
            <a:off x="2390246" y="2728383"/>
            <a:ext cx="7116762" cy="565150"/>
            <a:chOff x="663" y="1900"/>
            <a:chExt cx="4483" cy="356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93D24138-891C-774D-AB86-AA868FD34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42E6C277-66B3-4B45-9770-7CF86FC08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5A0ABF73-3B40-2943-A4EA-8EBD879C9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19" name="Text Box 13">
            <a:extLst>
              <a:ext uri="{FF2B5EF4-FFF2-40B4-BE49-F238E27FC236}">
                <a16:creationId xmlns:a16="http://schemas.microsoft.com/office/drawing/2014/main" id="{C9383A49-31A4-8243-AB8E-D036676A9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208" y="959908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0" name="Group 14">
            <a:extLst>
              <a:ext uri="{FF2B5EF4-FFF2-40B4-BE49-F238E27FC236}">
                <a16:creationId xmlns:a16="http://schemas.microsoft.com/office/drawing/2014/main" id="{6EAA91D5-564F-B04A-8626-43ABEA1FFC14}"/>
              </a:ext>
            </a:extLst>
          </p:cNvPr>
          <p:cNvGrpSpPr>
            <a:grpSpLocks/>
          </p:cNvGrpSpPr>
          <p:nvPr/>
        </p:nvGrpSpPr>
        <p:grpSpPr bwMode="auto">
          <a:xfrm>
            <a:off x="4365096" y="2464858"/>
            <a:ext cx="665162" cy="1595438"/>
            <a:chOff x="1988" y="1815"/>
            <a:chExt cx="419" cy="1005"/>
          </a:xfrm>
        </p:grpSpPr>
        <p:sp>
          <p:nvSpPr>
            <p:cNvPr id="21" name="AutoShape 15">
              <a:extLst>
                <a:ext uri="{FF2B5EF4-FFF2-40B4-BE49-F238E27FC236}">
                  <a16:creationId xmlns:a16="http://schemas.microsoft.com/office/drawing/2014/main" id="{266E1997-2FC4-1C46-B2D2-64102530E3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F0721D4A-67ED-F449-9DA8-FE316357B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D2648315-DD42-F744-B0B5-FA80190D3673}"/>
              </a:ext>
            </a:extLst>
          </p:cNvPr>
          <p:cNvGrpSpPr>
            <a:grpSpLocks/>
          </p:cNvGrpSpPr>
          <p:nvPr/>
        </p:nvGrpSpPr>
        <p:grpSpPr bwMode="auto">
          <a:xfrm>
            <a:off x="5460471" y="4052358"/>
            <a:ext cx="973137" cy="638175"/>
            <a:chOff x="4590" y="1024"/>
            <a:chExt cx="613" cy="402"/>
          </a:xfrm>
        </p:grpSpPr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A4A4AC5B-CADA-6649-A498-A464A02D3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846E4CDE-72C1-D64F-BF51-F601DC563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E3FFFF-DBFF-2046-967C-CE3F6FC7DB61}"/>
              </a:ext>
            </a:extLst>
          </p:cNvPr>
          <p:cNvGrpSpPr>
            <a:grpSpLocks/>
          </p:cNvGrpSpPr>
          <p:nvPr/>
        </p:nvGrpSpPr>
        <p:grpSpPr bwMode="auto">
          <a:xfrm>
            <a:off x="6809846" y="2529946"/>
            <a:ext cx="665162" cy="1408112"/>
            <a:chOff x="4965" y="915"/>
            <a:chExt cx="419" cy="887"/>
          </a:xfrm>
        </p:grpSpPr>
        <p:sp>
          <p:nvSpPr>
            <p:cNvPr id="27" name="AutoShape 26">
              <a:extLst>
                <a:ext uri="{FF2B5EF4-FFF2-40B4-BE49-F238E27FC236}">
                  <a16:creationId xmlns:a16="http://schemas.microsoft.com/office/drawing/2014/main" id="{7BC56FCD-0D12-DD47-ABDE-1253D7F18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893352B8-8BD8-DF4F-84F0-2D08E7C48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9" name="Text Box 29">
            <a:extLst>
              <a:ext uri="{FF2B5EF4-FFF2-40B4-BE49-F238E27FC236}">
                <a16:creationId xmlns:a16="http://schemas.microsoft.com/office/drawing/2014/main" id="{923BEC4D-3C43-EA4E-A6F3-4DECC0DF5B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228695" y="2282296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FA61A03-5A37-0046-9FFF-E335C67E2E25}"/>
              </a:ext>
            </a:extLst>
          </p:cNvPr>
          <p:cNvGrpSpPr>
            <a:grpSpLocks/>
          </p:cNvGrpSpPr>
          <p:nvPr/>
        </p:nvGrpSpPr>
        <p:grpSpPr bwMode="auto">
          <a:xfrm>
            <a:off x="1269470" y="1926696"/>
            <a:ext cx="2470151" cy="638175"/>
            <a:chOff x="-43" y="1395"/>
            <a:chExt cx="1556" cy="402"/>
          </a:xfrm>
        </p:grpSpPr>
        <p:sp>
          <p:nvSpPr>
            <p:cNvPr id="31" name="AutoShape 31">
              <a:extLst>
                <a:ext uri="{FF2B5EF4-FFF2-40B4-BE49-F238E27FC236}">
                  <a16:creationId xmlns:a16="http://schemas.microsoft.com/office/drawing/2014/main" id="{14DB2AF6-7A31-2C41-8D42-CF134EF0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7A12F1EB-AE7F-8A40-B518-D89AF757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09CB098A-283B-D64E-8892-1B80CA370FD5}"/>
              </a:ext>
            </a:extLst>
          </p:cNvPr>
          <p:cNvGrpSpPr>
            <a:grpSpLocks/>
          </p:cNvGrpSpPr>
          <p:nvPr/>
        </p:nvGrpSpPr>
        <p:grpSpPr bwMode="auto">
          <a:xfrm>
            <a:off x="8173508" y="1933046"/>
            <a:ext cx="2047875" cy="638175"/>
            <a:chOff x="4306" y="1399"/>
            <a:chExt cx="1290" cy="402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73045468-3101-934E-A059-7FD901868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88FB826F-0450-DA4D-AA16-6470456BB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24B30-82A0-D94D-A4D3-D809CFE46FC1}"/>
              </a:ext>
            </a:extLst>
          </p:cNvPr>
          <p:cNvSpPr txBox="1"/>
          <p:nvPr/>
        </p:nvSpPr>
        <p:spPr>
          <a:xfrm>
            <a:off x="457200" y="5796849"/>
            <a:ext cx="515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SINTESE FUNCIONAL SELECIONADA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B97066-1996-BD45-A1A9-BF19E2DCC9DE}"/>
              </a:ext>
            </a:extLst>
          </p:cNvPr>
          <p:cNvSpPr/>
          <p:nvPr/>
        </p:nvSpPr>
        <p:spPr>
          <a:xfrm>
            <a:off x="3434821" y="3854714"/>
            <a:ext cx="5247874" cy="129301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AC6EF5F9-A1A0-954C-8BD7-3B93A9678F8E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8061352" y="4986640"/>
            <a:ext cx="721756" cy="227296"/>
          </a:xfrm>
          <a:prstGeom prst="line">
            <a:avLst/>
          </a:prstGeom>
          <a:ln w="3810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B04ACC9-D0F0-9740-BC12-0A9C831F6516}"/>
              </a:ext>
            </a:extLst>
          </p:cNvPr>
          <p:cNvSpPr txBox="1"/>
          <p:nvPr/>
        </p:nvSpPr>
        <p:spPr>
          <a:xfrm>
            <a:off x="8783108" y="5029270"/>
            <a:ext cx="315615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MATRIZ MORFOLÓGICA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AC03214-6C9A-2B47-9A16-B6D8EC49D801}"/>
              </a:ext>
            </a:extLst>
          </p:cNvPr>
          <p:cNvSpPr txBox="1"/>
          <p:nvPr/>
        </p:nvSpPr>
        <p:spPr>
          <a:xfrm>
            <a:off x="8783108" y="5612183"/>
            <a:ext cx="315615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TRIZ </a:t>
            </a:r>
          </a:p>
        </p:txBody>
      </p:sp>
    </p:spTree>
    <p:extLst>
      <p:ext uri="{BB962C8B-B14F-4D97-AF65-F5344CB8AC3E}">
        <p14:creationId xmlns:p14="http://schemas.microsoft.com/office/powerpoint/2010/main" val="419201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nderização de DNA">
            <a:extLst>
              <a:ext uri="{FF2B5EF4-FFF2-40B4-BE49-F238E27FC236}">
                <a16:creationId xmlns:a16="http://schemas.microsoft.com/office/drawing/2014/main" id="{1F4FFF79-45F7-4938-850A-0959C7547A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8C18B3-A99F-0942-B1F4-A3F56D77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MATRIZ MORFOLÓGICA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CAC6EA-B37D-EC4C-B0B2-98C34681D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593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9D759FA-A375-0E4E-90DF-9BCD46F3195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33" y="518688"/>
            <a:ext cx="9719734" cy="491691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FBD0978-C314-8C43-A461-683D31AD39EA}"/>
              </a:ext>
            </a:extLst>
          </p:cNvPr>
          <p:cNvSpPr txBox="1"/>
          <p:nvPr/>
        </p:nvSpPr>
        <p:spPr>
          <a:xfrm>
            <a:off x="2015067" y="5671574"/>
            <a:ext cx="894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SINTESE FUNCIONAL SELECIONADA E AS FUNÇÕES DE MAIS BAIXO NÍVEL</a:t>
            </a:r>
          </a:p>
        </p:txBody>
      </p:sp>
    </p:spTree>
    <p:extLst>
      <p:ext uri="{BB962C8B-B14F-4D97-AF65-F5344CB8AC3E}">
        <p14:creationId xmlns:p14="http://schemas.microsoft.com/office/powerpoint/2010/main" val="212754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7833E48-0758-5F48-BC42-4B56D2C80C7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"/>
          <a:stretch>
            <a:fillRect/>
          </a:stretch>
        </p:blipFill>
        <p:spPr>
          <a:xfrm>
            <a:off x="2499784" y="0"/>
            <a:ext cx="5905500" cy="347472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40899BA-98BD-0849-B180-BA357E9921B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" t="569" r="1737"/>
          <a:stretch>
            <a:fillRect/>
          </a:stretch>
        </p:blipFill>
        <p:spPr>
          <a:xfrm>
            <a:off x="2499784" y="3429000"/>
            <a:ext cx="5894705" cy="33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 Box 4">
            <a:extLst>
              <a:ext uri="{FF2B5EF4-FFF2-40B4-BE49-F238E27FC236}">
                <a16:creationId xmlns:a16="http://schemas.microsoft.com/office/drawing/2014/main" id="{E8F53AD0-347B-014D-8BA5-649C509B5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400" y="76200"/>
            <a:ext cx="85979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600" b="1">
                <a:latin typeface="Arial" panose="020B0604020202020204" pitchFamily="34" charset="0"/>
              </a:rPr>
              <a:t> Empregar a matriz morfológica, com os Princípios Inventivos da TIPS, para gerar os princípios funcionais que, combinados, originam as alternativas de concepção .</a:t>
            </a:r>
          </a:p>
        </p:txBody>
      </p:sp>
      <p:graphicFrame>
        <p:nvGraphicFramePr>
          <p:cNvPr id="106498" name="Object 0">
            <a:extLst>
              <a:ext uri="{FF2B5EF4-FFF2-40B4-BE49-F238E27FC236}">
                <a16:creationId xmlns:a16="http://schemas.microsoft.com/office/drawing/2014/main" id="{46CC48F5-9440-0345-A9AE-F097017E1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325" y="833438"/>
          <a:ext cx="5340350" cy="602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18300700" imgH="20967700" progId="Word.Document.8">
                  <p:embed/>
                </p:oleObj>
              </mc:Choice>
              <mc:Fallback>
                <p:oleObj name="Documento" r:id="rId3" imgW="18300700" imgH="20967700" progId="Word.Document.8">
                  <p:embed/>
                  <p:pic>
                    <p:nvPicPr>
                      <p:cNvPr id="106498" name="Object 0">
                        <a:extLst>
                          <a:ext uri="{FF2B5EF4-FFF2-40B4-BE49-F238E27FC236}">
                            <a16:creationId xmlns:a16="http://schemas.microsoft.com/office/drawing/2014/main" id="{46CC48F5-9440-0345-A9AE-F097017E1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833438"/>
                        <a:ext cx="5340350" cy="602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499" name="Group 21">
            <a:extLst>
              <a:ext uri="{FF2B5EF4-FFF2-40B4-BE49-F238E27FC236}">
                <a16:creationId xmlns:a16="http://schemas.microsoft.com/office/drawing/2014/main" id="{31F084E2-E6C6-0C49-8725-4A9DE8D4C29A}"/>
              </a:ext>
            </a:extLst>
          </p:cNvPr>
          <p:cNvGrpSpPr>
            <a:grpSpLocks/>
          </p:cNvGrpSpPr>
          <p:nvPr/>
        </p:nvGrpSpPr>
        <p:grpSpPr bwMode="auto">
          <a:xfrm>
            <a:off x="4914900" y="1117600"/>
            <a:ext cx="5346700" cy="3867150"/>
            <a:chOff x="2016" y="704"/>
            <a:chExt cx="3368" cy="2436"/>
          </a:xfrm>
        </p:grpSpPr>
        <p:sp>
          <p:nvSpPr>
            <p:cNvPr id="106512" name="Line 8">
              <a:extLst>
                <a:ext uri="{FF2B5EF4-FFF2-40B4-BE49-F238E27FC236}">
                  <a16:creationId xmlns:a16="http://schemas.microsoft.com/office/drawing/2014/main" id="{BA990124-5282-4B40-9D2B-FF81290E1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1028"/>
              <a:ext cx="568" cy="1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3" name="Line 9">
              <a:extLst>
                <a:ext uri="{FF2B5EF4-FFF2-40B4-BE49-F238E27FC236}">
                  <a16:creationId xmlns:a16="http://schemas.microsoft.com/office/drawing/2014/main" id="{0E2DDB29-BFCC-1C40-AE50-ECB31F7D6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027"/>
              <a:ext cx="2024" cy="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4" name="Line 10">
              <a:extLst>
                <a:ext uri="{FF2B5EF4-FFF2-40B4-BE49-F238E27FC236}">
                  <a16:creationId xmlns:a16="http://schemas.microsoft.com/office/drawing/2014/main" id="{27D71E0D-5724-8742-A0B5-5DE3F7D5F8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011"/>
              <a:ext cx="1232" cy="13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5" name="Line 11">
              <a:extLst>
                <a:ext uri="{FF2B5EF4-FFF2-40B4-BE49-F238E27FC236}">
                  <a16:creationId xmlns:a16="http://schemas.microsoft.com/office/drawing/2014/main" id="{B39B4C82-CBFE-9647-8702-F416981A4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0" y="814"/>
              <a:ext cx="1792" cy="1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6" name="Oval 12">
              <a:extLst>
                <a:ext uri="{FF2B5EF4-FFF2-40B4-BE49-F238E27FC236}">
                  <a16:creationId xmlns:a16="http://schemas.microsoft.com/office/drawing/2014/main" id="{D5C3050E-F745-2C41-82C3-DF603F611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968"/>
              <a:ext cx="88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106517" name="Line 15">
              <a:extLst>
                <a:ext uri="{FF2B5EF4-FFF2-40B4-BE49-F238E27FC236}">
                  <a16:creationId xmlns:a16="http://schemas.microsoft.com/office/drawing/2014/main" id="{B193C420-8584-EA40-80F9-36E8ACF3A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6" y="1043"/>
              <a:ext cx="1488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8" name="Line 16">
              <a:extLst>
                <a:ext uri="{FF2B5EF4-FFF2-40B4-BE49-F238E27FC236}">
                  <a16:creationId xmlns:a16="http://schemas.microsoft.com/office/drawing/2014/main" id="{427B1D32-58F4-FB45-AFB4-88C48F1BE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1044"/>
              <a:ext cx="1056" cy="17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9" name="Line 17">
              <a:extLst>
                <a:ext uri="{FF2B5EF4-FFF2-40B4-BE49-F238E27FC236}">
                  <a16:creationId xmlns:a16="http://schemas.microsoft.com/office/drawing/2014/main" id="{75466B4D-9E3E-5249-973E-CD8597A31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0" y="1044"/>
              <a:ext cx="1480" cy="20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0" name="Line 18">
              <a:extLst>
                <a:ext uri="{FF2B5EF4-FFF2-40B4-BE49-F238E27FC236}">
                  <a16:creationId xmlns:a16="http://schemas.microsoft.com/office/drawing/2014/main" id="{1ADF52C4-7865-F542-9E38-2BF9E581A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2" y="1084"/>
              <a:ext cx="592" cy="17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1" name="Line 19">
              <a:extLst>
                <a:ext uri="{FF2B5EF4-FFF2-40B4-BE49-F238E27FC236}">
                  <a16:creationId xmlns:a16="http://schemas.microsoft.com/office/drawing/2014/main" id="{B2C24424-DD24-A544-9865-2317A7117D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2" y="1076"/>
              <a:ext cx="528" cy="2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2" name="Line 20">
              <a:extLst>
                <a:ext uri="{FF2B5EF4-FFF2-40B4-BE49-F238E27FC236}">
                  <a16:creationId xmlns:a16="http://schemas.microsoft.com/office/drawing/2014/main" id="{3FBA4672-85AC-604B-AA07-08AF36D9A3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044"/>
              <a:ext cx="1184" cy="20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3" name="Oval 13">
              <a:extLst>
                <a:ext uri="{FF2B5EF4-FFF2-40B4-BE49-F238E27FC236}">
                  <a16:creationId xmlns:a16="http://schemas.microsoft.com/office/drawing/2014/main" id="{B916801D-89C4-3949-9E53-13E5BBC14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704"/>
              <a:ext cx="1568" cy="576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106524" name="Text Box 14">
              <a:extLst>
                <a:ext uri="{FF2B5EF4-FFF2-40B4-BE49-F238E27FC236}">
                  <a16:creationId xmlns:a16="http://schemas.microsoft.com/office/drawing/2014/main" id="{35B91800-5E28-4F41-B6DE-7937CDE30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8" y="790"/>
              <a:ext cx="140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Aplicação dos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Princípios Inventivos</a:t>
              </a:r>
              <a:endParaRPr lang="pt-BR" altLang="pt-BR" sz="16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06500" name="Object 1">
            <a:extLst>
              <a:ext uri="{FF2B5EF4-FFF2-40B4-BE49-F238E27FC236}">
                <a16:creationId xmlns:a16="http://schemas.microsoft.com/office/drawing/2014/main" id="{939913C7-F3D4-6143-8265-5CF7CCEE0C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2814" y="3567114"/>
          <a:ext cx="5429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5" imgW="1625600" imgH="1219200" progId="Word.Document.8">
                  <p:embed/>
                </p:oleObj>
              </mc:Choice>
              <mc:Fallback>
                <p:oleObj name="Documento" r:id="rId5" imgW="1625600" imgH="1219200" progId="Word.Document.8">
                  <p:embed/>
                  <p:pic>
                    <p:nvPicPr>
                      <p:cNvPr id="106500" name="Object 1">
                        <a:extLst>
                          <a:ext uri="{FF2B5EF4-FFF2-40B4-BE49-F238E27FC236}">
                            <a16:creationId xmlns:a16="http://schemas.microsoft.com/office/drawing/2014/main" id="{939913C7-F3D4-6143-8265-5CF7CCEE0C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4" y="3567114"/>
                        <a:ext cx="5429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2">
            <a:extLst>
              <a:ext uri="{FF2B5EF4-FFF2-40B4-BE49-F238E27FC236}">
                <a16:creationId xmlns:a16="http://schemas.microsoft.com/office/drawing/2014/main" id="{20B1BC48-CE92-C445-BF74-84092BFFD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1301" y="3575051"/>
          <a:ext cx="5429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7" imgW="1549400" imgH="1257300" progId="Word.Document.8">
                  <p:embed/>
                </p:oleObj>
              </mc:Choice>
              <mc:Fallback>
                <p:oleObj name="Documento" r:id="rId7" imgW="1549400" imgH="1257300" progId="Word.Document.8">
                  <p:embed/>
                  <p:pic>
                    <p:nvPicPr>
                      <p:cNvPr id="106501" name="Object 2">
                        <a:extLst>
                          <a:ext uri="{FF2B5EF4-FFF2-40B4-BE49-F238E27FC236}">
                            <a16:creationId xmlns:a16="http://schemas.microsoft.com/office/drawing/2014/main" id="{20B1BC48-CE92-C445-BF74-84092BFFD2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3575051"/>
                        <a:ext cx="5429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3">
            <a:extLst>
              <a:ext uri="{FF2B5EF4-FFF2-40B4-BE49-F238E27FC236}">
                <a16:creationId xmlns:a16="http://schemas.microsoft.com/office/drawing/2014/main" id="{FA23B121-2DF6-5046-B3A6-CFDC5440C2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150" y="4229101"/>
          <a:ext cx="6096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9" imgW="1828800" imgH="1308100" progId="Word.Document.8">
                  <p:embed/>
                </p:oleObj>
              </mc:Choice>
              <mc:Fallback>
                <p:oleObj name="Documento" r:id="rId9" imgW="1828800" imgH="1308100" progId="Word.Document.8">
                  <p:embed/>
                  <p:pic>
                    <p:nvPicPr>
                      <p:cNvPr id="106502" name="Object 3">
                        <a:extLst>
                          <a:ext uri="{FF2B5EF4-FFF2-40B4-BE49-F238E27FC236}">
                            <a16:creationId xmlns:a16="http://schemas.microsoft.com/office/drawing/2014/main" id="{FA23B121-2DF6-5046-B3A6-CFDC5440C2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4229101"/>
                        <a:ext cx="6096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4">
            <a:extLst>
              <a:ext uri="{FF2B5EF4-FFF2-40B4-BE49-F238E27FC236}">
                <a16:creationId xmlns:a16="http://schemas.microsoft.com/office/drawing/2014/main" id="{6B2E5E07-2457-A347-967B-2ECA10C63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0813" y="4938713"/>
          <a:ext cx="6350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1" imgW="2146300" imgH="1282700" progId="Word.Document.8">
                  <p:embed/>
                </p:oleObj>
              </mc:Choice>
              <mc:Fallback>
                <p:oleObj name="Documento" r:id="rId11" imgW="2146300" imgH="1282700" progId="Word.Document.8">
                  <p:embed/>
                  <p:pic>
                    <p:nvPicPr>
                      <p:cNvPr id="106503" name="Object 4">
                        <a:extLst>
                          <a:ext uri="{FF2B5EF4-FFF2-40B4-BE49-F238E27FC236}">
                            <a16:creationId xmlns:a16="http://schemas.microsoft.com/office/drawing/2014/main" id="{6B2E5E07-2457-A347-967B-2ECA10C63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813" y="4938713"/>
                        <a:ext cx="6350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5">
            <a:extLst>
              <a:ext uri="{FF2B5EF4-FFF2-40B4-BE49-F238E27FC236}">
                <a16:creationId xmlns:a16="http://schemas.microsoft.com/office/drawing/2014/main" id="{D344EF64-B554-BF44-9EFB-2F5E82962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3288" y="4935539"/>
          <a:ext cx="5778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3" imgW="2032000" imgH="1193800" progId="Word.Document.8">
                  <p:embed/>
                </p:oleObj>
              </mc:Choice>
              <mc:Fallback>
                <p:oleObj name="Documento" r:id="rId13" imgW="2032000" imgH="1193800" progId="Word.Document.8">
                  <p:embed/>
                  <p:pic>
                    <p:nvPicPr>
                      <p:cNvPr id="106504" name="Object 5">
                        <a:extLst>
                          <a:ext uri="{FF2B5EF4-FFF2-40B4-BE49-F238E27FC236}">
                            <a16:creationId xmlns:a16="http://schemas.microsoft.com/office/drawing/2014/main" id="{D344EF64-B554-BF44-9EFB-2F5E82962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4935539"/>
                        <a:ext cx="57785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6">
            <a:extLst>
              <a:ext uri="{FF2B5EF4-FFF2-40B4-BE49-F238E27FC236}">
                <a16:creationId xmlns:a16="http://schemas.microsoft.com/office/drawing/2014/main" id="{2713469F-03D4-4945-8245-89CF6EF0D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7188" y="4918075"/>
          <a:ext cx="67786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5" imgW="2374900" imgH="1409700" progId="Word.Document.8">
                  <p:embed/>
                </p:oleObj>
              </mc:Choice>
              <mc:Fallback>
                <p:oleObj name="Documento" r:id="rId15" imgW="2374900" imgH="1409700" progId="Word.Document.8">
                  <p:embed/>
                  <p:pic>
                    <p:nvPicPr>
                      <p:cNvPr id="106505" name="Object 6">
                        <a:extLst>
                          <a:ext uri="{FF2B5EF4-FFF2-40B4-BE49-F238E27FC236}">
                            <a16:creationId xmlns:a16="http://schemas.microsoft.com/office/drawing/2014/main" id="{2713469F-03D4-4945-8245-89CF6EF0D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188" y="4918075"/>
                        <a:ext cx="67786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7">
            <a:extLst>
              <a:ext uri="{FF2B5EF4-FFF2-40B4-BE49-F238E27FC236}">
                <a16:creationId xmlns:a16="http://schemas.microsoft.com/office/drawing/2014/main" id="{4724B546-17B5-C746-82FA-6A72204FFB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599113"/>
          <a:ext cx="57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7" imgW="2006600" imgH="1193800" progId="Word.Document.8">
                  <p:embed/>
                </p:oleObj>
              </mc:Choice>
              <mc:Fallback>
                <p:oleObj name="Documento" r:id="rId17" imgW="2006600" imgH="1193800" progId="Word.Document.8">
                  <p:embed/>
                  <p:pic>
                    <p:nvPicPr>
                      <p:cNvPr id="106506" name="Object 7">
                        <a:extLst>
                          <a:ext uri="{FF2B5EF4-FFF2-40B4-BE49-F238E27FC236}">
                            <a16:creationId xmlns:a16="http://schemas.microsoft.com/office/drawing/2014/main" id="{4724B546-17B5-C746-82FA-6A72204FF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599113"/>
                        <a:ext cx="571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7" name="Object 8">
            <a:extLst>
              <a:ext uri="{FF2B5EF4-FFF2-40B4-BE49-F238E27FC236}">
                <a16:creationId xmlns:a16="http://schemas.microsoft.com/office/drawing/2014/main" id="{15F7722B-BEFA-3E43-8083-915E246218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1864" y="5608639"/>
          <a:ext cx="5683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9" imgW="2146300" imgH="1257300" progId="Word.Document.8">
                  <p:embed/>
                </p:oleObj>
              </mc:Choice>
              <mc:Fallback>
                <p:oleObj name="Documento" r:id="rId19" imgW="2146300" imgH="1257300" progId="Word.Document.8">
                  <p:embed/>
                  <p:pic>
                    <p:nvPicPr>
                      <p:cNvPr id="106507" name="Object 8">
                        <a:extLst>
                          <a:ext uri="{FF2B5EF4-FFF2-40B4-BE49-F238E27FC236}">
                            <a16:creationId xmlns:a16="http://schemas.microsoft.com/office/drawing/2014/main" id="{15F7722B-BEFA-3E43-8083-915E246218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864" y="5608639"/>
                        <a:ext cx="5683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9">
            <a:extLst>
              <a:ext uri="{FF2B5EF4-FFF2-40B4-BE49-F238E27FC236}">
                <a16:creationId xmlns:a16="http://schemas.microsoft.com/office/drawing/2014/main" id="{A0B591A4-004F-DF4D-987A-F5B90CFE6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5288" y="5549901"/>
          <a:ext cx="6096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1" imgW="2209800" imgH="1041400" progId="Word.Document.8">
                  <p:embed/>
                </p:oleObj>
              </mc:Choice>
              <mc:Fallback>
                <p:oleObj name="Documento" r:id="rId21" imgW="2209800" imgH="1041400" progId="Word.Document.8">
                  <p:embed/>
                  <p:pic>
                    <p:nvPicPr>
                      <p:cNvPr id="106508" name="Object 9">
                        <a:extLst>
                          <a:ext uri="{FF2B5EF4-FFF2-40B4-BE49-F238E27FC236}">
                            <a16:creationId xmlns:a16="http://schemas.microsoft.com/office/drawing/2014/main" id="{A0B591A4-004F-DF4D-987A-F5B90CFE6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5549901"/>
                        <a:ext cx="6096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9" name="Object 10">
            <a:extLst>
              <a:ext uri="{FF2B5EF4-FFF2-40B4-BE49-F238E27FC236}">
                <a16:creationId xmlns:a16="http://schemas.microsoft.com/office/drawing/2014/main" id="{57FC8738-1B04-564D-9C85-0C6F8C333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6338" y="5487988"/>
          <a:ext cx="647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3" imgW="2603500" imgH="1524000" progId="Word.Document.8">
                  <p:embed/>
                </p:oleObj>
              </mc:Choice>
              <mc:Fallback>
                <p:oleObj name="Documento" r:id="rId23" imgW="2603500" imgH="1524000" progId="Word.Document.8">
                  <p:embed/>
                  <p:pic>
                    <p:nvPicPr>
                      <p:cNvPr id="106509" name="Object 10">
                        <a:extLst>
                          <a:ext uri="{FF2B5EF4-FFF2-40B4-BE49-F238E27FC236}">
                            <a16:creationId xmlns:a16="http://schemas.microsoft.com/office/drawing/2014/main" id="{57FC8738-1B04-564D-9C85-0C6F8C333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5487988"/>
                        <a:ext cx="647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0" name="Object 11">
            <a:extLst>
              <a:ext uri="{FF2B5EF4-FFF2-40B4-BE49-F238E27FC236}">
                <a16:creationId xmlns:a16="http://schemas.microsoft.com/office/drawing/2014/main" id="{32A9FA05-D1CC-D94C-B7F8-2AB2ECE61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4638" y="6199188"/>
          <a:ext cx="4381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5" imgW="1803400" imgH="1193800" progId="Word.Document.8">
                  <p:embed/>
                </p:oleObj>
              </mc:Choice>
              <mc:Fallback>
                <p:oleObj name="Documento" r:id="rId25" imgW="1803400" imgH="1193800" progId="Word.Document.8">
                  <p:embed/>
                  <p:pic>
                    <p:nvPicPr>
                      <p:cNvPr id="106510" name="Object 11">
                        <a:extLst>
                          <a:ext uri="{FF2B5EF4-FFF2-40B4-BE49-F238E27FC236}">
                            <a16:creationId xmlns:a16="http://schemas.microsoft.com/office/drawing/2014/main" id="{32A9FA05-D1CC-D94C-B7F8-2AB2ECE61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6199188"/>
                        <a:ext cx="4381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1" name="Object 12">
            <a:extLst>
              <a:ext uri="{FF2B5EF4-FFF2-40B4-BE49-F238E27FC236}">
                <a16:creationId xmlns:a16="http://schemas.microsoft.com/office/drawing/2014/main" id="{5F82F2AE-796C-0F4E-864F-FC75DBE2C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7100" y="6200776"/>
          <a:ext cx="5715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7" imgW="1714500" imgH="1143000" progId="Word.Document.8">
                  <p:embed/>
                </p:oleObj>
              </mc:Choice>
              <mc:Fallback>
                <p:oleObj name="Documento" r:id="rId27" imgW="1714500" imgH="1143000" progId="Word.Document.8">
                  <p:embed/>
                  <p:pic>
                    <p:nvPicPr>
                      <p:cNvPr id="106511" name="Object 12">
                        <a:extLst>
                          <a:ext uri="{FF2B5EF4-FFF2-40B4-BE49-F238E27FC236}">
                            <a16:creationId xmlns:a16="http://schemas.microsoft.com/office/drawing/2014/main" id="{5F82F2AE-796C-0F4E-864F-FC75DBE2C4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6200776"/>
                        <a:ext cx="5715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835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0D163E4-B71E-F243-B19A-60CFD6E0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271" y="1569508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E8ECC593-474E-8F44-9CDF-689D0BBFA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121" y="1807633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1E28BCA9-F18F-D944-BA97-09CE32DEC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008" y="4088871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7A120405-484B-284E-A688-6E732020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508" y="4755621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B1DB5E6C-EBE1-1F41-ADC9-E4088D21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21" y="4731808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 dirty="0"/>
              <a:t>(Campo dos princípios de soluções)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56C0622E-D11C-4B44-B36B-4B80A085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646" y="4090458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99023883-D15F-E548-A094-94FA62576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208" y="1845733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DBFF105D-81BE-574A-B1AB-7C3FB52EC401}"/>
              </a:ext>
            </a:extLst>
          </p:cNvPr>
          <p:cNvGrpSpPr>
            <a:grpSpLocks/>
          </p:cNvGrpSpPr>
          <p:nvPr/>
        </p:nvGrpSpPr>
        <p:grpSpPr bwMode="auto">
          <a:xfrm>
            <a:off x="5909733" y="897996"/>
            <a:ext cx="1649413" cy="4724400"/>
            <a:chOff x="2880" y="747"/>
            <a:chExt cx="1039" cy="2976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B20FE7D-AA0D-5D43-8A09-3B67B07D6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774DED04-E249-FF4A-8FBB-310097285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9171BA6B-749C-2046-9090-65A8A7A5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47279D02-6B64-A64E-9B1D-E79850484F23}"/>
              </a:ext>
            </a:extLst>
          </p:cNvPr>
          <p:cNvGrpSpPr>
            <a:grpSpLocks/>
          </p:cNvGrpSpPr>
          <p:nvPr/>
        </p:nvGrpSpPr>
        <p:grpSpPr bwMode="auto">
          <a:xfrm>
            <a:off x="2390246" y="2728383"/>
            <a:ext cx="7116762" cy="565150"/>
            <a:chOff x="663" y="1900"/>
            <a:chExt cx="4483" cy="356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93D24138-891C-774D-AB86-AA868FD34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42E6C277-66B3-4B45-9770-7CF86FC08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5A0ABF73-3B40-2943-A4EA-8EBD879C9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19" name="Text Box 13">
            <a:extLst>
              <a:ext uri="{FF2B5EF4-FFF2-40B4-BE49-F238E27FC236}">
                <a16:creationId xmlns:a16="http://schemas.microsoft.com/office/drawing/2014/main" id="{C9383A49-31A4-8243-AB8E-D036676A9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208" y="959908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0" name="Group 14">
            <a:extLst>
              <a:ext uri="{FF2B5EF4-FFF2-40B4-BE49-F238E27FC236}">
                <a16:creationId xmlns:a16="http://schemas.microsoft.com/office/drawing/2014/main" id="{6EAA91D5-564F-B04A-8626-43ABEA1FFC14}"/>
              </a:ext>
            </a:extLst>
          </p:cNvPr>
          <p:cNvGrpSpPr>
            <a:grpSpLocks/>
          </p:cNvGrpSpPr>
          <p:nvPr/>
        </p:nvGrpSpPr>
        <p:grpSpPr bwMode="auto">
          <a:xfrm>
            <a:off x="4365096" y="2464858"/>
            <a:ext cx="665162" cy="1595438"/>
            <a:chOff x="1988" y="1815"/>
            <a:chExt cx="419" cy="1005"/>
          </a:xfrm>
        </p:grpSpPr>
        <p:sp>
          <p:nvSpPr>
            <p:cNvPr id="21" name="AutoShape 15">
              <a:extLst>
                <a:ext uri="{FF2B5EF4-FFF2-40B4-BE49-F238E27FC236}">
                  <a16:creationId xmlns:a16="http://schemas.microsoft.com/office/drawing/2014/main" id="{266E1997-2FC4-1C46-B2D2-64102530E3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F0721D4A-67ED-F449-9DA8-FE316357B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D2648315-DD42-F744-B0B5-FA80190D3673}"/>
              </a:ext>
            </a:extLst>
          </p:cNvPr>
          <p:cNvGrpSpPr>
            <a:grpSpLocks/>
          </p:cNvGrpSpPr>
          <p:nvPr/>
        </p:nvGrpSpPr>
        <p:grpSpPr bwMode="auto">
          <a:xfrm>
            <a:off x="5460471" y="4052358"/>
            <a:ext cx="973137" cy="638175"/>
            <a:chOff x="4590" y="1024"/>
            <a:chExt cx="613" cy="402"/>
          </a:xfrm>
        </p:grpSpPr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A4A4AC5B-CADA-6649-A498-A464A02D3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846E4CDE-72C1-D64F-BF51-F601DC563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E3FFFF-DBFF-2046-967C-CE3F6FC7DB61}"/>
              </a:ext>
            </a:extLst>
          </p:cNvPr>
          <p:cNvGrpSpPr>
            <a:grpSpLocks/>
          </p:cNvGrpSpPr>
          <p:nvPr/>
        </p:nvGrpSpPr>
        <p:grpSpPr bwMode="auto">
          <a:xfrm>
            <a:off x="6809846" y="2529946"/>
            <a:ext cx="665162" cy="1408112"/>
            <a:chOff x="4965" y="915"/>
            <a:chExt cx="419" cy="887"/>
          </a:xfrm>
        </p:grpSpPr>
        <p:sp>
          <p:nvSpPr>
            <p:cNvPr id="27" name="AutoShape 26">
              <a:extLst>
                <a:ext uri="{FF2B5EF4-FFF2-40B4-BE49-F238E27FC236}">
                  <a16:creationId xmlns:a16="http://schemas.microsoft.com/office/drawing/2014/main" id="{7BC56FCD-0D12-DD47-ABDE-1253D7F18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893352B8-8BD8-DF4F-84F0-2D08E7C48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9" name="Text Box 29">
            <a:extLst>
              <a:ext uri="{FF2B5EF4-FFF2-40B4-BE49-F238E27FC236}">
                <a16:creationId xmlns:a16="http://schemas.microsoft.com/office/drawing/2014/main" id="{923BEC4D-3C43-EA4E-A6F3-4DECC0DF5B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228695" y="2282296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FA61A03-5A37-0046-9FFF-E335C67E2E25}"/>
              </a:ext>
            </a:extLst>
          </p:cNvPr>
          <p:cNvGrpSpPr>
            <a:grpSpLocks/>
          </p:cNvGrpSpPr>
          <p:nvPr/>
        </p:nvGrpSpPr>
        <p:grpSpPr bwMode="auto">
          <a:xfrm>
            <a:off x="1269470" y="1926696"/>
            <a:ext cx="2470151" cy="638175"/>
            <a:chOff x="-43" y="1395"/>
            <a:chExt cx="1556" cy="402"/>
          </a:xfrm>
        </p:grpSpPr>
        <p:sp>
          <p:nvSpPr>
            <p:cNvPr id="31" name="AutoShape 31">
              <a:extLst>
                <a:ext uri="{FF2B5EF4-FFF2-40B4-BE49-F238E27FC236}">
                  <a16:creationId xmlns:a16="http://schemas.microsoft.com/office/drawing/2014/main" id="{14DB2AF6-7A31-2C41-8D42-CF134EF0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7A12F1EB-AE7F-8A40-B518-D89AF757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09CB098A-283B-D64E-8892-1B80CA370FD5}"/>
              </a:ext>
            </a:extLst>
          </p:cNvPr>
          <p:cNvGrpSpPr>
            <a:grpSpLocks/>
          </p:cNvGrpSpPr>
          <p:nvPr/>
        </p:nvGrpSpPr>
        <p:grpSpPr bwMode="auto">
          <a:xfrm>
            <a:off x="8173508" y="1933046"/>
            <a:ext cx="2047875" cy="638175"/>
            <a:chOff x="4306" y="1399"/>
            <a:chExt cx="1290" cy="402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73045468-3101-934E-A059-7FD901868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88FB826F-0450-DA4D-AA16-6470456BB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24B30-82A0-D94D-A4D3-D809CFE46FC1}"/>
              </a:ext>
            </a:extLst>
          </p:cNvPr>
          <p:cNvSpPr txBox="1"/>
          <p:nvPr/>
        </p:nvSpPr>
        <p:spPr>
          <a:xfrm>
            <a:off x="457200" y="5796849"/>
            <a:ext cx="515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SINTESE FUNCIONAL SELECIONADA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B97066-1996-BD45-A1A9-BF19E2DCC9DE}"/>
              </a:ext>
            </a:extLst>
          </p:cNvPr>
          <p:cNvSpPr/>
          <p:nvPr/>
        </p:nvSpPr>
        <p:spPr>
          <a:xfrm>
            <a:off x="3434821" y="3854714"/>
            <a:ext cx="5247874" cy="129301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AC6EF5F9-A1A0-954C-8BD7-3B93A9678F8E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8061352" y="4986640"/>
            <a:ext cx="721756" cy="227296"/>
          </a:xfrm>
          <a:prstGeom prst="line">
            <a:avLst/>
          </a:prstGeom>
          <a:ln w="3810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B04ACC9-D0F0-9740-BC12-0A9C831F6516}"/>
              </a:ext>
            </a:extLst>
          </p:cNvPr>
          <p:cNvSpPr txBox="1"/>
          <p:nvPr/>
        </p:nvSpPr>
        <p:spPr>
          <a:xfrm>
            <a:off x="8783108" y="5029270"/>
            <a:ext cx="315615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MATRIZ MORFOLÓGICA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AC03214-6C9A-2B47-9A16-B6D8EC49D801}"/>
              </a:ext>
            </a:extLst>
          </p:cNvPr>
          <p:cNvSpPr txBox="1"/>
          <p:nvPr/>
        </p:nvSpPr>
        <p:spPr>
          <a:xfrm>
            <a:off x="8783108" y="5612183"/>
            <a:ext cx="315615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TRIZ 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4B8BC97-9F16-DE48-9F87-262CF85C6C61}"/>
              </a:ext>
            </a:extLst>
          </p:cNvPr>
          <p:cNvSpPr txBox="1"/>
          <p:nvPr/>
        </p:nvSpPr>
        <p:spPr>
          <a:xfrm>
            <a:off x="8679921" y="3730652"/>
            <a:ext cx="315615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ARQUITETURA DO PRODUTO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3682D08-C178-6F45-99E0-CD253883C1C2}"/>
              </a:ext>
            </a:extLst>
          </p:cNvPr>
          <p:cNvSpPr/>
          <p:nvPr/>
        </p:nvSpPr>
        <p:spPr>
          <a:xfrm>
            <a:off x="6168773" y="1379783"/>
            <a:ext cx="1963738" cy="35965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04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CED39E-B8BC-9345-8B82-C6E3DD92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DEFINIR A ARQUITETURA DO PRODUTO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89C96F-B5F8-FC44-9E31-FE8FF23E9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804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7">
            <a:extLst>
              <a:ext uri="{FF2B5EF4-FFF2-40B4-BE49-F238E27FC236}">
                <a16:creationId xmlns:a16="http://schemas.microsoft.com/office/drawing/2014/main" id="{FCC4F0C5-09CE-2347-BAA5-710A10721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7915" y="-346675"/>
            <a:ext cx="11644085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400" dirty="0"/>
              <a:t>Informações principais e dependências entre as atividades da fase de Projeto Conceitual</a:t>
            </a:r>
          </a:p>
        </p:txBody>
      </p:sp>
      <p:sp>
        <p:nvSpPr>
          <p:cNvPr id="19458" name="Rectangle 40">
            <a:extLst>
              <a:ext uri="{FF2B5EF4-FFF2-40B4-BE49-F238E27FC236}">
                <a16:creationId xmlns:a16="http://schemas.microsoft.com/office/drawing/2014/main" id="{C7220340-D638-F345-9339-CAD1F53B6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140746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aphicFrame>
        <p:nvGraphicFramePr>
          <p:cNvPr id="19459" name="Object 39">
            <a:extLst>
              <a:ext uri="{FF2B5EF4-FFF2-40B4-BE49-F238E27FC236}">
                <a16:creationId xmlns:a16="http://schemas.microsoft.com/office/drawing/2014/main" id="{3EFA6C42-1AE0-AB49-BAE9-E2E33D523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390743"/>
              </p:ext>
            </p:extLst>
          </p:nvPr>
        </p:nvGraphicFramePr>
        <p:xfrm>
          <a:off x="1185572" y="834862"/>
          <a:ext cx="8823325" cy="589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422900" imgH="3619500" progId="Word.Picture.8">
                  <p:embed/>
                </p:oleObj>
              </mc:Choice>
              <mc:Fallback>
                <p:oleObj name="Picture" r:id="rId3" imgW="5422900" imgH="3619500" progId="Word.Picture.8">
                  <p:embed/>
                  <p:pic>
                    <p:nvPicPr>
                      <p:cNvPr id="19459" name="Object 39">
                        <a:extLst>
                          <a:ext uri="{FF2B5EF4-FFF2-40B4-BE49-F238E27FC236}">
                            <a16:creationId xmlns:a16="http://schemas.microsoft.com/office/drawing/2014/main" id="{3EFA6C42-1AE0-AB49-BAE9-E2E33D523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572" y="834862"/>
                        <a:ext cx="8823325" cy="589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7753DAF0-200C-014A-B341-9548DCFACF06}"/>
              </a:ext>
            </a:extLst>
          </p:cNvPr>
          <p:cNvSpPr/>
          <p:nvPr/>
        </p:nvSpPr>
        <p:spPr>
          <a:xfrm>
            <a:off x="5254171" y="2931886"/>
            <a:ext cx="1770743" cy="98697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002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3E7F388-1C68-844E-B470-1B99DC6F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1958975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DB1F03C-9749-7E44-ABBF-835AAA2AE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5892800" cy="866775"/>
          </a:xfrm>
        </p:spPr>
        <p:txBody>
          <a:bodyPr/>
          <a:lstStyle/>
          <a:p>
            <a:pPr eaLnBrk="1" hangingPunct="1"/>
            <a:r>
              <a:rPr lang="pt-BR" altLang="pt-BR" sz="2800"/>
              <a:t>A fase de projeto conceitual</a:t>
            </a:r>
          </a:p>
        </p:txBody>
      </p:sp>
      <p:sp>
        <p:nvSpPr>
          <p:cNvPr id="21507" name="Text Box 4">
            <a:extLst>
              <a:ext uri="{FF2B5EF4-FFF2-40B4-BE49-F238E27FC236}">
                <a16:creationId xmlns:a16="http://schemas.microsoft.com/office/drawing/2014/main" id="{A9B120B6-DB68-774B-A35E-C1ACA1987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88" y="2197100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21508" name="Text Box 5">
            <a:extLst>
              <a:ext uri="{FF2B5EF4-FFF2-40B4-BE49-F238E27FC236}">
                <a16:creationId xmlns:a16="http://schemas.microsoft.com/office/drawing/2014/main" id="{D1AD0AF4-17CE-B64B-95CF-67E6081BF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276" y="4478338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21509" name="Text Box 6">
            <a:extLst>
              <a:ext uri="{FF2B5EF4-FFF2-40B4-BE49-F238E27FC236}">
                <a16:creationId xmlns:a16="http://schemas.microsoft.com/office/drawing/2014/main" id="{211004FD-C771-A54D-A6A8-AF7249CAD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8775" y="5145089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21510" name="Text Box 7">
            <a:extLst>
              <a:ext uri="{FF2B5EF4-FFF2-40B4-BE49-F238E27FC236}">
                <a16:creationId xmlns:a16="http://schemas.microsoft.com/office/drawing/2014/main" id="{BD0E2A9F-B747-9248-BDDE-D55B7C346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588" y="5121276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000"/>
              <a:t>(Campo dos princípios de soluções)</a:t>
            </a:r>
          </a:p>
        </p:txBody>
      </p:sp>
      <p:sp>
        <p:nvSpPr>
          <p:cNvPr id="21511" name="Text Box 8">
            <a:extLst>
              <a:ext uri="{FF2B5EF4-FFF2-40B4-BE49-F238E27FC236}">
                <a16:creationId xmlns:a16="http://schemas.microsoft.com/office/drawing/2014/main" id="{8D7B5F97-5286-A746-832F-0B5744A91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13" y="4479925"/>
            <a:ext cx="1390650" cy="678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21512" name="Text Box 9">
            <a:extLst>
              <a:ext uri="{FF2B5EF4-FFF2-40B4-BE49-F238E27FC236}">
                <a16:creationId xmlns:a16="http://schemas.microsoft.com/office/drawing/2014/main" id="{1763D872-6F91-2A4E-833E-62BFFA41F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2235200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21513" name="Group 10">
            <a:extLst>
              <a:ext uri="{FF2B5EF4-FFF2-40B4-BE49-F238E27FC236}">
                <a16:creationId xmlns:a16="http://schemas.microsoft.com/office/drawing/2014/main" id="{4DF84095-B7AF-DC4D-AFCD-F8A810F27C65}"/>
              </a:ext>
            </a:extLst>
          </p:cNvPr>
          <p:cNvGrpSpPr>
            <a:grpSpLocks/>
          </p:cNvGrpSpPr>
          <p:nvPr/>
        </p:nvGrpSpPr>
        <p:grpSpPr bwMode="auto">
          <a:xfrm>
            <a:off x="6096001" y="1287463"/>
            <a:ext cx="1649413" cy="4724400"/>
            <a:chOff x="2880" y="747"/>
            <a:chExt cx="1039" cy="2976"/>
          </a:xfrm>
        </p:grpSpPr>
        <p:sp>
          <p:nvSpPr>
            <p:cNvPr id="21539" name="Line 11">
              <a:extLst>
                <a:ext uri="{FF2B5EF4-FFF2-40B4-BE49-F238E27FC236}">
                  <a16:creationId xmlns:a16="http://schemas.microsoft.com/office/drawing/2014/main" id="{FAF7350F-E42A-5846-ACA5-B2F78D720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40" name="Text Box 12">
              <a:extLst>
                <a:ext uri="{FF2B5EF4-FFF2-40B4-BE49-F238E27FC236}">
                  <a16:creationId xmlns:a16="http://schemas.microsoft.com/office/drawing/2014/main" id="{DEA7F942-B895-E844-84F3-30247248C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21541" name="Text Box 13">
              <a:extLst>
                <a:ext uri="{FF2B5EF4-FFF2-40B4-BE49-F238E27FC236}">
                  <a16:creationId xmlns:a16="http://schemas.microsoft.com/office/drawing/2014/main" id="{51A4CF46-542E-9E44-9D38-49A9C819F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21514" name="Group 14">
            <a:extLst>
              <a:ext uri="{FF2B5EF4-FFF2-40B4-BE49-F238E27FC236}">
                <a16:creationId xmlns:a16="http://schemas.microsoft.com/office/drawing/2014/main" id="{D5B09C64-E7C7-6845-93E7-DB23DEF4A6AD}"/>
              </a:ext>
            </a:extLst>
          </p:cNvPr>
          <p:cNvGrpSpPr>
            <a:grpSpLocks/>
          </p:cNvGrpSpPr>
          <p:nvPr/>
        </p:nvGrpSpPr>
        <p:grpSpPr bwMode="auto">
          <a:xfrm>
            <a:off x="2576513" y="3117850"/>
            <a:ext cx="7116762" cy="565150"/>
            <a:chOff x="663" y="1900"/>
            <a:chExt cx="4483" cy="356"/>
          </a:xfrm>
        </p:grpSpPr>
        <p:sp>
          <p:nvSpPr>
            <p:cNvPr id="21536" name="Line 15">
              <a:extLst>
                <a:ext uri="{FF2B5EF4-FFF2-40B4-BE49-F238E27FC236}">
                  <a16:creationId xmlns:a16="http://schemas.microsoft.com/office/drawing/2014/main" id="{2232B487-9BC5-8B47-B1F5-9CFA6A03D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37" name="Text Box 16">
              <a:extLst>
                <a:ext uri="{FF2B5EF4-FFF2-40B4-BE49-F238E27FC236}">
                  <a16:creationId xmlns:a16="http://schemas.microsoft.com/office/drawing/2014/main" id="{6FC241FD-48CD-D140-B3DD-1FD62E182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21538" name="Text Box 17">
              <a:extLst>
                <a:ext uri="{FF2B5EF4-FFF2-40B4-BE49-F238E27FC236}">
                  <a16:creationId xmlns:a16="http://schemas.microsoft.com/office/drawing/2014/main" id="{BB8F3BA7-321C-274A-B5E5-103077FDF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21515" name="Text Box 18">
            <a:extLst>
              <a:ext uri="{FF2B5EF4-FFF2-40B4-BE49-F238E27FC236}">
                <a16:creationId xmlns:a16="http://schemas.microsoft.com/office/drawing/2014/main" id="{5A2C6F5A-49AA-734F-AE06-FA6ED91DB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475" y="1349376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1516" name="Group 19">
            <a:extLst>
              <a:ext uri="{FF2B5EF4-FFF2-40B4-BE49-F238E27FC236}">
                <a16:creationId xmlns:a16="http://schemas.microsoft.com/office/drawing/2014/main" id="{D9379251-616D-B64B-B5A4-2D3DD902DF79}"/>
              </a:ext>
            </a:extLst>
          </p:cNvPr>
          <p:cNvGrpSpPr>
            <a:grpSpLocks/>
          </p:cNvGrpSpPr>
          <p:nvPr/>
        </p:nvGrpSpPr>
        <p:grpSpPr bwMode="auto">
          <a:xfrm>
            <a:off x="4551363" y="2854325"/>
            <a:ext cx="665162" cy="1595438"/>
            <a:chOff x="1988" y="1815"/>
            <a:chExt cx="419" cy="1005"/>
          </a:xfrm>
        </p:grpSpPr>
        <p:sp>
          <p:nvSpPr>
            <p:cNvPr id="21534" name="AutoShape 20">
              <a:extLst>
                <a:ext uri="{FF2B5EF4-FFF2-40B4-BE49-F238E27FC236}">
                  <a16:creationId xmlns:a16="http://schemas.microsoft.com/office/drawing/2014/main" id="{F293BE86-0803-C643-B889-6D73251AE6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1535" name="Text Box 21">
              <a:extLst>
                <a:ext uri="{FF2B5EF4-FFF2-40B4-BE49-F238E27FC236}">
                  <a16:creationId xmlns:a16="http://schemas.microsoft.com/office/drawing/2014/main" id="{D37EC3B4-4571-E645-992D-12DDB7C82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1517" name="Group 22">
            <a:extLst>
              <a:ext uri="{FF2B5EF4-FFF2-40B4-BE49-F238E27FC236}">
                <a16:creationId xmlns:a16="http://schemas.microsoft.com/office/drawing/2014/main" id="{7CC98AD6-1976-0249-9BBC-7626EFC6E95F}"/>
              </a:ext>
            </a:extLst>
          </p:cNvPr>
          <p:cNvGrpSpPr>
            <a:grpSpLocks/>
          </p:cNvGrpSpPr>
          <p:nvPr/>
        </p:nvGrpSpPr>
        <p:grpSpPr bwMode="auto">
          <a:xfrm>
            <a:off x="5646739" y="4441826"/>
            <a:ext cx="973137" cy="638175"/>
            <a:chOff x="4590" y="1024"/>
            <a:chExt cx="613" cy="402"/>
          </a:xfrm>
        </p:grpSpPr>
        <p:sp>
          <p:nvSpPr>
            <p:cNvPr id="21532" name="AutoShape 23">
              <a:extLst>
                <a:ext uri="{FF2B5EF4-FFF2-40B4-BE49-F238E27FC236}">
                  <a16:creationId xmlns:a16="http://schemas.microsoft.com/office/drawing/2014/main" id="{C837A8F6-157B-2F42-8123-D618C78FD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1533" name="Text Box 24">
              <a:extLst>
                <a:ext uri="{FF2B5EF4-FFF2-40B4-BE49-F238E27FC236}">
                  <a16:creationId xmlns:a16="http://schemas.microsoft.com/office/drawing/2014/main" id="{4BF6C7E1-F7C7-3241-826F-77C469B77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1518" name="Group 25">
            <a:extLst>
              <a:ext uri="{FF2B5EF4-FFF2-40B4-BE49-F238E27FC236}">
                <a16:creationId xmlns:a16="http://schemas.microsoft.com/office/drawing/2014/main" id="{128B04BC-1955-BC41-8F41-E64545059847}"/>
              </a:ext>
            </a:extLst>
          </p:cNvPr>
          <p:cNvGrpSpPr>
            <a:grpSpLocks/>
          </p:cNvGrpSpPr>
          <p:nvPr/>
        </p:nvGrpSpPr>
        <p:grpSpPr bwMode="auto">
          <a:xfrm>
            <a:off x="6996113" y="2919413"/>
            <a:ext cx="665162" cy="1408112"/>
            <a:chOff x="4965" y="915"/>
            <a:chExt cx="419" cy="887"/>
          </a:xfrm>
        </p:grpSpPr>
        <p:sp>
          <p:nvSpPr>
            <p:cNvPr id="21530" name="AutoShape 26">
              <a:extLst>
                <a:ext uri="{FF2B5EF4-FFF2-40B4-BE49-F238E27FC236}">
                  <a16:creationId xmlns:a16="http://schemas.microsoft.com/office/drawing/2014/main" id="{AC421906-62C0-7448-8B1A-C962F01DF0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1531" name="Text Box 27">
              <a:extLst>
                <a:ext uri="{FF2B5EF4-FFF2-40B4-BE49-F238E27FC236}">
                  <a16:creationId xmlns:a16="http://schemas.microsoft.com/office/drawing/2014/main" id="{FE8C96EC-752E-804A-96DC-3E1598BCE0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1519" name="Text Box 28">
            <a:extLst>
              <a:ext uri="{FF2B5EF4-FFF2-40B4-BE49-F238E27FC236}">
                <a16:creationId xmlns:a16="http://schemas.microsoft.com/office/drawing/2014/main" id="{57916B1C-18F2-4349-BC70-AFA50FFEB420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414963" y="2689325"/>
            <a:ext cx="1349375" cy="307777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21520" name="Group 29">
            <a:extLst>
              <a:ext uri="{FF2B5EF4-FFF2-40B4-BE49-F238E27FC236}">
                <a16:creationId xmlns:a16="http://schemas.microsoft.com/office/drawing/2014/main" id="{31DDC403-B839-9B4E-A41B-61B54D42BF71}"/>
              </a:ext>
            </a:extLst>
          </p:cNvPr>
          <p:cNvGrpSpPr>
            <a:grpSpLocks/>
          </p:cNvGrpSpPr>
          <p:nvPr/>
        </p:nvGrpSpPr>
        <p:grpSpPr bwMode="auto">
          <a:xfrm>
            <a:off x="1455738" y="2316164"/>
            <a:ext cx="2470151" cy="638175"/>
            <a:chOff x="-43" y="1395"/>
            <a:chExt cx="1556" cy="402"/>
          </a:xfrm>
        </p:grpSpPr>
        <p:sp>
          <p:nvSpPr>
            <p:cNvPr id="21528" name="AutoShape 30">
              <a:extLst>
                <a:ext uri="{FF2B5EF4-FFF2-40B4-BE49-F238E27FC236}">
                  <a16:creationId xmlns:a16="http://schemas.microsoft.com/office/drawing/2014/main" id="{80016731-367A-864F-BA6A-361DFFACC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1529" name="Text Box 31">
              <a:extLst>
                <a:ext uri="{FF2B5EF4-FFF2-40B4-BE49-F238E27FC236}">
                  <a16:creationId xmlns:a16="http://schemas.microsoft.com/office/drawing/2014/main" id="{ACE11D01-3CA9-1343-8D94-3DFDC7C57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21521" name="Group 32">
            <a:extLst>
              <a:ext uri="{FF2B5EF4-FFF2-40B4-BE49-F238E27FC236}">
                <a16:creationId xmlns:a16="http://schemas.microsoft.com/office/drawing/2014/main" id="{EC1B3D38-C738-1544-A5B0-7506DA73DDF9}"/>
              </a:ext>
            </a:extLst>
          </p:cNvPr>
          <p:cNvGrpSpPr>
            <a:grpSpLocks/>
          </p:cNvGrpSpPr>
          <p:nvPr/>
        </p:nvGrpSpPr>
        <p:grpSpPr bwMode="auto">
          <a:xfrm>
            <a:off x="8359776" y="2322514"/>
            <a:ext cx="2047875" cy="638175"/>
            <a:chOff x="4306" y="1399"/>
            <a:chExt cx="1290" cy="402"/>
          </a:xfrm>
        </p:grpSpPr>
        <p:sp>
          <p:nvSpPr>
            <p:cNvPr id="21526" name="AutoShape 33">
              <a:extLst>
                <a:ext uri="{FF2B5EF4-FFF2-40B4-BE49-F238E27FC236}">
                  <a16:creationId xmlns:a16="http://schemas.microsoft.com/office/drawing/2014/main" id="{26486A3E-C5A4-F042-AB88-54C65CFE9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1527" name="Text Box 34">
              <a:extLst>
                <a:ext uri="{FF2B5EF4-FFF2-40B4-BE49-F238E27FC236}">
                  <a16:creationId xmlns:a16="http://schemas.microsoft.com/office/drawing/2014/main" id="{06B9E7A3-BA9D-EE48-BF0E-0BFE85A05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grpSp>
        <p:nvGrpSpPr>
          <p:cNvPr id="9" name="Group 39">
            <a:extLst>
              <a:ext uri="{FF2B5EF4-FFF2-40B4-BE49-F238E27FC236}">
                <a16:creationId xmlns:a16="http://schemas.microsoft.com/office/drawing/2014/main" id="{405E3641-7CB7-1D4A-A671-284D2D2EFAA6}"/>
              </a:ext>
            </a:extLst>
          </p:cNvPr>
          <p:cNvGrpSpPr>
            <a:grpSpLocks/>
          </p:cNvGrpSpPr>
          <p:nvPr/>
        </p:nvGrpSpPr>
        <p:grpSpPr bwMode="auto">
          <a:xfrm>
            <a:off x="6362699" y="3243264"/>
            <a:ext cx="5611581" cy="3421063"/>
            <a:chOff x="3048" y="2043"/>
            <a:chExt cx="2712" cy="2155"/>
          </a:xfrm>
        </p:grpSpPr>
        <p:sp>
          <p:nvSpPr>
            <p:cNvPr id="21523" name="Text Box 36">
              <a:extLst>
                <a:ext uri="{FF2B5EF4-FFF2-40B4-BE49-F238E27FC236}">
                  <a16:creationId xmlns:a16="http://schemas.microsoft.com/office/drawing/2014/main" id="{4CA25A66-7C94-6348-A24D-7FC3EB762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7" y="3675"/>
              <a:ext cx="1133" cy="523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 dirty="0">
                  <a:solidFill>
                    <a:schemeClr val="bg1"/>
                  </a:solidFill>
                </a:rPr>
                <a:t>Alternativas de solução</a:t>
              </a:r>
            </a:p>
          </p:txBody>
        </p:sp>
        <p:sp>
          <p:nvSpPr>
            <p:cNvPr id="21524" name="Oval 37">
              <a:extLst>
                <a:ext uri="{FF2B5EF4-FFF2-40B4-BE49-F238E27FC236}">
                  <a16:creationId xmlns:a16="http://schemas.microsoft.com/office/drawing/2014/main" id="{D681D7F9-E5B4-244B-BB77-E857C8F3A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2043"/>
              <a:ext cx="1262" cy="409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1525" name="Line 38">
              <a:extLst>
                <a:ext uri="{FF2B5EF4-FFF2-40B4-BE49-F238E27FC236}">
                  <a16:creationId xmlns:a16="http://schemas.microsoft.com/office/drawing/2014/main" id="{5BBA3D6A-3F01-CE41-A791-0FE6C6BA5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97" y="2588"/>
              <a:ext cx="852" cy="1115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03288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8BA0F18-55DE-E04B-8877-9B44517F1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9263" y="180976"/>
            <a:ext cx="10582274" cy="706438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3200" b="1" dirty="0">
                <a:solidFill>
                  <a:srgbClr val="FF0000"/>
                </a:solidFill>
              </a:rPr>
              <a:t>DEFINIR ARQUITETURA 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E2598381-FE6F-864A-8260-A5C5A05B7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872900"/>
            <a:ext cx="11252199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dirty="0"/>
              <a:t>Exemplo de arquitetura de uma alternativa, representada através de seus </a:t>
            </a:r>
            <a:r>
              <a:rPr lang="pt-BR" altLang="pt-BR" sz="2400" dirty="0" err="1"/>
              <a:t>SSCs</a:t>
            </a:r>
            <a:r>
              <a:rPr lang="pt-BR" altLang="pt-BR" sz="2400" dirty="0"/>
              <a:t> e suas interfaces</a:t>
            </a:r>
            <a:r>
              <a:rPr lang="pt-BR" altLang="pt-BR" dirty="0"/>
              <a:t>.</a:t>
            </a:r>
          </a:p>
          <a:p>
            <a:pPr lvl="1" eaLnBrk="1" hangingPunct="1">
              <a:buFontTx/>
              <a:buNone/>
            </a:pPr>
            <a:endParaRPr lang="pt-BR" altLang="pt-BR" dirty="0"/>
          </a:p>
          <a:p>
            <a:pPr lvl="1" eaLnBrk="1" hangingPunct="1"/>
            <a:endParaRPr lang="pt-BR" altLang="pt-BR" dirty="0">
              <a:sym typeface="Symbol" pitchFamily="2" charset="2"/>
            </a:endParaRP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E996D6C4-755A-8E4A-A5C0-FBEE8D390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207E12BF-9692-A542-963B-F3828B066C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182162"/>
              </p:ext>
            </p:extLst>
          </p:nvPr>
        </p:nvGraphicFramePr>
        <p:xfrm>
          <a:off x="2959894" y="2571865"/>
          <a:ext cx="5262563" cy="396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21399500" imgH="16167100" progId="Word.Picture.8">
                  <p:embed/>
                </p:oleObj>
              </mc:Choice>
              <mc:Fallback>
                <p:oleObj name="Figura" r:id="rId3" imgW="21399500" imgH="16167100" progId="Word.Picture.8">
                  <p:embed/>
                  <p:pic>
                    <p:nvPicPr>
                      <p:cNvPr id="29700" name="Object 4">
                        <a:extLst>
                          <a:ext uri="{FF2B5EF4-FFF2-40B4-BE49-F238E27FC236}">
                            <a16:creationId xmlns:a16="http://schemas.microsoft.com/office/drawing/2014/main" id="{207E12BF-9692-A542-963B-F3828B066C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894" y="2571865"/>
                        <a:ext cx="5262563" cy="396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CaixaDeTexto 5">
            <a:extLst>
              <a:ext uri="{FF2B5EF4-FFF2-40B4-BE49-F238E27FC236}">
                <a16:creationId xmlns:a16="http://schemas.microsoft.com/office/drawing/2014/main" id="{AFA8FEA2-DAB7-2C4A-B5FD-5C871EBA7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175" y="1857375"/>
            <a:ext cx="5399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solidFill>
                  <a:srgbClr val="000096"/>
                </a:solidFill>
              </a:rPr>
              <a:t>Elevador de automóveis de passeio</a:t>
            </a:r>
          </a:p>
        </p:txBody>
      </p:sp>
      <p:sp>
        <p:nvSpPr>
          <p:cNvPr id="29702" name="CaixaDeTexto 6">
            <a:extLst>
              <a:ext uri="{FF2B5EF4-FFF2-40B4-BE49-F238E27FC236}">
                <a16:creationId xmlns:a16="http://schemas.microsoft.com/office/drawing/2014/main" id="{7DEDAB70-EF8E-B54E-93FA-EBC3BC016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176" y="3933825"/>
            <a:ext cx="19605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000096"/>
                </a:solidFill>
              </a:rPr>
              <a:t>Motor elétrico </a:t>
            </a:r>
          </a:p>
        </p:txBody>
      </p:sp>
      <p:sp>
        <p:nvSpPr>
          <p:cNvPr id="29703" name="CaixaDeTexto 7">
            <a:extLst>
              <a:ext uri="{FF2B5EF4-FFF2-40B4-BE49-F238E27FC236}">
                <a16:creationId xmlns:a16="http://schemas.microsoft.com/office/drawing/2014/main" id="{465492A0-8251-6045-9B62-032027E84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3663" y="2836864"/>
            <a:ext cx="19605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000096"/>
                </a:solidFill>
              </a:rPr>
              <a:t>Redutor</a:t>
            </a:r>
          </a:p>
        </p:txBody>
      </p:sp>
      <p:sp>
        <p:nvSpPr>
          <p:cNvPr id="29704" name="CaixaDeTexto 8">
            <a:extLst>
              <a:ext uri="{FF2B5EF4-FFF2-40B4-BE49-F238E27FC236}">
                <a16:creationId xmlns:a16="http://schemas.microsoft.com/office/drawing/2014/main" id="{2748CA5E-F069-984B-8C75-7D49EEF54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714" y="2641600"/>
            <a:ext cx="1958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000096"/>
                </a:solidFill>
              </a:rPr>
              <a:t>Eixo de parafuso</a:t>
            </a:r>
          </a:p>
        </p:txBody>
      </p:sp>
      <p:sp>
        <p:nvSpPr>
          <p:cNvPr id="29705" name="CaixaDeTexto 11">
            <a:extLst>
              <a:ext uri="{FF2B5EF4-FFF2-40B4-BE49-F238E27FC236}">
                <a16:creationId xmlns:a16="http://schemas.microsoft.com/office/drawing/2014/main" id="{4A7F51EC-CD1B-494F-94A5-0D461AFCE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3" y="3395664"/>
            <a:ext cx="1885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solidFill>
                  <a:srgbClr val="C00000"/>
                </a:solidFill>
              </a:rPr>
              <a:t>aciona</a:t>
            </a:r>
          </a:p>
        </p:txBody>
      </p:sp>
      <p:sp>
        <p:nvSpPr>
          <p:cNvPr id="29706" name="CaixaDeTexto 12">
            <a:extLst>
              <a:ext uri="{FF2B5EF4-FFF2-40B4-BE49-F238E27FC236}">
                <a16:creationId xmlns:a16="http://schemas.microsoft.com/office/drawing/2014/main" id="{6C80CFED-7A3F-B444-9513-6594CB614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2300289"/>
            <a:ext cx="1885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solidFill>
                  <a:srgbClr val="C00000"/>
                </a:solidFill>
              </a:rPr>
              <a:t>aciona</a:t>
            </a:r>
          </a:p>
        </p:txBody>
      </p:sp>
    </p:spTree>
    <p:extLst>
      <p:ext uri="{BB962C8B-B14F-4D97-AF65-F5344CB8AC3E}">
        <p14:creationId xmlns:p14="http://schemas.microsoft.com/office/powerpoint/2010/main" val="2805202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324E4C53-0EDA-2547-8900-670C823BE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350386"/>
            <a:ext cx="10816543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pt-BR" altLang="pt-BR" u="sng" dirty="0"/>
              <a:t>A arquitetura pode ser classificada em:</a:t>
            </a:r>
          </a:p>
          <a:p>
            <a:pPr marL="0" indent="0">
              <a:buNone/>
            </a:pPr>
            <a:r>
              <a:rPr lang="pt-BR" altLang="pt-BR" dirty="0">
                <a:solidFill>
                  <a:srgbClr val="FF0000"/>
                </a:solidFill>
                <a:latin typeface="Arial"/>
                <a:cs typeface="Arial"/>
              </a:rPr>
              <a:t>+ Modular</a:t>
            </a:r>
          </a:p>
          <a:p>
            <a:pPr lvl="1" eaLnBrk="1" hangingPunct="1"/>
            <a:r>
              <a:rPr lang="pt-BR" altLang="pt-BR" dirty="0"/>
              <a:t>cada módulo implementa uma ou algumas poucas funções, não existindo o compartilhamento de funções entre dois ou mais módulos; e as interações entre os módulos são bem definidas e fundamentais para a realização da função global do produto.</a:t>
            </a:r>
            <a:r>
              <a:rPr lang="pt-BR" altLang="pt-BR" sz="2800" dirty="0"/>
              <a:t> </a:t>
            </a:r>
            <a:endParaRPr lang="pt-BR" altLang="pt-BR" dirty="0"/>
          </a:p>
          <a:p>
            <a:pPr marL="0" indent="0">
              <a:buNone/>
            </a:pPr>
            <a:r>
              <a:rPr lang="pt-BR" altLang="pt-BR" dirty="0">
                <a:solidFill>
                  <a:srgbClr val="FF0000"/>
                </a:solidFill>
                <a:latin typeface="Arial"/>
                <a:cs typeface="Arial"/>
              </a:rPr>
              <a:t>+ Integral</a:t>
            </a:r>
          </a:p>
          <a:p>
            <a:pPr lvl="1" eaLnBrk="1" hangingPunct="1"/>
            <a:r>
              <a:rPr lang="pt-BR" altLang="pt-BR" dirty="0"/>
              <a:t>as funções do produto são distribuídas em vários conjuntos de componentes; e as interações entre os componentes são mal definidas.</a:t>
            </a:r>
            <a:r>
              <a:rPr lang="pt-BR" altLang="pt-BR" sz="2800" dirty="0"/>
              <a:t> </a:t>
            </a:r>
            <a:endParaRPr lang="pt-BR" altLang="pt-BR" dirty="0">
              <a:sym typeface="Symbol" pitchFamily="2" charset="2"/>
            </a:endParaRPr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E22AEA04-AFB8-6340-AE2F-47552031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331782" name="Text Box 6">
            <a:extLst>
              <a:ext uri="{FF2B5EF4-FFF2-40B4-BE49-F238E27FC236}">
                <a16:creationId xmlns:a16="http://schemas.microsoft.com/office/drawing/2014/main" id="{B25826B1-628E-DF4F-9E48-D7372C0D0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4" y="4858432"/>
            <a:ext cx="10598829" cy="138499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pt-BR" altLang="pt-BR" sz="2400" dirty="0">
                <a:solidFill>
                  <a:srgbClr val="FF0000"/>
                </a:solidFill>
              </a:rPr>
              <a:t>A DECISÃO DEPENDE DE FATORES TAIS COMO: 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pt-BR" altLang="pt-BR" sz="2400" dirty="0">
                <a:solidFill>
                  <a:schemeClr val="bg1"/>
                </a:solidFill>
              </a:rPr>
              <a:t>modificações no produto, desempenho, variedade, padronização dos componentes, manufatura e gerenciamento do projeto.</a:t>
            </a:r>
            <a:r>
              <a:rPr lang="pt-BR" altLang="pt-B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835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3">
            <a:extLst>
              <a:ext uri="{FF2B5EF4-FFF2-40B4-BE49-F238E27FC236}">
                <a16:creationId xmlns:a16="http://schemas.microsoft.com/office/drawing/2014/main" id="{117736EA-DB3A-DC41-80AD-E15F969C7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690" y="1228725"/>
            <a:ext cx="857885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68313">
              <a:spcBef>
                <a:spcPct val="20000"/>
              </a:spcBef>
              <a:buChar char="•"/>
              <a:tabLst>
                <a:tab pos="1809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809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809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Especialização nas tarefas 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Plataformas flexíveis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Aumento do número de variantes de produto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Economias de escala em componente comum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Economia de custos no inventário e logística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Baixo custo ciclo de vida devido facilidade de manutenção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Redução do ciclo de vida do produto por meio de melhorias incrementais, como upgrades, adicionais e adaptações.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Flexibilidade no reuso do componente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Desenvolvimento de produto Independente 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i="1" dirty="0">
                <a:cs typeface="Times New Roman" panose="02020603050405020304" pitchFamily="18" charset="0"/>
              </a:rPr>
              <a:t>Outsourcing</a:t>
            </a:r>
            <a:endParaRPr lang="pt-BR" altLang="pt-BR" sz="2000" dirty="0"/>
          </a:p>
          <a:p>
            <a:pPr>
              <a:spcBef>
                <a:spcPct val="0"/>
              </a:spcBef>
            </a:pPr>
            <a:r>
              <a:rPr lang="pt-BR" altLang="pt-BR" sz="2000" dirty="0">
                <a:cs typeface="Times New Roman" panose="02020603050405020304" pitchFamily="18" charset="0"/>
              </a:rPr>
              <a:t>Confiabilidade do sistema para alta produção e volume e curva experiência.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cs typeface="Times New Roman" panose="02020603050405020304" pitchFamily="18" charset="0"/>
              </a:rPr>
              <a:t>Exemplos: elevadores, carros de passageiros, brinquedos lego</a:t>
            </a:r>
            <a:r>
              <a:rPr lang="pt-BR" altLang="pt-BR" sz="2000" dirty="0"/>
              <a:t> </a:t>
            </a:r>
            <a:endParaRPr lang="pt-BR" altLang="pt-BR" sz="6000" dirty="0"/>
          </a:p>
        </p:txBody>
      </p:sp>
      <p:sp>
        <p:nvSpPr>
          <p:cNvPr id="33794" name="Retângulo 5">
            <a:extLst>
              <a:ext uri="{FF2B5EF4-FFF2-40B4-BE49-F238E27FC236}">
                <a16:creationId xmlns:a16="http://schemas.microsoft.com/office/drawing/2014/main" id="{28BAAAFD-9D71-EE49-B9AE-E4F2F7744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358" y="569118"/>
            <a:ext cx="734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rgbClr val="C00000"/>
                </a:solidFill>
              </a:rPr>
              <a:t>BENEFÍCIOS DE PRODUTOS MAIS MODULARES </a:t>
            </a:r>
          </a:p>
        </p:txBody>
      </p:sp>
    </p:spTree>
    <p:extLst>
      <p:ext uri="{BB962C8B-B14F-4D97-AF65-F5344CB8AC3E}">
        <p14:creationId xmlns:p14="http://schemas.microsoft.com/office/powerpoint/2010/main" val="1898017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tângulo 1">
            <a:extLst>
              <a:ext uri="{FF2B5EF4-FFF2-40B4-BE49-F238E27FC236}">
                <a16:creationId xmlns:a16="http://schemas.microsoft.com/office/drawing/2014/main" id="{A1713112-103C-9447-9463-750F180F9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591" y="702128"/>
            <a:ext cx="81915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rgbClr val="C00000"/>
                </a:solidFill>
              </a:rPr>
              <a:t>BENEFÍCIOS DE PRODUTOS MAIS INTEGRAIS</a:t>
            </a:r>
            <a:r>
              <a:rPr lang="pt-BR" altLang="pt-BR" sz="2400" dirty="0"/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 dirty="0"/>
          </a:p>
          <a:p>
            <a:pPr eaLnBrk="1" hangingPunct="1">
              <a:spcBef>
                <a:spcPct val="0"/>
              </a:spcBef>
            </a:pPr>
            <a:r>
              <a:rPr lang="pt-BR" altLang="pt-BR" sz="2400" dirty="0"/>
              <a:t>Aprendizagem interativa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400" dirty="0"/>
              <a:t>Alto nível de desempenho por meio da propriedade da tecnologia.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400" dirty="0"/>
              <a:t>Inovações sistemáticas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400" dirty="0"/>
              <a:t>Superior no acesso informação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400" dirty="0"/>
              <a:t>Proteção da inovação a partir da imitação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400" dirty="0"/>
              <a:t>Barreiras para fornecedores de componente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400" dirty="0"/>
              <a:t>Habilidades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4110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tângulo 1">
            <a:extLst>
              <a:ext uri="{FF2B5EF4-FFF2-40B4-BE49-F238E27FC236}">
                <a16:creationId xmlns:a16="http://schemas.microsoft.com/office/drawing/2014/main" id="{EFAB6CC0-EBDF-0A48-8DC4-59F19CB42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1" y="1990726"/>
            <a:ext cx="876662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/>
              <a:t>A modularização pode ser entendida como uma estratégia (ou atividade) em que são feitas estruturações no espaço para separação das partes.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/>
              <a:t>Geralmente o termo é usado para descrever os benefícios da modularidade (criação de variedade, utilização, de partes semelhantes e redução da complexidade).</a:t>
            </a:r>
          </a:p>
        </p:txBody>
      </p:sp>
      <p:sp>
        <p:nvSpPr>
          <p:cNvPr id="35842" name="Retângulo 2">
            <a:extLst>
              <a:ext uri="{FF2B5EF4-FFF2-40B4-BE49-F238E27FC236}">
                <a16:creationId xmlns:a16="http://schemas.microsoft.com/office/drawing/2014/main" id="{90458727-A3FC-9640-A86B-67D0CDF03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0986" y="468994"/>
            <a:ext cx="3022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 dirty="0">
                <a:solidFill>
                  <a:srgbClr val="C00000"/>
                </a:solidFill>
              </a:rPr>
              <a:t>MODULARIZAÇÃO </a:t>
            </a:r>
          </a:p>
        </p:txBody>
      </p:sp>
    </p:spTree>
    <p:extLst>
      <p:ext uri="{BB962C8B-B14F-4D97-AF65-F5344CB8AC3E}">
        <p14:creationId xmlns:p14="http://schemas.microsoft.com/office/powerpoint/2010/main" val="1076805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tângulo 1">
            <a:extLst>
              <a:ext uri="{FF2B5EF4-FFF2-40B4-BE49-F238E27FC236}">
                <a16:creationId xmlns:a16="http://schemas.microsoft.com/office/drawing/2014/main" id="{69F2F805-F412-424C-A11E-00D17E780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1582739"/>
            <a:ext cx="8128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/>
              <a:t>A modularidade pode ser vista como a qualidade ou característica de um sistema em separar-se em partes independentes ou módulos, que podem ser tratadas como unidades lógicas.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/>
              <a:t>A modularidade esta relacionada com a maneira pela qual o produto é fisicamente dividido em partes ou componentes.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/>
              <a:t>Desta forma Miller &amp; Elgard (1998) relatam que a modularidade é uma propriedade ou atributo relativo, ou seja, os produtos não podem ser classificados como modulares ou não, mas se exibem mais ou menos modularidade no projeto.</a:t>
            </a:r>
          </a:p>
        </p:txBody>
      </p:sp>
      <p:sp>
        <p:nvSpPr>
          <p:cNvPr id="36866" name="Retângulo 2">
            <a:extLst>
              <a:ext uri="{FF2B5EF4-FFF2-40B4-BE49-F238E27FC236}">
                <a16:creationId xmlns:a16="http://schemas.microsoft.com/office/drawing/2014/main" id="{4D2F1BDE-0BC5-0A40-9689-E9CC30A25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150" y="1020763"/>
            <a:ext cx="2801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 dirty="0">
                <a:solidFill>
                  <a:srgbClr val="C00000"/>
                </a:solidFill>
              </a:rPr>
              <a:t>MODULARIDADE </a:t>
            </a:r>
          </a:p>
        </p:txBody>
      </p:sp>
    </p:spTree>
    <p:extLst>
      <p:ext uri="{BB962C8B-B14F-4D97-AF65-F5344CB8AC3E}">
        <p14:creationId xmlns:p14="http://schemas.microsoft.com/office/powerpoint/2010/main" val="866681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Imagem 1">
            <a:extLst>
              <a:ext uri="{FF2B5EF4-FFF2-40B4-BE49-F238E27FC236}">
                <a16:creationId xmlns:a16="http://schemas.microsoft.com/office/drawing/2014/main" id="{99F33854-534E-5041-89E5-52A0146D6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483" y="1780535"/>
            <a:ext cx="7329034" cy="464952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0" name="CaixaDeTexto 2">
            <a:extLst>
              <a:ext uri="{FF2B5EF4-FFF2-40B4-BE49-F238E27FC236}">
                <a16:creationId xmlns:a16="http://schemas.microsoft.com/office/drawing/2014/main" id="{54570DE9-6136-1A4C-BF55-91864C862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661" y="532040"/>
            <a:ext cx="4630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 err="1"/>
              <a:t>Perpectivas</a:t>
            </a:r>
            <a:r>
              <a:rPr lang="pt-BR" altLang="pt-BR" sz="2400" dirty="0"/>
              <a:t> da modularidade</a:t>
            </a:r>
          </a:p>
        </p:txBody>
      </p:sp>
    </p:spTree>
    <p:extLst>
      <p:ext uri="{BB962C8B-B14F-4D97-AF65-F5344CB8AC3E}">
        <p14:creationId xmlns:p14="http://schemas.microsoft.com/office/powerpoint/2010/main" val="1755989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tângulo 1">
            <a:extLst>
              <a:ext uri="{FF2B5EF4-FFF2-40B4-BE49-F238E27FC236}">
                <a16:creationId xmlns:a16="http://schemas.microsoft.com/office/drawing/2014/main" id="{DE4838C8-E431-BC4C-BEA8-DDE2D7946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834" y="351518"/>
            <a:ext cx="883239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 i="1" dirty="0"/>
              <a:t>1 A perspectiva de como a modularidade é descrita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/>
              <a:t>A perspectiva de sistema foca-se no como a modularidade é descrita. A perspectiva de modularidade de sistema aplicada no produto pode ser subdividida em duas dimensões: os elementos (módulos) e as relações (interfaces) entre eles. </a:t>
            </a:r>
          </a:p>
        </p:txBody>
      </p:sp>
    </p:spTree>
    <p:extLst>
      <p:ext uri="{BB962C8B-B14F-4D97-AF65-F5344CB8AC3E}">
        <p14:creationId xmlns:p14="http://schemas.microsoft.com/office/powerpoint/2010/main" val="1066008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Imagem 1">
            <a:extLst>
              <a:ext uri="{FF2B5EF4-FFF2-40B4-BE49-F238E27FC236}">
                <a16:creationId xmlns:a16="http://schemas.microsoft.com/office/drawing/2014/main" id="{D5732CB7-6B43-1A47-8985-C41BCC670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252" y="1387249"/>
            <a:ext cx="8765948" cy="5156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FBB6FF0-2DFC-5C45-9082-A75250ACDAD1}"/>
              </a:ext>
            </a:extLst>
          </p:cNvPr>
          <p:cNvSpPr txBox="1"/>
          <p:nvPr/>
        </p:nvSpPr>
        <p:spPr>
          <a:xfrm>
            <a:off x="2837883" y="6161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b="1" i="1" dirty="0"/>
              <a:t>1 A perspectiva de como a modularidade é descrita</a:t>
            </a:r>
          </a:p>
        </p:txBody>
      </p:sp>
    </p:spTree>
    <p:extLst>
      <p:ext uri="{BB962C8B-B14F-4D97-AF65-F5344CB8AC3E}">
        <p14:creationId xmlns:p14="http://schemas.microsoft.com/office/powerpoint/2010/main" val="3548792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Imagem 1">
            <a:extLst>
              <a:ext uri="{FF2B5EF4-FFF2-40B4-BE49-F238E27FC236}">
                <a16:creationId xmlns:a16="http://schemas.microsoft.com/office/drawing/2014/main" id="{99F33854-534E-5041-89E5-52A0146D6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512" y="1228992"/>
            <a:ext cx="7329034" cy="464952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0" name="CaixaDeTexto 2">
            <a:extLst>
              <a:ext uri="{FF2B5EF4-FFF2-40B4-BE49-F238E27FC236}">
                <a16:creationId xmlns:a16="http://schemas.microsoft.com/office/drawing/2014/main" id="{54570DE9-6136-1A4C-BF55-91864C862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976" y="427944"/>
            <a:ext cx="4630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 err="1"/>
              <a:t>Perpectivas</a:t>
            </a:r>
            <a:r>
              <a:rPr lang="pt-BR" altLang="pt-BR" sz="2400" dirty="0"/>
              <a:t> da modularidade</a:t>
            </a:r>
          </a:p>
        </p:txBody>
      </p:sp>
    </p:spTree>
    <p:extLst>
      <p:ext uri="{BB962C8B-B14F-4D97-AF65-F5344CB8AC3E}">
        <p14:creationId xmlns:p14="http://schemas.microsoft.com/office/powerpoint/2010/main" val="1438243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A31431D7-E574-5348-8CFD-C24A113A8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53" y="490002"/>
            <a:ext cx="10638517" cy="1923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52352" bIns="76176" anchor="ctr"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i="1" dirty="0">
                <a:cs typeface="Arial" panose="020B0604020202020204" pitchFamily="34" charset="0"/>
              </a:rPr>
              <a:t>2.  </a:t>
            </a:r>
            <a:r>
              <a:rPr lang="pt-BR" altLang="pt-BR" sz="2000" b="1" i="1" dirty="0">
                <a:solidFill>
                  <a:srgbClr val="000096"/>
                </a:solidFill>
                <a:cs typeface="Arial" panose="020B0604020202020204" pitchFamily="34" charset="0"/>
              </a:rPr>
              <a:t>A perspectiva do processo de criação do produto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 dirty="0">
                <a:cs typeface="Times New Roman" panose="02020603050405020304" pitchFamily="18" charset="0"/>
              </a:rPr>
              <a:t>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 dirty="0">
                <a:cs typeface="Times New Roman" panose="02020603050405020304" pitchFamily="18" charset="0"/>
              </a:rPr>
              <a:t>A segunda perspectiva está relacionada à quando e onde são feitas as decisões para criar um produto modular. Segundo </a:t>
            </a:r>
            <a:r>
              <a:rPr lang="pt-BR" altLang="pt-BR" sz="1800" dirty="0" err="1">
                <a:cs typeface="Times New Roman" panose="02020603050405020304" pitchFamily="18" charset="0"/>
              </a:rPr>
              <a:t>Fixson</a:t>
            </a:r>
            <a:r>
              <a:rPr lang="pt-BR" altLang="pt-BR" sz="1800" dirty="0">
                <a:cs typeface="Times New Roman" panose="02020603050405020304" pitchFamily="18" charset="0"/>
              </a:rPr>
              <a:t> (2003) os pontos de decisão sobre o processo de criação de modularidade do produto estão localizados no final da fase de pesquisa do mercado e na fase de projeto do produto.  </a:t>
            </a:r>
            <a:endParaRPr lang="pt-BR" altLang="pt-BR" sz="3600" dirty="0"/>
          </a:p>
        </p:txBody>
      </p:sp>
      <p:pic>
        <p:nvPicPr>
          <p:cNvPr id="40962" name="Imagem 6">
            <a:extLst>
              <a:ext uri="{FF2B5EF4-FFF2-40B4-BE49-F238E27FC236}">
                <a16:creationId xmlns:a16="http://schemas.microsoft.com/office/drawing/2014/main" id="{8DE6BD37-43FD-0845-918E-AF6F92CE5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086" y="2617393"/>
            <a:ext cx="7873134" cy="2838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ctangle 3">
            <a:extLst>
              <a:ext uri="{FF2B5EF4-FFF2-40B4-BE49-F238E27FC236}">
                <a16:creationId xmlns:a16="http://schemas.microsoft.com/office/drawing/2014/main" id="{36380609-75D4-204D-9DA0-6C41D488B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913" y="5659439"/>
            <a:ext cx="5892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pt-BR" sz="2000">
                <a:cs typeface="Times New Roman" panose="02020603050405020304" pitchFamily="18" charset="0"/>
              </a:rPr>
              <a:t>Figura Processo de criação do produto. Fonte. Fixson (2003, p. 80)</a:t>
            </a:r>
            <a:endParaRPr lang="it-IT" altLang="pt-BR" sz="4000"/>
          </a:p>
        </p:txBody>
      </p:sp>
    </p:spTree>
    <p:extLst>
      <p:ext uri="{BB962C8B-B14F-4D97-AF65-F5344CB8AC3E}">
        <p14:creationId xmlns:p14="http://schemas.microsoft.com/office/powerpoint/2010/main" val="1983145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B1C5CAC0-BD6A-7E4D-997D-10377ECC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064" y="-2232"/>
            <a:ext cx="6578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pic>
        <p:nvPicPr>
          <p:cNvPr id="41986" name="Imagem 2">
            <a:extLst>
              <a:ext uri="{FF2B5EF4-FFF2-40B4-BE49-F238E27FC236}">
                <a16:creationId xmlns:a16="http://schemas.microsoft.com/office/drawing/2014/main" id="{0C8D3DF1-62F6-2E4F-A070-1E2880BE7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6" y="1444625"/>
            <a:ext cx="7191375" cy="331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3">
            <a:extLst>
              <a:ext uri="{FF2B5EF4-FFF2-40B4-BE49-F238E27FC236}">
                <a16:creationId xmlns:a16="http://schemas.microsoft.com/office/drawing/2014/main" id="{2701F90F-A5B1-8641-9226-5EC9F262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9" y="4756151"/>
            <a:ext cx="3311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pt-BR" sz="1200">
                <a:cs typeface="Times New Roman" panose="02020603050405020304" pitchFamily="18" charset="0"/>
              </a:rPr>
              <a:t>Figura – Modularidade dirigida pelo mercado. </a:t>
            </a:r>
            <a:endParaRPr lang="it-IT" altLang="pt-BR" sz="2400"/>
          </a:p>
        </p:txBody>
      </p:sp>
    </p:spTree>
    <p:extLst>
      <p:ext uri="{BB962C8B-B14F-4D97-AF65-F5344CB8AC3E}">
        <p14:creationId xmlns:p14="http://schemas.microsoft.com/office/powerpoint/2010/main" val="1410955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Imagem 1">
            <a:extLst>
              <a:ext uri="{FF2B5EF4-FFF2-40B4-BE49-F238E27FC236}">
                <a16:creationId xmlns:a16="http://schemas.microsoft.com/office/drawing/2014/main" id="{99F33854-534E-5041-89E5-52A0146D6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512" y="1228992"/>
            <a:ext cx="7329034" cy="464952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0" name="CaixaDeTexto 2">
            <a:extLst>
              <a:ext uri="{FF2B5EF4-FFF2-40B4-BE49-F238E27FC236}">
                <a16:creationId xmlns:a16="http://schemas.microsoft.com/office/drawing/2014/main" id="{54570DE9-6136-1A4C-BF55-91864C862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976" y="427944"/>
            <a:ext cx="4630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 err="1"/>
              <a:t>Perpectivas</a:t>
            </a:r>
            <a:r>
              <a:rPr lang="pt-BR" altLang="pt-BR" sz="2400" dirty="0"/>
              <a:t> da modularidade</a:t>
            </a:r>
          </a:p>
        </p:txBody>
      </p:sp>
    </p:spTree>
    <p:extLst>
      <p:ext uri="{BB962C8B-B14F-4D97-AF65-F5344CB8AC3E}">
        <p14:creationId xmlns:p14="http://schemas.microsoft.com/office/powerpoint/2010/main" val="3438997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>
            <a:extLst>
              <a:ext uri="{FF2B5EF4-FFF2-40B4-BE49-F238E27FC236}">
                <a16:creationId xmlns:a16="http://schemas.microsoft.com/office/drawing/2014/main" id="{A96694A7-E28D-BF4E-ABB9-7683AFAD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972" y="1174919"/>
            <a:ext cx="9041946" cy="269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52352" bIns="76176"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AutoNum type="arabicPeriod" startAt="3"/>
            </a:pPr>
            <a:r>
              <a:rPr lang="pt-BR" altLang="pt-BR" sz="2000" i="1" dirty="0">
                <a:solidFill>
                  <a:srgbClr val="000096"/>
                </a:solidFill>
                <a:cs typeface="Arial" panose="020B0604020202020204" pitchFamily="34" charset="0"/>
              </a:rPr>
              <a:t>A PERSPECTIVA DO CICLO DE VIDA DO PRODUTO </a:t>
            </a:r>
          </a:p>
          <a:p>
            <a:pPr algn="just">
              <a:spcBef>
                <a:spcPct val="0"/>
              </a:spcBef>
              <a:buFontTx/>
              <a:buAutoNum type="arabicPeriod" startAt="3"/>
            </a:pPr>
            <a:endParaRPr lang="pt-BR" altLang="pt-BR" sz="2000" i="1" dirty="0"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pt-BR" altLang="pt-BR" sz="2000" dirty="0">
                <a:cs typeface="Times New Roman" panose="02020603050405020304" pitchFamily="18" charset="0"/>
              </a:rPr>
              <a:t>A terceira perspectiva está relacionada </a:t>
            </a:r>
            <a:r>
              <a:rPr lang="pt-BR" altLang="pt-BR" sz="2000" dirty="0">
                <a:solidFill>
                  <a:srgbClr val="FF0000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com objetivos da modularidade</a:t>
            </a:r>
            <a:r>
              <a:rPr lang="pt-BR" altLang="pt-BR" sz="2000" dirty="0">
                <a:cs typeface="Times New Roman" panose="02020603050405020304" pitchFamily="18" charset="0"/>
              </a:rPr>
              <a:t> ao longo do ciclo de vida do produto, e para esta visão diferentes caminhos são utilizados para descrever a modularidade.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pt-BR" altLang="pt-BR" sz="2000" dirty="0"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pt-BR" altLang="pt-BR" sz="2000" dirty="0">
                <a:cs typeface="Times New Roman" panose="02020603050405020304" pitchFamily="18" charset="0"/>
              </a:rPr>
              <a:t>A Figura a seguir  ilustra diferentes enfoques da modularidade ao longo do ciclo de vida do produto por meio do DFX (</a:t>
            </a:r>
            <a:r>
              <a:rPr lang="pt-BR" altLang="pt-BR" sz="2000" i="1" dirty="0">
                <a:cs typeface="Times New Roman" panose="02020603050405020304" pitchFamily="18" charset="0"/>
              </a:rPr>
              <a:t>Design for </a:t>
            </a:r>
            <a:r>
              <a:rPr lang="pt-BR" altLang="pt-BR" sz="2000" i="1" dirty="0" err="1">
                <a:cs typeface="Times New Roman" panose="02020603050405020304" pitchFamily="18" charset="0"/>
              </a:rPr>
              <a:t>X</a:t>
            </a:r>
            <a:r>
              <a:rPr lang="pt-BR" altLang="pt-BR" sz="2000" dirty="0">
                <a:cs typeface="Times New Roman" panose="02020603050405020304" pitchFamily="18" charset="0"/>
              </a:rPr>
              <a:t>). </a:t>
            </a:r>
            <a:endParaRPr lang="pt-BR" altLang="pt-BR" sz="4000" dirty="0"/>
          </a:p>
        </p:txBody>
      </p:sp>
    </p:spTree>
    <p:extLst>
      <p:ext uri="{BB962C8B-B14F-4D97-AF65-F5344CB8AC3E}">
        <p14:creationId xmlns:p14="http://schemas.microsoft.com/office/powerpoint/2010/main" val="1619031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Imagem 1">
            <a:extLst>
              <a:ext uri="{FF2B5EF4-FFF2-40B4-BE49-F238E27FC236}">
                <a16:creationId xmlns:a16="http://schemas.microsoft.com/office/drawing/2014/main" id="{18A215FA-7F83-5F4E-BB21-C90444B9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315" y="204097"/>
            <a:ext cx="8723086" cy="644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3787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Imagem 1">
            <a:extLst>
              <a:ext uri="{FF2B5EF4-FFF2-40B4-BE49-F238E27FC236}">
                <a16:creationId xmlns:a16="http://schemas.microsoft.com/office/drawing/2014/main" id="{9D88F406-8BBD-9A4A-9121-643F6529B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828" y="1860285"/>
            <a:ext cx="8715831" cy="412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8" name="Retângulo 2">
            <a:extLst>
              <a:ext uri="{FF2B5EF4-FFF2-40B4-BE49-F238E27FC236}">
                <a16:creationId xmlns:a16="http://schemas.microsoft.com/office/drawing/2014/main" id="{433787E8-4E08-2345-ACB0-F02F5CB85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373" y="694407"/>
            <a:ext cx="114592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pt-BR" sz="2400" dirty="0"/>
              <a:t>O </a:t>
            </a:r>
            <a:r>
              <a:rPr lang="it-IT" altLang="pt-BR" sz="2400" dirty="0" err="1"/>
              <a:t>relacionamento</a:t>
            </a:r>
            <a:r>
              <a:rPr lang="it-IT" altLang="pt-BR" sz="2400" dirty="0"/>
              <a:t> </a:t>
            </a:r>
            <a:r>
              <a:rPr lang="it-IT" altLang="pt-BR" sz="2400" dirty="0" err="1"/>
              <a:t>entre</a:t>
            </a:r>
            <a:r>
              <a:rPr lang="it-IT" altLang="pt-BR" sz="2400" dirty="0"/>
              <a:t> o </a:t>
            </a:r>
            <a:r>
              <a:rPr lang="it-IT" altLang="pt-BR" sz="2400" dirty="0" err="1"/>
              <a:t>pedido</a:t>
            </a:r>
            <a:r>
              <a:rPr lang="it-IT" altLang="pt-BR" sz="2400" dirty="0"/>
              <a:t> do cliente e o </a:t>
            </a:r>
            <a:r>
              <a:rPr lang="it-IT" altLang="pt-BR" sz="2400" dirty="0" err="1"/>
              <a:t>tipos</a:t>
            </a:r>
            <a:r>
              <a:rPr lang="it-IT" altLang="pt-BR" sz="2400" dirty="0"/>
              <a:t> de </a:t>
            </a:r>
            <a:r>
              <a:rPr lang="it-IT" altLang="pt-BR" sz="2400" dirty="0" err="1"/>
              <a:t>modularidade</a:t>
            </a:r>
            <a:r>
              <a:rPr lang="it-IT" altLang="pt-BR" sz="2400" dirty="0"/>
              <a:t> </a:t>
            </a:r>
            <a:r>
              <a:rPr lang="it-IT" altLang="pt-BR" sz="2400" dirty="0" err="1"/>
              <a:t>ao</a:t>
            </a:r>
            <a:r>
              <a:rPr lang="it-IT" altLang="pt-BR" sz="2400" dirty="0"/>
              <a:t> </a:t>
            </a:r>
            <a:r>
              <a:rPr lang="it-IT" altLang="pt-BR" sz="2400" dirty="0" err="1"/>
              <a:t>longo</a:t>
            </a:r>
            <a:r>
              <a:rPr lang="it-IT" altLang="pt-BR" sz="2400" dirty="0"/>
              <a:t> do ciclo de </a:t>
            </a:r>
            <a:r>
              <a:rPr lang="it-IT" altLang="pt-BR" sz="2400" dirty="0" err="1"/>
              <a:t>vida</a:t>
            </a:r>
            <a:r>
              <a:rPr lang="it-IT" altLang="pt-BR" sz="2400" dirty="0"/>
              <a:t>. Fonte: </a:t>
            </a:r>
            <a:r>
              <a:rPr lang="it-IT" altLang="pt-BR" sz="2400" dirty="0" err="1"/>
              <a:t>adaptado</a:t>
            </a:r>
            <a:r>
              <a:rPr lang="it-IT" altLang="pt-BR" sz="2400" dirty="0"/>
              <a:t> de </a:t>
            </a:r>
            <a:r>
              <a:rPr lang="it-IT" altLang="pt-BR" sz="2400" dirty="0" err="1"/>
              <a:t>Duray</a:t>
            </a:r>
            <a:r>
              <a:rPr lang="it-IT" altLang="pt-BR" sz="2400" dirty="0"/>
              <a:t> et al (2000).</a:t>
            </a: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4191626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D34868D9-354F-814F-A846-076D19DC7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5342" y="-64292"/>
            <a:ext cx="10515600" cy="1325563"/>
          </a:xfrm>
        </p:spPr>
        <p:txBody>
          <a:bodyPr/>
          <a:lstStyle/>
          <a:p>
            <a:pPr eaLnBrk="1" hangingPunct="1"/>
            <a:r>
              <a:rPr lang="pt-BR" altLang="pt-BR" dirty="0"/>
              <a:t>Modularidade</a:t>
            </a:r>
          </a:p>
        </p:txBody>
      </p:sp>
      <p:graphicFrame>
        <p:nvGraphicFramePr>
          <p:cNvPr id="46082" name="Object 4">
            <a:extLst>
              <a:ext uri="{FF2B5EF4-FFF2-40B4-BE49-F238E27FC236}">
                <a16:creationId xmlns:a16="http://schemas.microsoft.com/office/drawing/2014/main" id="{C774DC19-B4A8-174A-9361-A2A3A9845E5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217864" y="982664"/>
          <a:ext cx="5781675" cy="587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25463500" imgH="25082500" progId="Word.Picture.8">
                  <p:embed/>
                </p:oleObj>
              </mc:Choice>
              <mc:Fallback>
                <p:oleObj name="Figura" r:id="rId3" imgW="25463500" imgH="25082500" progId="Word.Picture.8">
                  <p:embed/>
                  <p:pic>
                    <p:nvPicPr>
                      <p:cNvPr id="46082" name="Object 4">
                        <a:extLst>
                          <a:ext uri="{FF2B5EF4-FFF2-40B4-BE49-F238E27FC236}">
                            <a16:creationId xmlns:a16="http://schemas.microsoft.com/office/drawing/2014/main" id="{C774DC19-B4A8-174A-9361-A2A3A9845E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4" y="982664"/>
                        <a:ext cx="5781675" cy="587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CaixaDeTexto 3">
            <a:extLst>
              <a:ext uri="{FF2B5EF4-FFF2-40B4-BE49-F238E27FC236}">
                <a16:creationId xmlns:a16="http://schemas.microsoft.com/office/drawing/2014/main" id="{8FD79DF0-F3FE-3642-A7E7-CAB7C0375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292225"/>
            <a:ext cx="17129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Exemplo: CPU, CDS, (variedade de produtos)</a:t>
            </a:r>
          </a:p>
        </p:txBody>
      </p:sp>
      <p:sp>
        <p:nvSpPr>
          <p:cNvPr id="46084" name="CaixaDeTexto 4">
            <a:extLst>
              <a:ext uri="{FF2B5EF4-FFF2-40B4-BE49-F238E27FC236}">
                <a16:creationId xmlns:a16="http://schemas.microsoft.com/office/drawing/2014/main" id="{6251670B-B84B-B341-8A75-066BF15F9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088" y="1357314"/>
            <a:ext cx="17129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Exemplo: mesmo componente família de produtos. </a:t>
            </a:r>
          </a:p>
        </p:txBody>
      </p:sp>
      <p:sp>
        <p:nvSpPr>
          <p:cNvPr id="46085" name="CaixaDeTexto 5">
            <a:extLst>
              <a:ext uri="{FF2B5EF4-FFF2-40B4-BE49-F238E27FC236}">
                <a16:creationId xmlns:a16="http://schemas.microsoft.com/office/drawing/2014/main" id="{54111F43-00FA-3B48-B442-50304F8D2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3163888"/>
            <a:ext cx="171291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Exemplo: variedade esta as dimensões fisicas.</a:t>
            </a:r>
          </a:p>
        </p:txBody>
      </p:sp>
      <p:sp>
        <p:nvSpPr>
          <p:cNvPr id="46086" name="CaixaDeTexto 6">
            <a:extLst>
              <a:ext uri="{FF2B5EF4-FFF2-40B4-BE49-F238E27FC236}">
                <a16:creationId xmlns:a16="http://schemas.microsoft.com/office/drawing/2014/main" id="{1A996F3A-EFFB-F448-839E-DF58C07F6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088" y="3259139"/>
            <a:ext cx="1712912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Uso de componente básico como interface</a:t>
            </a:r>
          </a:p>
        </p:txBody>
      </p:sp>
      <p:sp>
        <p:nvSpPr>
          <p:cNvPr id="46087" name="CaixaDeTexto 7">
            <a:extLst>
              <a:ext uri="{FF2B5EF4-FFF2-40B4-BE49-F238E27FC236}">
                <a16:creationId xmlns:a16="http://schemas.microsoft.com/office/drawing/2014/main" id="{22842632-72F1-4748-ACFD-09F43A257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025" y="5094288"/>
            <a:ext cx="240188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Coleção de tipos de componentes, que podem ser unidos de forma arbitraria </a:t>
            </a:r>
          </a:p>
        </p:txBody>
      </p:sp>
    </p:spTree>
    <p:extLst>
      <p:ext uri="{BB962C8B-B14F-4D97-AF65-F5344CB8AC3E}">
        <p14:creationId xmlns:p14="http://schemas.microsoft.com/office/powerpoint/2010/main" val="173701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4AF31269-DEBA-4D48-AA32-3CD5F3DF4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327818"/>
            <a:ext cx="11353800" cy="706437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dirty="0"/>
              <a:t>Abordagens relacionadas ao Projeto Modular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931C7613-0197-A14E-8F52-C63B35B56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5835" y="1086189"/>
            <a:ext cx="10515600" cy="4351338"/>
          </a:xfrm>
        </p:spPr>
        <p:txBody>
          <a:bodyPr/>
          <a:lstStyle/>
          <a:p>
            <a:pPr eaLnBrk="1" hangingPunct="1"/>
            <a:r>
              <a:rPr lang="pt-BR" altLang="pt-BR" dirty="0"/>
              <a:t>Desenvolvimento de plataformas de produtos </a:t>
            </a:r>
          </a:p>
          <a:p>
            <a:pPr eaLnBrk="1" hangingPunct="1"/>
            <a:r>
              <a:rPr lang="pt-BR" altLang="pt-BR" dirty="0"/>
              <a:t>Máximo compartilhamento de sistemas </a:t>
            </a:r>
          </a:p>
          <a:p>
            <a:pPr eaLnBrk="1" hangingPunct="1"/>
            <a:r>
              <a:rPr lang="pt-BR" altLang="pt-BR" dirty="0"/>
              <a:t>Máxima variação funcional </a:t>
            </a:r>
          </a:p>
          <a:p>
            <a:pPr eaLnBrk="1" hangingPunct="1"/>
            <a:r>
              <a:rPr lang="pt-BR" altLang="pt-BR" dirty="0"/>
              <a:t>Otimização do ciclo de vida do(</a:t>
            </a:r>
            <a:r>
              <a:rPr lang="pt-BR" altLang="pt-BR" dirty="0" err="1"/>
              <a:t>s</a:t>
            </a:r>
            <a:r>
              <a:rPr lang="pt-BR" altLang="pt-BR" dirty="0"/>
              <a:t>) produto(</a:t>
            </a:r>
            <a:r>
              <a:rPr lang="pt-BR" altLang="pt-BR" dirty="0" err="1"/>
              <a:t>s</a:t>
            </a:r>
            <a:r>
              <a:rPr lang="pt-BR" altLang="pt-BR" dirty="0"/>
              <a:t>) </a:t>
            </a: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D82A769D-8DAE-C349-901E-67DF6BFEE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2317107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086A6602-BDD7-7746-A010-EDB6ED723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009182"/>
              </p:ext>
            </p:extLst>
          </p:nvPr>
        </p:nvGraphicFramePr>
        <p:xfrm>
          <a:off x="6096000" y="3361532"/>
          <a:ext cx="4692650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2603500" imgH="1752600" progId="Word.Picture.8">
                  <p:embed/>
                </p:oleObj>
              </mc:Choice>
              <mc:Fallback>
                <p:oleObj name="Figura" r:id="rId3" imgW="2603500" imgH="1752600" progId="Word.Picture.8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:a16="http://schemas.microsoft.com/office/drawing/2014/main" id="{086A6602-BDD7-7746-A010-EDB6ED723E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61532"/>
                        <a:ext cx="4692650" cy="316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1156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522" name="Picture 2" descr="SciELO - Brasil - Desenvolvimento e testes de uma semeadora-adubadora  modular para pequenas propriedades rurais Desenvolvimento e testes de uma  semeadora-adubadora modular para pequenas propriedades rurais">
            <a:extLst>
              <a:ext uri="{FF2B5EF4-FFF2-40B4-BE49-F238E27FC236}">
                <a16:creationId xmlns:a16="http://schemas.microsoft.com/office/drawing/2014/main" id="{DD80BE83-E32C-0941-AFFE-8BFC4355F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63117" y="643467"/>
            <a:ext cx="82657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352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518649"/>
            <a:ext cx="1128382" cy="847206"/>
            <a:chOff x="8183879" y="1000124"/>
            <a:chExt cx="1562267" cy="1172973"/>
          </a:xfrm>
        </p:grpSpPr>
        <p:sp>
          <p:nvSpPr>
            <p:cNvPr id="78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D021D3-BA0E-D94A-9A6A-280CFB17DFD9}"/>
              </a:ext>
            </a:extLst>
          </p:cNvPr>
          <p:cNvSpPr txBox="1"/>
          <p:nvPr/>
        </p:nvSpPr>
        <p:spPr>
          <a:xfrm>
            <a:off x="674809" y="1946821"/>
            <a:ext cx="3748981" cy="3519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A Toyota revelou a variação GA-B da plataforma modular TNGA. Diferente das variantes GA-K (usada em </a:t>
            </a:r>
            <a:r>
              <a:rPr lang="en-US" sz="2000" b="1" i="0" u="none" strike="noStrike">
                <a:effectLst/>
                <a:hlinkClick r:id="rId2"/>
              </a:rPr>
              <a:t>Camry</a:t>
            </a:r>
            <a:r>
              <a:rPr lang="en-US" sz="2000" b="0" i="0">
                <a:effectLst/>
              </a:rPr>
              <a:t> e </a:t>
            </a:r>
            <a:r>
              <a:rPr lang="en-US" sz="2000" b="1" i="0" u="none" strike="noStrike">
                <a:effectLst/>
                <a:hlinkClick r:id="rId3"/>
              </a:rPr>
              <a:t>RAV4</a:t>
            </a:r>
            <a:r>
              <a:rPr lang="en-US" sz="2000" b="0" i="0">
                <a:effectLst/>
              </a:rPr>
              <a:t>) e GA-C (</a:t>
            </a:r>
            <a:r>
              <a:rPr lang="en-US" sz="2000" b="1" i="0" u="none" strike="noStrike">
                <a:effectLst/>
                <a:hlinkClick r:id="rId4"/>
              </a:rPr>
              <a:t>Prius</a:t>
            </a:r>
            <a:r>
              <a:rPr lang="en-US" sz="2000" b="0" i="0">
                <a:effectLst/>
              </a:rPr>
              <a:t> e novo </a:t>
            </a:r>
            <a:r>
              <a:rPr lang="en-US" sz="2000" b="1" i="0" u="none" strike="noStrike">
                <a:effectLst/>
                <a:hlinkClick r:id="rId5"/>
              </a:rPr>
              <a:t>Corolla</a:t>
            </a:r>
            <a:r>
              <a:rPr lang="en-US" sz="2000" b="0" i="0">
                <a:effectLst/>
              </a:rPr>
              <a:t>), a nova base será destinada para os futuros modelos compactos do fabricante.</a:t>
            </a:r>
            <a:endParaRPr lang="en-US" sz="2000"/>
          </a:p>
        </p:txBody>
      </p:sp>
      <p:pic>
        <p:nvPicPr>
          <p:cNvPr id="108550" name="Picture 6">
            <a:extLst>
              <a:ext uri="{FF2B5EF4-FFF2-40B4-BE49-F238E27FC236}">
                <a16:creationId xmlns:a16="http://schemas.microsoft.com/office/drawing/2014/main" id="{6F5C4571-7C87-EE41-82CC-3D3FA8BA5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8" r="2" b="17875"/>
          <a:stretch/>
        </p:blipFill>
        <p:spPr bwMode="auto">
          <a:xfrm>
            <a:off x="4636963" y="10"/>
            <a:ext cx="7555037" cy="338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48" name="Picture 4">
            <a:extLst>
              <a:ext uri="{FF2B5EF4-FFF2-40B4-BE49-F238E27FC236}">
                <a16:creationId xmlns:a16="http://schemas.microsoft.com/office/drawing/2014/main" id="{BB0F1A7D-A70A-FC46-9BCD-0A77474F30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77" r="-2" b="7715"/>
          <a:stretch/>
        </p:blipFill>
        <p:spPr bwMode="auto">
          <a:xfrm>
            <a:off x="4639056" y="3474720"/>
            <a:ext cx="755294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705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DE1D57-AEC4-9440-A785-C8E6DAF2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34" y="2073715"/>
            <a:ext cx="6935759" cy="29930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Gerenciamento da complexidade do produto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C4746C-FEE5-5848-BE36-8A616E95E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9234" y="1369077"/>
            <a:ext cx="6935759" cy="220115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84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69C743F-BCB6-2F46-905E-8744948306EA}"/>
              </a:ext>
            </a:extLst>
          </p:cNvPr>
          <p:cNvSpPr txBox="1"/>
          <p:nvPr/>
        </p:nvSpPr>
        <p:spPr>
          <a:xfrm>
            <a:off x="769257" y="6020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www.complexitymanager.de</a:t>
            </a:r>
            <a:r>
              <a:rPr lang="pt-BR" dirty="0"/>
              <a:t>/</a:t>
            </a:r>
            <a:r>
              <a:rPr lang="pt-BR" dirty="0" err="1"/>
              <a:t>pt</a:t>
            </a:r>
            <a:r>
              <a:rPr lang="pt-BR" dirty="0"/>
              <a:t>/edicao-2020/</a:t>
            </a:r>
          </a:p>
        </p:txBody>
      </p:sp>
      <p:pic>
        <p:nvPicPr>
          <p:cNvPr id="109570" name="Picture 2">
            <a:extLst>
              <a:ext uri="{FF2B5EF4-FFF2-40B4-BE49-F238E27FC236}">
                <a16:creationId xmlns:a16="http://schemas.microsoft.com/office/drawing/2014/main" id="{F2B6D041-04EC-F943-A7B6-7925EFB14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349943"/>
            <a:ext cx="11277601" cy="538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328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>
            <a:extLst>
              <a:ext uri="{FF2B5EF4-FFF2-40B4-BE49-F238E27FC236}">
                <a16:creationId xmlns:a16="http://schemas.microsoft.com/office/drawing/2014/main" id="{CD575918-7119-374D-A92A-30D10B197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887"/>
            <a:ext cx="12192000" cy="4594225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374235D-E557-AF4C-AC0F-A9F18DA3304B}"/>
              </a:ext>
            </a:extLst>
          </p:cNvPr>
          <p:cNvSpPr txBox="1"/>
          <p:nvPr/>
        </p:nvSpPr>
        <p:spPr>
          <a:xfrm>
            <a:off x="493486" y="463916"/>
            <a:ext cx="11205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Quantas variantes de produtos são necessárias ? Quantas variantes são possíveis?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3F8C9F-278A-D744-8794-9A804A958650}"/>
              </a:ext>
            </a:extLst>
          </p:cNvPr>
          <p:cNvSpPr txBox="1"/>
          <p:nvPr/>
        </p:nvSpPr>
        <p:spPr>
          <a:xfrm>
            <a:off x="803125" y="5747752"/>
            <a:ext cx="11205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002060"/>
                </a:solidFill>
              </a:rPr>
              <a:t>Os desejos específicos do mercado são inicialmente descritos independentes da implementação técnica.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294AA6-B594-D64D-BE1B-8A7425FF3A82}"/>
              </a:ext>
            </a:extLst>
          </p:cNvPr>
          <p:cNvSpPr txBox="1"/>
          <p:nvPr/>
        </p:nvSpPr>
        <p:spPr>
          <a:xfrm>
            <a:off x="493486" y="62094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www.complexitymanager.de</a:t>
            </a:r>
            <a:r>
              <a:rPr lang="pt-BR" dirty="0"/>
              <a:t>/</a:t>
            </a:r>
            <a:r>
              <a:rPr lang="pt-BR" dirty="0" err="1"/>
              <a:t>pt</a:t>
            </a:r>
            <a:r>
              <a:rPr lang="pt-BR" dirty="0"/>
              <a:t>/edicao-2020/</a:t>
            </a:r>
          </a:p>
        </p:txBody>
      </p:sp>
    </p:spTree>
    <p:extLst>
      <p:ext uri="{BB962C8B-B14F-4D97-AF65-F5344CB8AC3E}">
        <p14:creationId xmlns:p14="http://schemas.microsoft.com/office/powerpoint/2010/main" val="753233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67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618" name="Picture 2">
            <a:extLst>
              <a:ext uri="{FF2B5EF4-FFF2-40B4-BE49-F238E27FC236}">
                <a16:creationId xmlns:a16="http://schemas.microsoft.com/office/drawing/2014/main" id="{F1EFA07B-B1CD-3D47-B931-025404778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276945"/>
            <a:ext cx="10905066" cy="515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9BB7A17-0853-AF49-B3D8-5795BFA1E89B}"/>
              </a:ext>
            </a:extLst>
          </p:cNvPr>
          <p:cNvSpPr txBox="1"/>
          <p:nvPr/>
        </p:nvSpPr>
        <p:spPr>
          <a:xfrm>
            <a:off x="769257" y="6020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www.complexitymanager.de</a:t>
            </a:r>
            <a:r>
              <a:rPr lang="pt-BR" dirty="0"/>
              <a:t>/</a:t>
            </a:r>
            <a:r>
              <a:rPr lang="pt-BR" dirty="0" err="1"/>
              <a:t>pt</a:t>
            </a:r>
            <a:r>
              <a:rPr lang="pt-BR" dirty="0"/>
              <a:t>/edicao-2020/</a:t>
            </a:r>
          </a:p>
        </p:txBody>
      </p:sp>
    </p:spTree>
    <p:extLst>
      <p:ext uri="{BB962C8B-B14F-4D97-AF65-F5344CB8AC3E}">
        <p14:creationId xmlns:p14="http://schemas.microsoft.com/office/powerpoint/2010/main" val="3337785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>
            <a:extLst>
              <a:ext uri="{FF2B5EF4-FFF2-40B4-BE49-F238E27FC236}">
                <a16:creationId xmlns:a16="http://schemas.microsoft.com/office/drawing/2014/main" id="{1E34D1E9-9285-B14C-9885-B580754DD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88"/>
            <a:ext cx="12192000" cy="642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94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75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666" name="Picture 2">
            <a:extLst>
              <a:ext uri="{FF2B5EF4-FFF2-40B4-BE49-F238E27FC236}">
                <a16:creationId xmlns:a16="http://schemas.microsoft.com/office/drawing/2014/main" id="{3BF4B488-04C3-AA48-B0A9-390E2B396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20834"/>
            <a:ext cx="10905066" cy="501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5C29C2-FF13-1146-B005-B0601384EE76}"/>
              </a:ext>
            </a:extLst>
          </p:cNvPr>
          <p:cNvSpPr txBox="1"/>
          <p:nvPr/>
        </p:nvSpPr>
        <p:spPr>
          <a:xfrm>
            <a:off x="769257" y="6020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www.complexitymanager.de</a:t>
            </a:r>
            <a:r>
              <a:rPr lang="pt-BR" dirty="0"/>
              <a:t>/</a:t>
            </a:r>
            <a:r>
              <a:rPr lang="pt-BR" dirty="0" err="1"/>
              <a:t>pt</a:t>
            </a:r>
            <a:r>
              <a:rPr lang="pt-BR" dirty="0"/>
              <a:t>/edicao-2020/</a:t>
            </a:r>
          </a:p>
        </p:txBody>
      </p:sp>
    </p:spTree>
    <p:extLst>
      <p:ext uri="{BB962C8B-B14F-4D97-AF65-F5344CB8AC3E}">
        <p14:creationId xmlns:p14="http://schemas.microsoft.com/office/powerpoint/2010/main" val="2377370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D3F0F3-D6E1-C240-A868-DF0B54C51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MÉTODOS PARA DEFINIR A ARQUITETURA DO PRODUTO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213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Gráficos y trazados en una pantalla digital azul">
            <a:extLst>
              <a:ext uri="{FF2B5EF4-FFF2-40B4-BE49-F238E27FC236}">
                <a16:creationId xmlns:a16="http://schemas.microsoft.com/office/drawing/2014/main" id="{8FBDBAE0-CE79-43E1-81D1-FF2BA8600B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93" b="1810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3DFA86-FA1E-3145-8D91-AEF568E9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475" y="2247900"/>
            <a:ext cx="75819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>
                <a:solidFill>
                  <a:schemeClr val="tx1">
                    <a:lumMod val="75000"/>
                    <a:lumOff val="25000"/>
                  </a:schemeClr>
                </a:solidFill>
              </a:rPr>
              <a:t>MATRIZ INDICADORAS DE MÓDULOS</a:t>
            </a:r>
          </a:p>
        </p:txBody>
      </p:sp>
    </p:spTree>
    <p:extLst>
      <p:ext uri="{BB962C8B-B14F-4D97-AF65-F5344CB8AC3E}">
        <p14:creationId xmlns:p14="http://schemas.microsoft.com/office/powerpoint/2010/main" val="3682770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Imagem 1">
            <a:extLst>
              <a:ext uri="{FF2B5EF4-FFF2-40B4-BE49-F238E27FC236}">
                <a16:creationId xmlns:a16="http://schemas.microsoft.com/office/drawing/2014/main" id="{E7F7CDB9-BAC7-FF4D-B34E-F3B7C1FB5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62114"/>
            <a:ext cx="8955088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8" name="Retângulo 2">
            <a:extLst>
              <a:ext uri="{FF2B5EF4-FFF2-40B4-BE49-F238E27FC236}">
                <a16:creationId xmlns:a16="http://schemas.microsoft.com/office/drawing/2014/main" id="{FD3E40B3-9E0F-864B-8301-259FAFA13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025" y="261938"/>
            <a:ext cx="7931150" cy="120015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/>
              <a:t>Ericsson &amp; Ericson (1999, p.30) apresenta um modelo para o desenvolvimento de produtos modulares denominado de MFD (</a:t>
            </a:r>
            <a:r>
              <a:rPr lang="pt-BR" altLang="pt-BR" sz="2400" i="1"/>
              <a:t>Modular Function Deployment</a:t>
            </a:r>
            <a:r>
              <a:rPr lang="pt-BR" altLang="pt-BR" sz="2400"/>
              <a:t>), </a:t>
            </a:r>
          </a:p>
        </p:txBody>
      </p:sp>
    </p:spTree>
    <p:extLst>
      <p:ext uri="{BB962C8B-B14F-4D97-AF65-F5344CB8AC3E}">
        <p14:creationId xmlns:p14="http://schemas.microsoft.com/office/powerpoint/2010/main" val="16129212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1">
            <a:extLst>
              <a:ext uri="{FF2B5EF4-FFF2-40B4-BE49-F238E27FC236}">
                <a16:creationId xmlns:a16="http://schemas.microsoft.com/office/drawing/2014/main" id="{F1E00C4B-D7C2-D242-B830-72DFDE258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914" y="122745"/>
            <a:ext cx="7591425" cy="5847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 algn="just">
              <a:defRPr/>
            </a:pPr>
            <a:r>
              <a:rPr lang="pt-BR" sz="1600" dirty="0">
                <a:solidFill>
                  <a:srgbClr val="C00000"/>
                </a:solidFill>
                <a:ea typeface="Times New Roman" pitchFamily="18" charset="0"/>
              </a:rPr>
              <a:t>Pesquisa Engenharia de Produção e o </a:t>
            </a:r>
            <a:r>
              <a:rPr lang="pt-BR" sz="1600" i="1" dirty="0">
                <a:solidFill>
                  <a:srgbClr val="C00000"/>
                </a:solidFill>
                <a:ea typeface="Times New Roman" pitchFamily="18" charset="0"/>
              </a:rPr>
              <a:t>Royal </a:t>
            </a:r>
            <a:r>
              <a:rPr lang="pt-BR" sz="1600" i="1" dirty="0" err="1">
                <a:solidFill>
                  <a:srgbClr val="C00000"/>
                </a:solidFill>
                <a:ea typeface="Times New Roman" pitchFamily="18" charset="0"/>
              </a:rPr>
              <a:t>Institute</a:t>
            </a:r>
            <a:r>
              <a:rPr lang="pt-BR" sz="1600" i="1" dirty="0">
                <a:solidFill>
                  <a:srgbClr val="C00000"/>
                </a:solidFill>
                <a:ea typeface="Times New Roman" pitchFamily="18" charset="0"/>
              </a:rPr>
              <a:t> </a:t>
            </a:r>
            <a:r>
              <a:rPr lang="pt-BR" sz="1600" i="1" dirty="0" err="1">
                <a:solidFill>
                  <a:srgbClr val="C00000"/>
                </a:solidFill>
                <a:ea typeface="Times New Roman" pitchFamily="18" charset="0"/>
              </a:rPr>
              <a:t>of</a:t>
            </a:r>
            <a:r>
              <a:rPr lang="pt-BR" sz="1600" i="1" dirty="0">
                <a:solidFill>
                  <a:srgbClr val="C00000"/>
                </a:solidFill>
                <a:ea typeface="Times New Roman" pitchFamily="18" charset="0"/>
              </a:rPr>
              <a:t> </a:t>
            </a:r>
            <a:r>
              <a:rPr lang="pt-BR" sz="1600" i="1" dirty="0" err="1">
                <a:solidFill>
                  <a:srgbClr val="C00000"/>
                </a:solidFill>
                <a:ea typeface="Times New Roman" pitchFamily="18" charset="0"/>
              </a:rPr>
              <a:t>technology</a:t>
            </a:r>
            <a:r>
              <a:rPr lang="pt-BR" sz="1600" dirty="0">
                <a:solidFill>
                  <a:srgbClr val="C00000"/>
                </a:solidFill>
                <a:ea typeface="Times New Roman" pitchFamily="18" charset="0"/>
              </a:rPr>
              <a:t>, em Estocolmo na Suécia (ERICSSON &amp; ERIXON,1999, p.20).  </a:t>
            </a:r>
            <a:r>
              <a:rPr lang="it-IT" sz="1600" dirty="0" bmk="_Toc191206283">
                <a:solidFill>
                  <a:srgbClr val="C00000"/>
                </a:solidFill>
                <a:ea typeface="Times New Roman" pitchFamily="18" charset="0"/>
              </a:rPr>
              <a:t> Diretrizes de modularização</a:t>
            </a:r>
            <a:r>
              <a:rPr lang="it-IT" sz="1600" dirty="0">
                <a:solidFill>
                  <a:srgbClr val="C00000"/>
                </a:solidFill>
                <a:ea typeface="Times New Roman" pitchFamily="18" charset="0"/>
              </a:rPr>
              <a:t> </a:t>
            </a:r>
            <a:endParaRPr lang="pt-BR" sz="1050" dirty="0">
              <a:solidFill>
                <a:srgbClr val="C00000"/>
              </a:solidFill>
            </a:endParaRPr>
          </a:p>
        </p:txBody>
      </p:sp>
      <p:sp>
        <p:nvSpPr>
          <p:cNvPr id="51202" name="Retângulo 3">
            <a:extLst>
              <a:ext uri="{FF2B5EF4-FFF2-40B4-BE49-F238E27FC236}">
                <a16:creationId xmlns:a16="http://schemas.microsoft.com/office/drawing/2014/main" id="{FB6E9BB3-6869-5E47-ACED-AFAF89372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74" y="1393486"/>
            <a:ext cx="4260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u="sng" dirty="0"/>
              <a:t>Desenvolvimento de produtos</a:t>
            </a:r>
          </a:p>
        </p:txBody>
      </p:sp>
      <p:sp>
        <p:nvSpPr>
          <p:cNvPr id="51203" name="Retângulo 4">
            <a:extLst>
              <a:ext uri="{FF2B5EF4-FFF2-40B4-BE49-F238E27FC236}">
                <a16:creationId xmlns:a16="http://schemas.microsoft.com/office/drawing/2014/main" id="{D64BA34A-CC83-0D4C-989A-B1D4FD5B5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533" y="2023058"/>
            <a:ext cx="717973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/>
              <a:t>Uma função pode ser </a:t>
            </a:r>
            <a:r>
              <a:rPr lang="pt-BR" altLang="pt-BR" sz="2000" dirty="0">
                <a:highlight>
                  <a:srgbClr val="FFFF00"/>
                </a:highlight>
              </a:rPr>
              <a:t>um módulo separado onde a solução tecnológica atual poderá ser levada para uma nova geração ou família de produtos</a:t>
            </a: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39150AB-6029-2548-A8A2-7433C80C0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25" y="1938629"/>
            <a:ext cx="25542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Multi-aplicativo</a:t>
            </a:r>
            <a:endParaRPr lang="pt-BR" altLang="pt-BR" sz="2000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(“</a:t>
            </a:r>
            <a:r>
              <a:rPr lang="pt-BR" altLang="pt-BR" sz="20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carry</a:t>
            </a:r>
            <a:r>
              <a:rPr lang="pt-BR" altLang="pt-BR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-over”) </a:t>
            </a:r>
            <a:endParaRPr lang="pt-BR" altLang="pt-BR" sz="2000" dirty="0">
              <a:solidFill>
                <a:srgbClr val="C00000"/>
              </a:solidFill>
            </a:endParaRPr>
          </a:p>
        </p:txBody>
      </p:sp>
      <p:sp>
        <p:nvSpPr>
          <p:cNvPr id="51205" name="Retângulo 6">
            <a:extLst>
              <a:ext uri="{FF2B5EF4-FFF2-40B4-BE49-F238E27FC236}">
                <a16:creationId xmlns:a16="http://schemas.microsoft.com/office/drawing/2014/main" id="{9B82B114-9C5C-9A4E-9010-D71878E7B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486" y="3538624"/>
            <a:ext cx="80405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/>
              <a:t>Uma função pode ser um módulo único se o mesmo possui uma tecnologia que </a:t>
            </a:r>
            <a:r>
              <a:rPr lang="pt-BR" altLang="pt-BR" sz="2000" dirty="0">
                <a:highlight>
                  <a:srgbClr val="FFFF00"/>
                </a:highlight>
              </a:rPr>
              <a:t>irá ser superada no seu ciclo de vida.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E1FE30A-77A8-F147-9E10-EE665C55E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026" y="3492657"/>
            <a:ext cx="2046287" cy="83099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>
              <a:defRPr/>
            </a:pPr>
            <a:r>
              <a:rPr lang="pt-BR" sz="2400" dirty="0">
                <a:solidFill>
                  <a:srgbClr val="C00000"/>
                </a:solidFill>
              </a:rPr>
              <a:t>Evolução tecnológica</a:t>
            </a:r>
          </a:p>
        </p:txBody>
      </p:sp>
      <p:sp>
        <p:nvSpPr>
          <p:cNvPr id="51207" name="Retângulo 8">
            <a:extLst>
              <a:ext uri="{FF2B5EF4-FFF2-40B4-BE49-F238E27FC236}">
                <a16:creationId xmlns:a16="http://schemas.microsoft.com/office/drawing/2014/main" id="{7C0B4A98-50ED-E14A-8E5B-BF51BAB8D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143" y="5002553"/>
            <a:ext cx="83310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/>
              <a:t>Uma função pode ser um módulo separado se esta possui </a:t>
            </a:r>
            <a:r>
              <a:rPr lang="pt-BR" altLang="pt-BR" sz="2000" dirty="0">
                <a:highlight>
                  <a:srgbClr val="FFFF00"/>
                </a:highlight>
              </a:rPr>
              <a:t>características que serão alteradas em um segundo plano.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4253D03-2E1B-5649-9AA8-FA13894FB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95" y="4756332"/>
            <a:ext cx="2446338" cy="120032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 algn="ctr">
              <a:defRPr/>
            </a:pPr>
            <a:r>
              <a:rPr lang="pt-BR" sz="2400" dirty="0">
                <a:solidFill>
                  <a:srgbClr val="C00000"/>
                </a:solidFill>
              </a:rPr>
              <a:t>Planejamento de alteração do projeto</a:t>
            </a:r>
          </a:p>
        </p:txBody>
      </p:sp>
      <p:sp>
        <p:nvSpPr>
          <p:cNvPr id="51209" name="Retângulo 10">
            <a:extLst>
              <a:ext uri="{FF2B5EF4-FFF2-40B4-BE49-F238E27FC236}">
                <a16:creationId xmlns:a16="http://schemas.microsoft.com/office/drawing/2014/main" id="{B1B2912B-783A-774A-92BD-3A51FEDFB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56" y="870422"/>
            <a:ext cx="7591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pt-BR" sz="24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Diretrizes</a:t>
            </a:r>
            <a:r>
              <a:rPr lang="it-IT" altLang="pt-BR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 de </a:t>
            </a:r>
            <a:r>
              <a:rPr lang="it-IT" altLang="pt-BR" sz="24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modularização</a:t>
            </a:r>
            <a:r>
              <a:rPr lang="it-IT" altLang="pt-BR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endParaRPr lang="pt-BR" altLang="pt-BR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952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tângulo 1">
            <a:extLst>
              <a:ext uri="{FF2B5EF4-FFF2-40B4-BE49-F238E27FC236}">
                <a16:creationId xmlns:a16="http://schemas.microsoft.com/office/drawing/2014/main" id="{834C4982-0AF9-4640-B7DA-F5FF374E2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7808"/>
            <a:ext cx="4341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pt-BR" sz="20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Diretrizes</a:t>
            </a:r>
            <a:r>
              <a:rPr lang="it-IT" altLang="pt-BR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 de </a:t>
            </a:r>
            <a:r>
              <a:rPr lang="it-IT" altLang="pt-BR" sz="20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modularização</a:t>
            </a:r>
            <a:r>
              <a:rPr lang="it-IT" altLang="pt-BR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endParaRPr lang="pt-BR" altLang="pt-BR" sz="1200" dirty="0">
              <a:solidFill>
                <a:srgbClr val="C00000"/>
              </a:solidFill>
            </a:endParaRPr>
          </a:p>
        </p:txBody>
      </p:sp>
      <p:sp>
        <p:nvSpPr>
          <p:cNvPr id="52226" name="Retângulo 2">
            <a:extLst>
              <a:ext uri="{FF2B5EF4-FFF2-40B4-BE49-F238E27FC236}">
                <a16:creationId xmlns:a16="http://schemas.microsoft.com/office/drawing/2014/main" id="{7C37BAF0-D389-9743-915A-464AA4E17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" y="968321"/>
            <a:ext cx="1533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u="sng" dirty="0"/>
              <a:t>Variações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8AFF0B4-4FF3-834E-B31F-DDEF7D15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992455"/>
            <a:ext cx="3425371" cy="40011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468313" algn="ctr">
              <a:defRPr/>
            </a:pPr>
            <a:r>
              <a:rPr lang="pt-BR" sz="2000" dirty="0">
                <a:solidFill>
                  <a:srgbClr val="C00000"/>
                </a:solidFill>
              </a:rPr>
              <a:t>ESPECIFICAÇÃO TÉCNICA</a:t>
            </a:r>
          </a:p>
        </p:txBody>
      </p:sp>
      <p:sp>
        <p:nvSpPr>
          <p:cNvPr id="52228" name="Retângulo 4">
            <a:extLst>
              <a:ext uri="{FF2B5EF4-FFF2-40B4-BE49-F238E27FC236}">
                <a16:creationId xmlns:a16="http://schemas.microsoft.com/office/drawing/2014/main" id="{15BBC5E4-CBFA-3045-BD99-E35382085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9481" y="1784748"/>
            <a:ext cx="695914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/>
              <a:t>Poderão ser concentradas alterações para se conseguir variantes em um módulo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83E146-6331-1843-8B10-9EC847522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1" y="3159125"/>
            <a:ext cx="2555875" cy="40005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>
              <a:defRPr/>
            </a:pPr>
            <a:r>
              <a:rPr lang="pt-BR" sz="2000" dirty="0">
                <a:solidFill>
                  <a:srgbClr val="C00000"/>
                </a:solidFill>
              </a:rPr>
              <a:t>ESTILO </a:t>
            </a:r>
          </a:p>
        </p:txBody>
      </p:sp>
      <p:sp>
        <p:nvSpPr>
          <p:cNvPr id="52230" name="Retângulo 6">
            <a:extLst>
              <a:ext uri="{FF2B5EF4-FFF2-40B4-BE49-F238E27FC236}">
                <a16:creationId xmlns:a16="http://schemas.microsoft.com/office/drawing/2014/main" id="{3B5571FD-2B08-7243-9158-1D982287E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1483" y="2921168"/>
            <a:ext cx="861445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/>
              <a:t>Função pode ser um módulo separado se esta é influenciada por tendências e modas de tal maneira que as formas e/ou as cores tenham de ser alteradas</a:t>
            </a:r>
          </a:p>
        </p:txBody>
      </p:sp>
    </p:spTree>
    <p:extLst>
      <p:ext uri="{BB962C8B-B14F-4D97-AF65-F5344CB8AC3E}">
        <p14:creationId xmlns:p14="http://schemas.microsoft.com/office/powerpoint/2010/main" val="3276795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tângulo 1">
            <a:extLst>
              <a:ext uri="{FF2B5EF4-FFF2-40B4-BE49-F238E27FC236}">
                <a16:creationId xmlns:a16="http://schemas.microsoft.com/office/drawing/2014/main" id="{E7BD7C8C-A32D-6B46-8A6F-45416B8C6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789" y="927100"/>
            <a:ext cx="6518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pt-BR" sz="2000">
                <a:solidFill>
                  <a:srgbClr val="C00000"/>
                </a:solidFill>
                <a:cs typeface="Times New Roman" panose="02020603050405020304" pitchFamily="18" charset="0"/>
              </a:rPr>
              <a:t>DIRETRIZES DE MODULARIZAÇÃO </a:t>
            </a:r>
            <a:endParaRPr lang="pt-BR" altLang="pt-BR" sz="1200">
              <a:solidFill>
                <a:srgbClr val="C00000"/>
              </a:solidFill>
            </a:endParaRPr>
          </a:p>
        </p:txBody>
      </p:sp>
      <p:sp>
        <p:nvSpPr>
          <p:cNvPr id="53250" name="Retângulo 2">
            <a:extLst>
              <a:ext uri="{FF2B5EF4-FFF2-40B4-BE49-F238E27FC236}">
                <a16:creationId xmlns:a16="http://schemas.microsoft.com/office/drawing/2014/main" id="{C8093AC9-D475-7F44-9BEE-80B07B39D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325" y="1384301"/>
            <a:ext cx="170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u="sng"/>
              <a:t>Fabricação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5CF816-49A3-5B4A-945B-54DD2E59C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9" y="2495520"/>
            <a:ext cx="2554287" cy="40011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 algn="ctr">
              <a:defRPr/>
            </a:pPr>
            <a:r>
              <a:rPr lang="pt-BR" sz="2000" dirty="0">
                <a:solidFill>
                  <a:srgbClr val="C00000"/>
                </a:solidFill>
              </a:rPr>
              <a:t>Unidade Comum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34DEFE-C28F-A842-B2F5-B1F22A152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512" y="4164014"/>
            <a:ext cx="2554288" cy="70802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 algn="ctr">
              <a:defRPr/>
            </a:pPr>
            <a:r>
              <a:rPr lang="pt-BR" sz="2000" dirty="0">
                <a:solidFill>
                  <a:srgbClr val="C00000"/>
                </a:solidFill>
              </a:rPr>
              <a:t>Processo e organização</a:t>
            </a:r>
          </a:p>
        </p:txBody>
      </p:sp>
      <p:sp>
        <p:nvSpPr>
          <p:cNvPr id="53253" name="Retângulo 5">
            <a:extLst>
              <a:ext uri="{FF2B5EF4-FFF2-40B4-BE49-F238E27FC236}">
                <a16:creationId xmlns:a16="http://schemas.microsoft.com/office/drawing/2014/main" id="{CB294F40-7060-DB4E-8A85-486FCA044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255838"/>
            <a:ext cx="61039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/>
              <a:t>Uma função poderá ser separada em um módulo se a mesma possuir a mesmas soluções físicas em todos os produtos variantes.</a:t>
            </a:r>
          </a:p>
        </p:txBody>
      </p:sp>
      <p:sp>
        <p:nvSpPr>
          <p:cNvPr id="53254" name="Rectangle 1">
            <a:extLst>
              <a:ext uri="{FF2B5EF4-FFF2-40B4-BE49-F238E27FC236}">
                <a16:creationId xmlns:a16="http://schemas.microsoft.com/office/drawing/2014/main" id="{7F9FD8FA-B112-D046-9C5E-AB33A2415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4" y="4019551"/>
            <a:ext cx="722788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cs typeface="Times New Roman" panose="02020603050405020304" pitchFamily="18" charset="0"/>
              </a:rPr>
              <a:t>Razões para separar uma função em um módulo:</a:t>
            </a:r>
            <a:endParaRPr lang="pt-BR" altLang="pt-BR" sz="2000"/>
          </a:p>
          <a:p>
            <a:pPr>
              <a:spcBef>
                <a:spcPct val="0"/>
              </a:spcBef>
            </a:pPr>
            <a:r>
              <a:rPr lang="pt-BR" altLang="pt-BR" sz="2000">
                <a:cs typeface="Times New Roman" panose="02020603050405020304" pitchFamily="18" charset="0"/>
              </a:rPr>
              <a:t>Ter uma tarefa específica em um grupo;</a:t>
            </a:r>
            <a:endParaRPr lang="pt-BR" altLang="pt-BR" sz="2000"/>
          </a:p>
          <a:p>
            <a:pPr>
              <a:spcBef>
                <a:spcPct val="0"/>
              </a:spcBef>
            </a:pPr>
            <a:r>
              <a:rPr lang="pt-BR" altLang="pt-BR" sz="2000">
                <a:cs typeface="Times New Roman" panose="02020603050405020304" pitchFamily="18" charset="0"/>
              </a:rPr>
              <a:t> Encaixar-se no conhecimento tecnológico da empresa;</a:t>
            </a:r>
            <a:endParaRPr lang="pt-BR" altLang="pt-BR" sz="2000"/>
          </a:p>
          <a:p>
            <a:pPr>
              <a:spcBef>
                <a:spcPct val="0"/>
              </a:spcBef>
            </a:pPr>
            <a:r>
              <a:rPr lang="pt-BR" altLang="pt-BR" sz="2000">
                <a:cs typeface="Times New Roman" panose="02020603050405020304" pitchFamily="18" charset="0"/>
              </a:rPr>
              <a:t>Possuir uma montagem pedagógica;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cs typeface="Times New Roman" panose="02020603050405020304" pitchFamily="18" charset="0"/>
              </a:rPr>
              <a:t>Ter um tempo de montagem que difere extremamente dos outros módulos</a:t>
            </a:r>
            <a:r>
              <a:rPr lang="pt-BR" altLang="pt-BR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6569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tângulo 2">
            <a:extLst>
              <a:ext uri="{FF2B5EF4-FFF2-40B4-BE49-F238E27FC236}">
                <a16:creationId xmlns:a16="http://schemas.microsoft.com/office/drawing/2014/main" id="{54FE9813-70D0-F34B-A3B7-0E86FB118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789" y="927100"/>
            <a:ext cx="6518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pt-BR" sz="2000">
                <a:solidFill>
                  <a:srgbClr val="C00000"/>
                </a:solidFill>
                <a:cs typeface="Times New Roman" panose="02020603050405020304" pitchFamily="18" charset="0"/>
              </a:rPr>
              <a:t>DIRETRIZES DE MODULARIZAÇÃO </a:t>
            </a:r>
            <a:endParaRPr lang="pt-BR" altLang="pt-BR" sz="1200">
              <a:solidFill>
                <a:srgbClr val="C00000"/>
              </a:solidFill>
            </a:endParaRPr>
          </a:p>
        </p:txBody>
      </p:sp>
      <p:sp>
        <p:nvSpPr>
          <p:cNvPr id="54274" name="Retângulo 3">
            <a:extLst>
              <a:ext uri="{FF2B5EF4-FFF2-40B4-BE49-F238E27FC236}">
                <a16:creationId xmlns:a16="http://schemas.microsoft.com/office/drawing/2014/main" id="{A252D3C6-EAE2-F049-BA5B-2A0C319E0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5" y="1471614"/>
            <a:ext cx="19637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u="sng"/>
              <a:t>QUALIDADE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81CD3B-B273-A846-8FF3-C5050C21F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022476"/>
            <a:ext cx="2554288" cy="70802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 algn="ctr">
              <a:defRPr/>
            </a:pPr>
            <a:r>
              <a:rPr lang="pt-BR" sz="2000" dirty="0">
                <a:solidFill>
                  <a:srgbClr val="C00000"/>
                </a:solidFill>
              </a:rPr>
              <a:t>Testes em separado</a:t>
            </a:r>
          </a:p>
        </p:txBody>
      </p:sp>
      <p:sp>
        <p:nvSpPr>
          <p:cNvPr id="54276" name="Retângulo 5">
            <a:extLst>
              <a:ext uri="{FF2B5EF4-FFF2-40B4-BE49-F238E27FC236}">
                <a16:creationId xmlns:a16="http://schemas.microsoft.com/office/drawing/2014/main" id="{CD1FFDBA-79D8-5D40-84B3-A8518067B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2035176"/>
            <a:ext cx="6350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/>
              <a:t>Uma função poderá ser separada em um módulo quando esta função puder ser testada separadamente</a:t>
            </a:r>
          </a:p>
        </p:txBody>
      </p:sp>
      <p:sp>
        <p:nvSpPr>
          <p:cNvPr id="54277" name="Retângulo 6">
            <a:extLst>
              <a:ext uri="{FF2B5EF4-FFF2-40B4-BE49-F238E27FC236}">
                <a16:creationId xmlns:a16="http://schemas.microsoft.com/office/drawing/2014/main" id="{82B4C474-4164-9746-A49F-ED1B54A52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2987676"/>
            <a:ext cx="1892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u="sng"/>
              <a:t>AQUISIÇÃO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95546F6-8E22-B149-9FAA-C701ACACA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24251"/>
            <a:ext cx="2554288" cy="70802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 algn="ctr">
              <a:defRPr/>
            </a:pPr>
            <a:r>
              <a:rPr lang="pt-BR" sz="2000" dirty="0">
                <a:solidFill>
                  <a:srgbClr val="C00000"/>
                </a:solidFill>
              </a:rPr>
              <a:t>Compra de produtos prontos</a:t>
            </a:r>
          </a:p>
        </p:txBody>
      </p:sp>
      <p:sp>
        <p:nvSpPr>
          <p:cNvPr id="54279" name="Retângulo 8">
            <a:extLst>
              <a:ext uri="{FF2B5EF4-FFF2-40B4-BE49-F238E27FC236}">
                <a16:creationId xmlns:a16="http://schemas.microsoft.com/office/drawing/2014/main" id="{CC350065-BBCA-B046-A687-CC5FD0536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938" y="3282951"/>
            <a:ext cx="629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/>
              <a:t>Uma função que pode ser tratada como uma caixa preta por causa de redução dos custos logísticos</a:t>
            </a:r>
          </a:p>
        </p:txBody>
      </p:sp>
    </p:spTree>
    <p:extLst>
      <p:ext uri="{BB962C8B-B14F-4D97-AF65-F5344CB8AC3E}">
        <p14:creationId xmlns:p14="http://schemas.microsoft.com/office/powerpoint/2010/main" val="4233311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tângulo 1">
            <a:extLst>
              <a:ext uri="{FF2B5EF4-FFF2-40B4-BE49-F238E27FC236}">
                <a16:creationId xmlns:a16="http://schemas.microsoft.com/office/drawing/2014/main" id="{309C4F10-D9BF-E546-8607-245039D3E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789" y="927100"/>
            <a:ext cx="6518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68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pt-BR" sz="2000">
                <a:solidFill>
                  <a:srgbClr val="C00000"/>
                </a:solidFill>
                <a:cs typeface="Times New Roman" panose="02020603050405020304" pitchFamily="18" charset="0"/>
              </a:rPr>
              <a:t>DIRETRIZES DE MODULARIZAÇÃO </a:t>
            </a:r>
            <a:endParaRPr lang="pt-BR" altLang="pt-BR" sz="1200">
              <a:solidFill>
                <a:srgbClr val="C00000"/>
              </a:solidFill>
            </a:endParaRPr>
          </a:p>
        </p:txBody>
      </p:sp>
      <p:sp>
        <p:nvSpPr>
          <p:cNvPr id="55298" name="Retângulo 2">
            <a:extLst>
              <a:ext uri="{FF2B5EF4-FFF2-40B4-BE49-F238E27FC236}">
                <a16:creationId xmlns:a16="http://schemas.microsoft.com/office/drawing/2014/main" id="{C7200DA1-7D90-2147-8A68-C12559A20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1616076"/>
            <a:ext cx="4110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u="sng"/>
              <a:t>APÓS ESTAR NO MECADO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F5C4405-E02C-3B4A-B5EC-B6D5587DC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39" y="2290764"/>
            <a:ext cx="2554287" cy="70802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>
              <a:defRPr/>
            </a:pPr>
            <a:r>
              <a:rPr lang="pt-BR" sz="2000" dirty="0">
                <a:solidFill>
                  <a:srgbClr val="C00000"/>
                </a:solidFill>
              </a:rPr>
              <a:t>Manutenção e </a:t>
            </a:r>
            <a:r>
              <a:rPr lang="pt-BR" sz="2000" dirty="0" err="1">
                <a:solidFill>
                  <a:srgbClr val="C00000"/>
                </a:solidFill>
              </a:rPr>
              <a:t>mantenabilidade</a:t>
            </a:r>
            <a:endParaRPr lang="pt-BR" sz="2000" dirty="0">
              <a:solidFill>
                <a:srgbClr val="C00000"/>
              </a:solidFill>
            </a:endParaRPr>
          </a:p>
        </p:txBody>
      </p:sp>
      <p:sp>
        <p:nvSpPr>
          <p:cNvPr id="55300" name="Retângulo 4">
            <a:extLst>
              <a:ext uri="{FF2B5EF4-FFF2-40B4-BE49-F238E27FC236}">
                <a16:creationId xmlns:a16="http://schemas.microsoft.com/office/drawing/2014/main" id="{FF4190C4-5BF3-444B-A784-AE88853BE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264" y="2306639"/>
            <a:ext cx="59007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/>
              <a:t>Manutenções e reparos podem ser facilitados se uma função fica bem em módulo separado.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407B4B7-074B-5F47-9A08-4392FD458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4" y="3889375"/>
            <a:ext cx="2555875" cy="40005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468313" algn="ctr">
              <a:defRPr/>
            </a:pPr>
            <a:r>
              <a:rPr lang="pt-BR" sz="2000" dirty="0">
                <a:solidFill>
                  <a:srgbClr val="C00000"/>
                </a:solidFill>
              </a:rPr>
              <a:t>Atualização</a:t>
            </a:r>
          </a:p>
        </p:txBody>
      </p:sp>
      <p:sp>
        <p:nvSpPr>
          <p:cNvPr id="55302" name="Retângulo 6">
            <a:extLst>
              <a:ext uri="{FF2B5EF4-FFF2-40B4-BE49-F238E27FC236}">
                <a16:creationId xmlns:a16="http://schemas.microsoft.com/office/drawing/2014/main" id="{977AF091-C9CC-0347-AED0-44645098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176" y="3757614"/>
            <a:ext cx="6219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/>
              <a:t>Se for necessária pode ser facilitada se a função a ser atualizada for um módulo.</a:t>
            </a:r>
          </a:p>
        </p:txBody>
      </p:sp>
      <p:sp>
        <p:nvSpPr>
          <p:cNvPr id="55303" name="Retângulo 7">
            <a:extLst>
              <a:ext uri="{FF2B5EF4-FFF2-40B4-BE49-F238E27FC236}">
                <a16:creationId xmlns:a16="http://schemas.microsoft.com/office/drawing/2014/main" id="{882DEAE0-2C7C-6944-A032-DF40CC5B0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5462588"/>
            <a:ext cx="1881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C00000"/>
                </a:solidFill>
              </a:rPr>
              <a:t>Reciclagem </a:t>
            </a:r>
          </a:p>
        </p:txBody>
      </p:sp>
      <p:sp>
        <p:nvSpPr>
          <p:cNvPr id="55304" name="Retângulo 8">
            <a:extLst>
              <a:ext uri="{FF2B5EF4-FFF2-40B4-BE49-F238E27FC236}">
                <a16:creationId xmlns:a16="http://schemas.microsoft.com/office/drawing/2014/main" id="{2B8C8C88-6B61-3040-83C5-E9873A2E7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9" y="5165726"/>
            <a:ext cx="59721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/>
              <a:t>Isto pode ser uma vantagem para concentrar materiais poluentes ou recicláveis em um mesmo módulo ou em módulos separados conforme o caso.</a:t>
            </a:r>
          </a:p>
        </p:txBody>
      </p:sp>
    </p:spTree>
    <p:extLst>
      <p:ext uri="{BB962C8B-B14F-4D97-AF65-F5344CB8AC3E}">
        <p14:creationId xmlns:p14="http://schemas.microsoft.com/office/powerpoint/2010/main" val="37551657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0A90EDEB-9357-0741-89E8-F9F2D0060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7881938" cy="706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altLang="pt-BR"/>
              <a:t>Ferramentas auxiliares para a definição de módulos 1/2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C83EF541-E7B3-0843-B960-EA7605678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4" y="893764"/>
            <a:ext cx="8574087" cy="796925"/>
          </a:xfrm>
        </p:spPr>
        <p:txBody>
          <a:bodyPr/>
          <a:lstStyle/>
          <a:p>
            <a:pPr eaLnBrk="1" hangingPunct="1"/>
            <a:r>
              <a:rPr lang="pt-BR" altLang="pt-BR"/>
              <a:t>Matriz Indicadora de Módulos (MIM)</a:t>
            </a:r>
          </a:p>
        </p:txBody>
      </p:sp>
      <p:sp>
        <p:nvSpPr>
          <p:cNvPr id="56323" name="Rectangle 5">
            <a:extLst>
              <a:ext uri="{FF2B5EF4-FFF2-40B4-BE49-F238E27FC236}">
                <a16:creationId xmlns:a16="http://schemas.microsoft.com/office/drawing/2014/main" id="{E3004FE2-AC82-3C4A-AB87-246CAA7F6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127411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aphicFrame>
        <p:nvGraphicFramePr>
          <p:cNvPr id="56324" name="Object 4">
            <a:extLst>
              <a:ext uri="{FF2B5EF4-FFF2-40B4-BE49-F238E27FC236}">
                <a16:creationId xmlns:a16="http://schemas.microsoft.com/office/drawing/2014/main" id="{DA5211F8-EBB5-A449-B3C9-06F328E60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6913" y="1292226"/>
          <a:ext cx="5975350" cy="537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13004800" imgH="13398500" progId="Word.Picture.8">
                  <p:embed/>
                </p:oleObj>
              </mc:Choice>
              <mc:Fallback>
                <p:oleObj name="Figura" r:id="rId3" imgW="13004800" imgH="13398500" progId="Word.Picture.8">
                  <p:embed/>
                  <p:pic>
                    <p:nvPicPr>
                      <p:cNvPr id="56324" name="Object 4">
                        <a:extLst>
                          <a:ext uri="{FF2B5EF4-FFF2-40B4-BE49-F238E27FC236}">
                            <a16:creationId xmlns:a16="http://schemas.microsoft.com/office/drawing/2014/main" id="{DA5211F8-EBB5-A449-B3C9-06F328E605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3292"/>
                      <a:stretch>
                        <a:fillRect/>
                      </a:stretch>
                    </p:blipFill>
                    <p:spPr bwMode="auto">
                      <a:xfrm>
                        <a:off x="3236913" y="1292226"/>
                        <a:ext cx="5975350" cy="537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20055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ítulo 1">
            <a:extLst>
              <a:ext uri="{FF2B5EF4-FFF2-40B4-BE49-F238E27FC236}">
                <a16:creationId xmlns:a16="http://schemas.microsoft.com/office/drawing/2014/main" id="{2331DCAD-CBCF-5341-A51B-06DDBE4AF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DESIGN STRUCTURE MATRIZ (DSM)</a:t>
            </a:r>
          </a:p>
        </p:txBody>
      </p:sp>
      <p:sp>
        <p:nvSpPr>
          <p:cNvPr id="58370" name="Espaço Reservado para Conteúdo 2">
            <a:extLst>
              <a:ext uri="{FF2B5EF4-FFF2-40B4-BE49-F238E27FC236}">
                <a16:creationId xmlns:a16="http://schemas.microsoft.com/office/drawing/2014/main" id="{DBB78560-7963-E740-B08C-D2A1D1B566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altLang="pt-BR" sz="2400" i="1"/>
              <a:t>Design Structure Matrix </a:t>
            </a:r>
            <a:r>
              <a:rPr lang="pt-BR" altLang="pt-BR" sz="2400"/>
              <a:t>(DSM) é a designação dada por Steward em 1981 para uma técnica cuja base é uma matriz analítica de projetos de sistemas. </a:t>
            </a:r>
          </a:p>
          <a:p>
            <a:pPr algn="just"/>
            <a:endParaRPr lang="pt-BR" altLang="pt-BR" sz="2400"/>
          </a:p>
          <a:p>
            <a:pPr algn="just"/>
            <a:r>
              <a:rPr lang="pt-BR" altLang="pt-BR" sz="2400"/>
              <a:t>O DSM é uma ferramenta de modelagem de rede, que auxilia na avaliação da arquitetura de sistemas ao representar os elementos que compõem um sistema e suas interações. </a:t>
            </a:r>
          </a:p>
          <a:p>
            <a:pPr algn="just"/>
            <a:r>
              <a:rPr lang="pt-BR" altLang="pt-BR" sz="2400"/>
              <a:t>Trata-se de uma matriz quadrada N x N que mapeia de forma compacta e intuitiva a interação, a interdependência, entre os N elementos que compõem a arquitetura de um sistema (EPPINGER e BROWNING, 2012). </a:t>
            </a:r>
          </a:p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12448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ítulo 1">
            <a:extLst>
              <a:ext uri="{FF2B5EF4-FFF2-40B4-BE49-F238E27FC236}">
                <a16:creationId xmlns:a16="http://schemas.microsoft.com/office/drawing/2014/main" id="{2038768D-9F9F-FF48-A34A-323A50B2A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MATRIZ DSM (BINÁRIO)</a:t>
            </a:r>
          </a:p>
        </p:txBody>
      </p:sp>
      <p:pic>
        <p:nvPicPr>
          <p:cNvPr id="59394" name="Imagem 3">
            <a:extLst>
              <a:ext uri="{FF2B5EF4-FFF2-40B4-BE49-F238E27FC236}">
                <a16:creationId xmlns:a16="http://schemas.microsoft.com/office/drawing/2014/main" id="{2FF2DDC7-6541-7842-AEFD-909C081DB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26" y="1965325"/>
            <a:ext cx="4410075" cy="430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9395" name="Conector de Seta Reta 5">
            <a:extLst>
              <a:ext uri="{FF2B5EF4-FFF2-40B4-BE49-F238E27FC236}">
                <a16:creationId xmlns:a16="http://schemas.microsoft.com/office/drawing/2014/main" id="{082A7469-BEA6-3441-BCCB-1C5E2944AF40}"/>
              </a:ext>
            </a:extLst>
          </p:cNvPr>
          <p:cNvCxnSpPr>
            <a:cxnSpLocks/>
          </p:cNvCxnSpPr>
          <p:nvPr/>
        </p:nvCxnSpPr>
        <p:spPr bwMode="auto">
          <a:xfrm>
            <a:off x="2774950" y="4119563"/>
            <a:ext cx="1581150" cy="0"/>
          </a:xfrm>
          <a:prstGeom prst="straightConnector1">
            <a:avLst/>
          </a:prstGeom>
          <a:noFill/>
          <a:ln w="19050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396" name="CaixaDeTexto 6">
            <a:extLst>
              <a:ext uri="{FF2B5EF4-FFF2-40B4-BE49-F238E27FC236}">
                <a16:creationId xmlns:a16="http://schemas.microsoft.com/office/drawing/2014/main" id="{9B6ABDB5-2E02-6A42-BD0E-FC73AE16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213" y="3492500"/>
            <a:ext cx="30607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C00000"/>
                </a:solidFill>
              </a:rPr>
              <a:t>Observe a linha D</a:t>
            </a:r>
          </a:p>
        </p:txBody>
      </p:sp>
      <p:sp>
        <p:nvSpPr>
          <p:cNvPr id="59397" name="Oval 7">
            <a:extLst>
              <a:ext uri="{FF2B5EF4-FFF2-40B4-BE49-F238E27FC236}">
                <a16:creationId xmlns:a16="http://schemas.microsoft.com/office/drawing/2014/main" id="{CE108EFD-DB75-D544-A660-77DC1157F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1" y="3838576"/>
            <a:ext cx="258763" cy="561975"/>
          </a:xfrm>
          <a:prstGeom prst="ellipse">
            <a:avLst/>
          </a:prstGeom>
          <a:noFill/>
          <a:ln w="127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59398" name="Oval 8">
            <a:extLst>
              <a:ext uri="{FF2B5EF4-FFF2-40B4-BE49-F238E27FC236}">
                <a16:creationId xmlns:a16="http://schemas.microsoft.com/office/drawing/2014/main" id="{267ED3FE-E7CF-A04D-88D7-6168BF160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1" y="3838576"/>
            <a:ext cx="358775" cy="561975"/>
          </a:xfrm>
          <a:prstGeom prst="ellips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/>
              <a:t> </a:t>
            </a:r>
          </a:p>
        </p:txBody>
      </p:sp>
      <p:sp>
        <p:nvSpPr>
          <p:cNvPr id="59399" name="Oval 9">
            <a:extLst>
              <a:ext uri="{FF2B5EF4-FFF2-40B4-BE49-F238E27FC236}">
                <a16:creationId xmlns:a16="http://schemas.microsoft.com/office/drawing/2014/main" id="{DE2F157C-343A-7C41-88E0-C0C0F053A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01" y="3743326"/>
            <a:ext cx="358775" cy="563563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/>
              <a:t> </a:t>
            </a:r>
          </a:p>
        </p:txBody>
      </p:sp>
      <p:sp>
        <p:nvSpPr>
          <p:cNvPr id="59400" name="Retângulo 11">
            <a:extLst>
              <a:ext uri="{FF2B5EF4-FFF2-40B4-BE49-F238E27FC236}">
                <a16:creationId xmlns:a16="http://schemas.microsoft.com/office/drawing/2014/main" id="{EAC07162-91B6-1442-8037-81BEE5E72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5" y="4337050"/>
            <a:ext cx="28321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constata-se que este elemento </a:t>
            </a:r>
            <a:r>
              <a:rPr lang="pt-BR" altLang="pt-BR" sz="2000">
                <a:solidFill>
                  <a:srgbClr val="FF0000"/>
                </a:solidFill>
              </a:rPr>
              <a:t>deve receber inputs dos elementos </a:t>
            </a:r>
            <a:r>
              <a:rPr lang="pt-BR" altLang="pt-BR" sz="2000"/>
              <a:t>“A”, “B” e “F” para exercer sua função corretamente</a:t>
            </a:r>
          </a:p>
        </p:txBody>
      </p:sp>
      <p:cxnSp>
        <p:nvCxnSpPr>
          <p:cNvPr id="59401" name="Conector de Seta Reta 12">
            <a:extLst>
              <a:ext uri="{FF2B5EF4-FFF2-40B4-BE49-F238E27FC236}">
                <a16:creationId xmlns:a16="http://schemas.microsoft.com/office/drawing/2014/main" id="{E720FACF-1C76-C34B-A2A6-3B8D3557EB25}"/>
              </a:ext>
            </a:extLst>
          </p:cNvPr>
          <p:cNvCxnSpPr>
            <a:cxnSpLocks/>
          </p:cNvCxnSpPr>
          <p:nvPr/>
        </p:nvCxnSpPr>
        <p:spPr bwMode="auto">
          <a:xfrm flipH="1">
            <a:off x="7278688" y="1398589"/>
            <a:ext cx="12700" cy="566737"/>
          </a:xfrm>
          <a:prstGeom prst="straightConnector1">
            <a:avLst/>
          </a:prstGeom>
          <a:noFill/>
          <a:ln w="28575" algn="ctr">
            <a:solidFill>
              <a:srgbClr val="00206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02" name="Retângulo 15">
            <a:extLst>
              <a:ext uri="{FF2B5EF4-FFF2-40B4-BE49-F238E27FC236}">
                <a16:creationId xmlns:a16="http://schemas.microsoft.com/office/drawing/2014/main" id="{491C54D6-5EFE-FC46-B6F8-B66AA6C68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076" y="327513"/>
            <a:ext cx="33575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2060"/>
                </a:solidFill>
              </a:rPr>
              <a:t>analisando a coluna “F” </a:t>
            </a:r>
            <a:r>
              <a:rPr lang="pt-BR" altLang="pt-BR" sz="2000" b="1">
                <a:solidFill>
                  <a:srgbClr val="002060"/>
                </a:solidFill>
              </a:rPr>
              <a:t>verifica-se que este elemento fornece outputs </a:t>
            </a:r>
            <a:r>
              <a:rPr lang="pt-BR" altLang="pt-BR" sz="2000">
                <a:solidFill>
                  <a:srgbClr val="002060"/>
                </a:solidFill>
              </a:rPr>
              <a:t>para os componentes “B” e “D</a:t>
            </a:r>
          </a:p>
        </p:txBody>
      </p:sp>
    </p:spTree>
    <p:extLst>
      <p:ext uri="{BB962C8B-B14F-4D97-AF65-F5344CB8AC3E}">
        <p14:creationId xmlns:p14="http://schemas.microsoft.com/office/powerpoint/2010/main" val="35483964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ítulo 1">
            <a:extLst>
              <a:ext uri="{FF2B5EF4-FFF2-40B4-BE49-F238E27FC236}">
                <a16:creationId xmlns:a16="http://schemas.microsoft.com/office/drawing/2014/main" id="{0CB297C5-4DF3-854F-9ED3-BFF0092AA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DSM Extendido</a:t>
            </a:r>
          </a:p>
        </p:txBody>
      </p:sp>
      <p:sp>
        <p:nvSpPr>
          <p:cNvPr id="60418" name="Espaço Reservado para Conteúdo 2">
            <a:extLst>
              <a:ext uri="{FF2B5EF4-FFF2-40B4-BE49-F238E27FC236}">
                <a16:creationId xmlns:a16="http://schemas.microsoft.com/office/drawing/2014/main" id="{744D30C3-A7CB-214A-91DB-975F77BBC5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Browning e Eppinger (2012), também apresentam uma abordagem extendida do DSM binário, denominada DSM numérico. </a:t>
            </a:r>
          </a:p>
          <a:p>
            <a:r>
              <a:rPr lang="pt-BR" altLang="pt-BR"/>
              <a:t>As interdependências não são apenas sinalizadas, elas são classificadas com números, cores ou símbolos, como apresentado na Figura 4. Desta forma, é possível representar através de números ou cores a classificação da força e tipo de interação entre os elementos, por exemplo. </a:t>
            </a:r>
          </a:p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43910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ítulo 1">
            <a:extLst>
              <a:ext uri="{FF2B5EF4-FFF2-40B4-BE49-F238E27FC236}">
                <a16:creationId xmlns:a16="http://schemas.microsoft.com/office/drawing/2014/main" id="{3F5D3F14-F32C-0F41-B485-9D00A3E0B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DSM Extendido</a:t>
            </a:r>
          </a:p>
        </p:txBody>
      </p:sp>
      <p:pic>
        <p:nvPicPr>
          <p:cNvPr id="61442" name="Imagem 3">
            <a:extLst>
              <a:ext uri="{FF2B5EF4-FFF2-40B4-BE49-F238E27FC236}">
                <a16:creationId xmlns:a16="http://schemas.microsoft.com/office/drawing/2014/main" id="{B7E4F41B-A80C-954D-ADC3-945CBEF2F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1" y="1498601"/>
            <a:ext cx="6384925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Retângulo 4">
            <a:extLst>
              <a:ext uri="{FF2B5EF4-FFF2-40B4-BE49-F238E27FC236}">
                <a16:creationId xmlns:a16="http://schemas.microsoft.com/office/drawing/2014/main" id="{4C59D19B-D503-A746-9BB2-2DBC028A0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4943476"/>
            <a:ext cx="6275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Fonte: Eppinger e Browning (2012) </a:t>
            </a:r>
          </a:p>
        </p:txBody>
      </p:sp>
    </p:spTree>
    <p:extLst>
      <p:ext uri="{BB962C8B-B14F-4D97-AF65-F5344CB8AC3E}">
        <p14:creationId xmlns:p14="http://schemas.microsoft.com/office/powerpoint/2010/main" val="20116995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ítulo 1">
            <a:extLst>
              <a:ext uri="{FF2B5EF4-FFF2-40B4-BE49-F238E27FC236}">
                <a16:creationId xmlns:a16="http://schemas.microsoft.com/office/drawing/2014/main" id="{7C05780F-7655-2D4B-8FC8-5FE914CAA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REGIÕES DO DSM</a:t>
            </a:r>
          </a:p>
        </p:txBody>
      </p:sp>
      <p:sp>
        <p:nvSpPr>
          <p:cNvPr id="62466" name="Espaço Reservado para Conteúdo 2">
            <a:extLst>
              <a:ext uri="{FF2B5EF4-FFF2-40B4-BE49-F238E27FC236}">
                <a16:creationId xmlns:a16="http://schemas.microsoft.com/office/drawing/2014/main" id="{6DA56B80-4328-B443-AC53-031195D9B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400" dirty="0"/>
              <a:t>É importante observar três regiões do DSM (MANZIONE, 2006), as quais são representadas na Figura 5: </a:t>
            </a:r>
          </a:p>
          <a:p>
            <a:endParaRPr lang="pt-BR" altLang="pt-BR" dirty="0"/>
          </a:p>
        </p:txBody>
      </p:sp>
      <p:pic>
        <p:nvPicPr>
          <p:cNvPr id="62467" name="Imagem 3">
            <a:extLst>
              <a:ext uri="{FF2B5EF4-FFF2-40B4-BE49-F238E27FC236}">
                <a16:creationId xmlns:a16="http://schemas.microsoft.com/office/drawing/2014/main" id="{4E1CDC8A-2DB6-764D-97D8-3FF6A8ED8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4" y="2625726"/>
            <a:ext cx="7678737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1500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ítulo 1">
            <a:extLst>
              <a:ext uri="{FF2B5EF4-FFF2-40B4-BE49-F238E27FC236}">
                <a16:creationId xmlns:a16="http://schemas.microsoft.com/office/drawing/2014/main" id="{274A7062-6623-5B48-82E3-B100F2190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63490" name="Espaço Reservado para Conteúdo 2">
            <a:extLst>
              <a:ext uri="{FF2B5EF4-FFF2-40B4-BE49-F238E27FC236}">
                <a16:creationId xmlns:a16="http://schemas.microsoft.com/office/drawing/2014/main" id="{540665D7-B738-A04A-B24A-52648A2B16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08164" y="354013"/>
            <a:ext cx="8574087" cy="5238750"/>
          </a:xfrm>
        </p:spPr>
        <p:txBody>
          <a:bodyPr/>
          <a:lstStyle/>
          <a:p>
            <a:br>
              <a:rPr lang="pt-BR" altLang="pt-BR" sz="2400"/>
            </a:br>
            <a:endParaRPr lang="pt-BR" altLang="pt-BR" sz="2400"/>
          </a:p>
          <a:p>
            <a:r>
              <a:rPr lang="pt-BR" altLang="pt-BR" sz="2400" b="1"/>
              <a:t>Diagonal: </a:t>
            </a:r>
            <a:r>
              <a:rPr lang="pt-BR" altLang="pt-BR" sz="2400"/>
              <a:t>geralmente representada por quadrados negros que são desconsiderados durante os cálculos dos algoritmos aplicados na matriz, já que representam a relação de uma atividade com si mesma; </a:t>
            </a:r>
          </a:p>
          <a:p>
            <a:r>
              <a:rPr lang="pt-BR" altLang="pt-BR" sz="2400"/>
              <a:t> </a:t>
            </a:r>
            <a:r>
              <a:rPr lang="pt-BR" altLang="pt-BR" sz="2400" b="1"/>
              <a:t>Região triangular inferior: </a:t>
            </a:r>
            <a:r>
              <a:rPr lang="pt-BR" altLang="pt-BR" sz="2400"/>
              <a:t>conhecida como região de alimentação, representa a interação entre atividades com precedência em ordem cronológica direta; </a:t>
            </a:r>
          </a:p>
          <a:p>
            <a:r>
              <a:rPr lang="pt-BR" altLang="pt-BR" sz="2400"/>
              <a:t> </a:t>
            </a:r>
            <a:r>
              <a:rPr lang="pt-BR" altLang="pt-BR" sz="2400" b="1"/>
              <a:t>Região triangular superior: </a:t>
            </a:r>
            <a:r>
              <a:rPr lang="pt-BR" altLang="pt-BR" sz="2400"/>
              <a:t>conhecida como região de retroalimentação, representa a interação entre atividades com precedência em ordem cronológica invertida. </a:t>
            </a:r>
          </a:p>
          <a:p>
            <a:endParaRPr lang="pt-BR" altLang="pt-BR" sz="2000"/>
          </a:p>
        </p:txBody>
      </p:sp>
    </p:spTree>
    <p:extLst>
      <p:ext uri="{BB962C8B-B14F-4D97-AF65-F5344CB8AC3E}">
        <p14:creationId xmlns:p14="http://schemas.microsoft.com/office/powerpoint/2010/main" val="20238959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ítulo 1">
            <a:extLst>
              <a:ext uri="{FF2B5EF4-FFF2-40B4-BE49-F238E27FC236}">
                <a16:creationId xmlns:a16="http://schemas.microsoft.com/office/drawing/2014/main" id="{4CF51D2C-A49D-0741-9692-05ABB396A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2289" y="82550"/>
            <a:ext cx="7388225" cy="706438"/>
          </a:xfrm>
        </p:spPr>
        <p:txBody>
          <a:bodyPr/>
          <a:lstStyle/>
          <a:p>
            <a:r>
              <a:rPr lang="pt-BR" altLang="pt-BR"/>
              <a:t>INTERAÇÕES DSM </a:t>
            </a:r>
          </a:p>
        </p:txBody>
      </p:sp>
      <p:sp>
        <p:nvSpPr>
          <p:cNvPr id="64514" name="Retângulo 3">
            <a:extLst>
              <a:ext uri="{FF2B5EF4-FFF2-40B4-BE49-F238E27FC236}">
                <a16:creationId xmlns:a16="http://schemas.microsoft.com/office/drawing/2014/main" id="{C6891491-9732-C64B-9FCD-620B98A54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9" y="1223964"/>
            <a:ext cx="8091487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As interações entre as atividades também podem ser classificadas como esperadas e inesperadas: 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2400"/>
          </a:p>
          <a:p>
            <a:pPr>
              <a:spcBef>
                <a:spcPct val="0"/>
              </a:spcBef>
            </a:pPr>
            <a:r>
              <a:rPr lang="pt-BR" altLang="pt-BR" sz="2400"/>
              <a:t> </a:t>
            </a:r>
            <a:r>
              <a:rPr lang="pt-BR" altLang="pt-BR" sz="2400" b="1"/>
              <a:t>Interações esperadas: </a:t>
            </a:r>
            <a:r>
              <a:rPr lang="pt-BR" altLang="pt-BR" sz="2400"/>
              <a:t>quando atividades posteriores fornecem inputs para a atividade corrente, trazendo melhorias. É o caso de pontos de verificação e validação de processos; </a:t>
            </a:r>
          </a:p>
          <a:p>
            <a:pPr>
              <a:spcBef>
                <a:spcPct val="0"/>
              </a:spcBef>
            </a:pPr>
            <a:endParaRPr lang="pt-BR" altLang="pt-BR" sz="2400"/>
          </a:p>
          <a:p>
            <a:pPr>
              <a:spcBef>
                <a:spcPct val="0"/>
              </a:spcBef>
            </a:pPr>
            <a:r>
              <a:rPr lang="pt-BR" altLang="pt-BR" sz="2400"/>
              <a:t> </a:t>
            </a:r>
            <a:r>
              <a:rPr lang="pt-BR" altLang="pt-BR" sz="2400" b="1"/>
              <a:t>Interações inesperadas: </a:t>
            </a:r>
            <a:r>
              <a:rPr lang="pt-BR" altLang="pt-BR" sz="2400"/>
              <a:t>quando novas informações chegam atrasadas no processo devido a erros no sequenciamento das atividades do processo, erros de processo, ou mudanças tardias. Esse tipo de interação gera retrabalho, gastos adicionais e atrasos no processo. </a:t>
            </a:r>
          </a:p>
        </p:txBody>
      </p:sp>
    </p:spTree>
    <p:extLst>
      <p:ext uri="{BB962C8B-B14F-4D97-AF65-F5344CB8AC3E}">
        <p14:creationId xmlns:p14="http://schemas.microsoft.com/office/powerpoint/2010/main" val="39914177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ítulo 1">
            <a:extLst>
              <a:ext uri="{FF2B5EF4-FFF2-40B4-BE49-F238E27FC236}">
                <a16:creationId xmlns:a16="http://schemas.microsoft.com/office/drawing/2014/main" id="{22543BAA-43F0-D344-A191-2A360E5BDA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6714" y="219075"/>
            <a:ext cx="7388225" cy="706438"/>
          </a:xfrm>
        </p:spPr>
        <p:txBody>
          <a:bodyPr>
            <a:normAutofit fontScale="90000"/>
          </a:bodyPr>
          <a:lstStyle/>
          <a:p>
            <a:r>
              <a:rPr lang="pt-BR" altLang="pt-BR" b="1"/>
              <a:t>Arquitetura de sistema e modelos de DSM </a:t>
            </a:r>
            <a:br>
              <a:rPr lang="pt-BR" altLang="pt-BR"/>
            </a:br>
            <a:endParaRPr lang="pt-BR" altLang="pt-BR"/>
          </a:p>
        </p:txBody>
      </p:sp>
      <p:sp>
        <p:nvSpPr>
          <p:cNvPr id="65538" name="Retângulo 3">
            <a:extLst>
              <a:ext uri="{FF2B5EF4-FFF2-40B4-BE49-F238E27FC236}">
                <a16:creationId xmlns:a16="http://schemas.microsoft.com/office/drawing/2014/main" id="{87457DA8-129A-CF41-A9EA-FB8F1B528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6" y="1114425"/>
            <a:ext cx="79930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Eppinger e Browning (2012) apresentam três tipos de arquitetura de sistemas que são analisadas no DSM: </a:t>
            </a:r>
          </a:p>
        </p:txBody>
      </p:sp>
      <p:sp>
        <p:nvSpPr>
          <p:cNvPr id="65539" name="Retângulo 4">
            <a:extLst>
              <a:ext uri="{FF2B5EF4-FFF2-40B4-BE49-F238E27FC236}">
                <a16:creationId xmlns:a16="http://schemas.microsoft.com/office/drawing/2014/main" id="{1D21FDF4-A764-0342-9878-E995AA213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1" y="1385889"/>
            <a:ext cx="851376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br>
              <a:rPr lang="pt-BR" altLang="pt-BR" sz="2400"/>
            </a:br>
            <a:endParaRPr lang="pt-BR" altLang="pt-BR" sz="2400"/>
          </a:p>
          <a:p>
            <a:pPr algn="just">
              <a:spcBef>
                <a:spcPct val="0"/>
              </a:spcBef>
            </a:pPr>
            <a:r>
              <a:rPr lang="pt-BR" altLang="pt-BR" sz="2400">
                <a:solidFill>
                  <a:srgbClr val="FF0000"/>
                </a:solidFill>
              </a:rPr>
              <a:t>Arquitetura de produto </a:t>
            </a:r>
            <a:r>
              <a:rPr lang="pt-BR" altLang="pt-BR" sz="2400"/>
              <a:t>– tratando-se da interação entre componentes dentro de um artefato físico, como visto no desenvolvimento de carros ou aviões; </a:t>
            </a:r>
          </a:p>
        </p:txBody>
      </p:sp>
      <p:sp>
        <p:nvSpPr>
          <p:cNvPr id="65540" name="Retângulo 5">
            <a:extLst>
              <a:ext uri="{FF2B5EF4-FFF2-40B4-BE49-F238E27FC236}">
                <a16:creationId xmlns:a16="http://schemas.microsoft.com/office/drawing/2014/main" id="{73B74BE3-3EA7-9041-81C8-FC1DE8DF2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0" y="2838451"/>
            <a:ext cx="82613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br>
              <a:rPr lang="pt-BR" altLang="pt-BR" sz="2400"/>
            </a:br>
            <a:endParaRPr lang="pt-BR" altLang="pt-BR" sz="2400"/>
          </a:p>
          <a:p>
            <a:pPr>
              <a:spcBef>
                <a:spcPct val="0"/>
              </a:spcBef>
            </a:pPr>
            <a:r>
              <a:rPr lang="pt-BR" altLang="pt-BR" sz="2400">
                <a:solidFill>
                  <a:srgbClr val="FF0000"/>
                </a:solidFill>
              </a:rPr>
              <a:t>Arquitetura de processo</a:t>
            </a:r>
            <a:r>
              <a:rPr lang="pt-BR" altLang="pt-BR" sz="2400"/>
              <a:t> – tratando-se da interação entre atividades para a realização de um trabalho, como as etapas que devem ser realizadas para desenvolver um produto; </a:t>
            </a:r>
          </a:p>
        </p:txBody>
      </p:sp>
      <p:sp>
        <p:nvSpPr>
          <p:cNvPr id="65541" name="Retângulo 6">
            <a:extLst>
              <a:ext uri="{FF2B5EF4-FFF2-40B4-BE49-F238E27FC236}">
                <a16:creationId xmlns:a16="http://schemas.microsoft.com/office/drawing/2014/main" id="{F24A0804-4AF7-8443-9604-EAC18647A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9" y="4659314"/>
            <a:ext cx="85121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br>
              <a:rPr lang="pt-BR" altLang="pt-BR" sz="2400"/>
            </a:br>
            <a:endParaRPr lang="pt-BR" altLang="pt-BR" sz="2400"/>
          </a:p>
          <a:p>
            <a:pPr>
              <a:spcBef>
                <a:spcPct val="0"/>
              </a:spcBef>
            </a:pPr>
            <a:r>
              <a:rPr lang="pt-BR" altLang="pt-BR" sz="2400">
                <a:solidFill>
                  <a:srgbClr val="FF0000"/>
                </a:solidFill>
              </a:rPr>
              <a:t>Arquitetura organizacional </a:t>
            </a:r>
            <a:r>
              <a:rPr lang="pt-BR" altLang="pt-BR" sz="2400"/>
              <a:t>– tratando-se da interação entre pessoas ou equipes dentro de uma organização. </a:t>
            </a:r>
          </a:p>
        </p:txBody>
      </p:sp>
    </p:spTree>
    <p:extLst>
      <p:ext uri="{BB962C8B-B14F-4D97-AF65-F5344CB8AC3E}">
        <p14:creationId xmlns:p14="http://schemas.microsoft.com/office/powerpoint/2010/main" val="12326030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ítulo 1">
            <a:extLst>
              <a:ext uri="{FF2B5EF4-FFF2-40B4-BE49-F238E27FC236}">
                <a16:creationId xmlns:a16="http://schemas.microsoft.com/office/drawing/2014/main" id="{847DAE54-0296-614F-B897-C1063E461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3889" y="206375"/>
            <a:ext cx="7388225" cy="706438"/>
          </a:xfrm>
        </p:spPr>
        <p:txBody>
          <a:bodyPr>
            <a:normAutofit fontScale="90000"/>
          </a:bodyPr>
          <a:lstStyle/>
          <a:p>
            <a:r>
              <a:rPr lang="pt-BR" altLang="pt-BR"/>
              <a:t>Representação, aplicações e abordagens para os tipos de DSM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127B56B-A8DD-E043-B0B4-A4B4BFDA87AF}"/>
              </a:ext>
            </a:extLst>
          </p:cNvPr>
          <p:cNvGraphicFramePr>
            <a:graphicFrameLocks noGrp="1"/>
          </p:cNvGraphicFramePr>
          <p:nvPr/>
        </p:nvGraphicFramePr>
        <p:xfrm>
          <a:off x="1893889" y="1376364"/>
          <a:ext cx="8404225" cy="4569037"/>
        </p:xfrm>
        <a:graphic>
          <a:graphicData uri="http://schemas.openxmlformats.org/drawingml/2006/table">
            <a:tbl>
              <a:tblPr/>
              <a:tblGrid>
                <a:gridCol w="115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9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561"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Tipo de DSM </a:t>
                      </a:r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Representação </a:t>
                      </a:r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Aplicações </a:t>
                      </a:r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Abordagem ideal para análise </a:t>
                      </a:r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1400" dirty="0">
                        <a:latin typeface="+mn-lt"/>
                      </a:endParaRPr>
                    </a:p>
                  </a:txBody>
                  <a:tcPr marL="47203" marR="47203" marT="23591" marB="23591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853">
                <a:tc rowSpan="2"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 Temporal</a:t>
                      </a:r>
                    </a:p>
                  </a:txBody>
                  <a:tcPr marL="24585" marR="2458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effectLst/>
                          <a:latin typeface="+mn-lt"/>
                        </a:rPr>
                        <a:t>DSM de arquitetura de processo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>
                          <a:effectLst/>
                          <a:latin typeface="+mn-lt"/>
                        </a:rPr>
                        <a:t>Relação de </a:t>
                      </a:r>
                      <a:r>
                        <a:rPr lang="pt-BR" sz="1400" b="0" i="1">
                          <a:effectLst/>
                          <a:latin typeface="+mn-lt"/>
                        </a:rPr>
                        <a:t>inputs </a:t>
                      </a:r>
                      <a:r>
                        <a:rPr lang="pt-BR" sz="1400" b="0">
                          <a:effectLst/>
                          <a:latin typeface="+mn-lt"/>
                        </a:rPr>
                        <a:t>e </a:t>
                      </a:r>
                      <a:r>
                        <a:rPr lang="pt-BR" sz="1400" b="0" i="1">
                          <a:effectLst/>
                          <a:latin typeface="+mn-lt"/>
                        </a:rPr>
                        <a:t>outputs </a:t>
                      </a:r>
                      <a:r>
                        <a:rPr lang="pt-BR" sz="1400" b="0">
                          <a:effectLst/>
                          <a:latin typeface="+mn-lt"/>
                        </a:rPr>
                        <a:t>de atividades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+mn-lt"/>
                        </a:rPr>
                        <a:t>Agendamento de projeto, sequenciamento de atividades, redução de ciclos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+mn-lt"/>
                        </a:rPr>
                        <a:t>Algoritmos para maximizar marcas na região triangular inferior da matriz, buscando a </a:t>
                      </a:r>
                      <a:r>
                        <a:rPr lang="pt-BR" sz="1400" dirty="0" err="1">
                          <a:effectLst/>
                          <a:latin typeface="+mn-lt"/>
                        </a:rPr>
                        <a:t>clusterização</a:t>
                      </a:r>
                      <a:r>
                        <a:rPr lang="pt-BR" sz="1400" dirty="0">
                          <a:effectLst/>
                          <a:latin typeface="+mn-lt"/>
                        </a:rPr>
                        <a:t> das marcas da região triangular superior em blocos ao longo da diagonal do DSM.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3103">
                <a:tc vMerge="1">
                  <a:txBody>
                    <a:bodyPr/>
                    <a:lstStyle/>
                    <a:p>
                      <a:endParaRPr lang="pt-BR" sz="1400" b="0" dirty="0">
                        <a:effectLst/>
                        <a:latin typeface="+mn-lt"/>
                      </a:endParaRPr>
                    </a:p>
                  </a:txBody>
                  <a:tcPr marL="24581" marR="245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effectLst/>
                          <a:latin typeface="+mn-lt"/>
                        </a:rPr>
                        <a:t>DSM baseado em parâmetros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>
                          <a:effectLst/>
                          <a:latin typeface="+mn-lt"/>
                        </a:rPr>
                        <a:t>Pontos de decisão e precedentes necessários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effectLst/>
                          <a:latin typeface="+mn-lt"/>
                        </a:rPr>
                        <a:t>Construção de processos, nível operacional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T>
                      <a:noFill/>
                    </a:lnT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 sz="1400" dirty="0">
                        <a:latin typeface="+mn-lt"/>
                      </a:endParaRPr>
                    </a:p>
                  </a:txBody>
                  <a:tcPr marL="47196" marR="47196" marT="23598" marB="23598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445">
                <a:tc rowSpan="2"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Estático </a:t>
                      </a:r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5" marR="2458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DSM de arquitetura organizacional </a:t>
                      </a:r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+mn-lt"/>
                        </a:rPr>
                        <a:t>Características de interface de equipes multidisciplinares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+mn-lt"/>
                        </a:rPr>
                        <a:t>Arquitetura organizacional, integração de equipes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+mn-lt"/>
                        </a:rPr>
                        <a:t>Algoritmos para analisar clusters de blocos relativamente independentes ao longo da diagonal do DSM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862">
                <a:tc vMerge="1">
                  <a:txBody>
                    <a:bodyPr/>
                    <a:lstStyle/>
                    <a:p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1" marR="245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  <a:latin typeface="+mn-lt"/>
                        </a:rPr>
                        <a:t>DSM de arquitetura de produto </a:t>
                      </a:r>
                      <a:endParaRPr lang="pt-BR" sz="1400" dirty="0">
                        <a:effectLst/>
                        <a:latin typeface="+mn-lt"/>
                      </a:endParaRP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+mn-lt"/>
                        </a:rPr>
                        <a:t>Relações entre componentes de um produto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+mn-lt"/>
                        </a:rPr>
                        <a:t>Arquitetura de sistema, engenharia, projeto </a:t>
                      </a:r>
                    </a:p>
                  </a:txBody>
                  <a:tcPr marL="24585" marR="24585" marT="0" marB="0">
                    <a:lnL>
                      <a:noFill/>
                    </a:lnL>
                    <a:lnT>
                      <a:noFill/>
                    </a:lnT>
                    <a:solidFill>
                      <a:srgbClr val="FF8A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 sz="1400" dirty="0">
                        <a:latin typeface="+mn-lt"/>
                      </a:endParaRPr>
                    </a:p>
                  </a:txBody>
                  <a:tcPr marL="47196" marR="47196" marT="23598" marB="23598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6842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ítulo 1">
            <a:extLst>
              <a:ext uri="{FF2B5EF4-FFF2-40B4-BE49-F238E27FC236}">
                <a16:creationId xmlns:a16="http://schemas.microsoft.com/office/drawing/2014/main" id="{D7C81A56-D2F6-2742-B55F-3E44E738A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ETAPAS DO DSM</a:t>
            </a:r>
          </a:p>
        </p:txBody>
      </p:sp>
      <p:sp>
        <p:nvSpPr>
          <p:cNvPr id="67586" name="Espaço Reservado para Conteúdo 2">
            <a:extLst>
              <a:ext uri="{FF2B5EF4-FFF2-40B4-BE49-F238E27FC236}">
                <a16:creationId xmlns:a16="http://schemas.microsoft.com/office/drawing/2014/main" id="{825D60B8-8A73-5F49-ABCB-B41AB7FC9B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2239" y="1738314"/>
            <a:ext cx="6249987" cy="2471737"/>
          </a:xfrm>
        </p:spPr>
        <p:txBody>
          <a:bodyPr/>
          <a:lstStyle/>
          <a:p>
            <a:pPr marL="914400" lvl="1" indent="-457200">
              <a:buFontTx/>
              <a:buAutoNum type="arabicPeriod"/>
            </a:pPr>
            <a:r>
              <a:rPr lang="pt-BR" altLang="pt-BR"/>
              <a:t>Decompor</a:t>
            </a:r>
          </a:p>
          <a:p>
            <a:pPr marL="914400" lvl="1" indent="-457200">
              <a:buFontTx/>
              <a:buAutoNum type="arabicPeriod"/>
            </a:pPr>
            <a:r>
              <a:rPr lang="pt-BR" altLang="pt-BR"/>
              <a:t>Identificar</a:t>
            </a:r>
          </a:p>
          <a:p>
            <a:pPr marL="914400" lvl="1" indent="-457200">
              <a:buFontTx/>
              <a:buAutoNum type="arabicPeriod"/>
            </a:pPr>
            <a:r>
              <a:rPr lang="pt-BR" altLang="pt-BR"/>
              <a:t>Analisar </a:t>
            </a:r>
          </a:p>
          <a:p>
            <a:pPr marL="914400" lvl="1" indent="-457200">
              <a:buFontTx/>
              <a:buAutoNum type="arabicPeriod"/>
            </a:pPr>
            <a:r>
              <a:rPr lang="pt-BR" altLang="pt-BR"/>
              <a:t>Exibir</a:t>
            </a:r>
          </a:p>
          <a:p>
            <a:pPr marL="914400" lvl="1" indent="-457200">
              <a:buFontTx/>
              <a:buAutoNum type="arabicPeriod"/>
            </a:pPr>
            <a:r>
              <a:rPr lang="pt-BR" altLang="pt-BR"/>
              <a:t>Melhorar</a:t>
            </a:r>
          </a:p>
        </p:txBody>
      </p:sp>
    </p:spTree>
    <p:extLst>
      <p:ext uri="{BB962C8B-B14F-4D97-AF65-F5344CB8AC3E}">
        <p14:creationId xmlns:p14="http://schemas.microsoft.com/office/powerpoint/2010/main" val="26728707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ítulo 1">
            <a:extLst>
              <a:ext uri="{FF2B5EF4-FFF2-40B4-BE49-F238E27FC236}">
                <a16:creationId xmlns:a16="http://schemas.microsoft.com/office/drawing/2014/main" id="{EF3EFFA5-54B3-EE4F-9794-7640A1CA8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E76CFB-7DD5-A745-BFE4-5473A1307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026" y="552451"/>
            <a:ext cx="7724775" cy="5573713"/>
          </a:xfrm>
        </p:spPr>
        <p:txBody>
          <a:bodyPr/>
          <a:lstStyle/>
          <a:p>
            <a:pPr marL="0" indent="0">
              <a:buNone/>
              <a:defRPr/>
            </a:pPr>
            <a:br>
              <a:rPr lang="pt-BR" dirty="0"/>
            </a:br>
            <a:endParaRPr lang="pt-BR" dirty="0"/>
          </a:p>
          <a:p>
            <a:pPr marL="0" indent="0">
              <a:buNone/>
              <a:defRPr/>
            </a:pPr>
            <a:r>
              <a:rPr lang="pt-BR" dirty="0"/>
              <a:t>1. Decompor: </a:t>
            </a:r>
          </a:p>
          <a:p>
            <a:pPr marL="0" indent="0">
              <a:buNone/>
              <a:defRPr/>
            </a:pPr>
            <a:r>
              <a:rPr lang="pt-BR" dirty="0"/>
              <a:t>Desdobrar os sistemas nos elementos que os constituem. </a:t>
            </a:r>
          </a:p>
          <a:p>
            <a:pPr marL="0" indent="0">
              <a:buNone/>
              <a:defRPr/>
            </a:pPr>
            <a:r>
              <a:rPr lang="pt-BR" dirty="0"/>
              <a:t>Os elementos podem ser levantados através da análise de documentos e reuniões com as pessoas diretamente envolvidas no sistema. </a:t>
            </a:r>
          </a:p>
          <a:p>
            <a:pPr marL="0" indent="0">
              <a:buNone/>
              <a:defRPr/>
            </a:pPr>
            <a:endParaRPr lang="pt-BR" dirty="0"/>
          </a:p>
          <a:p>
            <a:pPr marL="0" indent="0">
              <a:buNone/>
              <a:defRPr/>
            </a:pPr>
            <a:r>
              <a:rPr lang="pt-BR" dirty="0"/>
              <a:t>Os elementos são listados nas linhas e colunas da matriz seguindo uma sequência lógica. </a:t>
            </a:r>
          </a:p>
          <a:p>
            <a:pPr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04876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ítulo 1">
            <a:extLst>
              <a:ext uri="{FF2B5EF4-FFF2-40B4-BE49-F238E27FC236}">
                <a16:creationId xmlns:a16="http://schemas.microsoft.com/office/drawing/2014/main" id="{41A241D5-D8F9-6947-9095-D5F279D06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69634" name="Espaço Reservado para Conteúdo 2">
            <a:extLst>
              <a:ext uri="{FF2B5EF4-FFF2-40B4-BE49-F238E27FC236}">
                <a16:creationId xmlns:a16="http://schemas.microsoft.com/office/drawing/2014/main" id="{14E6C8EE-6B8B-314D-AD86-4504776034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Identificar: Registrar a inter-relação entre os elementos do sistema na matriz. </a:t>
            </a:r>
          </a:p>
          <a:p>
            <a:endParaRPr lang="pt-BR" altLang="pt-BR"/>
          </a:p>
          <a:p>
            <a:r>
              <a:rPr lang="pt-BR" altLang="pt-BR" sz="2400"/>
              <a:t>Conforme apresentado na Figura 3 anteriormente, no caso de um DSM binário é apenas sinalizado se existe ou não a interação entre os elementos. </a:t>
            </a:r>
          </a:p>
          <a:p>
            <a:r>
              <a:rPr lang="pt-BR" altLang="pt-BR" sz="2400"/>
              <a:t>Existe também a possiblidade de classificar o tipo de interação entre os elementos em um DSM numérico, conforme foi apresentado na Figura 4. </a:t>
            </a:r>
          </a:p>
          <a:p>
            <a:r>
              <a:rPr lang="pt-BR" altLang="pt-BR" sz="2400"/>
              <a:t>Ao ler uma coluna são identificados os </a:t>
            </a:r>
            <a:r>
              <a:rPr lang="pt-BR" altLang="pt-BR" sz="2400" i="1"/>
              <a:t>outputs </a:t>
            </a:r>
            <a:r>
              <a:rPr lang="pt-BR" altLang="pt-BR" sz="2400"/>
              <a:t>do elemento e ao ler uma linhas são identificados os </a:t>
            </a:r>
            <a:r>
              <a:rPr lang="pt-BR" altLang="pt-BR" sz="2400" i="1"/>
              <a:t>inputs </a:t>
            </a:r>
            <a:r>
              <a:rPr lang="pt-BR" altLang="pt-BR" sz="2400"/>
              <a:t>necessários para o elemento, </a:t>
            </a:r>
          </a:p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42069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ítulo 1">
            <a:extLst>
              <a:ext uri="{FF2B5EF4-FFF2-40B4-BE49-F238E27FC236}">
                <a16:creationId xmlns:a16="http://schemas.microsoft.com/office/drawing/2014/main" id="{BA1D2AB8-88F0-4945-BE1D-5D88B9DC5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2D8CB0-587D-2148-BC72-C3B5B22A0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488" y="887413"/>
            <a:ext cx="7961312" cy="5238750"/>
          </a:xfrm>
        </p:spPr>
        <p:txBody>
          <a:bodyPr/>
          <a:lstStyle/>
          <a:p>
            <a:pPr marL="0" indent="0">
              <a:buNone/>
              <a:defRPr/>
            </a:pPr>
            <a:br>
              <a:rPr lang="pt-BR" dirty="0"/>
            </a:br>
            <a:endParaRPr lang="pt-BR" dirty="0"/>
          </a:p>
          <a:p>
            <a:pPr>
              <a:defRPr/>
            </a:pPr>
            <a:r>
              <a:rPr lang="pt-BR" dirty="0"/>
              <a:t>Analisar: </a:t>
            </a:r>
          </a:p>
          <a:p>
            <a:pPr marL="0" indent="0">
              <a:buNone/>
              <a:defRPr/>
            </a:pPr>
            <a:r>
              <a:rPr lang="pt-BR" sz="2400" dirty="0"/>
              <a:t>são aplicados os algoritmos de análise do DSM para rearranjar as linhas e colunas da matriz de forma a entender os padrões estruturais e como eles afetam o comportamento do sistema. </a:t>
            </a:r>
          </a:p>
          <a:p>
            <a:pPr marL="0" indent="0">
              <a:buNone/>
              <a:defRPr/>
            </a:pPr>
            <a:endParaRPr lang="pt-BR" sz="2400" dirty="0"/>
          </a:p>
          <a:p>
            <a:pPr marL="0" indent="0">
              <a:buNone/>
              <a:defRPr/>
            </a:pPr>
            <a:r>
              <a:rPr lang="pt-BR" sz="2400" dirty="0"/>
              <a:t>Os algoritmos são detalhados na próxima seção.</a:t>
            </a:r>
          </a:p>
        </p:txBody>
      </p:sp>
    </p:spTree>
    <p:extLst>
      <p:ext uri="{BB962C8B-B14F-4D97-AF65-F5344CB8AC3E}">
        <p14:creationId xmlns:p14="http://schemas.microsoft.com/office/powerpoint/2010/main" val="20146088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ítulo 1">
            <a:extLst>
              <a:ext uri="{FF2B5EF4-FFF2-40B4-BE49-F238E27FC236}">
                <a16:creationId xmlns:a16="http://schemas.microsoft.com/office/drawing/2014/main" id="{0281EC9F-CEA8-AA44-BC99-8F86A5604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1C42E-0F2C-EC42-B102-41827DBED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br>
              <a:rPr lang="pt-BR" dirty="0"/>
            </a:br>
            <a:endParaRPr lang="pt-BR" dirty="0"/>
          </a:p>
          <a:p>
            <a:pPr>
              <a:defRPr/>
            </a:pPr>
            <a:r>
              <a:rPr lang="pt-BR" dirty="0"/>
              <a:t>Exibir: </a:t>
            </a:r>
          </a:p>
          <a:p>
            <a:pPr>
              <a:defRPr/>
            </a:pPr>
            <a:endParaRPr lang="pt-BR" dirty="0"/>
          </a:p>
          <a:p>
            <a:pPr marL="400050" lvl="1" indent="0">
              <a:buNone/>
              <a:defRPr/>
            </a:pPr>
            <a:r>
              <a:rPr lang="pt-BR" dirty="0"/>
              <a:t>é apresentado o novo arranjo da matriz de acordo com o algoritmos aplicados. </a:t>
            </a:r>
          </a:p>
          <a:p>
            <a:pPr marL="400050" lvl="1" indent="0">
              <a:buNone/>
              <a:defRPr/>
            </a:pPr>
            <a:r>
              <a:rPr lang="pt-BR" dirty="0"/>
              <a:t>São ressaltadas características importantes identificadas na estrutura do sistema, tais como os módulos de elementos com grande fluxo de informação entre </a:t>
            </a:r>
            <a:r>
              <a:rPr lang="pt-BR" dirty="0" err="1"/>
              <a:t>sí</a:t>
            </a:r>
            <a:r>
              <a:rPr lang="pt-BR" dirty="0"/>
              <a:t>. </a:t>
            </a:r>
          </a:p>
          <a:p>
            <a:pPr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01591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ítulo 1">
            <a:extLst>
              <a:ext uri="{FF2B5EF4-FFF2-40B4-BE49-F238E27FC236}">
                <a16:creationId xmlns:a16="http://schemas.microsoft.com/office/drawing/2014/main" id="{BAEE86C0-2D37-8349-B6E0-F75B884AB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5ABDB4-1A33-8C49-84DC-F1B6D671A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br>
              <a:rPr lang="pt-BR" dirty="0"/>
            </a:br>
            <a:endParaRPr lang="pt-BR" dirty="0"/>
          </a:p>
          <a:p>
            <a:pPr>
              <a:defRPr/>
            </a:pPr>
            <a:r>
              <a:rPr lang="pt-BR" dirty="0"/>
              <a:t>Melhorar: </a:t>
            </a:r>
          </a:p>
          <a:p>
            <a:pPr marL="0" indent="0">
              <a:buNone/>
              <a:defRPr/>
            </a:pPr>
            <a:r>
              <a:rPr lang="pt-BR" dirty="0"/>
              <a:t>	</a:t>
            </a:r>
            <a:r>
              <a:rPr lang="pt-BR" sz="2400" dirty="0"/>
              <a:t>Após observar os resultados das análises feitas com os algoritmos, é possível propor e aplicar melhorias para alcançar uma maior fluidez na interação entre os elementos do sistema. </a:t>
            </a:r>
          </a:p>
          <a:p>
            <a:pPr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70841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ítulo 1">
            <a:extLst>
              <a:ext uri="{FF2B5EF4-FFF2-40B4-BE49-F238E27FC236}">
                <a16:creationId xmlns:a16="http://schemas.microsoft.com/office/drawing/2014/main" id="{AF41C198-21D4-1B4F-A0CB-4C98ECDBC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4039" y="1087439"/>
            <a:ext cx="7388225" cy="706437"/>
          </a:xfrm>
        </p:spPr>
        <p:txBody>
          <a:bodyPr>
            <a:normAutofit fontScale="90000"/>
          </a:bodyPr>
          <a:lstStyle/>
          <a:p>
            <a:r>
              <a:rPr lang="pt-BR" altLang="pt-BR"/>
              <a:t>Ferramenta de construção do DSM</a:t>
            </a:r>
          </a:p>
        </p:txBody>
      </p:sp>
      <p:sp>
        <p:nvSpPr>
          <p:cNvPr id="73730" name="Retângulo 3">
            <a:hlinkClick r:id="rId2"/>
            <a:extLst>
              <a:ext uri="{FF2B5EF4-FFF2-40B4-BE49-F238E27FC236}">
                <a16:creationId xmlns:a16="http://schemas.microsoft.com/office/drawing/2014/main" id="{CC07247F-7A67-154E-BCE2-E239BCBB5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150" y="2366963"/>
            <a:ext cx="6858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https://dsmweb.org/building-and-creating-a-dsm/</a:t>
            </a:r>
          </a:p>
        </p:txBody>
      </p:sp>
    </p:spTree>
    <p:extLst>
      <p:ext uri="{BB962C8B-B14F-4D97-AF65-F5344CB8AC3E}">
        <p14:creationId xmlns:p14="http://schemas.microsoft.com/office/powerpoint/2010/main" val="32189685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ítulo 1">
            <a:extLst>
              <a:ext uri="{FF2B5EF4-FFF2-40B4-BE49-F238E27FC236}">
                <a16:creationId xmlns:a16="http://schemas.microsoft.com/office/drawing/2014/main" id="{54F0439B-6907-F443-9A73-C733990CF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4754" name="Picture 2">
            <a:extLst>
              <a:ext uri="{FF2B5EF4-FFF2-40B4-BE49-F238E27FC236}">
                <a16:creationId xmlns:a16="http://schemas.microsoft.com/office/drawing/2014/main" id="{52E2E9FB-59D0-2A4C-83A5-9F847F013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8" y="1162051"/>
            <a:ext cx="7085012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307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ítulo 1">
            <a:extLst>
              <a:ext uri="{FF2B5EF4-FFF2-40B4-BE49-F238E27FC236}">
                <a16:creationId xmlns:a16="http://schemas.microsoft.com/office/drawing/2014/main" id="{2C2E80B5-3CF5-4D4D-B6CF-16B288DF9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5778" name="Picture 2">
            <a:extLst>
              <a:ext uri="{FF2B5EF4-FFF2-40B4-BE49-F238E27FC236}">
                <a16:creationId xmlns:a16="http://schemas.microsoft.com/office/drawing/2014/main" id="{C3F99B48-484C-C246-99B5-CFFC760F4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1136651"/>
            <a:ext cx="6848475" cy="49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32788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ítulo 1">
            <a:extLst>
              <a:ext uri="{FF2B5EF4-FFF2-40B4-BE49-F238E27FC236}">
                <a16:creationId xmlns:a16="http://schemas.microsoft.com/office/drawing/2014/main" id="{DD555373-5673-DD4A-B12D-B052B009C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6614" y="850900"/>
            <a:ext cx="7388225" cy="706438"/>
          </a:xfrm>
        </p:spPr>
        <p:txBody>
          <a:bodyPr>
            <a:normAutofit fontScale="90000"/>
          </a:bodyPr>
          <a:lstStyle/>
          <a:p>
            <a:r>
              <a:rPr lang="pt-BR" altLang="pt-BR"/>
              <a:t>VIDEOS COM EXEMPLOS DE APLICAÇÃO DSM</a:t>
            </a:r>
          </a:p>
        </p:txBody>
      </p:sp>
      <p:sp>
        <p:nvSpPr>
          <p:cNvPr id="76802" name="Retângulo 3">
            <a:extLst>
              <a:ext uri="{FF2B5EF4-FFF2-40B4-BE49-F238E27FC236}">
                <a16:creationId xmlns:a16="http://schemas.microsoft.com/office/drawing/2014/main" id="{F53B4F71-485C-434C-A2E8-EBCCF1E5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4" y="2430463"/>
            <a:ext cx="8340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https://www.youtube.com/watch?v=4DCy1mjgOLc</a:t>
            </a:r>
          </a:p>
        </p:txBody>
      </p:sp>
      <p:sp>
        <p:nvSpPr>
          <p:cNvPr id="76803" name="Retângulo 4">
            <a:extLst>
              <a:ext uri="{FF2B5EF4-FFF2-40B4-BE49-F238E27FC236}">
                <a16:creationId xmlns:a16="http://schemas.microsoft.com/office/drawing/2014/main" id="{0718FD50-6813-0142-9E24-8404B03A2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3763963"/>
            <a:ext cx="701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https://www.youtube.com/watch?v=fkKVV8DUb3c</a:t>
            </a:r>
          </a:p>
        </p:txBody>
      </p:sp>
    </p:spTree>
    <p:extLst>
      <p:ext uri="{BB962C8B-B14F-4D97-AF65-F5344CB8AC3E}">
        <p14:creationId xmlns:p14="http://schemas.microsoft.com/office/powerpoint/2010/main" val="2550624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160C7C-AB9F-43E0-8E5F-FA9C3FFAABB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14FE5D5-B933-4641-9DBE-B72266050F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98556B-BF37-492D-A96C-1AAA0829F7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2655</Words>
  <Application>Microsoft Office PowerPoint</Application>
  <PresentationFormat>Widescreen</PresentationFormat>
  <Paragraphs>329</Paragraphs>
  <Slides>66</Slides>
  <Notes>10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67" baseType="lpstr">
      <vt:lpstr>Tema do Office</vt:lpstr>
      <vt:lpstr>Universidade de Brasília Departamento de Engenharia de Produção Disciplina: Engenharia de Produto    </vt:lpstr>
      <vt:lpstr>Apresentação do PowerPoint</vt:lpstr>
      <vt:lpstr>Apresentação do PowerPoint</vt:lpstr>
      <vt:lpstr>Apresentação do PowerPoint</vt:lpstr>
      <vt:lpstr>MATRIZ MORFOLÓGICA</vt:lpstr>
      <vt:lpstr>Apresentação do PowerPoint</vt:lpstr>
      <vt:lpstr>Apresentação do PowerPoint</vt:lpstr>
      <vt:lpstr>Apresentação do PowerPoint</vt:lpstr>
      <vt:lpstr>Apresentação do PowerPoint</vt:lpstr>
      <vt:lpstr>DEFINIR A ARQUITETURA DO PRODUTO</vt:lpstr>
      <vt:lpstr>Informações principais e dependências entre as atividades da fase de Projeto Conceitual</vt:lpstr>
      <vt:lpstr>A fase de projeto conceitual</vt:lpstr>
      <vt:lpstr>DEFINIR ARQUITETURA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Modularidade</vt:lpstr>
      <vt:lpstr>Abordagens relacionadas ao Projeto Modular</vt:lpstr>
      <vt:lpstr>Apresentação do PowerPoint</vt:lpstr>
      <vt:lpstr>Apresentação do PowerPoint</vt:lpstr>
      <vt:lpstr>Gerenciamento da complexidade do produto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MÉTODOS PARA DEFINIR A ARQUITETURA DO PRODUTO</vt:lpstr>
      <vt:lpstr>MATRIZ INDICADORAS DE MÓDULOS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Ferramentas auxiliares para a definição de módulos 1/2</vt:lpstr>
      <vt:lpstr>DESIGN STRUCTURE MATRIZ (DSM)</vt:lpstr>
      <vt:lpstr>MATRIZ DSM (BINÁRIO)</vt:lpstr>
      <vt:lpstr>DSM Extendido</vt:lpstr>
      <vt:lpstr>DSM Extendido</vt:lpstr>
      <vt:lpstr>REGIÕES DO DSM</vt:lpstr>
      <vt:lpstr>Apresentação do PowerPoint</vt:lpstr>
      <vt:lpstr>INTERAÇÕES DSM </vt:lpstr>
      <vt:lpstr>Arquitetura de sistema e modelos de DSM  </vt:lpstr>
      <vt:lpstr>Representação, aplicações e abordagens para os tipos de DSM</vt:lpstr>
      <vt:lpstr>ETAPAS DO DSM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Ferramenta de construção do DSM</vt:lpstr>
      <vt:lpstr>Apresentação do PowerPoint</vt:lpstr>
      <vt:lpstr>Apresentação do PowerPoint</vt:lpstr>
      <vt:lpstr>VIDEOS COM EXEMPLOS DE APLICAÇÃO DSM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    </dc:title>
  <dc:creator>Andrea Cristina dos Santos</dc:creator>
  <cp:lastModifiedBy> Santos</cp:lastModifiedBy>
  <cp:revision>8</cp:revision>
  <dcterms:created xsi:type="dcterms:W3CDTF">2021-09-29T20:43:48Z</dcterms:created>
  <dcterms:modified xsi:type="dcterms:W3CDTF">2025-01-15T22:09:03Z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