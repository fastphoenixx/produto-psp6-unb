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8" r:id="rId4"/>
  </p:sldMasterIdLst>
  <p:notesMasterIdLst>
    <p:notesMasterId r:id="rId27"/>
  </p:notesMasterIdLst>
  <p:sldIdLst>
    <p:sldId id="256" r:id="rId5"/>
    <p:sldId id="1000" r:id="rId6"/>
    <p:sldId id="1046" r:id="rId7"/>
    <p:sldId id="1048" r:id="rId8"/>
    <p:sldId id="1049" r:id="rId9"/>
    <p:sldId id="1050" r:id="rId10"/>
    <p:sldId id="1051" r:id="rId11"/>
    <p:sldId id="1052" r:id="rId12"/>
    <p:sldId id="1053" r:id="rId13"/>
    <p:sldId id="1054" r:id="rId14"/>
    <p:sldId id="1062" r:id="rId15"/>
    <p:sldId id="1063" r:id="rId16"/>
    <p:sldId id="1064" r:id="rId17"/>
    <p:sldId id="1067" r:id="rId18"/>
    <p:sldId id="1086" r:id="rId19"/>
    <p:sldId id="1087" r:id="rId20"/>
    <p:sldId id="1099" r:id="rId21"/>
    <p:sldId id="1100" r:id="rId22"/>
    <p:sldId id="1116" r:id="rId23"/>
    <p:sldId id="1117" r:id="rId24"/>
    <p:sldId id="1122" r:id="rId25"/>
    <p:sldId id="920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4B704-7DCF-FB47-8521-B1115C1BC8C4}" v="1" dt="2024-04-08T16:46:25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52"/>
    <p:restoredTop sz="91557"/>
  </p:normalViewPr>
  <p:slideViewPr>
    <p:cSldViewPr snapToGrid="0" snapToObjects="1">
      <p:cViewPr varScale="1">
        <p:scale>
          <a:sx n="109" d="100"/>
          <a:sy n="109" d="100"/>
        </p:scale>
        <p:origin x="1232" y="176"/>
      </p:cViewPr>
      <p:guideLst/>
    </p:cSldViewPr>
  </p:slideViewPr>
  <p:outlineViewPr>
    <p:cViewPr>
      <p:scale>
        <a:sx n="33" d="100"/>
        <a:sy n="33" d="100"/>
      </p:scale>
      <p:origin x="0" y="-916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8A84B704-7DCF-FB47-8521-B1115C1BC8C4}"/>
    <pc:docChg chg="modSld">
      <pc:chgData name="Andrea Cristina Dos Santos" userId="c1f965dc-8845-4afc-9e32-8f70830fffd6" providerId="ADAL" clId="{8A84B704-7DCF-FB47-8521-B1115C1BC8C4}" dt="2024-04-08T16:46:25.846" v="4" actId="1076"/>
      <pc:docMkLst>
        <pc:docMk/>
      </pc:docMkLst>
      <pc:sldChg chg="modSp mod">
        <pc:chgData name="Andrea Cristina Dos Santos" userId="c1f965dc-8845-4afc-9e32-8f70830fffd6" providerId="ADAL" clId="{8A84B704-7DCF-FB47-8521-B1115C1BC8C4}" dt="2024-04-08T16:45:20.027" v="0" actId="1076"/>
        <pc:sldMkLst>
          <pc:docMk/>
          <pc:sldMk cId="0" sldId="1054"/>
        </pc:sldMkLst>
        <pc:spChg chg="mod">
          <ac:chgData name="Andrea Cristina Dos Santos" userId="c1f965dc-8845-4afc-9e32-8f70830fffd6" providerId="ADAL" clId="{8A84B704-7DCF-FB47-8521-B1115C1BC8C4}" dt="2024-04-08T16:45:20.027" v="0" actId="1076"/>
          <ac:spMkLst>
            <pc:docMk/>
            <pc:sldMk cId="0" sldId="1054"/>
            <ac:spMk id="52254" creationId="{00000000-0000-0000-0000-000000000000}"/>
          </ac:spMkLst>
        </pc:spChg>
      </pc:sldChg>
      <pc:sldChg chg="modSp mod">
        <pc:chgData name="Andrea Cristina Dos Santos" userId="c1f965dc-8845-4afc-9e32-8f70830fffd6" providerId="ADAL" clId="{8A84B704-7DCF-FB47-8521-B1115C1BC8C4}" dt="2024-04-08T16:45:31.285" v="1" actId="113"/>
        <pc:sldMkLst>
          <pc:docMk/>
          <pc:sldMk cId="0" sldId="1062"/>
        </pc:sldMkLst>
        <pc:spChg chg="mod">
          <ac:chgData name="Andrea Cristina Dos Santos" userId="c1f965dc-8845-4afc-9e32-8f70830fffd6" providerId="ADAL" clId="{8A84B704-7DCF-FB47-8521-B1115C1BC8C4}" dt="2024-04-08T16:45:31.285" v="1" actId="113"/>
          <ac:spMkLst>
            <pc:docMk/>
            <pc:sldMk cId="0" sldId="1062"/>
            <ac:spMk id="60418" creationId="{00000000-0000-0000-0000-000000000000}"/>
          </ac:spMkLst>
        </pc:spChg>
      </pc:sldChg>
      <pc:sldChg chg="modSp mod">
        <pc:chgData name="Andrea Cristina Dos Santos" userId="c1f965dc-8845-4afc-9e32-8f70830fffd6" providerId="ADAL" clId="{8A84B704-7DCF-FB47-8521-B1115C1BC8C4}" dt="2024-04-08T16:46:04.652" v="3" actId="113"/>
        <pc:sldMkLst>
          <pc:docMk/>
          <pc:sldMk cId="0" sldId="1087"/>
        </pc:sldMkLst>
        <pc:spChg chg="mod">
          <ac:chgData name="Andrea Cristina Dos Santos" userId="c1f965dc-8845-4afc-9e32-8f70830fffd6" providerId="ADAL" clId="{8A84B704-7DCF-FB47-8521-B1115C1BC8C4}" dt="2024-04-08T16:46:04.652" v="3" actId="113"/>
          <ac:spMkLst>
            <pc:docMk/>
            <pc:sldMk cId="0" sldId="1087"/>
            <ac:spMk id="21506" creationId="{00000000-0000-0000-0000-000000000000}"/>
          </ac:spMkLst>
        </pc:spChg>
      </pc:sldChg>
      <pc:sldChg chg="modSp">
        <pc:chgData name="Andrea Cristina Dos Santos" userId="c1f965dc-8845-4afc-9e32-8f70830fffd6" providerId="ADAL" clId="{8A84B704-7DCF-FB47-8521-B1115C1BC8C4}" dt="2024-04-08T16:46:25.846" v="4" actId="1076"/>
        <pc:sldMkLst>
          <pc:docMk/>
          <pc:sldMk cId="0" sldId="1117"/>
        </pc:sldMkLst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26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27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28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29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0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1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2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3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4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5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39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40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41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42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43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52245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256015" creationId="{00000000-0000-0000-0000-000000000000}"/>
          </ac:spMkLst>
        </pc:spChg>
        <pc:spChg chg="mod">
          <ac:chgData name="Andrea Cristina Dos Santos" userId="c1f965dc-8845-4afc-9e32-8f70830fffd6" providerId="ADAL" clId="{8A84B704-7DCF-FB47-8521-B1115C1BC8C4}" dt="2024-04-08T16:46:25.846" v="4" actId="1076"/>
          <ac:spMkLst>
            <pc:docMk/>
            <pc:sldMk cId="0" sldId="1117"/>
            <ac:spMk id="256017" creationId="{00000000-0000-0000-0000-000000000000}"/>
          </ac:spMkLst>
        </pc:spChg>
        <pc:grpChg chg="mod">
          <ac:chgData name="Andrea Cristina Dos Santos" userId="c1f965dc-8845-4afc-9e32-8f70830fffd6" providerId="ADAL" clId="{8A84B704-7DCF-FB47-8521-B1115C1BC8C4}" dt="2024-04-08T16:46:25.846" v="4" actId="1076"/>
          <ac:grpSpMkLst>
            <pc:docMk/>
            <pc:sldMk cId="0" sldId="1117"/>
            <ac:grpSpMk id="52236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A6CE4-D1E8-764C-A54B-4234660D7D2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F208D-3C67-704E-91AA-F3D395DDD68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870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248B27D-F45A-644A-947C-F81ADA02AB8B}" type="slidenum">
              <a:rPr lang="pt-BR" altLang="pt-BR" sz="1300"/>
              <a:pPr eaLnBrk="1" hangingPunct="1"/>
              <a:t>3</a:t>
            </a:fld>
            <a:endParaRPr lang="pt-BR" altLang="pt-BR" sz="13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9786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534C93D-91A6-5446-B3A9-D805FCE24700}" type="slidenum">
              <a:rPr lang="pt-BR" altLang="pt-BR" sz="1300"/>
              <a:pPr eaLnBrk="1" hangingPunct="1"/>
              <a:t>10</a:t>
            </a:fld>
            <a:endParaRPr lang="pt-BR" altLang="pt-BR" sz="13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solidFill>
            <a:srgbClr val="FFFFFF"/>
          </a:solidFill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06418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A0E6E60-16CA-444E-B64F-6BDEE5769758}" type="slidenum">
              <a:rPr lang="pt-BR" altLang="pt-BR" sz="1300"/>
              <a:pPr eaLnBrk="1" hangingPunct="1"/>
              <a:t>11</a:t>
            </a:fld>
            <a:endParaRPr lang="pt-BR" altLang="pt-BR" sz="13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solidFill>
            <a:srgbClr val="FFFFFF"/>
          </a:solidFill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altLang="pt-BR" sz="2500"/>
          </a:p>
        </p:txBody>
      </p:sp>
    </p:spTree>
    <p:extLst>
      <p:ext uri="{BB962C8B-B14F-4D97-AF65-F5344CB8AC3E}">
        <p14:creationId xmlns:p14="http://schemas.microsoft.com/office/powerpoint/2010/main" val="20756999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47CC551-A10D-FF42-A8AC-D5A08290614D}" type="slidenum">
              <a:rPr lang="pt-BR" altLang="pt-BR" sz="1300"/>
              <a:pPr eaLnBrk="1" hangingPunct="1"/>
              <a:t>12</a:t>
            </a:fld>
            <a:endParaRPr lang="pt-BR" altLang="pt-BR" sz="13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/>
              <a:t>Explicar cada um dos tipos de fontes, conforme quadro 4.1, página 123.</a:t>
            </a:r>
          </a:p>
        </p:txBody>
      </p:sp>
    </p:spTree>
    <p:extLst>
      <p:ext uri="{BB962C8B-B14F-4D97-AF65-F5344CB8AC3E}">
        <p14:creationId xmlns:p14="http://schemas.microsoft.com/office/powerpoint/2010/main" val="622858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A167EE1-49B6-8F43-BE06-D3E3DEF3A34A}" type="slidenum">
              <a:rPr lang="pt-BR" altLang="pt-BR" sz="1300"/>
              <a:pPr eaLnBrk="1" hangingPunct="1"/>
              <a:t>13</a:t>
            </a:fld>
            <a:endParaRPr lang="pt-BR" altLang="pt-BR" sz="13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solidFill>
            <a:srgbClr val="FFFFFF"/>
          </a:solidFill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altLang="pt-BR" sz="2500"/>
          </a:p>
        </p:txBody>
      </p:sp>
    </p:spTree>
    <p:extLst>
      <p:ext uri="{BB962C8B-B14F-4D97-AF65-F5344CB8AC3E}">
        <p14:creationId xmlns:p14="http://schemas.microsoft.com/office/powerpoint/2010/main" val="1129947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1803405"/>
            <a:ext cx="97536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632201"/>
            <a:ext cx="97536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23846"/>
            <a:ext cx="3063239" cy="365125"/>
          </a:xfrm>
        </p:spPr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219200" y="4323847"/>
            <a:ext cx="6507480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8"/>
            <a:ext cx="2895600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3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75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753535"/>
            <a:ext cx="1060704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1" y="3641726"/>
            <a:ext cx="1060704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4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879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481" y="2194560"/>
            <a:ext cx="5214105" cy="4069080"/>
          </a:xfrm>
        </p:spPr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466" y="2194560"/>
            <a:ext cx="5210053" cy="4069080"/>
          </a:xfrm>
        </p:spPr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20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503920" cy="1295400"/>
          </a:xfrm>
        </p:spPr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5039" y="2183802"/>
            <a:ext cx="491154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480" y="3132668"/>
            <a:ext cx="5214105" cy="3130973"/>
          </a:xfrm>
        </p:spPr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2025" y="2183802"/>
            <a:ext cx="4907495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465" y="3132668"/>
            <a:ext cx="5210055" cy="3130973"/>
          </a:xfrm>
        </p:spPr>
        <p:txBody>
          <a:bodyPr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4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5321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0674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746760"/>
            <a:ext cx="6217920" cy="5516880"/>
          </a:xfrm>
        </p:spPr>
        <p:txBody>
          <a:bodyPr anchor="ctr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3124200"/>
            <a:ext cx="41148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983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1524000"/>
            <a:ext cx="5434307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03365" y="751242"/>
            <a:ext cx="4898979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3124200"/>
            <a:ext cx="5434307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31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73" y="4697362"/>
            <a:ext cx="10608643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2473" y="977035"/>
            <a:ext cx="10600347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" y="5516716"/>
            <a:ext cx="1060704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95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" y="753534"/>
            <a:ext cx="1060704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649134"/>
            <a:ext cx="103632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068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8" y="753534"/>
            <a:ext cx="10151533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509768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74598"/>
            <a:ext cx="10371669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79439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308611" y="80772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62311" y="302133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95442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24703"/>
            <a:ext cx="1036637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389" y="3648317"/>
            <a:ext cx="10364811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16235" y="378885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2480" y="378885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6596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2" y="762001"/>
            <a:ext cx="8503919" cy="1303867"/>
          </a:xfrm>
        </p:spPr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792481" y="2202080"/>
            <a:ext cx="341376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792480" y="2904565"/>
            <a:ext cx="341376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02983" y="2201333"/>
            <a:ext cx="341376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01041" y="2904068"/>
            <a:ext cx="341376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5759" y="2192866"/>
            <a:ext cx="341376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85760" y="2904565"/>
            <a:ext cx="341376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39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3" y="762000"/>
            <a:ext cx="8509312" cy="1295400"/>
          </a:xfrm>
        </p:spPr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792480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92480" y="2331720"/>
            <a:ext cx="341376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792480" y="4796104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89164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89163" y="2331720"/>
            <a:ext cx="341376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87811" y="4796103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91153" y="4113341"/>
            <a:ext cx="341376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91152" y="2331722"/>
            <a:ext cx="341376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Arraste a imagem para o espaço reservado ou clique no ícone para adicionar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91029" y="4796101"/>
            <a:ext cx="341376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0144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480" y="2194560"/>
            <a:ext cx="10607040" cy="4069080"/>
          </a:xfrm>
        </p:spPr>
        <p:txBody>
          <a:bodyPr vert="eaVert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9952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12192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42120" y="747184"/>
            <a:ext cx="205740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92481" y="746126"/>
            <a:ext cx="8370713" cy="4249732"/>
          </a:xfrm>
        </p:spPr>
        <p:txBody>
          <a:bodyPr vert="eaVert"/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235" y="381002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2480" y="381002"/>
            <a:ext cx="6440875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09955" y="381002"/>
            <a:ext cx="889565" cy="365125"/>
          </a:xfrm>
        </p:spPr>
        <p:txBody>
          <a:bodyPr/>
          <a:lstStyle/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031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>
          <a:xfrm>
            <a:off x="334434" y="644691"/>
            <a:ext cx="11523133" cy="5665093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FF3300"/>
              </a:buClr>
              <a:buFont typeface="Wingdings 2" pitchFamily="18" charset="2"/>
              <a:buChar char=""/>
              <a:defRPr sz="373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990575" indent="-380990">
              <a:buClr>
                <a:srgbClr val="FF3300"/>
              </a:buClr>
              <a:buFont typeface="Wingdings 2" pitchFamily="18" charset="2"/>
              <a:buChar char=""/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523962" indent="-304792">
              <a:buClr>
                <a:srgbClr val="FF3300"/>
              </a:buClr>
              <a:buFont typeface="Wingdings 2" pitchFamily="18" charset="2"/>
              <a:buChar char=""/>
              <a:defRPr sz="2667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2133547" indent="-304792">
              <a:buClr>
                <a:srgbClr val="FF3300"/>
              </a:buClr>
              <a:buFont typeface="Wingdings 2" pitchFamily="18" charset="2"/>
              <a:buChar char=""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438339" indent="0"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</p:txBody>
      </p:sp>
      <p:sp>
        <p:nvSpPr>
          <p:cNvPr id="9" name="Espaço Reservado para Título 1"/>
          <p:cNvSpPr>
            <a:spLocks noGrp="1"/>
          </p:cNvSpPr>
          <p:nvPr>
            <p:ph type="title"/>
          </p:nvPr>
        </p:nvSpPr>
        <p:spPr>
          <a:xfrm>
            <a:off x="335360" y="-27384"/>
            <a:ext cx="11521280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200">
                <a:solidFill>
                  <a:srgbClr val="FF3300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7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5360" y="6414392"/>
            <a:ext cx="1298675" cy="26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4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50392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Clique para editar estilo do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0" y="2194560"/>
            <a:ext cx="1060704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Clique para editar os estilos de texto mestres</a:t>
            </a:r>
          </a:p>
          <a:p>
            <a:pPr lvl="1"/>
            <a:r>
              <a:rPr lang="en-US"/>
              <a:t>Segundo nível</a:t>
            </a:r>
          </a:p>
          <a:p>
            <a:pPr lvl="2"/>
            <a:r>
              <a:rPr lang="en-US"/>
              <a:t>Terceiro nível</a:t>
            </a:r>
          </a:p>
          <a:p>
            <a:pPr lvl="3"/>
            <a:r>
              <a:rPr lang="en-US"/>
              <a:t>Quarto nível</a:t>
            </a:r>
          </a:p>
          <a:p>
            <a:pPr lvl="4"/>
            <a:r>
              <a:rPr lang="en-US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49640" y="6356352"/>
            <a:ext cx="2849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4EFEE-18A7-0C4E-9338-48F9787A77AC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92480" y="6355847"/>
            <a:ext cx="7574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2"/>
            <a:ext cx="2636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9BE01-F3E6-904C-954C-9DEA9C79F10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0574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7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canvabrasil.blogspot.com.br/p/meu-primeiro-modelo-de-negocios-canvas.html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27199" y="713573"/>
            <a:ext cx="9384453" cy="4339650"/>
          </a:xfrm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2400" dirty="0"/>
              <a:t>Universidade de </a:t>
            </a:r>
            <a:r>
              <a:rPr lang="pt-BR" sz="2400" dirty="0" err="1"/>
              <a:t>Bras</a:t>
            </a:r>
            <a:r>
              <a:rPr lang="en-US" sz="2400" dirty="0" err="1"/>
              <a:t>ília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Faculdade</a:t>
            </a:r>
            <a:r>
              <a:rPr lang="en-US" sz="2400" dirty="0"/>
              <a:t> de </a:t>
            </a:r>
            <a:r>
              <a:rPr lang="en-US" sz="2400" dirty="0" err="1"/>
              <a:t>Tecnologia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Departamento</a:t>
            </a:r>
            <a:r>
              <a:rPr lang="en-US" sz="2400" dirty="0"/>
              <a:t> de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Produção</a:t>
            </a:r>
            <a:br>
              <a:rPr lang="en-US" sz="2400" dirty="0"/>
            </a:br>
            <a:r>
              <a:rPr lang="en-US" sz="2400" dirty="0" err="1"/>
              <a:t>Disciplina</a:t>
            </a:r>
            <a:r>
              <a:rPr lang="en-US" sz="2400" dirty="0"/>
              <a:t>: </a:t>
            </a:r>
            <a:r>
              <a:rPr lang="en-US" sz="2400" dirty="0" err="1"/>
              <a:t>Engenharia</a:t>
            </a:r>
            <a:r>
              <a:rPr lang="en-US" sz="2400" dirty="0"/>
              <a:t> de </a:t>
            </a:r>
            <a:r>
              <a:rPr lang="en-US" sz="2400" dirty="0" err="1"/>
              <a:t>Produto</a:t>
            </a:r>
            <a:br>
              <a:rPr lang="en-US" sz="3200" dirty="0"/>
            </a:br>
            <a:r>
              <a:rPr lang="en-US" sz="3200" dirty="0"/>
              <a:t>	</a:t>
            </a:r>
            <a:br>
              <a:rPr lang="en-US" sz="3200" dirty="0"/>
            </a:br>
            <a:r>
              <a:rPr lang="en-US" sz="2400" dirty="0" err="1"/>
              <a:t>Prof</a:t>
            </a:r>
            <a:r>
              <a:rPr lang="en-US" sz="2400" cap="none" dirty="0" err="1"/>
              <a:t>a</a:t>
            </a:r>
            <a:r>
              <a:rPr lang="en-US" sz="2400" dirty="0"/>
              <a:t>. </a:t>
            </a:r>
            <a:r>
              <a:rPr lang="en-US" sz="2400" cap="none" dirty="0"/>
              <a:t>Andréa Santos</a:t>
            </a:r>
            <a:br>
              <a:rPr lang="en-US" sz="2400" cap="none" dirty="0"/>
            </a:b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673947" y="4791603"/>
            <a:ext cx="10607040" cy="523239"/>
          </a:xfrm>
        </p:spPr>
        <p:txBody>
          <a:bodyPr/>
          <a:lstStyle/>
          <a:p>
            <a:pPr marL="0" indent="0" algn="ctr">
              <a:buNone/>
            </a:pPr>
            <a:r>
              <a:rPr lang="pt-BR" b="1" dirty="0"/>
              <a:t>3. PLANEJAMENTO ESTRAT</a:t>
            </a:r>
            <a:r>
              <a:rPr lang="en-US" b="1" dirty="0"/>
              <a:t>ÉGICO DE PRODUTOS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45584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354666" y="1557338"/>
            <a:ext cx="9067800" cy="4576762"/>
            <a:chOff x="0" y="573"/>
            <a:chExt cx="5712" cy="2883"/>
          </a:xfrm>
        </p:grpSpPr>
        <p:sp>
          <p:nvSpPr>
            <p:cNvPr id="3" name="Rectangle 6"/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4" name="Rectangle 7"/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5" name="Rectangle 8"/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/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Processos</a:t>
              </a:r>
            </a:p>
            <a:p>
              <a:pPr>
                <a:defRPr/>
              </a:pPr>
              <a:r>
                <a:rPr lang="pt-BR" sz="1800">
                  <a:solidFill>
                    <a:schemeClr val="accent2"/>
                  </a:solidFill>
                </a:rPr>
                <a:t>de apoio</a:t>
              </a:r>
            </a:p>
          </p:txBody>
        </p:sp>
        <p:sp>
          <p:nvSpPr>
            <p:cNvPr id="6" name="AutoShape 9"/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7" name="AutoShape 10"/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8" name="AutoShape 11"/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9" name="AutoShape 12"/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grpSp>
          <p:nvGrpSpPr>
            <p:cNvPr id="10" name="Group 13"/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11" name="Group 14"/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13" name="Rectangle 15"/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" name="Freeform 16"/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15" name="Group 17"/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101" name="AutoShape 18"/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102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16" name="Group 20"/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94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96" name="AutoShape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97" name="AutoShape 2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98" name="AutoShape 2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Projeto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99" name="AutoShap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Lançamento</a:t>
                      </a:r>
                    </a:p>
                    <a:p>
                      <a:pPr eaLnBrk="1" hangingPunct="1"/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100" name="AutoShap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r>
                        <a:rPr lang="pt-BR" altLang="pt-BR" sz="1400"/>
                        <a:t>Preparação</a:t>
                      </a:r>
                    </a:p>
                    <a:p>
                      <a:pPr eaLnBrk="1" hangingPunct="1"/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95" name="AutoShape 27"/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Planejamento</a:t>
                    </a:r>
                  </a:p>
                  <a:p>
                    <a:pPr eaLnBrk="1" hangingPunct="1"/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17" name="Group 28"/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92" name="AutoShape 29"/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93" name="Text Box 3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18" name="Rectangle 31"/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cxnSp>
              <p:nvCxnSpPr>
                <p:cNvPr id="19" name="AutoShape 32"/>
                <p:cNvCxnSpPr>
                  <a:cxnSpLocks noChangeShapeType="1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20" name="Group 33"/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90" name="AutoShape 34"/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91" name="Text Box 3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21" name="AutoShape 36"/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926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algn="ctr" eaLnBrk="1" hangingPunct="1"/>
                  <a:r>
                    <a:rPr lang="pt-BR" altLang="pt-BR" sz="1200" b="1" dirty="0">
                      <a:solidFill>
                        <a:srgbClr val="C00000"/>
                      </a:solidFill>
                    </a:rPr>
                    <a:t>Planejamento</a:t>
                  </a:r>
                </a:p>
                <a:p>
                  <a:pPr algn="ctr" eaLnBrk="1" hangingPunct="1"/>
                  <a:r>
                    <a:rPr lang="pt-BR" altLang="pt-BR" sz="1200" b="1" dirty="0">
                      <a:solidFill>
                        <a:srgbClr val="C00000"/>
                      </a:solidFill>
                    </a:rPr>
                    <a:t>Estratégico dos Produtos</a:t>
                  </a:r>
                </a:p>
              </p:txBody>
            </p:sp>
            <p:grpSp>
              <p:nvGrpSpPr>
                <p:cNvPr id="22" name="Group 37"/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84" name="AutoShape 38"/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5" name="AutoShape 39"/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6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7" name="AutoShape 41"/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88" name="AutoShape 42"/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Descontinuar</a:t>
                    </a:r>
                  </a:p>
                  <a:p>
                    <a:pPr eaLnBrk="1" hangingPunct="1"/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89" name="AutoShape 43"/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400"/>
                      <a:t>Acompanhar</a:t>
                    </a:r>
                  </a:p>
                  <a:p>
                    <a:pPr eaLnBrk="1" hangingPunct="1"/>
                    <a:r>
                      <a:rPr lang="pt-BR" altLang="pt-BR" sz="1400"/>
                      <a:t>Produto/</a:t>
                    </a:r>
                  </a:p>
                  <a:p>
                    <a:pPr eaLnBrk="1" hangingPunct="1"/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23" name="Group 44"/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79" name="AutoShape 4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0" name="AutoShape 46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1" name="AutoShape 4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2" name="AutoShape 48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83" name="AutoShape 4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4" name="Group 50"/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74" name="AutoShape 51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5" name="AutoShape 52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6" name="AutoShape 53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7" name="AutoShape 54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8" name="AutoShape 55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5" name="Group 56"/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69" name="AutoShape 57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0" name="AutoShape 58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1" name="AutoShape 59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2" name="AutoShape 60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73" name="AutoShape 61"/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6" name="Group 62"/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66" name="AutoShape 63"/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67" name="AutoShape 64"/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  <p:sp>
                <p:nvSpPr>
                  <p:cNvPr id="68" name="AutoShape 65"/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 sz="1400"/>
                  </a:p>
                </p:txBody>
              </p:sp>
            </p:grpSp>
            <p:grpSp>
              <p:nvGrpSpPr>
                <p:cNvPr id="27" name="Group 66"/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28" name="Text Box 6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29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64" name="AutoShape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5" name="Line 7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30" name="AutoShape 71"/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grpSp>
                <p:nvGrpSpPr>
                  <p:cNvPr id="31" name="Group 72"/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62" name="AutoShape 7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3" name="Line 7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2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60" name="AutoShape 7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61" name="Line 7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3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58" name="AutoShape 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  <p:sp>
                  <p:nvSpPr>
                    <p:cNvPr id="59" name="Line 8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34" name="Group 81"/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56" name="Line 82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7" name="AutoShape 8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5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54" name="Line 85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5" name="AutoShape 8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6" name="Group 87"/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52" name="Line 88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3" name="AutoShape 8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7" name="Group 90"/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50" name="Line 91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51" name="AutoShape 9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8" name="Group 93"/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8" name="Line 94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9" name="AutoShape 9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39" name="Group 96"/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6" name="Line 9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7" name="AutoShape 9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40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4" name="Line 10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5" name="AutoShape 10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  <p:grpSp>
                <p:nvGrpSpPr>
                  <p:cNvPr id="41" name="Group 102"/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42" name="Line 10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43" name="AutoShape 10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 eaLnBrk="0" hangingPunct="0"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algn="ctr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eaLnBrk="1" hangingPunct="1"/>
                      <a:endParaRPr lang="pt-BR" altLang="pt-BR"/>
                    </a:p>
                  </p:txBody>
                </p:sp>
              </p:grpSp>
            </p:grpSp>
          </p:grpSp>
          <p:sp>
            <p:nvSpPr>
              <p:cNvPr id="12" name="Rectangle 105"/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contourW="127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 eaLnBrk="1" hangingPunct="1"/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103" name="Rectangle 4"/>
          <p:cNvSpPr txBox="1">
            <a:spLocks noChangeArrowheads="1"/>
          </p:cNvSpPr>
          <p:nvPr/>
        </p:nvSpPr>
        <p:spPr>
          <a:xfrm>
            <a:off x="4793191" y="289710"/>
            <a:ext cx="7086706" cy="1293028"/>
          </a:xfrm>
          <a:prstGeom prst="rect">
            <a:avLst/>
          </a:prstGeom>
        </p:spPr>
        <p:txBody>
          <a:bodyPr/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altLang="pt-BR" sz="3200" b="1" dirty="0"/>
              <a:t>PLANEJAMENTO ESTRAT</a:t>
            </a:r>
            <a:r>
              <a:rPr lang="en-US" altLang="pt-BR" sz="3200" b="1" dirty="0"/>
              <a:t>ÉGICO DO PRODUTO</a:t>
            </a:r>
            <a:endParaRPr lang="pt-BR" altLang="pt-BR" sz="3200" b="1" dirty="0"/>
          </a:p>
        </p:txBody>
      </p:sp>
      <p:grpSp>
        <p:nvGrpSpPr>
          <p:cNvPr id="104" name="Group 104"/>
          <p:cNvGrpSpPr>
            <a:grpSpLocks/>
          </p:cNvGrpSpPr>
          <p:nvPr/>
        </p:nvGrpSpPr>
        <p:grpSpPr bwMode="auto">
          <a:xfrm rot="-5976873">
            <a:off x="2081213" y="1349376"/>
            <a:ext cx="1674813" cy="2862263"/>
            <a:chOff x="2181" y="1183"/>
            <a:chExt cx="1419" cy="1966"/>
          </a:xfrm>
        </p:grpSpPr>
        <p:grpSp>
          <p:nvGrpSpPr>
            <p:cNvPr id="105" name="Group 105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42" name="Group 106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48" name="Group 107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54" name="Freeform 108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5" name="Freeform 109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49" name="Group 110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50" name="Freeform 111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1" name="Freeform 112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2" name="Freeform 113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53" name="Freeform 114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43" name="Oval 115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144" name="Group 116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45" name="Oval 117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6" name="Oval 118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147" name="Oval 119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106" name="Group 120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07" name="Freeform 121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8" name="Arc 122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4 w 42152"/>
                  <a:gd name="T1" fmla="*/ 105 h 27693"/>
                  <a:gd name="T2" fmla="*/ 170 w 42152"/>
                  <a:gd name="T3" fmla="*/ 57 h 27693"/>
                  <a:gd name="T4" fmla="*/ 87 w 42152"/>
                  <a:gd name="T5" fmla="*/ 82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9" name="Arc 123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1 w 42065"/>
                  <a:gd name="T1" fmla="*/ 100 h 24039"/>
                  <a:gd name="T2" fmla="*/ 172 w 42065"/>
                  <a:gd name="T3" fmla="*/ 61 h 24039"/>
                  <a:gd name="T4" fmla="*/ 88 w 42065"/>
                  <a:gd name="T5" fmla="*/ 9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0" name="Freeform 124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1" name="Arc 125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3 w 21600"/>
                  <a:gd name="T1" fmla="*/ 99 h 26092"/>
                  <a:gd name="T2" fmla="*/ 57 w 21600"/>
                  <a:gd name="T3" fmla="*/ 0 h 26092"/>
                  <a:gd name="T4" fmla="*/ 87 w 21600"/>
                  <a:gd name="T5" fmla="*/ 77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12" name="Arc 126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3 w 42293"/>
                  <a:gd name="T1" fmla="*/ 103 h 27167"/>
                  <a:gd name="T2" fmla="*/ 171 w 42293"/>
                  <a:gd name="T3" fmla="*/ 58 h 27167"/>
                  <a:gd name="T4" fmla="*/ 87 w 42293"/>
                  <a:gd name="T5" fmla="*/ 82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13" name="Group 127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37" name="Group 128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39" name="Arc 129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0" name="Arc 130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2 w 21600"/>
                      <a:gd name="T1" fmla="*/ 90 h 23652"/>
                      <a:gd name="T2" fmla="*/ 45 w 21600"/>
                      <a:gd name="T3" fmla="*/ 0 h 23652"/>
                      <a:gd name="T4" fmla="*/ 88 w 21600"/>
                      <a:gd name="T5" fmla="*/ 72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41" name="Arc 131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2 w 42453"/>
                      <a:gd name="T1" fmla="*/ 101 h 26668"/>
                      <a:gd name="T2" fmla="*/ 172 w 42453"/>
                      <a:gd name="T3" fmla="*/ 60 h 26668"/>
                      <a:gd name="T4" fmla="*/ 88 w 42453"/>
                      <a:gd name="T5" fmla="*/ 82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38" name="Arc 132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4" name="Group 133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32" name="Group 134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34" name="Arc 135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2 w 42583"/>
                      <a:gd name="T1" fmla="*/ 99 h 26108"/>
                      <a:gd name="T2" fmla="*/ 173 w 42583"/>
                      <a:gd name="T3" fmla="*/ 62 h 26108"/>
                      <a:gd name="T4" fmla="*/ 88 w 42583"/>
                      <a:gd name="T5" fmla="*/ 82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5" name="Arc 136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2 w 21600"/>
                      <a:gd name="T1" fmla="*/ 89 h 23399"/>
                      <a:gd name="T2" fmla="*/ 45 w 21600"/>
                      <a:gd name="T3" fmla="*/ 0 h 23399"/>
                      <a:gd name="T4" fmla="*/ 88 w 21600"/>
                      <a:gd name="T5" fmla="*/ 72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36" name="Arc 137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2 w 42520"/>
                      <a:gd name="T1" fmla="*/ 100 h 26361"/>
                      <a:gd name="T2" fmla="*/ 172 w 42520"/>
                      <a:gd name="T3" fmla="*/ 62 h 26361"/>
                      <a:gd name="T4" fmla="*/ 87 w 42520"/>
                      <a:gd name="T5" fmla="*/ 82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33" name="Arc 138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2 w 42520"/>
                    <a:gd name="T1" fmla="*/ 100 h 26361"/>
                    <a:gd name="T2" fmla="*/ 172 w 42520"/>
                    <a:gd name="T3" fmla="*/ 62 h 26361"/>
                    <a:gd name="T4" fmla="*/ 87 w 42520"/>
                    <a:gd name="T5" fmla="*/ 82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5" name="Group 139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30" name="Arc 140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31" name="Arc 141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2 w 21600"/>
                    <a:gd name="T1" fmla="*/ 88 h 23145"/>
                    <a:gd name="T2" fmla="*/ 45 w 21600"/>
                    <a:gd name="T3" fmla="*/ 0 h 23145"/>
                    <a:gd name="T4" fmla="*/ 88 w 21600"/>
                    <a:gd name="T5" fmla="*/ 72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6" name="Group 142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28" name="Arc 143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9" name="Arc 144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2 w 42583"/>
                    <a:gd name="T1" fmla="*/ 99 h 26108"/>
                    <a:gd name="T2" fmla="*/ 173 w 42583"/>
                    <a:gd name="T3" fmla="*/ 62 h 26108"/>
                    <a:gd name="T4" fmla="*/ 88 w 42583"/>
                    <a:gd name="T5" fmla="*/ 82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7" name="Group 145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26" name="Line 146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7" name="Line 147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18" name="Group 148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21" name="Group 149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24" name="Arc 150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2 w 42713"/>
                      <a:gd name="T1" fmla="*/ 97 h 25597"/>
                      <a:gd name="T2" fmla="*/ 173 w 42713"/>
                      <a:gd name="T3" fmla="*/ 65 h 25597"/>
                      <a:gd name="T4" fmla="*/ 87 w 42713"/>
                      <a:gd name="T5" fmla="*/ 82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25" name="Arc 151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2 w 21600"/>
                      <a:gd name="T1" fmla="*/ 87 h 22888"/>
                      <a:gd name="T2" fmla="*/ 45 w 21600"/>
                      <a:gd name="T3" fmla="*/ 0 h 22888"/>
                      <a:gd name="T4" fmla="*/ 88 w 21600"/>
                      <a:gd name="T5" fmla="*/ 72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22" name="Arc 152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2 w 42657"/>
                    <a:gd name="T1" fmla="*/ 98 h 25854"/>
                    <a:gd name="T2" fmla="*/ 173 w 42657"/>
                    <a:gd name="T3" fmla="*/ 64 h 25854"/>
                    <a:gd name="T4" fmla="*/ 88 w 42657"/>
                    <a:gd name="T5" fmla="*/ 82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23" name="Arc 153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2 w 42453"/>
                    <a:gd name="T1" fmla="*/ 101 h 26668"/>
                    <a:gd name="T2" fmla="*/ 172 w 42453"/>
                    <a:gd name="T3" fmla="*/ 60 h 26668"/>
                    <a:gd name="T4" fmla="*/ 88 w 42453"/>
                    <a:gd name="T5" fmla="*/ 82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19" name="Freeform 154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0" name="Oval 155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172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3688080" y="138342"/>
            <a:ext cx="8503920" cy="963383"/>
          </a:xfrm>
        </p:spPr>
        <p:txBody>
          <a:bodyPr/>
          <a:lstStyle/>
          <a:p>
            <a:r>
              <a:rPr lang="pt-BR" altLang="pt-BR" dirty="0"/>
              <a:t>Objetivos do capítulo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6446" y="1656362"/>
            <a:ext cx="10076433" cy="456455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t-BR" altLang="pt-BR" sz="2400" dirty="0"/>
              <a:t>Entender a relação entre o </a:t>
            </a:r>
            <a:r>
              <a:rPr lang="pt-BR" altLang="pt-BR" sz="2400" b="1" u="sng" dirty="0">
                <a:solidFill>
                  <a:schemeClr val="accent5">
                    <a:lumMod val="50000"/>
                  </a:schemeClr>
                </a:solidFill>
              </a:rPr>
              <a:t>Processo de Planejamento Estratégico da empresa</a:t>
            </a:r>
            <a:r>
              <a:rPr lang="pt-BR" altLang="pt-BR" sz="24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altLang="pt-BR" sz="2400" dirty="0"/>
              <a:t>e o </a:t>
            </a:r>
            <a:r>
              <a:rPr lang="pt-BR" altLang="pt-BR" sz="2400" b="1" u="sng" dirty="0">
                <a:solidFill>
                  <a:schemeClr val="accent5">
                    <a:lumMod val="50000"/>
                  </a:schemeClr>
                </a:solidFill>
              </a:rPr>
              <a:t>Plano Estratégico de Produtos</a:t>
            </a:r>
            <a:r>
              <a:rPr lang="pt-BR" altLang="pt-BR" sz="2400" u="sng" dirty="0"/>
              <a:t>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Compreender o significado e a importância do </a:t>
            </a:r>
            <a:r>
              <a:rPr lang="pt-BR" altLang="pt-BR" sz="2400" b="1" u="sng" dirty="0">
                <a:solidFill>
                  <a:srgbClr val="0070C0"/>
                </a:solidFill>
              </a:rPr>
              <a:t>Planejamento Estratégico de Produtos </a:t>
            </a:r>
            <a:r>
              <a:rPr lang="pt-BR" altLang="pt-BR" sz="2400" dirty="0"/>
              <a:t>e o </a:t>
            </a:r>
            <a:r>
              <a:rPr lang="pt-BR" altLang="pt-BR" sz="2400" b="1" u="sng" dirty="0">
                <a:solidFill>
                  <a:srgbClr val="0070C0"/>
                </a:solidFill>
              </a:rPr>
              <a:t>Portfólio de Produtos</a:t>
            </a:r>
            <a:r>
              <a:rPr lang="pt-BR" altLang="pt-BR" sz="2400" b="1" dirty="0">
                <a:solidFill>
                  <a:srgbClr val="0070C0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Identificar a diferença entre </a:t>
            </a:r>
            <a:r>
              <a:rPr lang="pt-BR" altLang="pt-BR" sz="2400" b="1" dirty="0">
                <a:solidFill>
                  <a:schemeClr val="accent5">
                    <a:lumMod val="75000"/>
                  </a:schemeClr>
                </a:solidFill>
              </a:rPr>
              <a:t>produto</a:t>
            </a:r>
            <a:r>
              <a:rPr lang="pt-BR" altLang="pt-BR" sz="2400" dirty="0"/>
              <a:t> e </a:t>
            </a:r>
            <a:r>
              <a:rPr lang="pt-BR" altLang="pt-BR" sz="2400" b="1" dirty="0">
                <a:solidFill>
                  <a:schemeClr val="accent5">
                    <a:lumMod val="75000"/>
                  </a:schemeClr>
                </a:solidFill>
              </a:rPr>
              <a:t>tecnologia.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Conhecer as diferentes </a:t>
            </a:r>
            <a:r>
              <a:rPr lang="pt-BR" altLang="pt-BR" sz="2400" b="1" dirty="0">
                <a:solidFill>
                  <a:srgbClr val="002060"/>
                </a:solidFill>
              </a:rPr>
              <a:t>fontes de dados </a:t>
            </a:r>
            <a:r>
              <a:rPr lang="pt-BR" altLang="pt-BR" sz="2400" dirty="0"/>
              <a:t>sobre o mercado e tendências tecnológicas.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Entender os principais </a:t>
            </a:r>
            <a:r>
              <a:rPr lang="pt-BR" altLang="pt-BR" sz="2400" b="1" dirty="0">
                <a:solidFill>
                  <a:srgbClr val="002060"/>
                </a:solidFill>
              </a:rPr>
              <a:t>cuidados na coleta de informações </a:t>
            </a:r>
            <a:r>
              <a:rPr lang="pt-BR" altLang="pt-BR" sz="2400" dirty="0"/>
              <a:t>sobre mercado e tendências tecnológicas.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Descrever quais os objetivos e as metas da gestão de portfólio.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538" y="1927226"/>
            <a:ext cx="5594350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CaixaDeTexto 2"/>
          <p:cNvSpPr txBox="1">
            <a:spLocks noChangeArrowheads="1"/>
          </p:cNvSpPr>
          <p:nvPr/>
        </p:nvSpPr>
        <p:spPr bwMode="auto">
          <a:xfrm>
            <a:off x="3541713" y="858838"/>
            <a:ext cx="533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00CC"/>
                </a:solidFill>
              </a:rPr>
              <a:t>PLANEJAMENTO ESTRATÉGICO</a:t>
            </a:r>
          </a:p>
        </p:txBody>
      </p:sp>
      <p:pic>
        <p:nvPicPr>
          <p:cNvPr id="460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8" y="5713414"/>
            <a:ext cx="18478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aixaDeTexto 2"/>
          <p:cNvSpPr txBox="1">
            <a:spLocks noChangeArrowheads="1"/>
          </p:cNvSpPr>
          <p:nvPr/>
        </p:nvSpPr>
        <p:spPr bwMode="auto">
          <a:xfrm>
            <a:off x="6062324" y="250824"/>
            <a:ext cx="533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00CC"/>
                </a:solidFill>
              </a:rPr>
              <a:t>PLANEJAMENTO ESTRATÉGICO</a:t>
            </a:r>
          </a:p>
        </p:txBody>
      </p:sp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9388" y="5713414"/>
            <a:ext cx="184785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3210" y="712786"/>
            <a:ext cx="8418227" cy="5643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aixaDeTexto 1"/>
          <p:cNvSpPr txBox="1">
            <a:spLocks noChangeArrowheads="1"/>
          </p:cNvSpPr>
          <p:nvPr/>
        </p:nvSpPr>
        <p:spPr bwMode="auto">
          <a:xfrm>
            <a:off x="5417747" y="489081"/>
            <a:ext cx="533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00CC"/>
                </a:solidFill>
              </a:rPr>
              <a:t>PLANEJAMENTO ESTRATÉGICO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565" y="1362074"/>
            <a:ext cx="7455500" cy="4659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747" y="1271067"/>
            <a:ext cx="7685212" cy="5152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CaixaDeTexto 3"/>
          <p:cNvSpPr txBox="1">
            <a:spLocks noChangeArrowheads="1"/>
          </p:cNvSpPr>
          <p:nvPr/>
        </p:nvSpPr>
        <p:spPr bwMode="auto">
          <a:xfrm>
            <a:off x="6151563" y="439217"/>
            <a:ext cx="6705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 dirty="0">
                <a:solidFill>
                  <a:srgbClr val="0000CC"/>
                </a:solidFill>
              </a:rPr>
              <a:t>Exemplo do desdobramento do PLANEJAMENTO ESTRATÉGICO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115" y="1124585"/>
            <a:ext cx="8377472" cy="5536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CaixaDeTexto 2"/>
          <p:cNvSpPr txBox="1">
            <a:spLocks noChangeArrowheads="1"/>
          </p:cNvSpPr>
          <p:nvPr/>
        </p:nvSpPr>
        <p:spPr bwMode="auto">
          <a:xfrm>
            <a:off x="6061622" y="184384"/>
            <a:ext cx="67056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00CC"/>
                </a:solidFill>
              </a:rPr>
              <a:t>Exemplo do desdobramento do PLANEJAMENTO ESTRATÉGICO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115" y="961398"/>
            <a:ext cx="8679305" cy="5967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CaixaDeTexto 2"/>
          <p:cNvSpPr txBox="1">
            <a:spLocks noChangeArrowheads="1"/>
          </p:cNvSpPr>
          <p:nvPr/>
        </p:nvSpPr>
        <p:spPr bwMode="auto">
          <a:xfrm>
            <a:off x="8071605" y="277814"/>
            <a:ext cx="6691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0000CC"/>
                </a:solidFill>
              </a:rPr>
              <a:t>PE DO PRODUTO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Freeform 2"/>
          <p:cNvSpPr>
            <a:spLocks/>
          </p:cNvSpPr>
          <p:nvPr/>
        </p:nvSpPr>
        <p:spPr bwMode="auto">
          <a:xfrm>
            <a:off x="3906838" y="1052514"/>
            <a:ext cx="6608762" cy="5729287"/>
          </a:xfrm>
          <a:custGeom>
            <a:avLst/>
            <a:gdLst>
              <a:gd name="T0" fmla="*/ 11112 w 4163"/>
              <a:gd name="T1" fmla="*/ 2484437 h 3609"/>
              <a:gd name="T2" fmla="*/ 1714500 w 4163"/>
              <a:gd name="T3" fmla="*/ 0 h 3609"/>
              <a:gd name="T4" fmla="*/ 6608762 w 4163"/>
              <a:gd name="T5" fmla="*/ 0 h 3609"/>
              <a:gd name="T6" fmla="*/ 6608762 w 4163"/>
              <a:gd name="T7" fmla="*/ 5729287 h 3609"/>
              <a:gd name="T8" fmla="*/ 1939925 w 4163"/>
              <a:gd name="T9" fmla="*/ 5729287 h 3609"/>
              <a:gd name="T10" fmla="*/ 0 w 4163"/>
              <a:gd name="T11" fmla="*/ 3338513 h 3609"/>
              <a:gd name="T12" fmla="*/ 11112 w 4163"/>
              <a:gd name="T13" fmla="*/ 2484437 h 360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163"/>
              <a:gd name="T22" fmla="*/ 0 h 3609"/>
              <a:gd name="T23" fmla="*/ 4163 w 4163"/>
              <a:gd name="T24" fmla="*/ 3609 h 3609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163" h="3609">
                <a:moveTo>
                  <a:pt x="7" y="1565"/>
                </a:moveTo>
                <a:lnTo>
                  <a:pt x="1080" y="0"/>
                </a:lnTo>
                <a:lnTo>
                  <a:pt x="4163" y="0"/>
                </a:lnTo>
                <a:lnTo>
                  <a:pt x="4163" y="3609"/>
                </a:lnTo>
                <a:lnTo>
                  <a:pt x="1222" y="3609"/>
                </a:lnTo>
                <a:lnTo>
                  <a:pt x="0" y="2103"/>
                </a:lnTo>
                <a:lnTo>
                  <a:pt x="7" y="1565"/>
                </a:lnTo>
                <a:close/>
              </a:path>
            </a:pathLst>
          </a:cu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52227" name="Rectangle 3"/>
          <p:cNvSpPr>
            <a:spLocks noChangeArrowheads="1"/>
          </p:cNvSpPr>
          <p:nvPr/>
        </p:nvSpPr>
        <p:spPr bwMode="auto">
          <a:xfrm>
            <a:off x="5881688" y="5689601"/>
            <a:ext cx="1731962" cy="9620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altLang="pt-BR" sz="1400"/>
              <a:t>Decidir início do planejamento de um produto do portfólio</a:t>
            </a:r>
          </a:p>
        </p:txBody>
      </p:sp>
      <p:sp>
        <p:nvSpPr>
          <p:cNvPr id="52228" name="Rectangle 4"/>
          <p:cNvSpPr>
            <a:spLocks noChangeArrowheads="1"/>
          </p:cNvSpPr>
          <p:nvPr/>
        </p:nvSpPr>
        <p:spPr bwMode="auto">
          <a:xfrm>
            <a:off x="6707188" y="1222376"/>
            <a:ext cx="2514600" cy="8937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pt-BR" altLang="pt-BR" sz="1400"/>
              <a:t>Definir escopo da revisão do Plano Estratégico de Negócios (PEN)</a:t>
            </a:r>
          </a:p>
        </p:txBody>
      </p:sp>
      <p:sp>
        <p:nvSpPr>
          <p:cNvPr id="52229" name="Rectangle 5"/>
          <p:cNvSpPr>
            <a:spLocks noChangeArrowheads="1"/>
          </p:cNvSpPr>
          <p:nvPr/>
        </p:nvSpPr>
        <p:spPr bwMode="auto">
          <a:xfrm>
            <a:off x="8759825" y="2441576"/>
            <a:ext cx="1589088" cy="8175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400"/>
              <a:t>Planejar atividades para a revisão do PEN</a:t>
            </a:r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5640388" y="2441576"/>
            <a:ext cx="1587500" cy="8175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400"/>
              <a:t>Revisar o Plano Estratégico </a:t>
            </a:r>
            <a:r>
              <a:rPr lang="en-US" altLang="pt-BR" sz="1400"/>
              <a:t>de Negócios </a:t>
            </a:r>
            <a:r>
              <a:rPr lang="pt-BR" altLang="pt-BR" sz="1400"/>
              <a:t>(PEN)</a:t>
            </a:r>
          </a:p>
        </p:txBody>
      </p:sp>
      <p:sp>
        <p:nvSpPr>
          <p:cNvPr id="52231" name="Rectangle 7"/>
          <p:cNvSpPr>
            <a:spLocks noChangeArrowheads="1"/>
          </p:cNvSpPr>
          <p:nvPr/>
        </p:nvSpPr>
        <p:spPr bwMode="auto">
          <a:xfrm>
            <a:off x="5640388" y="4498975"/>
            <a:ext cx="1592262" cy="8969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pt-BR" altLang="pt-BR" sz="1400"/>
              <a:t>Analisar o Portfólio de Produtos </a:t>
            </a:r>
            <a:r>
              <a:rPr lang="en-US" altLang="pt-BR" sz="1400"/>
              <a:t>da empresa</a:t>
            </a:r>
            <a:endParaRPr lang="pt-BR" altLang="pt-BR" sz="1400"/>
          </a:p>
        </p:txBody>
      </p:sp>
      <p:sp>
        <p:nvSpPr>
          <p:cNvPr id="52232" name="Rectangle 8"/>
          <p:cNvSpPr>
            <a:spLocks noChangeArrowheads="1"/>
          </p:cNvSpPr>
          <p:nvPr/>
        </p:nvSpPr>
        <p:spPr bwMode="auto">
          <a:xfrm>
            <a:off x="8688389" y="5661025"/>
            <a:ext cx="1684337" cy="1016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/>
              <a:t>Verificar a viabilidade do Portfólio de Produtos</a:t>
            </a:r>
            <a:endParaRPr lang="pt-BR" altLang="pt-BR" sz="1400"/>
          </a:p>
        </p:txBody>
      </p:sp>
      <p:cxnSp>
        <p:nvCxnSpPr>
          <p:cNvPr id="52233" name="AutoShape 9"/>
          <p:cNvCxnSpPr>
            <a:cxnSpLocks noChangeShapeType="1"/>
            <a:stCxn id="52230" idx="3"/>
            <a:endCxn id="52229" idx="1"/>
          </p:cNvCxnSpPr>
          <p:nvPr/>
        </p:nvCxnSpPr>
        <p:spPr bwMode="auto">
          <a:xfrm>
            <a:off x="7227889" y="2851150"/>
            <a:ext cx="1531937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4" name="AutoShape 10"/>
          <p:cNvCxnSpPr>
            <a:cxnSpLocks noChangeShapeType="1"/>
            <a:stCxn id="52230" idx="1"/>
            <a:endCxn id="52231" idx="1"/>
          </p:cNvCxnSpPr>
          <p:nvPr/>
        </p:nvCxnSpPr>
        <p:spPr bwMode="auto">
          <a:xfrm rot="10800000" flipH="1" flipV="1">
            <a:off x="5640389" y="2851150"/>
            <a:ext cx="1587" cy="2097088"/>
          </a:xfrm>
          <a:prstGeom prst="bentConnector3">
            <a:avLst>
              <a:gd name="adj1" fmla="val -14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5" name="AutoShape 11"/>
          <p:cNvCxnSpPr>
            <a:cxnSpLocks noChangeShapeType="1"/>
            <a:stCxn id="52231" idx="3"/>
            <a:endCxn id="52265" idx="1"/>
          </p:cNvCxnSpPr>
          <p:nvPr/>
        </p:nvCxnSpPr>
        <p:spPr bwMode="auto">
          <a:xfrm flipV="1">
            <a:off x="7232651" y="4946650"/>
            <a:ext cx="174625" cy="1588"/>
          </a:xfrm>
          <a:prstGeom prst="bentConnector3">
            <a:avLst>
              <a:gd name="adj1" fmla="val 49093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6" name="AutoShape 12"/>
          <p:cNvCxnSpPr>
            <a:cxnSpLocks noChangeShapeType="1"/>
            <a:stCxn id="52232" idx="1"/>
            <a:endCxn id="52227" idx="3"/>
          </p:cNvCxnSpPr>
          <p:nvPr/>
        </p:nvCxnSpPr>
        <p:spPr bwMode="auto">
          <a:xfrm flipH="1">
            <a:off x="7613650" y="6169025"/>
            <a:ext cx="1074738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7" name="AutoShape 13"/>
          <p:cNvCxnSpPr>
            <a:cxnSpLocks noChangeShapeType="1"/>
            <a:stCxn id="52261" idx="1"/>
            <a:endCxn id="52230" idx="2"/>
          </p:cNvCxnSpPr>
          <p:nvPr/>
        </p:nvCxnSpPr>
        <p:spPr bwMode="auto">
          <a:xfrm rot="10800000">
            <a:off x="6434138" y="3259139"/>
            <a:ext cx="2330450" cy="33813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38" name="AutoShape 14"/>
          <p:cNvCxnSpPr>
            <a:cxnSpLocks noChangeShapeType="1"/>
            <a:stCxn id="52262" idx="1"/>
            <a:endCxn id="52231" idx="0"/>
          </p:cNvCxnSpPr>
          <p:nvPr/>
        </p:nvCxnSpPr>
        <p:spPr bwMode="auto">
          <a:xfrm rot="10800000" flipV="1">
            <a:off x="6437314" y="4132263"/>
            <a:ext cx="2327275" cy="36671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39" name="Rectangle 15"/>
          <p:cNvSpPr>
            <a:spLocks noChangeArrowheads="1"/>
          </p:cNvSpPr>
          <p:nvPr/>
        </p:nvSpPr>
        <p:spPr bwMode="auto">
          <a:xfrm>
            <a:off x="9169401" y="3986213"/>
            <a:ext cx="144463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40" name="Rectangle 16"/>
          <p:cNvSpPr>
            <a:spLocks noChangeArrowheads="1"/>
          </p:cNvSpPr>
          <p:nvPr/>
        </p:nvSpPr>
        <p:spPr bwMode="auto">
          <a:xfrm>
            <a:off x="9891713" y="3986213"/>
            <a:ext cx="144462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cxnSp>
        <p:nvCxnSpPr>
          <p:cNvPr id="52241" name="AutoShape 17"/>
          <p:cNvCxnSpPr>
            <a:cxnSpLocks noChangeShapeType="1"/>
            <a:stCxn id="52229" idx="2"/>
            <a:endCxn id="52260" idx="0"/>
          </p:cNvCxnSpPr>
          <p:nvPr/>
        </p:nvCxnSpPr>
        <p:spPr bwMode="auto">
          <a:xfrm flipH="1">
            <a:off x="9553575" y="3259139"/>
            <a:ext cx="1588" cy="1793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42" name="AutoShape 18"/>
          <p:cNvSpPr>
            <a:spLocks noChangeArrowheads="1"/>
          </p:cNvSpPr>
          <p:nvPr/>
        </p:nvSpPr>
        <p:spPr bwMode="auto">
          <a:xfrm>
            <a:off x="1703388" y="3429000"/>
            <a:ext cx="2362200" cy="10668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>
            <a:solidFill>
              <a:schemeClr val="tx2"/>
            </a:solidFill>
            <a:round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pt-BR"/>
              <a:t>Planejamento Estratégico de Produtos</a:t>
            </a:r>
            <a:endParaRPr lang="pt-BR" altLang="pt-BR"/>
          </a:p>
        </p:txBody>
      </p:sp>
      <p:sp>
        <p:nvSpPr>
          <p:cNvPr id="52243" name="Rectangle 19"/>
          <p:cNvSpPr>
            <a:spLocks noChangeArrowheads="1"/>
          </p:cNvSpPr>
          <p:nvPr/>
        </p:nvSpPr>
        <p:spPr bwMode="auto">
          <a:xfrm>
            <a:off x="1524000" y="1052513"/>
            <a:ext cx="41148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marL="287338" indent="-287338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pt-BR" sz="2000"/>
              <a:t>Planejamento Estratégico de Negócios (PEN)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pt-BR" sz="2000"/>
              <a:t>Planejamento da Corporação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  <a:buFontTx/>
              <a:buChar char="•"/>
            </a:pPr>
            <a:r>
              <a:rPr lang="en-US" altLang="pt-BR" sz="2000"/>
              <a:t>Planejamento Estratégico da Unidade de Negócios</a:t>
            </a:r>
            <a:endParaRPr lang="pt-BR" altLang="pt-BR" sz="2000"/>
          </a:p>
        </p:txBody>
      </p:sp>
      <p:sp>
        <p:nvSpPr>
          <p:cNvPr id="52244" name="AutoShape 20"/>
          <p:cNvSpPr>
            <a:spLocks noChangeArrowheads="1"/>
          </p:cNvSpPr>
          <p:nvPr/>
        </p:nvSpPr>
        <p:spPr bwMode="auto">
          <a:xfrm flipV="1">
            <a:off x="2276475" y="2903538"/>
            <a:ext cx="1371600" cy="381000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45" name="AutoShape 21"/>
          <p:cNvSpPr>
            <a:spLocks noChangeArrowheads="1"/>
          </p:cNvSpPr>
          <p:nvPr/>
        </p:nvSpPr>
        <p:spPr bwMode="auto">
          <a:xfrm flipV="1">
            <a:off x="2203450" y="4652963"/>
            <a:ext cx="1371600" cy="381000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46" name="Rectangle 22"/>
          <p:cNvSpPr>
            <a:spLocks noChangeArrowheads="1"/>
          </p:cNvSpPr>
          <p:nvPr/>
        </p:nvSpPr>
        <p:spPr bwMode="auto">
          <a:xfrm>
            <a:off x="1524000" y="4868863"/>
            <a:ext cx="35052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pt-BR" sz="2000"/>
              <a:t>Portofólio de Produtos (Aprovado)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</a:pPr>
            <a:r>
              <a:rPr lang="en-US" altLang="pt-BR" sz="2000"/>
              <a:t>Minuta de Projeto (Aprovada)</a:t>
            </a:r>
          </a:p>
        </p:txBody>
      </p:sp>
      <p:cxnSp>
        <p:nvCxnSpPr>
          <p:cNvPr id="52247" name="AutoShape 23"/>
          <p:cNvCxnSpPr>
            <a:cxnSpLocks noChangeShapeType="1"/>
            <a:stCxn id="52228" idx="3"/>
            <a:endCxn id="52229" idx="0"/>
          </p:cNvCxnSpPr>
          <p:nvPr/>
        </p:nvCxnSpPr>
        <p:spPr bwMode="auto">
          <a:xfrm>
            <a:off x="9221789" y="1670051"/>
            <a:ext cx="333375" cy="77152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52248" name="Group 24"/>
          <p:cNvGrpSpPr>
            <a:grpSpLocks/>
          </p:cNvGrpSpPr>
          <p:nvPr/>
        </p:nvGrpSpPr>
        <p:grpSpPr bwMode="auto">
          <a:xfrm>
            <a:off x="7407276" y="4498975"/>
            <a:ext cx="1590675" cy="895350"/>
            <a:chOff x="3705" y="2106"/>
            <a:chExt cx="1002" cy="640"/>
          </a:xfrm>
        </p:grpSpPr>
        <p:sp>
          <p:nvSpPr>
            <p:cNvPr id="52265" name="Rectangle 25"/>
            <p:cNvSpPr>
              <a:spLocks noChangeArrowheads="1"/>
            </p:cNvSpPr>
            <p:nvPr/>
          </p:nvSpPr>
          <p:spPr bwMode="auto">
            <a:xfrm>
              <a:off x="3705" y="2106"/>
              <a:ext cx="1002" cy="64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pt-BR" altLang="pt-BR" sz="1400"/>
                <a:t>Propor mudanças no portfólio de produtos</a:t>
              </a:r>
            </a:p>
          </p:txBody>
        </p:sp>
        <p:sp>
          <p:nvSpPr>
            <p:cNvPr id="52266" name="Rectangle 26"/>
            <p:cNvSpPr>
              <a:spLocks noChangeArrowheads="1"/>
            </p:cNvSpPr>
            <p:nvPr/>
          </p:nvSpPr>
          <p:spPr bwMode="auto">
            <a:xfrm>
              <a:off x="4161" y="2106"/>
              <a:ext cx="91" cy="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2267" name="Rectangle 27"/>
            <p:cNvSpPr>
              <a:spLocks noChangeArrowheads="1"/>
            </p:cNvSpPr>
            <p:nvPr/>
          </p:nvSpPr>
          <p:spPr bwMode="auto">
            <a:xfrm>
              <a:off x="4161" y="2106"/>
              <a:ext cx="91" cy="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2268" name="Rectangle 28"/>
            <p:cNvSpPr>
              <a:spLocks noChangeArrowheads="1"/>
            </p:cNvSpPr>
            <p:nvPr/>
          </p:nvSpPr>
          <p:spPr bwMode="auto">
            <a:xfrm>
              <a:off x="4656" y="2112"/>
              <a:ext cx="4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2269" name="Rectangle 29"/>
            <p:cNvSpPr>
              <a:spLocks noChangeArrowheads="1"/>
            </p:cNvSpPr>
            <p:nvPr/>
          </p:nvSpPr>
          <p:spPr bwMode="auto">
            <a:xfrm>
              <a:off x="4656" y="2376"/>
              <a:ext cx="4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52270" name="Rectangle 30"/>
            <p:cNvSpPr>
              <a:spLocks noChangeArrowheads="1"/>
            </p:cNvSpPr>
            <p:nvPr/>
          </p:nvSpPr>
          <p:spPr bwMode="auto">
            <a:xfrm>
              <a:off x="4656" y="2640"/>
              <a:ext cx="4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52249" name="Group 31"/>
          <p:cNvGrpSpPr>
            <a:grpSpLocks/>
          </p:cNvGrpSpPr>
          <p:nvPr/>
        </p:nvGrpSpPr>
        <p:grpSpPr bwMode="auto">
          <a:xfrm>
            <a:off x="8758238" y="3432175"/>
            <a:ext cx="1592262" cy="838200"/>
            <a:chOff x="4556" y="1488"/>
            <a:chExt cx="1003" cy="528"/>
          </a:xfrm>
        </p:grpSpPr>
        <p:grpSp>
          <p:nvGrpSpPr>
            <p:cNvPr id="52256" name="Group 32"/>
            <p:cNvGrpSpPr>
              <a:grpSpLocks/>
            </p:cNvGrpSpPr>
            <p:nvPr/>
          </p:nvGrpSpPr>
          <p:grpSpPr bwMode="auto">
            <a:xfrm>
              <a:off x="4556" y="1488"/>
              <a:ext cx="1003" cy="528"/>
              <a:chOff x="2086" y="1533"/>
              <a:chExt cx="1588" cy="435"/>
            </a:xfrm>
          </p:grpSpPr>
          <p:sp>
            <p:nvSpPr>
              <p:cNvPr id="52260" name="Rectangle 33"/>
              <p:cNvSpPr>
                <a:spLocks noChangeArrowheads="1"/>
              </p:cNvSpPr>
              <p:nvPr/>
            </p:nvSpPr>
            <p:spPr bwMode="auto">
              <a:xfrm>
                <a:off x="2086" y="1536"/>
                <a:ext cx="1587" cy="4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pt-BR" altLang="pt-BR" sz="1400"/>
                  <a:t>Consolidar Informaç</a:t>
                </a:r>
                <a:r>
                  <a:rPr lang="en-US" altLang="pt-BR" sz="1400"/>
                  <a:t>ões sobre tecnologia e mercado</a:t>
                </a:r>
                <a:endParaRPr lang="pt-BR" altLang="pt-BR" sz="1400"/>
              </a:p>
            </p:txBody>
          </p:sp>
          <p:sp>
            <p:nvSpPr>
              <p:cNvPr id="52261" name="Rectangle 34"/>
              <p:cNvSpPr>
                <a:spLocks noChangeArrowheads="1"/>
              </p:cNvSpPr>
              <p:nvPr/>
            </p:nvSpPr>
            <p:spPr bwMode="auto">
              <a:xfrm>
                <a:off x="2093" y="1546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52262" name="Rectangle 35"/>
              <p:cNvSpPr>
                <a:spLocks noChangeArrowheads="1"/>
              </p:cNvSpPr>
              <p:nvPr/>
            </p:nvSpPr>
            <p:spPr bwMode="auto">
              <a:xfrm>
                <a:off x="2093" y="182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52263" name="Rectangle 36"/>
              <p:cNvSpPr>
                <a:spLocks noChangeArrowheads="1"/>
              </p:cNvSpPr>
              <p:nvPr/>
            </p:nvSpPr>
            <p:spPr bwMode="auto">
              <a:xfrm>
                <a:off x="3520" y="1533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52264" name="Rectangle 37"/>
              <p:cNvSpPr>
                <a:spLocks noChangeArrowheads="1"/>
              </p:cNvSpPr>
              <p:nvPr/>
            </p:nvSpPr>
            <p:spPr bwMode="auto">
              <a:xfrm>
                <a:off x="3530" y="1824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  <p:grpSp>
          <p:nvGrpSpPr>
            <p:cNvPr id="52257" name="Group 38"/>
            <p:cNvGrpSpPr>
              <a:grpSpLocks/>
            </p:cNvGrpSpPr>
            <p:nvPr/>
          </p:nvGrpSpPr>
          <p:grpSpPr bwMode="auto">
            <a:xfrm rot="5400000">
              <a:off x="5052" y="1812"/>
              <a:ext cx="48" cy="360"/>
              <a:chOff x="5040" y="2112"/>
              <a:chExt cx="48" cy="360"/>
            </a:xfrm>
          </p:grpSpPr>
          <p:sp>
            <p:nvSpPr>
              <p:cNvPr id="52258" name="Rectangle 39"/>
              <p:cNvSpPr>
                <a:spLocks noChangeArrowheads="1"/>
              </p:cNvSpPr>
              <p:nvPr/>
            </p:nvSpPr>
            <p:spPr bwMode="auto">
              <a:xfrm>
                <a:off x="5040" y="2112"/>
                <a:ext cx="48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52259" name="Rectangle 40"/>
              <p:cNvSpPr>
                <a:spLocks noChangeArrowheads="1"/>
              </p:cNvSpPr>
              <p:nvPr/>
            </p:nvSpPr>
            <p:spPr bwMode="auto">
              <a:xfrm>
                <a:off x="5040" y="2376"/>
                <a:ext cx="48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  <p:cxnSp>
        <p:nvCxnSpPr>
          <p:cNvPr id="52250" name="AutoShape 41"/>
          <p:cNvCxnSpPr>
            <a:cxnSpLocks noChangeShapeType="1"/>
            <a:stCxn id="52259" idx="3"/>
            <a:endCxn id="52268" idx="3"/>
          </p:cNvCxnSpPr>
          <p:nvPr/>
        </p:nvCxnSpPr>
        <p:spPr bwMode="auto">
          <a:xfrm rot="5400000">
            <a:off x="9031288" y="4232275"/>
            <a:ext cx="304800" cy="3810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51" name="AutoShape 42"/>
          <p:cNvCxnSpPr>
            <a:cxnSpLocks noChangeShapeType="1"/>
            <a:stCxn id="52269" idx="3"/>
            <a:endCxn id="52258" idx="3"/>
          </p:cNvCxnSpPr>
          <p:nvPr/>
        </p:nvCxnSpPr>
        <p:spPr bwMode="auto">
          <a:xfrm flipV="1">
            <a:off x="8993188" y="4270375"/>
            <a:ext cx="800100" cy="674688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252" name="AutoShape 43"/>
          <p:cNvCxnSpPr>
            <a:cxnSpLocks noChangeShapeType="1"/>
            <a:stCxn id="52270" idx="3"/>
            <a:endCxn id="52232" idx="0"/>
          </p:cNvCxnSpPr>
          <p:nvPr/>
        </p:nvCxnSpPr>
        <p:spPr bwMode="auto">
          <a:xfrm>
            <a:off x="8993188" y="5313363"/>
            <a:ext cx="538162" cy="347662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253" name="Rectangle 44"/>
          <p:cNvSpPr>
            <a:spLocks noChangeArrowheads="1"/>
          </p:cNvSpPr>
          <p:nvPr/>
        </p:nvSpPr>
        <p:spPr bwMode="auto">
          <a:xfrm>
            <a:off x="8764588" y="3432175"/>
            <a:ext cx="1581150" cy="838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54" name="Rectangle 45"/>
          <p:cNvSpPr>
            <a:spLocks noGrp="1" noChangeArrowheads="1"/>
          </p:cNvSpPr>
          <p:nvPr>
            <p:ph type="title"/>
          </p:nvPr>
        </p:nvSpPr>
        <p:spPr>
          <a:xfrm>
            <a:off x="4010819" y="461477"/>
            <a:ext cx="8240713" cy="714375"/>
          </a:xfrm>
        </p:spPr>
        <p:txBody>
          <a:bodyPr>
            <a:normAutofit/>
          </a:bodyPr>
          <a:lstStyle/>
          <a:p>
            <a:r>
              <a:rPr lang="pt-BR" altLang="pt-BR" sz="1600" dirty="0"/>
              <a:t>Informações e dependências da fase de Planejamento Estratégico de Produtos</a:t>
            </a:r>
          </a:p>
        </p:txBody>
      </p:sp>
      <p:sp>
        <p:nvSpPr>
          <p:cNvPr id="240686" name="Rectangle 46"/>
          <p:cNvSpPr>
            <a:spLocks noChangeArrowheads="1"/>
          </p:cNvSpPr>
          <p:nvPr/>
        </p:nvSpPr>
        <p:spPr bwMode="auto">
          <a:xfrm>
            <a:off x="6707188" y="1222376"/>
            <a:ext cx="2514600" cy="893763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pt-BR" altLang="pt-BR" sz="1400"/>
              <a:t>Definir escopo da revisão do Plano Estratégico de Negócios (PEN)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686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25414"/>
            <a:ext cx="9622436" cy="788987"/>
          </a:xfrm>
        </p:spPr>
        <p:txBody>
          <a:bodyPr>
            <a:normAutofit/>
          </a:bodyPr>
          <a:lstStyle/>
          <a:p>
            <a:r>
              <a:rPr lang="en-US" altLang="pt-BR" sz="2400" b="1" dirty="0" err="1"/>
              <a:t>Elementos</a:t>
            </a:r>
            <a:r>
              <a:rPr lang="en-US" altLang="pt-BR" sz="2400" b="1" dirty="0"/>
              <a:t> da </a:t>
            </a:r>
            <a:r>
              <a:rPr lang="en-US" altLang="pt-BR" sz="2400" b="1" dirty="0" err="1"/>
              <a:t>Estratégia</a:t>
            </a:r>
            <a:r>
              <a:rPr lang="en-US" altLang="pt-BR" sz="2400" b="1" dirty="0"/>
              <a:t> de </a:t>
            </a:r>
            <a:r>
              <a:rPr lang="en-US" altLang="pt-BR" sz="2400" b="1" dirty="0" err="1"/>
              <a:t>Produto</a:t>
            </a:r>
            <a:r>
              <a:rPr lang="en-US" altLang="pt-BR" sz="2400" b="1" dirty="0"/>
              <a:t> 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33600" y="2360613"/>
            <a:ext cx="685800" cy="2667000"/>
            <a:chOff x="384" y="1487"/>
            <a:chExt cx="432" cy="1680"/>
          </a:xfrm>
        </p:grpSpPr>
        <p:sp>
          <p:nvSpPr>
            <p:cNvPr id="60690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91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92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93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94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95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048000" y="2970213"/>
            <a:ext cx="762000" cy="1828800"/>
            <a:chOff x="960" y="1871"/>
            <a:chExt cx="480" cy="1152"/>
          </a:xfrm>
        </p:grpSpPr>
        <p:sp>
          <p:nvSpPr>
            <p:cNvPr id="60683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4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5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6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7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8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9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098926" y="3351213"/>
            <a:ext cx="1082675" cy="990600"/>
            <a:chOff x="1622" y="2111"/>
            <a:chExt cx="682" cy="624"/>
          </a:xfrm>
        </p:grpSpPr>
        <p:sp>
          <p:nvSpPr>
            <p:cNvPr id="60678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9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0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1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82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6629400" y="3579813"/>
            <a:ext cx="1371600" cy="506412"/>
            <a:chOff x="3216" y="2255"/>
            <a:chExt cx="864" cy="319"/>
          </a:xfrm>
        </p:grpSpPr>
        <p:sp>
          <p:nvSpPr>
            <p:cNvPr id="60674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5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6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7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410200" y="3427413"/>
            <a:ext cx="990600" cy="609600"/>
            <a:chOff x="2448" y="2159"/>
            <a:chExt cx="624" cy="384"/>
          </a:xfrm>
        </p:grpSpPr>
        <p:sp>
          <p:nvSpPr>
            <p:cNvPr id="60671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2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673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514600" y="1674813"/>
            <a:ext cx="8008938" cy="4038600"/>
            <a:chOff x="624" y="1055"/>
            <a:chExt cx="5045" cy="2544"/>
          </a:xfrm>
        </p:grpSpPr>
        <p:sp>
          <p:nvSpPr>
            <p:cNvPr id="60496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80 h 1056"/>
                <a:gd name="T4" fmla="*/ 1634 w 4560"/>
                <a:gd name="T5" fmla="*/ 873 h 1056"/>
                <a:gd name="T6" fmla="*/ 3696 w 4560"/>
                <a:gd name="T7" fmla="*/ 96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0497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32 h 1056"/>
                <a:gd name="T4" fmla="*/ 1634 w 4560"/>
                <a:gd name="T5" fmla="*/ 785 h 1056"/>
                <a:gd name="T6" fmla="*/ 3696 w 4560"/>
                <a:gd name="T7" fmla="*/ 864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60498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60499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60501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0502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0503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0504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grpSp>
              <p:nvGrpSpPr>
                <p:cNvPr id="60505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60506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21 w 266"/>
                      <a:gd name="T3" fmla="*/ 19 h 284"/>
                      <a:gd name="T4" fmla="*/ 41 w 266"/>
                      <a:gd name="T5" fmla="*/ 40 h 284"/>
                      <a:gd name="T6" fmla="*/ 71 w 266"/>
                      <a:gd name="T7" fmla="*/ 79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07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21 w 279"/>
                      <a:gd name="T3" fmla="*/ 16 h 265"/>
                      <a:gd name="T4" fmla="*/ 39 w 279"/>
                      <a:gd name="T5" fmla="*/ 34 h 265"/>
                      <a:gd name="T6" fmla="*/ 73 w 279"/>
                      <a:gd name="T7" fmla="*/ 73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08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21 w 231"/>
                      <a:gd name="T3" fmla="*/ 16 h 207"/>
                      <a:gd name="T4" fmla="*/ 39 w 231"/>
                      <a:gd name="T5" fmla="*/ 34 h 207"/>
                      <a:gd name="T6" fmla="*/ 60 w 231"/>
                      <a:gd name="T7" fmla="*/ 58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09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37 w 436"/>
                      <a:gd name="T3" fmla="*/ 22 h 289"/>
                      <a:gd name="T4" fmla="*/ 76 w 436"/>
                      <a:gd name="T5" fmla="*/ 49 h 289"/>
                      <a:gd name="T6" fmla="*/ 114 w 436"/>
                      <a:gd name="T7" fmla="*/ 79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0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1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2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3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57 w 213"/>
                      <a:gd name="T1" fmla="*/ 0 h 1198"/>
                      <a:gd name="T2" fmla="*/ 57 w 213"/>
                      <a:gd name="T3" fmla="*/ 33 h 1198"/>
                      <a:gd name="T4" fmla="*/ 55 w 213"/>
                      <a:gd name="T5" fmla="*/ 70 h 1198"/>
                      <a:gd name="T6" fmla="*/ 49 w 213"/>
                      <a:gd name="T7" fmla="*/ 106 h 1198"/>
                      <a:gd name="T8" fmla="*/ 43 w 213"/>
                      <a:gd name="T9" fmla="*/ 148 h 1198"/>
                      <a:gd name="T10" fmla="*/ 37 w 213"/>
                      <a:gd name="T11" fmla="*/ 182 h 1198"/>
                      <a:gd name="T12" fmla="*/ 31 w 213"/>
                      <a:gd name="T13" fmla="*/ 222 h 1198"/>
                      <a:gd name="T14" fmla="*/ 25 w 213"/>
                      <a:gd name="T15" fmla="*/ 255 h 1198"/>
                      <a:gd name="T16" fmla="*/ 16 w 213"/>
                      <a:gd name="T17" fmla="*/ 285 h 1198"/>
                      <a:gd name="T18" fmla="*/ 9 w 213"/>
                      <a:gd name="T19" fmla="*/ 308 h 1198"/>
                      <a:gd name="T20" fmla="*/ 0 w 213"/>
                      <a:gd name="T21" fmla="*/ 335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4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5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6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7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56 w 599"/>
                      <a:gd name="T1" fmla="*/ 0 h 2082"/>
                      <a:gd name="T2" fmla="*/ 141 w 599"/>
                      <a:gd name="T3" fmla="*/ 9 h 2082"/>
                      <a:gd name="T4" fmla="*/ 111 w 599"/>
                      <a:gd name="T5" fmla="*/ 36 h 2082"/>
                      <a:gd name="T6" fmla="*/ 83 w 599"/>
                      <a:gd name="T7" fmla="*/ 68 h 2082"/>
                      <a:gd name="T8" fmla="*/ 64 w 599"/>
                      <a:gd name="T9" fmla="*/ 101 h 2082"/>
                      <a:gd name="T10" fmla="*/ 45 w 599"/>
                      <a:gd name="T11" fmla="*/ 140 h 2082"/>
                      <a:gd name="T12" fmla="*/ 26 w 599"/>
                      <a:gd name="T13" fmla="*/ 178 h 2082"/>
                      <a:gd name="T14" fmla="*/ 14 w 599"/>
                      <a:gd name="T15" fmla="*/ 213 h 2082"/>
                      <a:gd name="T16" fmla="*/ 2 w 599"/>
                      <a:gd name="T17" fmla="*/ 253 h 2082"/>
                      <a:gd name="T18" fmla="*/ 0 w 599"/>
                      <a:gd name="T19" fmla="*/ 286 h 2082"/>
                      <a:gd name="T20" fmla="*/ 0 w 599"/>
                      <a:gd name="T21" fmla="*/ 323 h 2082"/>
                      <a:gd name="T22" fmla="*/ 0 w 599"/>
                      <a:gd name="T23" fmla="*/ 359 h 2082"/>
                      <a:gd name="T24" fmla="*/ 1 w 599"/>
                      <a:gd name="T25" fmla="*/ 399 h 2082"/>
                      <a:gd name="T26" fmla="*/ 0 w 599"/>
                      <a:gd name="T27" fmla="*/ 437 h 2082"/>
                      <a:gd name="T28" fmla="*/ 0 w 599"/>
                      <a:gd name="T29" fmla="*/ 477 h 2082"/>
                      <a:gd name="T30" fmla="*/ 1 w 599"/>
                      <a:gd name="T31" fmla="*/ 560 h 2082"/>
                      <a:gd name="T32" fmla="*/ 2 w 599"/>
                      <a:gd name="T33" fmla="*/ 581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8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59 w 609"/>
                      <a:gd name="T1" fmla="*/ 0 h 2105"/>
                      <a:gd name="T2" fmla="*/ 143 w 609"/>
                      <a:gd name="T3" fmla="*/ 13 h 2105"/>
                      <a:gd name="T4" fmla="*/ 124 w 609"/>
                      <a:gd name="T5" fmla="*/ 37 h 2105"/>
                      <a:gd name="T6" fmla="*/ 102 w 609"/>
                      <a:gd name="T7" fmla="*/ 68 h 2105"/>
                      <a:gd name="T8" fmla="*/ 84 w 609"/>
                      <a:gd name="T9" fmla="*/ 103 h 2105"/>
                      <a:gd name="T10" fmla="*/ 68 w 609"/>
                      <a:gd name="T11" fmla="*/ 137 h 2105"/>
                      <a:gd name="T12" fmla="*/ 52 w 609"/>
                      <a:gd name="T13" fmla="*/ 174 h 2105"/>
                      <a:gd name="T14" fmla="*/ 39 w 609"/>
                      <a:gd name="T15" fmla="*/ 215 h 2105"/>
                      <a:gd name="T16" fmla="*/ 31 w 609"/>
                      <a:gd name="T17" fmla="*/ 251 h 2105"/>
                      <a:gd name="T18" fmla="*/ 29 w 609"/>
                      <a:gd name="T19" fmla="*/ 287 h 2105"/>
                      <a:gd name="T20" fmla="*/ 27 w 609"/>
                      <a:gd name="T21" fmla="*/ 322 h 2105"/>
                      <a:gd name="T22" fmla="*/ 25 w 609"/>
                      <a:gd name="T23" fmla="*/ 358 h 2105"/>
                      <a:gd name="T24" fmla="*/ 25 w 609"/>
                      <a:gd name="T25" fmla="*/ 395 h 2105"/>
                      <a:gd name="T26" fmla="*/ 22 w 609"/>
                      <a:gd name="T27" fmla="*/ 434 h 2105"/>
                      <a:gd name="T28" fmla="*/ 17 w 609"/>
                      <a:gd name="T29" fmla="*/ 478 h 2105"/>
                      <a:gd name="T30" fmla="*/ 15 w 609"/>
                      <a:gd name="T31" fmla="*/ 508 h 2105"/>
                      <a:gd name="T32" fmla="*/ 11 w 609"/>
                      <a:gd name="T33" fmla="*/ 540 h 2105"/>
                      <a:gd name="T34" fmla="*/ 0 w 609"/>
                      <a:gd name="T35" fmla="*/ 588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19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67 w 637"/>
                      <a:gd name="T1" fmla="*/ 0 h 2101"/>
                      <a:gd name="T2" fmla="*/ 153 w 637"/>
                      <a:gd name="T3" fmla="*/ 14 h 2101"/>
                      <a:gd name="T4" fmla="*/ 140 w 637"/>
                      <a:gd name="T5" fmla="*/ 34 h 2101"/>
                      <a:gd name="T6" fmla="*/ 120 w 637"/>
                      <a:gd name="T7" fmla="*/ 67 h 2101"/>
                      <a:gd name="T8" fmla="*/ 99 w 637"/>
                      <a:gd name="T9" fmla="*/ 107 h 2101"/>
                      <a:gd name="T10" fmla="*/ 89 w 637"/>
                      <a:gd name="T11" fmla="*/ 141 h 2101"/>
                      <a:gd name="T12" fmla="*/ 77 w 637"/>
                      <a:gd name="T13" fmla="*/ 179 h 2101"/>
                      <a:gd name="T14" fmla="*/ 68 w 637"/>
                      <a:gd name="T15" fmla="*/ 212 h 2101"/>
                      <a:gd name="T16" fmla="*/ 62 w 637"/>
                      <a:gd name="T17" fmla="*/ 254 h 2101"/>
                      <a:gd name="T18" fmla="*/ 60 w 637"/>
                      <a:gd name="T19" fmla="*/ 290 h 2101"/>
                      <a:gd name="T20" fmla="*/ 56 w 637"/>
                      <a:gd name="T21" fmla="*/ 327 h 2101"/>
                      <a:gd name="T22" fmla="*/ 51 w 637"/>
                      <a:gd name="T23" fmla="*/ 364 h 2101"/>
                      <a:gd name="T24" fmla="*/ 45 w 637"/>
                      <a:gd name="T25" fmla="*/ 405 h 2101"/>
                      <a:gd name="T26" fmla="*/ 41 w 637"/>
                      <a:gd name="T27" fmla="*/ 440 h 2101"/>
                      <a:gd name="T28" fmla="*/ 35 w 637"/>
                      <a:gd name="T29" fmla="*/ 478 h 2101"/>
                      <a:gd name="T30" fmla="*/ 29 w 637"/>
                      <a:gd name="T31" fmla="*/ 512 h 2101"/>
                      <a:gd name="T32" fmla="*/ 24 w 637"/>
                      <a:gd name="T33" fmla="*/ 540 h 2101"/>
                      <a:gd name="T34" fmla="*/ 13 w 637"/>
                      <a:gd name="T35" fmla="*/ 566 h 2101"/>
                      <a:gd name="T36" fmla="*/ 0 w 637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0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74 w 662"/>
                      <a:gd name="T1" fmla="*/ 0 h 2110"/>
                      <a:gd name="T2" fmla="*/ 161 w 662"/>
                      <a:gd name="T3" fmla="*/ 20 h 2110"/>
                      <a:gd name="T4" fmla="*/ 150 w 662"/>
                      <a:gd name="T5" fmla="*/ 40 h 2110"/>
                      <a:gd name="T6" fmla="*/ 134 w 662"/>
                      <a:gd name="T7" fmla="*/ 70 h 2110"/>
                      <a:gd name="T8" fmla="*/ 120 w 662"/>
                      <a:gd name="T9" fmla="*/ 105 h 2110"/>
                      <a:gd name="T10" fmla="*/ 114 w 662"/>
                      <a:gd name="T11" fmla="*/ 139 h 2110"/>
                      <a:gd name="T12" fmla="*/ 104 w 662"/>
                      <a:gd name="T13" fmla="*/ 179 h 2110"/>
                      <a:gd name="T14" fmla="*/ 95 w 662"/>
                      <a:gd name="T15" fmla="*/ 217 h 2110"/>
                      <a:gd name="T16" fmla="*/ 91 w 662"/>
                      <a:gd name="T17" fmla="*/ 257 h 2110"/>
                      <a:gd name="T18" fmla="*/ 90 w 662"/>
                      <a:gd name="T19" fmla="*/ 289 h 2110"/>
                      <a:gd name="T20" fmla="*/ 86 w 662"/>
                      <a:gd name="T21" fmla="*/ 325 h 2110"/>
                      <a:gd name="T22" fmla="*/ 83 w 662"/>
                      <a:gd name="T23" fmla="*/ 363 h 2110"/>
                      <a:gd name="T24" fmla="*/ 76 w 662"/>
                      <a:gd name="T25" fmla="*/ 401 h 2110"/>
                      <a:gd name="T26" fmla="*/ 65 w 662"/>
                      <a:gd name="T27" fmla="*/ 440 h 2110"/>
                      <a:gd name="T28" fmla="*/ 58 w 662"/>
                      <a:gd name="T29" fmla="*/ 476 h 2110"/>
                      <a:gd name="T30" fmla="*/ 47 w 662"/>
                      <a:gd name="T31" fmla="*/ 510 h 2110"/>
                      <a:gd name="T32" fmla="*/ 35 w 662"/>
                      <a:gd name="T33" fmla="*/ 540 h 2110"/>
                      <a:gd name="T34" fmla="*/ 19 w 662"/>
                      <a:gd name="T35" fmla="*/ 567 h 2110"/>
                      <a:gd name="T36" fmla="*/ 0 w 662"/>
                      <a:gd name="T37" fmla="*/ 589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1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73 w 662"/>
                      <a:gd name="T1" fmla="*/ 0 h 2111"/>
                      <a:gd name="T2" fmla="*/ 163 w 662"/>
                      <a:gd name="T3" fmla="*/ 18 h 2111"/>
                      <a:gd name="T4" fmla="*/ 152 w 662"/>
                      <a:gd name="T5" fmla="*/ 45 h 2111"/>
                      <a:gd name="T6" fmla="*/ 143 w 662"/>
                      <a:gd name="T7" fmla="*/ 75 h 2111"/>
                      <a:gd name="T8" fmla="*/ 137 w 662"/>
                      <a:gd name="T9" fmla="*/ 106 h 2111"/>
                      <a:gd name="T10" fmla="*/ 130 w 662"/>
                      <a:gd name="T11" fmla="*/ 140 h 2111"/>
                      <a:gd name="T12" fmla="*/ 125 w 662"/>
                      <a:gd name="T13" fmla="*/ 181 h 2111"/>
                      <a:gd name="T14" fmla="*/ 119 w 662"/>
                      <a:gd name="T15" fmla="*/ 219 h 2111"/>
                      <a:gd name="T16" fmla="*/ 117 w 662"/>
                      <a:gd name="T17" fmla="*/ 256 h 2111"/>
                      <a:gd name="T18" fmla="*/ 115 w 662"/>
                      <a:gd name="T19" fmla="*/ 291 h 2111"/>
                      <a:gd name="T20" fmla="*/ 110 w 662"/>
                      <a:gd name="T21" fmla="*/ 325 h 2111"/>
                      <a:gd name="T22" fmla="*/ 102 w 662"/>
                      <a:gd name="T23" fmla="*/ 364 h 2111"/>
                      <a:gd name="T24" fmla="*/ 95 w 662"/>
                      <a:gd name="T25" fmla="*/ 398 h 2111"/>
                      <a:gd name="T26" fmla="*/ 83 w 662"/>
                      <a:gd name="T27" fmla="*/ 441 h 2111"/>
                      <a:gd name="T28" fmla="*/ 72 w 662"/>
                      <a:gd name="T29" fmla="*/ 480 h 2111"/>
                      <a:gd name="T30" fmla="*/ 56 w 662"/>
                      <a:gd name="T31" fmla="*/ 513 h 2111"/>
                      <a:gd name="T32" fmla="*/ 42 w 662"/>
                      <a:gd name="T33" fmla="*/ 540 h 2111"/>
                      <a:gd name="T34" fmla="*/ 20 w 662"/>
                      <a:gd name="T35" fmla="*/ 568 h 2111"/>
                      <a:gd name="T36" fmla="*/ 0 w 662"/>
                      <a:gd name="T37" fmla="*/ 589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2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65 w 626"/>
                      <a:gd name="T1" fmla="*/ 0 h 2101"/>
                      <a:gd name="T2" fmla="*/ 162 w 626"/>
                      <a:gd name="T3" fmla="*/ 17 h 2101"/>
                      <a:gd name="T4" fmla="*/ 157 w 626"/>
                      <a:gd name="T5" fmla="*/ 43 h 2101"/>
                      <a:gd name="T6" fmla="*/ 150 w 626"/>
                      <a:gd name="T7" fmla="*/ 76 h 2101"/>
                      <a:gd name="T8" fmla="*/ 145 w 626"/>
                      <a:gd name="T9" fmla="*/ 105 h 2101"/>
                      <a:gd name="T10" fmla="*/ 140 w 626"/>
                      <a:gd name="T11" fmla="*/ 134 h 2101"/>
                      <a:gd name="T12" fmla="*/ 138 w 626"/>
                      <a:gd name="T13" fmla="*/ 180 h 2101"/>
                      <a:gd name="T14" fmla="*/ 136 w 626"/>
                      <a:gd name="T15" fmla="*/ 216 h 2101"/>
                      <a:gd name="T16" fmla="*/ 135 w 626"/>
                      <a:gd name="T17" fmla="*/ 252 h 2101"/>
                      <a:gd name="T18" fmla="*/ 131 w 626"/>
                      <a:gd name="T19" fmla="*/ 290 h 2101"/>
                      <a:gd name="T20" fmla="*/ 127 w 626"/>
                      <a:gd name="T21" fmla="*/ 324 h 2101"/>
                      <a:gd name="T22" fmla="*/ 122 w 626"/>
                      <a:gd name="T23" fmla="*/ 364 h 2101"/>
                      <a:gd name="T24" fmla="*/ 110 w 626"/>
                      <a:gd name="T25" fmla="*/ 405 h 2101"/>
                      <a:gd name="T26" fmla="*/ 96 w 626"/>
                      <a:gd name="T27" fmla="*/ 443 h 2101"/>
                      <a:gd name="T28" fmla="*/ 78 w 626"/>
                      <a:gd name="T29" fmla="*/ 483 h 2101"/>
                      <a:gd name="T30" fmla="*/ 62 w 626"/>
                      <a:gd name="T31" fmla="*/ 514 h 2101"/>
                      <a:gd name="T32" fmla="*/ 41 w 626"/>
                      <a:gd name="T33" fmla="*/ 540 h 2101"/>
                      <a:gd name="T34" fmla="*/ 25 w 626"/>
                      <a:gd name="T35" fmla="*/ 561 h 2101"/>
                      <a:gd name="T36" fmla="*/ 0 w 626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3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4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5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6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7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8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29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0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1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2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3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4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5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6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7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8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39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0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1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43 w 360"/>
                      <a:gd name="T3" fmla="*/ 28 h 226"/>
                      <a:gd name="T4" fmla="*/ 94 w 360"/>
                      <a:gd name="T5" fmla="*/ 64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2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3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66 w 253"/>
                      <a:gd name="T1" fmla="*/ 0 h 264"/>
                      <a:gd name="T2" fmla="*/ 37 w 253"/>
                      <a:gd name="T3" fmla="*/ 28 h 264"/>
                      <a:gd name="T4" fmla="*/ 16 w 253"/>
                      <a:gd name="T5" fmla="*/ 53 h 264"/>
                      <a:gd name="T6" fmla="*/ 0 w 253"/>
                      <a:gd name="T7" fmla="*/ 74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4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37 w 890"/>
                      <a:gd name="T3" fmla="*/ 25 h 2059"/>
                      <a:gd name="T4" fmla="*/ 60 w 890"/>
                      <a:gd name="T5" fmla="*/ 45 h 2059"/>
                      <a:gd name="T6" fmla="*/ 79 w 890"/>
                      <a:gd name="T7" fmla="*/ 63 h 2059"/>
                      <a:gd name="T8" fmla="*/ 107 w 890"/>
                      <a:gd name="T9" fmla="*/ 88 h 2059"/>
                      <a:gd name="T10" fmla="*/ 148 w 890"/>
                      <a:gd name="T11" fmla="*/ 130 h 2059"/>
                      <a:gd name="T12" fmla="*/ 184 w 890"/>
                      <a:gd name="T13" fmla="*/ 170 h 2059"/>
                      <a:gd name="T14" fmla="*/ 212 w 890"/>
                      <a:gd name="T15" fmla="*/ 208 h 2059"/>
                      <a:gd name="T16" fmla="*/ 229 w 890"/>
                      <a:gd name="T17" fmla="*/ 244 h 2059"/>
                      <a:gd name="T18" fmla="*/ 231 w 890"/>
                      <a:gd name="T19" fmla="*/ 275 h 2059"/>
                      <a:gd name="T20" fmla="*/ 232 w 890"/>
                      <a:gd name="T21" fmla="*/ 315 h 2059"/>
                      <a:gd name="T22" fmla="*/ 232 w 890"/>
                      <a:gd name="T23" fmla="*/ 352 h 2059"/>
                      <a:gd name="T24" fmla="*/ 230 w 890"/>
                      <a:gd name="T25" fmla="*/ 392 h 2059"/>
                      <a:gd name="T26" fmla="*/ 226 w 890"/>
                      <a:gd name="T27" fmla="*/ 429 h 2059"/>
                      <a:gd name="T28" fmla="*/ 224 w 890"/>
                      <a:gd name="T29" fmla="*/ 469 h 2059"/>
                      <a:gd name="T30" fmla="*/ 221 w 890"/>
                      <a:gd name="T31" fmla="*/ 499 h 2059"/>
                      <a:gd name="T32" fmla="*/ 217 w 890"/>
                      <a:gd name="T33" fmla="*/ 541 h 2059"/>
                      <a:gd name="T34" fmla="*/ 209 w 890"/>
                      <a:gd name="T35" fmla="*/ 57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5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35 w 930"/>
                      <a:gd name="T3" fmla="*/ 23 h 2036"/>
                      <a:gd name="T4" fmla="*/ 59 w 930"/>
                      <a:gd name="T5" fmla="*/ 44 h 2036"/>
                      <a:gd name="T6" fmla="*/ 79 w 930"/>
                      <a:gd name="T7" fmla="*/ 62 h 2036"/>
                      <a:gd name="T8" fmla="*/ 109 w 930"/>
                      <a:gd name="T9" fmla="*/ 88 h 2036"/>
                      <a:gd name="T10" fmla="*/ 148 w 930"/>
                      <a:gd name="T11" fmla="*/ 124 h 2036"/>
                      <a:gd name="T12" fmla="*/ 188 w 930"/>
                      <a:gd name="T13" fmla="*/ 162 h 2036"/>
                      <a:gd name="T14" fmla="*/ 222 w 930"/>
                      <a:gd name="T15" fmla="*/ 201 h 2036"/>
                      <a:gd name="T16" fmla="*/ 239 w 930"/>
                      <a:gd name="T17" fmla="*/ 241 h 2036"/>
                      <a:gd name="T18" fmla="*/ 243 w 930"/>
                      <a:gd name="T19" fmla="*/ 277 h 2036"/>
                      <a:gd name="T20" fmla="*/ 244 w 930"/>
                      <a:gd name="T21" fmla="*/ 312 h 2036"/>
                      <a:gd name="T22" fmla="*/ 243 w 930"/>
                      <a:gd name="T23" fmla="*/ 350 h 2036"/>
                      <a:gd name="T24" fmla="*/ 236 w 930"/>
                      <a:gd name="T25" fmla="*/ 387 h 2036"/>
                      <a:gd name="T26" fmla="*/ 231 w 930"/>
                      <a:gd name="T27" fmla="*/ 422 h 2036"/>
                      <a:gd name="T28" fmla="*/ 224 w 930"/>
                      <a:gd name="T29" fmla="*/ 461 h 2036"/>
                      <a:gd name="T30" fmla="*/ 219 w 930"/>
                      <a:gd name="T31" fmla="*/ 497 h 2036"/>
                      <a:gd name="T32" fmla="*/ 210 w 930"/>
                      <a:gd name="T33" fmla="*/ 526 h 2036"/>
                      <a:gd name="T34" fmla="*/ 195 w 930"/>
                      <a:gd name="T35" fmla="*/ 567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6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31 w 952"/>
                      <a:gd name="T3" fmla="*/ 22 h 1986"/>
                      <a:gd name="T4" fmla="*/ 69 w 952"/>
                      <a:gd name="T5" fmla="*/ 51 h 1986"/>
                      <a:gd name="T6" fmla="*/ 102 w 952"/>
                      <a:gd name="T7" fmla="*/ 79 h 1986"/>
                      <a:gd name="T8" fmla="*/ 145 w 952"/>
                      <a:gd name="T9" fmla="*/ 117 h 1986"/>
                      <a:gd name="T10" fmla="*/ 187 w 952"/>
                      <a:gd name="T11" fmla="*/ 157 h 1986"/>
                      <a:gd name="T12" fmla="*/ 221 w 952"/>
                      <a:gd name="T13" fmla="*/ 192 h 1986"/>
                      <a:gd name="T14" fmla="*/ 243 w 952"/>
                      <a:gd name="T15" fmla="*/ 232 h 1986"/>
                      <a:gd name="T16" fmla="*/ 245 w 952"/>
                      <a:gd name="T17" fmla="*/ 266 h 1986"/>
                      <a:gd name="T18" fmla="*/ 249 w 952"/>
                      <a:gd name="T19" fmla="*/ 304 h 1986"/>
                      <a:gd name="T20" fmla="*/ 244 w 952"/>
                      <a:gd name="T21" fmla="*/ 340 h 1986"/>
                      <a:gd name="T22" fmla="*/ 235 w 952"/>
                      <a:gd name="T23" fmla="*/ 378 h 1986"/>
                      <a:gd name="T24" fmla="*/ 227 w 952"/>
                      <a:gd name="T25" fmla="*/ 417 h 1986"/>
                      <a:gd name="T26" fmla="*/ 217 w 952"/>
                      <a:gd name="T27" fmla="*/ 456 h 1986"/>
                      <a:gd name="T28" fmla="*/ 208 w 952"/>
                      <a:gd name="T29" fmla="*/ 492 h 1986"/>
                      <a:gd name="T30" fmla="*/ 194 w 952"/>
                      <a:gd name="T31" fmla="*/ 521 h 1986"/>
                      <a:gd name="T32" fmla="*/ 177 w 952"/>
                      <a:gd name="T33" fmla="*/ 554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7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24 w 107"/>
                      <a:gd name="T1" fmla="*/ 0 h 2101"/>
                      <a:gd name="T2" fmla="*/ 25 w 107"/>
                      <a:gd name="T3" fmla="*/ 17 h 2101"/>
                      <a:gd name="T4" fmla="*/ 26 w 107"/>
                      <a:gd name="T5" fmla="*/ 45 h 2101"/>
                      <a:gd name="T6" fmla="*/ 26 w 107"/>
                      <a:gd name="T7" fmla="*/ 78 h 2101"/>
                      <a:gd name="T8" fmla="*/ 27 w 107"/>
                      <a:gd name="T9" fmla="*/ 109 h 2101"/>
                      <a:gd name="T10" fmla="*/ 28 w 107"/>
                      <a:gd name="T11" fmla="*/ 142 h 2101"/>
                      <a:gd name="T12" fmla="*/ 28 w 107"/>
                      <a:gd name="T13" fmla="*/ 177 h 2101"/>
                      <a:gd name="T14" fmla="*/ 28 w 107"/>
                      <a:gd name="T15" fmla="*/ 219 h 2101"/>
                      <a:gd name="T16" fmla="*/ 28 w 107"/>
                      <a:gd name="T17" fmla="*/ 260 h 2101"/>
                      <a:gd name="T18" fmla="*/ 27 w 107"/>
                      <a:gd name="T19" fmla="*/ 289 h 2101"/>
                      <a:gd name="T20" fmla="*/ 26 w 107"/>
                      <a:gd name="T21" fmla="*/ 327 h 2101"/>
                      <a:gd name="T22" fmla="*/ 21 w 107"/>
                      <a:gd name="T23" fmla="*/ 362 h 2101"/>
                      <a:gd name="T24" fmla="*/ 20 w 107"/>
                      <a:gd name="T25" fmla="*/ 402 h 2101"/>
                      <a:gd name="T26" fmla="*/ 17 w 107"/>
                      <a:gd name="T27" fmla="*/ 442 h 2101"/>
                      <a:gd name="T28" fmla="*/ 13 w 107"/>
                      <a:gd name="T29" fmla="*/ 479 h 2101"/>
                      <a:gd name="T30" fmla="*/ 12 w 107"/>
                      <a:gd name="T31" fmla="*/ 513 h 2101"/>
                      <a:gd name="T32" fmla="*/ 7 w 107"/>
                      <a:gd name="T33" fmla="*/ 553 h 2101"/>
                      <a:gd name="T34" fmla="*/ 0 w 107"/>
                      <a:gd name="T35" fmla="*/ 586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8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19 w 204"/>
                      <a:gd name="T1" fmla="*/ 0 h 2106"/>
                      <a:gd name="T2" fmla="*/ 24 w 204"/>
                      <a:gd name="T3" fmla="*/ 16 h 2106"/>
                      <a:gd name="T4" fmla="*/ 29 w 204"/>
                      <a:gd name="T5" fmla="*/ 44 h 2106"/>
                      <a:gd name="T6" fmla="*/ 36 w 204"/>
                      <a:gd name="T7" fmla="*/ 76 h 2106"/>
                      <a:gd name="T8" fmla="*/ 40 w 204"/>
                      <a:gd name="T9" fmla="*/ 106 h 2106"/>
                      <a:gd name="T10" fmla="*/ 44 w 204"/>
                      <a:gd name="T11" fmla="*/ 141 h 2106"/>
                      <a:gd name="T12" fmla="*/ 49 w 204"/>
                      <a:gd name="T13" fmla="*/ 178 h 2106"/>
                      <a:gd name="T14" fmla="*/ 53 w 204"/>
                      <a:gd name="T15" fmla="*/ 220 h 2106"/>
                      <a:gd name="T16" fmla="*/ 54 w 204"/>
                      <a:gd name="T17" fmla="*/ 257 h 2106"/>
                      <a:gd name="T18" fmla="*/ 53 w 204"/>
                      <a:gd name="T19" fmla="*/ 295 h 2106"/>
                      <a:gd name="T20" fmla="*/ 48 w 204"/>
                      <a:gd name="T21" fmla="*/ 332 h 2106"/>
                      <a:gd name="T22" fmla="*/ 44 w 204"/>
                      <a:gd name="T23" fmla="*/ 369 h 2106"/>
                      <a:gd name="T24" fmla="*/ 40 w 204"/>
                      <a:gd name="T25" fmla="*/ 406 h 2106"/>
                      <a:gd name="T26" fmla="*/ 33 w 204"/>
                      <a:gd name="T27" fmla="*/ 445 h 2106"/>
                      <a:gd name="T28" fmla="*/ 26 w 204"/>
                      <a:gd name="T29" fmla="*/ 483 h 2106"/>
                      <a:gd name="T30" fmla="*/ 19 w 204"/>
                      <a:gd name="T31" fmla="*/ 518 h 2106"/>
                      <a:gd name="T32" fmla="*/ 10 w 204"/>
                      <a:gd name="T33" fmla="*/ 555 h 2106"/>
                      <a:gd name="T34" fmla="*/ 0 w 204"/>
                      <a:gd name="T35" fmla="*/ 588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49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18 w 285"/>
                      <a:gd name="T1" fmla="*/ 0 h 2110"/>
                      <a:gd name="T2" fmla="*/ 27 w 285"/>
                      <a:gd name="T3" fmla="*/ 20 h 2110"/>
                      <a:gd name="T4" fmla="*/ 37 w 285"/>
                      <a:gd name="T5" fmla="*/ 44 h 2110"/>
                      <a:gd name="T6" fmla="*/ 48 w 285"/>
                      <a:gd name="T7" fmla="*/ 76 h 2110"/>
                      <a:gd name="T8" fmla="*/ 58 w 285"/>
                      <a:gd name="T9" fmla="*/ 111 h 2110"/>
                      <a:gd name="T10" fmla="*/ 63 w 285"/>
                      <a:gd name="T11" fmla="*/ 145 h 2110"/>
                      <a:gd name="T12" fmla="*/ 68 w 285"/>
                      <a:gd name="T13" fmla="*/ 179 h 2110"/>
                      <a:gd name="T14" fmla="*/ 72 w 285"/>
                      <a:gd name="T15" fmla="*/ 223 h 2110"/>
                      <a:gd name="T16" fmla="*/ 74 w 285"/>
                      <a:gd name="T17" fmla="*/ 260 h 2110"/>
                      <a:gd name="T18" fmla="*/ 74 w 285"/>
                      <a:gd name="T19" fmla="*/ 298 h 2110"/>
                      <a:gd name="T20" fmla="*/ 71 w 285"/>
                      <a:gd name="T21" fmla="*/ 332 h 2110"/>
                      <a:gd name="T22" fmla="*/ 67 w 285"/>
                      <a:gd name="T23" fmla="*/ 368 h 2110"/>
                      <a:gd name="T24" fmla="*/ 60 w 285"/>
                      <a:gd name="T25" fmla="*/ 405 h 2110"/>
                      <a:gd name="T26" fmla="*/ 51 w 285"/>
                      <a:gd name="T27" fmla="*/ 445 h 2110"/>
                      <a:gd name="T28" fmla="*/ 41 w 285"/>
                      <a:gd name="T29" fmla="*/ 485 h 2110"/>
                      <a:gd name="T30" fmla="*/ 31 w 285"/>
                      <a:gd name="T31" fmla="*/ 518 h 2110"/>
                      <a:gd name="T32" fmla="*/ 18 w 285"/>
                      <a:gd name="T33" fmla="*/ 554 h 2110"/>
                      <a:gd name="T34" fmla="*/ 0 w 285"/>
                      <a:gd name="T35" fmla="*/ 589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0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7 w 355"/>
                      <a:gd name="T1" fmla="*/ 0 h 2091"/>
                      <a:gd name="T2" fmla="*/ 21 w 355"/>
                      <a:gd name="T3" fmla="*/ 19 h 2091"/>
                      <a:gd name="T4" fmla="*/ 37 w 355"/>
                      <a:gd name="T5" fmla="*/ 49 h 2091"/>
                      <a:gd name="T6" fmla="*/ 49 w 355"/>
                      <a:gd name="T7" fmla="*/ 71 h 2091"/>
                      <a:gd name="T8" fmla="*/ 61 w 355"/>
                      <a:gd name="T9" fmla="*/ 100 h 2091"/>
                      <a:gd name="T10" fmla="*/ 74 w 355"/>
                      <a:gd name="T11" fmla="*/ 136 h 2091"/>
                      <a:gd name="T12" fmla="*/ 82 w 355"/>
                      <a:gd name="T13" fmla="*/ 179 h 2091"/>
                      <a:gd name="T14" fmla="*/ 89 w 355"/>
                      <a:gd name="T15" fmla="*/ 225 h 2091"/>
                      <a:gd name="T16" fmla="*/ 93 w 355"/>
                      <a:gd name="T17" fmla="*/ 260 h 2091"/>
                      <a:gd name="T18" fmla="*/ 94 w 355"/>
                      <a:gd name="T19" fmla="*/ 296 h 2091"/>
                      <a:gd name="T20" fmla="*/ 88 w 355"/>
                      <a:gd name="T21" fmla="*/ 335 h 2091"/>
                      <a:gd name="T22" fmla="*/ 83 w 355"/>
                      <a:gd name="T23" fmla="*/ 369 h 2091"/>
                      <a:gd name="T24" fmla="*/ 74 w 355"/>
                      <a:gd name="T25" fmla="*/ 408 h 2091"/>
                      <a:gd name="T26" fmla="*/ 61 w 355"/>
                      <a:gd name="T27" fmla="*/ 444 h 2091"/>
                      <a:gd name="T28" fmla="*/ 48 w 355"/>
                      <a:gd name="T29" fmla="*/ 485 h 2091"/>
                      <a:gd name="T30" fmla="*/ 34 w 355"/>
                      <a:gd name="T31" fmla="*/ 518 h 2091"/>
                      <a:gd name="T32" fmla="*/ 17 w 355"/>
                      <a:gd name="T33" fmla="*/ 550 h 2091"/>
                      <a:gd name="T34" fmla="*/ 0 w 355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1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2 w 432"/>
                      <a:gd name="T1" fmla="*/ 0 h 2072"/>
                      <a:gd name="T2" fmla="*/ 19 w 432"/>
                      <a:gd name="T3" fmla="*/ 20 h 2072"/>
                      <a:gd name="T4" fmla="*/ 37 w 432"/>
                      <a:gd name="T5" fmla="*/ 46 h 2072"/>
                      <a:gd name="T6" fmla="*/ 52 w 432"/>
                      <a:gd name="T7" fmla="*/ 75 h 2072"/>
                      <a:gd name="T8" fmla="*/ 66 w 432"/>
                      <a:gd name="T9" fmla="*/ 101 h 2072"/>
                      <a:gd name="T10" fmla="*/ 82 w 432"/>
                      <a:gd name="T11" fmla="*/ 138 h 2072"/>
                      <a:gd name="T12" fmla="*/ 95 w 432"/>
                      <a:gd name="T13" fmla="*/ 178 h 2072"/>
                      <a:gd name="T14" fmla="*/ 108 w 432"/>
                      <a:gd name="T15" fmla="*/ 225 h 2072"/>
                      <a:gd name="T16" fmla="*/ 111 w 432"/>
                      <a:gd name="T17" fmla="*/ 261 h 2072"/>
                      <a:gd name="T18" fmla="*/ 113 w 432"/>
                      <a:gd name="T19" fmla="*/ 295 h 2072"/>
                      <a:gd name="T20" fmla="*/ 108 w 432"/>
                      <a:gd name="T21" fmla="*/ 332 h 2072"/>
                      <a:gd name="T22" fmla="*/ 100 w 432"/>
                      <a:gd name="T23" fmla="*/ 369 h 2072"/>
                      <a:gd name="T24" fmla="*/ 87 w 432"/>
                      <a:gd name="T25" fmla="*/ 411 h 2072"/>
                      <a:gd name="T26" fmla="*/ 70 w 432"/>
                      <a:gd name="T27" fmla="*/ 451 h 2072"/>
                      <a:gd name="T28" fmla="*/ 54 w 432"/>
                      <a:gd name="T29" fmla="*/ 487 h 2072"/>
                      <a:gd name="T30" fmla="*/ 36 w 432"/>
                      <a:gd name="T31" fmla="*/ 522 h 2072"/>
                      <a:gd name="T32" fmla="*/ 18 w 432"/>
                      <a:gd name="T33" fmla="*/ 554 h 2072"/>
                      <a:gd name="T34" fmla="*/ 0 w 432"/>
                      <a:gd name="T35" fmla="*/ 578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2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26 w 516"/>
                      <a:gd name="T3" fmla="*/ 26 h 1261"/>
                      <a:gd name="T4" fmla="*/ 47 w 516"/>
                      <a:gd name="T5" fmla="*/ 52 h 1261"/>
                      <a:gd name="T6" fmla="*/ 68 w 516"/>
                      <a:gd name="T7" fmla="*/ 77 h 1261"/>
                      <a:gd name="T8" fmla="*/ 89 w 516"/>
                      <a:gd name="T9" fmla="*/ 107 h 1261"/>
                      <a:gd name="T10" fmla="*/ 105 w 516"/>
                      <a:gd name="T11" fmla="*/ 141 h 1261"/>
                      <a:gd name="T12" fmla="*/ 119 w 516"/>
                      <a:gd name="T13" fmla="*/ 178 h 1261"/>
                      <a:gd name="T14" fmla="*/ 130 w 516"/>
                      <a:gd name="T15" fmla="*/ 225 h 1261"/>
                      <a:gd name="T16" fmla="*/ 135 w 516"/>
                      <a:gd name="T17" fmla="*/ 262 h 1261"/>
                      <a:gd name="T18" fmla="*/ 134 w 516"/>
                      <a:gd name="T19" fmla="*/ 297 h 1261"/>
                      <a:gd name="T20" fmla="*/ 128 w 516"/>
                      <a:gd name="T21" fmla="*/ 351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3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25 w 1064"/>
                      <a:gd name="T3" fmla="*/ 19 h 2091"/>
                      <a:gd name="T4" fmla="*/ 48 w 1064"/>
                      <a:gd name="T5" fmla="*/ 40 h 2091"/>
                      <a:gd name="T6" fmla="*/ 79 w 1064"/>
                      <a:gd name="T7" fmla="*/ 77 h 2091"/>
                      <a:gd name="T8" fmla="*/ 101 w 1064"/>
                      <a:gd name="T9" fmla="*/ 110 h 2091"/>
                      <a:gd name="T10" fmla="*/ 122 w 1064"/>
                      <a:gd name="T11" fmla="*/ 146 h 2091"/>
                      <a:gd name="T12" fmla="*/ 137 w 1064"/>
                      <a:gd name="T13" fmla="*/ 184 h 2091"/>
                      <a:gd name="T14" fmla="*/ 149 w 1064"/>
                      <a:gd name="T15" fmla="*/ 222 h 2091"/>
                      <a:gd name="T16" fmla="*/ 156 w 1064"/>
                      <a:gd name="T17" fmla="*/ 261 h 2091"/>
                      <a:gd name="T18" fmla="*/ 157 w 1064"/>
                      <a:gd name="T19" fmla="*/ 293 h 2091"/>
                      <a:gd name="T20" fmla="*/ 160 w 1064"/>
                      <a:gd name="T21" fmla="*/ 330 h 2091"/>
                      <a:gd name="T22" fmla="*/ 167 w 1064"/>
                      <a:gd name="T23" fmla="*/ 367 h 2091"/>
                      <a:gd name="T24" fmla="*/ 179 w 1064"/>
                      <a:gd name="T25" fmla="*/ 406 h 2091"/>
                      <a:gd name="T26" fmla="*/ 196 w 1064"/>
                      <a:gd name="T27" fmla="*/ 446 h 2091"/>
                      <a:gd name="T28" fmla="*/ 211 w 1064"/>
                      <a:gd name="T29" fmla="*/ 482 h 2091"/>
                      <a:gd name="T30" fmla="*/ 230 w 1064"/>
                      <a:gd name="T31" fmla="*/ 514 h 2091"/>
                      <a:gd name="T32" fmla="*/ 253 w 1064"/>
                      <a:gd name="T33" fmla="*/ 551 h 2091"/>
                      <a:gd name="T34" fmla="*/ 279 w 1064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4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36 w 1064"/>
                      <a:gd name="T3" fmla="*/ 25 h 2097"/>
                      <a:gd name="T4" fmla="*/ 63 w 1064"/>
                      <a:gd name="T5" fmla="*/ 51 h 2097"/>
                      <a:gd name="T6" fmla="*/ 94 w 1064"/>
                      <a:gd name="T7" fmla="*/ 87 h 2097"/>
                      <a:gd name="T8" fmla="*/ 116 w 1064"/>
                      <a:gd name="T9" fmla="*/ 117 h 2097"/>
                      <a:gd name="T10" fmla="*/ 138 w 1064"/>
                      <a:gd name="T11" fmla="*/ 155 h 2097"/>
                      <a:gd name="T12" fmla="*/ 154 w 1064"/>
                      <a:gd name="T13" fmla="*/ 191 h 2097"/>
                      <a:gd name="T14" fmla="*/ 166 w 1064"/>
                      <a:gd name="T15" fmla="*/ 229 h 2097"/>
                      <a:gd name="T16" fmla="*/ 172 w 1064"/>
                      <a:gd name="T17" fmla="*/ 268 h 2097"/>
                      <a:gd name="T18" fmla="*/ 173 w 1064"/>
                      <a:gd name="T19" fmla="*/ 300 h 2097"/>
                      <a:gd name="T20" fmla="*/ 176 w 1064"/>
                      <a:gd name="T21" fmla="*/ 337 h 2097"/>
                      <a:gd name="T22" fmla="*/ 183 w 1064"/>
                      <a:gd name="T23" fmla="*/ 374 h 2097"/>
                      <a:gd name="T24" fmla="*/ 195 w 1064"/>
                      <a:gd name="T25" fmla="*/ 413 h 2097"/>
                      <a:gd name="T26" fmla="*/ 205 w 1064"/>
                      <a:gd name="T27" fmla="*/ 447 h 2097"/>
                      <a:gd name="T28" fmla="*/ 219 w 1064"/>
                      <a:gd name="T29" fmla="*/ 483 h 2097"/>
                      <a:gd name="T30" fmla="*/ 231 w 1064"/>
                      <a:gd name="T31" fmla="*/ 516 h 2097"/>
                      <a:gd name="T32" fmla="*/ 249 w 1064"/>
                      <a:gd name="T33" fmla="*/ 546 h 2097"/>
                      <a:gd name="T34" fmla="*/ 278 w 1064"/>
                      <a:gd name="T35" fmla="*/ 585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5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219 w 836"/>
                      <a:gd name="T1" fmla="*/ 0 h 2087"/>
                      <a:gd name="T2" fmla="*/ 195 w 836"/>
                      <a:gd name="T3" fmla="*/ 29 h 2087"/>
                      <a:gd name="T4" fmla="*/ 168 w 836"/>
                      <a:gd name="T5" fmla="*/ 67 h 2087"/>
                      <a:gd name="T6" fmla="*/ 148 w 836"/>
                      <a:gd name="T7" fmla="*/ 100 h 2087"/>
                      <a:gd name="T8" fmla="*/ 128 w 836"/>
                      <a:gd name="T9" fmla="*/ 138 h 2087"/>
                      <a:gd name="T10" fmla="*/ 113 w 836"/>
                      <a:gd name="T11" fmla="*/ 172 h 2087"/>
                      <a:gd name="T12" fmla="*/ 95 w 836"/>
                      <a:gd name="T13" fmla="*/ 212 h 2087"/>
                      <a:gd name="T14" fmla="*/ 85 w 836"/>
                      <a:gd name="T15" fmla="*/ 250 h 2087"/>
                      <a:gd name="T16" fmla="*/ 81 w 836"/>
                      <a:gd name="T17" fmla="*/ 283 h 2087"/>
                      <a:gd name="T18" fmla="*/ 76 w 836"/>
                      <a:gd name="T19" fmla="*/ 321 h 2087"/>
                      <a:gd name="T20" fmla="*/ 71 w 836"/>
                      <a:gd name="T21" fmla="*/ 359 h 2087"/>
                      <a:gd name="T22" fmla="*/ 62 w 836"/>
                      <a:gd name="T23" fmla="*/ 399 h 2087"/>
                      <a:gd name="T24" fmla="*/ 54 w 836"/>
                      <a:gd name="T25" fmla="*/ 435 h 2087"/>
                      <a:gd name="T26" fmla="*/ 45 w 836"/>
                      <a:gd name="T27" fmla="*/ 474 h 2087"/>
                      <a:gd name="T28" fmla="*/ 36 w 836"/>
                      <a:gd name="T29" fmla="*/ 507 h 2087"/>
                      <a:gd name="T30" fmla="*/ 25 w 836"/>
                      <a:gd name="T31" fmla="*/ 534 h 2087"/>
                      <a:gd name="T32" fmla="*/ 13 w 836"/>
                      <a:gd name="T33" fmla="*/ 556 h 2087"/>
                      <a:gd name="T34" fmla="*/ 0 w 836"/>
                      <a:gd name="T35" fmla="*/ 582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6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26 w 480"/>
                      <a:gd name="T1" fmla="*/ 0 h 1214"/>
                      <a:gd name="T2" fmla="*/ 93 w 480"/>
                      <a:gd name="T3" fmla="*/ 44 h 1214"/>
                      <a:gd name="T4" fmla="*/ 72 w 480"/>
                      <a:gd name="T5" fmla="*/ 76 h 1214"/>
                      <a:gd name="T6" fmla="*/ 58 w 480"/>
                      <a:gd name="T7" fmla="*/ 107 h 1214"/>
                      <a:gd name="T8" fmla="*/ 41 w 480"/>
                      <a:gd name="T9" fmla="*/ 144 h 1214"/>
                      <a:gd name="T10" fmla="*/ 25 w 480"/>
                      <a:gd name="T11" fmla="*/ 183 h 1214"/>
                      <a:gd name="T12" fmla="*/ 13 w 480"/>
                      <a:gd name="T13" fmla="*/ 220 h 1214"/>
                      <a:gd name="T14" fmla="*/ 4 w 480"/>
                      <a:gd name="T15" fmla="*/ 259 h 1214"/>
                      <a:gd name="T16" fmla="*/ 1 w 480"/>
                      <a:gd name="T17" fmla="*/ 288 h 1214"/>
                      <a:gd name="T18" fmla="*/ 0 w 480"/>
                      <a:gd name="T19" fmla="*/ 339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7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02 w 392"/>
                      <a:gd name="T1" fmla="*/ 0 h 2102"/>
                      <a:gd name="T2" fmla="*/ 91 w 392"/>
                      <a:gd name="T3" fmla="*/ 16 h 2102"/>
                      <a:gd name="T4" fmla="*/ 74 w 392"/>
                      <a:gd name="T5" fmla="*/ 44 h 2102"/>
                      <a:gd name="T6" fmla="*/ 57 w 392"/>
                      <a:gd name="T7" fmla="*/ 75 h 2102"/>
                      <a:gd name="T8" fmla="*/ 42 w 392"/>
                      <a:gd name="T9" fmla="*/ 109 h 2102"/>
                      <a:gd name="T10" fmla="*/ 29 w 392"/>
                      <a:gd name="T11" fmla="*/ 147 h 2102"/>
                      <a:gd name="T12" fmla="*/ 17 w 392"/>
                      <a:gd name="T13" fmla="*/ 185 h 2102"/>
                      <a:gd name="T14" fmla="*/ 7 w 392"/>
                      <a:gd name="T15" fmla="*/ 220 h 2102"/>
                      <a:gd name="T16" fmla="*/ 2 w 392"/>
                      <a:gd name="T17" fmla="*/ 255 h 2102"/>
                      <a:gd name="T18" fmla="*/ 0 w 392"/>
                      <a:gd name="T19" fmla="*/ 293 h 2102"/>
                      <a:gd name="T20" fmla="*/ 1 w 392"/>
                      <a:gd name="T21" fmla="*/ 330 h 2102"/>
                      <a:gd name="T22" fmla="*/ 4 w 392"/>
                      <a:gd name="T23" fmla="*/ 365 h 2102"/>
                      <a:gd name="T24" fmla="*/ 13 w 392"/>
                      <a:gd name="T25" fmla="*/ 407 h 2102"/>
                      <a:gd name="T26" fmla="*/ 21 w 392"/>
                      <a:gd name="T27" fmla="*/ 444 h 2102"/>
                      <a:gd name="T28" fmla="*/ 29 w 392"/>
                      <a:gd name="T29" fmla="*/ 486 h 2102"/>
                      <a:gd name="T30" fmla="*/ 42 w 392"/>
                      <a:gd name="T31" fmla="*/ 519 h 2102"/>
                      <a:gd name="T32" fmla="*/ 51 w 392"/>
                      <a:gd name="T33" fmla="*/ 545 h 2102"/>
                      <a:gd name="T34" fmla="*/ 69 w 392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8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82 w 311"/>
                      <a:gd name="T1" fmla="*/ 0 h 2102"/>
                      <a:gd name="T2" fmla="*/ 73 w 311"/>
                      <a:gd name="T3" fmla="*/ 16 h 2102"/>
                      <a:gd name="T4" fmla="*/ 59 w 311"/>
                      <a:gd name="T5" fmla="*/ 44 h 2102"/>
                      <a:gd name="T6" fmla="*/ 41 w 311"/>
                      <a:gd name="T7" fmla="*/ 79 h 2102"/>
                      <a:gd name="T8" fmla="*/ 32 w 311"/>
                      <a:gd name="T9" fmla="*/ 111 h 2102"/>
                      <a:gd name="T10" fmla="*/ 22 w 311"/>
                      <a:gd name="T11" fmla="*/ 148 h 2102"/>
                      <a:gd name="T12" fmla="*/ 13 w 311"/>
                      <a:gd name="T13" fmla="*/ 181 h 2102"/>
                      <a:gd name="T14" fmla="*/ 7 w 311"/>
                      <a:gd name="T15" fmla="*/ 217 h 2102"/>
                      <a:gd name="T16" fmla="*/ 2 w 311"/>
                      <a:gd name="T17" fmla="*/ 253 h 2102"/>
                      <a:gd name="T18" fmla="*/ 0 w 311"/>
                      <a:gd name="T19" fmla="*/ 293 h 2102"/>
                      <a:gd name="T20" fmla="*/ 0 w 311"/>
                      <a:gd name="T21" fmla="*/ 327 h 2102"/>
                      <a:gd name="T22" fmla="*/ 3 w 311"/>
                      <a:gd name="T23" fmla="*/ 367 h 2102"/>
                      <a:gd name="T24" fmla="*/ 9 w 311"/>
                      <a:gd name="T25" fmla="*/ 407 h 2102"/>
                      <a:gd name="T26" fmla="*/ 15 w 311"/>
                      <a:gd name="T27" fmla="*/ 444 h 2102"/>
                      <a:gd name="T28" fmla="*/ 19 w 311"/>
                      <a:gd name="T29" fmla="*/ 483 h 2102"/>
                      <a:gd name="T30" fmla="*/ 27 w 311"/>
                      <a:gd name="T31" fmla="*/ 516 h 2102"/>
                      <a:gd name="T32" fmla="*/ 35 w 311"/>
                      <a:gd name="T33" fmla="*/ 545 h 2102"/>
                      <a:gd name="T34" fmla="*/ 46 w 311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59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53 w 204"/>
                      <a:gd name="T1" fmla="*/ 0 h 2097"/>
                      <a:gd name="T2" fmla="*/ 45 w 204"/>
                      <a:gd name="T3" fmla="*/ 16 h 2097"/>
                      <a:gd name="T4" fmla="*/ 36 w 204"/>
                      <a:gd name="T5" fmla="*/ 45 h 2097"/>
                      <a:gd name="T6" fmla="*/ 26 w 204"/>
                      <a:gd name="T7" fmla="*/ 77 h 2097"/>
                      <a:gd name="T8" fmla="*/ 21 w 204"/>
                      <a:gd name="T9" fmla="*/ 107 h 2097"/>
                      <a:gd name="T10" fmla="*/ 15 w 204"/>
                      <a:gd name="T11" fmla="*/ 147 h 2097"/>
                      <a:gd name="T12" fmla="*/ 10 w 204"/>
                      <a:gd name="T13" fmla="*/ 186 h 2097"/>
                      <a:gd name="T14" fmla="*/ 7 w 204"/>
                      <a:gd name="T15" fmla="*/ 215 h 2097"/>
                      <a:gd name="T16" fmla="*/ 3 w 204"/>
                      <a:gd name="T17" fmla="*/ 252 h 2097"/>
                      <a:gd name="T18" fmla="*/ 0 w 204"/>
                      <a:gd name="T19" fmla="*/ 292 h 2097"/>
                      <a:gd name="T20" fmla="*/ 0 w 204"/>
                      <a:gd name="T21" fmla="*/ 330 h 2097"/>
                      <a:gd name="T22" fmla="*/ 0 w 204"/>
                      <a:gd name="T23" fmla="*/ 364 h 2097"/>
                      <a:gd name="T24" fmla="*/ 2 w 204"/>
                      <a:gd name="T25" fmla="*/ 401 h 2097"/>
                      <a:gd name="T26" fmla="*/ 4 w 204"/>
                      <a:gd name="T27" fmla="*/ 442 h 2097"/>
                      <a:gd name="T28" fmla="*/ 8 w 204"/>
                      <a:gd name="T29" fmla="*/ 478 h 2097"/>
                      <a:gd name="T30" fmla="*/ 14 w 204"/>
                      <a:gd name="T31" fmla="*/ 517 h 2097"/>
                      <a:gd name="T32" fmla="*/ 16 w 204"/>
                      <a:gd name="T33" fmla="*/ 545 h 2097"/>
                      <a:gd name="T34" fmla="*/ 19 w 204"/>
                      <a:gd name="T35" fmla="*/ 586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0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32 w 120"/>
                      <a:gd name="T1" fmla="*/ 0 h 2111"/>
                      <a:gd name="T2" fmla="*/ 26 w 120"/>
                      <a:gd name="T3" fmla="*/ 18 h 2111"/>
                      <a:gd name="T4" fmla="*/ 19 w 120"/>
                      <a:gd name="T5" fmla="*/ 46 h 2111"/>
                      <a:gd name="T6" fmla="*/ 14 w 120"/>
                      <a:gd name="T7" fmla="*/ 78 h 2111"/>
                      <a:gd name="T8" fmla="*/ 12 w 120"/>
                      <a:gd name="T9" fmla="*/ 107 h 2111"/>
                      <a:gd name="T10" fmla="*/ 12 w 120"/>
                      <a:gd name="T11" fmla="*/ 142 h 2111"/>
                      <a:gd name="T12" fmla="*/ 9 w 120"/>
                      <a:gd name="T13" fmla="*/ 178 h 2111"/>
                      <a:gd name="T14" fmla="*/ 9 w 120"/>
                      <a:gd name="T15" fmla="*/ 215 h 2111"/>
                      <a:gd name="T16" fmla="*/ 8 w 120"/>
                      <a:gd name="T17" fmla="*/ 249 h 2111"/>
                      <a:gd name="T18" fmla="*/ 7 w 120"/>
                      <a:gd name="T19" fmla="*/ 287 h 2111"/>
                      <a:gd name="T20" fmla="*/ 6 w 120"/>
                      <a:gd name="T21" fmla="*/ 328 h 2111"/>
                      <a:gd name="T22" fmla="*/ 3 w 120"/>
                      <a:gd name="T23" fmla="*/ 365 h 2111"/>
                      <a:gd name="T24" fmla="*/ 3 w 120"/>
                      <a:gd name="T25" fmla="*/ 403 h 2111"/>
                      <a:gd name="T26" fmla="*/ 3 w 120"/>
                      <a:gd name="T27" fmla="*/ 442 h 2111"/>
                      <a:gd name="T28" fmla="*/ 2 w 120"/>
                      <a:gd name="T29" fmla="*/ 480 h 2111"/>
                      <a:gd name="T30" fmla="*/ 3 w 120"/>
                      <a:gd name="T31" fmla="*/ 514 h 2111"/>
                      <a:gd name="T32" fmla="*/ 2 w 120"/>
                      <a:gd name="T33" fmla="*/ 547 h 2111"/>
                      <a:gd name="T34" fmla="*/ 0 w 120"/>
                      <a:gd name="T35" fmla="*/ 589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1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4 w 383"/>
                      <a:gd name="T3" fmla="*/ 15 h 2088"/>
                      <a:gd name="T4" fmla="*/ 8 w 383"/>
                      <a:gd name="T5" fmla="*/ 45 h 2088"/>
                      <a:gd name="T6" fmla="*/ 12 w 383"/>
                      <a:gd name="T7" fmla="*/ 77 h 2088"/>
                      <a:gd name="T8" fmla="*/ 19 w 383"/>
                      <a:gd name="T9" fmla="*/ 119 h 2088"/>
                      <a:gd name="T10" fmla="*/ 22 w 383"/>
                      <a:gd name="T11" fmla="*/ 180 h 2088"/>
                      <a:gd name="T12" fmla="*/ 25 w 383"/>
                      <a:gd name="T13" fmla="*/ 217 h 2088"/>
                      <a:gd name="T14" fmla="*/ 26 w 383"/>
                      <a:gd name="T15" fmla="*/ 253 h 2088"/>
                      <a:gd name="T16" fmla="*/ 27 w 383"/>
                      <a:gd name="T17" fmla="*/ 288 h 2088"/>
                      <a:gd name="T18" fmla="*/ 30 w 383"/>
                      <a:gd name="T19" fmla="*/ 326 h 2088"/>
                      <a:gd name="T20" fmla="*/ 33 w 383"/>
                      <a:gd name="T21" fmla="*/ 363 h 2088"/>
                      <a:gd name="T22" fmla="*/ 39 w 383"/>
                      <a:gd name="T23" fmla="*/ 402 h 2088"/>
                      <a:gd name="T24" fmla="*/ 48 w 383"/>
                      <a:gd name="T25" fmla="*/ 442 h 2088"/>
                      <a:gd name="T26" fmla="*/ 57 w 383"/>
                      <a:gd name="T27" fmla="*/ 483 h 2088"/>
                      <a:gd name="T28" fmla="*/ 66 w 383"/>
                      <a:gd name="T29" fmla="*/ 514 h 2088"/>
                      <a:gd name="T30" fmla="*/ 79 w 383"/>
                      <a:gd name="T31" fmla="*/ 545 h 2088"/>
                      <a:gd name="T32" fmla="*/ 100 w 383"/>
                      <a:gd name="T33" fmla="*/ 58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2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12 w 423"/>
                      <a:gd name="T3" fmla="*/ 21 h 2111"/>
                      <a:gd name="T4" fmla="*/ 22 w 423"/>
                      <a:gd name="T5" fmla="*/ 41 h 2111"/>
                      <a:gd name="T6" fmla="*/ 31 w 423"/>
                      <a:gd name="T7" fmla="*/ 73 h 2111"/>
                      <a:gd name="T8" fmla="*/ 46 w 423"/>
                      <a:gd name="T9" fmla="*/ 142 h 2111"/>
                      <a:gd name="T10" fmla="*/ 49 w 423"/>
                      <a:gd name="T11" fmla="*/ 177 h 2111"/>
                      <a:gd name="T12" fmla="*/ 53 w 423"/>
                      <a:gd name="T13" fmla="*/ 215 h 2111"/>
                      <a:gd name="T14" fmla="*/ 56 w 423"/>
                      <a:gd name="T15" fmla="*/ 254 h 2111"/>
                      <a:gd name="T16" fmla="*/ 59 w 423"/>
                      <a:gd name="T17" fmla="*/ 291 h 2111"/>
                      <a:gd name="T18" fmla="*/ 59 w 423"/>
                      <a:gd name="T19" fmla="*/ 324 h 2111"/>
                      <a:gd name="T20" fmla="*/ 62 w 423"/>
                      <a:gd name="T21" fmla="*/ 363 h 2111"/>
                      <a:gd name="T22" fmla="*/ 66 w 423"/>
                      <a:gd name="T23" fmla="*/ 403 h 2111"/>
                      <a:gd name="T24" fmla="*/ 71 w 423"/>
                      <a:gd name="T25" fmla="*/ 442 h 2111"/>
                      <a:gd name="T26" fmla="*/ 76 w 423"/>
                      <a:gd name="T27" fmla="*/ 477 h 2111"/>
                      <a:gd name="T28" fmla="*/ 83 w 423"/>
                      <a:gd name="T29" fmla="*/ 515 h 2111"/>
                      <a:gd name="T30" fmla="*/ 92 w 423"/>
                      <a:gd name="T31" fmla="*/ 542 h 2111"/>
                      <a:gd name="T32" fmla="*/ 111 w 423"/>
                      <a:gd name="T33" fmla="*/ 589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3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14 w 419"/>
                      <a:gd name="T3" fmla="*/ 23 h 2101"/>
                      <a:gd name="T4" fmla="*/ 28 w 419"/>
                      <a:gd name="T5" fmla="*/ 49 h 2101"/>
                      <a:gd name="T6" fmla="*/ 40 w 419"/>
                      <a:gd name="T7" fmla="*/ 77 h 2101"/>
                      <a:gd name="T8" fmla="*/ 51 w 419"/>
                      <a:gd name="T9" fmla="*/ 104 h 2101"/>
                      <a:gd name="T10" fmla="*/ 59 w 419"/>
                      <a:gd name="T11" fmla="*/ 136 h 2101"/>
                      <a:gd name="T12" fmla="*/ 68 w 419"/>
                      <a:gd name="T13" fmla="*/ 183 h 2101"/>
                      <a:gd name="T14" fmla="*/ 74 w 419"/>
                      <a:gd name="T15" fmla="*/ 220 h 2101"/>
                      <a:gd name="T16" fmla="*/ 79 w 419"/>
                      <a:gd name="T17" fmla="*/ 247 h 2101"/>
                      <a:gd name="T18" fmla="*/ 83 w 419"/>
                      <a:gd name="T19" fmla="*/ 290 h 2101"/>
                      <a:gd name="T20" fmla="*/ 83 w 419"/>
                      <a:gd name="T21" fmla="*/ 324 h 2101"/>
                      <a:gd name="T22" fmla="*/ 82 w 419"/>
                      <a:gd name="T23" fmla="*/ 366 h 2101"/>
                      <a:gd name="T24" fmla="*/ 85 w 419"/>
                      <a:gd name="T25" fmla="*/ 402 h 2101"/>
                      <a:gd name="T26" fmla="*/ 85 w 419"/>
                      <a:gd name="T27" fmla="*/ 438 h 2101"/>
                      <a:gd name="T28" fmla="*/ 87 w 419"/>
                      <a:gd name="T29" fmla="*/ 476 h 2101"/>
                      <a:gd name="T30" fmla="*/ 90 w 419"/>
                      <a:gd name="T31" fmla="*/ 510 h 2101"/>
                      <a:gd name="T32" fmla="*/ 96 w 419"/>
                      <a:gd name="T33" fmla="*/ 540 h 2101"/>
                      <a:gd name="T34" fmla="*/ 102 w 419"/>
                      <a:gd name="T35" fmla="*/ 565 h 2101"/>
                      <a:gd name="T36" fmla="*/ 110 w 419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4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17 w 410"/>
                      <a:gd name="T3" fmla="*/ 18 h 2101"/>
                      <a:gd name="T4" fmla="*/ 31 w 410"/>
                      <a:gd name="T5" fmla="*/ 38 h 2101"/>
                      <a:gd name="T6" fmla="*/ 49 w 410"/>
                      <a:gd name="T7" fmla="*/ 70 h 2101"/>
                      <a:gd name="T8" fmla="*/ 62 w 410"/>
                      <a:gd name="T9" fmla="*/ 102 h 2101"/>
                      <a:gd name="T10" fmla="*/ 76 w 410"/>
                      <a:gd name="T11" fmla="*/ 139 h 2101"/>
                      <a:gd name="T12" fmla="*/ 88 w 410"/>
                      <a:gd name="T13" fmla="*/ 176 h 2101"/>
                      <a:gd name="T14" fmla="*/ 96 w 410"/>
                      <a:gd name="T15" fmla="*/ 216 h 2101"/>
                      <a:gd name="T16" fmla="*/ 102 w 410"/>
                      <a:gd name="T17" fmla="*/ 251 h 2101"/>
                      <a:gd name="T18" fmla="*/ 104 w 410"/>
                      <a:gd name="T19" fmla="*/ 287 h 2101"/>
                      <a:gd name="T20" fmla="*/ 104 w 410"/>
                      <a:gd name="T21" fmla="*/ 320 h 2101"/>
                      <a:gd name="T22" fmla="*/ 104 w 410"/>
                      <a:gd name="T23" fmla="*/ 363 h 2101"/>
                      <a:gd name="T24" fmla="*/ 104 w 410"/>
                      <a:gd name="T25" fmla="*/ 399 h 2101"/>
                      <a:gd name="T26" fmla="*/ 103 w 410"/>
                      <a:gd name="T27" fmla="*/ 438 h 2101"/>
                      <a:gd name="T28" fmla="*/ 102 w 410"/>
                      <a:gd name="T29" fmla="*/ 476 h 2101"/>
                      <a:gd name="T30" fmla="*/ 103 w 410"/>
                      <a:gd name="T31" fmla="*/ 506 h 2101"/>
                      <a:gd name="T32" fmla="*/ 103 w 410"/>
                      <a:gd name="T33" fmla="*/ 537 h 2101"/>
                      <a:gd name="T34" fmla="*/ 104 w 410"/>
                      <a:gd name="T35" fmla="*/ 561 h 2101"/>
                      <a:gd name="T36" fmla="*/ 108 w 410"/>
                      <a:gd name="T37" fmla="*/ 585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5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17 w 475"/>
                      <a:gd name="T3" fmla="*/ 17 h 2101"/>
                      <a:gd name="T4" fmla="*/ 30 w 475"/>
                      <a:gd name="T5" fmla="*/ 34 h 2101"/>
                      <a:gd name="T6" fmla="*/ 56 w 475"/>
                      <a:gd name="T7" fmla="*/ 72 h 2101"/>
                      <a:gd name="T8" fmla="*/ 71 w 475"/>
                      <a:gd name="T9" fmla="*/ 99 h 2101"/>
                      <a:gd name="T10" fmla="*/ 88 w 475"/>
                      <a:gd name="T11" fmla="*/ 137 h 2101"/>
                      <a:gd name="T12" fmla="*/ 103 w 475"/>
                      <a:gd name="T13" fmla="*/ 177 h 2101"/>
                      <a:gd name="T14" fmla="*/ 116 w 475"/>
                      <a:gd name="T15" fmla="*/ 216 h 2101"/>
                      <a:gd name="T16" fmla="*/ 123 w 475"/>
                      <a:gd name="T17" fmla="*/ 253 h 2101"/>
                      <a:gd name="T18" fmla="*/ 125 w 475"/>
                      <a:gd name="T19" fmla="*/ 284 h 2101"/>
                      <a:gd name="T20" fmla="*/ 125 w 475"/>
                      <a:gd name="T21" fmla="*/ 322 h 2101"/>
                      <a:gd name="T22" fmla="*/ 124 w 475"/>
                      <a:gd name="T23" fmla="*/ 356 h 2101"/>
                      <a:gd name="T24" fmla="*/ 119 w 475"/>
                      <a:gd name="T25" fmla="*/ 398 h 2101"/>
                      <a:gd name="T26" fmla="*/ 116 w 475"/>
                      <a:gd name="T27" fmla="*/ 432 h 2101"/>
                      <a:gd name="T28" fmla="*/ 112 w 475"/>
                      <a:gd name="T29" fmla="*/ 473 h 2101"/>
                      <a:gd name="T30" fmla="*/ 109 w 475"/>
                      <a:gd name="T31" fmla="*/ 509 h 2101"/>
                      <a:gd name="T32" fmla="*/ 107 w 475"/>
                      <a:gd name="T33" fmla="*/ 537 h 2101"/>
                      <a:gd name="T34" fmla="*/ 103 w 475"/>
                      <a:gd name="T35" fmla="*/ 563 h 2101"/>
                      <a:gd name="T36" fmla="*/ 100 w 475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6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411 w 4613"/>
                      <a:gd name="T1" fmla="*/ 43 h 2136"/>
                      <a:gd name="T2" fmla="*/ 318 w 4613"/>
                      <a:gd name="T3" fmla="*/ 8 h 2136"/>
                      <a:gd name="T4" fmla="*/ 227 w 4613"/>
                      <a:gd name="T5" fmla="*/ 6 h 2136"/>
                      <a:gd name="T6" fmla="*/ 136 w 4613"/>
                      <a:gd name="T7" fmla="*/ 59 h 2136"/>
                      <a:gd name="T8" fmla="*/ 69 w 4613"/>
                      <a:gd name="T9" fmla="*/ 133 h 2136"/>
                      <a:gd name="T10" fmla="*/ 20 w 4613"/>
                      <a:gd name="T11" fmla="*/ 208 h 2136"/>
                      <a:gd name="T12" fmla="*/ 0 w 4613"/>
                      <a:gd name="T13" fmla="*/ 285 h 2136"/>
                      <a:gd name="T14" fmla="*/ 5 w 4613"/>
                      <a:gd name="T15" fmla="*/ 378 h 2136"/>
                      <a:gd name="T16" fmla="*/ 20 w 4613"/>
                      <a:gd name="T17" fmla="*/ 488 h 2136"/>
                      <a:gd name="T18" fmla="*/ 46 w 4613"/>
                      <a:gd name="T19" fmla="*/ 565 h 2136"/>
                      <a:gd name="T20" fmla="*/ 82 w 4613"/>
                      <a:gd name="T21" fmla="*/ 594 h 2136"/>
                      <a:gd name="T22" fmla="*/ 151 w 4613"/>
                      <a:gd name="T23" fmla="*/ 569 h 2136"/>
                      <a:gd name="T24" fmla="*/ 205 w 4613"/>
                      <a:gd name="T25" fmla="*/ 507 h 2136"/>
                      <a:gd name="T26" fmla="*/ 254 w 4613"/>
                      <a:gd name="T27" fmla="*/ 402 h 2136"/>
                      <a:gd name="T28" fmla="*/ 274 w 4613"/>
                      <a:gd name="T29" fmla="*/ 330 h 2136"/>
                      <a:gd name="T30" fmla="*/ 313 w 4613"/>
                      <a:gd name="T31" fmla="*/ 502 h 2136"/>
                      <a:gd name="T32" fmla="*/ 366 w 4613"/>
                      <a:gd name="T33" fmla="*/ 581 h 2136"/>
                      <a:gd name="T34" fmla="*/ 437 w 4613"/>
                      <a:gd name="T35" fmla="*/ 592 h 2136"/>
                      <a:gd name="T36" fmla="*/ 490 w 4613"/>
                      <a:gd name="T37" fmla="*/ 515 h 2136"/>
                      <a:gd name="T38" fmla="*/ 540 w 4613"/>
                      <a:gd name="T39" fmla="*/ 339 h 2136"/>
                      <a:gd name="T40" fmla="*/ 573 w 4613"/>
                      <a:gd name="T41" fmla="*/ 485 h 2136"/>
                      <a:gd name="T42" fmla="*/ 620 w 4613"/>
                      <a:gd name="T43" fmla="*/ 572 h 2136"/>
                      <a:gd name="T44" fmla="*/ 700 w 4613"/>
                      <a:gd name="T45" fmla="*/ 590 h 2136"/>
                      <a:gd name="T46" fmla="*/ 770 w 4613"/>
                      <a:gd name="T47" fmla="*/ 542 h 2136"/>
                      <a:gd name="T48" fmla="*/ 831 w 4613"/>
                      <a:gd name="T49" fmla="*/ 444 h 2136"/>
                      <a:gd name="T50" fmla="*/ 865 w 4613"/>
                      <a:gd name="T51" fmla="*/ 349 h 2136"/>
                      <a:gd name="T52" fmla="*/ 915 w 4613"/>
                      <a:gd name="T53" fmla="*/ 464 h 2136"/>
                      <a:gd name="T54" fmla="*/ 975 w 4613"/>
                      <a:gd name="T55" fmla="*/ 551 h 2136"/>
                      <a:gd name="T56" fmla="*/ 1072 w 4613"/>
                      <a:gd name="T57" fmla="*/ 594 h 2136"/>
                      <a:gd name="T58" fmla="*/ 1142 w 4613"/>
                      <a:gd name="T59" fmla="*/ 534 h 2136"/>
                      <a:gd name="T60" fmla="*/ 1190 w 4613"/>
                      <a:gd name="T61" fmla="*/ 413 h 2136"/>
                      <a:gd name="T62" fmla="*/ 1208 w 4613"/>
                      <a:gd name="T63" fmla="*/ 294 h 2136"/>
                      <a:gd name="T64" fmla="*/ 1144 w 4613"/>
                      <a:gd name="T65" fmla="*/ 183 h 2136"/>
                      <a:gd name="T66" fmla="*/ 1101 w 4613"/>
                      <a:gd name="T67" fmla="*/ 119 h 2136"/>
                      <a:gd name="T68" fmla="*/ 999 w 4613"/>
                      <a:gd name="T69" fmla="*/ 52 h 2136"/>
                      <a:gd name="T70" fmla="*/ 863 w 4613"/>
                      <a:gd name="T71" fmla="*/ 12 h 2136"/>
                      <a:gd name="T72" fmla="*/ 712 w 4613"/>
                      <a:gd name="T73" fmla="*/ 0 h 2136"/>
                      <a:gd name="T74" fmla="*/ 607 w 4613"/>
                      <a:gd name="T75" fmla="*/ 26 h 2136"/>
                      <a:gd name="T76" fmla="*/ 544 w 4613"/>
                      <a:gd name="T77" fmla="*/ 91 h 2136"/>
                      <a:gd name="T78" fmla="*/ 535 w 4613"/>
                      <a:gd name="T79" fmla="*/ 130 h 2136"/>
                      <a:gd name="T80" fmla="*/ 488 w 4613"/>
                      <a:gd name="T81" fmla="*/ 220 h 2136"/>
                      <a:gd name="T82" fmla="*/ 452 w 4613"/>
                      <a:gd name="T83" fmla="*/ 186 h 2136"/>
                      <a:gd name="T84" fmla="*/ 397 w 4613"/>
                      <a:gd name="T85" fmla="*/ 88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67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0568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60667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68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69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70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60569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70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71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572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0573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60653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356 w 712"/>
                        <a:gd name="T1" fmla="*/ 0 h 2072"/>
                        <a:gd name="T2" fmla="*/ 311 w 712"/>
                        <a:gd name="T3" fmla="*/ 26 h 2072"/>
                        <a:gd name="T4" fmla="*/ 247 w 712"/>
                        <a:gd name="T5" fmla="*/ 70 h 2072"/>
                        <a:gd name="T6" fmla="*/ 193 w 712"/>
                        <a:gd name="T7" fmla="*/ 120 h 2072"/>
                        <a:gd name="T8" fmla="*/ 149 w 712"/>
                        <a:gd name="T9" fmla="*/ 177 h 2072"/>
                        <a:gd name="T10" fmla="*/ 106 w 712"/>
                        <a:gd name="T11" fmla="*/ 242 h 2072"/>
                        <a:gd name="T12" fmla="*/ 62 w 712"/>
                        <a:gd name="T13" fmla="*/ 314 h 2072"/>
                        <a:gd name="T14" fmla="*/ 33 w 712"/>
                        <a:gd name="T15" fmla="*/ 378 h 2072"/>
                        <a:gd name="T16" fmla="*/ 7 w 712"/>
                        <a:gd name="T17" fmla="*/ 446 h 2072"/>
                        <a:gd name="T18" fmla="*/ 0 w 712"/>
                        <a:gd name="T19" fmla="*/ 507 h 2072"/>
                        <a:gd name="T20" fmla="*/ 0 w 712"/>
                        <a:gd name="T21" fmla="*/ 576 h 2072"/>
                        <a:gd name="T22" fmla="*/ 2 w 712"/>
                        <a:gd name="T23" fmla="*/ 640 h 2072"/>
                        <a:gd name="T24" fmla="*/ 7 w 712"/>
                        <a:gd name="T25" fmla="*/ 713 h 2072"/>
                        <a:gd name="T26" fmla="*/ 13 w 712"/>
                        <a:gd name="T27" fmla="*/ 788 h 2072"/>
                        <a:gd name="T28" fmla="*/ 20 w 712"/>
                        <a:gd name="T29" fmla="*/ 855 h 2072"/>
                        <a:gd name="T30" fmla="*/ 24 w 712"/>
                        <a:gd name="T31" fmla="*/ 913 h 2072"/>
                        <a:gd name="T32" fmla="*/ 33 w 712"/>
                        <a:gd name="T33" fmla="*/ 963 h 2072"/>
                        <a:gd name="T34" fmla="*/ 55 w 712"/>
                        <a:gd name="T35" fmla="*/ 1036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54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78 w 963"/>
                        <a:gd name="T3" fmla="*/ 45 h 2101"/>
                        <a:gd name="T4" fmla="*/ 132 w 963"/>
                        <a:gd name="T5" fmla="*/ 87 h 2101"/>
                        <a:gd name="T6" fmla="*/ 181 w 963"/>
                        <a:gd name="T7" fmla="*/ 129 h 2101"/>
                        <a:gd name="T8" fmla="*/ 224 w 963"/>
                        <a:gd name="T9" fmla="*/ 184 h 2101"/>
                        <a:gd name="T10" fmla="*/ 277 w 963"/>
                        <a:gd name="T11" fmla="*/ 245 h 2101"/>
                        <a:gd name="T12" fmla="*/ 337 w 963"/>
                        <a:gd name="T13" fmla="*/ 321 h 2101"/>
                        <a:gd name="T14" fmla="*/ 383 w 963"/>
                        <a:gd name="T15" fmla="*/ 392 h 2101"/>
                        <a:gd name="T16" fmla="*/ 408 w 963"/>
                        <a:gd name="T17" fmla="*/ 455 h 2101"/>
                        <a:gd name="T18" fmla="*/ 414 w 963"/>
                        <a:gd name="T19" fmla="*/ 517 h 2101"/>
                        <a:gd name="T20" fmla="*/ 412 w 963"/>
                        <a:gd name="T21" fmla="*/ 583 h 2101"/>
                        <a:gd name="T22" fmla="*/ 417 w 963"/>
                        <a:gd name="T23" fmla="*/ 656 h 2101"/>
                        <a:gd name="T24" fmla="*/ 423 w 963"/>
                        <a:gd name="T25" fmla="*/ 724 h 2101"/>
                        <a:gd name="T26" fmla="*/ 428 w 963"/>
                        <a:gd name="T27" fmla="*/ 786 h 2101"/>
                        <a:gd name="T28" fmla="*/ 437 w 963"/>
                        <a:gd name="T29" fmla="*/ 861 h 2101"/>
                        <a:gd name="T30" fmla="*/ 444 w 963"/>
                        <a:gd name="T31" fmla="*/ 924 h 2101"/>
                        <a:gd name="T32" fmla="*/ 459 w 963"/>
                        <a:gd name="T33" fmla="*/ 993 h 2101"/>
                        <a:gd name="T34" fmla="*/ 482 w 963"/>
                        <a:gd name="T35" fmla="*/ 1051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55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0656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60657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67 w 1078"/>
                          <a:gd name="T3" fmla="*/ 45 h 2124"/>
                          <a:gd name="T4" fmla="*/ 126 w 1078"/>
                          <a:gd name="T5" fmla="*/ 95 h 2124"/>
                          <a:gd name="T6" fmla="*/ 173 w 1078"/>
                          <a:gd name="T7" fmla="*/ 137 h 2124"/>
                          <a:gd name="T8" fmla="*/ 222 w 1078"/>
                          <a:gd name="T9" fmla="*/ 195 h 2124"/>
                          <a:gd name="T10" fmla="*/ 268 w 1078"/>
                          <a:gd name="T11" fmla="*/ 259 h 2124"/>
                          <a:gd name="T12" fmla="*/ 307 w 1078"/>
                          <a:gd name="T13" fmla="*/ 324 h 2124"/>
                          <a:gd name="T14" fmla="*/ 336 w 1078"/>
                          <a:gd name="T15" fmla="*/ 394 h 2124"/>
                          <a:gd name="T16" fmla="*/ 354 w 1078"/>
                          <a:gd name="T17" fmla="*/ 461 h 2124"/>
                          <a:gd name="T18" fmla="*/ 360 w 1078"/>
                          <a:gd name="T19" fmla="*/ 522 h 2124"/>
                          <a:gd name="T20" fmla="*/ 363 w 1078"/>
                          <a:gd name="T21" fmla="*/ 591 h 2124"/>
                          <a:gd name="T22" fmla="*/ 374 w 1078"/>
                          <a:gd name="T23" fmla="*/ 659 h 2124"/>
                          <a:gd name="T24" fmla="*/ 385 w 1078"/>
                          <a:gd name="T25" fmla="*/ 725 h 2124"/>
                          <a:gd name="T26" fmla="*/ 401 w 1078"/>
                          <a:gd name="T27" fmla="*/ 791 h 2124"/>
                          <a:gd name="T28" fmla="*/ 421 w 1078"/>
                          <a:gd name="T29" fmla="*/ 868 h 2124"/>
                          <a:gd name="T30" fmla="*/ 445 w 1078"/>
                          <a:gd name="T31" fmla="*/ 926 h 2124"/>
                          <a:gd name="T32" fmla="*/ 485 w 1078"/>
                          <a:gd name="T33" fmla="*/ 992 h 2124"/>
                          <a:gd name="T34" fmla="*/ 539 w 1078"/>
                          <a:gd name="T35" fmla="*/ 1063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58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78 w 1029"/>
                          <a:gd name="T3" fmla="*/ 49 h 2110"/>
                          <a:gd name="T4" fmla="*/ 138 w 1029"/>
                          <a:gd name="T5" fmla="*/ 93 h 2110"/>
                          <a:gd name="T6" fmla="*/ 182 w 1029"/>
                          <a:gd name="T7" fmla="*/ 136 h 2110"/>
                          <a:gd name="T8" fmla="*/ 223 w 1029"/>
                          <a:gd name="T9" fmla="*/ 186 h 2110"/>
                          <a:gd name="T10" fmla="*/ 267 w 1029"/>
                          <a:gd name="T11" fmla="*/ 244 h 2110"/>
                          <a:gd name="T12" fmla="*/ 321 w 1029"/>
                          <a:gd name="T13" fmla="*/ 321 h 2110"/>
                          <a:gd name="T14" fmla="*/ 358 w 1029"/>
                          <a:gd name="T15" fmla="*/ 389 h 2110"/>
                          <a:gd name="T16" fmla="*/ 383 w 1029"/>
                          <a:gd name="T17" fmla="*/ 460 h 2110"/>
                          <a:gd name="T18" fmla="*/ 385 w 1029"/>
                          <a:gd name="T19" fmla="*/ 524 h 2110"/>
                          <a:gd name="T20" fmla="*/ 388 w 1029"/>
                          <a:gd name="T21" fmla="*/ 583 h 2110"/>
                          <a:gd name="T22" fmla="*/ 394 w 1029"/>
                          <a:gd name="T23" fmla="*/ 642 h 2110"/>
                          <a:gd name="T24" fmla="*/ 401 w 1029"/>
                          <a:gd name="T25" fmla="*/ 710 h 2110"/>
                          <a:gd name="T26" fmla="*/ 414 w 1029"/>
                          <a:gd name="T27" fmla="*/ 787 h 2110"/>
                          <a:gd name="T28" fmla="*/ 428 w 1029"/>
                          <a:gd name="T29" fmla="*/ 855 h 2110"/>
                          <a:gd name="T30" fmla="*/ 441 w 1029"/>
                          <a:gd name="T31" fmla="*/ 912 h 2110"/>
                          <a:gd name="T32" fmla="*/ 463 w 1029"/>
                          <a:gd name="T33" fmla="*/ 971 h 2110"/>
                          <a:gd name="T34" fmla="*/ 514 w 1029"/>
                          <a:gd name="T35" fmla="*/ 1055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59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62 w 886"/>
                          <a:gd name="T3" fmla="*/ 35 h 2092"/>
                          <a:gd name="T4" fmla="*/ 109 w 886"/>
                          <a:gd name="T5" fmla="*/ 68 h 2092"/>
                          <a:gd name="T6" fmla="*/ 159 w 886"/>
                          <a:gd name="T7" fmla="*/ 113 h 2092"/>
                          <a:gd name="T8" fmla="*/ 216 w 886"/>
                          <a:gd name="T9" fmla="*/ 169 h 2092"/>
                          <a:gd name="T10" fmla="*/ 284 w 886"/>
                          <a:gd name="T11" fmla="*/ 243 h 2092"/>
                          <a:gd name="T12" fmla="*/ 348 w 886"/>
                          <a:gd name="T13" fmla="*/ 312 h 2092"/>
                          <a:gd name="T14" fmla="*/ 397 w 886"/>
                          <a:gd name="T15" fmla="*/ 380 h 2092"/>
                          <a:gd name="T16" fmla="*/ 428 w 886"/>
                          <a:gd name="T17" fmla="*/ 450 h 2092"/>
                          <a:gd name="T18" fmla="*/ 432 w 886"/>
                          <a:gd name="T19" fmla="*/ 513 h 2092"/>
                          <a:gd name="T20" fmla="*/ 437 w 886"/>
                          <a:gd name="T21" fmla="*/ 578 h 2092"/>
                          <a:gd name="T22" fmla="*/ 437 w 886"/>
                          <a:gd name="T23" fmla="*/ 641 h 2092"/>
                          <a:gd name="T24" fmla="*/ 437 w 886"/>
                          <a:gd name="T25" fmla="*/ 715 h 2092"/>
                          <a:gd name="T26" fmla="*/ 437 w 886"/>
                          <a:gd name="T27" fmla="*/ 783 h 2092"/>
                          <a:gd name="T28" fmla="*/ 434 w 886"/>
                          <a:gd name="T29" fmla="*/ 853 h 2092"/>
                          <a:gd name="T30" fmla="*/ 434 w 886"/>
                          <a:gd name="T31" fmla="*/ 913 h 2092"/>
                          <a:gd name="T32" fmla="*/ 441 w 886"/>
                          <a:gd name="T33" fmla="*/ 986 h 2092"/>
                          <a:gd name="T34" fmla="*/ 443 w 886"/>
                          <a:gd name="T35" fmla="*/ 104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0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1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2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3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4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5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0666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60574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60609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0 w 20"/>
                        <a:gd name="T1" fmla="*/ 1 h 21"/>
                        <a:gd name="T2" fmla="*/ 10 w 20"/>
                        <a:gd name="T3" fmla="*/ 10 h 21"/>
                        <a:gd name="T4" fmla="*/ 6 w 20"/>
                        <a:gd name="T5" fmla="*/ 11 h 21"/>
                        <a:gd name="T6" fmla="*/ 0 w 20"/>
                        <a:gd name="T7" fmla="*/ 2 h 21"/>
                        <a:gd name="T8" fmla="*/ 4 w 20"/>
                        <a:gd name="T9" fmla="*/ 0 h 21"/>
                        <a:gd name="T10" fmla="*/ 10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0610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9 w 18"/>
                        <a:gd name="T1" fmla="*/ 0 h 32"/>
                        <a:gd name="T2" fmla="*/ 0 w 18"/>
                        <a:gd name="T3" fmla="*/ 3 h 32"/>
                        <a:gd name="T4" fmla="*/ 1 w 18"/>
                        <a:gd name="T5" fmla="*/ 16 h 32"/>
                        <a:gd name="T6" fmla="*/ 7 w 18"/>
                        <a:gd name="T7" fmla="*/ 14 h 32"/>
                        <a:gd name="T8" fmla="*/ 9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0611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60612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60622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60647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52 w 525"/>
                              <a:gd name="T1" fmla="*/ 3 h 194"/>
                              <a:gd name="T2" fmla="*/ 71 w 525"/>
                              <a:gd name="T3" fmla="*/ 6 h 194"/>
                              <a:gd name="T4" fmla="*/ 79 w 525"/>
                              <a:gd name="T5" fmla="*/ 5 h 194"/>
                              <a:gd name="T6" fmla="*/ 89 w 525"/>
                              <a:gd name="T7" fmla="*/ 2 h 194"/>
                              <a:gd name="T8" fmla="*/ 98 w 525"/>
                              <a:gd name="T9" fmla="*/ 1 h 194"/>
                              <a:gd name="T10" fmla="*/ 104 w 525"/>
                              <a:gd name="T11" fmla="*/ 0 h 194"/>
                              <a:gd name="T12" fmla="*/ 113 w 525"/>
                              <a:gd name="T13" fmla="*/ 5 h 194"/>
                              <a:gd name="T14" fmla="*/ 116 w 525"/>
                              <a:gd name="T15" fmla="*/ 9 h 194"/>
                              <a:gd name="T16" fmla="*/ 126 w 525"/>
                              <a:gd name="T17" fmla="*/ 8 h 194"/>
                              <a:gd name="T18" fmla="*/ 133 w 525"/>
                              <a:gd name="T19" fmla="*/ 8 h 194"/>
                              <a:gd name="T20" fmla="*/ 140 w 525"/>
                              <a:gd name="T21" fmla="*/ 5 h 194"/>
                              <a:gd name="T22" fmla="*/ 147 w 525"/>
                              <a:gd name="T23" fmla="*/ 3 h 194"/>
                              <a:gd name="T24" fmla="*/ 152 w 525"/>
                              <a:gd name="T25" fmla="*/ 2 h 194"/>
                              <a:gd name="T26" fmla="*/ 162 w 525"/>
                              <a:gd name="T27" fmla="*/ 5 h 194"/>
                              <a:gd name="T28" fmla="*/ 177 w 525"/>
                              <a:gd name="T29" fmla="*/ 6 h 194"/>
                              <a:gd name="T30" fmla="*/ 193 w 525"/>
                              <a:gd name="T31" fmla="*/ 11 h 194"/>
                              <a:gd name="T32" fmla="*/ 204 w 525"/>
                              <a:gd name="T33" fmla="*/ 13 h 194"/>
                              <a:gd name="T34" fmla="*/ 211 w 525"/>
                              <a:gd name="T35" fmla="*/ 16 h 194"/>
                              <a:gd name="T36" fmla="*/ 220 w 525"/>
                              <a:gd name="T37" fmla="*/ 12 h 194"/>
                              <a:gd name="T38" fmla="*/ 230 w 525"/>
                              <a:gd name="T39" fmla="*/ 14 h 194"/>
                              <a:gd name="T40" fmla="*/ 237 w 525"/>
                              <a:gd name="T41" fmla="*/ 16 h 194"/>
                              <a:gd name="T42" fmla="*/ 243 w 525"/>
                              <a:gd name="T43" fmla="*/ 19 h 194"/>
                              <a:gd name="T44" fmla="*/ 251 w 525"/>
                              <a:gd name="T45" fmla="*/ 23 h 194"/>
                              <a:gd name="T46" fmla="*/ 257 w 525"/>
                              <a:gd name="T47" fmla="*/ 27 h 194"/>
                              <a:gd name="T48" fmla="*/ 261 w 525"/>
                              <a:gd name="T49" fmla="*/ 31 h 194"/>
                              <a:gd name="T50" fmla="*/ 263 w 525"/>
                              <a:gd name="T51" fmla="*/ 36 h 194"/>
                              <a:gd name="T52" fmla="*/ 255 w 525"/>
                              <a:gd name="T53" fmla="*/ 40 h 194"/>
                              <a:gd name="T54" fmla="*/ 244 w 525"/>
                              <a:gd name="T55" fmla="*/ 45 h 194"/>
                              <a:gd name="T56" fmla="*/ 237 w 525"/>
                              <a:gd name="T57" fmla="*/ 51 h 194"/>
                              <a:gd name="T58" fmla="*/ 240 w 525"/>
                              <a:gd name="T59" fmla="*/ 56 h 194"/>
                              <a:gd name="T60" fmla="*/ 235 w 525"/>
                              <a:gd name="T61" fmla="*/ 61 h 194"/>
                              <a:gd name="T62" fmla="*/ 229 w 525"/>
                              <a:gd name="T63" fmla="*/ 67 h 194"/>
                              <a:gd name="T64" fmla="*/ 224 w 525"/>
                              <a:gd name="T65" fmla="*/ 68 h 194"/>
                              <a:gd name="T66" fmla="*/ 216 w 525"/>
                              <a:gd name="T67" fmla="*/ 73 h 194"/>
                              <a:gd name="T68" fmla="*/ 231 w 525"/>
                              <a:gd name="T69" fmla="*/ 79 h 194"/>
                              <a:gd name="T70" fmla="*/ 220 w 525"/>
                              <a:gd name="T71" fmla="*/ 84 h 194"/>
                              <a:gd name="T72" fmla="*/ 199 w 525"/>
                              <a:gd name="T73" fmla="*/ 84 h 194"/>
                              <a:gd name="T74" fmla="*/ 186 w 525"/>
                              <a:gd name="T75" fmla="*/ 91 h 194"/>
                              <a:gd name="T76" fmla="*/ 176 w 525"/>
                              <a:gd name="T77" fmla="*/ 97 h 194"/>
                              <a:gd name="T78" fmla="*/ 153 w 525"/>
                              <a:gd name="T79" fmla="*/ 95 h 194"/>
                              <a:gd name="T80" fmla="*/ 137 w 525"/>
                              <a:gd name="T81" fmla="*/ 90 h 194"/>
                              <a:gd name="T82" fmla="*/ 121 w 525"/>
                              <a:gd name="T83" fmla="*/ 87 h 194"/>
                              <a:gd name="T84" fmla="*/ 104 w 525"/>
                              <a:gd name="T85" fmla="*/ 82 h 194"/>
                              <a:gd name="T86" fmla="*/ 96 w 525"/>
                              <a:gd name="T87" fmla="*/ 80 h 194"/>
                              <a:gd name="T88" fmla="*/ 74 w 525"/>
                              <a:gd name="T89" fmla="*/ 72 h 194"/>
                              <a:gd name="T90" fmla="*/ 59 w 525"/>
                              <a:gd name="T91" fmla="*/ 66 h 194"/>
                              <a:gd name="T92" fmla="*/ 47 w 525"/>
                              <a:gd name="T93" fmla="*/ 59 h 194"/>
                              <a:gd name="T94" fmla="*/ 35 w 525"/>
                              <a:gd name="T95" fmla="*/ 53 h 194"/>
                              <a:gd name="T96" fmla="*/ 25 w 525"/>
                              <a:gd name="T97" fmla="*/ 44 h 194"/>
                              <a:gd name="T98" fmla="*/ 13 w 525"/>
                              <a:gd name="T99" fmla="*/ 35 h 194"/>
                              <a:gd name="T100" fmla="*/ 2 w 525"/>
                              <a:gd name="T101" fmla="*/ 27 h 194"/>
                              <a:gd name="T102" fmla="*/ 8 w 525"/>
                              <a:gd name="T103" fmla="*/ 22 h 194"/>
                              <a:gd name="T104" fmla="*/ 14 w 525"/>
                              <a:gd name="T105" fmla="*/ 11 h 194"/>
                              <a:gd name="T106" fmla="*/ 21 w 525"/>
                              <a:gd name="T107" fmla="*/ 6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0648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60650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9 w 55"/>
                                <a:gd name="T1" fmla="*/ 1 h 108"/>
                                <a:gd name="T2" fmla="*/ 12 w 55"/>
                                <a:gd name="T3" fmla="*/ 0 h 108"/>
                                <a:gd name="T4" fmla="*/ 17 w 55"/>
                                <a:gd name="T5" fmla="*/ 6 h 108"/>
                                <a:gd name="T6" fmla="*/ 16 w 55"/>
                                <a:gd name="T7" fmla="*/ 22 h 108"/>
                                <a:gd name="T8" fmla="*/ 19 w 55"/>
                                <a:gd name="T9" fmla="*/ 22 h 108"/>
                                <a:gd name="T10" fmla="*/ 20 w 55"/>
                                <a:gd name="T11" fmla="*/ 25 h 108"/>
                                <a:gd name="T12" fmla="*/ 21 w 55"/>
                                <a:gd name="T13" fmla="*/ 28 h 108"/>
                                <a:gd name="T14" fmla="*/ 22 w 55"/>
                                <a:gd name="T15" fmla="*/ 30 h 108"/>
                                <a:gd name="T16" fmla="*/ 25 w 55"/>
                                <a:gd name="T17" fmla="*/ 29 h 108"/>
                                <a:gd name="T18" fmla="*/ 27 w 55"/>
                                <a:gd name="T19" fmla="*/ 26 h 108"/>
                                <a:gd name="T20" fmla="*/ 28 w 55"/>
                                <a:gd name="T21" fmla="*/ 28 h 108"/>
                                <a:gd name="T22" fmla="*/ 26 w 55"/>
                                <a:gd name="T23" fmla="*/ 31 h 108"/>
                                <a:gd name="T24" fmla="*/ 25 w 55"/>
                                <a:gd name="T25" fmla="*/ 33 h 108"/>
                                <a:gd name="T26" fmla="*/ 24 w 55"/>
                                <a:gd name="T27" fmla="*/ 37 h 108"/>
                                <a:gd name="T28" fmla="*/ 21 w 55"/>
                                <a:gd name="T29" fmla="*/ 39 h 108"/>
                                <a:gd name="T30" fmla="*/ 19 w 55"/>
                                <a:gd name="T31" fmla="*/ 40 h 108"/>
                                <a:gd name="T32" fmla="*/ 16 w 55"/>
                                <a:gd name="T33" fmla="*/ 42 h 108"/>
                                <a:gd name="T34" fmla="*/ 15 w 55"/>
                                <a:gd name="T35" fmla="*/ 44 h 108"/>
                                <a:gd name="T36" fmla="*/ 16 w 55"/>
                                <a:gd name="T37" fmla="*/ 47 h 108"/>
                                <a:gd name="T38" fmla="*/ 17 w 55"/>
                                <a:gd name="T39" fmla="*/ 50 h 108"/>
                                <a:gd name="T40" fmla="*/ 13 w 55"/>
                                <a:gd name="T41" fmla="*/ 52 h 108"/>
                                <a:gd name="T42" fmla="*/ 11 w 55"/>
                                <a:gd name="T43" fmla="*/ 52 h 108"/>
                                <a:gd name="T44" fmla="*/ 9 w 55"/>
                                <a:gd name="T45" fmla="*/ 53 h 108"/>
                                <a:gd name="T46" fmla="*/ 8 w 55"/>
                                <a:gd name="T47" fmla="*/ 52 h 108"/>
                                <a:gd name="T48" fmla="*/ 4 w 55"/>
                                <a:gd name="T49" fmla="*/ 52 h 108"/>
                                <a:gd name="T50" fmla="*/ 3 w 55"/>
                                <a:gd name="T51" fmla="*/ 50 h 108"/>
                                <a:gd name="T52" fmla="*/ 4 w 55"/>
                                <a:gd name="T53" fmla="*/ 47 h 108"/>
                                <a:gd name="T54" fmla="*/ 7 w 55"/>
                                <a:gd name="T55" fmla="*/ 47 h 108"/>
                                <a:gd name="T56" fmla="*/ 9 w 55"/>
                                <a:gd name="T57" fmla="*/ 43 h 108"/>
                                <a:gd name="T58" fmla="*/ 9 w 55"/>
                                <a:gd name="T59" fmla="*/ 41 h 108"/>
                                <a:gd name="T60" fmla="*/ 7 w 55"/>
                                <a:gd name="T61" fmla="*/ 40 h 108"/>
                                <a:gd name="T62" fmla="*/ 4 w 55"/>
                                <a:gd name="T63" fmla="*/ 38 h 108"/>
                                <a:gd name="T64" fmla="*/ 2 w 55"/>
                                <a:gd name="T65" fmla="*/ 38 h 108"/>
                                <a:gd name="T66" fmla="*/ 1 w 55"/>
                                <a:gd name="T67" fmla="*/ 37 h 108"/>
                                <a:gd name="T68" fmla="*/ 0 w 55"/>
                                <a:gd name="T69" fmla="*/ 35 h 108"/>
                                <a:gd name="T70" fmla="*/ 1 w 55"/>
                                <a:gd name="T71" fmla="*/ 34 h 108"/>
                                <a:gd name="T72" fmla="*/ 2 w 55"/>
                                <a:gd name="T73" fmla="*/ 34 h 108"/>
                                <a:gd name="T74" fmla="*/ 4 w 55"/>
                                <a:gd name="T75" fmla="*/ 33 h 108"/>
                                <a:gd name="T76" fmla="*/ 7 w 55"/>
                                <a:gd name="T77" fmla="*/ 31 h 108"/>
                                <a:gd name="T78" fmla="*/ 8 w 55"/>
                                <a:gd name="T79" fmla="*/ 30 h 108"/>
                                <a:gd name="T80" fmla="*/ 10 w 55"/>
                                <a:gd name="T81" fmla="*/ 22 h 108"/>
                                <a:gd name="T82" fmla="*/ 8 w 55"/>
                                <a:gd name="T83" fmla="*/ 20 h 108"/>
                                <a:gd name="T84" fmla="*/ 6 w 55"/>
                                <a:gd name="T85" fmla="*/ 19 h 108"/>
                                <a:gd name="T86" fmla="*/ 6 w 55"/>
                                <a:gd name="T87" fmla="*/ 14 h 108"/>
                                <a:gd name="T88" fmla="*/ 6 w 55"/>
                                <a:gd name="T89" fmla="*/ 10 h 108"/>
                                <a:gd name="T90" fmla="*/ 7 w 55"/>
                                <a:gd name="T91" fmla="*/ 7 h 108"/>
                                <a:gd name="T92" fmla="*/ 9 w 55"/>
                                <a:gd name="T93" fmla="*/ 1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0651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35 w 102"/>
                                <a:gd name="T1" fmla="*/ 0 h 92"/>
                                <a:gd name="T2" fmla="*/ 41 w 102"/>
                                <a:gd name="T3" fmla="*/ 0 h 92"/>
                                <a:gd name="T4" fmla="*/ 50 w 102"/>
                                <a:gd name="T5" fmla="*/ 13 h 92"/>
                                <a:gd name="T6" fmla="*/ 41 w 102"/>
                                <a:gd name="T7" fmla="*/ 23 h 92"/>
                                <a:gd name="T8" fmla="*/ 41 w 102"/>
                                <a:gd name="T9" fmla="*/ 27 h 92"/>
                                <a:gd name="T10" fmla="*/ 39 w 102"/>
                                <a:gd name="T11" fmla="*/ 29 h 92"/>
                                <a:gd name="T12" fmla="*/ 33 w 102"/>
                                <a:gd name="T13" fmla="*/ 29 h 92"/>
                                <a:gd name="T14" fmla="*/ 26 w 102"/>
                                <a:gd name="T15" fmla="*/ 34 h 92"/>
                                <a:gd name="T16" fmla="*/ 20 w 102"/>
                                <a:gd name="T17" fmla="*/ 40 h 92"/>
                                <a:gd name="T18" fmla="*/ 16 w 102"/>
                                <a:gd name="T19" fmla="*/ 45 h 92"/>
                                <a:gd name="T20" fmla="*/ 16 w 102"/>
                                <a:gd name="T21" fmla="*/ 41 h 92"/>
                                <a:gd name="T22" fmla="*/ 9 w 102"/>
                                <a:gd name="T23" fmla="*/ 42 h 92"/>
                                <a:gd name="T24" fmla="*/ 5 w 102"/>
                                <a:gd name="T25" fmla="*/ 42 h 92"/>
                                <a:gd name="T26" fmla="*/ 0 w 102"/>
                                <a:gd name="T27" fmla="*/ 42 h 92"/>
                                <a:gd name="T28" fmla="*/ 7 w 102"/>
                                <a:gd name="T29" fmla="*/ 34 h 92"/>
                                <a:gd name="T30" fmla="*/ 10 w 102"/>
                                <a:gd name="T31" fmla="*/ 31 h 92"/>
                                <a:gd name="T32" fmla="*/ 13 w 102"/>
                                <a:gd name="T33" fmla="*/ 31 h 92"/>
                                <a:gd name="T34" fmla="*/ 18 w 102"/>
                                <a:gd name="T35" fmla="*/ 25 h 92"/>
                                <a:gd name="T36" fmla="*/ 20 w 102"/>
                                <a:gd name="T37" fmla="*/ 25 h 92"/>
                                <a:gd name="T38" fmla="*/ 20 w 102"/>
                                <a:gd name="T39" fmla="*/ 24 h 92"/>
                                <a:gd name="T40" fmla="*/ 23 w 102"/>
                                <a:gd name="T41" fmla="*/ 23 h 92"/>
                                <a:gd name="T42" fmla="*/ 26 w 102"/>
                                <a:gd name="T43" fmla="*/ 23 h 92"/>
                                <a:gd name="T44" fmla="*/ 25 w 102"/>
                                <a:gd name="T45" fmla="*/ 16 h 92"/>
                                <a:gd name="T46" fmla="*/ 25 w 102"/>
                                <a:gd name="T47" fmla="*/ 16 h 92"/>
                                <a:gd name="T48" fmla="*/ 29 w 102"/>
                                <a:gd name="T49" fmla="*/ 12 h 92"/>
                                <a:gd name="T50" fmla="*/ 30 w 102"/>
                                <a:gd name="T51" fmla="*/ 15 h 92"/>
                                <a:gd name="T52" fmla="*/ 36 w 102"/>
                                <a:gd name="T53" fmla="*/ 10 h 92"/>
                                <a:gd name="T54" fmla="*/ 35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0652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4 w 38"/>
                                <a:gd name="T3" fmla="*/ 0 h 50"/>
                                <a:gd name="T4" fmla="*/ 9 w 38"/>
                                <a:gd name="T5" fmla="*/ 3 h 50"/>
                                <a:gd name="T6" fmla="*/ 20 w 38"/>
                                <a:gd name="T7" fmla="*/ 3 h 50"/>
                                <a:gd name="T8" fmla="*/ 18 w 38"/>
                                <a:gd name="T9" fmla="*/ 8 h 50"/>
                                <a:gd name="T10" fmla="*/ 20 w 38"/>
                                <a:gd name="T11" fmla="*/ 12 h 50"/>
                                <a:gd name="T12" fmla="*/ 16 w 38"/>
                                <a:gd name="T13" fmla="*/ 12 h 50"/>
                                <a:gd name="T14" fmla="*/ 16 w 38"/>
                                <a:gd name="T15" fmla="*/ 12 h 50"/>
                                <a:gd name="T16" fmla="*/ 14 w 38"/>
                                <a:gd name="T17" fmla="*/ 13 h 50"/>
                                <a:gd name="T18" fmla="*/ 16 w 38"/>
                                <a:gd name="T19" fmla="*/ 24 h 50"/>
                                <a:gd name="T20" fmla="*/ 9 w 38"/>
                                <a:gd name="T21" fmla="*/ 23 h 50"/>
                                <a:gd name="T22" fmla="*/ 4 w 38"/>
                                <a:gd name="T23" fmla="*/ 20 h 50"/>
                                <a:gd name="T24" fmla="*/ 4 w 38"/>
                                <a:gd name="T25" fmla="*/ 12 h 50"/>
                                <a:gd name="T26" fmla="*/ 4 w 38"/>
                                <a:gd name="T27" fmla="*/ 10 h 50"/>
                                <a:gd name="T28" fmla="*/ 0 w 38"/>
                                <a:gd name="T29" fmla="*/ 8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0649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6 w 63"/>
                              <a:gd name="T1" fmla="*/ 10 h 51"/>
                              <a:gd name="T2" fmla="*/ 0 w 63"/>
                              <a:gd name="T3" fmla="*/ 21 h 51"/>
                              <a:gd name="T4" fmla="*/ 2 w 63"/>
                              <a:gd name="T5" fmla="*/ 25 h 51"/>
                              <a:gd name="T6" fmla="*/ 11 w 63"/>
                              <a:gd name="T7" fmla="*/ 26 h 51"/>
                              <a:gd name="T8" fmla="*/ 19 w 63"/>
                              <a:gd name="T9" fmla="*/ 26 h 51"/>
                              <a:gd name="T10" fmla="*/ 21 w 63"/>
                              <a:gd name="T11" fmla="*/ 21 h 51"/>
                              <a:gd name="T12" fmla="*/ 23 w 63"/>
                              <a:gd name="T13" fmla="*/ 17 h 51"/>
                              <a:gd name="T14" fmla="*/ 32 w 63"/>
                              <a:gd name="T15" fmla="*/ 17 h 51"/>
                              <a:gd name="T16" fmla="*/ 30 w 63"/>
                              <a:gd name="T17" fmla="*/ 10 h 51"/>
                              <a:gd name="T18" fmla="*/ 30 w 63"/>
                              <a:gd name="T19" fmla="*/ 4 h 51"/>
                              <a:gd name="T20" fmla="*/ 22 w 63"/>
                              <a:gd name="T21" fmla="*/ 0 h 51"/>
                              <a:gd name="T22" fmla="*/ 21 w 63"/>
                              <a:gd name="T23" fmla="*/ 7 h 51"/>
                              <a:gd name="T24" fmla="*/ 26 w 63"/>
                              <a:gd name="T25" fmla="*/ 12 h 51"/>
                              <a:gd name="T26" fmla="*/ 18 w 63"/>
                              <a:gd name="T27" fmla="*/ 12 h 51"/>
                              <a:gd name="T28" fmla="*/ 15 w 63"/>
                              <a:gd name="T29" fmla="*/ 15 h 51"/>
                              <a:gd name="T30" fmla="*/ 6 w 63"/>
                              <a:gd name="T31" fmla="*/ 10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0623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60634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60644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4 h 38"/>
                                <a:gd name="T2" fmla="*/ 3 w 38"/>
                                <a:gd name="T3" fmla="*/ 18 h 38"/>
                                <a:gd name="T4" fmla="*/ 7 w 38"/>
                                <a:gd name="T5" fmla="*/ 18 h 38"/>
                                <a:gd name="T6" fmla="*/ 13 w 38"/>
                                <a:gd name="T7" fmla="*/ 19 h 38"/>
                                <a:gd name="T8" fmla="*/ 19 w 38"/>
                                <a:gd name="T9" fmla="*/ 19 h 38"/>
                                <a:gd name="T10" fmla="*/ 19 w 38"/>
                                <a:gd name="T11" fmla="*/ 12 h 38"/>
                                <a:gd name="T12" fmla="*/ 18 w 38"/>
                                <a:gd name="T13" fmla="*/ 8 h 38"/>
                                <a:gd name="T14" fmla="*/ 14 w 38"/>
                                <a:gd name="T15" fmla="*/ 3 h 38"/>
                                <a:gd name="T16" fmla="*/ 11 w 38"/>
                                <a:gd name="T17" fmla="*/ 3 h 38"/>
                                <a:gd name="T18" fmla="*/ 10 w 38"/>
                                <a:gd name="T19" fmla="*/ 0 h 38"/>
                                <a:gd name="T20" fmla="*/ 5 w 38"/>
                                <a:gd name="T21" fmla="*/ 0 h 38"/>
                                <a:gd name="T22" fmla="*/ 5 w 38"/>
                                <a:gd name="T23" fmla="*/ 6 h 38"/>
                                <a:gd name="T24" fmla="*/ 0 w 38"/>
                                <a:gd name="T25" fmla="*/ 14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0645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4 w 37"/>
                                <a:gd name="T1" fmla="*/ 0 h 48"/>
                                <a:gd name="T2" fmla="*/ 12 w 37"/>
                                <a:gd name="T3" fmla="*/ 1 h 48"/>
                                <a:gd name="T4" fmla="*/ 15 w 37"/>
                                <a:gd name="T5" fmla="*/ 7 h 48"/>
                                <a:gd name="T6" fmla="*/ 18 w 37"/>
                                <a:gd name="T7" fmla="*/ 11 h 48"/>
                                <a:gd name="T8" fmla="*/ 15 w 37"/>
                                <a:gd name="T9" fmla="*/ 14 h 48"/>
                                <a:gd name="T10" fmla="*/ 18 w 37"/>
                                <a:gd name="T11" fmla="*/ 18 h 48"/>
                                <a:gd name="T12" fmla="*/ 17 w 37"/>
                                <a:gd name="T13" fmla="*/ 22 h 48"/>
                                <a:gd name="T14" fmla="*/ 14 w 37"/>
                                <a:gd name="T15" fmla="*/ 24 h 48"/>
                                <a:gd name="T16" fmla="*/ 9 w 37"/>
                                <a:gd name="T17" fmla="*/ 24 h 48"/>
                                <a:gd name="T18" fmla="*/ 5 w 37"/>
                                <a:gd name="T19" fmla="*/ 24 h 48"/>
                                <a:gd name="T20" fmla="*/ 3 w 37"/>
                                <a:gd name="T21" fmla="*/ 21 h 48"/>
                                <a:gd name="T22" fmla="*/ 1 w 37"/>
                                <a:gd name="T23" fmla="*/ 17 h 48"/>
                                <a:gd name="T24" fmla="*/ 1 w 37"/>
                                <a:gd name="T25" fmla="*/ 13 h 48"/>
                                <a:gd name="T26" fmla="*/ 0 w 37"/>
                                <a:gd name="T27" fmla="*/ 8 h 48"/>
                                <a:gd name="T28" fmla="*/ 4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0646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5 w 66"/>
                                <a:gd name="T1" fmla="*/ 0 h 45"/>
                                <a:gd name="T2" fmla="*/ 9 w 66"/>
                                <a:gd name="T3" fmla="*/ 3 h 45"/>
                                <a:gd name="T4" fmla="*/ 13 w 66"/>
                                <a:gd name="T5" fmla="*/ 2 h 45"/>
                                <a:gd name="T6" fmla="*/ 18 w 66"/>
                                <a:gd name="T7" fmla="*/ 3 h 45"/>
                                <a:gd name="T8" fmla="*/ 24 w 66"/>
                                <a:gd name="T9" fmla="*/ 3 h 45"/>
                                <a:gd name="T10" fmla="*/ 27 w 66"/>
                                <a:gd name="T11" fmla="*/ 5 h 45"/>
                                <a:gd name="T12" fmla="*/ 30 w 66"/>
                                <a:gd name="T13" fmla="*/ 10 h 45"/>
                                <a:gd name="T14" fmla="*/ 32 w 66"/>
                                <a:gd name="T15" fmla="*/ 13 h 45"/>
                                <a:gd name="T16" fmla="*/ 25 w 66"/>
                                <a:gd name="T17" fmla="*/ 14 h 45"/>
                                <a:gd name="T18" fmla="*/ 23 w 66"/>
                                <a:gd name="T19" fmla="*/ 16 h 45"/>
                                <a:gd name="T20" fmla="*/ 25 w 66"/>
                                <a:gd name="T21" fmla="*/ 18 h 45"/>
                                <a:gd name="T22" fmla="*/ 25 w 66"/>
                                <a:gd name="T23" fmla="*/ 21 h 45"/>
                                <a:gd name="T24" fmla="*/ 17 w 66"/>
                                <a:gd name="T25" fmla="*/ 18 h 45"/>
                                <a:gd name="T26" fmla="*/ 11 w 66"/>
                                <a:gd name="T27" fmla="*/ 16 h 45"/>
                                <a:gd name="T28" fmla="*/ 9 w 66"/>
                                <a:gd name="T29" fmla="*/ 17 h 45"/>
                                <a:gd name="T30" fmla="*/ 9 w 66"/>
                                <a:gd name="T31" fmla="*/ 21 h 45"/>
                                <a:gd name="T32" fmla="*/ 5 w 66"/>
                                <a:gd name="T33" fmla="*/ 22 h 45"/>
                                <a:gd name="T34" fmla="*/ 3 w 66"/>
                                <a:gd name="T35" fmla="*/ 18 h 45"/>
                                <a:gd name="T36" fmla="*/ 2 w 66"/>
                                <a:gd name="T37" fmla="*/ 14 h 45"/>
                                <a:gd name="T38" fmla="*/ 0 w 66"/>
                                <a:gd name="T39" fmla="*/ 13 h 45"/>
                                <a:gd name="T40" fmla="*/ 2 w 66"/>
                                <a:gd name="T41" fmla="*/ 9 h 45"/>
                                <a:gd name="T42" fmla="*/ 5 w 66"/>
                                <a:gd name="T43" fmla="*/ 8 h 45"/>
                                <a:gd name="T44" fmla="*/ 5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0635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79 w 462"/>
                              <a:gd name="T1" fmla="*/ 15 h 364"/>
                              <a:gd name="T2" fmla="*/ 188 w 462"/>
                              <a:gd name="T3" fmla="*/ 22 h 364"/>
                              <a:gd name="T4" fmla="*/ 197 w 462"/>
                              <a:gd name="T5" fmla="*/ 48 h 364"/>
                              <a:gd name="T6" fmla="*/ 218 w 462"/>
                              <a:gd name="T7" fmla="*/ 76 h 364"/>
                              <a:gd name="T8" fmla="*/ 231 w 462"/>
                              <a:gd name="T9" fmla="*/ 104 h 364"/>
                              <a:gd name="T10" fmla="*/ 222 w 462"/>
                              <a:gd name="T11" fmla="*/ 130 h 364"/>
                              <a:gd name="T12" fmla="*/ 213 w 462"/>
                              <a:gd name="T13" fmla="*/ 147 h 364"/>
                              <a:gd name="T14" fmla="*/ 207 w 462"/>
                              <a:gd name="T15" fmla="*/ 163 h 364"/>
                              <a:gd name="T16" fmla="*/ 202 w 462"/>
                              <a:gd name="T17" fmla="*/ 173 h 364"/>
                              <a:gd name="T18" fmla="*/ 191 w 462"/>
                              <a:gd name="T19" fmla="*/ 179 h 364"/>
                              <a:gd name="T20" fmla="*/ 173 w 462"/>
                              <a:gd name="T21" fmla="*/ 177 h 364"/>
                              <a:gd name="T22" fmla="*/ 155 w 462"/>
                              <a:gd name="T23" fmla="*/ 173 h 364"/>
                              <a:gd name="T24" fmla="*/ 146 w 462"/>
                              <a:gd name="T25" fmla="*/ 162 h 364"/>
                              <a:gd name="T26" fmla="*/ 143 w 462"/>
                              <a:gd name="T27" fmla="*/ 149 h 364"/>
                              <a:gd name="T28" fmla="*/ 137 w 462"/>
                              <a:gd name="T29" fmla="*/ 144 h 364"/>
                              <a:gd name="T30" fmla="*/ 127 w 462"/>
                              <a:gd name="T31" fmla="*/ 144 h 364"/>
                              <a:gd name="T32" fmla="*/ 118 w 462"/>
                              <a:gd name="T33" fmla="*/ 134 h 364"/>
                              <a:gd name="T34" fmla="*/ 111 w 462"/>
                              <a:gd name="T35" fmla="*/ 133 h 364"/>
                              <a:gd name="T36" fmla="*/ 98 w 462"/>
                              <a:gd name="T37" fmla="*/ 134 h 364"/>
                              <a:gd name="T38" fmla="*/ 88 w 462"/>
                              <a:gd name="T39" fmla="*/ 136 h 364"/>
                              <a:gd name="T40" fmla="*/ 79 w 462"/>
                              <a:gd name="T41" fmla="*/ 141 h 364"/>
                              <a:gd name="T42" fmla="*/ 66 w 462"/>
                              <a:gd name="T43" fmla="*/ 146 h 364"/>
                              <a:gd name="T44" fmla="*/ 53 w 462"/>
                              <a:gd name="T45" fmla="*/ 152 h 364"/>
                              <a:gd name="T46" fmla="*/ 46 w 462"/>
                              <a:gd name="T47" fmla="*/ 155 h 364"/>
                              <a:gd name="T48" fmla="*/ 27 w 462"/>
                              <a:gd name="T49" fmla="*/ 154 h 364"/>
                              <a:gd name="T50" fmla="*/ 23 w 462"/>
                              <a:gd name="T51" fmla="*/ 150 h 364"/>
                              <a:gd name="T52" fmla="*/ 23 w 462"/>
                              <a:gd name="T53" fmla="*/ 130 h 364"/>
                              <a:gd name="T54" fmla="*/ 17 w 462"/>
                              <a:gd name="T55" fmla="*/ 118 h 364"/>
                              <a:gd name="T56" fmla="*/ 11 w 462"/>
                              <a:gd name="T57" fmla="*/ 109 h 364"/>
                              <a:gd name="T58" fmla="*/ 2 w 462"/>
                              <a:gd name="T59" fmla="*/ 76 h 364"/>
                              <a:gd name="T60" fmla="*/ 3 w 462"/>
                              <a:gd name="T61" fmla="*/ 65 h 364"/>
                              <a:gd name="T62" fmla="*/ 20 w 462"/>
                              <a:gd name="T63" fmla="*/ 59 h 364"/>
                              <a:gd name="T64" fmla="*/ 31 w 462"/>
                              <a:gd name="T65" fmla="*/ 57 h 364"/>
                              <a:gd name="T66" fmla="*/ 39 w 462"/>
                              <a:gd name="T67" fmla="*/ 54 h 364"/>
                              <a:gd name="T68" fmla="*/ 43 w 462"/>
                              <a:gd name="T69" fmla="*/ 46 h 364"/>
                              <a:gd name="T70" fmla="*/ 42 w 462"/>
                              <a:gd name="T71" fmla="*/ 40 h 364"/>
                              <a:gd name="T72" fmla="*/ 58 w 462"/>
                              <a:gd name="T73" fmla="*/ 27 h 364"/>
                              <a:gd name="T74" fmla="*/ 71 w 462"/>
                              <a:gd name="T75" fmla="*/ 17 h 364"/>
                              <a:gd name="T76" fmla="*/ 83 w 462"/>
                              <a:gd name="T77" fmla="*/ 24 h 364"/>
                              <a:gd name="T78" fmla="*/ 92 w 462"/>
                              <a:gd name="T79" fmla="*/ 16 h 364"/>
                              <a:gd name="T80" fmla="*/ 100 w 462"/>
                              <a:gd name="T81" fmla="*/ 7 h 364"/>
                              <a:gd name="T82" fmla="*/ 110 w 462"/>
                              <a:gd name="T83" fmla="*/ 3 h 364"/>
                              <a:gd name="T84" fmla="*/ 125 w 462"/>
                              <a:gd name="T85" fmla="*/ 4 h 364"/>
                              <a:gd name="T86" fmla="*/ 131 w 462"/>
                              <a:gd name="T87" fmla="*/ 11 h 364"/>
                              <a:gd name="T88" fmla="*/ 131 w 462"/>
                              <a:gd name="T89" fmla="*/ 19 h 364"/>
                              <a:gd name="T90" fmla="*/ 144 w 462"/>
                              <a:gd name="T91" fmla="*/ 34 h 364"/>
                              <a:gd name="T92" fmla="*/ 155 w 462"/>
                              <a:gd name="T93" fmla="*/ 38 h 364"/>
                              <a:gd name="T94" fmla="*/ 164 w 462"/>
                              <a:gd name="T95" fmla="*/ 24 h 364"/>
                              <a:gd name="T96" fmla="*/ 166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36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0 w 255"/>
                              <a:gd name="T1" fmla="*/ 3 h 49"/>
                              <a:gd name="T2" fmla="*/ 26 w 255"/>
                              <a:gd name="T3" fmla="*/ 3 h 49"/>
                              <a:gd name="T4" fmla="*/ 35 w 255"/>
                              <a:gd name="T5" fmla="*/ 4 h 49"/>
                              <a:gd name="T6" fmla="*/ 43 w 255"/>
                              <a:gd name="T7" fmla="*/ 11 h 49"/>
                              <a:gd name="T8" fmla="*/ 51 w 255"/>
                              <a:gd name="T9" fmla="*/ 13 h 49"/>
                              <a:gd name="T10" fmla="*/ 63 w 255"/>
                              <a:gd name="T11" fmla="*/ 15 h 49"/>
                              <a:gd name="T12" fmla="*/ 69 w 255"/>
                              <a:gd name="T13" fmla="*/ 17 h 49"/>
                              <a:gd name="T14" fmla="*/ 72 w 255"/>
                              <a:gd name="T15" fmla="*/ 11 h 49"/>
                              <a:gd name="T16" fmla="*/ 87 w 255"/>
                              <a:gd name="T17" fmla="*/ 13 h 49"/>
                              <a:gd name="T18" fmla="*/ 98 w 255"/>
                              <a:gd name="T19" fmla="*/ 15 h 49"/>
                              <a:gd name="T20" fmla="*/ 106 w 255"/>
                              <a:gd name="T21" fmla="*/ 15 h 49"/>
                              <a:gd name="T22" fmla="*/ 111 w 255"/>
                              <a:gd name="T23" fmla="*/ 13 h 49"/>
                              <a:gd name="T24" fmla="*/ 120 w 255"/>
                              <a:gd name="T25" fmla="*/ 11 h 49"/>
                              <a:gd name="T26" fmla="*/ 128 w 255"/>
                              <a:gd name="T27" fmla="*/ 10 h 49"/>
                              <a:gd name="T28" fmla="*/ 126 w 255"/>
                              <a:gd name="T29" fmla="*/ 17 h 49"/>
                              <a:gd name="T30" fmla="*/ 120 w 255"/>
                              <a:gd name="T31" fmla="*/ 19 h 49"/>
                              <a:gd name="T32" fmla="*/ 116 w 255"/>
                              <a:gd name="T33" fmla="*/ 20 h 49"/>
                              <a:gd name="T34" fmla="*/ 111 w 255"/>
                              <a:gd name="T35" fmla="*/ 22 h 49"/>
                              <a:gd name="T36" fmla="*/ 105 w 255"/>
                              <a:gd name="T37" fmla="*/ 22 h 49"/>
                              <a:gd name="T38" fmla="*/ 100 w 255"/>
                              <a:gd name="T39" fmla="*/ 23 h 49"/>
                              <a:gd name="T40" fmla="*/ 93 w 255"/>
                              <a:gd name="T41" fmla="*/ 24 h 49"/>
                              <a:gd name="T42" fmla="*/ 88 w 255"/>
                              <a:gd name="T43" fmla="*/ 19 h 49"/>
                              <a:gd name="T44" fmla="*/ 82 w 255"/>
                              <a:gd name="T45" fmla="*/ 24 h 49"/>
                              <a:gd name="T46" fmla="*/ 75 w 255"/>
                              <a:gd name="T47" fmla="*/ 19 h 49"/>
                              <a:gd name="T48" fmla="*/ 71 w 255"/>
                              <a:gd name="T49" fmla="*/ 20 h 49"/>
                              <a:gd name="T50" fmla="*/ 65 w 255"/>
                              <a:gd name="T51" fmla="*/ 22 h 49"/>
                              <a:gd name="T52" fmla="*/ 59 w 255"/>
                              <a:gd name="T53" fmla="*/ 21 h 49"/>
                              <a:gd name="T54" fmla="*/ 52 w 255"/>
                              <a:gd name="T55" fmla="*/ 20 h 49"/>
                              <a:gd name="T56" fmla="*/ 45 w 255"/>
                              <a:gd name="T57" fmla="*/ 22 h 49"/>
                              <a:gd name="T58" fmla="*/ 36 w 255"/>
                              <a:gd name="T59" fmla="*/ 18 h 49"/>
                              <a:gd name="T60" fmla="*/ 24 w 255"/>
                              <a:gd name="T61" fmla="*/ 16 h 49"/>
                              <a:gd name="T62" fmla="*/ 15 w 255"/>
                              <a:gd name="T63" fmla="*/ 14 h 49"/>
                              <a:gd name="T64" fmla="*/ 6 w 255"/>
                              <a:gd name="T65" fmla="*/ 10 h 49"/>
                              <a:gd name="T66" fmla="*/ 1 w 255"/>
                              <a:gd name="T67" fmla="*/ 9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37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8 w 115"/>
                              <a:gd name="T1" fmla="*/ 1 h 95"/>
                              <a:gd name="T2" fmla="*/ 48 w 115"/>
                              <a:gd name="T3" fmla="*/ 0 h 95"/>
                              <a:gd name="T4" fmla="*/ 52 w 115"/>
                              <a:gd name="T5" fmla="*/ 6 h 95"/>
                              <a:gd name="T6" fmla="*/ 46 w 115"/>
                              <a:gd name="T7" fmla="*/ 9 h 95"/>
                              <a:gd name="T8" fmla="*/ 45 w 115"/>
                              <a:gd name="T9" fmla="*/ 12 h 95"/>
                              <a:gd name="T10" fmla="*/ 41 w 115"/>
                              <a:gd name="T11" fmla="*/ 16 h 95"/>
                              <a:gd name="T12" fmla="*/ 36 w 115"/>
                              <a:gd name="T13" fmla="*/ 17 h 95"/>
                              <a:gd name="T14" fmla="*/ 31 w 115"/>
                              <a:gd name="T15" fmla="*/ 14 h 95"/>
                              <a:gd name="T16" fmla="*/ 26 w 115"/>
                              <a:gd name="T17" fmla="*/ 9 h 95"/>
                              <a:gd name="T18" fmla="*/ 19 w 115"/>
                              <a:gd name="T19" fmla="*/ 9 h 95"/>
                              <a:gd name="T20" fmla="*/ 18 w 115"/>
                              <a:gd name="T21" fmla="*/ 17 h 95"/>
                              <a:gd name="T22" fmla="*/ 19 w 115"/>
                              <a:gd name="T23" fmla="*/ 21 h 95"/>
                              <a:gd name="T24" fmla="*/ 26 w 115"/>
                              <a:gd name="T25" fmla="*/ 18 h 95"/>
                              <a:gd name="T26" fmla="*/ 30 w 115"/>
                              <a:gd name="T27" fmla="*/ 19 h 95"/>
                              <a:gd name="T28" fmla="*/ 29 w 115"/>
                              <a:gd name="T29" fmla="*/ 24 h 95"/>
                              <a:gd name="T30" fmla="*/ 28 w 115"/>
                              <a:gd name="T31" fmla="*/ 27 h 95"/>
                              <a:gd name="T32" fmla="*/ 29 w 115"/>
                              <a:gd name="T33" fmla="*/ 31 h 95"/>
                              <a:gd name="T34" fmla="*/ 32 w 115"/>
                              <a:gd name="T35" fmla="*/ 33 h 95"/>
                              <a:gd name="T36" fmla="*/ 31 w 115"/>
                              <a:gd name="T37" fmla="*/ 38 h 95"/>
                              <a:gd name="T38" fmla="*/ 29 w 115"/>
                              <a:gd name="T39" fmla="*/ 44 h 95"/>
                              <a:gd name="T40" fmla="*/ 24 w 115"/>
                              <a:gd name="T41" fmla="*/ 46 h 95"/>
                              <a:gd name="T42" fmla="*/ 22 w 115"/>
                              <a:gd name="T43" fmla="*/ 43 h 95"/>
                              <a:gd name="T44" fmla="*/ 19 w 115"/>
                              <a:gd name="T45" fmla="*/ 36 h 95"/>
                              <a:gd name="T46" fmla="*/ 19 w 115"/>
                              <a:gd name="T47" fmla="*/ 30 h 95"/>
                              <a:gd name="T48" fmla="*/ 12 w 115"/>
                              <a:gd name="T49" fmla="*/ 30 h 95"/>
                              <a:gd name="T50" fmla="*/ 8 w 115"/>
                              <a:gd name="T51" fmla="*/ 30 h 95"/>
                              <a:gd name="T52" fmla="*/ 14 w 115"/>
                              <a:gd name="T53" fmla="*/ 33 h 95"/>
                              <a:gd name="T54" fmla="*/ 17 w 115"/>
                              <a:gd name="T55" fmla="*/ 38 h 95"/>
                              <a:gd name="T56" fmla="*/ 15 w 115"/>
                              <a:gd name="T57" fmla="*/ 43 h 95"/>
                              <a:gd name="T58" fmla="*/ 10 w 115"/>
                              <a:gd name="T59" fmla="*/ 47 h 95"/>
                              <a:gd name="T60" fmla="*/ 10 w 115"/>
                              <a:gd name="T61" fmla="*/ 43 h 95"/>
                              <a:gd name="T62" fmla="*/ 8 w 115"/>
                              <a:gd name="T63" fmla="*/ 38 h 95"/>
                              <a:gd name="T64" fmla="*/ 4 w 115"/>
                              <a:gd name="T65" fmla="*/ 33 h 95"/>
                              <a:gd name="T66" fmla="*/ 1 w 115"/>
                              <a:gd name="T67" fmla="*/ 28 h 95"/>
                              <a:gd name="T68" fmla="*/ 6 w 115"/>
                              <a:gd name="T69" fmla="*/ 22 h 95"/>
                              <a:gd name="T70" fmla="*/ 8 w 115"/>
                              <a:gd name="T71" fmla="*/ 15 h 95"/>
                              <a:gd name="T72" fmla="*/ 9 w 115"/>
                              <a:gd name="T73" fmla="*/ 10 h 95"/>
                              <a:gd name="T74" fmla="*/ 8 w 115"/>
                              <a:gd name="T75" fmla="*/ 6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38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22 h 131"/>
                              <a:gd name="T2" fmla="*/ 13 w 127"/>
                              <a:gd name="T3" fmla="*/ 11 h 131"/>
                              <a:gd name="T4" fmla="*/ 20 w 127"/>
                              <a:gd name="T5" fmla="*/ 7 h 131"/>
                              <a:gd name="T6" fmla="*/ 23 w 127"/>
                              <a:gd name="T7" fmla="*/ 3 h 131"/>
                              <a:gd name="T8" fmla="*/ 34 w 127"/>
                              <a:gd name="T9" fmla="*/ 0 h 131"/>
                              <a:gd name="T10" fmla="*/ 39 w 127"/>
                              <a:gd name="T11" fmla="*/ 8 h 131"/>
                              <a:gd name="T12" fmla="*/ 45 w 127"/>
                              <a:gd name="T13" fmla="*/ 4 h 131"/>
                              <a:gd name="T14" fmla="*/ 47 w 127"/>
                              <a:gd name="T15" fmla="*/ 2 h 131"/>
                              <a:gd name="T16" fmla="*/ 52 w 127"/>
                              <a:gd name="T17" fmla="*/ 0 h 131"/>
                              <a:gd name="T18" fmla="*/ 54 w 127"/>
                              <a:gd name="T19" fmla="*/ 0 h 131"/>
                              <a:gd name="T20" fmla="*/ 55 w 127"/>
                              <a:gd name="T21" fmla="*/ 3 h 131"/>
                              <a:gd name="T22" fmla="*/ 55 w 127"/>
                              <a:gd name="T23" fmla="*/ 5 h 131"/>
                              <a:gd name="T24" fmla="*/ 52 w 127"/>
                              <a:gd name="T25" fmla="*/ 9 h 131"/>
                              <a:gd name="T26" fmla="*/ 52 w 127"/>
                              <a:gd name="T27" fmla="*/ 11 h 131"/>
                              <a:gd name="T28" fmla="*/ 60 w 127"/>
                              <a:gd name="T29" fmla="*/ 20 h 131"/>
                              <a:gd name="T30" fmla="*/ 61 w 127"/>
                              <a:gd name="T31" fmla="*/ 26 h 131"/>
                              <a:gd name="T32" fmla="*/ 63 w 127"/>
                              <a:gd name="T33" fmla="*/ 26 h 131"/>
                              <a:gd name="T34" fmla="*/ 64 w 127"/>
                              <a:gd name="T35" fmla="*/ 29 h 131"/>
                              <a:gd name="T36" fmla="*/ 61 w 127"/>
                              <a:gd name="T37" fmla="*/ 32 h 131"/>
                              <a:gd name="T38" fmla="*/ 59 w 127"/>
                              <a:gd name="T39" fmla="*/ 30 h 131"/>
                              <a:gd name="T40" fmla="*/ 54 w 127"/>
                              <a:gd name="T41" fmla="*/ 32 h 131"/>
                              <a:gd name="T42" fmla="*/ 55 w 127"/>
                              <a:gd name="T43" fmla="*/ 38 h 131"/>
                              <a:gd name="T44" fmla="*/ 50 w 127"/>
                              <a:gd name="T45" fmla="*/ 42 h 131"/>
                              <a:gd name="T46" fmla="*/ 50 w 127"/>
                              <a:gd name="T47" fmla="*/ 51 h 131"/>
                              <a:gd name="T48" fmla="*/ 50 w 127"/>
                              <a:gd name="T49" fmla="*/ 58 h 131"/>
                              <a:gd name="T50" fmla="*/ 47 w 127"/>
                              <a:gd name="T51" fmla="*/ 61 h 131"/>
                              <a:gd name="T52" fmla="*/ 45 w 127"/>
                              <a:gd name="T53" fmla="*/ 65 h 131"/>
                              <a:gd name="T54" fmla="*/ 42 w 127"/>
                              <a:gd name="T55" fmla="*/ 64 h 131"/>
                              <a:gd name="T56" fmla="*/ 38 w 127"/>
                              <a:gd name="T57" fmla="*/ 62 h 131"/>
                              <a:gd name="T58" fmla="*/ 34 w 127"/>
                              <a:gd name="T59" fmla="*/ 60 h 131"/>
                              <a:gd name="T60" fmla="*/ 32 w 127"/>
                              <a:gd name="T61" fmla="*/ 56 h 131"/>
                              <a:gd name="T62" fmla="*/ 22 w 127"/>
                              <a:gd name="T63" fmla="*/ 57 h 131"/>
                              <a:gd name="T64" fmla="*/ 14 w 127"/>
                              <a:gd name="T65" fmla="*/ 55 h 131"/>
                              <a:gd name="T66" fmla="*/ 8 w 127"/>
                              <a:gd name="T67" fmla="*/ 49 h 131"/>
                              <a:gd name="T68" fmla="*/ 5 w 127"/>
                              <a:gd name="T69" fmla="*/ 45 h 131"/>
                              <a:gd name="T70" fmla="*/ 2 w 127"/>
                              <a:gd name="T71" fmla="*/ 41 h 131"/>
                              <a:gd name="T72" fmla="*/ 2 w 127"/>
                              <a:gd name="T73" fmla="*/ 34 h 131"/>
                              <a:gd name="T74" fmla="*/ 0 w 127"/>
                              <a:gd name="T75" fmla="*/ 22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39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1 w 244"/>
                              <a:gd name="T1" fmla="*/ 1 h 122"/>
                              <a:gd name="T2" fmla="*/ 24 w 244"/>
                              <a:gd name="T3" fmla="*/ 11 h 122"/>
                              <a:gd name="T4" fmla="*/ 26 w 244"/>
                              <a:gd name="T5" fmla="*/ 15 h 122"/>
                              <a:gd name="T6" fmla="*/ 34 w 244"/>
                              <a:gd name="T7" fmla="*/ 13 h 122"/>
                              <a:gd name="T8" fmla="*/ 38 w 244"/>
                              <a:gd name="T9" fmla="*/ 14 h 122"/>
                              <a:gd name="T10" fmla="*/ 43 w 244"/>
                              <a:gd name="T11" fmla="*/ 11 h 122"/>
                              <a:gd name="T12" fmla="*/ 50 w 244"/>
                              <a:gd name="T13" fmla="*/ 8 h 122"/>
                              <a:gd name="T14" fmla="*/ 66 w 244"/>
                              <a:gd name="T15" fmla="*/ 13 h 122"/>
                              <a:gd name="T16" fmla="*/ 75 w 244"/>
                              <a:gd name="T17" fmla="*/ 18 h 122"/>
                              <a:gd name="T18" fmla="*/ 83 w 244"/>
                              <a:gd name="T19" fmla="*/ 21 h 122"/>
                              <a:gd name="T20" fmla="*/ 96 w 244"/>
                              <a:gd name="T21" fmla="*/ 29 h 122"/>
                              <a:gd name="T22" fmla="*/ 97 w 244"/>
                              <a:gd name="T23" fmla="*/ 34 h 122"/>
                              <a:gd name="T24" fmla="*/ 103 w 244"/>
                              <a:gd name="T25" fmla="*/ 37 h 122"/>
                              <a:gd name="T26" fmla="*/ 108 w 244"/>
                              <a:gd name="T27" fmla="*/ 39 h 122"/>
                              <a:gd name="T28" fmla="*/ 114 w 244"/>
                              <a:gd name="T29" fmla="*/ 46 h 122"/>
                              <a:gd name="T30" fmla="*/ 118 w 244"/>
                              <a:gd name="T31" fmla="*/ 50 h 122"/>
                              <a:gd name="T32" fmla="*/ 118 w 244"/>
                              <a:gd name="T33" fmla="*/ 61 h 122"/>
                              <a:gd name="T34" fmla="*/ 113 w 244"/>
                              <a:gd name="T35" fmla="*/ 61 h 122"/>
                              <a:gd name="T36" fmla="*/ 109 w 244"/>
                              <a:gd name="T37" fmla="*/ 59 h 122"/>
                              <a:gd name="T38" fmla="*/ 97 w 244"/>
                              <a:gd name="T39" fmla="*/ 48 h 122"/>
                              <a:gd name="T40" fmla="*/ 85 w 244"/>
                              <a:gd name="T41" fmla="*/ 48 h 122"/>
                              <a:gd name="T42" fmla="*/ 81 w 244"/>
                              <a:gd name="T43" fmla="*/ 52 h 122"/>
                              <a:gd name="T44" fmla="*/ 77 w 244"/>
                              <a:gd name="T45" fmla="*/ 54 h 122"/>
                              <a:gd name="T46" fmla="*/ 70 w 244"/>
                              <a:gd name="T47" fmla="*/ 57 h 122"/>
                              <a:gd name="T48" fmla="*/ 62 w 244"/>
                              <a:gd name="T49" fmla="*/ 56 h 122"/>
                              <a:gd name="T50" fmla="*/ 57 w 244"/>
                              <a:gd name="T51" fmla="*/ 56 h 122"/>
                              <a:gd name="T52" fmla="*/ 49 w 244"/>
                              <a:gd name="T53" fmla="*/ 42 h 122"/>
                              <a:gd name="T54" fmla="*/ 40 w 244"/>
                              <a:gd name="T55" fmla="*/ 29 h 122"/>
                              <a:gd name="T56" fmla="*/ 29 w 244"/>
                              <a:gd name="T57" fmla="*/ 25 h 122"/>
                              <a:gd name="T58" fmla="*/ 19 w 244"/>
                              <a:gd name="T59" fmla="*/ 24 h 122"/>
                              <a:gd name="T60" fmla="*/ 9 w 244"/>
                              <a:gd name="T61" fmla="*/ 20 h 122"/>
                              <a:gd name="T62" fmla="*/ 9 w 244"/>
                              <a:gd name="T63" fmla="*/ 7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40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2 h 161"/>
                              <a:gd name="T2" fmla="*/ 7 w 148"/>
                              <a:gd name="T3" fmla="*/ 0 h 161"/>
                              <a:gd name="T4" fmla="*/ 17 w 148"/>
                              <a:gd name="T5" fmla="*/ 3 h 161"/>
                              <a:gd name="T6" fmla="*/ 18 w 148"/>
                              <a:gd name="T7" fmla="*/ 7 h 161"/>
                              <a:gd name="T8" fmla="*/ 18 w 148"/>
                              <a:gd name="T9" fmla="*/ 8 h 161"/>
                              <a:gd name="T10" fmla="*/ 20 w 148"/>
                              <a:gd name="T11" fmla="*/ 9 h 161"/>
                              <a:gd name="T12" fmla="*/ 20 w 148"/>
                              <a:gd name="T13" fmla="*/ 11 h 161"/>
                              <a:gd name="T14" fmla="*/ 22 w 148"/>
                              <a:gd name="T15" fmla="*/ 11 h 161"/>
                              <a:gd name="T16" fmla="*/ 22 w 148"/>
                              <a:gd name="T17" fmla="*/ 14 h 161"/>
                              <a:gd name="T18" fmla="*/ 31 w 148"/>
                              <a:gd name="T19" fmla="*/ 23 h 161"/>
                              <a:gd name="T20" fmla="*/ 33 w 148"/>
                              <a:gd name="T21" fmla="*/ 23 h 161"/>
                              <a:gd name="T22" fmla="*/ 34 w 148"/>
                              <a:gd name="T23" fmla="*/ 25 h 161"/>
                              <a:gd name="T24" fmla="*/ 36 w 148"/>
                              <a:gd name="T25" fmla="*/ 27 h 161"/>
                              <a:gd name="T26" fmla="*/ 37 w 148"/>
                              <a:gd name="T27" fmla="*/ 27 h 161"/>
                              <a:gd name="T28" fmla="*/ 43 w 148"/>
                              <a:gd name="T29" fmla="*/ 30 h 161"/>
                              <a:gd name="T30" fmla="*/ 54 w 148"/>
                              <a:gd name="T31" fmla="*/ 32 h 161"/>
                              <a:gd name="T32" fmla="*/ 55 w 148"/>
                              <a:gd name="T33" fmla="*/ 42 h 161"/>
                              <a:gd name="T34" fmla="*/ 58 w 148"/>
                              <a:gd name="T35" fmla="*/ 43 h 161"/>
                              <a:gd name="T36" fmla="*/ 57 w 148"/>
                              <a:gd name="T37" fmla="*/ 47 h 161"/>
                              <a:gd name="T38" fmla="*/ 65 w 148"/>
                              <a:gd name="T39" fmla="*/ 52 h 161"/>
                              <a:gd name="T40" fmla="*/ 71 w 148"/>
                              <a:gd name="T41" fmla="*/ 54 h 161"/>
                              <a:gd name="T42" fmla="*/ 71 w 148"/>
                              <a:gd name="T43" fmla="*/ 71 h 161"/>
                              <a:gd name="T44" fmla="*/ 74 w 148"/>
                              <a:gd name="T45" fmla="*/ 77 h 161"/>
                              <a:gd name="T46" fmla="*/ 72 w 148"/>
                              <a:gd name="T47" fmla="*/ 80 h 161"/>
                              <a:gd name="T48" fmla="*/ 68 w 148"/>
                              <a:gd name="T49" fmla="*/ 80 h 161"/>
                              <a:gd name="T50" fmla="*/ 67 w 148"/>
                              <a:gd name="T51" fmla="*/ 75 h 161"/>
                              <a:gd name="T52" fmla="*/ 60 w 148"/>
                              <a:gd name="T53" fmla="*/ 80 h 161"/>
                              <a:gd name="T54" fmla="*/ 55 w 148"/>
                              <a:gd name="T55" fmla="*/ 72 h 161"/>
                              <a:gd name="T56" fmla="*/ 52 w 148"/>
                              <a:gd name="T57" fmla="*/ 66 h 161"/>
                              <a:gd name="T58" fmla="*/ 44 w 148"/>
                              <a:gd name="T59" fmla="*/ 58 h 161"/>
                              <a:gd name="T60" fmla="*/ 42 w 148"/>
                              <a:gd name="T61" fmla="*/ 58 h 161"/>
                              <a:gd name="T62" fmla="*/ 35 w 148"/>
                              <a:gd name="T63" fmla="*/ 54 h 161"/>
                              <a:gd name="T64" fmla="*/ 34 w 148"/>
                              <a:gd name="T65" fmla="*/ 49 h 161"/>
                              <a:gd name="T66" fmla="*/ 34 w 148"/>
                              <a:gd name="T67" fmla="*/ 46 h 161"/>
                              <a:gd name="T68" fmla="*/ 27 w 148"/>
                              <a:gd name="T69" fmla="*/ 35 h 161"/>
                              <a:gd name="T70" fmla="*/ 24 w 148"/>
                              <a:gd name="T71" fmla="*/ 27 h 161"/>
                              <a:gd name="T72" fmla="*/ 17 w 148"/>
                              <a:gd name="T73" fmla="*/ 21 h 161"/>
                              <a:gd name="T74" fmla="*/ 6 w 148"/>
                              <a:gd name="T75" fmla="*/ 11 h 161"/>
                              <a:gd name="T76" fmla="*/ 0 w 148"/>
                              <a:gd name="T77" fmla="*/ 2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41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5 w 143"/>
                              <a:gd name="T1" fmla="*/ 0 h 178"/>
                              <a:gd name="T2" fmla="*/ 11 w 143"/>
                              <a:gd name="T3" fmla="*/ 0 h 178"/>
                              <a:gd name="T4" fmla="*/ 18 w 143"/>
                              <a:gd name="T5" fmla="*/ 10 h 178"/>
                              <a:gd name="T6" fmla="*/ 16 w 143"/>
                              <a:gd name="T7" fmla="*/ 18 h 178"/>
                              <a:gd name="T8" fmla="*/ 20 w 143"/>
                              <a:gd name="T9" fmla="*/ 21 h 178"/>
                              <a:gd name="T10" fmla="*/ 22 w 143"/>
                              <a:gd name="T11" fmla="*/ 27 h 178"/>
                              <a:gd name="T12" fmla="*/ 27 w 143"/>
                              <a:gd name="T13" fmla="*/ 30 h 178"/>
                              <a:gd name="T14" fmla="*/ 33 w 143"/>
                              <a:gd name="T15" fmla="*/ 31 h 178"/>
                              <a:gd name="T16" fmla="*/ 41 w 143"/>
                              <a:gd name="T17" fmla="*/ 35 h 178"/>
                              <a:gd name="T18" fmla="*/ 46 w 143"/>
                              <a:gd name="T19" fmla="*/ 41 h 178"/>
                              <a:gd name="T20" fmla="*/ 48 w 143"/>
                              <a:gd name="T21" fmla="*/ 41 h 178"/>
                              <a:gd name="T22" fmla="*/ 55 w 143"/>
                              <a:gd name="T23" fmla="*/ 46 h 178"/>
                              <a:gd name="T24" fmla="*/ 55 w 143"/>
                              <a:gd name="T25" fmla="*/ 57 h 178"/>
                              <a:gd name="T26" fmla="*/ 57 w 143"/>
                              <a:gd name="T27" fmla="*/ 62 h 178"/>
                              <a:gd name="T28" fmla="*/ 59 w 143"/>
                              <a:gd name="T29" fmla="*/ 65 h 178"/>
                              <a:gd name="T30" fmla="*/ 61 w 143"/>
                              <a:gd name="T31" fmla="*/ 67 h 178"/>
                              <a:gd name="T32" fmla="*/ 64 w 143"/>
                              <a:gd name="T33" fmla="*/ 71 h 178"/>
                              <a:gd name="T34" fmla="*/ 66 w 143"/>
                              <a:gd name="T35" fmla="*/ 75 h 178"/>
                              <a:gd name="T36" fmla="*/ 71 w 143"/>
                              <a:gd name="T37" fmla="*/ 79 h 178"/>
                              <a:gd name="T38" fmla="*/ 70 w 143"/>
                              <a:gd name="T39" fmla="*/ 83 h 178"/>
                              <a:gd name="T40" fmla="*/ 65 w 143"/>
                              <a:gd name="T41" fmla="*/ 84 h 178"/>
                              <a:gd name="T42" fmla="*/ 63 w 143"/>
                              <a:gd name="T43" fmla="*/ 81 h 178"/>
                              <a:gd name="T44" fmla="*/ 59 w 143"/>
                              <a:gd name="T45" fmla="*/ 81 h 178"/>
                              <a:gd name="T46" fmla="*/ 59 w 143"/>
                              <a:gd name="T47" fmla="*/ 90 h 178"/>
                              <a:gd name="T48" fmla="*/ 55 w 143"/>
                              <a:gd name="T49" fmla="*/ 90 h 178"/>
                              <a:gd name="T50" fmla="*/ 51 w 143"/>
                              <a:gd name="T51" fmla="*/ 86 h 178"/>
                              <a:gd name="T52" fmla="*/ 48 w 143"/>
                              <a:gd name="T53" fmla="*/ 83 h 178"/>
                              <a:gd name="T54" fmla="*/ 48 w 143"/>
                              <a:gd name="T55" fmla="*/ 78 h 178"/>
                              <a:gd name="T56" fmla="*/ 42 w 143"/>
                              <a:gd name="T57" fmla="*/ 78 h 178"/>
                              <a:gd name="T58" fmla="*/ 40 w 143"/>
                              <a:gd name="T59" fmla="*/ 83 h 178"/>
                              <a:gd name="T60" fmla="*/ 38 w 143"/>
                              <a:gd name="T61" fmla="*/ 78 h 178"/>
                              <a:gd name="T62" fmla="*/ 37 w 143"/>
                              <a:gd name="T63" fmla="*/ 73 h 178"/>
                              <a:gd name="T64" fmla="*/ 45 w 143"/>
                              <a:gd name="T65" fmla="*/ 71 h 178"/>
                              <a:gd name="T66" fmla="*/ 49 w 143"/>
                              <a:gd name="T67" fmla="*/ 73 h 178"/>
                              <a:gd name="T68" fmla="*/ 50 w 143"/>
                              <a:gd name="T69" fmla="*/ 64 h 178"/>
                              <a:gd name="T70" fmla="*/ 46 w 143"/>
                              <a:gd name="T71" fmla="*/ 61 h 178"/>
                              <a:gd name="T72" fmla="*/ 43 w 143"/>
                              <a:gd name="T73" fmla="*/ 54 h 178"/>
                              <a:gd name="T74" fmla="*/ 41 w 143"/>
                              <a:gd name="T75" fmla="*/ 44 h 178"/>
                              <a:gd name="T76" fmla="*/ 33 w 143"/>
                              <a:gd name="T77" fmla="*/ 42 h 178"/>
                              <a:gd name="T78" fmla="*/ 30 w 143"/>
                              <a:gd name="T79" fmla="*/ 37 h 178"/>
                              <a:gd name="T80" fmla="*/ 24 w 143"/>
                              <a:gd name="T81" fmla="*/ 35 h 178"/>
                              <a:gd name="T82" fmla="*/ 27 w 143"/>
                              <a:gd name="T83" fmla="*/ 44 h 178"/>
                              <a:gd name="T84" fmla="*/ 20 w 143"/>
                              <a:gd name="T85" fmla="*/ 48 h 178"/>
                              <a:gd name="T86" fmla="*/ 16 w 143"/>
                              <a:gd name="T87" fmla="*/ 38 h 178"/>
                              <a:gd name="T88" fmla="*/ 13 w 143"/>
                              <a:gd name="T89" fmla="*/ 36 h 178"/>
                              <a:gd name="T90" fmla="*/ 13 w 143"/>
                              <a:gd name="T91" fmla="*/ 31 h 178"/>
                              <a:gd name="T92" fmla="*/ 8 w 143"/>
                              <a:gd name="T93" fmla="*/ 25 h 178"/>
                              <a:gd name="T94" fmla="*/ 3 w 143"/>
                              <a:gd name="T95" fmla="*/ 21 h 178"/>
                              <a:gd name="T96" fmla="*/ 0 w 143"/>
                              <a:gd name="T97" fmla="*/ 18 h 178"/>
                              <a:gd name="T98" fmla="*/ 1 w 143"/>
                              <a:gd name="T99" fmla="*/ 15 h 178"/>
                              <a:gd name="T100" fmla="*/ 5 w 143"/>
                              <a:gd name="T101" fmla="*/ 16 h 178"/>
                              <a:gd name="T102" fmla="*/ 7 w 143"/>
                              <a:gd name="T103" fmla="*/ 12 h 178"/>
                              <a:gd name="T104" fmla="*/ 5 w 143"/>
                              <a:gd name="T105" fmla="*/ 7 h 178"/>
                              <a:gd name="T106" fmla="*/ 5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42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1 w 106"/>
                              <a:gd name="T1" fmla="*/ 0 h 153"/>
                              <a:gd name="T2" fmla="*/ 22 w 106"/>
                              <a:gd name="T3" fmla="*/ 5 h 153"/>
                              <a:gd name="T4" fmla="*/ 27 w 106"/>
                              <a:gd name="T5" fmla="*/ 11 h 153"/>
                              <a:gd name="T6" fmla="*/ 31 w 106"/>
                              <a:gd name="T7" fmla="*/ 17 h 153"/>
                              <a:gd name="T8" fmla="*/ 35 w 106"/>
                              <a:gd name="T9" fmla="*/ 17 h 153"/>
                              <a:gd name="T10" fmla="*/ 35 w 106"/>
                              <a:gd name="T11" fmla="*/ 22 h 153"/>
                              <a:gd name="T12" fmla="*/ 39 w 106"/>
                              <a:gd name="T13" fmla="*/ 25 h 153"/>
                              <a:gd name="T14" fmla="*/ 41 w 106"/>
                              <a:gd name="T15" fmla="*/ 29 h 153"/>
                              <a:gd name="T16" fmla="*/ 48 w 106"/>
                              <a:gd name="T17" fmla="*/ 38 h 153"/>
                              <a:gd name="T18" fmla="*/ 53 w 106"/>
                              <a:gd name="T19" fmla="*/ 48 h 153"/>
                              <a:gd name="T20" fmla="*/ 44 w 106"/>
                              <a:gd name="T21" fmla="*/ 47 h 153"/>
                              <a:gd name="T22" fmla="*/ 37 w 106"/>
                              <a:gd name="T23" fmla="*/ 46 h 153"/>
                              <a:gd name="T24" fmla="*/ 42 w 106"/>
                              <a:gd name="T25" fmla="*/ 53 h 153"/>
                              <a:gd name="T26" fmla="*/ 42 w 106"/>
                              <a:gd name="T27" fmla="*/ 57 h 153"/>
                              <a:gd name="T28" fmla="*/ 42 w 106"/>
                              <a:gd name="T29" fmla="*/ 62 h 153"/>
                              <a:gd name="T30" fmla="*/ 39 w 106"/>
                              <a:gd name="T31" fmla="*/ 59 h 153"/>
                              <a:gd name="T32" fmla="*/ 36 w 106"/>
                              <a:gd name="T33" fmla="*/ 56 h 153"/>
                              <a:gd name="T34" fmla="*/ 29 w 106"/>
                              <a:gd name="T35" fmla="*/ 51 h 153"/>
                              <a:gd name="T36" fmla="*/ 26 w 106"/>
                              <a:gd name="T37" fmla="*/ 49 h 153"/>
                              <a:gd name="T38" fmla="*/ 21 w 106"/>
                              <a:gd name="T39" fmla="*/ 51 h 153"/>
                              <a:gd name="T40" fmla="*/ 17 w 106"/>
                              <a:gd name="T41" fmla="*/ 53 h 153"/>
                              <a:gd name="T42" fmla="*/ 20 w 106"/>
                              <a:gd name="T43" fmla="*/ 57 h 153"/>
                              <a:gd name="T44" fmla="*/ 25 w 106"/>
                              <a:gd name="T45" fmla="*/ 59 h 153"/>
                              <a:gd name="T46" fmla="*/ 30 w 106"/>
                              <a:gd name="T47" fmla="*/ 62 h 153"/>
                              <a:gd name="T48" fmla="*/ 33 w 106"/>
                              <a:gd name="T49" fmla="*/ 67 h 153"/>
                              <a:gd name="T50" fmla="*/ 31 w 106"/>
                              <a:gd name="T51" fmla="*/ 74 h 153"/>
                              <a:gd name="T52" fmla="*/ 31 w 106"/>
                              <a:gd name="T53" fmla="*/ 76 h 153"/>
                              <a:gd name="T54" fmla="*/ 29 w 106"/>
                              <a:gd name="T55" fmla="*/ 76 h 153"/>
                              <a:gd name="T56" fmla="*/ 26 w 106"/>
                              <a:gd name="T57" fmla="*/ 74 h 153"/>
                              <a:gd name="T58" fmla="*/ 25 w 106"/>
                              <a:gd name="T59" fmla="*/ 73 h 153"/>
                              <a:gd name="T60" fmla="*/ 23 w 106"/>
                              <a:gd name="T61" fmla="*/ 72 h 153"/>
                              <a:gd name="T62" fmla="*/ 21 w 106"/>
                              <a:gd name="T63" fmla="*/ 75 h 153"/>
                              <a:gd name="T64" fmla="*/ 17 w 106"/>
                              <a:gd name="T65" fmla="*/ 76 h 153"/>
                              <a:gd name="T66" fmla="*/ 14 w 106"/>
                              <a:gd name="T67" fmla="*/ 73 h 153"/>
                              <a:gd name="T68" fmla="*/ 14 w 106"/>
                              <a:gd name="T69" fmla="*/ 67 h 153"/>
                              <a:gd name="T70" fmla="*/ 14 w 106"/>
                              <a:gd name="T71" fmla="*/ 63 h 153"/>
                              <a:gd name="T72" fmla="*/ 11 w 106"/>
                              <a:gd name="T73" fmla="*/ 61 h 153"/>
                              <a:gd name="T74" fmla="*/ 7 w 106"/>
                              <a:gd name="T75" fmla="*/ 65 h 153"/>
                              <a:gd name="T76" fmla="*/ 2 w 106"/>
                              <a:gd name="T77" fmla="*/ 65 h 153"/>
                              <a:gd name="T78" fmla="*/ 0 w 106"/>
                              <a:gd name="T79" fmla="*/ 62 h 153"/>
                              <a:gd name="T80" fmla="*/ 2 w 106"/>
                              <a:gd name="T81" fmla="*/ 54 h 153"/>
                              <a:gd name="T82" fmla="*/ 6 w 106"/>
                              <a:gd name="T83" fmla="*/ 50 h 153"/>
                              <a:gd name="T84" fmla="*/ 5 w 106"/>
                              <a:gd name="T85" fmla="*/ 38 h 153"/>
                              <a:gd name="T86" fmla="*/ 5 w 106"/>
                              <a:gd name="T87" fmla="*/ 35 h 153"/>
                              <a:gd name="T88" fmla="*/ 9 w 106"/>
                              <a:gd name="T89" fmla="*/ 35 h 153"/>
                              <a:gd name="T90" fmla="*/ 13 w 106"/>
                              <a:gd name="T91" fmla="*/ 38 h 153"/>
                              <a:gd name="T92" fmla="*/ 19 w 106"/>
                              <a:gd name="T93" fmla="*/ 39 h 153"/>
                              <a:gd name="T94" fmla="*/ 19 w 106"/>
                              <a:gd name="T95" fmla="*/ 34 h 153"/>
                              <a:gd name="T96" fmla="*/ 16 w 106"/>
                              <a:gd name="T97" fmla="*/ 31 h 153"/>
                              <a:gd name="T98" fmla="*/ 14 w 106"/>
                              <a:gd name="T99" fmla="*/ 29 h 153"/>
                              <a:gd name="T100" fmla="*/ 17 w 106"/>
                              <a:gd name="T101" fmla="*/ 29 h 153"/>
                              <a:gd name="T102" fmla="*/ 18 w 106"/>
                              <a:gd name="T103" fmla="*/ 29 h 153"/>
                              <a:gd name="T104" fmla="*/ 20 w 106"/>
                              <a:gd name="T105" fmla="*/ 29 h 153"/>
                              <a:gd name="T106" fmla="*/ 21 w 106"/>
                              <a:gd name="T107" fmla="*/ 29 h 153"/>
                              <a:gd name="T108" fmla="*/ 23 w 106"/>
                              <a:gd name="T109" fmla="*/ 27 h 153"/>
                              <a:gd name="T110" fmla="*/ 22 w 106"/>
                              <a:gd name="T111" fmla="*/ 25 h 153"/>
                              <a:gd name="T112" fmla="*/ 20 w 106"/>
                              <a:gd name="T113" fmla="*/ 20 h 153"/>
                              <a:gd name="T114" fmla="*/ 16 w 106"/>
                              <a:gd name="T115" fmla="*/ 14 h 153"/>
                              <a:gd name="T116" fmla="*/ 11 w 106"/>
                              <a:gd name="T117" fmla="*/ 12 h 153"/>
                              <a:gd name="T118" fmla="*/ 9 w 106"/>
                              <a:gd name="T119" fmla="*/ 7 h 153"/>
                              <a:gd name="T120" fmla="*/ 1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43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5 w 116"/>
                              <a:gd name="T3" fmla="*/ 0 h 123"/>
                              <a:gd name="T4" fmla="*/ 8 w 116"/>
                              <a:gd name="T5" fmla="*/ 5 h 123"/>
                              <a:gd name="T6" fmla="*/ 15 w 116"/>
                              <a:gd name="T7" fmla="*/ 11 h 123"/>
                              <a:gd name="T8" fmla="*/ 18 w 116"/>
                              <a:gd name="T9" fmla="*/ 18 h 123"/>
                              <a:gd name="T10" fmla="*/ 24 w 116"/>
                              <a:gd name="T11" fmla="*/ 19 h 123"/>
                              <a:gd name="T12" fmla="*/ 28 w 116"/>
                              <a:gd name="T13" fmla="*/ 20 h 123"/>
                              <a:gd name="T14" fmla="*/ 31 w 116"/>
                              <a:gd name="T15" fmla="*/ 23 h 123"/>
                              <a:gd name="T16" fmla="*/ 35 w 116"/>
                              <a:gd name="T17" fmla="*/ 23 h 123"/>
                              <a:gd name="T18" fmla="*/ 40 w 116"/>
                              <a:gd name="T19" fmla="*/ 28 h 123"/>
                              <a:gd name="T20" fmla="*/ 44 w 116"/>
                              <a:gd name="T21" fmla="*/ 31 h 123"/>
                              <a:gd name="T22" fmla="*/ 49 w 116"/>
                              <a:gd name="T23" fmla="*/ 34 h 123"/>
                              <a:gd name="T24" fmla="*/ 48 w 116"/>
                              <a:gd name="T25" fmla="*/ 36 h 123"/>
                              <a:gd name="T26" fmla="*/ 45 w 116"/>
                              <a:gd name="T27" fmla="*/ 37 h 123"/>
                              <a:gd name="T28" fmla="*/ 43 w 116"/>
                              <a:gd name="T29" fmla="*/ 37 h 123"/>
                              <a:gd name="T30" fmla="*/ 41 w 116"/>
                              <a:gd name="T31" fmla="*/ 39 h 123"/>
                              <a:gd name="T32" fmla="*/ 47 w 116"/>
                              <a:gd name="T33" fmla="*/ 44 h 123"/>
                              <a:gd name="T34" fmla="*/ 51 w 116"/>
                              <a:gd name="T35" fmla="*/ 48 h 123"/>
                              <a:gd name="T36" fmla="*/ 57 w 116"/>
                              <a:gd name="T37" fmla="*/ 52 h 123"/>
                              <a:gd name="T38" fmla="*/ 53 w 116"/>
                              <a:gd name="T39" fmla="*/ 58 h 123"/>
                              <a:gd name="T40" fmla="*/ 50 w 116"/>
                              <a:gd name="T41" fmla="*/ 59 h 123"/>
                              <a:gd name="T42" fmla="*/ 50 w 116"/>
                              <a:gd name="T43" fmla="*/ 62 h 123"/>
                              <a:gd name="T44" fmla="*/ 44 w 116"/>
                              <a:gd name="T45" fmla="*/ 62 h 123"/>
                              <a:gd name="T46" fmla="*/ 42 w 116"/>
                              <a:gd name="T47" fmla="*/ 60 h 123"/>
                              <a:gd name="T48" fmla="*/ 37 w 116"/>
                              <a:gd name="T49" fmla="*/ 54 h 123"/>
                              <a:gd name="T50" fmla="*/ 34 w 116"/>
                              <a:gd name="T51" fmla="*/ 49 h 123"/>
                              <a:gd name="T52" fmla="*/ 29 w 116"/>
                              <a:gd name="T53" fmla="*/ 40 h 123"/>
                              <a:gd name="T54" fmla="*/ 23 w 116"/>
                              <a:gd name="T55" fmla="*/ 34 h 123"/>
                              <a:gd name="T56" fmla="*/ 16 w 116"/>
                              <a:gd name="T57" fmla="*/ 24 h 123"/>
                              <a:gd name="T58" fmla="*/ 12 w 116"/>
                              <a:gd name="T59" fmla="*/ 21 h 123"/>
                              <a:gd name="T60" fmla="*/ 8 w 116"/>
                              <a:gd name="T61" fmla="*/ 19 h 123"/>
                              <a:gd name="T62" fmla="*/ 7 w 116"/>
                              <a:gd name="T63" fmla="*/ 14 h 123"/>
                              <a:gd name="T64" fmla="*/ 1 w 116"/>
                              <a:gd name="T65" fmla="*/ 10 h 123"/>
                              <a:gd name="T66" fmla="*/ 1 w 116"/>
                              <a:gd name="T67" fmla="*/ 7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0624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60625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320 w 838"/>
                              <a:gd name="T1" fmla="*/ 76 h 938"/>
                              <a:gd name="T2" fmla="*/ 359 w 838"/>
                              <a:gd name="T3" fmla="*/ 153 h 938"/>
                              <a:gd name="T4" fmla="*/ 375 w 838"/>
                              <a:gd name="T5" fmla="*/ 174 h 938"/>
                              <a:gd name="T6" fmla="*/ 409 w 838"/>
                              <a:gd name="T7" fmla="*/ 169 h 938"/>
                              <a:gd name="T8" fmla="*/ 418 w 838"/>
                              <a:gd name="T9" fmla="*/ 188 h 938"/>
                              <a:gd name="T10" fmla="*/ 377 w 838"/>
                              <a:gd name="T11" fmla="*/ 239 h 938"/>
                              <a:gd name="T12" fmla="*/ 344 w 838"/>
                              <a:gd name="T13" fmla="*/ 300 h 938"/>
                              <a:gd name="T14" fmla="*/ 348 w 838"/>
                              <a:gd name="T15" fmla="*/ 322 h 938"/>
                              <a:gd name="T16" fmla="*/ 348 w 838"/>
                              <a:gd name="T17" fmla="*/ 344 h 938"/>
                              <a:gd name="T18" fmla="*/ 333 w 838"/>
                              <a:gd name="T19" fmla="*/ 352 h 938"/>
                              <a:gd name="T20" fmla="*/ 311 w 838"/>
                              <a:gd name="T21" fmla="*/ 382 h 938"/>
                              <a:gd name="T22" fmla="*/ 303 w 838"/>
                              <a:gd name="T23" fmla="*/ 408 h 938"/>
                              <a:gd name="T24" fmla="*/ 282 w 838"/>
                              <a:gd name="T25" fmla="*/ 442 h 938"/>
                              <a:gd name="T26" fmla="*/ 270 w 838"/>
                              <a:gd name="T27" fmla="*/ 450 h 938"/>
                              <a:gd name="T28" fmla="*/ 244 w 838"/>
                              <a:gd name="T29" fmla="*/ 468 h 938"/>
                              <a:gd name="T30" fmla="*/ 213 w 838"/>
                              <a:gd name="T31" fmla="*/ 462 h 938"/>
                              <a:gd name="T32" fmla="*/ 210 w 838"/>
                              <a:gd name="T33" fmla="*/ 445 h 938"/>
                              <a:gd name="T34" fmla="*/ 197 w 838"/>
                              <a:gd name="T35" fmla="*/ 422 h 938"/>
                              <a:gd name="T36" fmla="*/ 194 w 838"/>
                              <a:gd name="T37" fmla="*/ 402 h 938"/>
                              <a:gd name="T38" fmla="*/ 190 w 838"/>
                              <a:gd name="T39" fmla="*/ 389 h 938"/>
                              <a:gd name="T40" fmla="*/ 177 w 838"/>
                              <a:gd name="T41" fmla="*/ 375 h 938"/>
                              <a:gd name="T42" fmla="*/ 169 w 838"/>
                              <a:gd name="T43" fmla="*/ 356 h 938"/>
                              <a:gd name="T44" fmla="*/ 180 w 838"/>
                              <a:gd name="T45" fmla="*/ 323 h 938"/>
                              <a:gd name="T46" fmla="*/ 175 w 838"/>
                              <a:gd name="T47" fmla="*/ 278 h 938"/>
                              <a:gd name="T48" fmla="*/ 156 w 838"/>
                              <a:gd name="T49" fmla="*/ 255 h 938"/>
                              <a:gd name="T50" fmla="*/ 154 w 838"/>
                              <a:gd name="T51" fmla="*/ 220 h 938"/>
                              <a:gd name="T52" fmla="*/ 126 w 838"/>
                              <a:gd name="T53" fmla="*/ 207 h 938"/>
                              <a:gd name="T54" fmla="*/ 92 w 838"/>
                              <a:gd name="T55" fmla="*/ 211 h 938"/>
                              <a:gd name="T56" fmla="*/ 20 w 838"/>
                              <a:gd name="T57" fmla="*/ 182 h 938"/>
                              <a:gd name="T58" fmla="*/ 3 w 838"/>
                              <a:gd name="T59" fmla="*/ 136 h 938"/>
                              <a:gd name="T60" fmla="*/ 17 w 838"/>
                              <a:gd name="T61" fmla="*/ 103 h 938"/>
                              <a:gd name="T62" fmla="*/ 41 w 838"/>
                              <a:gd name="T63" fmla="*/ 68 h 938"/>
                              <a:gd name="T64" fmla="*/ 76 w 838"/>
                              <a:gd name="T65" fmla="*/ 41 h 938"/>
                              <a:gd name="T66" fmla="*/ 103 w 838"/>
                              <a:gd name="T67" fmla="*/ 13 h 938"/>
                              <a:gd name="T68" fmla="*/ 127 w 838"/>
                              <a:gd name="T69" fmla="*/ 20 h 938"/>
                              <a:gd name="T70" fmla="*/ 154 w 838"/>
                              <a:gd name="T71" fmla="*/ 7 h 938"/>
                              <a:gd name="T72" fmla="*/ 173 w 838"/>
                              <a:gd name="T73" fmla="*/ 2 h 938"/>
                              <a:gd name="T74" fmla="*/ 187 w 838"/>
                              <a:gd name="T75" fmla="*/ 16 h 938"/>
                              <a:gd name="T76" fmla="*/ 216 w 838"/>
                              <a:gd name="T77" fmla="*/ 39 h 938"/>
                              <a:gd name="T78" fmla="*/ 235 w 838"/>
                              <a:gd name="T79" fmla="*/ 29 h 938"/>
                              <a:gd name="T80" fmla="*/ 266 w 838"/>
                              <a:gd name="T81" fmla="*/ 37 h 938"/>
                              <a:gd name="T82" fmla="*/ 300 w 838"/>
                              <a:gd name="T83" fmla="*/ 36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0626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60630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60632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6 w 53"/>
                                  <a:gd name="T1" fmla="*/ 10 h 66"/>
                                  <a:gd name="T2" fmla="*/ 8 w 53"/>
                                  <a:gd name="T3" fmla="*/ 7 h 66"/>
                                  <a:gd name="T4" fmla="*/ 13 w 53"/>
                                  <a:gd name="T5" fmla="*/ 7 h 66"/>
                                  <a:gd name="T6" fmla="*/ 20 w 53"/>
                                  <a:gd name="T7" fmla="*/ 0 h 66"/>
                                  <a:gd name="T8" fmla="*/ 22 w 53"/>
                                  <a:gd name="T9" fmla="*/ 4 h 66"/>
                                  <a:gd name="T10" fmla="*/ 26 w 53"/>
                                  <a:gd name="T11" fmla="*/ 4 h 66"/>
                                  <a:gd name="T12" fmla="*/ 27 w 53"/>
                                  <a:gd name="T13" fmla="*/ 7 h 66"/>
                                  <a:gd name="T14" fmla="*/ 25 w 53"/>
                                  <a:gd name="T15" fmla="*/ 10 h 66"/>
                                  <a:gd name="T16" fmla="*/ 22 w 53"/>
                                  <a:gd name="T17" fmla="*/ 12 h 66"/>
                                  <a:gd name="T18" fmla="*/ 22 w 53"/>
                                  <a:gd name="T19" fmla="*/ 15 h 66"/>
                                  <a:gd name="T20" fmla="*/ 21 w 53"/>
                                  <a:gd name="T21" fmla="*/ 16 h 66"/>
                                  <a:gd name="T22" fmla="*/ 21 w 53"/>
                                  <a:gd name="T23" fmla="*/ 19 h 66"/>
                                  <a:gd name="T24" fmla="*/ 22 w 53"/>
                                  <a:gd name="T25" fmla="*/ 22 h 66"/>
                                  <a:gd name="T26" fmla="*/ 20 w 53"/>
                                  <a:gd name="T27" fmla="*/ 24 h 66"/>
                                  <a:gd name="T28" fmla="*/ 18 w 53"/>
                                  <a:gd name="T29" fmla="*/ 26 h 66"/>
                                  <a:gd name="T30" fmla="*/ 16 w 53"/>
                                  <a:gd name="T31" fmla="*/ 26 h 66"/>
                                  <a:gd name="T32" fmla="*/ 15 w 53"/>
                                  <a:gd name="T33" fmla="*/ 27 h 66"/>
                                  <a:gd name="T34" fmla="*/ 15 w 53"/>
                                  <a:gd name="T35" fmla="*/ 29 h 66"/>
                                  <a:gd name="T36" fmla="*/ 11 w 53"/>
                                  <a:gd name="T37" fmla="*/ 30 h 66"/>
                                  <a:gd name="T38" fmla="*/ 11 w 53"/>
                                  <a:gd name="T39" fmla="*/ 29 h 66"/>
                                  <a:gd name="T40" fmla="*/ 8 w 53"/>
                                  <a:gd name="T41" fmla="*/ 31 h 66"/>
                                  <a:gd name="T42" fmla="*/ 7 w 53"/>
                                  <a:gd name="T43" fmla="*/ 32 h 66"/>
                                  <a:gd name="T44" fmla="*/ 4 w 53"/>
                                  <a:gd name="T45" fmla="*/ 34 h 66"/>
                                  <a:gd name="T46" fmla="*/ 2 w 53"/>
                                  <a:gd name="T47" fmla="*/ 34 h 66"/>
                                  <a:gd name="T48" fmla="*/ 2 w 53"/>
                                  <a:gd name="T49" fmla="*/ 32 h 66"/>
                                  <a:gd name="T50" fmla="*/ 1 w 53"/>
                                  <a:gd name="T51" fmla="*/ 29 h 66"/>
                                  <a:gd name="T52" fmla="*/ 0 w 53"/>
                                  <a:gd name="T53" fmla="*/ 28 h 66"/>
                                  <a:gd name="T54" fmla="*/ 0 w 53"/>
                                  <a:gd name="T55" fmla="*/ 25 h 66"/>
                                  <a:gd name="T56" fmla="*/ 2 w 53"/>
                                  <a:gd name="T57" fmla="*/ 24 h 66"/>
                                  <a:gd name="T58" fmla="*/ 4 w 53"/>
                                  <a:gd name="T59" fmla="*/ 22 h 66"/>
                                  <a:gd name="T60" fmla="*/ 6 w 53"/>
                                  <a:gd name="T61" fmla="*/ 19 h 66"/>
                                  <a:gd name="T62" fmla="*/ 8 w 53"/>
                                  <a:gd name="T63" fmla="*/ 19 h 66"/>
                                  <a:gd name="T64" fmla="*/ 9 w 53"/>
                                  <a:gd name="T65" fmla="*/ 20 h 66"/>
                                  <a:gd name="T66" fmla="*/ 11 w 53"/>
                                  <a:gd name="T67" fmla="*/ 19 h 66"/>
                                  <a:gd name="T68" fmla="*/ 9 w 53"/>
                                  <a:gd name="T69" fmla="*/ 19 h 66"/>
                                  <a:gd name="T70" fmla="*/ 6 w 53"/>
                                  <a:gd name="T71" fmla="*/ 10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60633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12 w 65"/>
                                  <a:gd name="T1" fmla="*/ 7 h 120"/>
                                  <a:gd name="T2" fmla="*/ 20 w 65"/>
                                  <a:gd name="T3" fmla="*/ 6 h 120"/>
                                  <a:gd name="T4" fmla="*/ 23 w 65"/>
                                  <a:gd name="T5" fmla="*/ 4 h 120"/>
                                  <a:gd name="T6" fmla="*/ 26 w 65"/>
                                  <a:gd name="T7" fmla="*/ 1 h 120"/>
                                  <a:gd name="T8" fmla="*/ 32 w 65"/>
                                  <a:gd name="T9" fmla="*/ 1 h 120"/>
                                  <a:gd name="T10" fmla="*/ 30 w 65"/>
                                  <a:gd name="T11" fmla="*/ 6 h 120"/>
                                  <a:gd name="T12" fmla="*/ 27 w 65"/>
                                  <a:gd name="T13" fmla="*/ 7 h 120"/>
                                  <a:gd name="T14" fmla="*/ 23 w 65"/>
                                  <a:gd name="T15" fmla="*/ 12 h 120"/>
                                  <a:gd name="T16" fmla="*/ 28 w 65"/>
                                  <a:gd name="T17" fmla="*/ 12 h 120"/>
                                  <a:gd name="T18" fmla="*/ 32 w 65"/>
                                  <a:gd name="T19" fmla="*/ 12 h 120"/>
                                  <a:gd name="T20" fmla="*/ 29 w 65"/>
                                  <a:gd name="T21" fmla="*/ 17 h 120"/>
                                  <a:gd name="T22" fmla="*/ 25 w 65"/>
                                  <a:gd name="T23" fmla="*/ 19 h 120"/>
                                  <a:gd name="T24" fmla="*/ 24 w 65"/>
                                  <a:gd name="T25" fmla="*/ 23 h 120"/>
                                  <a:gd name="T26" fmla="*/ 28 w 65"/>
                                  <a:gd name="T27" fmla="*/ 28 h 120"/>
                                  <a:gd name="T28" fmla="*/ 30 w 65"/>
                                  <a:gd name="T29" fmla="*/ 33 h 120"/>
                                  <a:gd name="T30" fmla="*/ 32 w 65"/>
                                  <a:gd name="T31" fmla="*/ 39 h 120"/>
                                  <a:gd name="T32" fmla="*/ 31 w 65"/>
                                  <a:gd name="T33" fmla="*/ 47 h 120"/>
                                  <a:gd name="T34" fmla="*/ 27 w 65"/>
                                  <a:gd name="T35" fmla="*/ 51 h 120"/>
                                  <a:gd name="T36" fmla="*/ 30 w 65"/>
                                  <a:gd name="T37" fmla="*/ 57 h 120"/>
                                  <a:gd name="T38" fmla="*/ 23 w 65"/>
                                  <a:gd name="T39" fmla="*/ 57 h 120"/>
                                  <a:gd name="T40" fmla="*/ 18 w 65"/>
                                  <a:gd name="T41" fmla="*/ 56 h 120"/>
                                  <a:gd name="T42" fmla="*/ 12 w 65"/>
                                  <a:gd name="T43" fmla="*/ 58 h 120"/>
                                  <a:gd name="T44" fmla="*/ 9 w 65"/>
                                  <a:gd name="T45" fmla="*/ 59 h 120"/>
                                  <a:gd name="T46" fmla="*/ 5 w 65"/>
                                  <a:gd name="T47" fmla="*/ 60 h 120"/>
                                  <a:gd name="T48" fmla="*/ 1 w 65"/>
                                  <a:gd name="T49" fmla="*/ 57 h 120"/>
                                  <a:gd name="T50" fmla="*/ 0 w 65"/>
                                  <a:gd name="T51" fmla="*/ 54 h 120"/>
                                  <a:gd name="T52" fmla="*/ 3 w 65"/>
                                  <a:gd name="T53" fmla="*/ 50 h 120"/>
                                  <a:gd name="T54" fmla="*/ 8 w 65"/>
                                  <a:gd name="T55" fmla="*/ 49 h 120"/>
                                  <a:gd name="T56" fmla="*/ 5 w 65"/>
                                  <a:gd name="T57" fmla="*/ 47 h 120"/>
                                  <a:gd name="T58" fmla="*/ 5 w 65"/>
                                  <a:gd name="T59" fmla="*/ 44 h 120"/>
                                  <a:gd name="T60" fmla="*/ 10 w 65"/>
                                  <a:gd name="T61" fmla="*/ 41 h 120"/>
                                  <a:gd name="T62" fmla="*/ 13 w 65"/>
                                  <a:gd name="T63" fmla="*/ 41 h 120"/>
                                  <a:gd name="T64" fmla="*/ 15 w 65"/>
                                  <a:gd name="T65" fmla="*/ 34 h 120"/>
                                  <a:gd name="T66" fmla="*/ 17 w 65"/>
                                  <a:gd name="T67" fmla="*/ 28 h 120"/>
                                  <a:gd name="T68" fmla="*/ 14 w 65"/>
                                  <a:gd name="T69" fmla="*/ 23 h 120"/>
                                  <a:gd name="T70" fmla="*/ 7 w 65"/>
                                  <a:gd name="T71" fmla="*/ 22 h 120"/>
                                  <a:gd name="T72" fmla="*/ 10 w 65"/>
                                  <a:gd name="T73" fmla="*/ 9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60631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2 w 370"/>
                                <a:gd name="T1" fmla="*/ 99 h 203"/>
                                <a:gd name="T2" fmla="*/ 19 w 370"/>
                                <a:gd name="T3" fmla="*/ 92 h 203"/>
                                <a:gd name="T4" fmla="*/ 23 w 370"/>
                                <a:gd name="T5" fmla="*/ 90 h 203"/>
                                <a:gd name="T6" fmla="*/ 28 w 370"/>
                                <a:gd name="T7" fmla="*/ 87 h 203"/>
                                <a:gd name="T8" fmla="*/ 34 w 370"/>
                                <a:gd name="T9" fmla="*/ 87 h 203"/>
                                <a:gd name="T10" fmla="*/ 38 w 370"/>
                                <a:gd name="T11" fmla="*/ 85 h 203"/>
                                <a:gd name="T12" fmla="*/ 43 w 370"/>
                                <a:gd name="T13" fmla="*/ 80 h 203"/>
                                <a:gd name="T14" fmla="*/ 47 w 370"/>
                                <a:gd name="T15" fmla="*/ 78 h 203"/>
                                <a:gd name="T16" fmla="*/ 52 w 370"/>
                                <a:gd name="T17" fmla="*/ 76 h 203"/>
                                <a:gd name="T18" fmla="*/ 57 w 370"/>
                                <a:gd name="T19" fmla="*/ 73 h 203"/>
                                <a:gd name="T20" fmla="*/ 65 w 370"/>
                                <a:gd name="T21" fmla="*/ 71 h 203"/>
                                <a:gd name="T22" fmla="*/ 76 w 370"/>
                                <a:gd name="T23" fmla="*/ 73 h 203"/>
                                <a:gd name="T24" fmla="*/ 85 w 370"/>
                                <a:gd name="T25" fmla="*/ 70 h 203"/>
                                <a:gd name="T26" fmla="*/ 89 w 370"/>
                                <a:gd name="T27" fmla="*/ 63 h 203"/>
                                <a:gd name="T28" fmla="*/ 95 w 370"/>
                                <a:gd name="T29" fmla="*/ 57 h 203"/>
                                <a:gd name="T30" fmla="*/ 99 w 370"/>
                                <a:gd name="T31" fmla="*/ 52 h 203"/>
                                <a:gd name="T32" fmla="*/ 103 w 370"/>
                                <a:gd name="T33" fmla="*/ 48 h 203"/>
                                <a:gd name="T34" fmla="*/ 111 w 370"/>
                                <a:gd name="T35" fmla="*/ 42 h 203"/>
                                <a:gd name="T36" fmla="*/ 109 w 370"/>
                                <a:gd name="T37" fmla="*/ 49 h 203"/>
                                <a:gd name="T38" fmla="*/ 116 w 370"/>
                                <a:gd name="T39" fmla="*/ 52 h 203"/>
                                <a:gd name="T40" fmla="*/ 121 w 370"/>
                                <a:gd name="T41" fmla="*/ 50 h 203"/>
                                <a:gd name="T42" fmla="*/ 123 w 370"/>
                                <a:gd name="T43" fmla="*/ 45 h 203"/>
                                <a:gd name="T44" fmla="*/ 125 w 370"/>
                                <a:gd name="T45" fmla="*/ 40 h 203"/>
                                <a:gd name="T46" fmla="*/ 129 w 370"/>
                                <a:gd name="T47" fmla="*/ 36 h 203"/>
                                <a:gd name="T48" fmla="*/ 139 w 370"/>
                                <a:gd name="T49" fmla="*/ 36 h 203"/>
                                <a:gd name="T50" fmla="*/ 150 w 370"/>
                                <a:gd name="T51" fmla="*/ 29 h 203"/>
                                <a:gd name="T52" fmla="*/ 160 w 370"/>
                                <a:gd name="T53" fmla="*/ 24 h 203"/>
                                <a:gd name="T54" fmla="*/ 171 w 370"/>
                                <a:gd name="T55" fmla="*/ 11 h 203"/>
                                <a:gd name="T56" fmla="*/ 181 w 370"/>
                                <a:gd name="T57" fmla="*/ 5 h 203"/>
                                <a:gd name="T58" fmla="*/ 177 w 370"/>
                                <a:gd name="T59" fmla="*/ 0 h 203"/>
                                <a:gd name="T60" fmla="*/ 161 w 370"/>
                                <a:gd name="T61" fmla="*/ 3 h 203"/>
                                <a:gd name="T62" fmla="*/ 150 w 370"/>
                                <a:gd name="T63" fmla="*/ 7 h 203"/>
                                <a:gd name="T64" fmla="*/ 138 w 370"/>
                                <a:gd name="T65" fmla="*/ 9 h 203"/>
                                <a:gd name="T66" fmla="*/ 123 w 370"/>
                                <a:gd name="T67" fmla="*/ 15 h 203"/>
                                <a:gd name="T68" fmla="*/ 111 w 370"/>
                                <a:gd name="T69" fmla="*/ 18 h 203"/>
                                <a:gd name="T70" fmla="*/ 98 w 370"/>
                                <a:gd name="T71" fmla="*/ 24 h 203"/>
                                <a:gd name="T72" fmla="*/ 89 w 370"/>
                                <a:gd name="T73" fmla="*/ 31 h 203"/>
                                <a:gd name="T74" fmla="*/ 82 w 370"/>
                                <a:gd name="T75" fmla="*/ 36 h 203"/>
                                <a:gd name="T76" fmla="*/ 67 w 370"/>
                                <a:gd name="T77" fmla="*/ 45 h 203"/>
                                <a:gd name="T78" fmla="*/ 51 w 370"/>
                                <a:gd name="T79" fmla="*/ 56 h 203"/>
                                <a:gd name="T80" fmla="*/ 39 w 370"/>
                                <a:gd name="T81" fmla="*/ 64 h 203"/>
                                <a:gd name="T82" fmla="*/ 28 w 370"/>
                                <a:gd name="T83" fmla="*/ 75 h 203"/>
                                <a:gd name="T84" fmla="*/ 17 w 370"/>
                                <a:gd name="T85" fmla="*/ 82 h 203"/>
                                <a:gd name="T86" fmla="*/ 0 w 370"/>
                                <a:gd name="T87" fmla="*/ 101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0627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27 w 552"/>
                              <a:gd name="T1" fmla="*/ 29 h 189"/>
                              <a:gd name="T2" fmla="*/ 38 w 552"/>
                              <a:gd name="T3" fmla="*/ 27 h 189"/>
                              <a:gd name="T4" fmla="*/ 70 w 552"/>
                              <a:gd name="T5" fmla="*/ 25 h 189"/>
                              <a:gd name="T6" fmla="*/ 79 w 552"/>
                              <a:gd name="T7" fmla="*/ 21 h 189"/>
                              <a:gd name="T8" fmla="*/ 88 w 552"/>
                              <a:gd name="T9" fmla="*/ 19 h 189"/>
                              <a:gd name="T10" fmla="*/ 90 w 552"/>
                              <a:gd name="T11" fmla="*/ 19 h 189"/>
                              <a:gd name="T12" fmla="*/ 101 w 552"/>
                              <a:gd name="T13" fmla="*/ 21 h 189"/>
                              <a:gd name="T14" fmla="*/ 107 w 552"/>
                              <a:gd name="T15" fmla="*/ 25 h 189"/>
                              <a:gd name="T16" fmla="*/ 116 w 552"/>
                              <a:gd name="T17" fmla="*/ 28 h 189"/>
                              <a:gd name="T18" fmla="*/ 127 w 552"/>
                              <a:gd name="T19" fmla="*/ 25 h 189"/>
                              <a:gd name="T20" fmla="*/ 137 w 552"/>
                              <a:gd name="T21" fmla="*/ 21 h 189"/>
                              <a:gd name="T22" fmla="*/ 145 w 552"/>
                              <a:gd name="T23" fmla="*/ 19 h 189"/>
                              <a:gd name="T24" fmla="*/ 152 w 552"/>
                              <a:gd name="T25" fmla="*/ 19 h 189"/>
                              <a:gd name="T26" fmla="*/ 168 w 552"/>
                              <a:gd name="T27" fmla="*/ 23 h 189"/>
                              <a:gd name="T28" fmla="*/ 180 w 552"/>
                              <a:gd name="T29" fmla="*/ 19 h 189"/>
                              <a:gd name="T30" fmla="*/ 184 w 552"/>
                              <a:gd name="T31" fmla="*/ 17 h 189"/>
                              <a:gd name="T32" fmla="*/ 198 w 552"/>
                              <a:gd name="T33" fmla="*/ 12 h 189"/>
                              <a:gd name="T34" fmla="*/ 208 w 552"/>
                              <a:gd name="T35" fmla="*/ 10 h 189"/>
                              <a:gd name="T36" fmla="*/ 217 w 552"/>
                              <a:gd name="T37" fmla="*/ 5 h 189"/>
                              <a:gd name="T38" fmla="*/ 222 w 552"/>
                              <a:gd name="T39" fmla="*/ 3 h 189"/>
                              <a:gd name="T40" fmla="*/ 226 w 552"/>
                              <a:gd name="T41" fmla="*/ 0 h 189"/>
                              <a:gd name="T42" fmla="*/ 229 w 552"/>
                              <a:gd name="T43" fmla="*/ 7 h 189"/>
                              <a:gd name="T44" fmla="*/ 233 w 552"/>
                              <a:gd name="T45" fmla="*/ 13 h 189"/>
                              <a:gd name="T46" fmla="*/ 237 w 552"/>
                              <a:gd name="T47" fmla="*/ 14 h 189"/>
                              <a:gd name="T48" fmla="*/ 240 w 552"/>
                              <a:gd name="T49" fmla="*/ 16 h 189"/>
                              <a:gd name="T50" fmla="*/ 259 w 552"/>
                              <a:gd name="T51" fmla="*/ 20 h 189"/>
                              <a:gd name="T52" fmla="*/ 262 w 552"/>
                              <a:gd name="T53" fmla="*/ 23 h 189"/>
                              <a:gd name="T54" fmla="*/ 274 w 552"/>
                              <a:gd name="T55" fmla="*/ 24 h 189"/>
                              <a:gd name="T56" fmla="*/ 275 w 552"/>
                              <a:gd name="T57" fmla="*/ 32 h 189"/>
                              <a:gd name="T58" fmla="*/ 257 w 552"/>
                              <a:gd name="T59" fmla="*/ 46 h 189"/>
                              <a:gd name="T60" fmla="*/ 228 w 552"/>
                              <a:gd name="T61" fmla="*/ 68 h 189"/>
                              <a:gd name="T62" fmla="*/ 198 w 552"/>
                              <a:gd name="T63" fmla="*/ 83 h 189"/>
                              <a:gd name="T64" fmla="*/ 178 w 552"/>
                              <a:gd name="T65" fmla="*/ 88 h 189"/>
                              <a:gd name="T66" fmla="*/ 163 w 552"/>
                              <a:gd name="T67" fmla="*/ 90 h 189"/>
                              <a:gd name="T68" fmla="*/ 150 w 552"/>
                              <a:gd name="T69" fmla="*/ 92 h 189"/>
                              <a:gd name="T70" fmla="*/ 133 w 552"/>
                              <a:gd name="T71" fmla="*/ 93 h 189"/>
                              <a:gd name="T72" fmla="*/ 116 w 552"/>
                              <a:gd name="T73" fmla="*/ 95 h 189"/>
                              <a:gd name="T74" fmla="*/ 101 w 552"/>
                              <a:gd name="T75" fmla="*/ 91 h 189"/>
                              <a:gd name="T76" fmla="*/ 84 w 552"/>
                              <a:gd name="T77" fmla="*/ 91 h 189"/>
                              <a:gd name="T78" fmla="*/ 69 w 552"/>
                              <a:gd name="T79" fmla="*/ 89 h 189"/>
                              <a:gd name="T80" fmla="*/ 57 w 552"/>
                              <a:gd name="T81" fmla="*/ 85 h 189"/>
                              <a:gd name="T82" fmla="*/ 41 w 552"/>
                              <a:gd name="T83" fmla="*/ 77 h 189"/>
                              <a:gd name="T84" fmla="*/ 25 w 552"/>
                              <a:gd name="T85" fmla="*/ 67 h 189"/>
                              <a:gd name="T86" fmla="*/ 12 w 552"/>
                              <a:gd name="T87" fmla="*/ 55 h 189"/>
                              <a:gd name="T88" fmla="*/ 0 w 552"/>
                              <a:gd name="T89" fmla="*/ 42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28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1 w 110"/>
                              <a:gd name="T1" fmla="*/ 31 h 197"/>
                              <a:gd name="T2" fmla="*/ 9 w 110"/>
                              <a:gd name="T3" fmla="*/ 51 h 197"/>
                              <a:gd name="T4" fmla="*/ 4 w 110"/>
                              <a:gd name="T5" fmla="*/ 63 h 197"/>
                              <a:gd name="T6" fmla="*/ 0 w 110"/>
                              <a:gd name="T7" fmla="*/ 75 h 197"/>
                              <a:gd name="T8" fmla="*/ 0 w 110"/>
                              <a:gd name="T9" fmla="*/ 84 h 197"/>
                              <a:gd name="T10" fmla="*/ 2 w 110"/>
                              <a:gd name="T11" fmla="*/ 91 h 197"/>
                              <a:gd name="T12" fmla="*/ 6 w 110"/>
                              <a:gd name="T13" fmla="*/ 97 h 197"/>
                              <a:gd name="T14" fmla="*/ 11 w 110"/>
                              <a:gd name="T15" fmla="*/ 98 h 197"/>
                              <a:gd name="T16" fmla="*/ 14 w 110"/>
                              <a:gd name="T17" fmla="*/ 98 h 197"/>
                              <a:gd name="T18" fmla="*/ 18 w 110"/>
                              <a:gd name="T19" fmla="*/ 99 h 197"/>
                              <a:gd name="T20" fmla="*/ 20 w 110"/>
                              <a:gd name="T21" fmla="*/ 94 h 197"/>
                              <a:gd name="T22" fmla="*/ 22 w 110"/>
                              <a:gd name="T23" fmla="*/ 81 h 197"/>
                              <a:gd name="T24" fmla="*/ 28 w 110"/>
                              <a:gd name="T25" fmla="*/ 72 h 197"/>
                              <a:gd name="T26" fmla="*/ 29 w 110"/>
                              <a:gd name="T27" fmla="*/ 59 h 197"/>
                              <a:gd name="T28" fmla="*/ 33 w 110"/>
                              <a:gd name="T29" fmla="*/ 54 h 197"/>
                              <a:gd name="T30" fmla="*/ 35 w 110"/>
                              <a:gd name="T31" fmla="*/ 50 h 197"/>
                              <a:gd name="T32" fmla="*/ 37 w 110"/>
                              <a:gd name="T33" fmla="*/ 41 h 197"/>
                              <a:gd name="T34" fmla="*/ 41 w 110"/>
                              <a:gd name="T35" fmla="*/ 35 h 197"/>
                              <a:gd name="T36" fmla="*/ 44 w 110"/>
                              <a:gd name="T37" fmla="*/ 31 h 197"/>
                              <a:gd name="T38" fmla="*/ 47 w 110"/>
                              <a:gd name="T39" fmla="*/ 27 h 197"/>
                              <a:gd name="T40" fmla="*/ 47 w 110"/>
                              <a:gd name="T41" fmla="*/ 25 h 197"/>
                              <a:gd name="T42" fmla="*/ 53 w 110"/>
                              <a:gd name="T43" fmla="*/ 20 h 197"/>
                              <a:gd name="T44" fmla="*/ 54 w 110"/>
                              <a:gd name="T45" fmla="*/ 11 h 197"/>
                              <a:gd name="T46" fmla="*/ 55 w 110"/>
                              <a:gd name="T47" fmla="*/ 6 h 197"/>
                              <a:gd name="T48" fmla="*/ 50 w 110"/>
                              <a:gd name="T49" fmla="*/ 4 h 197"/>
                              <a:gd name="T50" fmla="*/ 46 w 110"/>
                              <a:gd name="T51" fmla="*/ 0 h 197"/>
                              <a:gd name="T52" fmla="*/ 41 w 110"/>
                              <a:gd name="T53" fmla="*/ 4 h 197"/>
                              <a:gd name="T54" fmla="*/ 37 w 110"/>
                              <a:gd name="T55" fmla="*/ 12 h 197"/>
                              <a:gd name="T56" fmla="*/ 33 w 110"/>
                              <a:gd name="T57" fmla="*/ 19 h 197"/>
                              <a:gd name="T58" fmla="*/ 28 w 110"/>
                              <a:gd name="T59" fmla="*/ 24 h 197"/>
                              <a:gd name="T60" fmla="*/ 26 w 110"/>
                              <a:gd name="T61" fmla="*/ 24 h 197"/>
                              <a:gd name="T62" fmla="*/ 22 w 110"/>
                              <a:gd name="T63" fmla="*/ 27 h 197"/>
                              <a:gd name="T64" fmla="*/ 20 w 110"/>
                              <a:gd name="T65" fmla="*/ 30 h 197"/>
                              <a:gd name="T66" fmla="*/ 11 w 110"/>
                              <a:gd name="T67" fmla="*/ 31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0629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44 w 1503"/>
                              <a:gd name="T1" fmla="*/ 196 h 936"/>
                              <a:gd name="T2" fmla="*/ 50 w 1503"/>
                              <a:gd name="T3" fmla="*/ 162 h 936"/>
                              <a:gd name="T4" fmla="*/ 75 w 1503"/>
                              <a:gd name="T5" fmla="*/ 142 h 936"/>
                              <a:gd name="T6" fmla="*/ 104 w 1503"/>
                              <a:gd name="T7" fmla="*/ 133 h 936"/>
                              <a:gd name="T8" fmla="*/ 112 w 1503"/>
                              <a:gd name="T9" fmla="*/ 113 h 936"/>
                              <a:gd name="T10" fmla="*/ 149 w 1503"/>
                              <a:gd name="T11" fmla="*/ 96 h 936"/>
                              <a:gd name="T12" fmla="*/ 173 w 1503"/>
                              <a:gd name="T13" fmla="*/ 71 h 936"/>
                              <a:gd name="T14" fmla="*/ 162 w 1503"/>
                              <a:gd name="T15" fmla="*/ 59 h 936"/>
                              <a:gd name="T16" fmla="*/ 165 w 1503"/>
                              <a:gd name="T17" fmla="*/ 47 h 936"/>
                              <a:gd name="T18" fmla="*/ 141 w 1503"/>
                              <a:gd name="T19" fmla="*/ 64 h 936"/>
                              <a:gd name="T20" fmla="*/ 133 w 1503"/>
                              <a:gd name="T21" fmla="*/ 97 h 936"/>
                              <a:gd name="T22" fmla="*/ 117 w 1503"/>
                              <a:gd name="T23" fmla="*/ 107 h 936"/>
                              <a:gd name="T24" fmla="*/ 108 w 1503"/>
                              <a:gd name="T25" fmla="*/ 90 h 936"/>
                              <a:gd name="T26" fmla="*/ 86 w 1503"/>
                              <a:gd name="T27" fmla="*/ 98 h 936"/>
                              <a:gd name="T28" fmla="*/ 79 w 1503"/>
                              <a:gd name="T29" fmla="*/ 85 h 936"/>
                              <a:gd name="T30" fmla="*/ 80 w 1503"/>
                              <a:gd name="T31" fmla="*/ 72 h 936"/>
                              <a:gd name="T32" fmla="*/ 104 w 1503"/>
                              <a:gd name="T33" fmla="*/ 63 h 936"/>
                              <a:gd name="T34" fmla="*/ 120 w 1503"/>
                              <a:gd name="T35" fmla="*/ 41 h 936"/>
                              <a:gd name="T36" fmla="*/ 145 w 1503"/>
                              <a:gd name="T37" fmla="*/ 14 h 936"/>
                              <a:gd name="T38" fmla="*/ 180 w 1503"/>
                              <a:gd name="T39" fmla="*/ 7 h 936"/>
                              <a:gd name="T40" fmla="*/ 227 w 1503"/>
                              <a:gd name="T41" fmla="*/ 27 h 936"/>
                              <a:gd name="T42" fmla="*/ 210 w 1503"/>
                              <a:gd name="T43" fmla="*/ 59 h 936"/>
                              <a:gd name="T44" fmla="*/ 227 w 1503"/>
                              <a:gd name="T45" fmla="*/ 75 h 936"/>
                              <a:gd name="T46" fmla="*/ 241 w 1503"/>
                              <a:gd name="T47" fmla="*/ 57 h 936"/>
                              <a:gd name="T48" fmla="*/ 304 w 1503"/>
                              <a:gd name="T49" fmla="*/ 49 h 936"/>
                              <a:gd name="T50" fmla="*/ 379 w 1503"/>
                              <a:gd name="T51" fmla="*/ 9 h 936"/>
                              <a:gd name="T52" fmla="*/ 496 w 1503"/>
                              <a:gd name="T53" fmla="*/ 27 h 936"/>
                              <a:gd name="T54" fmla="*/ 709 w 1503"/>
                              <a:gd name="T55" fmla="*/ 60 h 936"/>
                              <a:gd name="T56" fmla="*/ 727 w 1503"/>
                              <a:gd name="T57" fmla="*/ 78 h 936"/>
                              <a:gd name="T58" fmla="*/ 734 w 1503"/>
                              <a:gd name="T59" fmla="*/ 142 h 936"/>
                              <a:gd name="T60" fmla="*/ 673 w 1503"/>
                              <a:gd name="T61" fmla="*/ 91 h 936"/>
                              <a:gd name="T62" fmla="*/ 624 w 1503"/>
                              <a:gd name="T63" fmla="*/ 114 h 936"/>
                              <a:gd name="T64" fmla="*/ 691 w 1503"/>
                              <a:gd name="T65" fmla="*/ 203 h 936"/>
                              <a:gd name="T66" fmla="*/ 664 w 1503"/>
                              <a:gd name="T67" fmla="*/ 242 h 936"/>
                              <a:gd name="T68" fmla="*/ 708 w 1503"/>
                              <a:gd name="T69" fmla="*/ 329 h 936"/>
                              <a:gd name="T70" fmla="*/ 663 w 1503"/>
                              <a:gd name="T71" fmla="*/ 374 h 936"/>
                              <a:gd name="T72" fmla="*/ 651 w 1503"/>
                              <a:gd name="T73" fmla="*/ 409 h 936"/>
                              <a:gd name="T74" fmla="*/ 649 w 1503"/>
                              <a:gd name="T75" fmla="*/ 443 h 936"/>
                              <a:gd name="T76" fmla="*/ 633 w 1503"/>
                              <a:gd name="T77" fmla="*/ 442 h 936"/>
                              <a:gd name="T78" fmla="*/ 586 w 1503"/>
                              <a:gd name="T79" fmla="*/ 370 h 936"/>
                              <a:gd name="T80" fmla="*/ 520 w 1503"/>
                              <a:gd name="T81" fmla="*/ 368 h 936"/>
                              <a:gd name="T82" fmla="*/ 480 w 1503"/>
                              <a:gd name="T83" fmla="*/ 410 h 936"/>
                              <a:gd name="T84" fmla="*/ 398 w 1503"/>
                              <a:gd name="T85" fmla="*/ 319 h 936"/>
                              <a:gd name="T86" fmla="*/ 291 w 1503"/>
                              <a:gd name="T87" fmla="*/ 287 h 936"/>
                              <a:gd name="T88" fmla="*/ 372 w 1503"/>
                              <a:gd name="T89" fmla="*/ 343 h 936"/>
                              <a:gd name="T90" fmla="*/ 277 w 1503"/>
                              <a:gd name="T91" fmla="*/ 394 h 936"/>
                              <a:gd name="T92" fmla="*/ 252 w 1503"/>
                              <a:gd name="T93" fmla="*/ 346 h 936"/>
                              <a:gd name="T94" fmla="*/ 213 w 1503"/>
                              <a:gd name="T95" fmla="*/ 290 h 936"/>
                              <a:gd name="T96" fmla="*/ 189 w 1503"/>
                              <a:gd name="T97" fmla="*/ 249 h 936"/>
                              <a:gd name="T98" fmla="*/ 178 w 1503"/>
                              <a:gd name="T99" fmla="*/ 229 h 936"/>
                              <a:gd name="T100" fmla="*/ 164 w 1503"/>
                              <a:gd name="T101" fmla="*/ 217 h 936"/>
                              <a:gd name="T102" fmla="*/ 158 w 1503"/>
                              <a:gd name="T103" fmla="*/ 239 h 936"/>
                              <a:gd name="T104" fmla="*/ 138 w 1503"/>
                              <a:gd name="T105" fmla="*/ 205 h 936"/>
                              <a:gd name="T106" fmla="*/ 116 w 1503"/>
                              <a:gd name="T107" fmla="*/ 194 h 936"/>
                              <a:gd name="T108" fmla="*/ 140 w 1503"/>
                              <a:gd name="T109" fmla="*/ 223 h 936"/>
                              <a:gd name="T110" fmla="*/ 130 w 1503"/>
                              <a:gd name="T111" fmla="*/ 229 h 936"/>
                              <a:gd name="T112" fmla="*/ 110 w 1503"/>
                              <a:gd name="T113" fmla="*/ 210 h 936"/>
                              <a:gd name="T114" fmla="*/ 88 w 1503"/>
                              <a:gd name="T115" fmla="*/ 197 h 936"/>
                              <a:gd name="T116" fmla="*/ 60 w 1503"/>
                              <a:gd name="T117" fmla="*/ 213 h 936"/>
                              <a:gd name="T118" fmla="*/ 53 w 1503"/>
                              <a:gd name="T119" fmla="*/ 234 h 936"/>
                              <a:gd name="T120" fmla="*/ 34 w 1503"/>
                              <a:gd name="T121" fmla="*/ 248 h 936"/>
                              <a:gd name="T122" fmla="*/ 4 w 1503"/>
                              <a:gd name="T123" fmla="*/ 239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60613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60614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43 w 410"/>
                            <a:gd name="T1" fmla="*/ 25 h 137"/>
                            <a:gd name="T2" fmla="*/ 53 w 410"/>
                            <a:gd name="T3" fmla="*/ 26 h 137"/>
                            <a:gd name="T4" fmla="*/ 67 w 410"/>
                            <a:gd name="T5" fmla="*/ 22 h 137"/>
                            <a:gd name="T6" fmla="*/ 76 w 410"/>
                            <a:gd name="T7" fmla="*/ 20 h 137"/>
                            <a:gd name="T8" fmla="*/ 84 w 410"/>
                            <a:gd name="T9" fmla="*/ 21 h 137"/>
                            <a:gd name="T10" fmla="*/ 100 w 410"/>
                            <a:gd name="T11" fmla="*/ 13 h 137"/>
                            <a:gd name="T12" fmla="*/ 114 w 410"/>
                            <a:gd name="T13" fmla="*/ 11 h 137"/>
                            <a:gd name="T14" fmla="*/ 131 w 410"/>
                            <a:gd name="T15" fmla="*/ 11 h 137"/>
                            <a:gd name="T16" fmla="*/ 149 w 410"/>
                            <a:gd name="T17" fmla="*/ 11 h 137"/>
                            <a:gd name="T18" fmla="*/ 164 w 410"/>
                            <a:gd name="T19" fmla="*/ 16 h 137"/>
                            <a:gd name="T20" fmla="*/ 180 w 410"/>
                            <a:gd name="T21" fmla="*/ 8 h 137"/>
                            <a:gd name="T22" fmla="*/ 194 w 410"/>
                            <a:gd name="T23" fmla="*/ 0 h 137"/>
                            <a:gd name="T24" fmla="*/ 201 w 410"/>
                            <a:gd name="T25" fmla="*/ 5 h 137"/>
                            <a:gd name="T26" fmla="*/ 193 w 410"/>
                            <a:gd name="T27" fmla="*/ 12 h 137"/>
                            <a:gd name="T28" fmla="*/ 183 w 410"/>
                            <a:gd name="T29" fmla="*/ 21 h 137"/>
                            <a:gd name="T30" fmla="*/ 174 w 410"/>
                            <a:gd name="T31" fmla="*/ 27 h 137"/>
                            <a:gd name="T32" fmla="*/ 166 w 410"/>
                            <a:gd name="T33" fmla="*/ 32 h 137"/>
                            <a:gd name="T34" fmla="*/ 157 w 410"/>
                            <a:gd name="T35" fmla="*/ 35 h 137"/>
                            <a:gd name="T36" fmla="*/ 144 w 410"/>
                            <a:gd name="T37" fmla="*/ 42 h 137"/>
                            <a:gd name="T38" fmla="*/ 131 w 410"/>
                            <a:gd name="T39" fmla="*/ 47 h 137"/>
                            <a:gd name="T40" fmla="*/ 118 w 410"/>
                            <a:gd name="T41" fmla="*/ 52 h 137"/>
                            <a:gd name="T42" fmla="*/ 104 w 410"/>
                            <a:gd name="T43" fmla="*/ 57 h 137"/>
                            <a:gd name="T44" fmla="*/ 92 w 410"/>
                            <a:gd name="T45" fmla="*/ 60 h 137"/>
                            <a:gd name="T46" fmla="*/ 78 w 410"/>
                            <a:gd name="T47" fmla="*/ 64 h 137"/>
                            <a:gd name="T48" fmla="*/ 63 w 410"/>
                            <a:gd name="T49" fmla="*/ 67 h 137"/>
                            <a:gd name="T50" fmla="*/ 48 w 410"/>
                            <a:gd name="T51" fmla="*/ 68 h 137"/>
                            <a:gd name="T52" fmla="*/ 32 w 410"/>
                            <a:gd name="T53" fmla="*/ 68 h 137"/>
                            <a:gd name="T54" fmla="*/ 19 w 410"/>
                            <a:gd name="T55" fmla="*/ 61 h 137"/>
                            <a:gd name="T56" fmla="*/ 6 w 410"/>
                            <a:gd name="T57" fmla="*/ 52 h 137"/>
                            <a:gd name="T58" fmla="*/ 18 w 410"/>
                            <a:gd name="T59" fmla="*/ 45 h 137"/>
                            <a:gd name="T60" fmla="*/ 22 w 410"/>
                            <a:gd name="T61" fmla="*/ 44 h 137"/>
                            <a:gd name="T62" fmla="*/ 33 w 410"/>
                            <a:gd name="T63" fmla="*/ 45 h 137"/>
                            <a:gd name="T64" fmla="*/ 39 w 410"/>
                            <a:gd name="T65" fmla="*/ 49 h 137"/>
                            <a:gd name="T66" fmla="*/ 46 w 410"/>
                            <a:gd name="T67" fmla="*/ 49 h 137"/>
                            <a:gd name="T68" fmla="*/ 49 w 410"/>
                            <a:gd name="T69" fmla="*/ 38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15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102 w 419"/>
                            <a:gd name="T1" fmla="*/ 16 h 241"/>
                            <a:gd name="T2" fmla="*/ 95 w 419"/>
                            <a:gd name="T3" fmla="*/ 23 h 241"/>
                            <a:gd name="T4" fmla="*/ 89 w 419"/>
                            <a:gd name="T5" fmla="*/ 26 h 241"/>
                            <a:gd name="T6" fmla="*/ 96 w 419"/>
                            <a:gd name="T7" fmla="*/ 36 h 241"/>
                            <a:gd name="T8" fmla="*/ 105 w 419"/>
                            <a:gd name="T9" fmla="*/ 54 h 241"/>
                            <a:gd name="T10" fmla="*/ 104 w 419"/>
                            <a:gd name="T11" fmla="*/ 69 h 241"/>
                            <a:gd name="T12" fmla="*/ 88 w 419"/>
                            <a:gd name="T13" fmla="*/ 85 h 241"/>
                            <a:gd name="T14" fmla="*/ 73 w 419"/>
                            <a:gd name="T15" fmla="*/ 86 h 241"/>
                            <a:gd name="T16" fmla="*/ 64 w 419"/>
                            <a:gd name="T17" fmla="*/ 85 h 241"/>
                            <a:gd name="T18" fmla="*/ 66 w 419"/>
                            <a:gd name="T19" fmla="*/ 92 h 241"/>
                            <a:gd name="T20" fmla="*/ 73 w 419"/>
                            <a:gd name="T21" fmla="*/ 95 h 241"/>
                            <a:gd name="T22" fmla="*/ 100 w 419"/>
                            <a:gd name="T23" fmla="*/ 98 h 241"/>
                            <a:gd name="T24" fmla="*/ 132 w 419"/>
                            <a:gd name="T25" fmla="*/ 98 h 241"/>
                            <a:gd name="T26" fmla="*/ 153 w 419"/>
                            <a:gd name="T27" fmla="*/ 90 h 241"/>
                            <a:gd name="T28" fmla="*/ 164 w 419"/>
                            <a:gd name="T29" fmla="*/ 83 h 241"/>
                            <a:gd name="T30" fmla="*/ 173 w 419"/>
                            <a:gd name="T31" fmla="*/ 78 h 241"/>
                            <a:gd name="T32" fmla="*/ 188 w 419"/>
                            <a:gd name="T33" fmla="*/ 71 h 241"/>
                            <a:gd name="T34" fmla="*/ 207 w 419"/>
                            <a:gd name="T35" fmla="*/ 69 h 241"/>
                            <a:gd name="T36" fmla="*/ 199 w 419"/>
                            <a:gd name="T37" fmla="*/ 81 h 241"/>
                            <a:gd name="T38" fmla="*/ 188 w 419"/>
                            <a:gd name="T39" fmla="*/ 92 h 241"/>
                            <a:gd name="T40" fmla="*/ 177 w 419"/>
                            <a:gd name="T41" fmla="*/ 100 h 241"/>
                            <a:gd name="T42" fmla="*/ 160 w 419"/>
                            <a:gd name="T43" fmla="*/ 111 h 241"/>
                            <a:gd name="T44" fmla="*/ 143 w 419"/>
                            <a:gd name="T45" fmla="*/ 117 h 241"/>
                            <a:gd name="T46" fmla="*/ 117 w 419"/>
                            <a:gd name="T47" fmla="*/ 121 h 241"/>
                            <a:gd name="T48" fmla="*/ 90 w 419"/>
                            <a:gd name="T49" fmla="*/ 120 h 241"/>
                            <a:gd name="T50" fmla="*/ 69 w 419"/>
                            <a:gd name="T51" fmla="*/ 116 h 241"/>
                            <a:gd name="T52" fmla="*/ 53 w 419"/>
                            <a:gd name="T53" fmla="*/ 108 h 241"/>
                            <a:gd name="T54" fmla="*/ 40 w 419"/>
                            <a:gd name="T55" fmla="*/ 102 h 241"/>
                            <a:gd name="T56" fmla="*/ 30 w 419"/>
                            <a:gd name="T57" fmla="*/ 98 h 241"/>
                            <a:gd name="T58" fmla="*/ 18 w 419"/>
                            <a:gd name="T59" fmla="*/ 91 h 241"/>
                            <a:gd name="T60" fmla="*/ 11 w 419"/>
                            <a:gd name="T61" fmla="*/ 84 h 241"/>
                            <a:gd name="T62" fmla="*/ 3 w 419"/>
                            <a:gd name="T63" fmla="*/ 77 h 241"/>
                            <a:gd name="T64" fmla="*/ 7 w 419"/>
                            <a:gd name="T65" fmla="*/ 68 h 241"/>
                            <a:gd name="T66" fmla="*/ 14 w 419"/>
                            <a:gd name="T67" fmla="*/ 67 h 241"/>
                            <a:gd name="T68" fmla="*/ 23 w 419"/>
                            <a:gd name="T69" fmla="*/ 64 h 241"/>
                            <a:gd name="T70" fmla="*/ 33 w 419"/>
                            <a:gd name="T71" fmla="*/ 63 h 241"/>
                            <a:gd name="T72" fmla="*/ 44 w 419"/>
                            <a:gd name="T73" fmla="*/ 63 h 241"/>
                            <a:gd name="T74" fmla="*/ 52 w 419"/>
                            <a:gd name="T75" fmla="*/ 64 h 241"/>
                            <a:gd name="T76" fmla="*/ 58 w 419"/>
                            <a:gd name="T77" fmla="*/ 65 h 241"/>
                            <a:gd name="T78" fmla="*/ 69 w 419"/>
                            <a:gd name="T79" fmla="*/ 63 h 241"/>
                            <a:gd name="T80" fmla="*/ 80 w 419"/>
                            <a:gd name="T81" fmla="*/ 63 h 241"/>
                            <a:gd name="T82" fmla="*/ 79 w 419"/>
                            <a:gd name="T83" fmla="*/ 57 h 241"/>
                            <a:gd name="T84" fmla="*/ 77 w 419"/>
                            <a:gd name="T85" fmla="*/ 52 h 241"/>
                            <a:gd name="T86" fmla="*/ 79 w 419"/>
                            <a:gd name="T87" fmla="*/ 45 h 241"/>
                            <a:gd name="T88" fmla="*/ 86 w 419"/>
                            <a:gd name="T89" fmla="*/ 36 h 241"/>
                            <a:gd name="T90" fmla="*/ 81 w 419"/>
                            <a:gd name="T91" fmla="*/ 31 h 241"/>
                            <a:gd name="T92" fmla="*/ 82 w 419"/>
                            <a:gd name="T93" fmla="*/ 24 h 241"/>
                            <a:gd name="T94" fmla="*/ 87 w 419"/>
                            <a:gd name="T95" fmla="*/ 15 h 241"/>
                            <a:gd name="T96" fmla="*/ 92 w 419"/>
                            <a:gd name="T97" fmla="*/ 10 h 241"/>
                            <a:gd name="T98" fmla="*/ 98 w 419"/>
                            <a:gd name="T99" fmla="*/ 4 h 241"/>
                            <a:gd name="T100" fmla="*/ 105 w 419"/>
                            <a:gd name="T101" fmla="*/ 1 h 241"/>
                            <a:gd name="T102" fmla="*/ 112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16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6 w 892"/>
                            <a:gd name="T1" fmla="*/ 76 h 813"/>
                            <a:gd name="T2" fmla="*/ 29 w 892"/>
                            <a:gd name="T3" fmla="*/ 53 h 813"/>
                            <a:gd name="T4" fmla="*/ 64 w 892"/>
                            <a:gd name="T5" fmla="*/ 34 h 813"/>
                            <a:gd name="T6" fmla="*/ 80 w 892"/>
                            <a:gd name="T7" fmla="*/ 20 h 813"/>
                            <a:gd name="T8" fmla="*/ 107 w 892"/>
                            <a:gd name="T9" fmla="*/ 17 h 813"/>
                            <a:gd name="T10" fmla="*/ 192 w 892"/>
                            <a:gd name="T11" fmla="*/ 18 h 813"/>
                            <a:gd name="T12" fmla="*/ 236 w 892"/>
                            <a:gd name="T13" fmla="*/ 25 h 813"/>
                            <a:gd name="T14" fmla="*/ 219 w 892"/>
                            <a:gd name="T15" fmla="*/ 24 h 813"/>
                            <a:gd name="T16" fmla="*/ 208 w 892"/>
                            <a:gd name="T17" fmla="*/ 0 h 813"/>
                            <a:gd name="T18" fmla="*/ 230 w 892"/>
                            <a:gd name="T19" fmla="*/ 0 h 813"/>
                            <a:gd name="T20" fmla="*/ 246 w 892"/>
                            <a:gd name="T21" fmla="*/ 11 h 813"/>
                            <a:gd name="T22" fmla="*/ 271 w 892"/>
                            <a:gd name="T23" fmla="*/ 27 h 813"/>
                            <a:gd name="T24" fmla="*/ 267 w 892"/>
                            <a:gd name="T25" fmla="*/ 8 h 813"/>
                            <a:gd name="T26" fmla="*/ 314 w 892"/>
                            <a:gd name="T27" fmla="*/ 26 h 813"/>
                            <a:gd name="T28" fmla="*/ 315 w 892"/>
                            <a:gd name="T29" fmla="*/ 34 h 813"/>
                            <a:gd name="T30" fmla="*/ 300 w 892"/>
                            <a:gd name="T31" fmla="*/ 52 h 813"/>
                            <a:gd name="T32" fmla="*/ 288 w 892"/>
                            <a:gd name="T33" fmla="*/ 82 h 813"/>
                            <a:gd name="T34" fmla="*/ 332 w 892"/>
                            <a:gd name="T35" fmla="*/ 98 h 813"/>
                            <a:gd name="T36" fmla="*/ 333 w 892"/>
                            <a:gd name="T37" fmla="*/ 124 h 813"/>
                            <a:gd name="T38" fmla="*/ 339 w 892"/>
                            <a:gd name="T39" fmla="*/ 104 h 813"/>
                            <a:gd name="T40" fmla="*/ 339 w 892"/>
                            <a:gd name="T41" fmla="*/ 66 h 813"/>
                            <a:gd name="T42" fmla="*/ 370 w 892"/>
                            <a:gd name="T43" fmla="*/ 77 h 813"/>
                            <a:gd name="T44" fmla="*/ 389 w 892"/>
                            <a:gd name="T45" fmla="*/ 66 h 813"/>
                            <a:gd name="T46" fmla="*/ 424 w 892"/>
                            <a:gd name="T47" fmla="*/ 93 h 813"/>
                            <a:gd name="T48" fmla="*/ 447 w 892"/>
                            <a:gd name="T49" fmla="*/ 117 h 813"/>
                            <a:gd name="T50" fmla="*/ 428 w 892"/>
                            <a:gd name="T51" fmla="*/ 127 h 813"/>
                            <a:gd name="T52" fmla="*/ 396 w 892"/>
                            <a:gd name="T53" fmla="*/ 135 h 813"/>
                            <a:gd name="T54" fmla="*/ 419 w 892"/>
                            <a:gd name="T55" fmla="*/ 140 h 813"/>
                            <a:gd name="T56" fmla="*/ 428 w 892"/>
                            <a:gd name="T57" fmla="*/ 162 h 813"/>
                            <a:gd name="T58" fmla="*/ 420 w 892"/>
                            <a:gd name="T59" fmla="*/ 163 h 813"/>
                            <a:gd name="T60" fmla="*/ 407 w 892"/>
                            <a:gd name="T61" fmla="*/ 172 h 813"/>
                            <a:gd name="T62" fmla="*/ 386 w 892"/>
                            <a:gd name="T63" fmla="*/ 192 h 813"/>
                            <a:gd name="T64" fmla="*/ 384 w 892"/>
                            <a:gd name="T65" fmla="*/ 220 h 813"/>
                            <a:gd name="T66" fmla="*/ 362 w 892"/>
                            <a:gd name="T67" fmla="*/ 263 h 813"/>
                            <a:gd name="T68" fmla="*/ 368 w 892"/>
                            <a:gd name="T69" fmla="*/ 299 h 813"/>
                            <a:gd name="T70" fmla="*/ 356 w 892"/>
                            <a:gd name="T71" fmla="*/ 275 h 813"/>
                            <a:gd name="T72" fmla="*/ 335 w 892"/>
                            <a:gd name="T73" fmla="*/ 264 h 813"/>
                            <a:gd name="T74" fmla="*/ 316 w 892"/>
                            <a:gd name="T75" fmla="*/ 271 h 813"/>
                            <a:gd name="T76" fmla="*/ 284 w 892"/>
                            <a:gd name="T77" fmla="*/ 275 h 813"/>
                            <a:gd name="T78" fmla="*/ 269 w 892"/>
                            <a:gd name="T79" fmla="*/ 302 h 813"/>
                            <a:gd name="T80" fmla="*/ 304 w 892"/>
                            <a:gd name="T81" fmla="*/ 338 h 813"/>
                            <a:gd name="T82" fmla="*/ 311 w 892"/>
                            <a:gd name="T83" fmla="*/ 318 h 813"/>
                            <a:gd name="T84" fmla="*/ 330 w 892"/>
                            <a:gd name="T85" fmla="*/ 332 h 813"/>
                            <a:gd name="T86" fmla="*/ 341 w 892"/>
                            <a:gd name="T87" fmla="*/ 352 h 813"/>
                            <a:gd name="T88" fmla="*/ 350 w 892"/>
                            <a:gd name="T89" fmla="*/ 371 h 813"/>
                            <a:gd name="T90" fmla="*/ 371 w 892"/>
                            <a:gd name="T91" fmla="*/ 399 h 813"/>
                            <a:gd name="T92" fmla="*/ 402 w 892"/>
                            <a:gd name="T93" fmla="*/ 398 h 813"/>
                            <a:gd name="T94" fmla="*/ 383 w 892"/>
                            <a:gd name="T95" fmla="*/ 402 h 813"/>
                            <a:gd name="T96" fmla="*/ 347 w 892"/>
                            <a:gd name="T97" fmla="*/ 397 h 813"/>
                            <a:gd name="T98" fmla="*/ 322 w 892"/>
                            <a:gd name="T99" fmla="*/ 373 h 813"/>
                            <a:gd name="T100" fmla="*/ 302 w 892"/>
                            <a:gd name="T101" fmla="*/ 363 h 813"/>
                            <a:gd name="T102" fmla="*/ 272 w 892"/>
                            <a:gd name="T103" fmla="*/ 351 h 813"/>
                            <a:gd name="T104" fmla="*/ 220 w 892"/>
                            <a:gd name="T105" fmla="*/ 312 h 813"/>
                            <a:gd name="T106" fmla="*/ 177 w 892"/>
                            <a:gd name="T107" fmla="*/ 254 h 813"/>
                            <a:gd name="T108" fmla="*/ 191 w 892"/>
                            <a:gd name="T109" fmla="*/ 306 h 813"/>
                            <a:gd name="T110" fmla="*/ 164 w 892"/>
                            <a:gd name="T111" fmla="*/ 270 h 813"/>
                            <a:gd name="T112" fmla="*/ 139 w 892"/>
                            <a:gd name="T113" fmla="*/ 201 h 813"/>
                            <a:gd name="T114" fmla="*/ 141 w 892"/>
                            <a:gd name="T115" fmla="*/ 148 h 813"/>
                            <a:gd name="T116" fmla="*/ 132 w 892"/>
                            <a:gd name="T117" fmla="*/ 109 h 813"/>
                            <a:gd name="T118" fmla="*/ 125 w 892"/>
                            <a:gd name="T119" fmla="*/ 86 h 813"/>
                            <a:gd name="T120" fmla="*/ 108 w 892"/>
                            <a:gd name="T121" fmla="*/ 72 h 813"/>
                            <a:gd name="T122" fmla="*/ 71 w 892"/>
                            <a:gd name="T123" fmla="*/ 76 h 813"/>
                            <a:gd name="T124" fmla="*/ 44 w 892"/>
                            <a:gd name="T125" fmla="*/ 90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17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2 h 213"/>
                            <a:gd name="T2" fmla="*/ 3 w 303"/>
                            <a:gd name="T3" fmla="*/ 14 h 213"/>
                            <a:gd name="T4" fmla="*/ 3 w 303"/>
                            <a:gd name="T5" fmla="*/ 8 h 213"/>
                            <a:gd name="T6" fmla="*/ 9 w 303"/>
                            <a:gd name="T7" fmla="*/ 0 h 213"/>
                            <a:gd name="T8" fmla="*/ 36 w 303"/>
                            <a:gd name="T9" fmla="*/ 5 h 213"/>
                            <a:gd name="T10" fmla="*/ 83 w 303"/>
                            <a:gd name="T11" fmla="*/ 15 h 213"/>
                            <a:gd name="T12" fmla="*/ 102 w 303"/>
                            <a:gd name="T13" fmla="*/ 23 h 213"/>
                            <a:gd name="T14" fmla="*/ 126 w 303"/>
                            <a:gd name="T15" fmla="*/ 30 h 213"/>
                            <a:gd name="T16" fmla="*/ 139 w 303"/>
                            <a:gd name="T17" fmla="*/ 44 h 213"/>
                            <a:gd name="T18" fmla="*/ 151 w 303"/>
                            <a:gd name="T19" fmla="*/ 51 h 213"/>
                            <a:gd name="T20" fmla="*/ 146 w 303"/>
                            <a:gd name="T21" fmla="*/ 56 h 213"/>
                            <a:gd name="T22" fmla="*/ 146 w 303"/>
                            <a:gd name="T23" fmla="*/ 63 h 213"/>
                            <a:gd name="T24" fmla="*/ 142 w 303"/>
                            <a:gd name="T25" fmla="*/ 64 h 213"/>
                            <a:gd name="T26" fmla="*/ 137 w 303"/>
                            <a:gd name="T27" fmla="*/ 70 h 213"/>
                            <a:gd name="T28" fmla="*/ 142 w 303"/>
                            <a:gd name="T29" fmla="*/ 76 h 213"/>
                            <a:gd name="T30" fmla="*/ 141 w 303"/>
                            <a:gd name="T31" fmla="*/ 80 h 213"/>
                            <a:gd name="T32" fmla="*/ 136 w 303"/>
                            <a:gd name="T33" fmla="*/ 86 h 213"/>
                            <a:gd name="T34" fmla="*/ 137 w 303"/>
                            <a:gd name="T35" fmla="*/ 92 h 213"/>
                            <a:gd name="T36" fmla="*/ 145 w 303"/>
                            <a:gd name="T37" fmla="*/ 97 h 213"/>
                            <a:gd name="T38" fmla="*/ 146 w 303"/>
                            <a:gd name="T39" fmla="*/ 103 h 213"/>
                            <a:gd name="T40" fmla="*/ 144 w 303"/>
                            <a:gd name="T41" fmla="*/ 106 h 213"/>
                            <a:gd name="T42" fmla="*/ 135 w 303"/>
                            <a:gd name="T43" fmla="*/ 107 h 213"/>
                            <a:gd name="T44" fmla="*/ 129 w 303"/>
                            <a:gd name="T45" fmla="*/ 104 h 213"/>
                            <a:gd name="T46" fmla="*/ 122 w 303"/>
                            <a:gd name="T47" fmla="*/ 97 h 213"/>
                            <a:gd name="T48" fmla="*/ 120 w 303"/>
                            <a:gd name="T49" fmla="*/ 97 h 213"/>
                            <a:gd name="T50" fmla="*/ 116 w 303"/>
                            <a:gd name="T51" fmla="*/ 94 h 213"/>
                            <a:gd name="T52" fmla="*/ 113 w 303"/>
                            <a:gd name="T53" fmla="*/ 85 h 213"/>
                            <a:gd name="T54" fmla="*/ 109 w 303"/>
                            <a:gd name="T55" fmla="*/ 82 h 213"/>
                            <a:gd name="T56" fmla="*/ 100 w 303"/>
                            <a:gd name="T57" fmla="*/ 78 h 213"/>
                            <a:gd name="T58" fmla="*/ 92 w 303"/>
                            <a:gd name="T59" fmla="*/ 75 h 213"/>
                            <a:gd name="T60" fmla="*/ 81 w 303"/>
                            <a:gd name="T61" fmla="*/ 67 h 213"/>
                            <a:gd name="T62" fmla="*/ 76 w 303"/>
                            <a:gd name="T63" fmla="*/ 61 h 213"/>
                            <a:gd name="T64" fmla="*/ 77 w 303"/>
                            <a:gd name="T65" fmla="*/ 57 h 213"/>
                            <a:gd name="T66" fmla="*/ 82 w 303"/>
                            <a:gd name="T67" fmla="*/ 53 h 213"/>
                            <a:gd name="T68" fmla="*/ 78 w 303"/>
                            <a:gd name="T69" fmla="*/ 48 h 213"/>
                            <a:gd name="T70" fmla="*/ 74 w 303"/>
                            <a:gd name="T71" fmla="*/ 51 h 213"/>
                            <a:gd name="T72" fmla="*/ 67 w 303"/>
                            <a:gd name="T73" fmla="*/ 44 h 213"/>
                            <a:gd name="T74" fmla="*/ 65 w 303"/>
                            <a:gd name="T75" fmla="*/ 47 h 213"/>
                            <a:gd name="T76" fmla="*/ 59 w 303"/>
                            <a:gd name="T77" fmla="*/ 47 h 213"/>
                            <a:gd name="T78" fmla="*/ 58 w 303"/>
                            <a:gd name="T79" fmla="*/ 44 h 213"/>
                            <a:gd name="T80" fmla="*/ 58 w 303"/>
                            <a:gd name="T81" fmla="*/ 39 h 213"/>
                            <a:gd name="T82" fmla="*/ 55 w 303"/>
                            <a:gd name="T83" fmla="*/ 36 h 213"/>
                            <a:gd name="T84" fmla="*/ 51 w 303"/>
                            <a:gd name="T85" fmla="*/ 37 h 213"/>
                            <a:gd name="T86" fmla="*/ 46 w 303"/>
                            <a:gd name="T87" fmla="*/ 29 h 213"/>
                            <a:gd name="T88" fmla="*/ 41 w 303"/>
                            <a:gd name="T89" fmla="*/ 28 h 213"/>
                            <a:gd name="T90" fmla="*/ 35 w 303"/>
                            <a:gd name="T91" fmla="*/ 25 h 213"/>
                            <a:gd name="T92" fmla="*/ 22 w 303"/>
                            <a:gd name="T93" fmla="*/ 26 h 213"/>
                            <a:gd name="T94" fmla="*/ 9 w 303"/>
                            <a:gd name="T95" fmla="*/ 25 h 213"/>
                            <a:gd name="T96" fmla="*/ 0 w 303"/>
                            <a:gd name="T97" fmla="*/ 2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18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3 w 198"/>
                            <a:gd name="T1" fmla="*/ 0 h 111"/>
                            <a:gd name="T2" fmla="*/ 0 w 198"/>
                            <a:gd name="T3" fmla="*/ 4 h 111"/>
                            <a:gd name="T4" fmla="*/ 0 w 198"/>
                            <a:gd name="T5" fmla="*/ 9 h 111"/>
                            <a:gd name="T6" fmla="*/ 7 w 198"/>
                            <a:gd name="T7" fmla="*/ 15 h 111"/>
                            <a:gd name="T8" fmla="*/ 11 w 198"/>
                            <a:gd name="T9" fmla="*/ 14 h 111"/>
                            <a:gd name="T10" fmla="*/ 12 w 198"/>
                            <a:gd name="T11" fmla="*/ 16 h 111"/>
                            <a:gd name="T12" fmla="*/ 18 w 198"/>
                            <a:gd name="T13" fmla="*/ 17 h 111"/>
                            <a:gd name="T14" fmla="*/ 20 w 198"/>
                            <a:gd name="T15" fmla="*/ 13 h 111"/>
                            <a:gd name="T16" fmla="*/ 30 w 198"/>
                            <a:gd name="T17" fmla="*/ 14 h 111"/>
                            <a:gd name="T18" fmla="*/ 31 w 198"/>
                            <a:gd name="T19" fmla="*/ 17 h 111"/>
                            <a:gd name="T20" fmla="*/ 35 w 198"/>
                            <a:gd name="T21" fmla="*/ 19 h 111"/>
                            <a:gd name="T22" fmla="*/ 43 w 198"/>
                            <a:gd name="T23" fmla="*/ 18 h 111"/>
                            <a:gd name="T24" fmla="*/ 46 w 198"/>
                            <a:gd name="T25" fmla="*/ 20 h 111"/>
                            <a:gd name="T26" fmla="*/ 49 w 198"/>
                            <a:gd name="T27" fmla="*/ 22 h 111"/>
                            <a:gd name="T28" fmla="*/ 53 w 198"/>
                            <a:gd name="T29" fmla="*/ 27 h 111"/>
                            <a:gd name="T30" fmla="*/ 53 w 198"/>
                            <a:gd name="T31" fmla="*/ 33 h 111"/>
                            <a:gd name="T32" fmla="*/ 50 w 198"/>
                            <a:gd name="T33" fmla="*/ 34 h 111"/>
                            <a:gd name="T34" fmla="*/ 52 w 198"/>
                            <a:gd name="T35" fmla="*/ 36 h 111"/>
                            <a:gd name="T36" fmla="*/ 48 w 198"/>
                            <a:gd name="T37" fmla="*/ 40 h 111"/>
                            <a:gd name="T38" fmla="*/ 48 w 198"/>
                            <a:gd name="T39" fmla="*/ 45 h 111"/>
                            <a:gd name="T40" fmla="*/ 54 w 198"/>
                            <a:gd name="T41" fmla="*/ 46 h 111"/>
                            <a:gd name="T42" fmla="*/ 57 w 198"/>
                            <a:gd name="T43" fmla="*/ 44 h 111"/>
                            <a:gd name="T44" fmla="*/ 58 w 198"/>
                            <a:gd name="T45" fmla="*/ 42 h 111"/>
                            <a:gd name="T46" fmla="*/ 60 w 198"/>
                            <a:gd name="T47" fmla="*/ 44 h 111"/>
                            <a:gd name="T48" fmla="*/ 64 w 198"/>
                            <a:gd name="T49" fmla="*/ 43 h 111"/>
                            <a:gd name="T50" fmla="*/ 71 w 198"/>
                            <a:gd name="T51" fmla="*/ 46 h 111"/>
                            <a:gd name="T52" fmla="*/ 76 w 198"/>
                            <a:gd name="T53" fmla="*/ 51 h 111"/>
                            <a:gd name="T54" fmla="*/ 78 w 198"/>
                            <a:gd name="T55" fmla="*/ 51 h 111"/>
                            <a:gd name="T56" fmla="*/ 78 w 198"/>
                            <a:gd name="T57" fmla="*/ 54 h 111"/>
                            <a:gd name="T58" fmla="*/ 83 w 198"/>
                            <a:gd name="T59" fmla="*/ 55 h 111"/>
                            <a:gd name="T60" fmla="*/ 89 w 198"/>
                            <a:gd name="T61" fmla="*/ 55 h 111"/>
                            <a:gd name="T62" fmla="*/ 85 w 198"/>
                            <a:gd name="T63" fmla="*/ 52 h 111"/>
                            <a:gd name="T64" fmla="*/ 86 w 198"/>
                            <a:gd name="T65" fmla="*/ 49 h 111"/>
                            <a:gd name="T66" fmla="*/ 91 w 198"/>
                            <a:gd name="T67" fmla="*/ 52 h 111"/>
                            <a:gd name="T68" fmla="*/ 95 w 198"/>
                            <a:gd name="T69" fmla="*/ 53 h 111"/>
                            <a:gd name="T70" fmla="*/ 96 w 198"/>
                            <a:gd name="T71" fmla="*/ 49 h 111"/>
                            <a:gd name="T72" fmla="*/ 91 w 198"/>
                            <a:gd name="T73" fmla="*/ 45 h 111"/>
                            <a:gd name="T74" fmla="*/ 88 w 198"/>
                            <a:gd name="T75" fmla="*/ 45 h 111"/>
                            <a:gd name="T76" fmla="*/ 83 w 198"/>
                            <a:gd name="T77" fmla="*/ 41 h 111"/>
                            <a:gd name="T78" fmla="*/ 88 w 198"/>
                            <a:gd name="T79" fmla="*/ 41 h 111"/>
                            <a:gd name="T80" fmla="*/ 91 w 198"/>
                            <a:gd name="T81" fmla="*/ 43 h 111"/>
                            <a:gd name="T82" fmla="*/ 98 w 198"/>
                            <a:gd name="T83" fmla="*/ 43 h 111"/>
                            <a:gd name="T84" fmla="*/ 97 w 198"/>
                            <a:gd name="T85" fmla="*/ 39 h 111"/>
                            <a:gd name="T86" fmla="*/ 91 w 198"/>
                            <a:gd name="T87" fmla="*/ 35 h 111"/>
                            <a:gd name="T88" fmla="*/ 86 w 198"/>
                            <a:gd name="T89" fmla="*/ 34 h 111"/>
                            <a:gd name="T90" fmla="*/ 80 w 198"/>
                            <a:gd name="T91" fmla="*/ 29 h 111"/>
                            <a:gd name="T92" fmla="*/ 73 w 198"/>
                            <a:gd name="T93" fmla="*/ 27 h 111"/>
                            <a:gd name="T94" fmla="*/ 67 w 198"/>
                            <a:gd name="T95" fmla="*/ 25 h 111"/>
                            <a:gd name="T96" fmla="*/ 62 w 198"/>
                            <a:gd name="T97" fmla="*/ 19 h 111"/>
                            <a:gd name="T98" fmla="*/ 58 w 198"/>
                            <a:gd name="T99" fmla="*/ 10 h 111"/>
                            <a:gd name="T100" fmla="*/ 54 w 198"/>
                            <a:gd name="T101" fmla="*/ 10 h 111"/>
                            <a:gd name="T102" fmla="*/ 52 w 198"/>
                            <a:gd name="T103" fmla="*/ 8 h 111"/>
                            <a:gd name="T104" fmla="*/ 49 w 198"/>
                            <a:gd name="T105" fmla="*/ 9 h 111"/>
                            <a:gd name="T106" fmla="*/ 45 w 198"/>
                            <a:gd name="T107" fmla="*/ 5 h 111"/>
                            <a:gd name="T108" fmla="*/ 37 w 198"/>
                            <a:gd name="T109" fmla="*/ 4 h 111"/>
                            <a:gd name="T110" fmla="*/ 34 w 198"/>
                            <a:gd name="T111" fmla="*/ 6 h 111"/>
                            <a:gd name="T112" fmla="*/ 26 w 198"/>
                            <a:gd name="T113" fmla="*/ 4 h 111"/>
                            <a:gd name="T114" fmla="*/ 21 w 198"/>
                            <a:gd name="T115" fmla="*/ 4 h 111"/>
                            <a:gd name="T116" fmla="*/ 19 w 198"/>
                            <a:gd name="T117" fmla="*/ 1 h 111"/>
                            <a:gd name="T118" fmla="*/ 16 w 198"/>
                            <a:gd name="T119" fmla="*/ 0 h 111"/>
                            <a:gd name="T120" fmla="*/ 12 w 198"/>
                            <a:gd name="T121" fmla="*/ 1 h 111"/>
                            <a:gd name="T122" fmla="*/ 3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19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12 h 49"/>
                            <a:gd name="T2" fmla="*/ 6 w 138"/>
                            <a:gd name="T3" fmla="*/ 5 h 49"/>
                            <a:gd name="T4" fmla="*/ 9 w 138"/>
                            <a:gd name="T5" fmla="*/ 5 h 49"/>
                            <a:gd name="T6" fmla="*/ 13 w 138"/>
                            <a:gd name="T7" fmla="*/ 1 h 49"/>
                            <a:gd name="T8" fmla="*/ 19 w 138"/>
                            <a:gd name="T9" fmla="*/ 1 h 49"/>
                            <a:gd name="T10" fmla="*/ 20 w 138"/>
                            <a:gd name="T11" fmla="*/ 1 h 49"/>
                            <a:gd name="T12" fmla="*/ 22 w 138"/>
                            <a:gd name="T13" fmla="*/ 0 h 49"/>
                            <a:gd name="T14" fmla="*/ 29 w 138"/>
                            <a:gd name="T15" fmla="*/ 4 h 49"/>
                            <a:gd name="T16" fmla="*/ 31 w 138"/>
                            <a:gd name="T17" fmla="*/ 7 h 49"/>
                            <a:gd name="T18" fmla="*/ 33 w 138"/>
                            <a:gd name="T19" fmla="*/ 6 h 49"/>
                            <a:gd name="T20" fmla="*/ 38 w 138"/>
                            <a:gd name="T21" fmla="*/ 8 h 49"/>
                            <a:gd name="T22" fmla="*/ 41 w 138"/>
                            <a:gd name="T23" fmla="*/ 8 h 49"/>
                            <a:gd name="T24" fmla="*/ 44 w 138"/>
                            <a:gd name="T25" fmla="*/ 11 h 49"/>
                            <a:gd name="T26" fmla="*/ 49 w 138"/>
                            <a:gd name="T27" fmla="*/ 12 h 49"/>
                            <a:gd name="T28" fmla="*/ 49 w 138"/>
                            <a:gd name="T29" fmla="*/ 16 h 49"/>
                            <a:gd name="T30" fmla="*/ 58 w 138"/>
                            <a:gd name="T31" fmla="*/ 16 h 49"/>
                            <a:gd name="T32" fmla="*/ 60 w 138"/>
                            <a:gd name="T33" fmla="*/ 19 h 49"/>
                            <a:gd name="T34" fmla="*/ 66 w 138"/>
                            <a:gd name="T35" fmla="*/ 19 h 49"/>
                            <a:gd name="T36" fmla="*/ 69 w 138"/>
                            <a:gd name="T37" fmla="*/ 24 h 49"/>
                            <a:gd name="T38" fmla="*/ 67 w 138"/>
                            <a:gd name="T39" fmla="*/ 24 h 49"/>
                            <a:gd name="T40" fmla="*/ 66 w 138"/>
                            <a:gd name="T41" fmla="*/ 23 h 49"/>
                            <a:gd name="T42" fmla="*/ 65 w 138"/>
                            <a:gd name="T43" fmla="*/ 22 h 49"/>
                            <a:gd name="T44" fmla="*/ 60 w 138"/>
                            <a:gd name="T45" fmla="*/ 23 h 49"/>
                            <a:gd name="T46" fmla="*/ 59 w 138"/>
                            <a:gd name="T47" fmla="*/ 24 h 49"/>
                            <a:gd name="T48" fmla="*/ 54 w 138"/>
                            <a:gd name="T49" fmla="*/ 24 h 49"/>
                            <a:gd name="T50" fmla="*/ 48 w 138"/>
                            <a:gd name="T51" fmla="*/ 24 h 49"/>
                            <a:gd name="T52" fmla="*/ 44 w 138"/>
                            <a:gd name="T53" fmla="*/ 24 h 49"/>
                            <a:gd name="T54" fmla="*/ 44 w 138"/>
                            <a:gd name="T55" fmla="*/ 22 h 49"/>
                            <a:gd name="T56" fmla="*/ 38 w 138"/>
                            <a:gd name="T57" fmla="*/ 16 h 49"/>
                            <a:gd name="T58" fmla="*/ 38 w 138"/>
                            <a:gd name="T59" fmla="*/ 13 h 49"/>
                            <a:gd name="T60" fmla="*/ 31 w 138"/>
                            <a:gd name="T61" fmla="*/ 13 h 49"/>
                            <a:gd name="T62" fmla="*/ 28 w 138"/>
                            <a:gd name="T63" fmla="*/ 11 h 49"/>
                            <a:gd name="T64" fmla="*/ 26 w 138"/>
                            <a:gd name="T65" fmla="*/ 13 h 49"/>
                            <a:gd name="T66" fmla="*/ 24 w 138"/>
                            <a:gd name="T67" fmla="*/ 10 h 49"/>
                            <a:gd name="T68" fmla="*/ 22 w 138"/>
                            <a:gd name="T69" fmla="*/ 10 h 49"/>
                            <a:gd name="T70" fmla="*/ 22 w 138"/>
                            <a:gd name="T71" fmla="*/ 6 h 49"/>
                            <a:gd name="T72" fmla="*/ 20 w 138"/>
                            <a:gd name="T73" fmla="*/ 5 h 49"/>
                            <a:gd name="T74" fmla="*/ 14 w 138"/>
                            <a:gd name="T75" fmla="*/ 6 h 49"/>
                            <a:gd name="T76" fmla="*/ 10 w 138"/>
                            <a:gd name="T77" fmla="*/ 10 h 49"/>
                            <a:gd name="T78" fmla="*/ 5 w 138"/>
                            <a:gd name="T79" fmla="*/ 11 h 49"/>
                            <a:gd name="T80" fmla="*/ 0 w 138"/>
                            <a:gd name="T81" fmla="*/ 12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20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6 h 42"/>
                            <a:gd name="T2" fmla="*/ 4 w 88"/>
                            <a:gd name="T3" fmla="*/ 17 h 42"/>
                            <a:gd name="T4" fmla="*/ 13 w 88"/>
                            <a:gd name="T5" fmla="*/ 16 h 42"/>
                            <a:gd name="T6" fmla="*/ 18 w 88"/>
                            <a:gd name="T7" fmla="*/ 21 h 42"/>
                            <a:gd name="T8" fmla="*/ 23 w 88"/>
                            <a:gd name="T9" fmla="*/ 21 h 42"/>
                            <a:gd name="T10" fmla="*/ 26 w 88"/>
                            <a:gd name="T11" fmla="*/ 16 h 42"/>
                            <a:gd name="T12" fmla="*/ 24 w 88"/>
                            <a:gd name="T13" fmla="*/ 14 h 42"/>
                            <a:gd name="T14" fmla="*/ 27 w 88"/>
                            <a:gd name="T15" fmla="*/ 12 h 42"/>
                            <a:gd name="T16" fmla="*/ 33 w 88"/>
                            <a:gd name="T17" fmla="*/ 16 h 42"/>
                            <a:gd name="T18" fmla="*/ 37 w 88"/>
                            <a:gd name="T19" fmla="*/ 16 h 42"/>
                            <a:gd name="T20" fmla="*/ 37 w 88"/>
                            <a:gd name="T21" fmla="*/ 14 h 42"/>
                            <a:gd name="T22" fmla="*/ 40 w 88"/>
                            <a:gd name="T23" fmla="*/ 14 h 42"/>
                            <a:gd name="T24" fmla="*/ 44 w 88"/>
                            <a:gd name="T25" fmla="*/ 11 h 42"/>
                            <a:gd name="T26" fmla="*/ 41 w 88"/>
                            <a:gd name="T27" fmla="*/ 10 h 42"/>
                            <a:gd name="T28" fmla="*/ 41 w 88"/>
                            <a:gd name="T29" fmla="*/ 6 h 42"/>
                            <a:gd name="T30" fmla="*/ 41 w 88"/>
                            <a:gd name="T31" fmla="*/ 3 h 42"/>
                            <a:gd name="T32" fmla="*/ 35 w 88"/>
                            <a:gd name="T33" fmla="*/ 3 h 42"/>
                            <a:gd name="T34" fmla="*/ 30 w 88"/>
                            <a:gd name="T35" fmla="*/ 3 h 42"/>
                            <a:gd name="T36" fmla="*/ 26 w 88"/>
                            <a:gd name="T37" fmla="*/ 3 h 42"/>
                            <a:gd name="T38" fmla="*/ 20 w 88"/>
                            <a:gd name="T39" fmla="*/ 3 h 42"/>
                            <a:gd name="T40" fmla="*/ 15 w 88"/>
                            <a:gd name="T41" fmla="*/ 0 h 42"/>
                            <a:gd name="T42" fmla="*/ 13 w 88"/>
                            <a:gd name="T43" fmla="*/ 3 h 42"/>
                            <a:gd name="T44" fmla="*/ 13 w 88"/>
                            <a:gd name="T45" fmla="*/ 6 h 42"/>
                            <a:gd name="T46" fmla="*/ 8 w 88"/>
                            <a:gd name="T47" fmla="*/ 6 h 42"/>
                            <a:gd name="T48" fmla="*/ 7 w 88"/>
                            <a:gd name="T49" fmla="*/ 11 h 42"/>
                            <a:gd name="T50" fmla="*/ 4 w 88"/>
                            <a:gd name="T51" fmla="*/ 12 h 42"/>
                            <a:gd name="T52" fmla="*/ 0 w 88"/>
                            <a:gd name="T53" fmla="*/ 16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0621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32 w 563"/>
                            <a:gd name="T1" fmla="*/ 7 h 887"/>
                            <a:gd name="T2" fmla="*/ 54 w 563"/>
                            <a:gd name="T3" fmla="*/ 1 h 887"/>
                            <a:gd name="T4" fmla="*/ 45 w 563"/>
                            <a:gd name="T5" fmla="*/ 15 h 887"/>
                            <a:gd name="T6" fmla="*/ 54 w 563"/>
                            <a:gd name="T7" fmla="*/ 15 h 887"/>
                            <a:gd name="T8" fmla="*/ 62 w 563"/>
                            <a:gd name="T9" fmla="*/ 14 h 887"/>
                            <a:gd name="T10" fmla="*/ 75 w 563"/>
                            <a:gd name="T11" fmla="*/ 19 h 887"/>
                            <a:gd name="T12" fmla="*/ 113 w 563"/>
                            <a:gd name="T13" fmla="*/ 27 h 887"/>
                            <a:gd name="T14" fmla="*/ 131 w 563"/>
                            <a:gd name="T15" fmla="*/ 35 h 887"/>
                            <a:gd name="T16" fmla="*/ 154 w 563"/>
                            <a:gd name="T17" fmla="*/ 39 h 887"/>
                            <a:gd name="T18" fmla="*/ 187 w 563"/>
                            <a:gd name="T19" fmla="*/ 61 h 887"/>
                            <a:gd name="T20" fmla="*/ 204 w 563"/>
                            <a:gd name="T21" fmla="*/ 88 h 887"/>
                            <a:gd name="T22" fmla="*/ 274 w 563"/>
                            <a:gd name="T23" fmla="*/ 111 h 887"/>
                            <a:gd name="T24" fmla="*/ 275 w 563"/>
                            <a:gd name="T25" fmla="*/ 148 h 887"/>
                            <a:gd name="T26" fmla="*/ 257 w 563"/>
                            <a:gd name="T27" fmla="*/ 168 h 887"/>
                            <a:gd name="T28" fmla="*/ 254 w 563"/>
                            <a:gd name="T29" fmla="*/ 196 h 887"/>
                            <a:gd name="T30" fmla="*/ 244 w 563"/>
                            <a:gd name="T31" fmla="*/ 209 h 887"/>
                            <a:gd name="T32" fmla="*/ 228 w 563"/>
                            <a:gd name="T33" fmla="*/ 230 h 887"/>
                            <a:gd name="T34" fmla="*/ 204 w 563"/>
                            <a:gd name="T35" fmla="*/ 237 h 887"/>
                            <a:gd name="T36" fmla="*/ 191 w 563"/>
                            <a:gd name="T37" fmla="*/ 259 h 887"/>
                            <a:gd name="T38" fmla="*/ 189 w 563"/>
                            <a:gd name="T39" fmla="*/ 277 h 887"/>
                            <a:gd name="T40" fmla="*/ 169 w 563"/>
                            <a:gd name="T41" fmla="*/ 293 h 887"/>
                            <a:gd name="T42" fmla="*/ 158 w 563"/>
                            <a:gd name="T43" fmla="*/ 307 h 887"/>
                            <a:gd name="T44" fmla="*/ 150 w 563"/>
                            <a:gd name="T45" fmla="*/ 313 h 887"/>
                            <a:gd name="T46" fmla="*/ 146 w 563"/>
                            <a:gd name="T47" fmla="*/ 331 h 887"/>
                            <a:gd name="T48" fmla="*/ 127 w 563"/>
                            <a:gd name="T49" fmla="*/ 338 h 887"/>
                            <a:gd name="T50" fmla="*/ 112 w 563"/>
                            <a:gd name="T51" fmla="*/ 345 h 887"/>
                            <a:gd name="T52" fmla="*/ 111 w 563"/>
                            <a:gd name="T53" fmla="*/ 363 h 887"/>
                            <a:gd name="T54" fmla="*/ 97 w 563"/>
                            <a:gd name="T55" fmla="*/ 376 h 887"/>
                            <a:gd name="T56" fmla="*/ 106 w 563"/>
                            <a:gd name="T57" fmla="*/ 388 h 887"/>
                            <a:gd name="T58" fmla="*/ 91 w 563"/>
                            <a:gd name="T59" fmla="*/ 399 h 887"/>
                            <a:gd name="T60" fmla="*/ 84 w 563"/>
                            <a:gd name="T61" fmla="*/ 418 h 887"/>
                            <a:gd name="T62" fmla="*/ 103 w 563"/>
                            <a:gd name="T63" fmla="*/ 444 h 887"/>
                            <a:gd name="T64" fmla="*/ 80 w 563"/>
                            <a:gd name="T65" fmla="*/ 431 h 887"/>
                            <a:gd name="T66" fmla="*/ 66 w 563"/>
                            <a:gd name="T67" fmla="*/ 407 h 887"/>
                            <a:gd name="T68" fmla="*/ 65 w 563"/>
                            <a:gd name="T69" fmla="*/ 345 h 887"/>
                            <a:gd name="T70" fmla="*/ 62 w 563"/>
                            <a:gd name="T71" fmla="*/ 319 h 887"/>
                            <a:gd name="T72" fmla="*/ 64 w 563"/>
                            <a:gd name="T73" fmla="*/ 291 h 887"/>
                            <a:gd name="T74" fmla="*/ 67 w 563"/>
                            <a:gd name="T75" fmla="*/ 268 h 887"/>
                            <a:gd name="T76" fmla="*/ 65 w 563"/>
                            <a:gd name="T77" fmla="*/ 232 h 887"/>
                            <a:gd name="T78" fmla="*/ 67 w 563"/>
                            <a:gd name="T79" fmla="*/ 202 h 887"/>
                            <a:gd name="T80" fmla="*/ 51 w 563"/>
                            <a:gd name="T81" fmla="*/ 182 h 887"/>
                            <a:gd name="T82" fmla="*/ 25 w 563"/>
                            <a:gd name="T83" fmla="*/ 165 h 887"/>
                            <a:gd name="T84" fmla="*/ 17 w 563"/>
                            <a:gd name="T85" fmla="*/ 140 h 887"/>
                            <a:gd name="T86" fmla="*/ 5 w 563"/>
                            <a:gd name="T87" fmla="*/ 126 h 887"/>
                            <a:gd name="T88" fmla="*/ 6 w 563"/>
                            <a:gd name="T89" fmla="*/ 103 h 887"/>
                            <a:gd name="T90" fmla="*/ 3 w 563"/>
                            <a:gd name="T91" fmla="*/ 81 h 887"/>
                            <a:gd name="T92" fmla="*/ 21 w 563"/>
                            <a:gd name="T93" fmla="*/ 36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60575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76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77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78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79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0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1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2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3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4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5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6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7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8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89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0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1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2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3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4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5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6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7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8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599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0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1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2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3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4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5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6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7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0608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</p:grpSp>
          </p:grpSp>
          <p:sp>
            <p:nvSpPr>
              <p:cNvPr id="60500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25" name="Group 209"/>
          <p:cNvGrpSpPr>
            <a:grpSpLocks/>
          </p:cNvGrpSpPr>
          <p:nvPr/>
        </p:nvGrpSpPr>
        <p:grpSpPr bwMode="auto">
          <a:xfrm>
            <a:off x="3484564" y="4570414"/>
            <a:ext cx="6015037" cy="1836737"/>
            <a:chOff x="1235" y="2879"/>
            <a:chExt cx="3789" cy="1157"/>
          </a:xfrm>
        </p:grpSpPr>
        <p:sp useBgFill="1">
          <p:nvSpPr>
            <p:cNvPr id="60488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60489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0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1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2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3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4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95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26" name="Group 218"/>
          <p:cNvGrpSpPr>
            <a:grpSpLocks/>
          </p:cNvGrpSpPr>
          <p:nvPr/>
        </p:nvGrpSpPr>
        <p:grpSpPr bwMode="auto">
          <a:xfrm>
            <a:off x="3408363" y="1090614"/>
            <a:ext cx="5924550" cy="1914525"/>
            <a:chOff x="1187" y="687"/>
            <a:chExt cx="3732" cy="1206"/>
          </a:xfrm>
        </p:grpSpPr>
        <p:sp useBgFill="1">
          <p:nvSpPr>
            <p:cNvPr id="60480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60481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2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3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4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5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6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0487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226531" name="AutoShape 227"/>
          <p:cNvSpPr>
            <a:spLocks noChangeArrowheads="1"/>
          </p:cNvSpPr>
          <p:nvPr/>
        </p:nvSpPr>
        <p:spPr bwMode="auto">
          <a:xfrm>
            <a:off x="1905000" y="3260726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27" name="Group 228"/>
          <p:cNvGrpSpPr>
            <a:grpSpLocks/>
          </p:cNvGrpSpPr>
          <p:nvPr/>
        </p:nvGrpSpPr>
        <p:grpSpPr bwMode="auto">
          <a:xfrm rot="16200000">
            <a:off x="9138635" y="-928794"/>
            <a:ext cx="1438338" cy="5093081"/>
            <a:chOff x="2181" y="1183"/>
            <a:chExt cx="1419" cy="1966"/>
          </a:xfrm>
        </p:grpSpPr>
        <p:grpSp>
          <p:nvGrpSpPr>
            <p:cNvPr id="60429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60466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60472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60478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79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60473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60474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75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76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77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60467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60468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60469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0470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0471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60430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60431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32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1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33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1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34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35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36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1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60437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60461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60463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1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64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65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1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0462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1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0438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60456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60458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1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59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60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1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0457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1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0439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60454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1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0455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0440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60452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1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0453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1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0441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60450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0451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0442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60445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60448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1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0449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0446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1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0447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1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60443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444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6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531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AutoShape 2"/>
          <p:cNvSpPr>
            <a:spLocks noChangeArrowheads="1"/>
          </p:cNvSpPr>
          <p:nvPr/>
        </p:nvSpPr>
        <p:spPr bwMode="auto">
          <a:xfrm>
            <a:off x="3657600" y="2438400"/>
            <a:ext cx="4876800" cy="1828800"/>
          </a:xfrm>
          <a:prstGeom prst="can">
            <a:avLst>
              <a:gd name="adj" fmla="val 17708"/>
            </a:avLst>
          </a:prstGeom>
          <a:solidFill>
            <a:srgbClr val="996633"/>
          </a:solidFill>
          <a:ln w="12700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80000"/>
              </a:lnSpc>
            </a:pPr>
            <a:endParaRPr lang="en-US" altLang="pt-BR">
              <a:solidFill>
                <a:srgbClr val="FFFFCC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pt-BR">
                <a:solidFill>
                  <a:srgbClr val="FFFFCC"/>
                </a:solidFill>
              </a:rPr>
              <a:t>Necessidades dos Consumidores e Posicionamento da Concorrência</a:t>
            </a:r>
          </a:p>
          <a:p>
            <a:pPr>
              <a:lnSpc>
                <a:spcPct val="80000"/>
              </a:lnSpc>
            </a:pPr>
            <a:endParaRPr lang="en-US" altLang="pt-BR">
              <a:solidFill>
                <a:srgbClr val="FFFFCC"/>
              </a:solidFill>
              <a:latin typeface="Times New Roman" charset="0"/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828800" y="74613"/>
            <a:ext cx="8534400" cy="2152650"/>
          </a:xfrm>
          <a:prstGeom prst="rect">
            <a:avLst/>
          </a:prstGeom>
          <a:solidFill>
            <a:srgbClr val="99FF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b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endParaRPr lang="pt-BR" altLang="pt-BR" sz="3600">
              <a:solidFill>
                <a:srgbClr val="000000"/>
              </a:solidFill>
            </a:endParaRP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835150" y="4572000"/>
            <a:ext cx="8534400" cy="22098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b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/>
            <a:r>
              <a:rPr lang="pt-BR" altLang="pt-BR" sz="3600">
                <a:solidFill>
                  <a:srgbClr val="000000"/>
                </a:solidFill>
              </a:rPr>
              <a:t>Fontes Primárias</a:t>
            </a:r>
          </a:p>
        </p:txBody>
      </p:sp>
      <p:sp>
        <p:nvSpPr>
          <p:cNvPr id="61445" name="Freeform 5"/>
          <p:cNvSpPr>
            <a:spLocks/>
          </p:cNvSpPr>
          <p:nvPr/>
        </p:nvSpPr>
        <p:spPr bwMode="auto">
          <a:xfrm flipV="1">
            <a:off x="2438400" y="3898901"/>
            <a:ext cx="2514600" cy="1204913"/>
          </a:xfrm>
          <a:custGeom>
            <a:avLst/>
            <a:gdLst>
              <a:gd name="T0" fmla="*/ 312271 w 1224"/>
              <a:gd name="T1" fmla="*/ 16066 h 2400"/>
              <a:gd name="T2" fmla="*/ 1988670 w 1224"/>
              <a:gd name="T3" fmla="*/ 16066 h 2400"/>
              <a:gd name="T4" fmla="*/ 2087282 w 1224"/>
              <a:gd name="T5" fmla="*/ 112459 h 2400"/>
              <a:gd name="T6" fmla="*/ 2284506 w 1224"/>
              <a:gd name="T7" fmla="*/ 160655 h 2400"/>
              <a:gd name="T8" fmla="*/ 2481729 w 1224"/>
              <a:gd name="T9" fmla="*/ 425736 h 2400"/>
              <a:gd name="T10" fmla="*/ 2481729 w 1224"/>
              <a:gd name="T11" fmla="*/ 1172782 h 2400"/>
              <a:gd name="T12" fmla="*/ 2284506 w 1224"/>
              <a:gd name="T13" fmla="*/ 618522 h 2400"/>
              <a:gd name="T14" fmla="*/ 1692835 w 1224"/>
              <a:gd name="T15" fmla="*/ 401638 h 2400"/>
              <a:gd name="T16" fmla="*/ 509494 w 1224"/>
              <a:gd name="T17" fmla="*/ 232950 h 2400"/>
              <a:gd name="T18" fmla="*/ 115047 w 1224"/>
              <a:gd name="T19" fmla="*/ 64262 h 2400"/>
              <a:gd name="T20" fmla="*/ 312271 w 1224"/>
              <a:gd name="T21" fmla="*/ 16066 h 24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24"/>
              <a:gd name="T34" fmla="*/ 0 h 2400"/>
              <a:gd name="T35" fmla="*/ 1224 w 1224"/>
              <a:gd name="T36" fmla="*/ 2400 h 24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24" h="2400">
                <a:moveTo>
                  <a:pt x="152" y="32"/>
                </a:moveTo>
                <a:cubicBezTo>
                  <a:pt x="304" y="16"/>
                  <a:pt x="824" y="0"/>
                  <a:pt x="968" y="32"/>
                </a:cubicBezTo>
                <a:cubicBezTo>
                  <a:pt x="1112" y="64"/>
                  <a:pt x="992" y="176"/>
                  <a:pt x="1016" y="224"/>
                </a:cubicBezTo>
                <a:cubicBezTo>
                  <a:pt x="1040" y="272"/>
                  <a:pt x="1080" y="216"/>
                  <a:pt x="1112" y="320"/>
                </a:cubicBezTo>
                <a:cubicBezTo>
                  <a:pt x="1144" y="424"/>
                  <a:pt x="1192" y="512"/>
                  <a:pt x="1208" y="848"/>
                </a:cubicBezTo>
                <a:cubicBezTo>
                  <a:pt x="1224" y="1184"/>
                  <a:pt x="1224" y="2272"/>
                  <a:pt x="1208" y="2336"/>
                </a:cubicBezTo>
                <a:cubicBezTo>
                  <a:pt x="1192" y="2400"/>
                  <a:pt x="1176" y="1488"/>
                  <a:pt x="1112" y="1232"/>
                </a:cubicBezTo>
                <a:cubicBezTo>
                  <a:pt x="1048" y="976"/>
                  <a:pt x="968" y="928"/>
                  <a:pt x="824" y="800"/>
                </a:cubicBezTo>
                <a:cubicBezTo>
                  <a:pt x="680" y="672"/>
                  <a:pt x="376" y="576"/>
                  <a:pt x="248" y="464"/>
                </a:cubicBezTo>
                <a:cubicBezTo>
                  <a:pt x="120" y="352"/>
                  <a:pt x="72" y="200"/>
                  <a:pt x="56" y="128"/>
                </a:cubicBezTo>
                <a:cubicBezTo>
                  <a:pt x="40" y="56"/>
                  <a:pt x="0" y="48"/>
                  <a:pt x="152" y="32"/>
                </a:cubicBez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rgbClr val="996633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6" name="Freeform 6"/>
          <p:cNvSpPr>
            <a:spLocks/>
          </p:cNvSpPr>
          <p:nvPr/>
        </p:nvSpPr>
        <p:spPr bwMode="auto">
          <a:xfrm flipH="1" flipV="1">
            <a:off x="7391400" y="3898901"/>
            <a:ext cx="2514600" cy="1204913"/>
          </a:xfrm>
          <a:custGeom>
            <a:avLst/>
            <a:gdLst>
              <a:gd name="T0" fmla="*/ 312271 w 1224"/>
              <a:gd name="T1" fmla="*/ 16066 h 2400"/>
              <a:gd name="T2" fmla="*/ 1988670 w 1224"/>
              <a:gd name="T3" fmla="*/ 16066 h 2400"/>
              <a:gd name="T4" fmla="*/ 2087282 w 1224"/>
              <a:gd name="T5" fmla="*/ 112459 h 2400"/>
              <a:gd name="T6" fmla="*/ 2284506 w 1224"/>
              <a:gd name="T7" fmla="*/ 160655 h 2400"/>
              <a:gd name="T8" fmla="*/ 2481729 w 1224"/>
              <a:gd name="T9" fmla="*/ 425736 h 2400"/>
              <a:gd name="T10" fmla="*/ 2481729 w 1224"/>
              <a:gd name="T11" fmla="*/ 1172782 h 2400"/>
              <a:gd name="T12" fmla="*/ 2284506 w 1224"/>
              <a:gd name="T13" fmla="*/ 618522 h 2400"/>
              <a:gd name="T14" fmla="*/ 1692835 w 1224"/>
              <a:gd name="T15" fmla="*/ 401638 h 2400"/>
              <a:gd name="T16" fmla="*/ 509494 w 1224"/>
              <a:gd name="T17" fmla="*/ 232950 h 2400"/>
              <a:gd name="T18" fmla="*/ 115047 w 1224"/>
              <a:gd name="T19" fmla="*/ 64262 h 2400"/>
              <a:gd name="T20" fmla="*/ 312271 w 1224"/>
              <a:gd name="T21" fmla="*/ 16066 h 24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24"/>
              <a:gd name="T34" fmla="*/ 0 h 2400"/>
              <a:gd name="T35" fmla="*/ 1224 w 1224"/>
              <a:gd name="T36" fmla="*/ 2400 h 24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24" h="2400">
                <a:moveTo>
                  <a:pt x="152" y="32"/>
                </a:moveTo>
                <a:cubicBezTo>
                  <a:pt x="304" y="16"/>
                  <a:pt x="824" y="0"/>
                  <a:pt x="968" y="32"/>
                </a:cubicBezTo>
                <a:cubicBezTo>
                  <a:pt x="1112" y="64"/>
                  <a:pt x="992" y="176"/>
                  <a:pt x="1016" y="224"/>
                </a:cubicBezTo>
                <a:cubicBezTo>
                  <a:pt x="1040" y="272"/>
                  <a:pt x="1080" y="216"/>
                  <a:pt x="1112" y="320"/>
                </a:cubicBezTo>
                <a:cubicBezTo>
                  <a:pt x="1144" y="424"/>
                  <a:pt x="1192" y="512"/>
                  <a:pt x="1208" y="848"/>
                </a:cubicBezTo>
                <a:cubicBezTo>
                  <a:pt x="1224" y="1184"/>
                  <a:pt x="1224" y="2272"/>
                  <a:pt x="1208" y="2336"/>
                </a:cubicBezTo>
                <a:cubicBezTo>
                  <a:pt x="1192" y="2400"/>
                  <a:pt x="1176" y="1488"/>
                  <a:pt x="1112" y="1232"/>
                </a:cubicBezTo>
                <a:cubicBezTo>
                  <a:pt x="1048" y="976"/>
                  <a:pt x="968" y="928"/>
                  <a:pt x="824" y="800"/>
                </a:cubicBezTo>
                <a:cubicBezTo>
                  <a:pt x="680" y="672"/>
                  <a:pt x="376" y="576"/>
                  <a:pt x="248" y="464"/>
                </a:cubicBezTo>
                <a:cubicBezTo>
                  <a:pt x="120" y="352"/>
                  <a:pt x="72" y="200"/>
                  <a:pt x="56" y="128"/>
                </a:cubicBezTo>
                <a:cubicBezTo>
                  <a:pt x="40" y="56"/>
                  <a:pt x="0" y="48"/>
                  <a:pt x="152" y="32"/>
                </a:cubicBezTo>
                <a:close/>
              </a:path>
            </a:pathLst>
          </a:custGeom>
          <a:gradFill rotWithShape="0">
            <a:gsLst>
              <a:gs pos="0">
                <a:srgbClr val="996633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7" name="AutoShape 7"/>
          <p:cNvSpPr>
            <a:spLocks noChangeArrowheads="1"/>
          </p:cNvSpPr>
          <p:nvPr/>
        </p:nvSpPr>
        <p:spPr bwMode="auto">
          <a:xfrm>
            <a:off x="5486400" y="3898901"/>
            <a:ext cx="1295400" cy="1204913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996633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61448" name="Freeform 8"/>
          <p:cNvSpPr>
            <a:spLocks/>
          </p:cNvSpPr>
          <p:nvPr/>
        </p:nvSpPr>
        <p:spPr bwMode="auto">
          <a:xfrm>
            <a:off x="2438400" y="1614488"/>
            <a:ext cx="2514600" cy="1204912"/>
          </a:xfrm>
          <a:custGeom>
            <a:avLst/>
            <a:gdLst>
              <a:gd name="T0" fmla="*/ 312271 w 1224"/>
              <a:gd name="T1" fmla="*/ 16065 h 2400"/>
              <a:gd name="T2" fmla="*/ 1988670 w 1224"/>
              <a:gd name="T3" fmla="*/ 16065 h 2400"/>
              <a:gd name="T4" fmla="*/ 2087282 w 1224"/>
              <a:gd name="T5" fmla="*/ 112458 h 2400"/>
              <a:gd name="T6" fmla="*/ 2284506 w 1224"/>
              <a:gd name="T7" fmla="*/ 160655 h 2400"/>
              <a:gd name="T8" fmla="*/ 2481729 w 1224"/>
              <a:gd name="T9" fmla="*/ 425736 h 2400"/>
              <a:gd name="T10" fmla="*/ 2481729 w 1224"/>
              <a:gd name="T11" fmla="*/ 1172781 h 2400"/>
              <a:gd name="T12" fmla="*/ 2284506 w 1224"/>
              <a:gd name="T13" fmla="*/ 618521 h 2400"/>
              <a:gd name="T14" fmla="*/ 1692835 w 1224"/>
              <a:gd name="T15" fmla="*/ 401637 h 2400"/>
              <a:gd name="T16" fmla="*/ 509494 w 1224"/>
              <a:gd name="T17" fmla="*/ 232950 h 2400"/>
              <a:gd name="T18" fmla="*/ 115047 w 1224"/>
              <a:gd name="T19" fmla="*/ 64262 h 2400"/>
              <a:gd name="T20" fmla="*/ 312271 w 1224"/>
              <a:gd name="T21" fmla="*/ 16065 h 24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24"/>
              <a:gd name="T34" fmla="*/ 0 h 2400"/>
              <a:gd name="T35" fmla="*/ 1224 w 1224"/>
              <a:gd name="T36" fmla="*/ 2400 h 24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24" h="2400">
                <a:moveTo>
                  <a:pt x="152" y="32"/>
                </a:moveTo>
                <a:cubicBezTo>
                  <a:pt x="304" y="16"/>
                  <a:pt x="824" y="0"/>
                  <a:pt x="968" y="32"/>
                </a:cubicBezTo>
                <a:cubicBezTo>
                  <a:pt x="1112" y="64"/>
                  <a:pt x="992" y="176"/>
                  <a:pt x="1016" y="224"/>
                </a:cubicBezTo>
                <a:cubicBezTo>
                  <a:pt x="1040" y="272"/>
                  <a:pt x="1080" y="216"/>
                  <a:pt x="1112" y="320"/>
                </a:cubicBezTo>
                <a:cubicBezTo>
                  <a:pt x="1144" y="424"/>
                  <a:pt x="1192" y="512"/>
                  <a:pt x="1208" y="848"/>
                </a:cubicBezTo>
                <a:cubicBezTo>
                  <a:pt x="1224" y="1184"/>
                  <a:pt x="1224" y="2272"/>
                  <a:pt x="1208" y="2336"/>
                </a:cubicBezTo>
                <a:cubicBezTo>
                  <a:pt x="1192" y="2400"/>
                  <a:pt x="1176" y="1488"/>
                  <a:pt x="1112" y="1232"/>
                </a:cubicBezTo>
                <a:cubicBezTo>
                  <a:pt x="1048" y="976"/>
                  <a:pt x="968" y="928"/>
                  <a:pt x="824" y="800"/>
                </a:cubicBezTo>
                <a:cubicBezTo>
                  <a:pt x="680" y="672"/>
                  <a:pt x="376" y="576"/>
                  <a:pt x="248" y="464"/>
                </a:cubicBezTo>
                <a:cubicBezTo>
                  <a:pt x="120" y="352"/>
                  <a:pt x="72" y="200"/>
                  <a:pt x="56" y="128"/>
                </a:cubicBezTo>
                <a:cubicBezTo>
                  <a:pt x="40" y="56"/>
                  <a:pt x="0" y="48"/>
                  <a:pt x="152" y="32"/>
                </a:cubicBezTo>
                <a:close/>
              </a:path>
            </a:pathLst>
          </a:custGeom>
          <a:gradFill rotWithShape="0">
            <a:gsLst>
              <a:gs pos="0">
                <a:srgbClr val="009900"/>
              </a:gs>
              <a:gs pos="100000">
                <a:srgbClr val="99663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49" name="Freeform 9"/>
          <p:cNvSpPr>
            <a:spLocks/>
          </p:cNvSpPr>
          <p:nvPr/>
        </p:nvSpPr>
        <p:spPr bwMode="auto">
          <a:xfrm flipH="1">
            <a:off x="7467600" y="1441450"/>
            <a:ext cx="2514600" cy="1206500"/>
          </a:xfrm>
          <a:custGeom>
            <a:avLst/>
            <a:gdLst>
              <a:gd name="T0" fmla="*/ 312271 w 1224"/>
              <a:gd name="T1" fmla="*/ 16087 h 2400"/>
              <a:gd name="T2" fmla="*/ 1988670 w 1224"/>
              <a:gd name="T3" fmla="*/ 16087 h 2400"/>
              <a:gd name="T4" fmla="*/ 2087282 w 1224"/>
              <a:gd name="T5" fmla="*/ 112607 h 2400"/>
              <a:gd name="T6" fmla="*/ 2284506 w 1224"/>
              <a:gd name="T7" fmla="*/ 160867 h 2400"/>
              <a:gd name="T8" fmla="*/ 2481729 w 1224"/>
              <a:gd name="T9" fmla="*/ 426297 h 2400"/>
              <a:gd name="T10" fmla="*/ 2481729 w 1224"/>
              <a:gd name="T11" fmla="*/ 1174327 h 2400"/>
              <a:gd name="T12" fmla="*/ 2284506 w 1224"/>
              <a:gd name="T13" fmla="*/ 619337 h 2400"/>
              <a:gd name="T14" fmla="*/ 1692835 w 1224"/>
              <a:gd name="T15" fmla="*/ 402167 h 2400"/>
              <a:gd name="T16" fmla="*/ 509494 w 1224"/>
              <a:gd name="T17" fmla="*/ 233257 h 2400"/>
              <a:gd name="T18" fmla="*/ 115047 w 1224"/>
              <a:gd name="T19" fmla="*/ 64347 h 2400"/>
              <a:gd name="T20" fmla="*/ 312271 w 1224"/>
              <a:gd name="T21" fmla="*/ 16087 h 24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24"/>
              <a:gd name="T34" fmla="*/ 0 h 2400"/>
              <a:gd name="T35" fmla="*/ 1224 w 1224"/>
              <a:gd name="T36" fmla="*/ 2400 h 2400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24" h="2400">
                <a:moveTo>
                  <a:pt x="152" y="32"/>
                </a:moveTo>
                <a:cubicBezTo>
                  <a:pt x="304" y="16"/>
                  <a:pt x="824" y="0"/>
                  <a:pt x="968" y="32"/>
                </a:cubicBezTo>
                <a:cubicBezTo>
                  <a:pt x="1112" y="64"/>
                  <a:pt x="992" y="176"/>
                  <a:pt x="1016" y="224"/>
                </a:cubicBezTo>
                <a:cubicBezTo>
                  <a:pt x="1040" y="272"/>
                  <a:pt x="1080" y="216"/>
                  <a:pt x="1112" y="320"/>
                </a:cubicBezTo>
                <a:cubicBezTo>
                  <a:pt x="1144" y="424"/>
                  <a:pt x="1192" y="512"/>
                  <a:pt x="1208" y="848"/>
                </a:cubicBezTo>
                <a:cubicBezTo>
                  <a:pt x="1224" y="1184"/>
                  <a:pt x="1224" y="2272"/>
                  <a:pt x="1208" y="2336"/>
                </a:cubicBezTo>
                <a:cubicBezTo>
                  <a:pt x="1192" y="2400"/>
                  <a:pt x="1176" y="1488"/>
                  <a:pt x="1112" y="1232"/>
                </a:cubicBezTo>
                <a:cubicBezTo>
                  <a:pt x="1048" y="976"/>
                  <a:pt x="968" y="928"/>
                  <a:pt x="824" y="800"/>
                </a:cubicBezTo>
                <a:cubicBezTo>
                  <a:pt x="680" y="672"/>
                  <a:pt x="376" y="576"/>
                  <a:pt x="248" y="464"/>
                </a:cubicBezTo>
                <a:cubicBezTo>
                  <a:pt x="120" y="352"/>
                  <a:pt x="72" y="200"/>
                  <a:pt x="56" y="128"/>
                </a:cubicBezTo>
                <a:cubicBezTo>
                  <a:pt x="40" y="56"/>
                  <a:pt x="0" y="48"/>
                  <a:pt x="152" y="32"/>
                </a:cubicBezTo>
                <a:close/>
              </a:path>
            </a:pathLst>
          </a:custGeom>
          <a:gradFill rotWithShape="0">
            <a:gsLst>
              <a:gs pos="0">
                <a:srgbClr val="009900"/>
              </a:gs>
              <a:gs pos="100000">
                <a:srgbClr val="99663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450" name="AutoShape 10"/>
          <p:cNvSpPr>
            <a:spLocks noChangeArrowheads="1"/>
          </p:cNvSpPr>
          <p:nvPr/>
        </p:nvSpPr>
        <p:spPr bwMode="auto">
          <a:xfrm flipV="1">
            <a:off x="5486400" y="1700214"/>
            <a:ext cx="1295400" cy="947737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009900"/>
              </a:gs>
              <a:gs pos="100000">
                <a:srgbClr val="99663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73419" name="AutoShape 11"/>
          <p:cNvSpPr>
            <a:spLocks noChangeArrowheads="1"/>
          </p:cNvSpPr>
          <p:nvPr/>
        </p:nvSpPr>
        <p:spPr bwMode="auto">
          <a:xfrm>
            <a:off x="4800600" y="5016500"/>
            <a:ext cx="2590800" cy="1079500"/>
          </a:xfrm>
          <a:prstGeom prst="flowChartProcess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defTabSz="762000" eaLnBrk="0" hangingPunct="0">
              <a:lnSpc>
                <a:spcPct val="90000"/>
              </a:lnSpc>
              <a:defRPr/>
            </a:pPr>
            <a:r>
              <a:rPr lang="pt-BR" sz="2800">
                <a:solidFill>
                  <a:schemeClr val="bg1"/>
                </a:solidFill>
              </a:rPr>
              <a:t>Pesquisa Quantitativa</a:t>
            </a:r>
          </a:p>
        </p:txBody>
      </p:sp>
      <p:sp>
        <p:nvSpPr>
          <p:cNvPr id="273420" name="AutoShape 12"/>
          <p:cNvSpPr>
            <a:spLocks noChangeArrowheads="1"/>
          </p:cNvSpPr>
          <p:nvPr/>
        </p:nvSpPr>
        <p:spPr bwMode="auto">
          <a:xfrm>
            <a:off x="7581900" y="5016500"/>
            <a:ext cx="2590800" cy="1079500"/>
          </a:xfrm>
          <a:prstGeom prst="flowChartProcess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defTabSz="762000" eaLnBrk="0" hangingPunct="0">
              <a:lnSpc>
                <a:spcPct val="90000"/>
              </a:lnSpc>
              <a:defRPr/>
            </a:pPr>
            <a:r>
              <a:rPr lang="pt-BR" sz="2800">
                <a:solidFill>
                  <a:schemeClr val="bg1"/>
                </a:solidFill>
              </a:rPr>
              <a:t>Experimentos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1876425" y="0"/>
            <a:ext cx="424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pt-BR" altLang="pt-BR" sz="3600">
                <a:solidFill>
                  <a:srgbClr val="000000"/>
                </a:solidFill>
              </a:rPr>
              <a:t>Fontes Secundárias</a:t>
            </a:r>
          </a:p>
        </p:txBody>
      </p:sp>
      <p:sp>
        <p:nvSpPr>
          <p:cNvPr id="273422" name="AutoShape 14"/>
          <p:cNvSpPr>
            <a:spLocks noChangeArrowheads="1"/>
          </p:cNvSpPr>
          <p:nvPr/>
        </p:nvSpPr>
        <p:spPr bwMode="auto">
          <a:xfrm>
            <a:off x="2019300" y="5016500"/>
            <a:ext cx="2590800" cy="1079500"/>
          </a:xfrm>
          <a:prstGeom prst="flowChartProcess">
            <a:avLst/>
          </a:prstGeom>
          <a:solidFill>
            <a:schemeClr val="accent2"/>
          </a:solidFill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2">
                <a:gamma/>
                <a:shade val="60000"/>
                <a:invGamma/>
              </a:schemeClr>
            </a:prstShdw>
          </a:effectLst>
        </p:spPr>
        <p:txBody>
          <a:bodyPr anchor="ctr"/>
          <a:lstStyle/>
          <a:p>
            <a:pPr defTabSz="762000" eaLnBrk="0" hangingPunct="0">
              <a:lnSpc>
                <a:spcPct val="90000"/>
              </a:lnSpc>
              <a:defRPr/>
            </a:pPr>
            <a:r>
              <a:rPr lang="pt-BR" sz="2800">
                <a:solidFill>
                  <a:schemeClr val="bg1"/>
                </a:solidFill>
              </a:rPr>
              <a:t>Pesquisa Qualitativa</a:t>
            </a:r>
          </a:p>
        </p:txBody>
      </p:sp>
      <p:sp>
        <p:nvSpPr>
          <p:cNvPr id="61455" name="AutoShape 15"/>
          <p:cNvSpPr>
            <a:spLocks noChangeArrowheads="1"/>
          </p:cNvSpPr>
          <p:nvPr/>
        </p:nvSpPr>
        <p:spPr bwMode="auto">
          <a:xfrm>
            <a:off x="1981200" y="622300"/>
            <a:ext cx="2590800" cy="1079500"/>
          </a:xfrm>
          <a:prstGeom prst="flowChartProcess">
            <a:avLst/>
          </a:prstGeom>
          <a:solidFill>
            <a:srgbClr val="009900"/>
          </a:solidFill>
          <a:ln>
            <a:noFill/>
          </a:ln>
          <a:effectLst>
            <a:prstShdw prst="shdw17" dist="17961" dir="2700000">
              <a:srgbClr val="005C00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pt-BR" altLang="pt-BR" sz="2800">
                <a:solidFill>
                  <a:schemeClr val="bg1"/>
                </a:solidFill>
              </a:rPr>
              <a:t>Registros Internos</a:t>
            </a:r>
          </a:p>
        </p:txBody>
      </p:sp>
      <p:sp>
        <p:nvSpPr>
          <p:cNvPr id="61456" name="AutoShape 16"/>
          <p:cNvSpPr>
            <a:spLocks noChangeArrowheads="1"/>
          </p:cNvSpPr>
          <p:nvPr/>
        </p:nvSpPr>
        <p:spPr bwMode="auto">
          <a:xfrm>
            <a:off x="7543800" y="622300"/>
            <a:ext cx="2590800" cy="1079500"/>
          </a:xfrm>
          <a:prstGeom prst="flowChartProcess">
            <a:avLst/>
          </a:prstGeom>
          <a:solidFill>
            <a:srgbClr val="009900"/>
          </a:solidFill>
          <a:ln>
            <a:noFill/>
          </a:ln>
          <a:effectLst>
            <a:prstShdw prst="shdw17" dist="17961" dir="2700000">
              <a:srgbClr val="005C00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pt-BR" altLang="pt-BR" sz="2800">
                <a:solidFill>
                  <a:schemeClr val="bg1"/>
                </a:solidFill>
              </a:rPr>
              <a:t>Dados Padronizados de Marketing</a:t>
            </a:r>
          </a:p>
        </p:txBody>
      </p:sp>
      <p:sp>
        <p:nvSpPr>
          <p:cNvPr id="61457" name="AutoShape 17"/>
          <p:cNvSpPr>
            <a:spLocks noChangeArrowheads="1"/>
          </p:cNvSpPr>
          <p:nvPr/>
        </p:nvSpPr>
        <p:spPr bwMode="auto">
          <a:xfrm>
            <a:off x="4762500" y="622300"/>
            <a:ext cx="2590800" cy="1079500"/>
          </a:xfrm>
          <a:prstGeom prst="flowChartProcess">
            <a:avLst/>
          </a:prstGeom>
          <a:solidFill>
            <a:srgbClr val="009900"/>
          </a:solidFill>
          <a:ln>
            <a:noFill/>
          </a:ln>
          <a:effectLst>
            <a:prstShdw prst="shdw17" dist="17961" dir="2700000">
              <a:srgbClr val="005C00">
                <a:alpha val="74998"/>
              </a:srgbClr>
            </a:prst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anchor="ctr"/>
          <a:lstStyle>
            <a:lvl1pPr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70000"/>
              </a:lnSpc>
            </a:pPr>
            <a:r>
              <a:rPr lang="pt-BR" altLang="pt-BR" sz="2800">
                <a:solidFill>
                  <a:schemeClr val="bg1"/>
                </a:solidFill>
              </a:rPr>
              <a:t>Dados Publicados de Uso Comum</a:t>
            </a:r>
          </a:p>
        </p:txBody>
      </p:sp>
      <p:sp>
        <p:nvSpPr>
          <p:cNvPr id="61458" name="Text Box 18"/>
          <p:cNvSpPr txBox="1">
            <a:spLocks noChangeArrowheads="1"/>
          </p:cNvSpPr>
          <p:nvPr/>
        </p:nvSpPr>
        <p:spPr bwMode="auto">
          <a:xfrm>
            <a:off x="5645150" y="6491288"/>
            <a:ext cx="502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800"/>
              <a:t>Fonte: baseado em Aaker, Kumar &amp; Day (2001)</a:t>
            </a:r>
          </a:p>
        </p:txBody>
      </p:sp>
    </p:spTree>
  </p:cSld>
  <p:clrMapOvr>
    <a:masterClrMapping/>
  </p:clrMapOvr>
  <p:transition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4999" y="125415"/>
            <a:ext cx="10057151" cy="733980"/>
          </a:xfrm>
        </p:spPr>
        <p:txBody>
          <a:bodyPr>
            <a:normAutofit/>
          </a:bodyPr>
          <a:lstStyle/>
          <a:p>
            <a:r>
              <a:rPr lang="en-US" altLang="pt-BR" sz="2800" dirty="0" err="1"/>
              <a:t>Elementos</a:t>
            </a:r>
            <a:r>
              <a:rPr lang="en-US" altLang="pt-BR" sz="2800" dirty="0"/>
              <a:t> da </a:t>
            </a:r>
            <a:r>
              <a:rPr lang="en-US" altLang="pt-BR" sz="2800" dirty="0" err="1"/>
              <a:t>Estratégia</a:t>
            </a:r>
            <a:r>
              <a:rPr lang="en-US" altLang="pt-BR" sz="2800" dirty="0"/>
              <a:t> de </a:t>
            </a:r>
            <a:r>
              <a:rPr lang="en-US" altLang="pt-BR" sz="2800" dirty="0" err="1"/>
              <a:t>Produto</a:t>
            </a:r>
            <a:r>
              <a:rPr lang="en-US" altLang="pt-BR" sz="2800" dirty="0"/>
              <a:t> </a:t>
            </a:r>
          </a:p>
        </p:txBody>
      </p:sp>
      <p:grpSp>
        <p:nvGrpSpPr>
          <p:cNvPr id="62467" name="Group 3"/>
          <p:cNvGrpSpPr>
            <a:grpSpLocks/>
          </p:cNvGrpSpPr>
          <p:nvPr/>
        </p:nvGrpSpPr>
        <p:grpSpPr bwMode="auto">
          <a:xfrm>
            <a:off x="2133600" y="2360613"/>
            <a:ext cx="685800" cy="2667000"/>
            <a:chOff x="384" y="1487"/>
            <a:chExt cx="432" cy="1680"/>
          </a:xfrm>
        </p:grpSpPr>
        <p:sp>
          <p:nvSpPr>
            <p:cNvPr id="62738" name="Oval 4"/>
            <p:cNvSpPr>
              <a:spLocks noChangeArrowheads="1"/>
            </p:cNvSpPr>
            <p:nvPr/>
          </p:nvSpPr>
          <p:spPr bwMode="auto">
            <a:xfrm>
              <a:off x="528" y="1487"/>
              <a:ext cx="144" cy="144"/>
            </a:xfrm>
            <a:prstGeom prst="ellipse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9" name="Oval 5"/>
            <p:cNvSpPr>
              <a:spLocks noChangeArrowheads="1"/>
            </p:cNvSpPr>
            <p:nvPr/>
          </p:nvSpPr>
          <p:spPr bwMode="auto">
            <a:xfrm>
              <a:off x="528" y="1860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0" name="Oval 6"/>
            <p:cNvSpPr>
              <a:spLocks noChangeArrowheads="1"/>
            </p:cNvSpPr>
            <p:nvPr/>
          </p:nvSpPr>
          <p:spPr bwMode="auto">
            <a:xfrm>
              <a:off x="672" y="225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1" name="Oval 7"/>
            <p:cNvSpPr>
              <a:spLocks noChangeArrowheads="1"/>
            </p:cNvSpPr>
            <p:nvPr/>
          </p:nvSpPr>
          <p:spPr bwMode="auto">
            <a:xfrm>
              <a:off x="672" y="2639"/>
              <a:ext cx="144" cy="14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2" name="Oval 8"/>
            <p:cNvSpPr>
              <a:spLocks noChangeArrowheads="1"/>
            </p:cNvSpPr>
            <p:nvPr/>
          </p:nvSpPr>
          <p:spPr bwMode="auto">
            <a:xfrm>
              <a:off x="384" y="2351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43" name="Oval 9"/>
            <p:cNvSpPr>
              <a:spLocks noChangeArrowheads="1"/>
            </p:cNvSpPr>
            <p:nvPr/>
          </p:nvSpPr>
          <p:spPr bwMode="auto">
            <a:xfrm>
              <a:off x="528" y="3023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68" name="Group 10"/>
          <p:cNvGrpSpPr>
            <a:grpSpLocks/>
          </p:cNvGrpSpPr>
          <p:nvPr/>
        </p:nvGrpSpPr>
        <p:grpSpPr bwMode="auto">
          <a:xfrm>
            <a:off x="3048000" y="2970213"/>
            <a:ext cx="762000" cy="1828800"/>
            <a:chOff x="960" y="1871"/>
            <a:chExt cx="480" cy="1152"/>
          </a:xfrm>
        </p:grpSpPr>
        <p:sp>
          <p:nvSpPr>
            <p:cNvPr id="62731" name="Oval 11"/>
            <p:cNvSpPr>
              <a:spLocks noChangeArrowheads="1"/>
            </p:cNvSpPr>
            <p:nvPr/>
          </p:nvSpPr>
          <p:spPr bwMode="auto">
            <a:xfrm>
              <a:off x="960" y="1871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2" name="Oval 12"/>
            <p:cNvSpPr>
              <a:spLocks noChangeArrowheads="1"/>
            </p:cNvSpPr>
            <p:nvPr/>
          </p:nvSpPr>
          <p:spPr bwMode="auto">
            <a:xfrm>
              <a:off x="1296" y="2015"/>
              <a:ext cx="144" cy="144"/>
            </a:xfrm>
            <a:prstGeom prst="ellipse">
              <a:avLst/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3" name="Oval 13"/>
            <p:cNvSpPr>
              <a:spLocks noChangeArrowheads="1"/>
            </p:cNvSpPr>
            <p:nvPr/>
          </p:nvSpPr>
          <p:spPr bwMode="auto">
            <a:xfrm>
              <a:off x="960" y="2159"/>
              <a:ext cx="144" cy="144"/>
            </a:xfrm>
            <a:prstGeom prst="ellipse">
              <a:avLst/>
            </a:prstGeom>
            <a:solidFill>
              <a:srgbClr val="E0F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4" name="Oval 14"/>
            <p:cNvSpPr>
              <a:spLocks noChangeArrowheads="1"/>
            </p:cNvSpPr>
            <p:nvPr/>
          </p:nvSpPr>
          <p:spPr bwMode="auto">
            <a:xfrm>
              <a:off x="1296" y="2399"/>
              <a:ext cx="144" cy="14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5" name="Oval 15"/>
            <p:cNvSpPr>
              <a:spLocks noChangeArrowheads="1"/>
            </p:cNvSpPr>
            <p:nvPr/>
          </p:nvSpPr>
          <p:spPr bwMode="auto">
            <a:xfrm>
              <a:off x="960" y="249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6" name="Oval 16"/>
            <p:cNvSpPr>
              <a:spLocks noChangeArrowheads="1"/>
            </p:cNvSpPr>
            <p:nvPr/>
          </p:nvSpPr>
          <p:spPr bwMode="auto">
            <a:xfrm>
              <a:off x="960" y="287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7" name="Oval 17"/>
            <p:cNvSpPr>
              <a:spLocks noChangeArrowheads="1"/>
            </p:cNvSpPr>
            <p:nvPr/>
          </p:nvSpPr>
          <p:spPr bwMode="auto">
            <a:xfrm>
              <a:off x="1296" y="2735"/>
              <a:ext cx="144" cy="144"/>
            </a:xfrm>
            <a:prstGeom prst="ellipse">
              <a:avLst/>
            </a:prstGeom>
            <a:solidFill>
              <a:srgbClr val="FFB1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69" name="Group 18"/>
          <p:cNvGrpSpPr>
            <a:grpSpLocks/>
          </p:cNvGrpSpPr>
          <p:nvPr/>
        </p:nvGrpSpPr>
        <p:grpSpPr bwMode="auto">
          <a:xfrm>
            <a:off x="4098926" y="3351213"/>
            <a:ext cx="1082675" cy="990600"/>
            <a:chOff x="1622" y="2111"/>
            <a:chExt cx="682" cy="624"/>
          </a:xfrm>
        </p:grpSpPr>
        <p:sp>
          <p:nvSpPr>
            <p:cNvPr id="62726" name="Oval 19"/>
            <p:cNvSpPr>
              <a:spLocks noChangeArrowheads="1"/>
            </p:cNvSpPr>
            <p:nvPr/>
          </p:nvSpPr>
          <p:spPr bwMode="auto">
            <a:xfrm>
              <a:off x="1938" y="211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7" name="Oval 20"/>
            <p:cNvSpPr>
              <a:spLocks noChangeArrowheads="1"/>
            </p:cNvSpPr>
            <p:nvPr/>
          </p:nvSpPr>
          <p:spPr bwMode="auto">
            <a:xfrm>
              <a:off x="1622" y="2255"/>
              <a:ext cx="144" cy="144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8" name="Oval 21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9" name="Oval 22"/>
            <p:cNvSpPr>
              <a:spLocks noChangeArrowheads="1"/>
            </p:cNvSpPr>
            <p:nvPr/>
          </p:nvSpPr>
          <p:spPr bwMode="auto">
            <a:xfrm>
              <a:off x="1666" y="2591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30" name="Oval 23"/>
            <p:cNvSpPr>
              <a:spLocks noChangeArrowheads="1"/>
            </p:cNvSpPr>
            <p:nvPr/>
          </p:nvSpPr>
          <p:spPr bwMode="auto">
            <a:xfrm>
              <a:off x="2160" y="249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0" name="Group 24"/>
          <p:cNvGrpSpPr>
            <a:grpSpLocks/>
          </p:cNvGrpSpPr>
          <p:nvPr/>
        </p:nvGrpSpPr>
        <p:grpSpPr bwMode="auto">
          <a:xfrm>
            <a:off x="6629400" y="3579813"/>
            <a:ext cx="1371600" cy="506412"/>
            <a:chOff x="3216" y="2255"/>
            <a:chExt cx="864" cy="319"/>
          </a:xfrm>
        </p:grpSpPr>
        <p:sp>
          <p:nvSpPr>
            <p:cNvPr id="62722" name="Oval 25"/>
            <p:cNvSpPr>
              <a:spLocks noChangeArrowheads="1"/>
            </p:cNvSpPr>
            <p:nvPr/>
          </p:nvSpPr>
          <p:spPr bwMode="auto">
            <a:xfrm>
              <a:off x="3216" y="2255"/>
              <a:ext cx="144" cy="144"/>
            </a:xfrm>
            <a:prstGeom prst="ellipse">
              <a:avLst/>
            </a:pr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3" name="Oval 26"/>
            <p:cNvSpPr>
              <a:spLocks noChangeArrowheads="1"/>
            </p:cNvSpPr>
            <p:nvPr/>
          </p:nvSpPr>
          <p:spPr bwMode="auto">
            <a:xfrm>
              <a:off x="3936" y="2255"/>
              <a:ext cx="144" cy="144"/>
            </a:xfrm>
            <a:prstGeom prst="ellipse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4" name="Oval 27"/>
            <p:cNvSpPr>
              <a:spLocks noChangeArrowheads="1"/>
            </p:cNvSpPr>
            <p:nvPr/>
          </p:nvSpPr>
          <p:spPr bwMode="auto">
            <a:xfrm>
              <a:off x="3755" y="2430"/>
              <a:ext cx="144" cy="144"/>
            </a:xfrm>
            <a:prstGeom prst="ellipse">
              <a:avLst/>
            </a:prstGeom>
            <a:solidFill>
              <a:srgbClr val="99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5" name="Oval 28"/>
            <p:cNvSpPr>
              <a:spLocks noChangeArrowheads="1"/>
            </p:cNvSpPr>
            <p:nvPr/>
          </p:nvSpPr>
          <p:spPr bwMode="auto">
            <a:xfrm>
              <a:off x="3504" y="2255"/>
              <a:ext cx="144" cy="144"/>
            </a:xfrm>
            <a:prstGeom prst="ellipse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1" name="Group 29"/>
          <p:cNvGrpSpPr>
            <a:grpSpLocks/>
          </p:cNvGrpSpPr>
          <p:nvPr/>
        </p:nvGrpSpPr>
        <p:grpSpPr bwMode="auto">
          <a:xfrm>
            <a:off x="5410200" y="3427413"/>
            <a:ext cx="990600" cy="609600"/>
            <a:chOff x="2448" y="2159"/>
            <a:chExt cx="624" cy="384"/>
          </a:xfrm>
        </p:grpSpPr>
        <p:sp>
          <p:nvSpPr>
            <p:cNvPr id="62719" name="Oval 30"/>
            <p:cNvSpPr>
              <a:spLocks noChangeArrowheads="1"/>
            </p:cNvSpPr>
            <p:nvPr/>
          </p:nvSpPr>
          <p:spPr bwMode="auto">
            <a:xfrm>
              <a:off x="2688" y="2255"/>
              <a:ext cx="144" cy="144"/>
            </a:xfrm>
            <a:prstGeom prst="ellipse">
              <a:avLst/>
            </a:prstGeom>
            <a:solidFill>
              <a:srgbClr val="CC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0" name="Oval 31"/>
            <p:cNvSpPr>
              <a:spLocks noChangeArrowheads="1"/>
            </p:cNvSpPr>
            <p:nvPr/>
          </p:nvSpPr>
          <p:spPr bwMode="auto">
            <a:xfrm>
              <a:off x="2928" y="2399"/>
              <a:ext cx="144" cy="144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721" name="Oval 32"/>
            <p:cNvSpPr>
              <a:spLocks noChangeArrowheads="1"/>
            </p:cNvSpPr>
            <p:nvPr/>
          </p:nvSpPr>
          <p:spPr bwMode="auto">
            <a:xfrm>
              <a:off x="2448" y="2159"/>
              <a:ext cx="144" cy="144"/>
            </a:xfrm>
            <a:prstGeom prst="ellipse">
              <a:avLst/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2" name="Group 33"/>
          <p:cNvGrpSpPr>
            <a:grpSpLocks/>
          </p:cNvGrpSpPr>
          <p:nvPr/>
        </p:nvGrpSpPr>
        <p:grpSpPr bwMode="auto">
          <a:xfrm>
            <a:off x="2514600" y="1674813"/>
            <a:ext cx="8008938" cy="4038600"/>
            <a:chOff x="624" y="1055"/>
            <a:chExt cx="5045" cy="2544"/>
          </a:xfrm>
        </p:grpSpPr>
        <p:sp>
          <p:nvSpPr>
            <p:cNvPr id="62544" name="Freeform 34"/>
            <p:cNvSpPr>
              <a:spLocks/>
            </p:cNvSpPr>
            <p:nvPr/>
          </p:nvSpPr>
          <p:spPr bwMode="auto">
            <a:xfrm>
              <a:off x="624" y="1055"/>
              <a:ext cx="3696" cy="960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80 h 1056"/>
                <a:gd name="T4" fmla="*/ 1634 w 4560"/>
                <a:gd name="T5" fmla="*/ 873 h 1056"/>
                <a:gd name="T6" fmla="*/ 3696 w 4560"/>
                <a:gd name="T7" fmla="*/ 960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2545" name="Freeform 35"/>
            <p:cNvSpPr>
              <a:spLocks/>
            </p:cNvSpPr>
            <p:nvPr/>
          </p:nvSpPr>
          <p:spPr bwMode="auto">
            <a:xfrm flipV="1">
              <a:off x="624" y="2735"/>
              <a:ext cx="3696" cy="864"/>
            </a:xfrm>
            <a:custGeom>
              <a:avLst/>
              <a:gdLst>
                <a:gd name="T0" fmla="*/ 0 w 4560"/>
                <a:gd name="T1" fmla="*/ 0 h 1056"/>
                <a:gd name="T2" fmla="*/ 389 w 4560"/>
                <a:gd name="T3" fmla="*/ 432 h 1056"/>
                <a:gd name="T4" fmla="*/ 1634 w 4560"/>
                <a:gd name="T5" fmla="*/ 785 h 1056"/>
                <a:gd name="T6" fmla="*/ 3696 w 4560"/>
                <a:gd name="T7" fmla="*/ 864 h 105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60"/>
                <a:gd name="T13" fmla="*/ 0 h 1056"/>
                <a:gd name="T14" fmla="*/ 4560 w 4560"/>
                <a:gd name="T15" fmla="*/ 1056 h 105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60" h="1056">
                  <a:moveTo>
                    <a:pt x="0" y="0"/>
                  </a:moveTo>
                  <a:cubicBezTo>
                    <a:pt x="72" y="184"/>
                    <a:pt x="144" y="368"/>
                    <a:pt x="480" y="528"/>
                  </a:cubicBezTo>
                  <a:cubicBezTo>
                    <a:pt x="816" y="688"/>
                    <a:pt x="1336" y="872"/>
                    <a:pt x="2016" y="960"/>
                  </a:cubicBezTo>
                  <a:cubicBezTo>
                    <a:pt x="2696" y="1048"/>
                    <a:pt x="4120" y="1040"/>
                    <a:pt x="4560" y="1056"/>
                  </a:cubicBezTo>
                </a:path>
              </a:pathLst>
            </a:custGeom>
            <a:noFill/>
            <a:ln w="19050" cap="flat" cmpd="sng">
              <a:solidFill>
                <a:schemeClr val="folHlink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62546" name="Group 36"/>
            <p:cNvGrpSpPr>
              <a:grpSpLocks/>
            </p:cNvGrpSpPr>
            <p:nvPr/>
          </p:nvGrpSpPr>
          <p:grpSpPr bwMode="auto">
            <a:xfrm>
              <a:off x="4341" y="1993"/>
              <a:ext cx="1328" cy="1030"/>
              <a:chOff x="4341" y="1993"/>
              <a:chExt cx="1328" cy="1030"/>
            </a:xfrm>
          </p:grpSpPr>
          <p:grpSp>
            <p:nvGrpSpPr>
              <p:cNvPr id="62547" name="Group 37"/>
              <p:cNvGrpSpPr>
                <a:grpSpLocks/>
              </p:cNvGrpSpPr>
              <p:nvPr/>
            </p:nvGrpSpPr>
            <p:grpSpPr bwMode="auto">
              <a:xfrm>
                <a:off x="4341" y="1993"/>
                <a:ext cx="1328" cy="742"/>
                <a:chOff x="4125" y="2064"/>
                <a:chExt cx="1503" cy="742"/>
              </a:xfrm>
            </p:grpSpPr>
            <p:sp>
              <p:nvSpPr>
                <p:cNvPr id="62549" name="AutoShape 38"/>
                <p:cNvSpPr>
                  <a:spLocks noChangeArrowheads="1"/>
                </p:cNvSpPr>
                <p:nvPr/>
              </p:nvSpPr>
              <p:spPr bwMode="auto">
                <a:xfrm>
                  <a:off x="4181" y="2231"/>
                  <a:ext cx="52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114FFB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0" name="AutoShape 39"/>
                <p:cNvSpPr>
                  <a:spLocks noChangeArrowheads="1"/>
                </p:cNvSpPr>
                <p:nvPr/>
              </p:nvSpPr>
              <p:spPr bwMode="auto">
                <a:xfrm>
                  <a:off x="4176" y="236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00FF0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1" name="AutoShape 40"/>
                <p:cNvSpPr>
                  <a:spLocks noChangeArrowheads="1"/>
                </p:cNvSpPr>
                <p:nvPr/>
              </p:nvSpPr>
              <p:spPr bwMode="auto">
                <a:xfrm>
                  <a:off x="4176" y="2526"/>
                  <a:ext cx="53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FF5050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52" name="AutoShape 41"/>
                <p:cNvSpPr>
                  <a:spLocks noChangeArrowheads="1"/>
                </p:cNvSpPr>
                <p:nvPr/>
              </p:nvSpPr>
              <p:spPr bwMode="auto">
                <a:xfrm>
                  <a:off x="4171" y="2666"/>
                  <a:ext cx="54" cy="69"/>
                </a:xfrm>
                <a:prstGeom prst="triangle">
                  <a:avLst>
                    <a:gd name="adj" fmla="val 49995"/>
                  </a:avLst>
                </a:prstGeom>
                <a:solidFill>
                  <a:srgbClr val="CC00CC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grpSp>
              <p:nvGrpSpPr>
                <p:cNvPr id="62553" name="Group 42"/>
                <p:cNvGrpSpPr>
                  <a:grpSpLocks/>
                </p:cNvGrpSpPr>
                <p:nvPr/>
              </p:nvGrpSpPr>
              <p:grpSpPr bwMode="auto">
                <a:xfrm>
                  <a:off x="4125" y="2064"/>
                  <a:ext cx="1503" cy="742"/>
                  <a:chOff x="3633" y="834"/>
                  <a:chExt cx="1208" cy="596"/>
                </a:xfrm>
              </p:grpSpPr>
              <p:sp>
                <p:nvSpPr>
                  <p:cNvPr id="62554" name="Freeform 43"/>
                  <p:cNvSpPr>
                    <a:spLocks/>
                  </p:cNvSpPr>
                  <p:nvPr/>
                </p:nvSpPr>
                <p:spPr bwMode="auto">
                  <a:xfrm>
                    <a:off x="3960" y="843"/>
                    <a:ext cx="71" cy="79"/>
                  </a:xfrm>
                  <a:custGeom>
                    <a:avLst/>
                    <a:gdLst>
                      <a:gd name="T0" fmla="*/ 0 w 266"/>
                      <a:gd name="T1" fmla="*/ 0 h 284"/>
                      <a:gd name="T2" fmla="*/ 21 w 266"/>
                      <a:gd name="T3" fmla="*/ 19 h 284"/>
                      <a:gd name="T4" fmla="*/ 41 w 266"/>
                      <a:gd name="T5" fmla="*/ 40 h 284"/>
                      <a:gd name="T6" fmla="*/ 71 w 266"/>
                      <a:gd name="T7" fmla="*/ 79 h 28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66"/>
                      <a:gd name="T13" fmla="*/ 0 h 284"/>
                      <a:gd name="T14" fmla="*/ 266 w 266"/>
                      <a:gd name="T15" fmla="*/ 284 h 28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66" h="284">
                        <a:moveTo>
                          <a:pt x="0" y="0"/>
                        </a:moveTo>
                        <a:lnTo>
                          <a:pt x="80" y="67"/>
                        </a:lnTo>
                        <a:lnTo>
                          <a:pt x="155" y="143"/>
                        </a:lnTo>
                        <a:lnTo>
                          <a:pt x="266" y="28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5" name="Freeform 44"/>
                  <p:cNvSpPr>
                    <a:spLocks/>
                  </p:cNvSpPr>
                  <p:nvPr/>
                </p:nvSpPr>
                <p:spPr bwMode="auto">
                  <a:xfrm>
                    <a:off x="3979" y="849"/>
                    <a:ext cx="73" cy="73"/>
                  </a:xfrm>
                  <a:custGeom>
                    <a:avLst/>
                    <a:gdLst>
                      <a:gd name="T0" fmla="*/ 0 w 279"/>
                      <a:gd name="T1" fmla="*/ 0 h 265"/>
                      <a:gd name="T2" fmla="*/ 21 w 279"/>
                      <a:gd name="T3" fmla="*/ 16 h 265"/>
                      <a:gd name="T4" fmla="*/ 39 w 279"/>
                      <a:gd name="T5" fmla="*/ 34 h 265"/>
                      <a:gd name="T6" fmla="*/ 73 w 279"/>
                      <a:gd name="T7" fmla="*/ 73 h 26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79"/>
                      <a:gd name="T13" fmla="*/ 0 h 265"/>
                      <a:gd name="T14" fmla="*/ 279 w 279"/>
                      <a:gd name="T15" fmla="*/ 265 h 265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79" h="265">
                        <a:moveTo>
                          <a:pt x="0" y="0"/>
                        </a:moveTo>
                        <a:lnTo>
                          <a:pt x="79" y="57"/>
                        </a:lnTo>
                        <a:lnTo>
                          <a:pt x="150" y="124"/>
                        </a:lnTo>
                        <a:lnTo>
                          <a:pt x="279" y="26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6" name="Freeform 45"/>
                  <p:cNvSpPr>
                    <a:spLocks/>
                  </p:cNvSpPr>
                  <p:nvPr/>
                </p:nvSpPr>
                <p:spPr bwMode="auto">
                  <a:xfrm>
                    <a:off x="4015" y="863"/>
                    <a:ext cx="60" cy="58"/>
                  </a:xfrm>
                  <a:custGeom>
                    <a:avLst/>
                    <a:gdLst>
                      <a:gd name="T0" fmla="*/ 0 w 231"/>
                      <a:gd name="T1" fmla="*/ 0 h 207"/>
                      <a:gd name="T2" fmla="*/ 21 w 231"/>
                      <a:gd name="T3" fmla="*/ 16 h 207"/>
                      <a:gd name="T4" fmla="*/ 39 w 231"/>
                      <a:gd name="T5" fmla="*/ 34 h 207"/>
                      <a:gd name="T6" fmla="*/ 60 w 231"/>
                      <a:gd name="T7" fmla="*/ 58 h 20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31"/>
                      <a:gd name="T13" fmla="*/ 0 h 207"/>
                      <a:gd name="T14" fmla="*/ 231 w 231"/>
                      <a:gd name="T15" fmla="*/ 207 h 20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31" h="207">
                        <a:moveTo>
                          <a:pt x="0" y="0"/>
                        </a:moveTo>
                        <a:lnTo>
                          <a:pt x="79" y="56"/>
                        </a:lnTo>
                        <a:lnTo>
                          <a:pt x="150" y="123"/>
                        </a:lnTo>
                        <a:lnTo>
                          <a:pt x="231" y="20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7" name="Freeform 46"/>
                  <p:cNvSpPr>
                    <a:spLocks/>
                  </p:cNvSpPr>
                  <p:nvPr/>
                </p:nvSpPr>
                <p:spPr bwMode="auto">
                  <a:xfrm>
                    <a:off x="4585" y="871"/>
                    <a:ext cx="114" cy="79"/>
                  </a:xfrm>
                  <a:custGeom>
                    <a:avLst/>
                    <a:gdLst>
                      <a:gd name="T0" fmla="*/ 0 w 436"/>
                      <a:gd name="T1" fmla="*/ 0 h 289"/>
                      <a:gd name="T2" fmla="*/ 37 w 436"/>
                      <a:gd name="T3" fmla="*/ 22 h 289"/>
                      <a:gd name="T4" fmla="*/ 76 w 436"/>
                      <a:gd name="T5" fmla="*/ 49 h 289"/>
                      <a:gd name="T6" fmla="*/ 114 w 436"/>
                      <a:gd name="T7" fmla="*/ 79 h 289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436"/>
                      <a:gd name="T13" fmla="*/ 0 h 289"/>
                      <a:gd name="T14" fmla="*/ 436 w 436"/>
                      <a:gd name="T15" fmla="*/ 289 h 289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436" h="289">
                        <a:moveTo>
                          <a:pt x="0" y="0"/>
                        </a:moveTo>
                        <a:lnTo>
                          <a:pt x="143" y="81"/>
                        </a:lnTo>
                        <a:lnTo>
                          <a:pt x="290" y="180"/>
                        </a:lnTo>
                        <a:lnTo>
                          <a:pt x="436" y="28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8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16"/>
                    <a:ext cx="504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59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4184" y="944"/>
                    <a:ext cx="54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0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4159" y="980"/>
                    <a:ext cx="576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1" name="Freeform 50"/>
                  <p:cNvSpPr>
                    <a:spLocks/>
                  </p:cNvSpPr>
                  <p:nvPr/>
                </p:nvSpPr>
                <p:spPr bwMode="auto">
                  <a:xfrm>
                    <a:off x="4052" y="1095"/>
                    <a:ext cx="57" cy="335"/>
                  </a:xfrm>
                  <a:custGeom>
                    <a:avLst/>
                    <a:gdLst>
                      <a:gd name="T0" fmla="*/ 57 w 213"/>
                      <a:gd name="T1" fmla="*/ 0 h 1198"/>
                      <a:gd name="T2" fmla="*/ 57 w 213"/>
                      <a:gd name="T3" fmla="*/ 33 h 1198"/>
                      <a:gd name="T4" fmla="*/ 55 w 213"/>
                      <a:gd name="T5" fmla="*/ 70 h 1198"/>
                      <a:gd name="T6" fmla="*/ 49 w 213"/>
                      <a:gd name="T7" fmla="*/ 106 h 1198"/>
                      <a:gd name="T8" fmla="*/ 43 w 213"/>
                      <a:gd name="T9" fmla="*/ 148 h 1198"/>
                      <a:gd name="T10" fmla="*/ 37 w 213"/>
                      <a:gd name="T11" fmla="*/ 182 h 1198"/>
                      <a:gd name="T12" fmla="*/ 31 w 213"/>
                      <a:gd name="T13" fmla="*/ 222 h 1198"/>
                      <a:gd name="T14" fmla="*/ 25 w 213"/>
                      <a:gd name="T15" fmla="*/ 255 h 1198"/>
                      <a:gd name="T16" fmla="*/ 16 w 213"/>
                      <a:gd name="T17" fmla="*/ 285 h 1198"/>
                      <a:gd name="T18" fmla="*/ 9 w 213"/>
                      <a:gd name="T19" fmla="*/ 308 h 1198"/>
                      <a:gd name="T20" fmla="*/ 0 w 213"/>
                      <a:gd name="T21" fmla="*/ 335 h 119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213"/>
                      <a:gd name="T34" fmla="*/ 0 h 1198"/>
                      <a:gd name="T35" fmla="*/ 213 w 213"/>
                      <a:gd name="T36" fmla="*/ 1198 h 1198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213" h="1198">
                        <a:moveTo>
                          <a:pt x="213" y="0"/>
                        </a:moveTo>
                        <a:lnTo>
                          <a:pt x="213" y="117"/>
                        </a:lnTo>
                        <a:lnTo>
                          <a:pt x="204" y="249"/>
                        </a:lnTo>
                        <a:lnTo>
                          <a:pt x="182" y="379"/>
                        </a:lnTo>
                        <a:lnTo>
                          <a:pt x="160" y="528"/>
                        </a:lnTo>
                        <a:lnTo>
                          <a:pt x="138" y="652"/>
                        </a:lnTo>
                        <a:lnTo>
                          <a:pt x="115" y="794"/>
                        </a:lnTo>
                        <a:lnTo>
                          <a:pt x="93" y="913"/>
                        </a:lnTo>
                        <a:lnTo>
                          <a:pt x="61" y="1020"/>
                        </a:lnTo>
                        <a:lnTo>
                          <a:pt x="35" y="1102"/>
                        </a:lnTo>
                        <a:lnTo>
                          <a:pt x="0" y="119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4137" y="1018"/>
                    <a:ext cx="640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4122" y="1056"/>
                    <a:ext cx="690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4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65"/>
                    <a:ext cx="120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5" name="Freeform 54"/>
                  <p:cNvSpPr>
                    <a:spLocks/>
                  </p:cNvSpPr>
                  <p:nvPr/>
                </p:nvSpPr>
                <p:spPr bwMode="auto">
                  <a:xfrm>
                    <a:off x="3701" y="843"/>
                    <a:ext cx="156" cy="581"/>
                  </a:xfrm>
                  <a:custGeom>
                    <a:avLst/>
                    <a:gdLst>
                      <a:gd name="T0" fmla="*/ 156 w 599"/>
                      <a:gd name="T1" fmla="*/ 0 h 2082"/>
                      <a:gd name="T2" fmla="*/ 141 w 599"/>
                      <a:gd name="T3" fmla="*/ 9 h 2082"/>
                      <a:gd name="T4" fmla="*/ 111 w 599"/>
                      <a:gd name="T5" fmla="*/ 36 h 2082"/>
                      <a:gd name="T6" fmla="*/ 83 w 599"/>
                      <a:gd name="T7" fmla="*/ 68 h 2082"/>
                      <a:gd name="T8" fmla="*/ 64 w 599"/>
                      <a:gd name="T9" fmla="*/ 101 h 2082"/>
                      <a:gd name="T10" fmla="*/ 45 w 599"/>
                      <a:gd name="T11" fmla="*/ 140 h 2082"/>
                      <a:gd name="T12" fmla="*/ 26 w 599"/>
                      <a:gd name="T13" fmla="*/ 178 h 2082"/>
                      <a:gd name="T14" fmla="*/ 14 w 599"/>
                      <a:gd name="T15" fmla="*/ 213 h 2082"/>
                      <a:gd name="T16" fmla="*/ 2 w 599"/>
                      <a:gd name="T17" fmla="*/ 253 h 2082"/>
                      <a:gd name="T18" fmla="*/ 0 w 599"/>
                      <a:gd name="T19" fmla="*/ 286 h 2082"/>
                      <a:gd name="T20" fmla="*/ 0 w 599"/>
                      <a:gd name="T21" fmla="*/ 323 h 2082"/>
                      <a:gd name="T22" fmla="*/ 0 w 599"/>
                      <a:gd name="T23" fmla="*/ 359 h 2082"/>
                      <a:gd name="T24" fmla="*/ 1 w 599"/>
                      <a:gd name="T25" fmla="*/ 399 h 2082"/>
                      <a:gd name="T26" fmla="*/ 0 w 599"/>
                      <a:gd name="T27" fmla="*/ 437 h 2082"/>
                      <a:gd name="T28" fmla="*/ 0 w 599"/>
                      <a:gd name="T29" fmla="*/ 477 h 2082"/>
                      <a:gd name="T30" fmla="*/ 1 w 599"/>
                      <a:gd name="T31" fmla="*/ 560 h 2082"/>
                      <a:gd name="T32" fmla="*/ 2 w 599"/>
                      <a:gd name="T33" fmla="*/ 581 h 2082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599"/>
                      <a:gd name="T52" fmla="*/ 0 h 2082"/>
                      <a:gd name="T53" fmla="*/ 599 w 599"/>
                      <a:gd name="T54" fmla="*/ 2082 h 2082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599" h="2082">
                        <a:moveTo>
                          <a:pt x="599" y="0"/>
                        </a:moveTo>
                        <a:lnTo>
                          <a:pt x="541" y="33"/>
                        </a:lnTo>
                        <a:lnTo>
                          <a:pt x="426" y="128"/>
                        </a:lnTo>
                        <a:lnTo>
                          <a:pt x="319" y="245"/>
                        </a:lnTo>
                        <a:lnTo>
                          <a:pt x="244" y="363"/>
                        </a:lnTo>
                        <a:lnTo>
                          <a:pt x="172" y="501"/>
                        </a:lnTo>
                        <a:lnTo>
                          <a:pt x="101" y="639"/>
                        </a:lnTo>
                        <a:lnTo>
                          <a:pt x="53" y="765"/>
                        </a:lnTo>
                        <a:lnTo>
                          <a:pt x="8" y="908"/>
                        </a:lnTo>
                        <a:lnTo>
                          <a:pt x="0" y="1025"/>
                        </a:lnTo>
                        <a:lnTo>
                          <a:pt x="0" y="1157"/>
                        </a:lnTo>
                        <a:lnTo>
                          <a:pt x="0" y="1285"/>
                        </a:lnTo>
                        <a:lnTo>
                          <a:pt x="4" y="1430"/>
                        </a:lnTo>
                        <a:lnTo>
                          <a:pt x="0" y="1567"/>
                        </a:lnTo>
                        <a:lnTo>
                          <a:pt x="0" y="1708"/>
                        </a:lnTo>
                        <a:lnTo>
                          <a:pt x="4" y="2008"/>
                        </a:lnTo>
                        <a:lnTo>
                          <a:pt x="8" y="208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6" name="Freeform 55"/>
                  <p:cNvSpPr>
                    <a:spLocks/>
                  </p:cNvSpPr>
                  <p:nvPr/>
                </p:nvSpPr>
                <p:spPr bwMode="auto">
                  <a:xfrm>
                    <a:off x="3705" y="841"/>
                    <a:ext cx="159" cy="588"/>
                  </a:xfrm>
                  <a:custGeom>
                    <a:avLst/>
                    <a:gdLst>
                      <a:gd name="T0" fmla="*/ 159 w 609"/>
                      <a:gd name="T1" fmla="*/ 0 h 2105"/>
                      <a:gd name="T2" fmla="*/ 143 w 609"/>
                      <a:gd name="T3" fmla="*/ 13 h 2105"/>
                      <a:gd name="T4" fmla="*/ 124 w 609"/>
                      <a:gd name="T5" fmla="*/ 37 h 2105"/>
                      <a:gd name="T6" fmla="*/ 102 w 609"/>
                      <a:gd name="T7" fmla="*/ 68 h 2105"/>
                      <a:gd name="T8" fmla="*/ 84 w 609"/>
                      <a:gd name="T9" fmla="*/ 103 h 2105"/>
                      <a:gd name="T10" fmla="*/ 68 w 609"/>
                      <a:gd name="T11" fmla="*/ 137 h 2105"/>
                      <a:gd name="T12" fmla="*/ 52 w 609"/>
                      <a:gd name="T13" fmla="*/ 174 h 2105"/>
                      <a:gd name="T14" fmla="*/ 39 w 609"/>
                      <a:gd name="T15" fmla="*/ 215 h 2105"/>
                      <a:gd name="T16" fmla="*/ 31 w 609"/>
                      <a:gd name="T17" fmla="*/ 251 h 2105"/>
                      <a:gd name="T18" fmla="*/ 29 w 609"/>
                      <a:gd name="T19" fmla="*/ 287 h 2105"/>
                      <a:gd name="T20" fmla="*/ 27 w 609"/>
                      <a:gd name="T21" fmla="*/ 322 h 2105"/>
                      <a:gd name="T22" fmla="*/ 25 w 609"/>
                      <a:gd name="T23" fmla="*/ 358 h 2105"/>
                      <a:gd name="T24" fmla="*/ 25 w 609"/>
                      <a:gd name="T25" fmla="*/ 395 h 2105"/>
                      <a:gd name="T26" fmla="*/ 22 w 609"/>
                      <a:gd name="T27" fmla="*/ 434 h 2105"/>
                      <a:gd name="T28" fmla="*/ 17 w 609"/>
                      <a:gd name="T29" fmla="*/ 478 h 2105"/>
                      <a:gd name="T30" fmla="*/ 15 w 609"/>
                      <a:gd name="T31" fmla="*/ 508 h 2105"/>
                      <a:gd name="T32" fmla="*/ 11 w 609"/>
                      <a:gd name="T33" fmla="*/ 540 h 2105"/>
                      <a:gd name="T34" fmla="*/ 0 w 609"/>
                      <a:gd name="T35" fmla="*/ 588 h 2105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609"/>
                      <a:gd name="T55" fmla="*/ 0 h 2105"/>
                      <a:gd name="T56" fmla="*/ 609 w 609"/>
                      <a:gd name="T57" fmla="*/ 2105 h 2105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609" h="2105">
                        <a:moveTo>
                          <a:pt x="609" y="0"/>
                        </a:moveTo>
                        <a:lnTo>
                          <a:pt x="546" y="48"/>
                        </a:lnTo>
                        <a:lnTo>
                          <a:pt x="476" y="132"/>
                        </a:lnTo>
                        <a:lnTo>
                          <a:pt x="391" y="245"/>
                        </a:lnTo>
                        <a:lnTo>
                          <a:pt x="320" y="367"/>
                        </a:lnTo>
                        <a:lnTo>
                          <a:pt x="262" y="490"/>
                        </a:lnTo>
                        <a:lnTo>
                          <a:pt x="199" y="624"/>
                        </a:lnTo>
                        <a:lnTo>
                          <a:pt x="151" y="769"/>
                        </a:lnTo>
                        <a:lnTo>
                          <a:pt x="120" y="897"/>
                        </a:lnTo>
                        <a:lnTo>
                          <a:pt x="112" y="1029"/>
                        </a:lnTo>
                        <a:lnTo>
                          <a:pt x="102" y="1151"/>
                        </a:lnTo>
                        <a:lnTo>
                          <a:pt x="94" y="1283"/>
                        </a:lnTo>
                        <a:lnTo>
                          <a:pt x="94" y="1415"/>
                        </a:lnTo>
                        <a:lnTo>
                          <a:pt x="84" y="1552"/>
                        </a:lnTo>
                        <a:lnTo>
                          <a:pt x="66" y="1712"/>
                        </a:lnTo>
                        <a:lnTo>
                          <a:pt x="58" y="1819"/>
                        </a:lnTo>
                        <a:lnTo>
                          <a:pt x="44" y="1934"/>
                        </a:lnTo>
                        <a:lnTo>
                          <a:pt x="0" y="210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7" name="Freeform 56"/>
                  <p:cNvSpPr>
                    <a:spLocks/>
                  </p:cNvSpPr>
                  <p:nvPr/>
                </p:nvSpPr>
                <p:spPr bwMode="auto">
                  <a:xfrm>
                    <a:off x="3711" y="839"/>
                    <a:ext cx="167" cy="587"/>
                  </a:xfrm>
                  <a:custGeom>
                    <a:avLst/>
                    <a:gdLst>
                      <a:gd name="T0" fmla="*/ 167 w 637"/>
                      <a:gd name="T1" fmla="*/ 0 h 2101"/>
                      <a:gd name="T2" fmla="*/ 153 w 637"/>
                      <a:gd name="T3" fmla="*/ 14 h 2101"/>
                      <a:gd name="T4" fmla="*/ 140 w 637"/>
                      <a:gd name="T5" fmla="*/ 34 h 2101"/>
                      <a:gd name="T6" fmla="*/ 120 w 637"/>
                      <a:gd name="T7" fmla="*/ 67 h 2101"/>
                      <a:gd name="T8" fmla="*/ 99 w 637"/>
                      <a:gd name="T9" fmla="*/ 107 h 2101"/>
                      <a:gd name="T10" fmla="*/ 89 w 637"/>
                      <a:gd name="T11" fmla="*/ 141 h 2101"/>
                      <a:gd name="T12" fmla="*/ 77 w 637"/>
                      <a:gd name="T13" fmla="*/ 179 h 2101"/>
                      <a:gd name="T14" fmla="*/ 68 w 637"/>
                      <a:gd name="T15" fmla="*/ 212 h 2101"/>
                      <a:gd name="T16" fmla="*/ 62 w 637"/>
                      <a:gd name="T17" fmla="*/ 254 h 2101"/>
                      <a:gd name="T18" fmla="*/ 60 w 637"/>
                      <a:gd name="T19" fmla="*/ 290 h 2101"/>
                      <a:gd name="T20" fmla="*/ 56 w 637"/>
                      <a:gd name="T21" fmla="*/ 327 h 2101"/>
                      <a:gd name="T22" fmla="*/ 51 w 637"/>
                      <a:gd name="T23" fmla="*/ 364 h 2101"/>
                      <a:gd name="T24" fmla="*/ 45 w 637"/>
                      <a:gd name="T25" fmla="*/ 405 h 2101"/>
                      <a:gd name="T26" fmla="*/ 41 w 637"/>
                      <a:gd name="T27" fmla="*/ 440 h 2101"/>
                      <a:gd name="T28" fmla="*/ 35 w 637"/>
                      <a:gd name="T29" fmla="*/ 478 h 2101"/>
                      <a:gd name="T30" fmla="*/ 29 w 637"/>
                      <a:gd name="T31" fmla="*/ 512 h 2101"/>
                      <a:gd name="T32" fmla="*/ 24 w 637"/>
                      <a:gd name="T33" fmla="*/ 540 h 2101"/>
                      <a:gd name="T34" fmla="*/ 13 w 637"/>
                      <a:gd name="T35" fmla="*/ 566 h 2101"/>
                      <a:gd name="T36" fmla="*/ 0 w 637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37"/>
                      <a:gd name="T58" fmla="*/ 0 h 2101"/>
                      <a:gd name="T59" fmla="*/ 637 w 637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37" h="2101">
                        <a:moveTo>
                          <a:pt x="637" y="0"/>
                        </a:moveTo>
                        <a:lnTo>
                          <a:pt x="583" y="51"/>
                        </a:lnTo>
                        <a:lnTo>
                          <a:pt x="534" y="122"/>
                        </a:lnTo>
                        <a:lnTo>
                          <a:pt x="458" y="240"/>
                        </a:lnTo>
                        <a:lnTo>
                          <a:pt x="378" y="382"/>
                        </a:lnTo>
                        <a:lnTo>
                          <a:pt x="338" y="504"/>
                        </a:lnTo>
                        <a:lnTo>
                          <a:pt x="294" y="642"/>
                        </a:lnTo>
                        <a:lnTo>
                          <a:pt x="258" y="759"/>
                        </a:lnTo>
                        <a:lnTo>
                          <a:pt x="236" y="910"/>
                        </a:lnTo>
                        <a:lnTo>
                          <a:pt x="227" y="1038"/>
                        </a:lnTo>
                        <a:lnTo>
                          <a:pt x="213" y="1170"/>
                        </a:lnTo>
                        <a:lnTo>
                          <a:pt x="195" y="1302"/>
                        </a:lnTo>
                        <a:lnTo>
                          <a:pt x="173" y="1448"/>
                        </a:lnTo>
                        <a:lnTo>
                          <a:pt x="155" y="1575"/>
                        </a:lnTo>
                        <a:lnTo>
                          <a:pt x="133" y="1711"/>
                        </a:lnTo>
                        <a:lnTo>
                          <a:pt x="111" y="1834"/>
                        </a:lnTo>
                        <a:lnTo>
                          <a:pt x="90" y="1934"/>
                        </a:lnTo>
                        <a:lnTo>
                          <a:pt x="48" y="2026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8" name="Freeform 57"/>
                  <p:cNvSpPr>
                    <a:spLocks/>
                  </p:cNvSpPr>
                  <p:nvPr/>
                </p:nvSpPr>
                <p:spPr bwMode="auto">
                  <a:xfrm>
                    <a:off x="3713" y="839"/>
                    <a:ext cx="174" cy="589"/>
                  </a:xfrm>
                  <a:custGeom>
                    <a:avLst/>
                    <a:gdLst>
                      <a:gd name="T0" fmla="*/ 174 w 662"/>
                      <a:gd name="T1" fmla="*/ 0 h 2110"/>
                      <a:gd name="T2" fmla="*/ 161 w 662"/>
                      <a:gd name="T3" fmla="*/ 20 h 2110"/>
                      <a:gd name="T4" fmla="*/ 150 w 662"/>
                      <a:gd name="T5" fmla="*/ 40 h 2110"/>
                      <a:gd name="T6" fmla="*/ 134 w 662"/>
                      <a:gd name="T7" fmla="*/ 70 h 2110"/>
                      <a:gd name="T8" fmla="*/ 120 w 662"/>
                      <a:gd name="T9" fmla="*/ 105 h 2110"/>
                      <a:gd name="T10" fmla="*/ 114 w 662"/>
                      <a:gd name="T11" fmla="*/ 139 h 2110"/>
                      <a:gd name="T12" fmla="*/ 104 w 662"/>
                      <a:gd name="T13" fmla="*/ 179 h 2110"/>
                      <a:gd name="T14" fmla="*/ 95 w 662"/>
                      <a:gd name="T15" fmla="*/ 217 h 2110"/>
                      <a:gd name="T16" fmla="*/ 91 w 662"/>
                      <a:gd name="T17" fmla="*/ 257 h 2110"/>
                      <a:gd name="T18" fmla="*/ 90 w 662"/>
                      <a:gd name="T19" fmla="*/ 289 h 2110"/>
                      <a:gd name="T20" fmla="*/ 86 w 662"/>
                      <a:gd name="T21" fmla="*/ 325 h 2110"/>
                      <a:gd name="T22" fmla="*/ 83 w 662"/>
                      <a:gd name="T23" fmla="*/ 363 h 2110"/>
                      <a:gd name="T24" fmla="*/ 76 w 662"/>
                      <a:gd name="T25" fmla="*/ 401 h 2110"/>
                      <a:gd name="T26" fmla="*/ 65 w 662"/>
                      <a:gd name="T27" fmla="*/ 440 h 2110"/>
                      <a:gd name="T28" fmla="*/ 58 w 662"/>
                      <a:gd name="T29" fmla="*/ 476 h 2110"/>
                      <a:gd name="T30" fmla="*/ 47 w 662"/>
                      <a:gd name="T31" fmla="*/ 510 h 2110"/>
                      <a:gd name="T32" fmla="*/ 35 w 662"/>
                      <a:gd name="T33" fmla="*/ 540 h 2110"/>
                      <a:gd name="T34" fmla="*/ 19 w 662"/>
                      <a:gd name="T35" fmla="*/ 567 h 2110"/>
                      <a:gd name="T36" fmla="*/ 0 w 662"/>
                      <a:gd name="T37" fmla="*/ 589 h 2110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0"/>
                      <a:gd name="T59" fmla="*/ 662 w 662"/>
                      <a:gd name="T60" fmla="*/ 2110 h 2110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0">
                        <a:moveTo>
                          <a:pt x="662" y="0"/>
                        </a:moveTo>
                        <a:lnTo>
                          <a:pt x="614" y="70"/>
                        </a:lnTo>
                        <a:lnTo>
                          <a:pt x="569" y="145"/>
                        </a:lnTo>
                        <a:lnTo>
                          <a:pt x="511" y="250"/>
                        </a:lnTo>
                        <a:lnTo>
                          <a:pt x="458" y="376"/>
                        </a:lnTo>
                        <a:lnTo>
                          <a:pt x="432" y="499"/>
                        </a:lnTo>
                        <a:lnTo>
                          <a:pt x="396" y="642"/>
                        </a:lnTo>
                        <a:lnTo>
                          <a:pt x="360" y="778"/>
                        </a:lnTo>
                        <a:lnTo>
                          <a:pt x="347" y="921"/>
                        </a:lnTo>
                        <a:lnTo>
                          <a:pt x="342" y="1034"/>
                        </a:lnTo>
                        <a:lnTo>
                          <a:pt x="329" y="1166"/>
                        </a:lnTo>
                        <a:lnTo>
                          <a:pt x="316" y="1302"/>
                        </a:lnTo>
                        <a:lnTo>
                          <a:pt x="289" y="1435"/>
                        </a:lnTo>
                        <a:lnTo>
                          <a:pt x="249" y="1575"/>
                        </a:lnTo>
                        <a:lnTo>
                          <a:pt x="222" y="1706"/>
                        </a:lnTo>
                        <a:lnTo>
                          <a:pt x="178" y="1828"/>
                        </a:lnTo>
                        <a:lnTo>
                          <a:pt x="134" y="1934"/>
                        </a:lnTo>
                        <a:lnTo>
                          <a:pt x="71" y="2030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69" name="Freeform 58"/>
                  <p:cNvSpPr>
                    <a:spLocks/>
                  </p:cNvSpPr>
                  <p:nvPr/>
                </p:nvSpPr>
                <p:spPr bwMode="auto">
                  <a:xfrm>
                    <a:off x="3722" y="837"/>
                    <a:ext cx="173" cy="589"/>
                  </a:xfrm>
                  <a:custGeom>
                    <a:avLst/>
                    <a:gdLst>
                      <a:gd name="T0" fmla="*/ 173 w 662"/>
                      <a:gd name="T1" fmla="*/ 0 h 2111"/>
                      <a:gd name="T2" fmla="*/ 163 w 662"/>
                      <a:gd name="T3" fmla="*/ 18 h 2111"/>
                      <a:gd name="T4" fmla="*/ 152 w 662"/>
                      <a:gd name="T5" fmla="*/ 45 h 2111"/>
                      <a:gd name="T6" fmla="*/ 143 w 662"/>
                      <a:gd name="T7" fmla="*/ 75 h 2111"/>
                      <a:gd name="T8" fmla="*/ 137 w 662"/>
                      <a:gd name="T9" fmla="*/ 106 h 2111"/>
                      <a:gd name="T10" fmla="*/ 130 w 662"/>
                      <a:gd name="T11" fmla="*/ 140 h 2111"/>
                      <a:gd name="T12" fmla="*/ 125 w 662"/>
                      <a:gd name="T13" fmla="*/ 181 h 2111"/>
                      <a:gd name="T14" fmla="*/ 119 w 662"/>
                      <a:gd name="T15" fmla="*/ 219 h 2111"/>
                      <a:gd name="T16" fmla="*/ 117 w 662"/>
                      <a:gd name="T17" fmla="*/ 256 h 2111"/>
                      <a:gd name="T18" fmla="*/ 115 w 662"/>
                      <a:gd name="T19" fmla="*/ 291 h 2111"/>
                      <a:gd name="T20" fmla="*/ 110 w 662"/>
                      <a:gd name="T21" fmla="*/ 325 h 2111"/>
                      <a:gd name="T22" fmla="*/ 102 w 662"/>
                      <a:gd name="T23" fmla="*/ 364 h 2111"/>
                      <a:gd name="T24" fmla="*/ 95 w 662"/>
                      <a:gd name="T25" fmla="*/ 398 h 2111"/>
                      <a:gd name="T26" fmla="*/ 83 w 662"/>
                      <a:gd name="T27" fmla="*/ 441 h 2111"/>
                      <a:gd name="T28" fmla="*/ 72 w 662"/>
                      <a:gd name="T29" fmla="*/ 480 h 2111"/>
                      <a:gd name="T30" fmla="*/ 56 w 662"/>
                      <a:gd name="T31" fmla="*/ 513 h 2111"/>
                      <a:gd name="T32" fmla="*/ 42 w 662"/>
                      <a:gd name="T33" fmla="*/ 540 h 2111"/>
                      <a:gd name="T34" fmla="*/ 20 w 662"/>
                      <a:gd name="T35" fmla="*/ 568 h 2111"/>
                      <a:gd name="T36" fmla="*/ 0 w 662"/>
                      <a:gd name="T37" fmla="*/ 589 h 211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62"/>
                      <a:gd name="T58" fmla="*/ 0 h 2111"/>
                      <a:gd name="T59" fmla="*/ 662 w 662"/>
                      <a:gd name="T60" fmla="*/ 2111 h 211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62" h="2111">
                        <a:moveTo>
                          <a:pt x="662" y="0"/>
                        </a:moveTo>
                        <a:lnTo>
                          <a:pt x="622" y="66"/>
                        </a:lnTo>
                        <a:lnTo>
                          <a:pt x="583" y="161"/>
                        </a:lnTo>
                        <a:lnTo>
                          <a:pt x="547" y="268"/>
                        </a:lnTo>
                        <a:lnTo>
                          <a:pt x="525" y="381"/>
                        </a:lnTo>
                        <a:lnTo>
                          <a:pt x="498" y="501"/>
                        </a:lnTo>
                        <a:lnTo>
                          <a:pt x="480" y="647"/>
                        </a:lnTo>
                        <a:lnTo>
                          <a:pt x="454" y="784"/>
                        </a:lnTo>
                        <a:lnTo>
                          <a:pt x="448" y="916"/>
                        </a:lnTo>
                        <a:lnTo>
                          <a:pt x="440" y="1044"/>
                        </a:lnTo>
                        <a:lnTo>
                          <a:pt x="422" y="1166"/>
                        </a:lnTo>
                        <a:lnTo>
                          <a:pt x="391" y="1304"/>
                        </a:lnTo>
                        <a:lnTo>
                          <a:pt x="365" y="1426"/>
                        </a:lnTo>
                        <a:lnTo>
                          <a:pt x="319" y="1581"/>
                        </a:lnTo>
                        <a:lnTo>
                          <a:pt x="275" y="1720"/>
                        </a:lnTo>
                        <a:lnTo>
                          <a:pt x="214" y="1839"/>
                        </a:lnTo>
                        <a:lnTo>
                          <a:pt x="160" y="1935"/>
                        </a:lnTo>
                        <a:lnTo>
                          <a:pt x="75" y="2035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0" name="Freeform 59"/>
                  <p:cNvSpPr>
                    <a:spLocks/>
                  </p:cNvSpPr>
                  <p:nvPr/>
                </p:nvSpPr>
                <p:spPr bwMode="auto">
                  <a:xfrm>
                    <a:off x="3736" y="839"/>
                    <a:ext cx="165" cy="587"/>
                  </a:xfrm>
                  <a:custGeom>
                    <a:avLst/>
                    <a:gdLst>
                      <a:gd name="T0" fmla="*/ 165 w 626"/>
                      <a:gd name="T1" fmla="*/ 0 h 2101"/>
                      <a:gd name="T2" fmla="*/ 162 w 626"/>
                      <a:gd name="T3" fmla="*/ 17 h 2101"/>
                      <a:gd name="T4" fmla="*/ 157 w 626"/>
                      <a:gd name="T5" fmla="*/ 43 h 2101"/>
                      <a:gd name="T6" fmla="*/ 150 w 626"/>
                      <a:gd name="T7" fmla="*/ 76 h 2101"/>
                      <a:gd name="T8" fmla="*/ 145 w 626"/>
                      <a:gd name="T9" fmla="*/ 105 h 2101"/>
                      <a:gd name="T10" fmla="*/ 140 w 626"/>
                      <a:gd name="T11" fmla="*/ 134 h 2101"/>
                      <a:gd name="T12" fmla="*/ 138 w 626"/>
                      <a:gd name="T13" fmla="*/ 180 h 2101"/>
                      <a:gd name="T14" fmla="*/ 136 w 626"/>
                      <a:gd name="T15" fmla="*/ 216 h 2101"/>
                      <a:gd name="T16" fmla="*/ 135 w 626"/>
                      <a:gd name="T17" fmla="*/ 252 h 2101"/>
                      <a:gd name="T18" fmla="*/ 131 w 626"/>
                      <a:gd name="T19" fmla="*/ 290 h 2101"/>
                      <a:gd name="T20" fmla="*/ 127 w 626"/>
                      <a:gd name="T21" fmla="*/ 324 h 2101"/>
                      <a:gd name="T22" fmla="*/ 122 w 626"/>
                      <a:gd name="T23" fmla="*/ 364 h 2101"/>
                      <a:gd name="T24" fmla="*/ 110 w 626"/>
                      <a:gd name="T25" fmla="*/ 405 h 2101"/>
                      <a:gd name="T26" fmla="*/ 96 w 626"/>
                      <a:gd name="T27" fmla="*/ 443 h 2101"/>
                      <a:gd name="T28" fmla="*/ 78 w 626"/>
                      <a:gd name="T29" fmla="*/ 483 h 2101"/>
                      <a:gd name="T30" fmla="*/ 62 w 626"/>
                      <a:gd name="T31" fmla="*/ 514 h 2101"/>
                      <a:gd name="T32" fmla="*/ 41 w 626"/>
                      <a:gd name="T33" fmla="*/ 540 h 2101"/>
                      <a:gd name="T34" fmla="*/ 25 w 626"/>
                      <a:gd name="T35" fmla="*/ 561 h 2101"/>
                      <a:gd name="T36" fmla="*/ 0 w 626"/>
                      <a:gd name="T37" fmla="*/ 587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626"/>
                      <a:gd name="T58" fmla="*/ 0 h 2101"/>
                      <a:gd name="T59" fmla="*/ 626 w 626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626" h="2101">
                        <a:moveTo>
                          <a:pt x="626" y="0"/>
                        </a:moveTo>
                        <a:lnTo>
                          <a:pt x="614" y="61"/>
                        </a:lnTo>
                        <a:lnTo>
                          <a:pt x="596" y="155"/>
                        </a:lnTo>
                        <a:lnTo>
                          <a:pt x="569" y="273"/>
                        </a:lnTo>
                        <a:lnTo>
                          <a:pt x="551" y="376"/>
                        </a:lnTo>
                        <a:lnTo>
                          <a:pt x="533" y="481"/>
                        </a:lnTo>
                        <a:lnTo>
                          <a:pt x="525" y="646"/>
                        </a:lnTo>
                        <a:lnTo>
                          <a:pt x="515" y="774"/>
                        </a:lnTo>
                        <a:lnTo>
                          <a:pt x="511" y="902"/>
                        </a:lnTo>
                        <a:lnTo>
                          <a:pt x="498" y="1038"/>
                        </a:lnTo>
                        <a:lnTo>
                          <a:pt x="480" y="1160"/>
                        </a:lnTo>
                        <a:lnTo>
                          <a:pt x="462" y="1302"/>
                        </a:lnTo>
                        <a:lnTo>
                          <a:pt x="418" y="1448"/>
                        </a:lnTo>
                        <a:lnTo>
                          <a:pt x="365" y="1586"/>
                        </a:lnTo>
                        <a:lnTo>
                          <a:pt x="297" y="1729"/>
                        </a:lnTo>
                        <a:lnTo>
                          <a:pt x="236" y="1838"/>
                        </a:lnTo>
                        <a:lnTo>
                          <a:pt x="156" y="1934"/>
                        </a:lnTo>
                        <a:lnTo>
                          <a:pt x="93" y="2007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1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06" y="839"/>
                    <a:ext cx="1" cy="328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2" name="Line 61"/>
                  <p:cNvSpPr>
                    <a:spLocks noChangeShapeType="1"/>
                  </p:cNvSpPr>
                  <p:nvPr/>
                </p:nvSpPr>
                <p:spPr bwMode="auto">
                  <a:xfrm>
                    <a:off x="3636" y="1093"/>
                    <a:ext cx="119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3" name="Line 62"/>
                  <p:cNvSpPr>
                    <a:spLocks noChangeShapeType="1"/>
                  </p:cNvSpPr>
                  <p:nvPr/>
                </p:nvSpPr>
                <p:spPr bwMode="auto">
                  <a:xfrm>
                    <a:off x="3633" y="1129"/>
                    <a:ext cx="1208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4" name="Line 63"/>
                  <p:cNvSpPr>
                    <a:spLocks noChangeShapeType="1"/>
                  </p:cNvSpPr>
                  <p:nvPr/>
                </p:nvSpPr>
                <p:spPr bwMode="auto">
                  <a:xfrm>
                    <a:off x="3639" y="1203"/>
                    <a:ext cx="26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5" name="Line 64"/>
                  <p:cNvSpPr>
                    <a:spLocks noChangeShapeType="1"/>
                  </p:cNvSpPr>
                  <p:nvPr/>
                </p:nvSpPr>
                <p:spPr bwMode="auto">
                  <a:xfrm>
                    <a:off x="3913" y="1203"/>
                    <a:ext cx="25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6" name="Line 65"/>
                  <p:cNvSpPr>
                    <a:spLocks noChangeShapeType="1"/>
                  </p:cNvSpPr>
                  <p:nvPr/>
                </p:nvSpPr>
                <p:spPr bwMode="auto">
                  <a:xfrm>
                    <a:off x="3718" y="944"/>
                    <a:ext cx="32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7" name="Line 66"/>
                  <p:cNvSpPr>
                    <a:spLocks noChangeShapeType="1"/>
                  </p:cNvSpPr>
                  <p:nvPr/>
                </p:nvSpPr>
                <p:spPr bwMode="auto">
                  <a:xfrm>
                    <a:off x="3693" y="980"/>
                    <a:ext cx="37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8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3666" y="1018"/>
                    <a:ext cx="41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79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3648" y="1056"/>
                    <a:ext cx="451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0" name="Line 69"/>
                  <p:cNvSpPr>
                    <a:spLocks noChangeShapeType="1"/>
                  </p:cNvSpPr>
                  <p:nvPr/>
                </p:nvSpPr>
                <p:spPr bwMode="auto">
                  <a:xfrm>
                    <a:off x="3642" y="1240"/>
                    <a:ext cx="244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1" name="Line 70"/>
                  <p:cNvSpPr>
                    <a:spLocks noChangeShapeType="1"/>
                  </p:cNvSpPr>
                  <p:nvPr/>
                </p:nvSpPr>
                <p:spPr bwMode="auto">
                  <a:xfrm>
                    <a:off x="3646" y="1281"/>
                    <a:ext cx="22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2" name="Line 71"/>
                  <p:cNvSpPr>
                    <a:spLocks noChangeShapeType="1"/>
                  </p:cNvSpPr>
                  <p:nvPr/>
                </p:nvSpPr>
                <p:spPr bwMode="auto">
                  <a:xfrm>
                    <a:off x="3651" y="1319"/>
                    <a:ext cx="19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3" name="Line 72"/>
                  <p:cNvSpPr>
                    <a:spLocks noChangeShapeType="1"/>
                  </p:cNvSpPr>
                  <p:nvPr/>
                </p:nvSpPr>
                <p:spPr bwMode="auto">
                  <a:xfrm>
                    <a:off x="3919" y="1240"/>
                    <a:ext cx="242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4" name="Line 73"/>
                  <p:cNvSpPr>
                    <a:spLocks noChangeShapeType="1"/>
                  </p:cNvSpPr>
                  <p:nvPr/>
                </p:nvSpPr>
                <p:spPr bwMode="auto">
                  <a:xfrm>
                    <a:off x="3929" y="1281"/>
                    <a:ext cx="216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5" name="Line 74"/>
                  <p:cNvSpPr>
                    <a:spLocks noChangeShapeType="1"/>
                  </p:cNvSpPr>
                  <p:nvPr/>
                </p:nvSpPr>
                <p:spPr bwMode="auto">
                  <a:xfrm>
                    <a:off x="3941" y="1319"/>
                    <a:ext cx="19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6" name="Line 75"/>
                  <p:cNvSpPr>
                    <a:spLocks noChangeShapeType="1"/>
                  </p:cNvSpPr>
                  <p:nvPr/>
                </p:nvSpPr>
                <p:spPr bwMode="auto">
                  <a:xfrm>
                    <a:off x="3787" y="880"/>
                    <a:ext cx="259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7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3748" y="916"/>
                    <a:ext cx="33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8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3822" y="855"/>
                    <a:ext cx="182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89" name="Freeform 78"/>
                  <p:cNvSpPr>
                    <a:spLocks/>
                  </p:cNvSpPr>
                  <p:nvPr/>
                </p:nvSpPr>
                <p:spPr bwMode="auto">
                  <a:xfrm>
                    <a:off x="4635" y="889"/>
                    <a:ext cx="94" cy="64"/>
                  </a:xfrm>
                  <a:custGeom>
                    <a:avLst/>
                    <a:gdLst>
                      <a:gd name="T0" fmla="*/ 0 w 360"/>
                      <a:gd name="T1" fmla="*/ 0 h 226"/>
                      <a:gd name="T2" fmla="*/ 43 w 360"/>
                      <a:gd name="T3" fmla="*/ 28 h 226"/>
                      <a:gd name="T4" fmla="*/ 94 w 360"/>
                      <a:gd name="T5" fmla="*/ 64 h 226"/>
                      <a:gd name="T6" fmla="*/ 0 60000 65536"/>
                      <a:gd name="T7" fmla="*/ 0 60000 65536"/>
                      <a:gd name="T8" fmla="*/ 0 60000 65536"/>
                      <a:gd name="T9" fmla="*/ 0 w 360"/>
                      <a:gd name="T10" fmla="*/ 0 h 226"/>
                      <a:gd name="T11" fmla="*/ 360 w 360"/>
                      <a:gd name="T12" fmla="*/ 226 h 22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60" h="226">
                        <a:moveTo>
                          <a:pt x="0" y="0"/>
                        </a:moveTo>
                        <a:lnTo>
                          <a:pt x="164" y="98"/>
                        </a:lnTo>
                        <a:lnTo>
                          <a:pt x="360" y="22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0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880"/>
                    <a:ext cx="395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1" name="Freeform 80"/>
                  <p:cNvSpPr>
                    <a:spLocks/>
                  </p:cNvSpPr>
                  <p:nvPr/>
                </p:nvSpPr>
                <p:spPr bwMode="auto">
                  <a:xfrm>
                    <a:off x="4199" y="849"/>
                    <a:ext cx="66" cy="74"/>
                  </a:xfrm>
                  <a:custGeom>
                    <a:avLst/>
                    <a:gdLst>
                      <a:gd name="T0" fmla="*/ 66 w 253"/>
                      <a:gd name="T1" fmla="*/ 0 h 264"/>
                      <a:gd name="T2" fmla="*/ 37 w 253"/>
                      <a:gd name="T3" fmla="*/ 28 h 264"/>
                      <a:gd name="T4" fmla="*/ 16 w 253"/>
                      <a:gd name="T5" fmla="*/ 53 h 264"/>
                      <a:gd name="T6" fmla="*/ 0 w 253"/>
                      <a:gd name="T7" fmla="*/ 74 h 26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53"/>
                      <a:gd name="T13" fmla="*/ 0 h 264"/>
                      <a:gd name="T14" fmla="*/ 253 w 253"/>
                      <a:gd name="T15" fmla="*/ 264 h 26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53" h="264">
                        <a:moveTo>
                          <a:pt x="253" y="0"/>
                        </a:moveTo>
                        <a:lnTo>
                          <a:pt x="142" y="100"/>
                        </a:lnTo>
                        <a:lnTo>
                          <a:pt x="62" y="189"/>
                        </a:lnTo>
                        <a:lnTo>
                          <a:pt x="0" y="26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2" name="Freeform 81"/>
                  <p:cNvSpPr>
                    <a:spLocks/>
                  </p:cNvSpPr>
                  <p:nvPr/>
                </p:nvSpPr>
                <p:spPr bwMode="auto">
                  <a:xfrm>
                    <a:off x="4506" y="849"/>
                    <a:ext cx="232" cy="574"/>
                  </a:xfrm>
                  <a:custGeom>
                    <a:avLst/>
                    <a:gdLst>
                      <a:gd name="T0" fmla="*/ 0 w 890"/>
                      <a:gd name="T1" fmla="*/ 0 h 2059"/>
                      <a:gd name="T2" fmla="*/ 37 w 890"/>
                      <a:gd name="T3" fmla="*/ 25 h 2059"/>
                      <a:gd name="T4" fmla="*/ 60 w 890"/>
                      <a:gd name="T5" fmla="*/ 45 h 2059"/>
                      <a:gd name="T6" fmla="*/ 79 w 890"/>
                      <a:gd name="T7" fmla="*/ 63 h 2059"/>
                      <a:gd name="T8" fmla="*/ 107 w 890"/>
                      <a:gd name="T9" fmla="*/ 88 h 2059"/>
                      <a:gd name="T10" fmla="*/ 148 w 890"/>
                      <a:gd name="T11" fmla="*/ 130 h 2059"/>
                      <a:gd name="T12" fmla="*/ 184 w 890"/>
                      <a:gd name="T13" fmla="*/ 170 h 2059"/>
                      <a:gd name="T14" fmla="*/ 212 w 890"/>
                      <a:gd name="T15" fmla="*/ 208 h 2059"/>
                      <a:gd name="T16" fmla="*/ 229 w 890"/>
                      <a:gd name="T17" fmla="*/ 244 h 2059"/>
                      <a:gd name="T18" fmla="*/ 231 w 890"/>
                      <a:gd name="T19" fmla="*/ 275 h 2059"/>
                      <a:gd name="T20" fmla="*/ 232 w 890"/>
                      <a:gd name="T21" fmla="*/ 315 h 2059"/>
                      <a:gd name="T22" fmla="*/ 232 w 890"/>
                      <a:gd name="T23" fmla="*/ 352 h 2059"/>
                      <a:gd name="T24" fmla="*/ 230 w 890"/>
                      <a:gd name="T25" fmla="*/ 392 h 2059"/>
                      <a:gd name="T26" fmla="*/ 226 w 890"/>
                      <a:gd name="T27" fmla="*/ 429 h 2059"/>
                      <a:gd name="T28" fmla="*/ 224 w 890"/>
                      <a:gd name="T29" fmla="*/ 469 h 2059"/>
                      <a:gd name="T30" fmla="*/ 221 w 890"/>
                      <a:gd name="T31" fmla="*/ 499 h 2059"/>
                      <a:gd name="T32" fmla="*/ 217 w 890"/>
                      <a:gd name="T33" fmla="*/ 541 h 2059"/>
                      <a:gd name="T34" fmla="*/ 209 w 890"/>
                      <a:gd name="T35" fmla="*/ 574 h 2059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90"/>
                      <a:gd name="T55" fmla="*/ 0 h 2059"/>
                      <a:gd name="T56" fmla="*/ 890 w 890"/>
                      <a:gd name="T57" fmla="*/ 2059 h 2059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90" h="2059">
                        <a:moveTo>
                          <a:pt x="0" y="0"/>
                        </a:moveTo>
                        <a:lnTo>
                          <a:pt x="142" y="90"/>
                        </a:lnTo>
                        <a:lnTo>
                          <a:pt x="232" y="162"/>
                        </a:lnTo>
                        <a:lnTo>
                          <a:pt x="303" y="227"/>
                        </a:lnTo>
                        <a:lnTo>
                          <a:pt x="410" y="317"/>
                        </a:lnTo>
                        <a:lnTo>
                          <a:pt x="566" y="468"/>
                        </a:lnTo>
                        <a:lnTo>
                          <a:pt x="707" y="610"/>
                        </a:lnTo>
                        <a:lnTo>
                          <a:pt x="814" y="747"/>
                        </a:lnTo>
                        <a:lnTo>
                          <a:pt x="877" y="875"/>
                        </a:lnTo>
                        <a:lnTo>
                          <a:pt x="886" y="988"/>
                        </a:lnTo>
                        <a:lnTo>
                          <a:pt x="890" y="1129"/>
                        </a:lnTo>
                        <a:lnTo>
                          <a:pt x="890" y="1261"/>
                        </a:lnTo>
                        <a:lnTo>
                          <a:pt x="882" y="1407"/>
                        </a:lnTo>
                        <a:lnTo>
                          <a:pt x="868" y="1540"/>
                        </a:lnTo>
                        <a:lnTo>
                          <a:pt x="860" y="1683"/>
                        </a:lnTo>
                        <a:lnTo>
                          <a:pt x="846" y="1789"/>
                        </a:lnTo>
                        <a:lnTo>
                          <a:pt x="832" y="1940"/>
                        </a:lnTo>
                        <a:lnTo>
                          <a:pt x="801" y="2059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3" name="Freeform 82"/>
                  <p:cNvSpPr>
                    <a:spLocks/>
                  </p:cNvSpPr>
                  <p:nvPr/>
                </p:nvSpPr>
                <p:spPr bwMode="auto">
                  <a:xfrm>
                    <a:off x="4529" y="854"/>
                    <a:ext cx="244" cy="567"/>
                  </a:xfrm>
                  <a:custGeom>
                    <a:avLst/>
                    <a:gdLst>
                      <a:gd name="T0" fmla="*/ 0 w 930"/>
                      <a:gd name="T1" fmla="*/ 0 h 2036"/>
                      <a:gd name="T2" fmla="*/ 35 w 930"/>
                      <a:gd name="T3" fmla="*/ 23 h 2036"/>
                      <a:gd name="T4" fmla="*/ 59 w 930"/>
                      <a:gd name="T5" fmla="*/ 44 h 2036"/>
                      <a:gd name="T6" fmla="*/ 79 w 930"/>
                      <a:gd name="T7" fmla="*/ 62 h 2036"/>
                      <a:gd name="T8" fmla="*/ 109 w 930"/>
                      <a:gd name="T9" fmla="*/ 88 h 2036"/>
                      <a:gd name="T10" fmla="*/ 148 w 930"/>
                      <a:gd name="T11" fmla="*/ 124 h 2036"/>
                      <a:gd name="T12" fmla="*/ 188 w 930"/>
                      <a:gd name="T13" fmla="*/ 162 h 2036"/>
                      <a:gd name="T14" fmla="*/ 222 w 930"/>
                      <a:gd name="T15" fmla="*/ 201 h 2036"/>
                      <a:gd name="T16" fmla="*/ 239 w 930"/>
                      <a:gd name="T17" fmla="*/ 241 h 2036"/>
                      <a:gd name="T18" fmla="*/ 243 w 930"/>
                      <a:gd name="T19" fmla="*/ 277 h 2036"/>
                      <a:gd name="T20" fmla="*/ 244 w 930"/>
                      <a:gd name="T21" fmla="*/ 312 h 2036"/>
                      <a:gd name="T22" fmla="*/ 243 w 930"/>
                      <a:gd name="T23" fmla="*/ 350 h 2036"/>
                      <a:gd name="T24" fmla="*/ 236 w 930"/>
                      <a:gd name="T25" fmla="*/ 387 h 2036"/>
                      <a:gd name="T26" fmla="*/ 231 w 930"/>
                      <a:gd name="T27" fmla="*/ 422 h 2036"/>
                      <a:gd name="T28" fmla="*/ 224 w 930"/>
                      <a:gd name="T29" fmla="*/ 461 h 2036"/>
                      <a:gd name="T30" fmla="*/ 219 w 930"/>
                      <a:gd name="T31" fmla="*/ 497 h 2036"/>
                      <a:gd name="T32" fmla="*/ 210 w 930"/>
                      <a:gd name="T33" fmla="*/ 526 h 2036"/>
                      <a:gd name="T34" fmla="*/ 195 w 930"/>
                      <a:gd name="T35" fmla="*/ 567 h 20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930"/>
                      <a:gd name="T55" fmla="*/ 0 h 2036"/>
                      <a:gd name="T56" fmla="*/ 930 w 930"/>
                      <a:gd name="T57" fmla="*/ 2036 h 20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930" h="2036">
                        <a:moveTo>
                          <a:pt x="0" y="0"/>
                        </a:moveTo>
                        <a:lnTo>
                          <a:pt x="135" y="82"/>
                        </a:lnTo>
                        <a:lnTo>
                          <a:pt x="224" y="157"/>
                        </a:lnTo>
                        <a:lnTo>
                          <a:pt x="303" y="222"/>
                        </a:lnTo>
                        <a:lnTo>
                          <a:pt x="414" y="317"/>
                        </a:lnTo>
                        <a:lnTo>
                          <a:pt x="565" y="445"/>
                        </a:lnTo>
                        <a:lnTo>
                          <a:pt x="718" y="583"/>
                        </a:lnTo>
                        <a:lnTo>
                          <a:pt x="846" y="723"/>
                        </a:lnTo>
                        <a:lnTo>
                          <a:pt x="912" y="866"/>
                        </a:lnTo>
                        <a:lnTo>
                          <a:pt x="926" y="996"/>
                        </a:lnTo>
                        <a:lnTo>
                          <a:pt x="930" y="1120"/>
                        </a:lnTo>
                        <a:lnTo>
                          <a:pt x="926" y="1256"/>
                        </a:lnTo>
                        <a:lnTo>
                          <a:pt x="900" y="1388"/>
                        </a:lnTo>
                        <a:lnTo>
                          <a:pt x="882" y="1516"/>
                        </a:lnTo>
                        <a:lnTo>
                          <a:pt x="855" y="1656"/>
                        </a:lnTo>
                        <a:lnTo>
                          <a:pt x="833" y="1785"/>
                        </a:lnTo>
                        <a:lnTo>
                          <a:pt x="801" y="1888"/>
                        </a:lnTo>
                        <a:lnTo>
                          <a:pt x="744" y="203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4" name="Freeform 83"/>
                  <p:cNvSpPr>
                    <a:spLocks/>
                  </p:cNvSpPr>
                  <p:nvPr/>
                </p:nvSpPr>
                <p:spPr bwMode="auto">
                  <a:xfrm>
                    <a:off x="4559" y="862"/>
                    <a:ext cx="249" cy="554"/>
                  </a:xfrm>
                  <a:custGeom>
                    <a:avLst/>
                    <a:gdLst>
                      <a:gd name="T0" fmla="*/ 0 w 952"/>
                      <a:gd name="T1" fmla="*/ 0 h 1986"/>
                      <a:gd name="T2" fmla="*/ 31 w 952"/>
                      <a:gd name="T3" fmla="*/ 22 h 1986"/>
                      <a:gd name="T4" fmla="*/ 69 w 952"/>
                      <a:gd name="T5" fmla="*/ 51 h 1986"/>
                      <a:gd name="T6" fmla="*/ 102 w 952"/>
                      <a:gd name="T7" fmla="*/ 79 h 1986"/>
                      <a:gd name="T8" fmla="*/ 145 w 952"/>
                      <a:gd name="T9" fmla="*/ 117 h 1986"/>
                      <a:gd name="T10" fmla="*/ 187 w 952"/>
                      <a:gd name="T11" fmla="*/ 157 h 1986"/>
                      <a:gd name="T12" fmla="*/ 221 w 952"/>
                      <a:gd name="T13" fmla="*/ 192 h 1986"/>
                      <a:gd name="T14" fmla="*/ 243 w 952"/>
                      <a:gd name="T15" fmla="*/ 232 h 1986"/>
                      <a:gd name="T16" fmla="*/ 245 w 952"/>
                      <a:gd name="T17" fmla="*/ 266 h 1986"/>
                      <a:gd name="T18" fmla="*/ 249 w 952"/>
                      <a:gd name="T19" fmla="*/ 304 h 1986"/>
                      <a:gd name="T20" fmla="*/ 244 w 952"/>
                      <a:gd name="T21" fmla="*/ 340 h 1986"/>
                      <a:gd name="T22" fmla="*/ 235 w 952"/>
                      <a:gd name="T23" fmla="*/ 378 h 1986"/>
                      <a:gd name="T24" fmla="*/ 227 w 952"/>
                      <a:gd name="T25" fmla="*/ 417 h 1986"/>
                      <a:gd name="T26" fmla="*/ 217 w 952"/>
                      <a:gd name="T27" fmla="*/ 456 h 1986"/>
                      <a:gd name="T28" fmla="*/ 208 w 952"/>
                      <a:gd name="T29" fmla="*/ 492 h 1986"/>
                      <a:gd name="T30" fmla="*/ 194 w 952"/>
                      <a:gd name="T31" fmla="*/ 521 h 1986"/>
                      <a:gd name="T32" fmla="*/ 177 w 952"/>
                      <a:gd name="T33" fmla="*/ 554 h 198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952"/>
                      <a:gd name="T52" fmla="*/ 0 h 1986"/>
                      <a:gd name="T53" fmla="*/ 952 w 952"/>
                      <a:gd name="T54" fmla="*/ 1986 h 198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952" h="1986">
                        <a:moveTo>
                          <a:pt x="0" y="0"/>
                        </a:moveTo>
                        <a:lnTo>
                          <a:pt x="120" y="80"/>
                        </a:lnTo>
                        <a:lnTo>
                          <a:pt x="262" y="183"/>
                        </a:lnTo>
                        <a:lnTo>
                          <a:pt x="391" y="283"/>
                        </a:lnTo>
                        <a:lnTo>
                          <a:pt x="556" y="419"/>
                        </a:lnTo>
                        <a:lnTo>
                          <a:pt x="716" y="562"/>
                        </a:lnTo>
                        <a:lnTo>
                          <a:pt x="845" y="690"/>
                        </a:lnTo>
                        <a:lnTo>
                          <a:pt x="929" y="830"/>
                        </a:lnTo>
                        <a:lnTo>
                          <a:pt x="938" y="954"/>
                        </a:lnTo>
                        <a:lnTo>
                          <a:pt x="952" y="1090"/>
                        </a:lnTo>
                        <a:lnTo>
                          <a:pt x="934" y="1218"/>
                        </a:lnTo>
                        <a:lnTo>
                          <a:pt x="899" y="1355"/>
                        </a:lnTo>
                        <a:lnTo>
                          <a:pt x="867" y="1495"/>
                        </a:lnTo>
                        <a:lnTo>
                          <a:pt x="831" y="1633"/>
                        </a:lnTo>
                        <a:lnTo>
                          <a:pt x="796" y="1763"/>
                        </a:lnTo>
                        <a:lnTo>
                          <a:pt x="742" y="1869"/>
                        </a:lnTo>
                        <a:lnTo>
                          <a:pt x="676" y="198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5" name="Freeform 84"/>
                  <p:cNvSpPr>
                    <a:spLocks/>
                  </p:cNvSpPr>
                  <p:nvPr/>
                </p:nvSpPr>
                <p:spPr bwMode="auto">
                  <a:xfrm>
                    <a:off x="4313" y="839"/>
                    <a:ext cx="28" cy="586"/>
                  </a:xfrm>
                  <a:custGeom>
                    <a:avLst/>
                    <a:gdLst>
                      <a:gd name="T0" fmla="*/ 24 w 107"/>
                      <a:gd name="T1" fmla="*/ 0 h 2101"/>
                      <a:gd name="T2" fmla="*/ 25 w 107"/>
                      <a:gd name="T3" fmla="*/ 17 h 2101"/>
                      <a:gd name="T4" fmla="*/ 26 w 107"/>
                      <a:gd name="T5" fmla="*/ 45 h 2101"/>
                      <a:gd name="T6" fmla="*/ 26 w 107"/>
                      <a:gd name="T7" fmla="*/ 78 h 2101"/>
                      <a:gd name="T8" fmla="*/ 27 w 107"/>
                      <a:gd name="T9" fmla="*/ 109 h 2101"/>
                      <a:gd name="T10" fmla="*/ 28 w 107"/>
                      <a:gd name="T11" fmla="*/ 142 h 2101"/>
                      <a:gd name="T12" fmla="*/ 28 w 107"/>
                      <a:gd name="T13" fmla="*/ 177 h 2101"/>
                      <a:gd name="T14" fmla="*/ 28 w 107"/>
                      <a:gd name="T15" fmla="*/ 219 h 2101"/>
                      <a:gd name="T16" fmla="*/ 28 w 107"/>
                      <a:gd name="T17" fmla="*/ 260 h 2101"/>
                      <a:gd name="T18" fmla="*/ 27 w 107"/>
                      <a:gd name="T19" fmla="*/ 289 h 2101"/>
                      <a:gd name="T20" fmla="*/ 26 w 107"/>
                      <a:gd name="T21" fmla="*/ 327 h 2101"/>
                      <a:gd name="T22" fmla="*/ 21 w 107"/>
                      <a:gd name="T23" fmla="*/ 362 h 2101"/>
                      <a:gd name="T24" fmla="*/ 20 w 107"/>
                      <a:gd name="T25" fmla="*/ 402 h 2101"/>
                      <a:gd name="T26" fmla="*/ 17 w 107"/>
                      <a:gd name="T27" fmla="*/ 442 h 2101"/>
                      <a:gd name="T28" fmla="*/ 13 w 107"/>
                      <a:gd name="T29" fmla="*/ 479 h 2101"/>
                      <a:gd name="T30" fmla="*/ 12 w 107"/>
                      <a:gd name="T31" fmla="*/ 513 h 2101"/>
                      <a:gd name="T32" fmla="*/ 7 w 107"/>
                      <a:gd name="T33" fmla="*/ 553 h 2101"/>
                      <a:gd name="T34" fmla="*/ 0 w 107"/>
                      <a:gd name="T35" fmla="*/ 586 h 210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7"/>
                      <a:gd name="T55" fmla="*/ 0 h 2101"/>
                      <a:gd name="T56" fmla="*/ 107 w 107"/>
                      <a:gd name="T57" fmla="*/ 2101 h 210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7" h="2101">
                        <a:moveTo>
                          <a:pt x="90" y="0"/>
                        </a:moveTo>
                        <a:lnTo>
                          <a:pt x="95" y="62"/>
                        </a:lnTo>
                        <a:lnTo>
                          <a:pt x="99" y="161"/>
                        </a:lnTo>
                        <a:lnTo>
                          <a:pt x="99" y="279"/>
                        </a:lnTo>
                        <a:lnTo>
                          <a:pt x="103" y="392"/>
                        </a:lnTo>
                        <a:lnTo>
                          <a:pt x="107" y="510"/>
                        </a:lnTo>
                        <a:lnTo>
                          <a:pt x="107" y="635"/>
                        </a:lnTo>
                        <a:lnTo>
                          <a:pt x="107" y="784"/>
                        </a:lnTo>
                        <a:lnTo>
                          <a:pt x="107" y="931"/>
                        </a:lnTo>
                        <a:lnTo>
                          <a:pt x="103" y="1035"/>
                        </a:lnTo>
                        <a:lnTo>
                          <a:pt x="99" y="1172"/>
                        </a:lnTo>
                        <a:lnTo>
                          <a:pt x="81" y="1298"/>
                        </a:lnTo>
                        <a:lnTo>
                          <a:pt x="77" y="1441"/>
                        </a:lnTo>
                        <a:lnTo>
                          <a:pt x="64" y="1586"/>
                        </a:lnTo>
                        <a:lnTo>
                          <a:pt x="50" y="1716"/>
                        </a:lnTo>
                        <a:lnTo>
                          <a:pt x="46" y="1841"/>
                        </a:lnTo>
                        <a:lnTo>
                          <a:pt x="28" y="1982"/>
                        </a:lnTo>
                        <a:lnTo>
                          <a:pt x="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6" name="Freeform 85"/>
                  <p:cNvSpPr>
                    <a:spLocks/>
                  </p:cNvSpPr>
                  <p:nvPr/>
                </p:nvSpPr>
                <p:spPr bwMode="auto">
                  <a:xfrm>
                    <a:off x="4324" y="836"/>
                    <a:ext cx="54" cy="588"/>
                  </a:xfrm>
                  <a:custGeom>
                    <a:avLst/>
                    <a:gdLst>
                      <a:gd name="T0" fmla="*/ 19 w 204"/>
                      <a:gd name="T1" fmla="*/ 0 h 2106"/>
                      <a:gd name="T2" fmla="*/ 24 w 204"/>
                      <a:gd name="T3" fmla="*/ 16 h 2106"/>
                      <a:gd name="T4" fmla="*/ 29 w 204"/>
                      <a:gd name="T5" fmla="*/ 44 h 2106"/>
                      <a:gd name="T6" fmla="*/ 36 w 204"/>
                      <a:gd name="T7" fmla="*/ 76 h 2106"/>
                      <a:gd name="T8" fmla="*/ 40 w 204"/>
                      <a:gd name="T9" fmla="*/ 106 h 2106"/>
                      <a:gd name="T10" fmla="*/ 44 w 204"/>
                      <a:gd name="T11" fmla="*/ 141 h 2106"/>
                      <a:gd name="T12" fmla="*/ 49 w 204"/>
                      <a:gd name="T13" fmla="*/ 178 h 2106"/>
                      <a:gd name="T14" fmla="*/ 53 w 204"/>
                      <a:gd name="T15" fmla="*/ 220 h 2106"/>
                      <a:gd name="T16" fmla="*/ 54 w 204"/>
                      <a:gd name="T17" fmla="*/ 257 h 2106"/>
                      <a:gd name="T18" fmla="*/ 53 w 204"/>
                      <a:gd name="T19" fmla="*/ 295 h 2106"/>
                      <a:gd name="T20" fmla="*/ 48 w 204"/>
                      <a:gd name="T21" fmla="*/ 332 h 2106"/>
                      <a:gd name="T22" fmla="*/ 44 w 204"/>
                      <a:gd name="T23" fmla="*/ 369 h 2106"/>
                      <a:gd name="T24" fmla="*/ 40 w 204"/>
                      <a:gd name="T25" fmla="*/ 406 h 2106"/>
                      <a:gd name="T26" fmla="*/ 33 w 204"/>
                      <a:gd name="T27" fmla="*/ 445 h 2106"/>
                      <a:gd name="T28" fmla="*/ 26 w 204"/>
                      <a:gd name="T29" fmla="*/ 483 h 2106"/>
                      <a:gd name="T30" fmla="*/ 19 w 204"/>
                      <a:gd name="T31" fmla="*/ 518 h 2106"/>
                      <a:gd name="T32" fmla="*/ 10 w 204"/>
                      <a:gd name="T33" fmla="*/ 555 h 2106"/>
                      <a:gd name="T34" fmla="*/ 0 w 204"/>
                      <a:gd name="T35" fmla="*/ 588 h 210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106"/>
                      <a:gd name="T56" fmla="*/ 204 w 204"/>
                      <a:gd name="T57" fmla="*/ 2106 h 210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106">
                        <a:moveTo>
                          <a:pt x="71" y="0"/>
                        </a:moveTo>
                        <a:lnTo>
                          <a:pt x="89" y="57"/>
                        </a:lnTo>
                        <a:lnTo>
                          <a:pt x="111" y="156"/>
                        </a:lnTo>
                        <a:lnTo>
                          <a:pt x="137" y="273"/>
                        </a:lnTo>
                        <a:lnTo>
                          <a:pt x="150" y="378"/>
                        </a:lnTo>
                        <a:lnTo>
                          <a:pt x="168" y="504"/>
                        </a:lnTo>
                        <a:lnTo>
                          <a:pt x="186" y="638"/>
                        </a:lnTo>
                        <a:lnTo>
                          <a:pt x="200" y="789"/>
                        </a:lnTo>
                        <a:lnTo>
                          <a:pt x="204" y="921"/>
                        </a:lnTo>
                        <a:lnTo>
                          <a:pt x="200" y="1057"/>
                        </a:lnTo>
                        <a:lnTo>
                          <a:pt x="182" y="1190"/>
                        </a:lnTo>
                        <a:lnTo>
                          <a:pt x="168" y="1322"/>
                        </a:lnTo>
                        <a:lnTo>
                          <a:pt x="150" y="1454"/>
                        </a:lnTo>
                        <a:lnTo>
                          <a:pt x="123" y="1595"/>
                        </a:lnTo>
                        <a:lnTo>
                          <a:pt x="97" y="1730"/>
                        </a:lnTo>
                        <a:lnTo>
                          <a:pt x="71" y="1855"/>
                        </a:lnTo>
                        <a:lnTo>
                          <a:pt x="39" y="1987"/>
                        </a:lnTo>
                        <a:lnTo>
                          <a:pt x="0" y="2106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7" name="Freeform 86"/>
                  <p:cNvSpPr>
                    <a:spLocks/>
                  </p:cNvSpPr>
                  <p:nvPr/>
                </p:nvSpPr>
                <p:spPr bwMode="auto">
                  <a:xfrm>
                    <a:off x="4331" y="835"/>
                    <a:ext cx="74" cy="589"/>
                  </a:xfrm>
                  <a:custGeom>
                    <a:avLst/>
                    <a:gdLst>
                      <a:gd name="T0" fmla="*/ 18 w 285"/>
                      <a:gd name="T1" fmla="*/ 0 h 2110"/>
                      <a:gd name="T2" fmla="*/ 27 w 285"/>
                      <a:gd name="T3" fmla="*/ 20 h 2110"/>
                      <a:gd name="T4" fmla="*/ 37 w 285"/>
                      <a:gd name="T5" fmla="*/ 44 h 2110"/>
                      <a:gd name="T6" fmla="*/ 48 w 285"/>
                      <a:gd name="T7" fmla="*/ 76 h 2110"/>
                      <a:gd name="T8" fmla="*/ 58 w 285"/>
                      <a:gd name="T9" fmla="*/ 111 h 2110"/>
                      <a:gd name="T10" fmla="*/ 63 w 285"/>
                      <a:gd name="T11" fmla="*/ 145 h 2110"/>
                      <a:gd name="T12" fmla="*/ 68 w 285"/>
                      <a:gd name="T13" fmla="*/ 179 h 2110"/>
                      <a:gd name="T14" fmla="*/ 72 w 285"/>
                      <a:gd name="T15" fmla="*/ 223 h 2110"/>
                      <a:gd name="T16" fmla="*/ 74 w 285"/>
                      <a:gd name="T17" fmla="*/ 260 h 2110"/>
                      <a:gd name="T18" fmla="*/ 74 w 285"/>
                      <a:gd name="T19" fmla="*/ 298 h 2110"/>
                      <a:gd name="T20" fmla="*/ 71 w 285"/>
                      <a:gd name="T21" fmla="*/ 332 h 2110"/>
                      <a:gd name="T22" fmla="*/ 67 w 285"/>
                      <a:gd name="T23" fmla="*/ 368 h 2110"/>
                      <a:gd name="T24" fmla="*/ 60 w 285"/>
                      <a:gd name="T25" fmla="*/ 405 h 2110"/>
                      <a:gd name="T26" fmla="*/ 51 w 285"/>
                      <a:gd name="T27" fmla="*/ 445 h 2110"/>
                      <a:gd name="T28" fmla="*/ 41 w 285"/>
                      <a:gd name="T29" fmla="*/ 485 h 2110"/>
                      <a:gd name="T30" fmla="*/ 31 w 285"/>
                      <a:gd name="T31" fmla="*/ 518 h 2110"/>
                      <a:gd name="T32" fmla="*/ 18 w 285"/>
                      <a:gd name="T33" fmla="*/ 554 h 2110"/>
                      <a:gd name="T34" fmla="*/ 0 w 285"/>
                      <a:gd name="T35" fmla="*/ 589 h 2110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85"/>
                      <a:gd name="T55" fmla="*/ 0 h 2110"/>
                      <a:gd name="T56" fmla="*/ 285 w 285"/>
                      <a:gd name="T57" fmla="*/ 2110 h 2110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85" h="2110">
                        <a:moveTo>
                          <a:pt x="71" y="0"/>
                        </a:moveTo>
                        <a:lnTo>
                          <a:pt x="103" y="72"/>
                        </a:lnTo>
                        <a:lnTo>
                          <a:pt x="142" y="156"/>
                        </a:lnTo>
                        <a:lnTo>
                          <a:pt x="186" y="273"/>
                        </a:lnTo>
                        <a:lnTo>
                          <a:pt x="222" y="397"/>
                        </a:lnTo>
                        <a:lnTo>
                          <a:pt x="244" y="519"/>
                        </a:lnTo>
                        <a:lnTo>
                          <a:pt x="262" y="642"/>
                        </a:lnTo>
                        <a:lnTo>
                          <a:pt x="279" y="799"/>
                        </a:lnTo>
                        <a:lnTo>
                          <a:pt x="285" y="930"/>
                        </a:lnTo>
                        <a:lnTo>
                          <a:pt x="285" y="1068"/>
                        </a:lnTo>
                        <a:lnTo>
                          <a:pt x="275" y="1190"/>
                        </a:lnTo>
                        <a:lnTo>
                          <a:pt x="257" y="1317"/>
                        </a:lnTo>
                        <a:lnTo>
                          <a:pt x="231" y="1450"/>
                        </a:lnTo>
                        <a:lnTo>
                          <a:pt x="196" y="1595"/>
                        </a:lnTo>
                        <a:lnTo>
                          <a:pt x="156" y="1736"/>
                        </a:lnTo>
                        <a:lnTo>
                          <a:pt x="120" y="1855"/>
                        </a:lnTo>
                        <a:lnTo>
                          <a:pt x="71" y="1983"/>
                        </a:lnTo>
                        <a:lnTo>
                          <a:pt x="0" y="2110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8" name="Freeform 87"/>
                  <p:cNvSpPr>
                    <a:spLocks/>
                  </p:cNvSpPr>
                  <p:nvPr/>
                </p:nvSpPr>
                <p:spPr bwMode="auto">
                  <a:xfrm>
                    <a:off x="4347" y="834"/>
                    <a:ext cx="94" cy="583"/>
                  </a:xfrm>
                  <a:custGeom>
                    <a:avLst/>
                    <a:gdLst>
                      <a:gd name="T0" fmla="*/ 7 w 355"/>
                      <a:gd name="T1" fmla="*/ 0 h 2091"/>
                      <a:gd name="T2" fmla="*/ 21 w 355"/>
                      <a:gd name="T3" fmla="*/ 19 h 2091"/>
                      <a:gd name="T4" fmla="*/ 37 w 355"/>
                      <a:gd name="T5" fmla="*/ 49 h 2091"/>
                      <a:gd name="T6" fmla="*/ 49 w 355"/>
                      <a:gd name="T7" fmla="*/ 71 h 2091"/>
                      <a:gd name="T8" fmla="*/ 61 w 355"/>
                      <a:gd name="T9" fmla="*/ 100 h 2091"/>
                      <a:gd name="T10" fmla="*/ 74 w 355"/>
                      <a:gd name="T11" fmla="*/ 136 h 2091"/>
                      <a:gd name="T12" fmla="*/ 82 w 355"/>
                      <a:gd name="T13" fmla="*/ 179 h 2091"/>
                      <a:gd name="T14" fmla="*/ 89 w 355"/>
                      <a:gd name="T15" fmla="*/ 225 h 2091"/>
                      <a:gd name="T16" fmla="*/ 93 w 355"/>
                      <a:gd name="T17" fmla="*/ 260 h 2091"/>
                      <a:gd name="T18" fmla="*/ 94 w 355"/>
                      <a:gd name="T19" fmla="*/ 296 h 2091"/>
                      <a:gd name="T20" fmla="*/ 88 w 355"/>
                      <a:gd name="T21" fmla="*/ 335 h 2091"/>
                      <a:gd name="T22" fmla="*/ 83 w 355"/>
                      <a:gd name="T23" fmla="*/ 369 h 2091"/>
                      <a:gd name="T24" fmla="*/ 74 w 355"/>
                      <a:gd name="T25" fmla="*/ 408 h 2091"/>
                      <a:gd name="T26" fmla="*/ 61 w 355"/>
                      <a:gd name="T27" fmla="*/ 444 h 2091"/>
                      <a:gd name="T28" fmla="*/ 48 w 355"/>
                      <a:gd name="T29" fmla="*/ 485 h 2091"/>
                      <a:gd name="T30" fmla="*/ 34 w 355"/>
                      <a:gd name="T31" fmla="*/ 518 h 2091"/>
                      <a:gd name="T32" fmla="*/ 17 w 355"/>
                      <a:gd name="T33" fmla="*/ 550 h 2091"/>
                      <a:gd name="T34" fmla="*/ 0 w 355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55"/>
                      <a:gd name="T55" fmla="*/ 0 h 2091"/>
                      <a:gd name="T56" fmla="*/ 355 w 355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55" h="2091">
                        <a:moveTo>
                          <a:pt x="26" y="0"/>
                        </a:moveTo>
                        <a:lnTo>
                          <a:pt x="79" y="69"/>
                        </a:lnTo>
                        <a:lnTo>
                          <a:pt x="141" y="174"/>
                        </a:lnTo>
                        <a:lnTo>
                          <a:pt x="186" y="254"/>
                        </a:lnTo>
                        <a:lnTo>
                          <a:pt x="230" y="357"/>
                        </a:lnTo>
                        <a:lnTo>
                          <a:pt x="279" y="489"/>
                        </a:lnTo>
                        <a:lnTo>
                          <a:pt x="311" y="641"/>
                        </a:lnTo>
                        <a:lnTo>
                          <a:pt x="337" y="807"/>
                        </a:lnTo>
                        <a:lnTo>
                          <a:pt x="351" y="933"/>
                        </a:lnTo>
                        <a:lnTo>
                          <a:pt x="355" y="1061"/>
                        </a:lnTo>
                        <a:lnTo>
                          <a:pt x="333" y="1202"/>
                        </a:lnTo>
                        <a:lnTo>
                          <a:pt x="315" y="1325"/>
                        </a:lnTo>
                        <a:lnTo>
                          <a:pt x="279" y="1462"/>
                        </a:lnTo>
                        <a:lnTo>
                          <a:pt x="230" y="1594"/>
                        </a:lnTo>
                        <a:lnTo>
                          <a:pt x="181" y="1738"/>
                        </a:lnTo>
                        <a:lnTo>
                          <a:pt x="129" y="1858"/>
                        </a:lnTo>
                        <a:lnTo>
                          <a:pt x="66" y="1972"/>
                        </a:lnTo>
                        <a:lnTo>
                          <a:pt x="0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99" name="Freeform 88"/>
                  <p:cNvSpPr>
                    <a:spLocks/>
                  </p:cNvSpPr>
                  <p:nvPr/>
                </p:nvSpPr>
                <p:spPr bwMode="auto">
                  <a:xfrm>
                    <a:off x="4359" y="834"/>
                    <a:ext cx="113" cy="578"/>
                  </a:xfrm>
                  <a:custGeom>
                    <a:avLst/>
                    <a:gdLst>
                      <a:gd name="T0" fmla="*/ 2 w 432"/>
                      <a:gd name="T1" fmla="*/ 0 h 2072"/>
                      <a:gd name="T2" fmla="*/ 19 w 432"/>
                      <a:gd name="T3" fmla="*/ 20 h 2072"/>
                      <a:gd name="T4" fmla="*/ 37 w 432"/>
                      <a:gd name="T5" fmla="*/ 46 h 2072"/>
                      <a:gd name="T6" fmla="*/ 52 w 432"/>
                      <a:gd name="T7" fmla="*/ 75 h 2072"/>
                      <a:gd name="T8" fmla="*/ 66 w 432"/>
                      <a:gd name="T9" fmla="*/ 101 h 2072"/>
                      <a:gd name="T10" fmla="*/ 82 w 432"/>
                      <a:gd name="T11" fmla="*/ 138 h 2072"/>
                      <a:gd name="T12" fmla="*/ 95 w 432"/>
                      <a:gd name="T13" fmla="*/ 178 h 2072"/>
                      <a:gd name="T14" fmla="*/ 108 w 432"/>
                      <a:gd name="T15" fmla="*/ 225 h 2072"/>
                      <a:gd name="T16" fmla="*/ 111 w 432"/>
                      <a:gd name="T17" fmla="*/ 261 h 2072"/>
                      <a:gd name="T18" fmla="*/ 113 w 432"/>
                      <a:gd name="T19" fmla="*/ 295 h 2072"/>
                      <a:gd name="T20" fmla="*/ 108 w 432"/>
                      <a:gd name="T21" fmla="*/ 332 h 2072"/>
                      <a:gd name="T22" fmla="*/ 100 w 432"/>
                      <a:gd name="T23" fmla="*/ 369 h 2072"/>
                      <a:gd name="T24" fmla="*/ 87 w 432"/>
                      <a:gd name="T25" fmla="*/ 411 h 2072"/>
                      <a:gd name="T26" fmla="*/ 70 w 432"/>
                      <a:gd name="T27" fmla="*/ 451 h 2072"/>
                      <a:gd name="T28" fmla="*/ 54 w 432"/>
                      <a:gd name="T29" fmla="*/ 487 h 2072"/>
                      <a:gd name="T30" fmla="*/ 36 w 432"/>
                      <a:gd name="T31" fmla="*/ 522 h 2072"/>
                      <a:gd name="T32" fmla="*/ 18 w 432"/>
                      <a:gd name="T33" fmla="*/ 554 h 2072"/>
                      <a:gd name="T34" fmla="*/ 0 w 432"/>
                      <a:gd name="T35" fmla="*/ 578 h 207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432"/>
                      <a:gd name="T55" fmla="*/ 0 h 2072"/>
                      <a:gd name="T56" fmla="*/ 432 w 432"/>
                      <a:gd name="T57" fmla="*/ 2072 h 207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432" h="2072">
                        <a:moveTo>
                          <a:pt x="8" y="0"/>
                        </a:moveTo>
                        <a:lnTo>
                          <a:pt x="71" y="70"/>
                        </a:lnTo>
                        <a:lnTo>
                          <a:pt x="142" y="164"/>
                        </a:lnTo>
                        <a:lnTo>
                          <a:pt x="200" y="269"/>
                        </a:lnTo>
                        <a:lnTo>
                          <a:pt x="253" y="363"/>
                        </a:lnTo>
                        <a:lnTo>
                          <a:pt x="315" y="495"/>
                        </a:lnTo>
                        <a:lnTo>
                          <a:pt x="364" y="638"/>
                        </a:lnTo>
                        <a:lnTo>
                          <a:pt x="414" y="807"/>
                        </a:lnTo>
                        <a:lnTo>
                          <a:pt x="426" y="934"/>
                        </a:lnTo>
                        <a:lnTo>
                          <a:pt x="432" y="1057"/>
                        </a:lnTo>
                        <a:lnTo>
                          <a:pt x="414" y="1189"/>
                        </a:lnTo>
                        <a:lnTo>
                          <a:pt x="382" y="1321"/>
                        </a:lnTo>
                        <a:lnTo>
                          <a:pt x="333" y="1473"/>
                        </a:lnTo>
                        <a:lnTo>
                          <a:pt x="267" y="1615"/>
                        </a:lnTo>
                        <a:lnTo>
                          <a:pt x="208" y="1744"/>
                        </a:lnTo>
                        <a:lnTo>
                          <a:pt x="137" y="1873"/>
                        </a:lnTo>
                        <a:lnTo>
                          <a:pt x="67" y="1987"/>
                        </a:lnTo>
                        <a:lnTo>
                          <a:pt x="0" y="207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0" name="Freeform 89"/>
                  <p:cNvSpPr>
                    <a:spLocks/>
                  </p:cNvSpPr>
                  <p:nvPr/>
                </p:nvSpPr>
                <p:spPr bwMode="auto">
                  <a:xfrm>
                    <a:off x="4369" y="834"/>
                    <a:ext cx="135" cy="351"/>
                  </a:xfrm>
                  <a:custGeom>
                    <a:avLst/>
                    <a:gdLst>
                      <a:gd name="T0" fmla="*/ 0 w 516"/>
                      <a:gd name="T1" fmla="*/ 0 h 1261"/>
                      <a:gd name="T2" fmla="*/ 26 w 516"/>
                      <a:gd name="T3" fmla="*/ 26 h 1261"/>
                      <a:gd name="T4" fmla="*/ 47 w 516"/>
                      <a:gd name="T5" fmla="*/ 52 h 1261"/>
                      <a:gd name="T6" fmla="*/ 68 w 516"/>
                      <a:gd name="T7" fmla="*/ 77 h 1261"/>
                      <a:gd name="T8" fmla="*/ 89 w 516"/>
                      <a:gd name="T9" fmla="*/ 107 h 1261"/>
                      <a:gd name="T10" fmla="*/ 105 w 516"/>
                      <a:gd name="T11" fmla="*/ 141 h 1261"/>
                      <a:gd name="T12" fmla="*/ 119 w 516"/>
                      <a:gd name="T13" fmla="*/ 178 h 1261"/>
                      <a:gd name="T14" fmla="*/ 130 w 516"/>
                      <a:gd name="T15" fmla="*/ 225 h 1261"/>
                      <a:gd name="T16" fmla="*/ 135 w 516"/>
                      <a:gd name="T17" fmla="*/ 262 h 1261"/>
                      <a:gd name="T18" fmla="*/ 134 w 516"/>
                      <a:gd name="T19" fmla="*/ 297 h 1261"/>
                      <a:gd name="T20" fmla="*/ 128 w 516"/>
                      <a:gd name="T21" fmla="*/ 351 h 1261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516"/>
                      <a:gd name="T34" fmla="*/ 0 h 1261"/>
                      <a:gd name="T35" fmla="*/ 516 w 516"/>
                      <a:gd name="T36" fmla="*/ 1261 h 1261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516" h="1261">
                        <a:moveTo>
                          <a:pt x="0" y="0"/>
                        </a:moveTo>
                        <a:lnTo>
                          <a:pt x="98" y="94"/>
                        </a:lnTo>
                        <a:lnTo>
                          <a:pt x="179" y="187"/>
                        </a:lnTo>
                        <a:lnTo>
                          <a:pt x="258" y="277"/>
                        </a:lnTo>
                        <a:lnTo>
                          <a:pt x="339" y="386"/>
                        </a:lnTo>
                        <a:lnTo>
                          <a:pt x="401" y="508"/>
                        </a:lnTo>
                        <a:lnTo>
                          <a:pt x="454" y="638"/>
                        </a:lnTo>
                        <a:lnTo>
                          <a:pt x="498" y="807"/>
                        </a:lnTo>
                        <a:lnTo>
                          <a:pt x="516" y="940"/>
                        </a:lnTo>
                        <a:lnTo>
                          <a:pt x="512" y="1066"/>
                        </a:lnTo>
                        <a:lnTo>
                          <a:pt x="490" y="126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1" name="Freeform 90"/>
                  <p:cNvSpPr>
                    <a:spLocks/>
                  </p:cNvSpPr>
                  <p:nvPr/>
                </p:nvSpPr>
                <p:spPr bwMode="auto">
                  <a:xfrm>
                    <a:off x="4381" y="834"/>
                    <a:ext cx="279" cy="583"/>
                  </a:xfrm>
                  <a:custGeom>
                    <a:avLst/>
                    <a:gdLst>
                      <a:gd name="T0" fmla="*/ 0 w 1064"/>
                      <a:gd name="T1" fmla="*/ 0 h 2091"/>
                      <a:gd name="T2" fmla="*/ 25 w 1064"/>
                      <a:gd name="T3" fmla="*/ 19 h 2091"/>
                      <a:gd name="T4" fmla="*/ 48 w 1064"/>
                      <a:gd name="T5" fmla="*/ 40 h 2091"/>
                      <a:gd name="T6" fmla="*/ 79 w 1064"/>
                      <a:gd name="T7" fmla="*/ 77 h 2091"/>
                      <a:gd name="T8" fmla="*/ 101 w 1064"/>
                      <a:gd name="T9" fmla="*/ 110 h 2091"/>
                      <a:gd name="T10" fmla="*/ 122 w 1064"/>
                      <a:gd name="T11" fmla="*/ 146 h 2091"/>
                      <a:gd name="T12" fmla="*/ 137 w 1064"/>
                      <a:gd name="T13" fmla="*/ 184 h 2091"/>
                      <a:gd name="T14" fmla="*/ 149 w 1064"/>
                      <a:gd name="T15" fmla="*/ 222 h 2091"/>
                      <a:gd name="T16" fmla="*/ 156 w 1064"/>
                      <a:gd name="T17" fmla="*/ 261 h 2091"/>
                      <a:gd name="T18" fmla="*/ 157 w 1064"/>
                      <a:gd name="T19" fmla="*/ 293 h 2091"/>
                      <a:gd name="T20" fmla="*/ 160 w 1064"/>
                      <a:gd name="T21" fmla="*/ 330 h 2091"/>
                      <a:gd name="T22" fmla="*/ 167 w 1064"/>
                      <a:gd name="T23" fmla="*/ 367 h 2091"/>
                      <a:gd name="T24" fmla="*/ 179 w 1064"/>
                      <a:gd name="T25" fmla="*/ 406 h 2091"/>
                      <a:gd name="T26" fmla="*/ 196 w 1064"/>
                      <a:gd name="T27" fmla="*/ 446 h 2091"/>
                      <a:gd name="T28" fmla="*/ 211 w 1064"/>
                      <a:gd name="T29" fmla="*/ 482 h 2091"/>
                      <a:gd name="T30" fmla="*/ 230 w 1064"/>
                      <a:gd name="T31" fmla="*/ 514 h 2091"/>
                      <a:gd name="T32" fmla="*/ 253 w 1064"/>
                      <a:gd name="T33" fmla="*/ 551 h 2091"/>
                      <a:gd name="T34" fmla="*/ 279 w 1064"/>
                      <a:gd name="T35" fmla="*/ 583 h 209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1"/>
                      <a:gd name="T56" fmla="*/ 1064 w 1064"/>
                      <a:gd name="T57" fmla="*/ 2091 h 209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1">
                        <a:moveTo>
                          <a:pt x="0" y="0"/>
                        </a:moveTo>
                        <a:lnTo>
                          <a:pt x="97" y="69"/>
                        </a:lnTo>
                        <a:lnTo>
                          <a:pt x="182" y="145"/>
                        </a:lnTo>
                        <a:lnTo>
                          <a:pt x="301" y="277"/>
                        </a:lnTo>
                        <a:lnTo>
                          <a:pt x="386" y="394"/>
                        </a:lnTo>
                        <a:lnTo>
                          <a:pt x="466" y="522"/>
                        </a:lnTo>
                        <a:lnTo>
                          <a:pt x="523" y="660"/>
                        </a:lnTo>
                        <a:lnTo>
                          <a:pt x="569" y="797"/>
                        </a:lnTo>
                        <a:lnTo>
                          <a:pt x="595" y="935"/>
                        </a:lnTo>
                        <a:lnTo>
                          <a:pt x="599" y="1052"/>
                        </a:lnTo>
                        <a:lnTo>
                          <a:pt x="610" y="1184"/>
                        </a:lnTo>
                        <a:lnTo>
                          <a:pt x="636" y="1317"/>
                        </a:lnTo>
                        <a:lnTo>
                          <a:pt x="681" y="1457"/>
                        </a:lnTo>
                        <a:lnTo>
                          <a:pt x="747" y="1598"/>
                        </a:lnTo>
                        <a:lnTo>
                          <a:pt x="806" y="1729"/>
                        </a:lnTo>
                        <a:lnTo>
                          <a:pt x="876" y="1844"/>
                        </a:lnTo>
                        <a:lnTo>
                          <a:pt x="965" y="1976"/>
                        </a:lnTo>
                        <a:lnTo>
                          <a:pt x="1064" y="209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2" name="Freeform 91"/>
                  <p:cNvSpPr>
                    <a:spLocks/>
                  </p:cNvSpPr>
                  <p:nvPr/>
                </p:nvSpPr>
                <p:spPr bwMode="auto">
                  <a:xfrm>
                    <a:off x="4399" y="835"/>
                    <a:ext cx="278" cy="585"/>
                  </a:xfrm>
                  <a:custGeom>
                    <a:avLst/>
                    <a:gdLst>
                      <a:gd name="T0" fmla="*/ 0 w 1064"/>
                      <a:gd name="T1" fmla="*/ 0 h 2097"/>
                      <a:gd name="T2" fmla="*/ 36 w 1064"/>
                      <a:gd name="T3" fmla="*/ 25 h 2097"/>
                      <a:gd name="T4" fmla="*/ 63 w 1064"/>
                      <a:gd name="T5" fmla="*/ 51 h 2097"/>
                      <a:gd name="T6" fmla="*/ 94 w 1064"/>
                      <a:gd name="T7" fmla="*/ 87 h 2097"/>
                      <a:gd name="T8" fmla="*/ 116 w 1064"/>
                      <a:gd name="T9" fmla="*/ 117 h 2097"/>
                      <a:gd name="T10" fmla="*/ 138 w 1064"/>
                      <a:gd name="T11" fmla="*/ 155 h 2097"/>
                      <a:gd name="T12" fmla="*/ 154 w 1064"/>
                      <a:gd name="T13" fmla="*/ 191 h 2097"/>
                      <a:gd name="T14" fmla="*/ 166 w 1064"/>
                      <a:gd name="T15" fmla="*/ 229 h 2097"/>
                      <a:gd name="T16" fmla="*/ 172 w 1064"/>
                      <a:gd name="T17" fmla="*/ 268 h 2097"/>
                      <a:gd name="T18" fmla="*/ 173 w 1064"/>
                      <a:gd name="T19" fmla="*/ 300 h 2097"/>
                      <a:gd name="T20" fmla="*/ 176 w 1064"/>
                      <a:gd name="T21" fmla="*/ 337 h 2097"/>
                      <a:gd name="T22" fmla="*/ 183 w 1064"/>
                      <a:gd name="T23" fmla="*/ 374 h 2097"/>
                      <a:gd name="T24" fmla="*/ 195 w 1064"/>
                      <a:gd name="T25" fmla="*/ 413 h 2097"/>
                      <a:gd name="T26" fmla="*/ 205 w 1064"/>
                      <a:gd name="T27" fmla="*/ 447 h 2097"/>
                      <a:gd name="T28" fmla="*/ 219 w 1064"/>
                      <a:gd name="T29" fmla="*/ 483 h 2097"/>
                      <a:gd name="T30" fmla="*/ 231 w 1064"/>
                      <a:gd name="T31" fmla="*/ 516 h 2097"/>
                      <a:gd name="T32" fmla="*/ 249 w 1064"/>
                      <a:gd name="T33" fmla="*/ 546 h 2097"/>
                      <a:gd name="T34" fmla="*/ 278 w 1064"/>
                      <a:gd name="T35" fmla="*/ 585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064"/>
                      <a:gd name="T55" fmla="*/ 0 h 2097"/>
                      <a:gd name="T56" fmla="*/ 1064 w 106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064" h="2097">
                        <a:moveTo>
                          <a:pt x="0" y="0"/>
                        </a:moveTo>
                        <a:lnTo>
                          <a:pt x="139" y="90"/>
                        </a:lnTo>
                        <a:lnTo>
                          <a:pt x="240" y="183"/>
                        </a:lnTo>
                        <a:lnTo>
                          <a:pt x="361" y="311"/>
                        </a:lnTo>
                        <a:lnTo>
                          <a:pt x="444" y="420"/>
                        </a:lnTo>
                        <a:lnTo>
                          <a:pt x="529" y="554"/>
                        </a:lnTo>
                        <a:lnTo>
                          <a:pt x="588" y="686"/>
                        </a:lnTo>
                        <a:lnTo>
                          <a:pt x="634" y="822"/>
                        </a:lnTo>
                        <a:lnTo>
                          <a:pt x="660" y="959"/>
                        </a:lnTo>
                        <a:lnTo>
                          <a:pt x="664" y="1076"/>
                        </a:lnTo>
                        <a:lnTo>
                          <a:pt x="673" y="1209"/>
                        </a:lnTo>
                        <a:lnTo>
                          <a:pt x="699" y="1341"/>
                        </a:lnTo>
                        <a:lnTo>
                          <a:pt x="745" y="1482"/>
                        </a:lnTo>
                        <a:lnTo>
                          <a:pt x="784" y="1601"/>
                        </a:lnTo>
                        <a:lnTo>
                          <a:pt x="838" y="1730"/>
                        </a:lnTo>
                        <a:lnTo>
                          <a:pt x="886" y="1850"/>
                        </a:lnTo>
                        <a:lnTo>
                          <a:pt x="953" y="1958"/>
                        </a:lnTo>
                        <a:lnTo>
                          <a:pt x="1064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3" name="Freeform 92"/>
                  <p:cNvSpPr>
                    <a:spLocks/>
                  </p:cNvSpPr>
                  <p:nvPr/>
                </p:nvSpPr>
                <p:spPr bwMode="auto">
                  <a:xfrm>
                    <a:off x="4059" y="844"/>
                    <a:ext cx="219" cy="582"/>
                  </a:xfrm>
                  <a:custGeom>
                    <a:avLst/>
                    <a:gdLst>
                      <a:gd name="T0" fmla="*/ 219 w 836"/>
                      <a:gd name="T1" fmla="*/ 0 h 2087"/>
                      <a:gd name="T2" fmla="*/ 195 w 836"/>
                      <a:gd name="T3" fmla="*/ 29 h 2087"/>
                      <a:gd name="T4" fmla="*/ 168 w 836"/>
                      <a:gd name="T5" fmla="*/ 67 h 2087"/>
                      <a:gd name="T6" fmla="*/ 148 w 836"/>
                      <a:gd name="T7" fmla="*/ 100 h 2087"/>
                      <a:gd name="T8" fmla="*/ 128 w 836"/>
                      <a:gd name="T9" fmla="*/ 138 h 2087"/>
                      <a:gd name="T10" fmla="*/ 113 w 836"/>
                      <a:gd name="T11" fmla="*/ 172 h 2087"/>
                      <a:gd name="T12" fmla="*/ 95 w 836"/>
                      <a:gd name="T13" fmla="*/ 212 h 2087"/>
                      <a:gd name="T14" fmla="*/ 85 w 836"/>
                      <a:gd name="T15" fmla="*/ 250 h 2087"/>
                      <a:gd name="T16" fmla="*/ 81 w 836"/>
                      <a:gd name="T17" fmla="*/ 283 h 2087"/>
                      <a:gd name="T18" fmla="*/ 76 w 836"/>
                      <a:gd name="T19" fmla="*/ 321 h 2087"/>
                      <a:gd name="T20" fmla="*/ 71 w 836"/>
                      <a:gd name="T21" fmla="*/ 359 h 2087"/>
                      <a:gd name="T22" fmla="*/ 62 w 836"/>
                      <a:gd name="T23" fmla="*/ 399 h 2087"/>
                      <a:gd name="T24" fmla="*/ 54 w 836"/>
                      <a:gd name="T25" fmla="*/ 435 h 2087"/>
                      <a:gd name="T26" fmla="*/ 45 w 836"/>
                      <a:gd name="T27" fmla="*/ 474 h 2087"/>
                      <a:gd name="T28" fmla="*/ 36 w 836"/>
                      <a:gd name="T29" fmla="*/ 507 h 2087"/>
                      <a:gd name="T30" fmla="*/ 25 w 836"/>
                      <a:gd name="T31" fmla="*/ 534 h 2087"/>
                      <a:gd name="T32" fmla="*/ 13 w 836"/>
                      <a:gd name="T33" fmla="*/ 556 h 2087"/>
                      <a:gd name="T34" fmla="*/ 0 w 836"/>
                      <a:gd name="T35" fmla="*/ 582 h 208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836"/>
                      <a:gd name="T55" fmla="*/ 0 h 2087"/>
                      <a:gd name="T56" fmla="*/ 836 w 836"/>
                      <a:gd name="T57" fmla="*/ 2087 h 208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836" h="2087">
                        <a:moveTo>
                          <a:pt x="836" y="0"/>
                        </a:moveTo>
                        <a:lnTo>
                          <a:pt x="743" y="103"/>
                        </a:lnTo>
                        <a:lnTo>
                          <a:pt x="640" y="239"/>
                        </a:lnTo>
                        <a:lnTo>
                          <a:pt x="565" y="357"/>
                        </a:lnTo>
                        <a:lnTo>
                          <a:pt x="489" y="495"/>
                        </a:lnTo>
                        <a:lnTo>
                          <a:pt x="432" y="618"/>
                        </a:lnTo>
                        <a:lnTo>
                          <a:pt x="364" y="759"/>
                        </a:lnTo>
                        <a:lnTo>
                          <a:pt x="325" y="896"/>
                        </a:lnTo>
                        <a:lnTo>
                          <a:pt x="311" y="1015"/>
                        </a:lnTo>
                        <a:lnTo>
                          <a:pt x="289" y="1151"/>
                        </a:lnTo>
                        <a:lnTo>
                          <a:pt x="271" y="1288"/>
                        </a:lnTo>
                        <a:lnTo>
                          <a:pt x="235" y="1429"/>
                        </a:lnTo>
                        <a:lnTo>
                          <a:pt x="205" y="1561"/>
                        </a:lnTo>
                        <a:lnTo>
                          <a:pt x="170" y="1699"/>
                        </a:lnTo>
                        <a:lnTo>
                          <a:pt x="138" y="1819"/>
                        </a:lnTo>
                        <a:lnTo>
                          <a:pt x="94" y="1915"/>
                        </a:lnTo>
                        <a:lnTo>
                          <a:pt x="49" y="1995"/>
                        </a:lnTo>
                        <a:lnTo>
                          <a:pt x="0" y="208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4" name="Freeform 93"/>
                  <p:cNvSpPr>
                    <a:spLocks/>
                  </p:cNvSpPr>
                  <p:nvPr/>
                </p:nvSpPr>
                <p:spPr bwMode="auto">
                  <a:xfrm>
                    <a:off x="4173" y="837"/>
                    <a:ext cx="126" cy="339"/>
                  </a:xfrm>
                  <a:custGeom>
                    <a:avLst/>
                    <a:gdLst>
                      <a:gd name="T0" fmla="*/ 126 w 480"/>
                      <a:gd name="T1" fmla="*/ 0 h 1214"/>
                      <a:gd name="T2" fmla="*/ 93 w 480"/>
                      <a:gd name="T3" fmla="*/ 44 h 1214"/>
                      <a:gd name="T4" fmla="*/ 72 w 480"/>
                      <a:gd name="T5" fmla="*/ 76 h 1214"/>
                      <a:gd name="T6" fmla="*/ 58 w 480"/>
                      <a:gd name="T7" fmla="*/ 107 h 1214"/>
                      <a:gd name="T8" fmla="*/ 41 w 480"/>
                      <a:gd name="T9" fmla="*/ 144 h 1214"/>
                      <a:gd name="T10" fmla="*/ 25 w 480"/>
                      <a:gd name="T11" fmla="*/ 183 h 1214"/>
                      <a:gd name="T12" fmla="*/ 13 w 480"/>
                      <a:gd name="T13" fmla="*/ 220 h 1214"/>
                      <a:gd name="T14" fmla="*/ 4 w 480"/>
                      <a:gd name="T15" fmla="*/ 259 h 1214"/>
                      <a:gd name="T16" fmla="*/ 1 w 480"/>
                      <a:gd name="T17" fmla="*/ 288 h 1214"/>
                      <a:gd name="T18" fmla="*/ 0 w 480"/>
                      <a:gd name="T19" fmla="*/ 339 h 121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480"/>
                      <a:gd name="T31" fmla="*/ 0 h 1214"/>
                      <a:gd name="T32" fmla="*/ 480 w 480"/>
                      <a:gd name="T33" fmla="*/ 1214 h 121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480" h="1214">
                        <a:moveTo>
                          <a:pt x="480" y="0"/>
                        </a:moveTo>
                        <a:lnTo>
                          <a:pt x="356" y="156"/>
                        </a:lnTo>
                        <a:lnTo>
                          <a:pt x="276" y="273"/>
                        </a:lnTo>
                        <a:lnTo>
                          <a:pt x="222" y="382"/>
                        </a:lnTo>
                        <a:lnTo>
                          <a:pt x="156" y="514"/>
                        </a:lnTo>
                        <a:lnTo>
                          <a:pt x="97" y="657"/>
                        </a:lnTo>
                        <a:lnTo>
                          <a:pt x="49" y="789"/>
                        </a:lnTo>
                        <a:lnTo>
                          <a:pt x="14" y="927"/>
                        </a:lnTo>
                        <a:lnTo>
                          <a:pt x="4" y="1030"/>
                        </a:lnTo>
                        <a:lnTo>
                          <a:pt x="0" y="1214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5" name="Freeform 94"/>
                  <p:cNvSpPr>
                    <a:spLocks/>
                  </p:cNvSpPr>
                  <p:nvPr/>
                </p:nvSpPr>
                <p:spPr bwMode="auto">
                  <a:xfrm>
                    <a:off x="4208" y="836"/>
                    <a:ext cx="102" cy="587"/>
                  </a:xfrm>
                  <a:custGeom>
                    <a:avLst/>
                    <a:gdLst>
                      <a:gd name="T0" fmla="*/ 102 w 392"/>
                      <a:gd name="T1" fmla="*/ 0 h 2102"/>
                      <a:gd name="T2" fmla="*/ 91 w 392"/>
                      <a:gd name="T3" fmla="*/ 16 h 2102"/>
                      <a:gd name="T4" fmla="*/ 74 w 392"/>
                      <a:gd name="T5" fmla="*/ 44 h 2102"/>
                      <a:gd name="T6" fmla="*/ 57 w 392"/>
                      <a:gd name="T7" fmla="*/ 75 h 2102"/>
                      <a:gd name="T8" fmla="*/ 42 w 392"/>
                      <a:gd name="T9" fmla="*/ 109 h 2102"/>
                      <a:gd name="T10" fmla="*/ 29 w 392"/>
                      <a:gd name="T11" fmla="*/ 147 h 2102"/>
                      <a:gd name="T12" fmla="*/ 17 w 392"/>
                      <a:gd name="T13" fmla="*/ 185 h 2102"/>
                      <a:gd name="T14" fmla="*/ 7 w 392"/>
                      <a:gd name="T15" fmla="*/ 220 h 2102"/>
                      <a:gd name="T16" fmla="*/ 2 w 392"/>
                      <a:gd name="T17" fmla="*/ 255 h 2102"/>
                      <a:gd name="T18" fmla="*/ 0 w 392"/>
                      <a:gd name="T19" fmla="*/ 293 h 2102"/>
                      <a:gd name="T20" fmla="*/ 1 w 392"/>
                      <a:gd name="T21" fmla="*/ 330 h 2102"/>
                      <a:gd name="T22" fmla="*/ 4 w 392"/>
                      <a:gd name="T23" fmla="*/ 365 h 2102"/>
                      <a:gd name="T24" fmla="*/ 13 w 392"/>
                      <a:gd name="T25" fmla="*/ 407 h 2102"/>
                      <a:gd name="T26" fmla="*/ 21 w 392"/>
                      <a:gd name="T27" fmla="*/ 444 h 2102"/>
                      <a:gd name="T28" fmla="*/ 29 w 392"/>
                      <a:gd name="T29" fmla="*/ 486 h 2102"/>
                      <a:gd name="T30" fmla="*/ 42 w 392"/>
                      <a:gd name="T31" fmla="*/ 519 h 2102"/>
                      <a:gd name="T32" fmla="*/ 51 w 392"/>
                      <a:gd name="T33" fmla="*/ 545 h 2102"/>
                      <a:gd name="T34" fmla="*/ 69 w 392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92"/>
                      <a:gd name="T55" fmla="*/ 0 h 2102"/>
                      <a:gd name="T56" fmla="*/ 392 w 392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92" h="2102">
                        <a:moveTo>
                          <a:pt x="392" y="0"/>
                        </a:moveTo>
                        <a:lnTo>
                          <a:pt x="351" y="57"/>
                        </a:lnTo>
                        <a:lnTo>
                          <a:pt x="285" y="156"/>
                        </a:lnTo>
                        <a:lnTo>
                          <a:pt x="218" y="269"/>
                        </a:lnTo>
                        <a:lnTo>
                          <a:pt x="160" y="391"/>
                        </a:lnTo>
                        <a:lnTo>
                          <a:pt x="111" y="525"/>
                        </a:lnTo>
                        <a:lnTo>
                          <a:pt x="67" y="662"/>
                        </a:lnTo>
                        <a:lnTo>
                          <a:pt x="27" y="789"/>
                        </a:lnTo>
                        <a:lnTo>
                          <a:pt x="9" y="912"/>
                        </a:lnTo>
                        <a:lnTo>
                          <a:pt x="0" y="1049"/>
                        </a:lnTo>
                        <a:lnTo>
                          <a:pt x="5" y="1181"/>
                        </a:lnTo>
                        <a:lnTo>
                          <a:pt x="17" y="1307"/>
                        </a:lnTo>
                        <a:lnTo>
                          <a:pt x="49" y="1458"/>
                        </a:lnTo>
                        <a:lnTo>
                          <a:pt x="80" y="1590"/>
                        </a:lnTo>
                        <a:lnTo>
                          <a:pt x="111" y="1740"/>
                        </a:lnTo>
                        <a:lnTo>
                          <a:pt x="160" y="1859"/>
                        </a:lnTo>
                        <a:lnTo>
                          <a:pt x="196" y="1953"/>
                        </a:lnTo>
                        <a:lnTo>
                          <a:pt x="267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6" name="Freeform 95"/>
                  <p:cNvSpPr>
                    <a:spLocks/>
                  </p:cNvSpPr>
                  <p:nvPr/>
                </p:nvSpPr>
                <p:spPr bwMode="auto">
                  <a:xfrm>
                    <a:off x="4240" y="836"/>
                    <a:ext cx="82" cy="587"/>
                  </a:xfrm>
                  <a:custGeom>
                    <a:avLst/>
                    <a:gdLst>
                      <a:gd name="T0" fmla="*/ 82 w 311"/>
                      <a:gd name="T1" fmla="*/ 0 h 2102"/>
                      <a:gd name="T2" fmla="*/ 73 w 311"/>
                      <a:gd name="T3" fmla="*/ 16 h 2102"/>
                      <a:gd name="T4" fmla="*/ 59 w 311"/>
                      <a:gd name="T5" fmla="*/ 44 h 2102"/>
                      <a:gd name="T6" fmla="*/ 41 w 311"/>
                      <a:gd name="T7" fmla="*/ 79 h 2102"/>
                      <a:gd name="T8" fmla="*/ 32 w 311"/>
                      <a:gd name="T9" fmla="*/ 111 h 2102"/>
                      <a:gd name="T10" fmla="*/ 22 w 311"/>
                      <a:gd name="T11" fmla="*/ 148 h 2102"/>
                      <a:gd name="T12" fmla="*/ 13 w 311"/>
                      <a:gd name="T13" fmla="*/ 181 h 2102"/>
                      <a:gd name="T14" fmla="*/ 7 w 311"/>
                      <a:gd name="T15" fmla="*/ 217 h 2102"/>
                      <a:gd name="T16" fmla="*/ 2 w 311"/>
                      <a:gd name="T17" fmla="*/ 253 h 2102"/>
                      <a:gd name="T18" fmla="*/ 0 w 311"/>
                      <a:gd name="T19" fmla="*/ 293 h 2102"/>
                      <a:gd name="T20" fmla="*/ 0 w 311"/>
                      <a:gd name="T21" fmla="*/ 327 h 2102"/>
                      <a:gd name="T22" fmla="*/ 3 w 311"/>
                      <a:gd name="T23" fmla="*/ 367 h 2102"/>
                      <a:gd name="T24" fmla="*/ 9 w 311"/>
                      <a:gd name="T25" fmla="*/ 407 h 2102"/>
                      <a:gd name="T26" fmla="*/ 15 w 311"/>
                      <a:gd name="T27" fmla="*/ 444 h 2102"/>
                      <a:gd name="T28" fmla="*/ 19 w 311"/>
                      <a:gd name="T29" fmla="*/ 483 h 2102"/>
                      <a:gd name="T30" fmla="*/ 27 w 311"/>
                      <a:gd name="T31" fmla="*/ 516 h 2102"/>
                      <a:gd name="T32" fmla="*/ 35 w 311"/>
                      <a:gd name="T33" fmla="*/ 545 h 2102"/>
                      <a:gd name="T34" fmla="*/ 46 w 311"/>
                      <a:gd name="T35" fmla="*/ 587 h 2102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311"/>
                      <a:gd name="T55" fmla="*/ 0 h 2102"/>
                      <a:gd name="T56" fmla="*/ 311 w 311"/>
                      <a:gd name="T57" fmla="*/ 2102 h 2102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311" h="2102">
                        <a:moveTo>
                          <a:pt x="311" y="0"/>
                        </a:moveTo>
                        <a:lnTo>
                          <a:pt x="275" y="57"/>
                        </a:lnTo>
                        <a:lnTo>
                          <a:pt x="222" y="156"/>
                        </a:lnTo>
                        <a:lnTo>
                          <a:pt x="156" y="283"/>
                        </a:lnTo>
                        <a:lnTo>
                          <a:pt x="120" y="397"/>
                        </a:lnTo>
                        <a:lnTo>
                          <a:pt x="85" y="530"/>
                        </a:lnTo>
                        <a:lnTo>
                          <a:pt x="49" y="648"/>
                        </a:lnTo>
                        <a:lnTo>
                          <a:pt x="27" y="776"/>
                        </a:lnTo>
                        <a:lnTo>
                          <a:pt x="9" y="906"/>
                        </a:lnTo>
                        <a:lnTo>
                          <a:pt x="0" y="1049"/>
                        </a:lnTo>
                        <a:lnTo>
                          <a:pt x="0" y="1171"/>
                        </a:lnTo>
                        <a:lnTo>
                          <a:pt x="13" y="1313"/>
                        </a:lnTo>
                        <a:lnTo>
                          <a:pt x="35" y="1458"/>
                        </a:lnTo>
                        <a:lnTo>
                          <a:pt x="57" y="1590"/>
                        </a:lnTo>
                        <a:lnTo>
                          <a:pt x="71" y="1730"/>
                        </a:lnTo>
                        <a:lnTo>
                          <a:pt x="103" y="1846"/>
                        </a:lnTo>
                        <a:lnTo>
                          <a:pt x="133" y="1953"/>
                        </a:lnTo>
                        <a:lnTo>
                          <a:pt x="174" y="2102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7" name="Freeform 96"/>
                  <p:cNvSpPr>
                    <a:spLocks/>
                  </p:cNvSpPr>
                  <p:nvPr/>
                </p:nvSpPr>
                <p:spPr bwMode="auto">
                  <a:xfrm>
                    <a:off x="4274" y="837"/>
                    <a:ext cx="53" cy="586"/>
                  </a:xfrm>
                  <a:custGeom>
                    <a:avLst/>
                    <a:gdLst>
                      <a:gd name="T0" fmla="*/ 53 w 204"/>
                      <a:gd name="T1" fmla="*/ 0 h 2097"/>
                      <a:gd name="T2" fmla="*/ 45 w 204"/>
                      <a:gd name="T3" fmla="*/ 16 h 2097"/>
                      <a:gd name="T4" fmla="*/ 36 w 204"/>
                      <a:gd name="T5" fmla="*/ 45 h 2097"/>
                      <a:gd name="T6" fmla="*/ 26 w 204"/>
                      <a:gd name="T7" fmla="*/ 77 h 2097"/>
                      <a:gd name="T8" fmla="*/ 21 w 204"/>
                      <a:gd name="T9" fmla="*/ 107 h 2097"/>
                      <a:gd name="T10" fmla="*/ 15 w 204"/>
                      <a:gd name="T11" fmla="*/ 147 h 2097"/>
                      <a:gd name="T12" fmla="*/ 10 w 204"/>
                      <a:gd name="T13" fmla="*/ 186 h 2097"/>
                      <a:gd name="T14" fmla="*/ 7 w 204"/>
                      <a:gd name="T15" fmla="*/ 215 h 2097"/>
                      <a:gd name="T16" fmla="*/ 3 w 204"/>
                      <a:gd name="T17" fmla="*/ 252 h 2097"/>
                      <a:gd name="T18" fmla="*/ 0 w 204"/>
                      <a:gd name="T19" fmla="*/ 292 h 2097"/>
                      <a:gd name="T20" fmla="*/ 0 w 204"/>
                      <a:gd name="T21" fmla="*/ 330 h 2097"/>
                      <a:gd name="T22" fmla="*/ 0 w 204"/>
                      <a:gd name="T23" fmla="*/ 364 h 2097"/>
                      <a:gd name="T24" fmla="*/ 2 w 204"/>
                      <a:gd name="T25" fmla="*/ 401 h 2097"/>
                      <a:gd name="T26" fmla="*/ 4 w 204"/>
                      <a:gd name="T27" fmla="*/ 442 h 2097"/>
                      <a:gd name="T28" fmla="*/ 8 w 204"/>
                      <a:gd name="T29" fmla="*/ 478 h 2097"/>
                      <a:gd name="T30" fmla="*/ 14 w 204"/>
                      <a:gd name="T31" fmla="*/ 517 h 2097"/>
                      <a:gd name="T32" fmla="*/ 16 w 204"/>
                      <a:gd name="T33" fmla="*/ 545 h 2097"/>
                      <a:gd name="T34" fmla="*/ 19 w 204"/>
                      <a:gd name="T35" fmla="*/ 586 h 2097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204"/>
                      <a:gd name="T55" fmla="*/ 0 h 2097"/>
                      <a:gd name="T56" fmla="*/ 204 w 204"/>
                      <a:gd name="T57" fmla="*/ 2097 h 2097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204" h="2097">
                        <a:moveTo>
                          <a:pt x="204" y="0"/>
                        </a:moveTo>
                        <a:lnTo>
                          <a:pt x="174" y="57"/>
                        </a:lnTo>
                        <a:lnTo>
                          <a:pt x="138" y="161"/>
                        </a:lnTo>
                        <a:lnTo>
                          <a:pt x="102" y="275"/>
                        </a:lnTo>
                        <a:lnTo>
                          <a:pt x="81" y="382"/>
                        </a:lnTo>
                        <a:lnTo>
                          <a:pt x="57" y="526"/>
                        </a:lnTo>
                        <a:lnTo>
                          <a:pt x="39" y="667"/>
                        </a:lnTo>
                        <a:lnTo>
                          <a:pt x="27" y="771"/>
                        </a:lnTo>
                        <a:lnTo>
                          <a:pt x="13" y="903"/>
                        </a:lnTo>
                        <a:lnTo>
                          <a:pt x="0" y="1044"/>
                        </a:lnTo>
                        <a:lnTo>
                          <a:pt x="0" y="1181"/>
                        </a:lnTo>
                        <a:lnTo>
                          <a:pt x="0" y="1304"/>
                        </a:lnTo>
                        <a:lnTo>
                          <a:pt x="9" y="1435"/>
                        </a:lnTo>
                        <a:lnTo>
                          <a:pt x="17" y="1581"/>
                        </a:lnTo>
                        <a:lnTo>
                          <a:pt x="31" y="1712"/>
                        </a:lnTo>
                        <a:lnTo>
                          <a:pt x="53" y="1850"/>
                        </a:lnTo>
                        <a:lnTo>
                          <a:pt x="63" y="1949"/>
                        </a:lnTo>
                        <a:lnTo>
                          <a:pt x="75" y="2097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8" name="Freeform 97"/>
                  <p:cNvSpPr>
                    <a:spLocks/>
                  </p:cNvSpPr>
                  <p:nvPr/>
                </p:nvSpPr>
                <p:spPr bwMode="auto">
                  <a:xfrm>
                    <a:off x="4302" y="837"/>
                    <a:ext cx="32" cy="589"/>
                  </a:xfrm>
                  <a:custGeom>
                    <a:avLst/>
                    <a:gdLst>
                      <a:gd name="T0" fmla="*/ 32 w 120"/>
                      <a:gd name="T1" fmla="*/ 0 h 2111"/>
                      <a:gd name="T2" fmla="*/ 26 w 120"/>
                      <a:gd name="T3" fmla="*/ 18 h 2111"/>
                      <a:gd name="T4" fmla="*/ 19 w 120"/>
                      <a:gd name="T5" fmla="*/ 46 h 2111"/>
                      <a:gd name="T6" fmla="*/ 14 w 120"/>
                      <a:gd name="T7" fmla="*/ 78 h 2111"/>
                      <a:gd name="T8" fmla="*/ 12 w 120"/>
                      <a:gd name="T9" fmla="*/ 107 h 2111"/>
                      <a:gd name="T10" fmla="*/ 12 w 120"/>
                      <a:gd name="T11" fmla="*/ 142 h 2111"/>
                      <a:gd name="T12" fmla="*/ 9 w 120"/>
                      <a:gd name="T13" fmla="*/ 178 h 2111"/>
                      <a:gd name="T14" fmla="*/ 9 w 120"/>
                      <a:gd name="T15" fmla="*/ 215 h 2111"/>
                      <a:gd name="T16" fmla="*/ 8 w 120"/>
                      <a:gd name="T17" fmla="*/ 249 h 2111"/>
                      <a:gd name="T18" fmla="*/ 7 w 120"/>
                      <a:gd name="T19" fmla="*/ 287 h 2111"/>
                      <a:gd name="T20" fmla="*/ 6 w 120"/>
                      <a:gd name="T21" fmla="*/ 328 h 2111"/>
                      <a:gd name="T22" fmla="*/ 3 w 120"/>
                      <a:gd name="T23" fmla="*/ 365 h 2111"/>
                      <a:gd name="T24" fmla="*/ 3 w 120"/>
                      <a:gd name="T25" fmla="*/ 403 h 2111"/>
                      <a:gd name="T26" fmla="*/ 3 w 120"/>
                      <a:gd name="T27" fmla="*/ 442 h 2111"/>
                      <a:gd name="T28" fmla="*/ 2 w 120"/>
                      <a:gd name="T29" fmla="*/ 480 h 2111"/>
                      <a:gd name="T30" fmla="*/ 3 w 120"/>
                      <a:gd name="T31" fmla="*/ 514 h 2111"/>
                      <a:gd name="T32" fmla="*/ 2 w 120"/>
                      <a:gd name="T33" fmla="*/ 547 h 2111"/>
                      <a:gd name="T34" fmla="*/ 0 w 120"/>
                      <a:gd name="T35" fmla="*/ 589 h 2111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w 120"/>
                      <a:gd name="T55" fmla="*/ 0 h 2111"/>
                      <a:gd name="T56" fmla="*/ 120 w 120"/>
                      <a:gd name="T57" fmla="*/ 2111 h 2111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T54" t="T55" r="T56" b="T57"/>
                    <a:pathLst>
                      <a:path w="120" h="2111">
                        <a:moveTo>
                          <a:pt x="120" y="0"/>
                        </a:moveTo>
                        <a:lnTo>
                          <a:pt x="98" y="66"/>
                        </a:lnTo>
                        <a:lnTo>
                          <a:pt x="71" y="165"/>
                        </a:lnTo>
                        <a:lnTo>
                          <a:pt x="53" y="278"/>
                        </a:lnTo>
                        <a:lnTo>
                          <a:pt x="45" y="382"/>
                        </a:lnTo>
                        <a:lnTo>
                          <a:pt x="45" y="509"/>
                        </a:lnTo>
                        <a:lnTo>
                          <a:pt x="35" y="639"/>
                        </a:lnTo>
                        <a:lnTo>
                          <a:pt x="35" y="771"/>
                        </a:lnTo>
                        <a:lnTo>
                          <a:pt x="31" y="893"/>
                        </a:lnTo>
                        <a:lnTo>
                          <a:pt x="27" y="1029"/>
                        </a:lnTo>
                        <a:lnTo>
                          <a:pt x="23" y="1176"/>
                        </a:lnTo>
                        <a:lnTo>
                          <a:pt x="13" y="1308"/>
                        </a:lnTo>
                        <a:lnTo>
                          <a:pt x="13" y="1445"/>
                        </a:lnTo>
                        <a:lnTo>
                          <a:pt x="13" y="1585"/>
                        </a:lnTo>
                        <a:lnTo>
                          <a:pt x="9" y="1720"/>
                        </a:lnTo>
                        <a:lnTo>
                          <a:pt x="13" y="1841"/>
                        </a:lnTo>
                        <a:lnTo>
                          <a:pt x="9" y="1959"/>
                        </a:lnTo>
                        <a:lnTo>
                          <a:pt x="0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09" name="Freeform 98"/>
                  <p:cNvSpPr>
                    <a:spLocks/>
                  </p:cNvSpPr>
                  <p:nvPr/>
                </p:nvSpPr>
                <p:spPr bwMode="auto">
                  <a:xfrm>
                    <a:off x="3910" y="837"/>
                    <a:ext cx="100" cy="584"/>
                  </a:xfrm>
                  <a:custGeom>
                    <a:avLst/>
                    <a:gdLst>
                      <a:gd name="T0" fmla="*/ 0 w 383"/>
                      <a:gd name="T1" fmla="*/ 0 h 2088"/>
                      <a:gd name="T2" fmla="*/ 4 w 383"/>
                      <a:gd name="T3" fmla="*/ 15 h 2088"/>
                      <a:gd name="T4" fmla="*/ 8 w 383"/>
                      <a:gd name="T5" fmla="*/ 45 h 2088"/>
                      <a:gd name="T6" fmla="*/ 12 w 383"/>
                      <a:gd name="T7" fmla="*/ 77 h 2088"/>
                      <a:gd name="T8" fmla="*/ 19 w 383"/>
                      <a:gd name="T9" fmla="*/ 119 h 2088"/>
                      <a:gd name="T10" fmla="*/ 22 w 383"/>
                      <a:gd name="T11" fmla="*/ 180 h 2088"/>
                      <a:gd name="T12" fmla="*/ 25 w 383"/>
                      <a:gd name="T13" fmla="*/ 217 h 2088"/>
                      <a:gd name="T14" fmla="*/ 26 w 383"/>
                      <a:gd name="T15" fmla="*/ 253 h 2088"/>
                      <a:gd name="T16" fmla="*/ 27 w 383"/>
                      <a:gd name="T17" fmla="*/ 288 h 2088"/>
                      <a:gd name="T18" fmla="*/ 30 w 383"/>
                      <a:gd name="T19" fmla="*/ 326 h 2088"/>
                      <a:gd name="T20" fmla="*/ 33 w 383"/>
                      <a:gd name="T21" fmla="*/ 363 h 2088"/>
                      <a:gd name="T22" fmla="*/ 39 w 383"/>
                      <a:gd name="T23" fmla="*/ 402 h 2088"/>
                      <a:gd name="T24" fmla="*/ 48 w 383"/>
                      <a:gd name="T25" fmla="*/ 442 h 2088"/>
                      <a:gd name="T26" fmla="*/ 57 w 383"/>
                      <a:gd name="T27" fmla="*/ 483 h 2088"/>
                      <a:gd name="T28" fmla="*/ 66 w 383"/>
                      <a:gd name="T29" fmla="*/ 514 h 2088"/>
                      <a:gd name="T30" fmla="*/ 79 w 383"/>
                      <a:gd name="T31" fmla="*/ 545 h 2088"/>
                      <a:gd name="T32" fmla="*/ 100 w 383"/>
                      <a:gd name="T33" fmla="*/ 584 h 2088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383"/>
                      <a:gd name="T52" fmla="*/ 0 h 2088"/>
                      <a:gd name="T53" fmla="*/ 383 w 383"/>
                      <a:gd name="T54" fmla="*/ 2088 h 2088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383" h="2088">
                        <a:moveTo>
                          <a:pt x="0" y="0"/>
                        </a:moveTo>
                        <a:lnTo>
                          <a:pt x="14" y="52"/>
                        </a:lnTo>
                        <a:lnTo>
                          <a:pt x="32" y="161"/>
                        </a:lnTo>
                        <a:lnTo>
                          <a:pt x="45" y="274"/>
                        </a:lnTo>
                        <a:lnTo>
                          <a:pt x="71" y="425"/>
                        </a:lnTo>
                        <a:lnTo>
                          <a:pt x="85" y="643"/>
                        </a:lnTo>
                        <a:lnTo>
                          <a:pt x="95" y="775"/>
                        </a:lnTo>
                        <a:lnTo>
                          <a:pt x="100" y="903"/>
                        </a:lnTo>
                        <a:lnTo>
                          <a:pt x="104" y="1029"/>
                        </a:lnTo>
                        <a:lnTo>
                          <a:pt x="113" y="1166"/>
                        </a:lnTo>
                        <a:lnTo>
                          <a:pt x="128" y="1299"/>
                        </a:lnTo>
                        <a:lnTo>
                          <a:pt x="150" y="1437"/>
                        </a:lnTo>
                        <a:lnTo>
                          <a:pt x="185" y="1582"/>
                        </a:lnTo>
                        <a:lnTo>
                          <a:pt x="217" y="1726"/>
                        </a:lnTo>
                        <a:lnTo>
                          <a:pt x="252" y="1839"/>
                        </a:lnTo>
                        <a:lnTo>
                          <a:pt x="303" y="1947"/>
                        </a:lnTo>
                        <a:lnTo>
                          <a:pt x="383" y="2088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0" name="Freeform 99"/>
                  <p:cNvSpPr>
                    <a:spLocks/>
                  </p:cNvSpPr>
                  <p:nvPr/>
                </p:nvSpPr>
                <p:spPr bwMode="auto">
                  <a:xfrm>
                    <a:off x="3914" y="839"/>
                    <a:ext cx="111" cy="589"/>
                  </a:xfrm>
                  <a:custGeom>
                    <a:avLst/>
                    <a:gdLst>
                      <a:gd name="T0" fmla="*/ 0 w 423"/>
                      <a:gd name="T1" fmla="*/ 0 h 2111"/>
                      <a:gd name="T2" fmla="*/ 12 w 423"/>
                      <a:gd name="T3" fmla="*/ 21 h 2111"/>
                      <a:gd name="T4" fmla="*/ 22 w 423"/>
                      <a:gd name="T5" fmla="*/ 41 h 2111"/>
                      <a:gd name="T6" fmla="*/ 31 w 423"/>
                      <a:gd name="T7" fmla="*/ 73 h 2111"/>
                      <a:gd name="T8" fmla="*/ 46 w 423"/>
                      <a:gd name="T9" fmla="*/ 142 h 2111"/>
                      <a:gd name="T10" fmla="*/ 49 w 423"/>
                      <a:gd name="T11" fmla="*/ 177 h 2111"/>
                      <a:gd name="T12" fmla="*/ 53 w 423"/>
                      <a:gd name="T13" fmla="*/ 215 h 2111"/>
                      <a:gd name="T14" fmla="*/ 56 w 423"/>
                      <a:gd name="T15" fmla="*/ 254 h 2111"/>
                      <a:gd name="T16" fmla="*/ 59 w 423"/>
                      <a:gd name="T17" fmla="*/ 291 h 2111"/>
                      <a:gd name="T18" fmla="*/ 59 w 423"/>
                      <a:gd name="T19" fmla="*/ 324 h 2111"/>
                      <a:gd name="T20" fmla="*/ 62 w 423"/>
                      <a:gd name="T21" fmla="*/ 363 h 2111"/>
                      <a:gd name="T22" fmla="*/ 66 w 423"/>
                      <a:gd name="T23" fmla="*/ 403 h 2111"/>
                      <a:gd name="T24" fmla="*/ 71 w 423"/>
                      <a:gd name="T25" fmla="*/ 442 h 2111"/>
                      <a:gd name="T26" fmla="*/ 76 w 423"/>
                      <a:gd name="T27" fmla="*/ 477 h 2111"/>
                      <a:gd name="T28" fmla="*/ 83 w 423"/>
                      <a:gd name="T29" fmla="*/ 515 h 2111"/>
                      <a:gd name="T30" fmla="*/ 92 w 423"/>
                      <a:gd name="T31" fmla="*/ 542 h 2111"/>
                      <a:gd name="T32" fmla="*/ 111 w 423"/>
                      <a:gd name="T33" fmla="*/ 589 h 2111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w 423"/>
                      <a:gd name="T52" fmla="*/ 0 h 2111"/>
                      <a:gd name="T53" fmla="*/ 423 w 423"/>
                      <a:gd name="T54" fmla="*/ 2111 h 2111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T51" t="T52" r="T53" b="T54"/>
                    <a:pathLst>
                      <a:path w="423" h="2111">
                        <a:moveTo>
                          <a:pt x="0" y="0"/>
                        </a:moveTo>
                        <a:lnTo>
                          <a:pt x="45" y="76"/>
                        </a:lnTo>
                        <a:lnTo>
                          <a:pt x="82" y="147"/>
                        </a:lnTo>
                        <a:lnTo>
                          <a:pt x="117" y="260"/>
                        </a:lnTo>
                        <a:lnTo>
                          <a:pt x="175" y="510"/>
                        </a:lnTo>
                        <a:lnTo>
                          <a:pt x="187" y="635"/>
                        </a:lnTo>
                        <a:lnTo>
                          <a:pt x="201" y="771"/>
                        </a:lnTo>
                        <a:lnTo>
                          <a:pt x="215" y="912"/>
                        </a:lnTo>
                        <a:lnTo>
                          <a:pt x="223" y="1044"/>
                        </a:lnTo>
                        <a:lnTo>
                          <a:pt x="223" y="1162"/>
                        </a:lnTo>
                        <a:lnTo>
                          <a:pt x="237" y="1301"/>
                        </a:lnTo>
                        <a:lnTo>
                          <a:pt x="251" y="1446"/>
                        </a:lnTo>
                        <a:lnTo>
                          <a:pt x="272" y="1583"/>
                        </a:lnTo>
                        <a:lnTo>
                          <a:pt x="290" y="1708"/>
                        </a:lnTo>
                        <a:lnTo>
                          <a:pt x="316" y="1844"/>
                        </a:lnTo>
                        <a:lnTo>
                          <a:pt x="352" y="1943"/>
                        </a:lnTo>
                        <a:lnTo>
                          <a:pt x="423" y="211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1" name="Freeform 100"/>
                  <p:cNvSpPr>
                    <a:spLocks/>
                  </p:cNvSpPr>
                  <p:nvPr/>
                </p:nvSpPr>
                <p:spPr bwMode="auto">
                  <a:xfrm>
                    <a:off x="3924" y="840"/>
                    <a:ext cx="110" cy="586"/>
                  </a:xfrm>
                  <a:custGeom>
                    <a:avLst/>
                    <a:gdLst>
                      <a:gd name="T0" fmla="*/ 0 w 419"/>
                      <a:gd name="T1" fmla="*/ 0 h 2101"/>
                      <a:gd name="T2" fmla="*/ 14 w 419"/>
                      <a:gd name="T3" fmla="*/ 23 h 2101"/>
                      <a:gd name="T4" fmla="*/ 28 w 419"/>
                      <a:gd name="T5" fmla="*/ 49 h 2101"/>
                      <a:gd name="T6" fmla="*/ 40 w 419"/>
                      <a:gd name="T7" fmla="*/ 77 h 2101"/>
                      <a:gd name="T8" fmla="*/ 51 w 419"/>
                      <a:gd name="T9" fmla="*/ 104 h 2101"/>
                      <a:gd name="T10" fmla="*/ 59 w 419"/>
                      <a:gd name="T11" fmla="*/ 136 h 2101"/>
                      <a:gd name="T12" fmla="*/ 68 w 419"/>
                      <a:gd name="T13" fmla="*/ 183 h 2101"/>
                      <a:gd name="T14" fmla="*/ 74 w 419"/>
                      <a:gd name="T15" fmla="*/ 220 h 2101"/>
                      <a:gd name="T16" fmla="*/ 79 w 419"/>
                      <a:gd name="T17" fmla="*/ 247 h 2101"/>
                      <a:gd name="T18" fmla="*/ 83 w 419"/>
                      <a:gd name="T19" fmla="*/ 290 h 2101"/>
                      <a:gd name="T20" fmla="*/ 83 w 419"/>
                      <a:gd name="T21" fmla="*/ 324 h 2101"/>
                      <a:gd name="T22" fmla="*/ 82 w 419"/>
                      <a:gd name="T23" fmla="*/ 366 h 2101"/>
                      <a:gd name="T24" fmla="*/ 85 w 419"/>
                      <a:gd name="T25" fmla="*/ 402 h 2101"/>
                      <a:gd name="T26" fmla="*/ 85 w 419"/>
                      <a:gd name="T27" fmla="*/ 438 h 2101"/>
                      <a:gd name="T28" fmla="*/ 87 w 419"/>
                      <a:gd name="T29" fmla="*/ 476 h 2101"/>
                      <a:gd name="T30" fmla="*/ 90 w 419"/>
                      <a:gd name="T31" fmla="*/ 510 h 2101"/>
                      <a:gd name="T32" fmla="*/ 96 w 419"/>
                      <a:gd name="T33" fmla="*/ 540 h 2101"/>
                      <a:gd name="T34" fmla="*/ 102 w 419"/>
                      <a:gd name="T35" fmla="*/ 565 h 2101"/>
                      <a:gd name="T36" fmla="*/ 110 w 419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9"/>
                      <a:gd name="T58" fmla="*/ 0 h 2101"/>
                      <a:gd name="T59" fmla="*/ 419 w 419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9" h="2101">
                        <a:moveTo>
                          <a:pt x="0" y="0"/>
                        </a:moveTo>
                        <a:lnTo>
                          <a:pt x="55" y="84"/>
                        </a:lnTo>
                        <a:lnTo>
                          <a:pt x="108" y="174"/>
                        </a:lnTo>
                        <a:lnTo>
                          <a:pt x="153" y="277"/>
                        </a:lnTo>
                        <a:lnTo>
                          <a:pt x="193" y="372"/>
                        </a:lnTo>
                        <a:lnTo>
                          <a:pt x="225" y="489"/>
                        </a:lnTo>
                        <a:lnTo>
                          <a:pt x="260" y="656"/>
                        </a:lnTo>
                        <a:lnTo>
                          <a:pt x="282" y="788"/>
                        </a:lnTo>
                        <a:lnTo>
                          <a:pt x="300" y="887"/>
                        </a:lnTo>
                        <a:lnTo>
                          <a:pt x="318" y="1038"/>
                        </a:lnTo>
                        <a:lnTo>
                          <a:pt x="318" y="1162"/>
                        </a:lnTo>
                        <a:lnTo>
                          <a:pt x="312" y="1313"/>
                        </a:lnTo>
                        <a:lnTo>
                          <a:pt x="322" y="1440"/>
                        </a:lnTo>
                        <a:lnTo>
                          <a:pt x="322" y="1572"/>
                        </a:lnTo>
                        <a:lnTo>
                          <a:pt x="330" y="1706"/>
                        </a:lnTo>
                        <a:lnTo>
                          <a:pt x="344" y="1828"/>
                        </a:lnTo>
                        <a:lnTo>
                          <a:pt x="366" y="1937"/>
                        </a:lnTo>
                        <a:lnTo>
                          <a:pt x="389" y="2024"/>
                        </a:lnTo>
                        <a:lnTo>
                          <a:pt x="41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2" name="Freeform 101"/>
                  <p:cNvSpPr>
                    <a:spLocks/>
                  </p:cNvSpPr>
                  <p:nvPr/>
                </p:nvSpPr>
                <p:spPr bwMode="auto">
                  <a:xfrm>
                    <a:off x="3933" y="841"/>
                    <a:ext cx="108" cy="585"/>
                  </a:xfrm>
                  <a:custGeom>
                    <a:avLst/>
                    <a:gdLst>
                      <a:gd name="T0" fmla="*/ 0 w 410"/>
                      <a:gd name="T1" fmla="*/ 0 h 2101"/>
                      <a:gd name="T2" fmla="*/ 17 w 410"/>
                      <a:gd name="T3" fmla="*/ 18 h 2101"/>
                      <a:gd name="T4" fmla="*/ 31 w 410"/>
                      <a:gd name="T5" fmla="*/ 38 h 2101"/>
                      <a:gd name="T6" fmla="*/ 49 w 410"/>
                      <a:gd name="T7" fmla="*/ 70 h 2101"/>
                      <a:gd name="T8" fmla="*/ 62 w 410"/>
                      <a:gd name="T9" fmla="*/ 102 h 2101"/>
                      <a:gd name="T10" fmla="*/ 76 w 410"/>
                      <a:gd name="T11" fmla="*/ 139 h 2101"/>
                      <a:gd name="T12" fmla="*/ 88 w 410"/>
                      <a:gd name="T13" fmla="*/ 176 h 2101"/>
                      <a:gd name="T14" fmla="*/ 96 w 410"/>
                      <a:gd name="T15" fmla="*/ 216 h 2101"/>
                      <a:gd name="T16" fmla="*/ 102 w 410"/>
                      <a:gd name="T17" fmla="*/ 251 h 2101"/>
                      <a:gd name="T18" fmla="*/ 104 w 410"/>
                      <a:gd name="T19" fmla="*/ 287 h 2101"/>
                      <a:gd name="T20" fmla="*/ 104 w 410"/>
                      <a:gd name="T21" fmla="*/ 320 h 2101"/>
                      <a:gd name="T22" fmla="*/ 104 w 410"/>
                      <a:gd name="T23" fmla="*/ 363 h 2101"/>
                      <a:gd name="T24" fmla="*/ 104 w 410"/>
                      <a:gd name="T25" fmla="*/ 399 h 2101"/>
                      <a:gd name="T26" fmla="*/ 103 w 410"/>
                      <a:gd name="T27" fmla="*/ 438 h 2101"/>
                      <a:gd name="T28" fmla="*/ 102 w 410"/>
                      <a:gd name="T29" fmla="*/ 476 h 2101"/>
                      <a:gd name="T30" fmla="*/ 103 w 410"/>
                      <a:gd name="T31" fmla="*/ 506 h 2101"/>
                      <a:gd name="T32" fmla="*/ 103 w 410"/>
                      <a:gd name="T33" fmla="*/ 537 h 2101"/>
                      <a:gd name="T34" fmla="*/ 104 w 410"/>
                      <a:gd name="T35" fmla="*/ 561 h 2101"/>
                      <a:gd name="T36" fmla="*/ 108 w 410"/>
                      <a:gd name="T37" fmla="*/ 585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10"/>
                      <a:gd name="T58" fmla="*/ 0 h 2101"/>
                      <a:gd name="T59" fmla="*/ 410 w 410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10" h="2101">
                        <a:moveTo>
                          <a:pt x="0" y="0"/>
                        </a:moveTo>
                        <a:lnTo>
                          <a:pt x="63" y="65"/>
                        </a:lnTo>
                        <a:lnTo>
                          <a:pt x="116" y="136"/>
                        </a:lnTo>
                        <a:lnTo>
                          <a:pt x="186" y="250"/>
                        </a:lnTo>
                        <a:lnTo>
                          <a:pt x="235" y="367"/>
                        </a:lnTo>
                        <a:lnTo>
                          <a:pt x="289" y="499"/>
                        </a:lnTo>
                        <a:lnTo>
                          <a:pt x="333" y="633"/>
                        </a:lnTo>
                        <a:lnTo>
                          <a:pt x="364" y="774"/>
                        </a:lnTo>
                        <a:lnTo>
                          <a:pt x="386" y="902"/>
                        </a:lnTo>
                        <a:lnTo>
                          <a:pt x="396" y="1029"/>
                        </a:lnTo>
                        <a:lnTo>
                          <a:pt x="396" y="1151"/>
                        </a:lnTo>
                        <a:lnTo>
                          <a:pt x="396" y="1304"/>
                        </a:lnTo>
                        <a:lnTo>
                          <a:pt x="396" y="1432"/>
                        </a:lnTo>
                        <a:lnTo>
                          <a:pt x="392" y="1572"/>
                        </a:lnTo>
                        <a:lnTo>
                          <a:pt x="386" y="1710"/>
                        </a:lnTo>
                        <a:lnTo>
                          <a:pt x="392" y="1819"/>
                        </a:lnTo>
                        <a:lnTo>
                          <a:pt x="392" y="1928"/>
                        </a:lnTo>
                        <a:lnTo>
                          <a:pt x="396" y="2014"/>
                        </a:lnTo>
                        <a:lnTo>
                          <a:pt x="410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3" name="Freeform 102"/>
                  <p:cNvSpPr>
                    <a:spLocks/>
                  </p:cNvSpPr>
                  <p:nvPr/>
                </p:nvSpPr>
                <p:spPr bwMode="auto">
                  <a:xfrm>
                    <a:off x="3947" y="843"/>
                    <a:ext cx="125" cy="586"/>
                  </a:xfrm>
                  <a:custGeom>
                    <a:avLst/>
                    <a:gdLst>
                      <a:gd name="T0" fmla="*/ 0 w 475"/>
                      <a:gd name="T1" fmla="*/ 0 h 2101"/>
                      <a:gd name="T2" fmla="*/ 17 w 475"/>
                      <a:gd name="T3" fmla="*/ 17 h 2101"/>
                      <a:gd name="T4" fmla="*/ 30 w 475"/>
                      <a:gd name="T5" fmla="*/ 34 h 2101"/>
                      <a:gd name="T6" fmla="*/ 56 w 475"/>
                      <a:gd name="T7" fmla="*/ 72 h 2101"/>
                      <a:gd name="T8" fmla="*/ 71 w 475"/>
                      <a:gd name="T9" fmla="*/ 99 h 2101"/>
                      <a:gd name="T10" fmla="*/ 88 w 475"/>
                      <a:gd name="T11" fmla="*/ 137 h 2101"/>
                      <a:gd name="T12" fmla="*/ 103 w 475"/>
                      <a:gd name="T13" fmla="*/ 177 h 2101"/>
                      <a:gd name="T14" fmla="*/ 116 w 475"/>
                      <a:gd name="T15" fmla="*/ 216 h 2101"/>
                      <a:gd name="T16" fmla="*/ 123 w 475"/>
                      <a:gd name="T17" fmla="*/ 253 h 2101"/>
                      <a:gd name="T18" fmla="*/ 125 w 475"/>
                      <a:gd name="T19" fmla="*/ 284 h 2101"/>
                      <a:gd name="T20" fmla="*/ 125 w 475"/>
                      <a:gd name="T21" fmla="*/ 322 h 2101"/>
                      <a:gd name="T22" fmla="*/ 124 w 475"/>
                      <a:gd name="T23" fmla="*/ 356 h 2101"/>
                      <a:gd name="T24" fmla="*/ 119 w 475"/>
                      <a:gd name="T25" fmla="*/ 398 h 2101"/>
                      <a:gd name="T26" fmla="*/ 116 w 475"/>
                      <a:gd name="T27" fmla="*/ 432 h 2101"/>
                      <a:gd name="T28" fmla="*/ 112 w 475"/>
                      <a:gd name="T29" fmla="*/ 473 h 2101"/>
                      <a:gd name="T30" fmla="*/ 109 w 475"/>
                      <a:gd name="T31" fmla="*/ 509 h 2101"/>
                      <a:gd name="T32" fmla="*/ 107 w 475"/>
                      <a:gd name="T33" fmla="*/ 537 h 2101"/>
                      <a:gd name="T34" fmla="*/ 103 w 475"/>
                      <a:gd name="T35" fmla="*/ 563 h 2101"/>
                      <a:gd name="T36" fmla="*/ 100 w 475"/>
                      <a:gd name="T37" fmla="*/ 586 h 2101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w 475"/>
                      <a:gd name="T58" fmla="*/ 0 h 2101"/>
                      <a:gd name="T59" fmla="*/ 475 w 475"/>
                      <a:gd name="T60" fmla="*/ 2101 h 2101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T57" t="T58" r="T59" b="T60"/>
                    <a:pathLst>
                      <a:path w="475" h="2101">
                        <a:moveTo>
                          <a:pt x="0" y="0"/>
                        </a:moveTo>
                        <a:lnTo>
                          <a:pt x="66" y="61"/>
                        </a:lnTo>
                        <a:lnTo>
                          <a:pt x="114" y="123"/>
                        </a:lnTo>
                        <a:lnTo>
                          <a:pt x="211" y="259"/>
                        </a:lnTo>
                        <a:lnTo>
                          <a:pt x="269" y="354"/>
                        </a:lnTo>
                        <a:lnTo>
                          <a:pt x="333" y="490"/>
                        </a:lnTo>
                        <a:lnTo>
                          <a:pt x="391" y="633"/>
                        </a:lnTo>
                        <a:lnTo>
                          <a:pt x="440" y="775"/>
                        </a:lnTo>
                        <a:lnTo>
                          <a:pt x="468" y="907"/>
                        </a:lnTo>
                        <a:lnTo>
                          <a:pt x="475" y="1020"/>
                        </a:lnTo>
                        <a:lnTo>
                          <a:pt x="475" y="1153"/>
                        </a:lnTo>
                        <a:lnTo>
                          <a:pt x="472" y="1276"/>
                        </a:lnTo>
                        <a:lnTo>
                          <a:pt x="454" y="1427"/>
                        </a:lnTo>
                        <a:lnTo>
                          <a:pt x="440" y="1549"/>
                        </a:lnTo>
                        <a:lnTo>
                          <a:pt x="427" y="1697"/>
                        </a:lnTo>
                        <a:lnTo>
                          <a:pt x="414" y="1825"/>
                        </a:lnTo>
                        <a:lnTo>
                          <a:pt x="405" y="1924"/>
                        </a:lnTo>
                        <a:lnTo>
                          <a:pt x="391" y="2019"/>
                        </a:lnTo>
                        <a:lnTo>
                          <a:pt x="379" y="2101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4" name="Freeform 103"/>
                  <p:cNvSpPr>
                    <a:spLocks/>
                  </p:cNvSpPr>
                  <p:nvPr/>
                </p:nvSpPr>
                <p:spPr bwMode="auto">
                  <a:xfrm>
                    <a:off x="3633" y="834"/>
                    <a:ext cx="1208" cy="596"/>
                  </a:xfrm>
                  <a:custGeom>
                    <a:avLst/>
                    <a:gdLst>
                      <a:gd name="T0" fmla="*/ 411 w 4613"/>
                      <a:gd name="T1" fmla="*/ 43 h 2136"/>
                      <a:gd name="T2" fmla="*/ 318 w 4613"/>
                      <a:gd name="T3" fmla="*/ 8 h 2136"/>
                      <a:gd name="T4" fmla="*/ 227 w 4613"/>
                      <a:gd name="T5" fmla="*/ 6 h 2136"/>
                      <a:gd name="T6" fmla="*/ 136 w 4613"/>
                      <a:gd name="T7" fmla="*/ 59 h 2136"/>
                      <a:gd name="T8" fmla="*/ 69 w 4613"/>
                      <a:gd name="T9" fmla="*/ 133 h 2136"/>
                      <a:gd name="T10" fmla="*/ 20 w 4613"/>
                      <a:gd name="T11" fmla="*/ 208 h 2136"/>
                      <a:gd name="T12" fmla="*/ 0 w 4613"/>
                      <a:gd name="T13" fmla="*/ 285 h 2136"/>
                      <a:gd name="T14" fmla="*/ 5 w 4613"/>
                      <a:gd name="T15" fmla="*/ 378 h 2136"/>
                      <a:gd name="T16" fmla="*/ 20 w 4613"/>
                      <a:gd name="T17" fmla="*/ 488 h 2136"/>
                      <a:gd name="T18" fmla="*/ 46 w 4613"/>
                      <a:gd name="T19" fmla="*/ 565 h 2136"/>
                      <a:gd name="T20" fmla="*/ 82 w 4613"/>
                      <a:gd name="T21" fmla="*/ 594 h 2136"/>
                      <a:gd name="T22" fmla="*/ 151 w 4613"/>
                      <a:gd name="T23" fmla="*/ 569 h 2136"/>
                      <a:gd name="T24" fmla="*/ 205 w 4613"/>
                      <a:gd name="T25" fmla="*/ 507 h 2136"/>
                      <a:gd name="T26" fmla="*/ 254 w 4613"/>
                      <a:gd name="T27" fmla="*/ 402 h 2136"/>
                      <a:gd name="T28" fmla="*/ 274 w 4613"/>
                      <a:gd name="T29" fmla="*/ 330 h 2136"/>
                      <a:gd name="T30" fmla="*/ 313 w 4613"/>
                      <a:gd name="T31" fmla="*/ 502 h 2136"/>
                      <a:gd name="T32" fmla="*/ 366 w 4613"/>
                      <a:gd name="T33" fmla="*/ 581 h 2136"/>
                      <a:gd name="T34" fmla="*/ 437 w 4613"/>
                      <a:gd name="T35" fmla="*/ 592 h 2136"/>
                      <a:gd name="T36" fmla="*/ 490 w 4613"/>
                      <a:gd name="T37" fmla="*/ 515 h 2136"/>
                      <a:gd name="T38" fmla="*/ 540 w 4613"/>
                      <a:gd name="T39" fmla="*/ 339 h 2136"/>
                      <a:gd name="T40" fmla="*/ 573 w 4613"/>
                      <a:gd name="T41" fmla="*/ 485 h 2136"/>
                      <a:gd name="T42" fmla="*/ 620 w 4613"/>
                      <a:gd name="T43" fmla="*/ 572 h 2136"/>
                      <a:gd name="T44" fmla="*/ 700 w 4613"/>
                      <a:gd name="T45" fmla="*/ 590 h 2136"/>
                      <a:gd name="T46" fmla="*/ 770 w 4613"/>
                      <a:gd name="T47" fmla="*/ 542 h 2136"/>
                      <a:gd name="T48" fmla="*/ 831 w 4613"/>
                      <a:gd name="T49" fmla="*/ 444 h 2136"/>
                      <a:gd name="T50" fmla="*/ 865 w 4613"/>
                      <a:gd name="T51" fmla="*/ 349 h 2136"/>
                      <a:gd name="T52" fmla="*/ 915 w 4613"/>
                      <a:gd name="T53" fmla="*/ 464 h 2136"/>
                      <a:gd name="T54" fmla="*/ 975 w 4613"/>
                      <a:gd name="T55" fmla="*/ 551 h 2136"/>
                      <a:gd name="T56" fmla="*/ 1072 w 4613"/>
                      <a:gd name="T57" fmla="*/ 594 h 2136"/>
                      <a:gd name="T58" fmla="*/ 1142 w 4613"/>
                      <a:gd name="T59" fmla="*/ 534 h 2136"/>
                      <a:gd name="T60" fmla="*/ 1190 w 4613"/>
                      <a:gd name="T61" fmla="*/ 413 h 2136"/>
                      <a:gd name="T62" fmla="*/ 1208 w 4613"/>
                      <a:gd name="T63" fmla="*/ 294 h 2136"/>
                      <a:gd name="T64" fmla="*/ 1144 w 4613"/>
                      <a:gd name="T65" fmla="*/ 183 h 2136"/>
                      <a:gd name="T66" fmla="*/ 1101 w 4613"/>
                      <a:gd name="T67" fmla="*/ 119 h 2136"/>
                      <a:gd name="T68" fmla="*/ 999 w 4613"/>
                      <a:gd name="T69" fmla="*/ 52 h 2136"/>
                      <a:gd name="T70" fmla="*/ 863 w 4613"/>
                      <a:gd name="T71" fmla="*/ 12 h 2136"/>
                      <a:gd name="T72" fmla="*/ 712 w 4613"/>
                      <a:gd name="T73" fmla="*/ 0 h 2136"/>
                      <a:gd name="T74" fmla="*/ 607 w 4613"/>
                      <a:gd name="T75" fmla="*/ 26 h 2136"/>
                      <a:gd name="T76" fmla="*/ 544 w 4613"/>
                      <a:gd name="T77" fmla="*/ 91 h 2136"/>
                      <a:gd name="T78" fmla="*/ 535 w 4613"/>
                      <a:gd name="T79" fmla="*/ 130 h 2136"/>
                      <a:gd name="T80" fmla="*/ 488 w 4613"/>
                      <a:gd name="T81" fmla="*/ 220 h 2136"/>
                      <a:gd name="T82" fmla="*/ 452 w 4613"/>
                      <a:gd name="T83" fmla="*/ 186 h 2136"/>
                      <a:gd name="T84" fmla="*/ 397 w 4613"/>
                      <a:gd name="T85" fmla="*/ 88 h 21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4613"/>
                      <a:gd name="T130" fmla="*/ 0 h 2136"/>
                      <a:gd name="T131" fmla="*/ 4613 w 4613"/>
                      <a:gd name="T132" fmla="*/ 2136 h 21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4613" h="2136">
                        <a:moveTo>
                          <a:pt x="1744" y="315"/>
                        </a:moveTo>
                        <a:lnTo>
                          <a:pt x="1659" y="226"/>
                        </a:lnTo>
                        <a:lnTo>
                          <a:pt x="1570" y="155"/>
                        </a:lnTo>
                        <a:lnTo>
                          <a:pt x="1455" y="94"/>
                        </a:lnTo>
                        <a:lnTo>
                          <a:pt x="1330" y="50"/>
                        </a:lnTo>
                        <a:lnTo>
                          <a:pt x="1215" y="27"/>
                        </a:lnTo>
                        <a:lnTo>
                          <a:pt x="1089" y="13"/>
                        </a:lnTo>
                        <a:lnTo>
                          <a:pt x="982" y="13"/>
                        </a:lnTo>
                        <a:lnTo>
                          <a:pt x="866" y="23"/>
                        </a:lnTo>
                        <a:lnTo>
                          <a:pt x="728" y="65"/>
                        </a:lnTo>
                        <a:lnTo>
                          <a:pt x="617" y="136"/>
                        </a:lnTo>
                        <a:lnTo>
                          <a:pt x="520" y="212"/>
                        </a:lnTo>
                        <a:lnTo>
                          <a:pt x="435" y="287"/>
                        </a:lnTo>
                        <a:lnTo>
                          <a:pt x="345" y="376"/>
                        </a:lnTo>
                        <a:lnTo>
                          <a:pt x="262" y="476"/>
                        </a:lnTo>
                        <a:lnTo>
                          <a:pt x="193" y="572"/>
                        </a:lnTo>
                        <a:lnTo>
                          <a:pt x="130" y="662"/>
                        </a:lnTo>
                        <a:lnTo>
                          <a:pt x="78" y="747"/>
                        </a:lnTo>
                        <a:lnTo>
                          <a:pt x="40" y="826"/>
                        </a:lnTo>
                        <a:lnTo>
                          <a:pt x="12" y="910"/>
                        </a:lnTo>
                        <a:lnTo>
                          <a:pt x="0" y="1023"/>
                        </a:lnTo>
                        <a:lnTo>
                          <a:pt x="0" y="1139"/>
                        </a:lnTo>
                        <a:lnTo>
                          <a:pt x="7" y="1251"/>
                        </a:lnTo>
                        <a:lnTo>
                          <a:pt x="20" y="1354"/>
                        </a:lnTo>
                        <a:lnTo>
                          <a:pt x="34" y="1471"/>
                        </a:lnTo>
                        <a:lnTo>
                          <a:pt x="52" y="1610"/>
                        </a:lnTo>
                        <a:lnTo>
                          <a:pt x="77" y="1748"/>
                        </a:lnTo>
                        <a:lnTo>
                          <a:pt x="105" y="1871"/>
                        </a:lnTo>
                        <a:lnTo>
                          <a:pt x="137" y="1958"/>
                        </a:lnTo>
                        <a:lnTo>
                          <a:pt x="175" y="2025"/>
                        </a:lnTo>
                        <a:lnTo>
                          <a:pt x="221" y="2086"/>
                        </a:lnTo>
                        <a:lnTo>
                          <a:pt x="270" y="2125"/>
                        </a:lnTo>
                        <a:lnTo>
                          <a:pt x="314" y="2128"/>
                        </a:lnTo>
                        <a:lnTo>
                          <a:pt x="399" y="2114"/>
                        </a:lnTo>
                        <a:lnTo>
                          <a:pt x="491" y="2080"/>
                        </a:lnTo>
                        <a:lnTo>
                          <a:pt x="576" y="2038"/>
                        </a:lnTo>
                        <a:lnTo>
                          <a:pt x="637" y="1987"/>
                        </a:lnTo>
                        <a:lnTo>
                          <a:pt x="714" y="1910"/>
                        </a:lnTo>
                        <a:lnTo>
                          <a:pt x="783" y="1818"/>
                        </a:lnTo>
                        <a:lnTo>
                          <a:pt x="849" y="1693"/>
                        </a:lnTo>
                        <a:lnTo>
                          <a:pt x="916" y="1561"/>
                        </a:lnTo>
                        <a:lnTo>
                          <a:pt x="971" y="1441"/>
                        </a:lnTo>
                        <a:lnTo>
                          <a:pt x="1009" y="1338"/>
                        </a:lnTo>
                        <a:lnTo>
                          <a:pt x="1034" y="1256"/>
                        </a:lnTo>
                        <a:lnTo>
                          <a:pt x="1045" y="1184"/>
                        </a:lnTo>
                        <a:lnTo>
                          <a:pt x="1067" y="1366"/>
                        </a:lnTo>
                        <a:lnTo>
                          <a:pt x="1124" y="1571"/>
                        </a:lnTo>
                        <a:lnTo>
                          <a:pt x="1197" y="1799"/>
                        </a:lnTo>
                        <a:lnTo>
                          <a:pt x="1250" y="1905"/>
                        </a:lnTo>
                        <a:lnTo>
                          <a:pt x="1308" y="1996"/>
                        </a:lnTo>
                        <a:lnTo>
                          <a:pt x="1397" y="2082"/>
                        </a:lnTo>
                        <a:lnTo>
                          <a:pt x="1499" y="2128"/>
                        </a:lnTo>
                        <a:lnTo>
                          <a:pt x="1584" y="2136"/>
                        </a:lnTo>
                        <a:lnTo>
                          <a:pt x="1669" y="2120"/>
                        </a:lnTo>
                        <a:lnTo>
                          <a:pt x="1735" y="2072"/>
                        </a:lnTo>
                        <a:lnTo>
                          <a:pt x="1810" y="1977"/>
                        </a:lnTo>
                        <a:lnTo>
                          <a:pt x="1873" y="1845"/>
                        </a:lnTo>
                        <a:lnTo>
                          <a:pt x="1953" y="1633"/>
                        </a:lnTo>
                        <a:lnTo>
                          <a:pt x="2024" y="1424"/>
                        </a:lnTo>
                        <a:lnTo>
                          <a:pt x="2064" y="1216"/>
                        </a:lnTo>
                        <a:lnTo>
                          <a:pt x="2086" y="1408"/>
                        </a:lnTo>
                        <a:lnTo>
                          <a:pt x="2139" y="1594"/>
                        </a:lnTo>
                        <a:lnTo>
                          <a:pt x="2188" y="1738"/>
                        </a:lnTo>
                        <a:lnTo>
                          <a:pt x="2242" y="1863"/>
                        </a:lnTo>
                        <a:lnTo>
                          <a:pt x="2309" y="1969"/>
                        </a:lnTo>
                        <a:lnTo>
                          <a:pt x="2367" y="2051"/>
                        </a:lnTo>
                        <a:lnTo>
                          <a:pt x="2450" y="2105"/>
                        </a:lnTo>
                        <a:lnTo>
                          <a:pt x="2561" y="2124"/>
                        </a:lnTo>
                        <a:lnTo>
                          <a:pt x="2674" y="2114"/>
                        </a:lnTo>
                        <a:lnTo>
                          <a:pt x="2771" y="2080"/>
                        </a:lnTo>
                        <a:lnTo>
                          <a:pt x="2855" y="2025"/>
                        </a:lnTo>
                        <a:lnTo>
                          <a:pt x="2940" y="1944"/>
                        </a:lnTo>
                        <a:lnTo>
                          <a:pt x="3025" y="1829"/>
                        </a:lnTo>
                        <a:lnTo>
                          <a:pt x="3104" y="1709"/>
                        </a:lnTo>
                        <a:lnTo>
                          <a:pt x="3172" y="1592"/>
                        </a:lnTo>
                        <a:lnTo>
                          <a:pt x="3229" y="1485"/>
                        </a:lnTo>
                        <a:lnTo>
                          <a:pt x="3269" y="1382"/>
                        </a:lnTo>
                        <a:lnTo>
                          <a:pt x="3305" y="1250"/>
                        </a:lnTo>
                        <a:lnTo>
                          <a:pt x="3362" y="1386"/>
                        </a:lnTo>
                        <a:lnTo>
                          <a:pt x="3420" y="1527"/>
                        </a:lnTo>
                        <a:lnTo>
                          <a:pt x="3493" y="1662"/>
                        </a:lnTo>
                        <a:lnTo>
                          <a:pt x="3546" y="1764"/>
                        </a:lnTo>
                        <a:lnTo>
                          <a:pt x="3627" y="1874"/>
                        </a:lnTo>
                        <a:lnTo>
                          <a:pt x="3724" y="1976"/>
                        </a:lnTo>
                        <a:lnTo>
                          <a:pt x="3831" y="2057"/>
                        </a:lnTo>
                        <a:lnTo>
                          <a:pt x="3956" y="2104"/>
                        </a:lnTo>
                        <a:lnTo>
                          <a:pt x="4093" y="2128"/>
                        </a:lnTo>
                        <a:lnTo>
                          <a:pt x="4196" y="2095"/>
                        </a:lnTo>
                        <a:lnTo>
                          <a:pt x="4280" y="2034"/>
                        </a:lnTo>
                        <a:lnTo>
                          <a:pt x="4362" y="1915"/>
                        </a:lnTo>
                        <a:lnTo>
                          <a:pt x="4436" y="1789"/>
                        </a:lnTo>
                        <a:lnTo>
                          <a:pt x="4489" y="1648"/>
                        </a:lnTo>
                        <a:lnTo>
                          <a:pt x="4543" y="1481"/>
                        </a:lnTo>
                        <a:lnTo>
                          <a:pt x="4584" y="1333"/>
                        </a:lnTo>
                        <a:lnTo>
                          <a:pt x="4605" y="1203"/>
                        </a:lnTo>
                        <a:lnTo>
                          <a:pt x="4613" y="1052"/>
                        </a:lnTo>
                        <a:lnTo>
                          <a:pt x="4595" y="939"/>
                        </a:lnTo>
                        <a:lnTo>
                          <a:pt x="4502" y="792"/>
                        </a:lnTo>
                        <a:lnTo>
                          <a:pt x="4369" y="656"/>
                        </a:lnTo>
                        <a:lnTo>
                          <a:pt x="4196" y="518"/>
                        </a:lnTo>
                        <a:lnTo>
                          <a:pt x="4071" y="428"/>
                        </a:lnTo>
                        <a:lnTo>
                          <a:pt x="4204" y="428"/>
                        </a:lnTo>
                        <a:lnTo>
                          <a:pt x="4121" y="344"/>
                        </a:lnTo>
                        <a:lnTo>
                          <a:pt x="3986" y="262"/>
                        </a:lnTo>
                        <a:lnTo>
                          <a:pt x="3815" y="188"/>
                        </a:lnTo>
                        <a:lnTo>
                          <a:pt x="3639" y="126"/>
                        </a:lnTo>
                        <a:lnTo>
                          <a:pt x="3472" y="79"/>
                        </a:lnTo>
                        <a:lnTo>
                          <a:pt x="3296" y="42"/>
                        </a:lnTo>
                        <a:lnTo>
                          <a:pt x="3124" y="13"/>
                        </a:lnTo>
                        <a:lnTo>
                          <a:pt x="2908" y="0"/>
                        </a:lnTo>
                        <a:lnTo>
                          <a:pt x="2718" y="0"/>
                        </a:lnTo>
                        <a:lnTo>
                          <a:pt x="2544" y="8"/>
                        </a:lnTo>
                        <a:lnTo>
                          <a:pt x="2424" y="42"/>
                        </a:lnTo>
                        <a:lnTo>
                          <a:pt x="2317" y="94"/>
                        </a:lnTo>
                        <a:lnTo>
                          <a:pt x="2224" y="164"/>
                        </a:lnTo>
                        <a:lnTo>
                          <a:pt x="2131" y="249"/>
                        </a:lnTo>
                        <a:lnTo>
                          <a:pt x="2077" y="325"/>
                        </a:lnTo>
                        <a:lnTo>
                          <a:pt x="2157" y="325"/>
                        </a:lnTo>
                        <a:lnTo>
                          <a:pt x="2099" y="386"/>
                        </a:lnTo>
                        <a:lnTo>
                          <a:pt x="2042" y="466"/>
                        </a:lnTo>
                        <a:lnTo>
                          <a:pt x="1980" y="561"/>
                        </a:lnTo>
                        <a:lnTo>
                          <a:pt x="1917" y="665"/>
                        </a:lnTo>
                        <a:lnTo>
                          <a:pt x="1863" y="788"/>
                        </a:lnTo>
                        <a:lnTo>
                          <a:pt x="1820" y="948"/>
                        </a:lnTo>
                        <a:lnTo>
                          <a:pt x="1774" y="784"/>
                        </a:lnTo>
                        <a:lnTo>
                          <a:pt x="1726" y="665"/>
                        </a:lnTo>
                        <a:lnTo>
                          <a:pt x="1663" y="534"/>
                        </a:lnTo>
                        <a:lnTo>
                          <a:pt x="1602" y="424"/>
                        </a:lnTo>
                        <a:lnTo>
                          <a:pt x="1516" y="315"/>
                        </a:lnTo>
                        <a:lnTo>
                          <a:pt x="1744" y="315"/>
                        </a:lnTo>
                      </a:path>
                    </a:pathLst>
                  </a:custGeom>
                  <a:noFill/>
                  <a:ln w="7938">
                    <a:solidFill>
                      <a:schemeClr val="folHlink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5" name="Line 104"/>
                  <p:cNvSpPr>
                    <a:spLocks noChangeShapeType="1"/>
                  </p:cNvSpPr>
                  <p:nvPr/>
                </p:nvSpPr>
                <p:spPr bwMode="auto">
                  <a:xfrm>
                    <a:off x="3684" y="1406"/>
                    <a:ext cx="95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2616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659" y="1352"/>
                    <a:ext cx="464" cy="29"/>
                    <a:chOff x="1741" y="2997"/>
                    <a:chExt cx="885" cy="52"/>
                  </a:xfrm>
                </p:grpSpPr>
                <p:sp>
                  <p:nvSpPr>
                    <p:cNvPr id="62715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41" y="2997"/>
                      <a:ext cx="33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6" name="Line 10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760" y="3048"/>
                      <a:ext cx="265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7" name="Line 10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04" y="2997"/>
                      <a:ext cx="322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18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37" y="3048"/>
                      <a:ext cx="267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62617" name="Line 110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203"/>
                    <a:ext cx="313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8" name="Line 111"/>
                  <p:cNvSpPr>
                    <a:spLocks noChangeShapeType="1"/>
                  </p:cNvSpPr>
                  <p:nvPr/>
                </p:nvSpPr>
                <p:spPr bwMode="auto">
                  <a:xfrm>
                    <a:off x="4183" y="1240"/>
                    <a:ext cx="296" cy="2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19" name="Line 112"/>
                  <p:cNvSpPr>
                    <a:spLocks noChangeShapeType="1"/>
                  </p:cNvSpPr>
                  <p:nvPr/>
                </p:nvSpPr>
                <p:spPr bwMode="auto">
                  <a:xfrm>
                    <a:off x="4196" y="1283"/>
                    <a:ext cx="267" cy="0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620" name="Line 113"/>
                  <p:cNvSpPr>
                    <a:spLocks noChangeShapeType="1"/>
                  </p:cNvSpPr>
                  <p:nvPr/>
                </p:nvSpPr>
                <p:spPr bwMode="auto">
                  <a:xfrm>
                    <a:off x="4210" y="1319"/>
                    <a:ext cx="233" cy="1"/>
                  </a:xfrm>
                  <a:prstGeom prst="line">
                    <a:avLst/>
                  </a:prstGeom>
                  <a:noFill/>
                  <a:ln w="7938">
                    <a:solidFill>
                      <a:schemeClr val="folHlink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grpSp>
                <p:nvGrpSpPr>
                  <p:cNvPr id="62621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3668" y="835"/>
                    <a:ext cx="1167" cy="594"/>
                    <a:chOff x="1758" y="2070"/>
                    <a:chExt cx="2229" cy="1063"/>
                  </a:xfrm>
                </p:grpSpPr>
                <p:sp>
                  <p:nvSpPr>
                    <p:cNvPr id="62701" name="Freeform 115"/>
                    <p:cNvSpPr>
                      <a:spLocks/>
                    </p:cNvSpPr>
                    <p:nvPr/>
                  </p:nvSpPr>
                  <p:spPr bwMode="auto">
                    <a:xfrm>
                      <a:off x="1758" y="2081"/>
                      <a:ext cx="356" cy="1036"/>
                    </a:xfrm>
                    <a:custGeom>
                      <a:avLst/>
                      <a:gdLst>
                        <a:gd name="T0" fmla="*/ 356 w 712"/>
                        <a:gd name="T1" fmla="*/ 0 h 2072"/>
                        <a:gd name="T2" fmla="*/ 311 w 712"/>
                        <a:gd name="T3" fmla="*/ 26 h 2072"/>
                        <a:gd name="T4" fmla="*/ 247 w 712"/>
                        <a:gd name="T5" fmla="*/ 70 h 2072"/>
                        <a:gd name="T6" fmla="*/ 193 w 712"/>
                        <a:gd name="T7" fmla="*/ 120 h 2072"/>
                        <a:gd name="T8" fmla="*/ 149 w 712"/>
                        <a:gd name="T9" fmla="*/ 177 h 2072"/>
                        <a:gd name="T10" fmla="*/ 106 w 712"/>
                        <a:gd name="T11" fmla="*/ 242 h 2072"/>
                        <a:gd name="T12" fmla="*/ 62 w 712"/>
                        <a:gd name="T13" fmla="*/ 314 h 2072"/>
                        <a:gd name="T14" fmla="*/ 33 w 712"/>
                        <a:gd name="T15" fmla="*/ 378 h 2072"/>
                        <a:gd name="T16" fmla="*/ 7 w 712"/>
                        <a:gd name="T17" fmla="*/ 446 h 2072"/>
                        <a:gd name="T18" fmla="*/ 0 w 712"/>
                        <a:gd name="T19" fmla="*/ 507 h 2072"/>
                        <a:gd name="T20" fmla="*/ 0 w 712"/>
                        <a:gd name="T21" fmla="*/ 576 h 2072"/>
                        <a:gd name="T22" fmla="*/ 2 w 712"/>
                        <a:gd name="T23" fmla="*/ 640 h 2072"/>
                        <a:gd name="T24" fmla="*/ 7 w 712"/>
                        <a:gd name="T25" fmla="*/ 713 h 2072"/>
                        <a:gd name="T26" fmla="*/ 13 w 712"/>
                        <a:gd name="T27" fmla="*/ 788 h 2072"/>
                        <a:gd name="T28" fmla="*/ 20 w 712"/>
                        <a:gd name="T29" fmla="*/ 855 h 2072"/>
                        <a:gd name="T30" fmla="*/ 24 w 712"/>
                        <a:gd name="T31" fmla="*/ 913 h 2072"/>
                        <a:gd name="T32" fmla="*/ 33 w 712"/>
                        <a:gd name="T33" fmla="*/ 963 h 2072"/>
                        <a:gd name="T34" fmla="*/ 55 w 712"/>
                        <a:gd name="T35" fmla="*/ 1036 h 2072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712"/>
                        <a:gd name="T55" fmla="*/ 0 h 2072"/>
                        <a:gd name="T56" fmla="*/ 712 w 712"/>
                        <a:gd name="T57" fmla="*/ 2072 h 2072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712" h="2072">
                          <a:moveTo>
                            <a:pt x="712" y="0"/>
                          </a:moveTo>
                          <a:lnTo>
                            <a:pt x="622" y="52"/>
                          </a:lnTo>
                          <a:lnTo>
                            <a:pt x="494" y="141"/>
                          </a:lnTo>
                          <a:lnTo>
                            <a:pt x="387" y="241"/>
                          </a:lnTo>
                          <a:lnTo>
                            <a:pt x="297" y="355"/>
                          </a:lnTo>
                          <a:lnTo>
                            <a:pt x="212" y="485"/>
                          </a:lnTo>
                          <a:lnTo>
                            <a:pt x="125" y="629"/>
                          </a:lnTo>
                          <a:lnTo>
                            <a:pt x="66" y="757"/>
                          </a:lnTo>
                          <a:lnTo>
                            <a:pt x="14" y="893"/>
                          </a:lnTo>
                          <a:lnTo>
                            <a:pt x="0" y="1015"/>
                          </a:lnTo>
                          <a:lnTo>
                            <a:pt x="0" y="1152"/>
                          </a:lnTo>
                          <a:lnTo>
                            <a:pt x="4" y="1280"/>
                          </a:lnTo>
                          <a:lnTo>
                            <a:pt x="14" y="1426"/>
                          </a:lnTo>
                          <a:lnTo>
                            <a:pt x="26" y="1576"/>
                          </a:lnTo>
                          <a:lnTo>
                            <a:pt x="40" y="1711"/>
                          </a:lnTo>
                          <a:lnTo>
                            <a:pt x="48" y="1827"/>
                          </a:lnTo>
                          <a:lnTo>
                            <a:pt x="66" y="1926"/>
                          </a:lnTo>
                          <a:lnTo>
                            <a:pt x="111" y="2072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02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263" y="2077"/>
                      <a:ext cx="482" cy="1051"/>
                    </a:xfrm>
                    <a:custGeom>
                      <a:avLst/>
                      <a:gdLst>
                        <a:gd name="T0" fmla="*/ 0 w 963"/>
                        <a:gd name="T1" fmla="*/ 0 h 2101"/>
                        <a:gd name="T2" fmla="*/ 78 w 963"/>
                        <a:gd name="T3" fmla="*/ 45 h 2101"/>
                        <a:gd name="T4" fmla="*/ 132 w 963"/>
                        <a:gd name="T5" fmla="*/ 87 h 2101"/>
                        <a:gd name="T6" fmla="*/ 181 w 963"/>
                        <a:gd name="T7" fmla="*/ 129 h 2101"/>
                        <a:gd name="T8" fmla="*/ 224 w 963"/>
                        <a:gd name="T9" fmla="*/ 184 h 2101"/>
                        <a:gd name="T10" fmla="*/ 277 w 963"/>
                        <a:gd name="T11" fmla="*/ 245 h 2101"/>
                        <a:gd name="T12" fmla="*/ 337 w 963"/>
                        <a:gd name="T13" fmla="*/ 321 h 2101"/>
                        <a:gd name="T14" fmla="*/ 383 w 963"/>
                        <a:gd name="T15" fmla="*/ 392 h 2101"/>
                        <a:gd name="T16" fmla="*/ 408 w 963"/>
                        <a:gd name="T17" fmla="*/ 455 h 2101"/>
                        <a:gd name="T18" fmla="*/ 414 w 963"/>
                        <a:gd name="T19" fmla="*/ 517 h 2101"/>
                        <a:gd name="T20" fmla="*/ 412 w 963"/>
                        <a:gd name="T21" fmla="*/ 583 h 2101"/>
                        <a:gd name="T22" fmla="*/ 417 w 963"/>
                        <a:gd name="T23" fmla="*/ 656 h 2101"/>
                        <a:gd name="T24" fmla="*/ 423 w 963"/>
                        <a:gd name="T25" fmla="*/ 724 h 2101"/>
                        <a:gd name="T26" fmla="*/ 428 w 963"/>
                        <a:gd name="T27" fmla="*/ 786 h 2101"/>
                        <a:gd name="T28" fmla="*/ 437 w 963"/>
                        <a:gd name="T29" fmla="*/ 861 h 2101"/>
                        <a:gd name="T30" fmla="*/ 444 w 963"/>
                        <a:gd name="T31" fmla="*/ 924 h 2101"/>
                        <a:gd name="T32" fmla="*/ 459 w 963"/>
                        <a:gd name="T33" fmla="*/ 993 h 2101"/>
                        <a:gd name="T34" fmla="*/ 482 w 963"/>
                        <a:gd name="T35" fmla="*/ 1051 h 2101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w 963"/>
                        <a:gd name="T55" fmla="*/ 0 h 2101"/>
                        <a:gd name="T56" fmla="*/ 963 w 963"/>
                        <a:gd name="T57" fmla="*/ 2101 h 2101"/>
                      </a:gdLst>
                      <a:ahLst/>
                      <a:cxnLst>
                        <a:cxn ang="T36">
                          <a:pos x="T0" y="T1"/>
                        </a:cxn>
                        <a:cxn ang="T37">
                          <a:pos x="T2" y="T3"/>
                        </a:cxn>
                        <a:cxn ang="T38">
                          <a:pos x="T4" y="T5"/>
                        </a:cxn>
                        <a:cxn ang="T39">
                          <a:pos x="T6" y="T7"/>
                        </a:cxn>
                        <a:cxn ang="T40">
                          <a:pos x="T8" y="T9"/>
                        </a:cxn>
                        <a:cxn ang="T41">
                          <a:pos x="T10" y="T11"/>
                        </a:cxn>
                        <a:cxn ang="T42">
                          <a:pos x="T12" y="T13"/>
                        </a:cxn>
                        <a:cxn ang="T43">
                          <a:pos x="T14" y="T15"/>
                        </a:cxn>
                        <a:cxn ang="T44">
                          <a:pos x="T16" y="T17"/>
                        </a:cxn>
                        <a:cxn ang="T45">
                          <a:pos x="T18" y="T19"/>
                        </a:cxn>
                        <a:cxn ang="T46">
                          <a:pos x="T20" y="T21"/>
                        </a:cxn>
                        <a:cxn ang="T47">
                          <a:pos x="T22" y="T23"/>
                        </a:cxn>
                        <a:cxn ang="T48">
                          <a:pos x="T24" y="T25"/>
                        </a:cxn>
                        <a:cxn ang="T49">
                          <a:pos x="T26" y="T27"/>
                        </a:cxn>
                        <a:cxn ang="T50">
                          <a:pos x="T28" y="T29"/>
                        </a:cxn>
                        <a:cxn ang="T51">
                          <a:pos x="T30" y="T31"/>
                        </a:cxn>
                        <a:cxn ang="T52">
                          <a:pos x="T32" y="T33"/>
                        </a:cxn>
                        <a:cxn ang="T53">
                          <a:pos x="T34" y="T35"/>
                        </a:cxn>
                      </a:cxnLst>
                      <a:rect l="T54" t="T55" r="T56" b="T57"/>
                      <a:pathLst>
                        <a:path w="963" h="2101">
                          <a:moveTo>
                            <a:pt x="0" y="0"/>
                          </a:moveTo>
                          <a:lnTo>
                            <a:pt x="156" y="89"/>
                          </a:lnTo>
                          <a:lnTo>
                            <a:pt x="263" y="174"/>
                          </a:lnTo>
                          <a:lnTo>
                            <a:pt x="362" y="258"/>
                          </a:lnTo>
                          <a:lnTo>
                            <a:pt x="447" y="367"/>
                          </a:lnTo>
                          <a:lnTo>
                            <a:pt x="553" y="489"/>
                          </a:lnTo>
                          <a:lnTo>
                            <a:pt x="673" y="642"/>
                          </a:lnTo>
                          <a:lnTo>
                            <a:pt x="766" y="784"/>
                          </a:lnTo>
                          <a:lnTo>
                            <a:pt x="816" y="910"/>
                          </a:lnTo>
                          <a:lnTo>
                            <a:pt x="828" y="1034"/>
                          </a:lnTo>
                          <a:lnTo>
                            <a:pt x="824" y="1166"/>
                          </a:lnTo>
                          <a:lnTo>
                            <a:pt x="834" y="1311"/>
                          </a:lnTo>
                          <a:lnTo>
                            <a:pt x="846" y="1448"/>
                          </a:lnTo>
                          <a:lnTo>
                            <a:pt x="856" y="1571"/>
                          </a:lnTo>
                          <a:lnTo>
                            <a:pt x="873" y="1721"/>
                          </a:lnTo>
                          <a:lnTo>
                            <a:pt x="887" y="1848"/>
                          </a:lnTo>
                          <a:lnTo>
                            <a:pt x="917" y="1985"/>
                          </a:lnTo>
                          <a:lnTo>
                            <a:pt x="963" y="2101"/>
                          </a:lnTo>
                        </a:path>
                      </a:pathLst>
                    </a:custGeom>
                    <a:noFill/>
                    <a:ln w="7938">
                      <a:solidFill>
                        <a:schemeClr val="folHlink"/>
                      </a:solidFill>
                      <a:prstDash val="solid"/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703" name="Line 1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868" y="2105"/>
                      <a:ext cx="501" cy="1"/>
                    </a:xfrm>
                    <a:prstGeom prst="line">
                      <a:avLst/>
                    </a:prstGeom>
                    <a:noFill/>
                    <a:ln w="7938">
                      <a:solidFill>
                        <a:schemeClr val="folHlink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2704" name="Group 11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3189" y="2070"/>
                      <a:ext cx="798" cy="1063"/>
                      <a:chOff x="3189" y="2070"/>
                      <a:chExt cx="798" cy="1063"/>
                    </a:xfrm>
                  </p:grpSpPr>
                  <p:sp>
                    <p:nvSpPr>
                      <p:cNvPr id="62705" name="Freeform 11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189" y="2070"/>
                        <a:ext cx="539" cy="1063"/>
                      </a:xfrm>
                      <a:custGeom>
                        <a:avLst/>
                        <a:gdLst>
                          <a:gd name="T0" fmla="*/ 0 w 1078"/>
                          <a:gd name="T1" fmla="*/ 0 h 2124"/>
                          <a:gd name="T2" fmla="*/ 67 w 1078"/>
                          <a:gd name="T3" fmla="*/ 45 h 2124"/>
                          <a:gd name="T4" fmla="*/ 126 w 1078"/>
                          <a:gd name="T5" fmla="*/ 95 h 2124"/>
                          <a:gd name="T6" fmla="*/ 173 w 1078"/>
                          <a:gd name="T7" fmla="*/ 137 h 2124"/>
                          <a:gd name="T8" fmla="*/ 222 w 1078"/>
                          <a:gd name="T9" fmla="*/ 195 h 2124"/>
                          <a:gd name="T10" fmla="*/ 268 w 1078"/>
                          <a:gd name="T11" fmla="*/ 259 h 2124"/>
                          <a:gd name="T12" fmla="*/ 307 w 1078"/>
                          <a:gd name="T13" fmla="*/ 324 h 2124"/>
                          <a:gd name="T14" fmla="*/ 336 w 1078"/>
                          <a:gd name="T15" fmla="*/ 394 h 2124"/>
                          <a:gd name="T16" fmla="*/ 354 w 1078"/>
                          <a:gd name="T17" fmla="*/ 461 h 2124"/>
                          <a:gd name="T18" fmla="*/ 360 w 1078"/>
                          <a:gd name="T19" fmla="*/ 522 h 2124"/>
                          <a:gd name="T20" fmla="*/ 363 w 1078"/>
                          <a:gd name="T21" fmla="*/ 591 h 2124"/>
                          <a:gd name="T22" fmla="*/ 374 w 1078"/>
                          <a:gd name="T23" fmla="*/ 659 h 2124"/>
                          <a:gd name="T24" fmla="*/ 385 w 1078"/>
                          <a:gd name="T25" fmla="*/ 725 h 2124"/>
                          <a:gd name="T26" fmla="*/ 401 w 1078"/>
                          <a:gd name="T27" fmla="*/ 791 h 2124"/>
                          <a:gd name="T28" fmla="*/ 421 w 1078"/>
                          <a:gd name="T29" fmla="*/ 868 h 2124"/>
                          <a:gd name="T30" fmla="*/ 445 w 1078"/>
                          <a:gd name="T31" fmla="*/ 926 h 2124"/>
                          <a:gd name="T32" fmla="*/ 485 w 1078"/>
                          <a:gd name="T33" fmla="*/ 992 h 2124"/>
                          <a:gd name="T34" fmla="*/ 539 w 1078"/>
                          <a:gd name="T35" fmla="*/ 1063 h 2124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78"/>
                          <a:gd name="T55" fmla="*/ 0 h 2124"/>
                          <a:gd name="T56" fmla="*/ 1078 w 1078"/>
                          <a:gd name="T57" fmla="*/ 2124 h 2124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78" h="2124">
                            <a:moveTo>
                              <a:pt x="0" y="0"/>
                            </a:moveTo>
                            <a:lnTo>
                              <a:pt x="133" y="90"/>
                            </a:lnTo>
                            <a:lnTo>
                              <a:pt x="253" y="189"/>
                            </a:lnTo>
                            <a:lnTo>
                              <a:pt x="347" y="273"/>
                            </a:lnTo>
                            <a:lnTo>
                              <a:pt x="444" y="390"/>
                            </a:lnTo>
                            <a:lnTo>
                              <a:pt x="535" y="518"/>
                            </a:lnTo>
                            <a:lnTo>
                              <a:pt x="615" y="648"/>
                            </a:lnTo>
                            <a:lnTo>
                              <a:pt x="673" y="788"/>
                            </a:lnTo>
                            <a:lnTo>
                              <a:pt x="709" y="921"/>
                            </a:lnTo>
                            <a:lnTo>
                              <a:pt x="721" y="1044"/>
                            </a:lnTo>
                            <a:lnTo>
                              <a:pt x="727" y="1180"/>
                            </a:lnTo>
                            <a:lnTo>
                              <a:pt x="749" y="1317"/>
                            </a:lnTo>
                            <a:lnTo>
                              <a:pt x="770" y="1449"/>
                            </a:lnTo>
                            <a:lnTo>
                              <a:pt x="802" y="1581"/>
                            </a:lnTo>
                            <a:lnTo>
                              <a:pt x="842" y="1735"/>
                            </a:lnTo>
                            <a:lnTo>
                              <a:pt x="891" y="1850"/>
                            </a:lnTo>
                            <a:lnTo>
                              <a:pt x="971" y="1982"/>
                            </a:lnTo>
                            <a:lnTo>
                              <a:pt x="1078" y="2124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6" name="Freeform 12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227" y="2077"/>
                        <a:ext cx="514" cy="1055"/>
                      </a:xfrm>
                      <a:custGeom>
                        <a:avLst/>
                        <a:gdLst>
                          <a:gd name="T0" fmla="*/ 0 w 1029"/>
                          <a:gd name="T1" fmla="*/ 0 h 2110"/>
                          <a:gd name="T2" fmla="*/ 78 w 1029"/>
                          <a:gd name="T3" fmla="*/ 49 h 2110"/>
                          <a:gd name="T4" fmla="*/ 138 w 1029"/>
                          <a:gd name="T5" fmla="*/ 93 h 2110"/>
                          <a:gd name="T6" fmla="*/ 182 w 1029"/>
                          <a:gd name="T7" fmla="*/ 136 h 2110"/>
                          <a:gd name="T8" fmla="*/ 223 w 1029"/>
                          <a:gd name="T9" fmla="*/ 186 h 2110"/>
                          <a:gd name="T10" fmla="*/ 267 w 1029"/>
                          <a:gd name="T11" fmla="*/ 244 h 2110"/>
                          <a:gd name="T12" fmla="*/ 321 w 1029"/>
                          <a:gd name="T13" fmla="*/ 321 h 2110"/>
                          <a:gd name="T14" fmla="*/ 358 w 1029"/>
                          <a:gd name="T15" fmla="*/ 389 h 2110"/>
                          <a:gd name="T16" fmla="*/ 383 w 1029"/>
                          <a:gd name="T17" fmla="*/ 460 h 2110"/>
                          <a:gd name="T18" fmla="*/ 385 w 1029"/>
                          <a:gd name="T19" fmla="*/ 524 h 2110"/>
                          <a:gd name="T20" fmla="*/ 388 w 1029"/>
                          <a:gd name="T21" fmla="*/ 583 h 2110"/>
                          <a:gd name="T22" fmla="*/ 394 w 1029"/>
                          <a:gd name="T23" fmla="*/ 642 h 2110"/>
                          <a:gd name="T24" fmla="*/ 401 w 1029"/>
                          <a:gd name="T25" fmla="*/ 710 h 2110"/>
                          <a:gd name="T26" fmla="*/ 414 w 1029"/>
                          <a:gd name="T27" fmla="*/ 787 h 2110"/>
                          <a:gd name="T28" fmla="*/ 428 w 1029"/>
                          <a:gd name="T29" fmla="*/ 855 h 2110"/>
                          <a:gd name="T30" fmla="*/ 441 w 1029"/>
                          <a:gd name="T31" fmla="*/ 912 h 2110"/>
                          <a:gd name="T32" fmla="*/ 463 w 1029"/>
                          <a:gd name="T33" fmla="*/ 971 h 2110"/>
                          <a:gd name="T34" fmla="*/ 514 w 1029"/>
                          <a:gd name="T35" fmla="*/ 1055 h 2110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029"/>
                          <a:gd name="T55" fmla="*/ 0 h 2110"/>
                          <a:gd name="T56" fmla="*/ 1029 w 1029"/>
                          <a:gd name="T57" fmla="*/ 2110 h 2110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029" h="2110">
                            <a:moveTo>
                              <a:pt x="0" y="0"/>
                            </a:moveTo>
                            <a:lnTo>
                              <a:pt x="157" y="99"/>
                            </a:lnTo>
                            <a:lnTo>
                              <a:pt x="276" y="187"/>
                            </a:lnTo>
                            <a:lnTo>
                              <a:pt x="365" y="273"/>
                            </a:lnTo>
                            <a:lnTo>
                              <a:pt x="447" y="372"/>
                            </a:lnTo>
                            <a:lnTo>
                              <a:pt x="535" y="489"/>
                            </a:lnTo>
                            <a:lnTo>
                              <a:pt x="642" y="642"/>
                            </a:lnTo>
                            <a:lnTo>
                              <a:pt x="717" y="778"/>
                            </a:lnTo>
                            <a:lnTo>
                              <a:pt x="767" y="921"/>
                            </a:lnTo>
                            <a:lnTo>
                              <a:pt x="771" y="1047"/>
                            </a:lnTo>
                            <a:lnTo>
                              <a:pt x="776" y="1166"/>
                            </a:lnTo>
                            <a:lnTo>
                              <a:pt x="789" y="1284"/>
                            </a:lnTo>
                            <a:lnTo>
                              <a:pt x="802" y="1420"/>
                            </a:lnTo>
                            <a:lnTo>
                              <a:pt x="828" y="1575"/>
                            </a:lnTo>
                            <a:lnTo>
                              <a:pt x="856" y="1711"/>
                            </a:lnTo>
                            <a:lnTo>
                              <a:pt x="882" y="1825"/>
                            </a:lnTo>
                            <a:lnTo>
                              <a:pt x="927" y="1943"/>
                            </a:lnTo>
                            <a:lnTo>
                              <a:pt x="1029" y="2110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7" name="Freeform 12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307" y="2083"/>
                        <a:ext cx="443" cy="1046"/>
                      </a:xfrm>
                      <a:custGeom>
                        <a:avLst/>
                        <a:gdLst>
                          <a:gd name="T0" fmla="*/ 0 w 886"/>
                          <a:gd name="T1" fmla="*/ 0 h 2092"/>
                          <a:gd name="T2" fmla="*/ 62 w 886"/>
                          <a:gd name="T3" fmla="*/ 35 h 2092"/>
                          <a:gd name="T4" fmla="*/ 109 w 886"/>
                          <a:gd name="T5" fmla="*/ 68 h 2092"/>
                          <a:gd name="T6" fmla="*/ 159 w 886"/>
                          <a:gd name="T7" fmla="*/ 113 h 2092"/>
                          <a:gd name="T8" fmla="*/ 216 w 886"/>
                          <a:gd name="T9" fmla="*/ 169 h 2092"/>
                          <a:gd name="T10" fmla="*/ 284 w 886"/>
                          <a:gd name="T11" fmla="*/ 243 h 2092"/>
                          <a:gd name="T12" fmla="*/ 348 w 886"/>
                          <a:gd name="T13" fmla="*/ 312 h 2092"/>
                          <a:gd name="T14" fmla="*/ 397 w 886"/>
                          <a:gd name="T15" fmla="*/ 380 h 2092"/>
                          <a:gd name="T16" fmla="*/ 428 w 886"/>
                          <a:gd name="T17" fmla="*/ 450 h 2092"/>
                          <a:gd name="T18" fmla="*/ 432 w 886"/>
                          <a:gd name="T19" fmla="*/ 513 h 2092"/>
                          <a:gd name="T20" fmla="*/ 437 w 886"/>
                          <a:gd name="T21" fmla="*/ 578 h 2092"/>
                          <a:gd name="T22" fmla="*/ 437 w 886"/>
                          <a:gd name="T23" fmla="*/ 641 h 2092"/>
                          <a:gd name="T24" fmla="*/ 437 w 886"/>
                          <a:gd name="T25" fmla="*/ 715 h 2092"/>
                          <a:gd name="T26" fmla="*/ 437 w 886"/>
                          <a:gd name="T27" fmla="*/ 783 h 2092"/>
                          <a:gd name="T28" fmla="*/ 434 w 886"/>
                          <a:gd name="T29" fmla="*/ 853 h 2092"/>
                          <a:gd name="T30" fmla="*/ 434 w 886"/>
                          <a:gd name="T31" fmla="*/ 913 h 2092"/>
                          <a:gd name="T32" fmla="*/ 441 w 886"/>
                          <a:gd name="T33" fmla="*/ 986 h 2092"/>
                          <a:gd name="T34" fmla="*/ 443 w 886"/>
                          <a:gd name="T35" fmla="*/ 1046 h 2092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886"/>
                          <a:gd name="T55" fmla="*/ 0 h 2092"/>
                          <a:gd name="T56" fmla="*/ 886 w 886"/>
                          <a:gd name="T57" fmla="*/ 2092 h 2092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886" h="2092">
                            <a:moveTo>
                              <a:pt x="0" y="0"/>
                            </a:moveTo>
                            <a:lnTo>
                              <a:pt x="125" y="71"/>
                            </a:lnTo>
                            <a:lnTo>
                              <a:pt x="218" y="136"/>
                            </a:lnTo>
                            <a:lnTo>
                              <a:pt x="317" y="226"/>
                            </a:lnTo>
                            <a:lnTo>
                              <a:pt x="432" y="339"/>
                            </a:lnTo>
                            <a:lnTo>
                              <a:pt x="567" y="486"/>
                            </a:lnTo>
                            <a:lnTo>
                              <a:pt x="696" y="624"/>
                            </a:lnTo>
                            <a:lnTo>
                              <a:pt x="793" y="760"/>
                            </a:lnTo>
                            <a:lnTo>
                              <a:pt x="856" y="901"/>
                            </a:lnTo>
                            <a:lnTo>
                              <a:pt x="864" y="1025"/>
                            </a:lnTo>
                            <a:lnTo>
                              <a:pt x="874" y="1157"/>
                            </a:lnTo>
                            <a:lnTo>
                              <a:pt x="874" y="1283"/>
                            </a:lnTo>
                            <a:lnTo>
                              <a:pt x="874" y="1430"/>
                            </a:lnTo>
                            <a:lnTo>
                              <a:pt x="874" y="1566"/>
                            </a:lnTo>
                            <a:lnTo>
                              <a:pt x="868" y="1706"/>
                            </a:lnTo>
                            <a:lnTo>
                              <a:pt x="868" y="1826"/>
                            </a:lnTo>
                            <a:lnTo>
                              <a:pt x="882" y="1972"/>
                            </a:lnTo>
                            <a:lnTo>
                              <a:pt x="886" y="2092"/>
                            </a:lnTo>
                          </a:path>
                        </a:pathLst>
                      </a:custGeom>
                      <a:noFill/>
                      <a:ln w="7938">
                        <a:solidFill>
                          <a:schemeClr val="folHlink"/>
                        </a:solidFill>
                        <a:prstDash val="solid"/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8" name="Line 1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64" y="2728"/>
                        <a:ext cx="623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09" name="Line 1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387" y="2796"/>
                        <a:ext cx="57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0" name="Line 1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23" y="2869"/>
                        <a:ext cx="516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1" name="Line 1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458" y="2935"/>
                        <a:ext cx="45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2" name="Line 126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02" y="2998"/>
                        <a:ext cx="387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3" name="Line 12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48" y="3050"/>
                        <a:ext cx="309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  <p:sp>
                    <p:nvSpPr>
                      <p:cNvPr id="62714" name="Line 12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095"/>
                        <a:ext cx="214" cy="1"/>
                      </a:xfrm>
                      <a:prstGeom prst="line">
                        <a:avLst/>
                      </a:prstGeom>
                      <a:noFill/>
                      <a:ln w="7938">
                        <a:solidFill>
                          <a:schemeClr val="folHlink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pt-BR"/>
                      </a:p>
                    </p:txBody>
                  </p:sp>
                </p:grpSp>
              </p:grpSp>
              <p:grpSp>
                <p:nvGrpSpPr>
                  <p:cNvPr id="62622" name="Group 129"/>
                  <p:cNvGrpSpPr>
                    <a:grpSpLocks/>
                  </p:cNvGrpSpPr>
                  <p:nvPr/>
                </p:nvGrpSpPr>
                <p:grpSpPr bwMode="auto">
                  <a:xfrm>
                    <a:off x="3691" y="853"/>
                    <a:ext cx="1114" cy="577"/>
                    <a:chOff x="1803" y="2102"/>
                    <a:chExt cx="2127" cy="1033"/>
                  </a:xfrm>
                </p:grpSpPr>
                <p:sp>
                  <p:nvSpPr>
                    <p:cNvPr id="62657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2953" y="2346"/>
                      <a:ext cx="10" cy="11"/>
                    </a:xfrm>
                    <a:custGeom>
                      <a:avLst/>
                      <a:gdLst>
                        <a:gd name="T0" fmla="*/ 10 w 20"/>
                        <a:gd name="T1" fmla="*/ 1 h 21"/>
                        <a:gd name="T2" fmla="*/ 10 w 20"/>
                        <a:gd name="T3" fmla="*/ 10 h 21"/>
                        <a:gd name="T4" fmla="*/ 6 w 20"/>
                        <a:gd name="T5" fmla="*/ 11 h 21"/>
                        <a:gd name="T6" fmla="*/ 0 w 20"/>
                        <a:gd name="T7" fmla="*/ 2 h 21"/>
                        <a:gd name="T8" fmla="*/ 4 w 20"/>
                        <a:gd name="T9" fmla="*/ 0 h 21"/>
                        <a:gd name="T10" fmla="*/ 10 w 20"/>
                        <a:gd name="T11" fmla="*/ 1 h 21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20"/>
                        <a:gd name="T19" fmla="*/ 0 h 21"/>
                        <a:gd name="T20" fmla="*/ 20 w 20"/>
                        <a:gd name="T21" fmla="*/ 21 h 21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20" h="21">
                          <a:moveTo>
                            <a:pt x="20" y="1"/>
                          </a:moveTo>
                          <a:lnTo>
                            <a:pt x="20" y="20"/>
                          </a:lnTo>
                          <a:lnTo>
                            <a:pt x="13" y="21"/>
                          </a:lnTo>
                          <a:lnTo>
                            <a:pt x="0" y="4"/>
                          </a:lnTo>
                          <a:lnTo>
                            <a:pt x="8" y="0"/>
                          </a:lnTo>
                          <a:lnTo>
                            <a:pt x="20" y="1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62658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2934" y="2327"/>
                      <a:ext cx="9" cy="16"/>
                    </a:xfrm>
                    <a:custGeom>
                      <a:avLst/>
                      <a:gdLst>
                        <a:gd name="T0" fmla="*/ 9 w 18"/>
                        <a:gd name="T1" fmla="*/ 0 h 32"/>
                        <a:gd name="T2" fmla="*/ 0 w 18"/>
                        <a:gd name="T3" fmla="*/ 3 h 32"/>
                        <a:gd name="T4" fmla="*/ 1 w 18"/>
                        <a:gd name="T5" fmla="*/ 16 h 32"/>
                        <a:gd name="T6" fmla="*/ 7 w 18"/>
                        <a:gd name="T7" fmla="*/ 14 h 32"/>
                        <a:gd name="T8" fmla="*/ 9 w 18"/>
                        <a:gd name="T9" fmla="*/ 0 h 3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8"/>
                        <a:gd name="T16" fmla="*/ 0 h 32"/>
                        <a:gd name="T17" fmla="*/ 18 w 18"/>
                        <a:gd name="T18" fmla="*/ 32 h 3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8" h="32">
                          <a:moveTo>
                            <a:pt x="18" y="0"/>
                          </a:moveTo>
                          <a:lnTo>
                            <a:pt x="0" y="6"/>
                          </a:lnTo>
                          <a:lnTo>
                            <a:pt x="3" y="32"/>
                          </a:lnTo>
                          <a:lnTo>
                            <a:pt x="15" y="29"/>
                          </a:lnTo>
                          <a:lnTo>
                            <a:pt x="18" y="0"/>
                          </a:lnTo>
                          <a:close/>
                        </a:path>
                      </a:pathLst>
                    </a:custGeom>
                    <a:solidFill>
                      <a:srgbClr val="CCFFCC"/>
                    </a:solidFill>
                    <a:ln w="7938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pt-BR"/>
                    </a:p>
                  </p:txBody>
                </p:sp>
                <p:grpSp>
                  <p:nvGrpSpPr>
                    <p:cNvPr id="62659" name="Group 1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803" y="2102"/>
                      <a:ext cx="2127" cy="1033"/>
                      <a:chOff x="1803" y="2102"/>
                      <a:chExt cx="2127" cy="1033"/>
                    </a:xfrm>
                  </p:grpSpPr>
                  <p:grpSp>
                    <p:nvGrpSpPr>
                      <p:cNvPr id="62660" name="Group 1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48" y="2104"/>
                        <a:ext cx="1182" cy="1027"/>
                        <a:chOff x="2748" y="2104"/>
                        <a:chExt cx="1182" cy="1027"/>
                      </a:xfrm>
                    </p:grpSpPr>
                    <p:grpSp>
                      <p:nvGrpSpPr>
                        <p:cNvPr id="62670" name="Group 134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561" y="2616"/>
                          <a:ext cx="369" cy="515"/>
                          <a:chOff x="3561" y="2616"/>
                          <a:chExt cx="369" cy="515"/>
                        </a:xfrm>
                      </p:grpSpPr>
                      <p:sp>
                        <p:nvSpPr>
                          <p:cNvPr id="62695" name="Freeform 135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1" y="3034"/>
                            <a:ext cx="263" cy="97"/>
                          </a:xfrm>
                          <a:custGeom>
                            <a:avLst/>
                            <a:gdLst>
                              <a:gd name="T0" fmla="*/ 52 w 525"/>
                              <a:gd name="T1" fmla="*/ 3 h 194"/>
                              <a:gd name="T2" fmla="*/ 71 w 525"/>
                              <a:gd name="T3" fmla="*/ 6 h 194"/>
                              <a:gd name="T4" fmla="*/ 79 w 525"/>
                              <a:gd name="T5" fmla="*/ 5 h 194"/>
                              <a:gd name="T6" fmla="*/ 89 w 525"/>
                              <a:gd name="T7" fmla="*/ 2 h 194"/>
                              <a:gd name="T8" fmla="*/ 98 w 525"/>
                              <a:gd name="T9" fmla="*/ 1 h 194"/>
                              <a:gd name="T10" fmla="*/ 104 w 525"/>
                              <a:gd name="T11" fmla="*/ 0 h 194"/>
                              <a:gd name="T12" fmla="*/ 113 w 525"/>
                              <a:gd name="T13" fmla="*/ 5 h 194"/>
                              <a:gd name="T14" fmla="*/ 116 w 525"/>
                              <a:gd name="T15" fmla="*/ 9 h 194"/>
                              <a:gd name="T16" fmla="*/ 126 w 525"/>
                              <a:gd name="T17" fmla="*/ 8 h 194"/>
                              <a:gd name="T18" fmla="*/ 133 w 525"/>
                              <a:gd name="T19" fmla="*/ 8 h 194"/>
                              <a:gd name="T20" fmla="*/ 140 w 525"/>
                              <a:gd name="T21" fmla="*/ 5 h 194"/>
                              <a:gd name="T22" fmla="*/ 147 w 525"/>
                              <a:gd name="T23" fmla="*/ 3 h 194"/>
                              <a:gd name="T24" fmla="*/ 152 w 525"/>
                              <a:gd name="T25" fmla="*/ 2 h 194"/>
                              <a:gd name="T26" fmla="*/ 162 w 525"/>
                              <a:gd name="T27" fmla="*/ 5 h 194"/>
                              <a:gd name="T28" fmla="*/ 177 w 525"/>
                              <a:gd name="T29" fmla="*/ 6 h 194"/>
                              <a:gd name="T30" fmla="*/ 193 w 525"/>
                              <a:gd name="T31" fmla="*/ 11 h 194"/>
                              <a:gd name="T32" fmla="*/ 204 w 525"/>
                              <a:gd name="T33" fmla="*/ 13 h 194"/>
                              <a:gd name="T34" fmla="*/ 211 w 525"/>
                              <a:gd name="T35" fmla="*/ 16 h 194"/>
                              <a:gd name="T36" fmla="*/ 220 w 525"/>
                              <a:gd name="T37" fmla="*/ 12 h 194"/>
                              <a:gd name="T38" fmla="*/ 230 w 525"/>
                              <a:gd name="T39" fmla="*/ 14 h 194"/>
                              <a:gd name="T40" fmla="*/ 237 w 525"/>
                              <a:gd name="T41" fmla="*/ 16 h 194"/>
                              <a:gd name="T42" fmla="*/ 243 w 525"/>
                              <a:gd name="T43" fmla="*/ 19 h 194"/>
                              <a:gd name="T44" fmla="*/ 251 w 525"/>
                              <a:gd name="T45" fmla="*/ 23 h 194"/>
                              <a:gd name="T46" fmla="*/ 257 w 525"/>
                              <a:gd name="T47" fmla="*/ 27 h 194"/>
                              <a:gd name="T48" fmla="*/ 261 w 525"/>
                              <a:gd name="T49" fmla="*/ 31 h 194"/>
                              <a:gd name="T50" fmla="*/ 263 w 525"/>
                              <a:gd name="T51" fmla="*/ 36 h 194"/>
                              <a:gd name="T52" fmla="*/ 255 w 525"/>
                              <a:gd name="T53" fmla="*/ 40 h 194"/>
                              <a:gd name="T54" fmla="*/ 244 w 525"/>
                              <a:gd name="T55" fmla="*/ 45 h 194"/>
                              <a:gd name="T56" fmla="*/ 237 w 525"/>
                              <a:gd name="T57" fmla="*/ 51 h 194"/>
                              <a:gd name="T58" fmla="*/ 240 w 525"/>
                              <a:gd name="T59" fmla="*/ 56 h 194"/>
                              <a:gd name="T60" fmla="*/ 235 w 525"/>
                              <a:gd name="T61" fmla="*/ 61 h 194"/>
                              <a:gd name="T62" fmla="*/ 229 w 525"/>
                              <a:gd name="T63" fmla="*/ 67 h 194"/>
                              <a:gd name="T64" fmla="*/ 224 w 525"/>
                              <a:gd name="T65" fmla="*/ 68 h 194"/>
                              <a:gd name="T66" fmla="*/ 216 w 525"/>
                              <a:gd name="T67" fmla="*/ 73 h 194"/>
                              <a:gd name="T68" fmla="*/ 231 w 525"/>
                              <a:gd name="T69" fmla="*/ 79 h 194"/>
                              <a:gd name="T70" fmla="*/ 220 w 525"/>
                              <a:gd name="T71" fmla="*/ 84 h 194"/>
                              <a:gd name="T72" fmla="*/ 199 w 525"/>
                              <a:gd name="T73" fmla="*/ 84 h 194"/>
                              <a:gd name="T74" fmla="*/ 186 w 525"/>
                              <a:gd name="T75" fmla="*/ 91 h 194"/>
                              <a:gd name="T76" fmla="*/ 176 w 525"/>
                              <a:gd name="T77" fmla="*/ 97 h 194"/>
                              <a:gd name="T78" fmla="*/ 153 w 525"/>
                              <a:gd name="T79" fmla="*/ 95 h 194"/>
                              <a:gd name="T80" fmla="*/ 137 w 525"/>
                              <a:gd name="T81" fmla="*/ 90 h 194"/>
                              <a:gd name="T82" fmla="*/ 121 w 525"/>
                              <a:gd name="T83" fmla="*/ 87 h 194"/>
                              <a:gd name="T84" fmla="*/ 104 w 525"/>
                              <a:gd name="T85" fmla="*/ 82 h 194"/>
                              <a:gd name="T86" fmla="*/ 96 w 525"/>
                              <a:gd name="T87" fmla="*/ 80 h 194"/>
                              <a:gd name="T88" fmla="*/ 74 w 525"/>
                              <a:gd name="T89" fmla="*/ 72 h 194"/>
                              <a:gd name="T90" fmla="*/ 59 w 525"/>
                              <a:gd name="T91" fmla="*/ 66 h 194"/>
                              <a:gd name="T92" fmla="*/ 47 w 525"/>
                              <a:gd name="T93" fmla="*/ 59 h 194"/>
                              <a:gd name="T94" fmla="*/ 35 w 525"/>
                              <a:gd name="T95" fmla="*/ 53 h 194"/>
                              <a:gd name="T96" fmla="*/ 25 w 525"/>
                              <a:gd name="T97" fmla="*/ 44 h 194"/>
                              <a:gd name="T98" fmla="*/ 13 w 525"/>
                              <a:gd name="T99" fmla="*/ 35 h 194"/>
                              <a:gd name="T100" fmla="*/ 2 w 525"/>
                              <a:gd name="T101" fmla="*/ 27 h 194"/>
                              <a:gd name="T102" fmla="*/ 8 w 525"/>
                              <a:gd name="T103" fmla="*/ 22 h 194"/>
                              <a:gd name="T104" fmla="*/ 14 w 525"/>
                              <a:gd name="T105" fmla="*/ 11 h 194"/>
                              <a:gd name="T106" fmla="*/ 21 w 525"/>
                              <a:gd name="T107" fmla="*/ 6 h 194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525"/>
                              <a:gd name="T163" fmla="*/ 0 h 194"/>
                              <a:gd name="T164" fmla="*/ 525 w 525"/>
                              <a:gd name="T165" fmla="*/ 194 h 194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525" h="194">
                                <a:moveTo>
                                  <a:pt x="49" y="7"/>
                                </a:moveTo>
                                <a:lnTo>
                                  <a:pt x="103" y="7"/>
                                </a:lnTo>
                                <a:lnTo>
                                  <a:pt x="121" y="9"/>
                                </a:lnTo>
                                <a:lnTo>
                                  <a:pt x="141" y="11"/>
                                </a:lnTo>
                                <a:lnTo>
                                  <a:pt x="149" y="16"/>
                                </a:lnTo>
                                <a:lnTo>
                                  <a:pt x="158" y="10"/>
                                </a:lnTo>
                                <a:lnTo>
                                  <a:pt x="169" y="6"/>
                                </a:lnTo>
                                <a:lnTo>
                                  <a:pt x="177" y="3"/>
                                </a:lnTo>
                                <a:lnTo>
                                  <a:pt x="189" y="1"/>
                                </a:lnTo>
                                <a:lnTo>
                                  <a:pt x="196" y="1"/>
                                </a:lnTo>
                                <a:lnTo>
                                  <a:pt x="202" y="1"/>
                                </a:lnTo>
                                <a:lnTo>
                                  <a:pt x="208" y="0"/>
                                </a:lnTo>
                                <a:lnTo>
                                  <a:pt x="221" y="10"/>
                                </a:lnTo>
                                <a:lnTo>
                                  <a:pt x="225" y="10"/>
                                </a:lnTo>
                                <a:lnTo>
                                  <a:pt x="229" y="16"/>
                                </a:lnTo>
                                <a:lnTo>
                                  <a:pt x="232" y="17"/>
                                </a:lnTo>
                                <a:lnTo>
                                  <a:pt x="243" y="16"/>
                                </a:lnTo>
                                <a:lnTo>
                                  <a:pt x="251" y="16"/>
                                </a:lnTo>
                                <a:lnTo>
                                  <a:pt x="261" y="16"/>
                                </a:lnTo>
                                <a:lnTo>
                                  <a:pt x="266" y="16"/>
                                </a:lnTo>
                                <a:lnTo>
                                  <a:pt x="274" y="16"/>
                                </a:lnTo>
                                <a:lnTo>
                                  <a:pt x="280" y="10"/>
                                </a:lnTo>
                                <a:lnTo>
                                  <a:pt x="285" y="7"/>
                                </a:lnTo>
                                <a:lnTo>
                                  <a:pt x="293" y="6"/>
                                </a:lnTo>
                                <a:lnTo>
                                  <a:pt x="296" y="6"/>
                                </a:lnTo>
                                <a:lnTo>
                                  <a:pt x="303" y="4"/>
                                </a:lnTo>
                                <a:lnTo>
                                  <a:pt x="314" y="7"/>
                                </a:lnTo>
                                <a:lnTo>
                                  <a:pt x="324" y="9"/>
                                </a:lnTo>
                                <a:lnTo>
                                  <a:pt x="335" y="10"/>
                                </a:lnTo>
                                <a:lnTo>
                                  <a:pt x="354" y="13"/>
                                </a:lnTo>
                                <a:lnTo>
                                  <a:pt x="377" y="20"/>
                                </a:lnTo>
                                <a:lnTo>
                                  <a:pt x="385" y="22"/>
                                </a:lnTo>
                                <a:lnTo>
                                  <a:pt x="396" y="25"/>
                                </a:lnTo>
                                <a:lnTo>
                                  <a:pt x="407" y="26"/>
                                </a:lnTo>
                                <a:lnTo>
                                  <a:pt x="416" y="30"/>
                                </a:lnTo>
                                <a:lnTo>
                                  <a:pt x="421" y="32"/>
                                </a:lnTo>
                                <a:lnTo>
                                  <a:pt x="433" y="29"/>
                                </a:lnTo>
                                <a:lnTo>
                                  <a:pt x="439" y="25"/>
                                </a:lnTo>
                                <a:lnTo>
                                  <a:pt x="448" y="25"/>
                                </a:lnTo>
                                <a:lnTo>
                                  <a:pt x="459" y="29"/>
                                </a:lnTo>
                                <a:lnTo>
                                  <a:pt x="464" y="30"/>
                                </a:lnTo>
                                <a:lnTo>
                                  <a:pt x="474" y="32"/>
                                </a:lnTo>
                                <a:lnTo>
                                  <a:pt x="479" y="35"/>
                                </a:lnTo>
                                <a:lnTo>
                                  <a:pt x="485" y="38"/>
                                </a:lnTo>
                                <a:lnTo>
                                  <a:pt x="495" y="43"/>
                                </a:lnTo>
                                <a:lnTo>
                                  <a:pt x="502" y="45"/>
                                </a:lnTo>
                                <a:lnTo>
                                  <a:pt x="507" y="49"/>
                                </a:lnTo>
                                <a:lnTo>
                                  <a:pt x="514" y="54"/>
                                </a:lnTo>
                                <a:lnTo>
                                  <a:pt x="518" y="56"/>
                                </a:lnTo>
                                <a:lnTo>
                                  <a:pt x="522" y="62"/>
                                </a:lnTo>
                                <a:lnTo>
                                  <a:pt x="522" y="67"/>
                                </a:lnTo>
                                <a:lnTo>
                                  <a:pt x="525" y="71"/>
                                </a:lnTo>
                                <a:lnTo>
                                  <a:pt x="518" y="77"/>
                                </a:lnTo>
                                <a:lnTo>
                                  <a:pt x="509" y="80"/>
                                </a:lnTo>
                                <a:lnTo>
                                  <a:pt x="499" y="88"/>
                                </a:lnTo>
                                <a:lnTo>
                                  <a:pt x="487" y="90"/>
                                </a:lnTo>
                                <a:lnTo>
                                  <a:pt x="479" y="97"/>
                                </a:lnTo>
                                <a:lnTo>
                                  <a:pt x="474" y="103"/>
                                </a:lnTo>
                                <a:lnTo>
                                  <a:pt x="470" y="107"/>
                                </a:lnTo>
                                <a:lnTo>
                                  <a:pt x="479" y="112"/>
                                </a:lnTo>
                                <a:lnTo>
                                  <a:pt x="479" y="116"/>
                                </a:lnTo>
                                <a:lnTo>
                                  <a:pt x="469" y="122"/>
                                </a:lnTo>
                                <a:lnTo>
                                  <a:pt x="462" y="128"/>
                                </a:lnTo>
                                <a:lnTo>
                                  <a:pt x="457" y="133"/>
                                </a:lnTo>
                                <a:lnTo>
                                  <a:pt x="451" y="135"/>
                                </a:lnTo>
                                <a:lnTo>
                                  <a:pt x="447" y="135"/>
                                </a:lnTo>
                                <a:lnTo>
                                  <a:pt x="436" y="138"/>
                                </a:lnTo>
                                <a:lnTo>
                                  <a:pt x="432" y="146"/>
                                </a:lnTo>
                                <a:lnTo>
                                  <a:pt x="425" y="152"/>
                                </a:lnTo>
                                <a:lnTo>
                                  <a:pt x="461" y="158"/>
                                </a:lnTo>
                                <a:lnTo>
                                  <a:pt x="457" y="164"/>
                                </a:lnTo>
                                <a:lnTo>
                                  <a:pt x="440" y="168"/>
                                </a:lnTo>
                                <a:lnTo>
                                  <a:pt x="417" y="165"/>
                                </a:lnTo>
                                <a:lnTo>
                                  <a:pt x="398" y="168"/>
                                </a:lnTo>
                                <a:lnTo>
                                  <a:pt x="380" y="174"/>
                                </a:lnTo>
                                <a:lnTo>
                                  <a:pt x="372" y="181"/>
                                </a:lnTo>
                                <a:lnTo>
                                  <a:pt x="369" y="193"/>
                                </a:lnTo>
                                <a:lnTo>
                                  <a:pt x="351" y="194"/>
                                </a:lnTo>
                                <a:lnTo>
                                  <a:pt x="333" y="192"/>
                                </a:lnTo>
                                <a:lnTo>
                                  <a:pt x="306" y="189"/>
                                </a:lnTo>
                                <a:lnTo>
                                  <a:pt x="293" y="184"/>
                                </a:lnTo>
                                <a:lnTo>
                                  <a:pt x="273" y="180"/>
                                </a:lnTo>
                                <a:lnTo>
                                  <a:pt x="258" y="177"/>
                                </a:lnTo>
                                <a:lnTo>
                                  <a:pt x="241" y="174"/>
                                </a:lnTo>
                                <a:lnTo>
                                  <a:pt x="221" y="171"/>
                                </a:lnTo>
                                <a:lnTo>
                                  <a:pt x="207" y="164"/>
                                </a:lnTo>
                                <a:lnTo>
                                  <a:pt x="195" y="161"/>
                                </a:lnTo>
                                <a:lnTo>
                                  <a:pt x="191" y="160"/>
                                </a:lnTo>
                                <a:lnTo>
                                  <a:pt x="169" y="154"/>
                                </a:lnTo>
                                <a:lnTo>
                                  <a:pt x="147" y="144"/>
                                </a:lnTo>
                                <a:lnTo>
                                  <a:pt x="128" y="136"/>
                                </a:lnTo>
                                <a:lnTo>
                                  <a:pt x="118" y="131"/>
                                </a:lnTo>
                                <a:lnTo>
                                  <a:pt x="104" y="125"/>
                                </a:lnTo>
                                <a:lnTo>
                                  <a:pt x="93" y="119"/>
                                </a:lnTo>
                                <a:lnTo>
                                  <a:pt x="81" y="113"/>
                                </a:lnTo>
                                <a:lnTo>
                                  <a:pt x="70" y="106"/>
                                </a:lnTo>
                                <a:lnTo>
                                  <a:pt x="60" y="97"/>
                                </a:lnTo>
                                <a:lnTo>
                                  <a:pt x="49" y="88"/>
                                </a:lnTo>
                                <a:lnTo>
                                  <a:pt x="38" y="81"/>
                                </a:lnTo>
                                <a:lnTo>
                                  <a:pt x="25" y="70"/>
                                </a:lnTo>
                                <a:lnTo>
                                  <a:pt x="14" y="62"/>
                                </a:lnTo>
                                <a:lnTo>
                                  <a:pt x="4" y="55"/>
                                </a:lnTo>
                                <a:lnTo>
                                  <a:pt x="0" y="48"/>
                                </a:lnTo>
                                <a:lnTo>
                                  <a:pt x="15" y="43"/>
                                </a:lnTo>
                                <a:lnTo>
                                  <a:pt x="7" y="27"/>
                                </a:lnTo>
                                <a:lnTo>
                                  <a:pt x="27" y="22"/>
                                </a:lnTo>
                                <a:lnTo>
                                  <a:pt x="19" y="16"/>
                                </a:lnTo>
                                <a:lnTo>
                                  <a:pt x="41" y="13"/>
                                </a:lnTo>
                                <a:lnTo>
                                  <a:pt x="49" y="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2696" name="Group 136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756" y="2823"/>
                            <a:ext cx="174" cy="87"/>
                            <a:chOff x="3756" y="2823"/>
                            <a:chExt cx="174" cy="87"/>
                          </a:xfrm>
                        </p:grpSpPr>
                        <p:sp>
                          <p:nvSpPr>
                            <p:cNvPr id="62698" name="Freeform 137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902" y="2823"/>
                              <a:ext cx="28" cy="53"/>
                            </a:xfrm>
                            <a:custGeom>
                              <a:avLst/>
                              <a:gdLst>
                                <a:gd name="T0" fmla="*/ 9 w 55"/>
                                <a:gd name="T1" fmla="*/ 1 h 108"/>
                                <a:gd name="T2" fmla="*/ 12 w 55"/>
                                <a:gd name="T3" fmla="*/ 0 h 108"/>
                                <a:gd name="T4" fmla="*/ 17 w 55"/>
                                <a:gd name="T5" fmla="*/ 6 h 108"/>
                                <a:gd name="T6" fmla="*/ 16 w 55"/>
                                <a:gd name="T7" fmla="*/ 22 h 108"/>
                                <a:gd name="T8" fmla="*/ 19 w 55"/>
                                <a:gd name="T9" fmla="*/ 22 h 108"/>
                                <a:gd name="T10" fmla="*/ 20 w 55"/>
                                <a:gd name="T11" fmla="*/ 25 h 108"/>
                                <a:gd name="T12" fmla="*/ 21 w 55"/>
                                <a:gd name="T13" fmla="*/ 28 h 108"/>
                                <a:gd name="T14" fmla="*/ 22 w 55"/>
                                <a:gd name="T15" fmla="*/ 30 h 108"/>
                                <a:gd name="T16" fmla="*/ 25 w 55"/>
                                <a:gd name="T17" fmla="*/ 29 h 108"/>
                                <a:gd name="T18" fmla="*/ 27 w 55"/>
                                <a:gd name="T19" fmla="*/ 26 h 108"/>
                                <a:gd name="T20" fmla="*/ 28 w 55"/>
                                <a:gd name="T21" fmla="*/ 28 h 108"/>
                                <a:gd name="T22" fmla="*/ 26 w 55"/>
                                <a:gd name="T23" fmla="*/ 31 h 108"/>
                                <a:gd name="T24" fmla="*/ 25 w 55"/>
                                <a:gd name="T25" fmla="*/ 33 h 108"/>
                                <a:gd name="T26" fmla="*/ 24 w 55"/>
                                <a:gd name="T27" fmla="*/ 37 h 108"/>
                                <a:gd name="T28" fmla="*/ 21 w 55"/>
                                <a:gd name="T29" fmla="*/ 39 h 108"/>
                                <a:gd name="T30" fmla="*/ 19 w 55"/>
                                <a:gd name="T31" fmla="*/ 40 h 108"/>
                                <a:gd name="T32" fmla="*/ 16 w 55"/>
                                <a:gd name="T33" fmla="*/ 42 h 108"/>
                                <a:gd name="T34" fmla="*/ 15 w 55"/>
                                <a:gd name="T35" fmla="*/ 44 h 108"/>
                                <a:gd name="T36" fmla="*/ 16 w 55"/>
                                <a:gd name="T37" fmla="*/ 47 h 108"/>
                                <a:gd name="T38" fmla="*/ 17 w 55"/>
                                <a:gd name="T39" fmla="*/ 50 h 108"/>
                                <a:gd name="T40" fmla="*/ 13 w 55"/>
                                <a:gd name="T41" fmla="*/ 52 h 108"/>
                                <a:gd name="T42" fmla="*/ 11 w 55"/>
                                <a:gd name="T43" fmla="*/ 52 h 108"/>
                                <a:gd name="T44" fmla="*/ 9 w 55"/>
                                <a:gd name="T45" fmla="*/ 53 h 108"/>
                                <a:gd name="T46" fmla="*/ 8 w 55"/>
                                <a:gd name="T47" fmla="*/ 52 h 108"/>
                                <a:gd name="T48" fmla="*/ 4 w 55"/>
                                <a:gd name="T49" fmla="*/ 52 h 108"/>
                                <a:gd name="T50" fmla="*/ 3 w 55"/>
                                <a:gd name="T51" fmla="*/ 50 h 108"/>
                                <a:gd name="T52" fmla="*/ 4 w 55"/>
                                <a:gd name="T53" fmla="*/ 47 h 108"/>
                                <a:gd name="T54" fmla="*/ 7 w 55"/>
                                <a:gd name="T55" fmla="*/ 47 h 108"/>
                                <a:gd name="T56" fmla="*/ 9 w 55"/>
                                <a:gd name="T57" fmla="*/ 43 h 108"/>
                                <a:gd name="T58" fmla="*/ 9 w 55"/>
                                <a:gd name="T59" fmla="*/ 41 h 108"/>
                                <a:gd name="T60" fmla="*/ 7 w 55"/>
                                <a:gd name="T61" fmla="*/ 40 h 108"/>
                                <a:gd name="T62" fmla="*/ 4 w 55"/>
                                <a:gd name="T63" fmla="*/ 38 h 108"/>
                                <a:gd name="T64" fmla="*/ 2 w 55"/>
                                <a:gd name="T65" fmla="*/ 38 h 108"/>
                                <a:gd name="T66" fmla="*/ 1 w 55"/>
                                <a:gd name="T67" fmla="*/ 37 h 108"/>
                                <a:gd name="T68" fmla="*/ 0 w 55"/>
                                <a:gd name="T69" fmla="*/ 35 h 108"/>
                                <a:gd name="T70" fmla="*/ 1 w 55"/>
                                <a:gd name="T71" fmla="*/ 34 h 108"/>
                                <a:gd name="T72" fmla="*/ 2 w 55"/>
                                <a:gd name="T73" fmla="*/ 34 h 108"/>
                                <a:gd name="T74" fmla="*/ 4 w 55"/>
                                <a:gd name="T75" fmla="*/ 33 h 108"/>
                                <a:gd name="T76" fmla="*/ 7 w 55"/>
                                <a:gd name="T77" fmla="*/ 31 h 108"/>
                                <a:gd name="T78" fmla="*/ 8 w 55"/>
                                <a:gd name="T79" fmla="*/ 30 h 108"/>
                                <a:gd name="T80" fmla="*/ 10 w 55"/>
                                <a:gd name="T81" fmla="*/ 22 h 108"/>
                                <a:gd name="T82" fmla="*/ 8 w 55"/>
                                <a:gd name="T83" fmla="*/ 20 h 108"/>
                                <a:gd name="T84" fmla="*/ 6 w 55"/>
                                <a:gd name="T85" fmla="*/ 19 h 108"/>
                                <a:gd name="T86" fmla="*/ 6 w 55"/>
                                <a:gd name="T87" fmla="*/ 14 h 108"/>
                                <a:gd name="T88" fmla="*/ 6 w 55"/>
                                <a:gd name="T89" fmla="*/ 10 h 108"/>
                                <a:gd name="T90" fmla="*/ 7 w 55"/>
                                <a:gd name="T91" fmla="*/ 7 h 108"/>
                                <a:gd name="T92" fmla="*/ 9 w 55"/>
                                <a:gd name="T93" fmla="*/ 1 h 108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60000 65536"/>
                                <a:gd name="T133" fmla="*/ 0 60000 65536"/>
                                <a:gd name="T134" fmla="*/ 0 60000 65536"/>
                                <a:gd name="T135" fmla="*/ 0 60000 65536"/>
                                <a:gd name="T136" fmla="*/ 0 60000 65536"/>
                                <a:gd name="T137" fmla="*/ 0 60000 65536"/>
                                <a:gd name="T138" fmla="*/ 0 60000 65536"/>
                                <a:gd name="T139" fmla="*/ 0 60000 65536"/>
                                <a:gd name="T140" fmla="*/ 0 60000 65536"/>
                                <a:gd name="T141" fmla="*/ 0 w 55"/>
                                <a:gd name="T142" fmla="*/ 0 h 108"/>
                                <a:gd name="T143" fmla="*/ 55 w 55"/>
                                <a:gd name="T144" fmla="*/ 108 h 108"/>
                              </a:gdLst>
                              <a:ahLst/>
                              <a:cxnLst>
                                <a:cxn ang="T94">
                                  <a:pos x="T0" y="T1"/>
                                </a:cxn>
                                <a:cxn ang="T95">
                                  <a:pos x="T2" y="T3"/>
                                </a:cxn>
                                <a:cxn ang="T96">
                                  <a:pos x="T4" y="T5"/>
                                </a:cxn>
                                <a:cxn ang="T97">
                                  <a:pos x="T6" y="T7"/>
                                </a:cxn>
                                <a:cxn ang="T98">
                                  <a:pos x="T8" y="T9"/>
                                </a:cxn>
                                <a:cxn ang="T99">
                                  <a:pos x="T10" y="T11"/>
                                </a:cxn>
                                <a:cxn ang="T100">
                                  <a:pos x="T12" y="T13"/>
                                </a:cxn>
                                <a:cxn ang="T101">
                                  <a:pos x="T14" y="T15"/>
                                </a:cxn>
                                <a:cxn ang="T102">
                                  <a:pos x="T16" y="T17"/>
                                </a:cxn>
                                <a:cxn ang="T103">
                                  <a:pos x="T18" y="T19"/>
                                </a:cxn>
                                <a:cxn ang="T104">
                                  <a:pos x="T20" y="T21"/>
                                </a:cxn>
                                <a:cxn ang="T105">
                                  <a:pos x="T22" y="T23"/>
                                </a:cxn>
                                <a:cxn ang="T106">
                                  <a:pos x="T24" y="T25"/>
                                </a:cxn>
                                <a:cxn ang="T107">
                                  <a:pos x="T26" y="T27"/>
                                </a:cxn>
                                <a:cxn ang="T108">
                                  <a:pos x="T28" y="T29"/>
                                </a:cxn>
                                <a:cxn ang="T109">
                                  <a:pos x="T30" y="T31"/>
                                </a:cxn>
                                <a:cxn ang="T110">
                                  <a:pos x="T32" y="T33"/>
                                </a:cxn>
                                <a:cxn ang="T111">
                                  <a:pos x="T34" y="T35"/>
                                </a:cxn>
                                <a:cxn ang="T112">
                                  <a:pos x="T36" y="T37"/>
                                </a:cxn>
                                <a:cxn ang="T113">
                                  <a:pos x="T38" y="T39"/>
                                </a:cxn>
                                <a:cxn ang="T114">
                                  <a:pos x="T40" y="T41"/>
                                </a:cxn>
                                <a:cxn ang="T115">
                                  <a:pos x="T42" y="T43"/>
                                </a:cxn>
                                <a:cxn ang="T116">
                                  <a:pos x="T44" y="T45"/>
                                </a:cxn>
                                <a:cxn ang="T117">
                                  <a:pos x="T46" y="T47"/>
                                </a:cxn>
                                <a:cxn ang="T118">
                                  <a:pos x="T48" y="T49"/>
                                </a:cxn>
                                <a:cxn ang="T119">
                                  <a:pos x="T50" y="T51"/>
                                </a:cxn>
                                <a:cxn ang="T120">
                                  <a:pos x="T52" y="T53"/>
                                </a:cxn>
                                <a:cxn ang="T121">
                                  <a:pos x="T54" y="T55"/>
                                </a:cxn>
                                <a:cxn ang="T122">
                                  <a:pos x="T56" y="T57"/>
                                </a:cxn>
                                <a:cxn ang="T123">
                                  <a:pos x="T58" y="T59"/>
                                </a:cxn>
                                <a:cxn ang="T124">
                                  <a:pos x="T60" y="T61"/>
                                </a:cxn>
                                <a:cxn ang="T125">
                                  <a:pos x="T62" y="T63"/>
                                </a:cxn>
                                <a:cxn ang="T126">
                                  <a:pos x="T64" y="T65"/>
                                </a:cxn>
                                <a:cxn ang="T127">
                                  <a:pos x="T66" y="T67"/>
                                </a:cxn>
                                <a:cxn ang="T128">
                                  <a:pos x="T68" y="T69"/>
                                </a:cxn>
                                <a:cxn ang="T129">
                                  <a:pos x="T70" y="T71"/>
                                </a:cxn>
                                <a:cxn ang="T130">
                                  <a:pos x="T72" y="T73"/>
                                </a:cxn>
                                <a:cxn ang="T131">
                                  <a:pos x="T74" y="T75"/>
                                </a:cxn>
                                <a:cxn ang="T132">
                                  <a:pos x="T76" y="T77"/>
                                </a:cxn>
                                <a:cxn ang="T133">
                                  <a:pos x="T78" y="T79"/>
                                </a:cxn>
                                <a:cxn ang="T134">
                                  <a:pos x="T80" y="T81"/>
                                </a:cxn>
                                <a:cxn ang="T135">
                                  <a:pos x="T82" y="T83"/>
                                </a:cxn>
                                <a:cxn ang="T136">
                                  <a:pos x="T84" y="T85"/>
                                </a:cxn>
                                <a:cxn ang="T137">
                                  <a:pos x="T86" y="T87"/>
                                </a:cxn>
                                <a:cxn ang="T138">
                                  <a:pos x="T88" y="T89"/>
                                </a:cxn>
                                <a:cxn ang="T139">
                                  <a:pos x="T90" y="T91"/>
                                </a:cxn>
                                <a:cxn ang="T140">
                                  <a:pos x="T92" y="T93"/>
                                </a:cxn>
                              </a:cxnLst>
                              <a:rect l="T141" t="T142" r="T143" b="T144"/>
                              <a:pathLst>
                                <a:path w="55" h="108">
                                  <a:moveTo>
                                    <a:pt x="18" y="2"/>
                                  </a:moveTo>
                                  <a:lnTo>
                                    <a:pt x="23" y="0"/>
                                  </a:lnTo>
                                  <a:lnTo>
                                    <a:pt x="33" y="12"/>
                                  </a:lnTo>
                                  <a:lnTo>
                                    <a:pt x="31" y="45"/>
                                  </a:lnTo>
                                  <a:lnTo>
                                    <a:pt x="38" y="45"/>
                                  </a:lnTo>
                                  <a:lnTo>
                                    <a:pt x="40" y="50"/>
                                  </a:lnTo>
                                  <a:lnTo>
                                    <a:pt x="42" y="57"/>
                                  </a:lnTo>
                                  <a:lnTo>
                                    <a:pt x="44" y="61"/>
                                  </a:lnTo>
                                  <a:lnTo>
                                    <a:pt x="49" y="60"/>
                                  </a:lnTo>
                                  <a:lnTo>
                                    <a:pt x="53" y="53"/>
                                  </a:lnTo>
                                  <a:lnTo>
                                    <a:pt x="55" y="57"/>
                                  </a:lnTo>
                                  <a:lnTo>
                                    <a:pt x="52" y="63"/>
                                  </a:lnTo>
                                  <a:lnTo>
                                    <a:pt x="49" y="67"/>
                                  </a:lnTo>
                                  <a:lnTo>
                                    <a:pt x="48" y="76"/>
                                  </a:lnTo>
                                  <a:lnTo>
                                    <a:pt x="41" y="80"/>
                                  </a:lnTo>
                                  <a:lnTo>
                                    <a:pt x="37" y="82"/>
                                  </a:lnTo>
                                  <a:lnTo>
                                    <a:pt x="31" y="86"/>
                                  </a:lnTo>
                                  <a:lnTo>
                                    <a:pt x="30" y="90"/>
                                  </a:lnTo>
                                  <a:lnTo>
                                    <a:pt x="31" y="95"/>
                                  </a:lnTo>
                                  <a:lnTo>
                                    <a:pt x="33" y="102"/>
                                  </a:lnTo>
                                  <a:lnTo>
                                    <a:pt x="26" y="105"/>
                                  </a:lnTo>
                                  <a:lnTo>
                                    <a:pt x="22" y="106"/>
                                  </a:lnTo>
                                  <a:lnTo>
                                    <a:pt x="18" y="108"/>
                                  </a:lnTo>
                                  <a:lnTo>
                                    <a:pt x="15" y="106"/>
                                  </a:lnTo>
                                  <a:lnTo>
                                    <a:pt x="8" y="105"/>
                                  </a:lnTo>
                                  <a:lnTo>
                                    <a:pt x="5" y="102"/>
                                  </a:lnTo>
                                  <a:lnTo>
                                    <a:pt x="8" y="96"/>
                                  </a:lnTo>
                                  <a:lnTo>
                                    <a:pt x="14" y="95"/>
                                  </a:lnTo>
                                  <a:lnTo>
                                    <a:pt x="18" y="87"/>
                                  </a:lnTo>
                                  <a:lnTo>
                                    <a:pt x="18" y="84"/>
                                  </a:lnTo>
                                  <a:lnTo>
                                    <a:pt x="14" y="82"/>
                                  </a:lnTo>
                                  <a:lnTo>
                                    <a:pt x="8" y="77"/>
                                  </a:lnTo>
                                  <a:lnTo>
                                    <a:pt x="4" y="77"/>
                                  </a:lnTo>
                                  <a:lnTo>
                                    <a:pt x="1" y="76"/>
                                  </a:lnTo>
                                  <a:lnTo>
                                    <a:pt x="0" y="71"/>
                                  </a:lnTo>
                                  <a:lnTo>
                                    <a:pt x="1" y="69"/>
                                  </a:lnTo>
                                  <a:lnTo>
                                    <a:pt x="4" y="69"/>
                                  </a:lnTo>
                                  <a:lnTo>
                                    <a:pt x="8" y="67"/>
                                  </a:lnTo>
                                  <a:lnTo>
                                    <a:pt x="14" y="63"/>
                                  </a:lnTo>
                                  <a:lnTo>
                                    <a:pt x="16" y="61"/>
                                  </a:lnTo>
                                  <a:lnTo>
                                    <a:pt x="19" y="45"/>
                                  </a:lnTo>
                                  <a:lnTo>
                                    <a:pt x="16" y="41"/>
                                  </a:lnTo>
                                  <a:lnTo>
                                    <a:pt x="12" y="38"/>
                                  </a:lnTo>
                                  <a:lnTo>
                                    <a:pt x="11" y="29"/>
                                  </a:lnTo>
                                  <a:lnTo>
                                    <a:pt x="12" y="21"/>
                                  </a:lnTo>
                                  <a:lnTo>
                                    <a:pt x="14" y="15"/>
                                  </a:lnTo>
                                  <a:lnTo>
                                    <a:pt x="18" y="2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9" name="Freeform 138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850" y="2865"/>
                              <a:ext cx="50" cy="45"/>
                            </a:xfrm>
                            <a:custGeom>
                              <a:avLst/>
                              <a:gdLst>
                                <a:gd name="T0" fmla="*/ 35 w 102"/>
                                <a:gd name="T1" fmla="*/ 0 h 92"/>
                                <a:gd name="T2" fmla="*/ 41 w 102"/>
                                <a:gd name="T3" fmla="*/ 0 h 92"/>
                                <a:gd name="T4" fmla="*/ 50 w 102"/>
                                <a:gd name="T5" fmla="*/ 13 h 92"/>
                                <a:gd name="T6" fmla="*/ 41 w 102"/>
                                <a:gd name="T7" fmla="*/ 23 h 92"/>
                                <a:gd name="T8" fmla="*/ 41 w 102"/>
                                <a:gd name="T9" fmla="*/ 27 h 92"/>
                                <a:gd name="T10" fmla="*/ 39 w 102"/>
                                <a:gd name="T11" fmla="*/ 29 h 92"/>
                                <a:gd name="T12" fmla="*/ 33 w 102"/>
                                <a:gd name="T13" fmla="*/ 29 h 92"/>
                                <a:gd name="T14" fmla="*/ 26 w 102"/>
                                <a:gd name="T15" fmla="*/ 34 h 92"/>
                                <a:gd name="T16" fmla="*/ 20 w 102"/>
                                <a:gd name="T17" fmla="*/ 40 h 92"/>
                                <a:gd name="T18" fmla="*/ 16 w 102"/>
                                <a:gd name="T19" fmla="*/ 45 h 92"/>
                                <a:gd name="T20" fmla="*/ 16 w 102"/>
                                <a:gd name="T21" fmla="*/ 41 h 92"/>
                                <a:gd name="T22" fmla="*/ 9 w 102"/>
                                <a:gd name="T23" fmla="*/ 42 h 92"/>
                                <a:gd name="T24" fmla="*/ 5 w 102"/>
                                <a:gd name="T25" fmla="*/ 42 h 92"/>
                                <a:gd name="T26" fmla="*/ 0 w 102"/>
                                <a:gd name="T27" fmla="*/ 42 h 92"/>
                                <a:gd name="T28" fmla="*/ 7 w 102"/>
                                <a:gd name="T29" fmla="*/ 34 h 92"/>
                                <a:gd name="T30" fmla="*/ 10 w 102"/>
                                <a:gd name="T31" fmla="*/ 31 h 92"/>
                                <a:gd name="T32" fmla="*/ 13 w 102"/>
                                <a:gd name="T33" fmla="*/ 31 h 92"/>
                                <a:gd name="T34" fmla="*/ 18 w 102"/>
                                <a:gd name="T35" fmla="*/ 25 h 92"/>
                                <a:gd name="T36" fmla="*/ 20 w 102"/>
                                <a:gd name="T37" fmla="*/ 25 h 92"/>
                                <a:gd name="T38" fmla="*/ 20 w 102"/>
                                <a:gd name="T39" fmla="*/ 24 h 92"/>
                                <a:gd name="T40" fmla="*/ 23 w 102"/>
                                <a:gd name="T41" fmla="*/ 23 h 92"/>
                                <a:gd name="T42" fmla="*/ 26 w 102"/>
                                <a:gd name="T43" fmla="*/ 23 h 92"/>
                                <a:gd name="T44" fmla="*/ 25 w 102"/>
                                <a:gd name="T45" fmla="*/ 16 h 92"/>
                                <a:gd name="T46" fmla="*/ 25 w 102"/>
                                <a:gd name="T47" fmla="*/ 16 h 92"/>
                                <a:gd name="T48" fmla="*/ 29 w 102"/>
                                <a:gd name="T49" fmla="*/ 12 h 92"/>
                                <a:gd name="T50" fmla="*/ 30 w 102"/>
                                <a:gd name="T51" fmla="*/ 15 h 92"/>
                                <a:gd name="T52" fmla="*/ 36 w 102"/>
                                <a:gd name="T53" fmla="*/ 10 h 92"/>
                                <a:gd name="T54" fmla="*/ 35 w 102"/>
                                <a:gd name="T55" fmla="*/ 0 h 92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60000 65536"/>
                                <a:gd name="T70" fmla="*/ 0 60000 65536"/>
                                <a:gd name="T71" fmla="*/ 0 60000 65536"/>
                                <a:gd name="T72" fmla="*/ 0 60000 65536"/>
                                <a:gd name="T73" fmla="*/ 0 60000 65536"/>
                                <a:gd name="T74" fmla="*/ 0 60000 65536"/>
                                <a:gd name="T75" fmla="*/ 0 60000 65536"/>
                                <a:gd name="T76" fmla="*/ 0 60000 65536"/>
                                <a:gd name="T77" fmla="*/ 0 60000 65536"/>
                                <a:gd name="T78" fmla="*/ 0 60000 65536"/>
                                <a:gd name="T79" fmla="*/ 0 60000 65536"/>
                                <a:gd name="T80" fmla="*/ 0 60000 65536"/>
                                <a:gd name="T81" fmla="*/ 0 60000 65536"/>
                                <a:gd name="T82" fmla="*/ 0 60000 65536"/>
                                <a:gd name="T83" fmla="*/ 0 60000 65536"/>
                                <a:gd name="T84" fmla="*/ 0 w 102"/>
                                <a:gd name="T85" fmla="*/ 0 h 92"/>
                                <a:gd name="T86" fmla="*/ 102 w 102"/>
                                <a:gd name="T87" fmla="*/ 92 h 92"/>
                              </a:gdLst>
                              <a:ahLst/>
                              <a:cxnLst>
                                <a:cxn ang="T56">
                                  <a:pos x="T0" y="T1"/>
                                </a:cxn>
                                <a:cxn ang="T57">
                                  <a:pos x="T2" y="T3"/>
                                </a:cxn>
                                <a:cxn ang="T58">
                                  <a:pos x="T4" y="T5"/>
                                </a:cxn>
                                <a:cxn ang="T59">
                                  <a:pos x="T6" y="T7"/>
                                </a:cxn>
                                <a:cxn ang="T60">
                                  <a:pos x="T8" y="T9"/>
                                </a:cxn>
                                <a:cxn ang="T61">
                                  <a:pos x="T10" y="T11"/>
                                </a:cxn>
                                <a:cxn ang="T62">
                                  <a:pos x="T12" y="T13"/>
                                </a:cxn>
                                <a:cxn ang="T63">
                                  <a:pos x="T14" y="T15"/>
                                </a:cxn>
                                <a:cxn ang="T64">
                                  <a:pos x="T16" y="T17"/>
                                </a:cxn>
                                <a:cxn ang="T65">
                                  <a:pos x="T18" y="T19"/>
                                </a:cxn>
                                <a:cxn ang="T66">
                                  <a:pos x="T20" y="T21"/>
                                </a:cxn>
                                <a:cxn ang="T67">
                                  <a:pos x="T22" y="T23"/>
                                </a:cxn>
                                <a:cxn ang="T68">
                                  <a:pos x="T24" y="T25"/>
                                </a:cxn>
                                <a:cxn ang="T69">
                                  <a:pos x="T26" y="T27"/>
                                </a:cxn>
                                <a:cxn ang="T70">
                                  <a:pos x="T28" y="T29"/>
                                </a:cxn>
                                <a:cxn ang="T71">
                                  <a:pos x="T30" y="T31"/>
                                </a:cxn>
                                <a:cxn ang="T72">
                                  <a:pos x="T32" y="T33"/>
                                </a:cxn>
                                <a:cxn ang="T73">
                                  <a:pos x="T34" y="T35"/>
                                </a:cxn>
                                <a:cxn ang="T74">
                                  <a:pos x="T36" y="T37"/>
                                </a:cxn>
                                <a:cxn ang="T75">
                                  <a:pos x="T38" y="T39"/>
                                </a:cxn>
                                <a:cxn ang="T76">
                                  <a:pos x="T40" y="T41"/>
                                </a:cxn>
                                <a:cxn ang="T77">
                                  <a:pos x="T42" y="T43"/>
                                </a:cxn>
                                <a:cxn ang="T78">
                                  <a:pos x="T44" y="T45"/>
                                </a:cxn>
                                <a:cxn ang="T79">
                                  <a:pos x="T46" y="T47"/>
                                </a:cxn>
                                <a:cxn ang="T80">
                                  <a:pos x="T48" y="T49"/>
                                </a:cxn>
                                <a:cxn ang="T81">
                                  <a:pos x="T50" y="T51"/>
                                </a:cxn>
                                <a:cxn ang="T82">
                                  <a:pos x="T52" y="T53"/>
                                </a:cxn>
                                <a:cxn ang="T83">
                                  <a:pos x="T54" y="T55"/>
                                </a:cxn>
                              </a:cxnLst>
                              <a:rect l="T84" t="T85" r="T86" b="T87"/>
                              <a:pathLst>
                                <a:path w="102" h="92">
                                  <a:moveTo>
                                    <a:pt x="72" y="0"/>
                                  </a:moveTo>
                                  <a:lnTo>
                                    <a:pt x="84" y="0"/>
                                  </a:lnTo>
                                  <a:lnTo>
                                    <a:pt x="102" y="27"/>
                                  </a:lnTo>
                                  <a:lnTo>
                                    <a:pt x="83" y="47"/>
                                  </a:lnTo>
                                  <a:lnTo>
                                    <a:pt x="83" y="56"/>
                                  </a:lnTo>
                                  <a:lnTo>
                                    <a:pt x="79" y="59"/>
                                  </a:lnTo>
                                  <a:lnTo>
                                    <a:pt x="68" y="59"/>
                                  </a:lnTo>
                                  <a:lnTo>
                                    <a:pt x="54" y="70"/>
                                  </a:lnTo>
                                  <a:lnTo>
                                    <a:pt x="41" y="82"/>
                                  </a:lnTo>
                                  <a:lnTo>
                                    <a:pt x="33" y="92"/>
                                  </a:lnTo>
                                  <a:lnTo>
                                    <a:pt x="33" y="83"/>
                                  </a:lnTo>
                                  <a:lnTo>
                                    <a:pt x="18" y="85"/>
                                  </a:lnTo>
                                  <a:lnTo>
                                    <a:pt x="11" y="85"/>
                                  </a:lnTo>
                                  <a:lnTo>
                                    <a:pt x="0" y="85"/>
                                  </a:lnTo>
                                  <a:lnTo>
                                    <a:pt x="15" y="70"/>
                                  </a:lnTo>
                                  <a:lnTo>
                                    <a:pt x="21" y="63"/>
                                  </a:lnTo>
                                  <a:lnTo>
                                    <a:pt x="26" y="63"/>
                                  </a:lnTo>
                                  <a:lnTo>
                                    <a:pt x="37" y="51"/>
                                  </a:lnTo>
                                  <a:lnTo>
                                    <a:pt x="41" y="51"/>
                                  </a:lnTo>
                                  <a:lnTo>
                                    <a:pt x="41" y="50"/>
                                  </a:lnTo>
                                  <a:lnTo>
                                    <a:pt x="47" y="46"/>
                                  </a:lnTo>
                                  <a:lnTo>
                                    <a:pt x="54" y="46"/>
                                  </a:lnTo>
                                  <a:lnTo>
                                    <a:pt x="51" y="32"/>
                                  </a:lnTo>
                                  <a:lnTo>
                                    <a:pt x="52" y="32"/>
                                  </a:lnTo>
                                  <a:lnTo>
                                    <a:pt x="59" y="25"/>
                                  </a:lnTo>
                                  <a:lnTo>
                                    <a:pt x="62" y="31"/>
                                  </a:lnTo>
                                  <a:lnTo>
                                    <a:pt x="73" y="21"/>
                                  </a:lnTo>
                                  <a:lnTo>
                                    <a:pt x="72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700" name="Freeform 139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756" y="2868"/>
                              <a:ext cx="20" cy="24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0 h 50"/>
                                <a:gd name="T2" fmla="*/ 4 w 38"/>
                                <a:gd name="T3" fmla="*/ 0 h 50"/>
                                <a:gd name="T4" fmla="*/ 9 w 38"/>
                                <a:gd name="T5" fmla="*/ 3 h 50"/>
                                <a:gd name="T6" fmla="*/ 20 w 38"/>
                                <a:gd name="T7" fmla="*/ 3 h 50"/>
                                <a:gd name="T8" fmla="*/ 18 w 38"/>
                                <a:gd name="T9" fmla="*/ 8 h 50"/>
                                <a:gd name="T10" fmla="*/ 20 w 38"/>
                                <a:gd name="T11" fmla="*/ 12 h 50"/>
                                <a:gd name="T12" fmla="*/ 16 w 38"/>
                                <a:gd name="T13" fmla="*/ 12 h 50"/>
                                <a:gd name="T14" fmla="*/ 16 w 38"/>
                                <a:gd name="T15" fmla="*/ 12 h 50"/>
                                <a:gd name="T16" fmla="*/ 14 w 38"/>
                                <a:gd name="T17" fmla="*/ 13 h 50"/>
                                <a:gd name="T18" fmla="*/ 16 w 38"/>
                                <a:gd name="T19" fmla="*/ 24 h 50"/>
                                <a:gd name="T20" fmla="*/ 9 w 38"/>
                                <a:gd name="T21" fmla="*/ 23 h 50"/>
                                <a:gd name="T22" fmla="*/ 4 w 38"/>
                                <a:gd name="T23" fmla="*/ 20 h 50"/>
                                <a:gd name="T24" fmla="*/ 4 w 38"/>
                                <a:gd name="T25" fmla="*/ 12 h 50"/>
                                <a:gd name="T26" fmla="*/ 4 w 38"/>
                                <a:gd name="T27" fmla="*/ 10 h 50"/>
                                <a:gd name="T28" fmla="*/ 0 w 38"/>
                                <a:gd name="T29" fmla="*/ 8 h 50"/>
                                <a:gd name="T30" fmla="*/ 0 w 38"/>
                                <a:gd name="T31" fmla="*/ 0 h 50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60000 65536"/>
                                <a:gd name="T46" fmla="*/ 0 60000 65536"/>
                                <a:gd name="T47" fmla="*/ 0 60000 65536"/>
                                <a:gd name="T48" fmla="*/ 0 w 38"/>
                                <a:gd name="T49" fmla="*/ 0 h 50"/>
                                <a:gd name="T50" fmla="*/ 38 w 38"/>
                                <a:gd name="T51" fmla="*/ 50 h 50"/>
                              </a:gdLst>
                              <a:ahLst/>
                              <a:cxnLst>
                                <a:cxn ang="T32">
                                  <a:pos x="T0" y="T1"/>
                                </a:cxn>
                                <a:cxn ang="T33">
                                  <a:pos x="T2" y="T3"/>
                                </a:cxn>
                                <a:cxn ang="T34">
                                  <a:pos x="T4" y="T5"/>
                                </a:cxn>
                                <a:cxn ang="T35">
                                  <a:pos x="T6" y="T7"/>
                                </a:cxn>
                                <a:cxn ang="T36">
                                  <a:pos x="T8" y="T9"/>
                                </a:cxn>
                                <a:cxn ang="T37">
                                  <a:pos x="T10" y="T11"/>
                                </a:cxn>
                                <a:cxn ang="T38">
                                  <a:pos x="T12" y="T13"/>
                                </a:cxn>
                                <a:cxn ang="T39">
                                  <a:pos x="T14" y="T15"/>
                                </a:cxn>
                                <a:cxn ang="T40">
                                  <a:pos x="T16" y="T17"/>
                                </a:cxn>
                                <a:cxn ang="T41">
                                  <a:pos x="T18" y="T19"/>
                                </a:cxn>
                                <a:cxn ang="T42">
                                  <a:pos x="T20" y="T21"/>
                                </a:cxn>
                                <a:cxn ang="T43">
                                  <a:pos x="T22" y="T23"/>
                                </a:cxn>
                                <a:cxn ang="T44">
                                  <a:pos x="T24" y="T25"/>
                                </a:cxn>
                                <a:cxn ang="T45">
                                  <a:pos x="T26" y="T27"/>
                                </a:cxn>
                                <a:cxn ang="T46">
                                  <a:pos x="T28" y="T29"/>
                                </a:cxn>
                                <a:cxn ang="T47">
                                  <a:pos x="T30" y="T31"/>
                                </a:cxn>
                              </a:cxnLst>
                              <a:rect l="T48" t="T49" r="T50" b="T51"/>
                              <a:pathLst>
                                <a:path w="38" h="50">
                                  <a:moveTo>
                                    <a:pt x="0" y="0"/>
                                  </a:moveTo>
                                  <a:lnTo>
                                    <a:pt x="8" y="0"/>
                                  </a:lnTo>
                                  <a:lnTo>
                                    <a:pt x="18" y="6"/>
                                  </a:lnTo>
                                  <a:lnTo>
                                    <a:pt x="38" y="6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1" y="25"/>
                                  </a:lnTo>
                                  <a:lnTo>
                                    <a:pt x="30" y="26"/>
                                  </a:lnTo>
                                  <a:lnTo>
                                    <a:pt x="26" y="28"/>
                                  </a:lnTo>
                                  <a:lnTo>
                                    <a:pt x="30" y="50"/>
                                  </a:lnTo>
                                  <a:lnTo>
                                    <a:pt x="18" y="48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7" y="26"/>
                                  </a:lnTo>
                                  <a:lnTo>
                                    <a:pt x="7" y="21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97" name="Freeform 14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791" y="2616"/>
                            <a:ext cx="32" cy="26"/>
                          </a:xfrm>
                          <a:custGeom>
                            <a:avLst/>
                            <a:gdLst>
                              <a:gd name="T0" fmla="*/ 6 w 63"/>
                              <a:gd name="T1" fmla="*/ 10 h 51"/>
                              <a:gd name="T2" fmla="*/ 0 w 63"/>
                              <a:gd name="T3" fmla="*/ 21 h 51"/>
                              <a:gd name="T4" fmla="*/ 2 w 63"/>
                              <a:gd name="T5" fmla="*/ 25 h 51"/>
                              <a:gd name="T6" fmla="*/ 11 w 63"/>
                              <a:gd name="T7" fmla="*/ 26 h 51"/>
                              <a:gd name="T8" fmla="*/ 19 w 63"/>
                              <a:gd name="T9" fmla="*/ 26 h 51"/>
                              <a:gd name="T10" fmla="*/ 21 w 63"/>
                              <a:gd name="T11" fmla="*/ 21 h 51"/>
                              <a:gd name="T12" fmla="*/ 23 w 63"/>
                              <a:gd name="T13" fmla="*/ 17 h 51"/>
                              <a:gd name="T14" fmla="*/ 32 w 63"/>
                              <a:gd name="T15" fmla="*/ 17 h 51"/>
                              <a:gd name="T16" fmla="*/ 30 w 63"/>
                              <a:gd name="T17" fmla="*/ 10 h 51"/>
                              <a:gd name="T18" fmla="*/ 30 w 63"/>
                              <a:gd name="T19" fmla="*/ 4 h 51"/>
                              <a:gd name="T20" fmla="*/ 22 w 63"/>
                              <a:gd name="T21" fmla="*/ 0 h 51"/>
                              <a:gd name="T22" fmla="*/ 21 w 63"/>
                              <a:gd name="T23" fmla="*/ 7 h 51"/>
                              <a:gd name="T24" fmla="*/ 26 w 63"/>
                              <a:gd name="T25" fmla="*/ 12 h 51"/>
                              <a:gd name="T26" fmla="*/ 18 w 63"/>
                              <a:gd name="T27" fmla="*/ 12 h 51"/>
                              <a:gd name="T28" fmla="*/ 15 w 63"/>
                              <a:gd name="T29" fmla="*/ 15 h 51"/>
                              <a:gd name="T30" fmla="*/ 6 w 63"/>
                              <a:gd name="T31" fmla="*/ 10 h 51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w 63"/>
                              <a:gd name="T49" fmla="*/ 0 h 51"/>
                              <a:gd name="T50" fmla="*/ 63 w 63"/>
                              <a:gd name="T51" fmla="*/ 51 h 51"/>
                            </a:gdLst>
                            <a:ahLst/>
                            <a:cxnLst>
                              <a:cxn ang="T32">
                                <a:pos x="T0" y="T1"/>
                              </a:cxn>
                              <a:cxn ang="T33">
                                <a:pos x="T2" y="T3"/>
                              </a:cxn>
                              <a:cxn ang="T34">
                                <a:pos x="T4" y="T5"/>
                              </a:cxn>
                              <a:cxn ang="T35">
                                <a:pos x="T6" y="T7"/>
                              </a:cxn>
                              <a:cxn ang="T36">
                                <a:pos x="T8" y="T9"/>
                              </a:cxn>
                              <a:cxn ang="T37">
                                <a:pos x="T10" y="T11"/>
                              </a:cxn>
                              <a:cxn ang="T38">
                                <a:pos x="T12" y="T13"/>
                              </a:cxn>
                              <a:cxn ang="T39">
                                <a:pos x="T14" y="T15"/>
                              </a:cxn>
                              <a:cxn ang="T40">
                                <a:pos x="T16" y="T17"/>
                              </a:cxn>
                              <a:cxn ang="T41">
                                <a:pos x="T18" y="T19"/>
                              </a:cxn>
                              <a:cxn ang="T42">
                                <a:pos x="T20" y="T21"/>
                              </a:cxn>
                              <a:cxn ang="T43">
                                <a:pos x="T22" y="T23"/>
                              </a:cxn>
                              <a:cxn ang="T44">
                                <a:pos x="T24" y="T25"/>
                              </a:cxn>
                              <a:cxn ang="T45">
                                <a:pos x="T26" y="T27"/>
                              </a:cxn>
                              <a:cxn ang="T46">
                                <a:pos x="T28" y="T29"/>
                              </a:cxn>
                              <a:cxn ang="T47">
                                <a:pos x="T30" y="T31"/>
                              </a:cxn>
                            </a:cxnLst>
                            <a:rect l="T48" t="T49" r="T50" b="T51"/>
                            <a:pathLst>
                              <a:path w="63" h="51">
                                <a:moveTo>
                                  <a:pt x="11" y="19"/>
                                </a:moveTo>
                                <a:lnTo>
                                  <a:pt x="0" y="41"/>
                                </a:lnTo>
                                <a:lnTo>
                                  <a:pt x="4" y="49"/>
                                </a:lnTo>
                                <a:lnTo>
                                  <a:pt x="22" y="51"/>
                                </a:lnTo>
                                <a:lnTo>
                                  <a:pt x="37" y="51"/>
                                </a:lnTo>
                                <a:lnTo>
                                  <a:pt x="42" y="42"/>
                                </a:lnTo>
                                <a:lnTo>
                                  <a:pt x="46" y="33"/>
                                </a:lnTo>
                                <a:lnTo>
                                  <a:pt x="63" y="33"/>
                                </a:lnTo>
                                <a:lnTo>
                                  <a:pt x="60" y="20"/>
                                </a:lnTo>
                                <a:lnTo>
                                  <a:pt x="60" y="7"/>
                                </a:lnTo>
                                <a:lnTo>
                                  <a:pt x="44" y="0"/>
                                </a:lnTo>
                                <a:lnTo>
                                  <a:pt x="41" y="14"/>
                                </a:lnTo>
                                <a:lnTo>
                                  <a:pt x="52" y="23"/>
                                </a:lnTo>
                                <a:lnTo>
                                  <a:pt x="35" y="23"/>
                                </a:lnTo>
                                <a:lnTo>
                                  <a:pt x="30" y="29"/>
                                </a:lnTo>
                                <a:lnTo>
                                  <a:pt x="11" y="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2671" name="Group 141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448" y="2231"/>
                          <a:ext cx="367" cy="626"/>
                          <a:chOff x="3448" y="2231"/>
                          <a:chExt cx="367" cy="626"/>
                        </a:xfrm>
                      </p:grpSpPr>
                      <p:grpSp>
                        <p:nvGrpSpPr>
                          <p:cNvPr id="62682" name="Group 142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3507" y="2295"/>
                            <a:ext cx="81" cy="188"/>
                            <a:chOff x="3507" y="2295"/>
                            <a:chExt cx="81" cy="188"/>
                          </a:xfrm>
                        </p:grpSpPr>
                        <p:sp>
                          <p:nvSpPr>
                            <p:cNvPr id="62692" name="Freeform 143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07" y="2464"/>
                              <a:ext cx="19" cy="19"/>
                            </a:xfrm>
                            <a:custGeom>
                              <a:avLst/>
                              <a:gdLst>
                                <a:gd name="T0" fmla="*/ 0 w 38"/>
                                <a:gd name="T1" fmla="*/ 14 h 38"/>
                                <a:gd name="T2" fmla="*/ 3 w 38"/>
                                <a:gd name="T3" fmla="*/ 18 h 38"/>
                                <a:gd name="T4" fmla="*/ 7 w 38"/>
                                <a:gd name="T5" fmla="*/ 18 h 38"/>
                                <a:gd name="T6" fmla="*/ 13 w 38"/>
                                <a:gd name="T7" fmla="*/ 19 h 38"/>
                                <a:gd name="T8" fmla="*/ 19 w 38"/>
                                <a:gd name="T9" fmla="*/ 19 h 38"/>
                                <a:gd name="T10" fmla="*/ 19 w 38"/>
                                <a:gd name="T11" fmla="*/ 12 h 38"/>
                                <a:gd name="T12" fmla="*/ 18 w 38"/>
                                <a:gd name="T13" fmla="*/ 8 h 38"/>
                                <a:gd name="T14" fmla="*/ 14 w 38"/>
                                <a:gd name="T15" fmla="*/ 3 h 38"/>
                                <a:gd name="T16" fmla="*/ 11 w 38"/>
                                <a:gd name="T17" fmla="*/ 3 h 38"/>
                                <a:gd name="T18" fmla="*/ 10 w 38"/>
                                <a:gd name="T19" fmla="*/ 0 h 38"/>
                                <a:gd name="T20" fmla="*/ 5 w 38"/>
                                <a:gd name="T21" fmla="*/ 0 h 38"/>
                                <a:gd name="T22" fmla="*/ 5 w 38"/>
                                <a:gd name="T23" fmla="*/ 6 h 38"/>
                                <a:gd name="T24" fmla="*/ 0 w 38"/>
                                <a:gd name="T25" fmla="*/ 14 h 38"/>
                                <a:gd name="T26" fmla="*/ 0 60000 65536"/>
                                <a:gd name="T27" fmla="*/ 0 60000 65536"/>
                                <a:gd name="T28" fmla="*/ 0 60000 65536"/>
                                <a:gd name="T29" fmla="*/ 0 60000 65536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w 38"/>
                                <a:gd name="T40" fmla="*/ 0 h 38"/>
                                <a:gd name="T41" fmla="*/ 38 w 38"/>
                                <a:gd name="T42" fmla="*/ 38 h 38"/>
                              </a:gdLst>
                              <a:ahLst/>
                              <a:cxnLst>
                                <a:cxn ang="T26">
                                  <a:pos x="T0" y="T1"/>
                                </a:cxn>
                                <a:cxn ang="T27">
                                  <a:pos x="T2" y="T3"/>
                                </a:cxn>
                                <a:cxn ang="T28">
                                  <a:pos x="T4" y="T5"/>
                                </a:cxn>
                                <a:cxn ang="T29">
                                  <a:pos x="T6" y="T7"/>
                                </a:cxn>
                                <a:cxn ang="T30">
                                  <a:pos x="T8" y="T9"/>
                                </a:cxn>
                                <a:cxn ang="T31">
                                  <a:pos x="T10" y="T11"/>
                                </a:cxn>
                                <a:cxn ang="T32">
                                  <a:pos x="T12" y="T13"/>
                                </a:cxn>
                                <a:cxn ang="T33">
                                  <a:pos x="T14" y="T15"/>
                                </a:cxn>
                                <a:cxn ang="T34">
                                  <a:pos x="T16" y="T17"/>
                                </a:cxn>
                                <a:cxn ang="T35">
                                  <a:pos x="T18" y="T19"/>
                                </a:cxn>
                                <a:cxn ang="T36">
                                  <a:pos x="T20" y="T21"/>
                                </a:cxn>
                                <a:cxn ang="T37">
                                  <a:pos x="T22" y="T23"/>
                                </a:cxn>
                                <a:cxn ang="T38">
                                  <a:pos x="T24" y="T25"/>
                                </a:cxn>
                              </a:cxnLst>
                              <a:rect l="T39" t="T40" r="T41" b="T42"/>
                              <a:pathLst>
                                <a:path w="38" h="38">
                                  <a:moveTo>
                                    <a:pt x="0" y="29"/>
                                  </a:moveTo>
                                  <a:lnTo>
                                    <a:pt x="7" y="36"/>
                                  </a:lnTo>
                                  <a:lnTo>
                                    <a:pt x="15" y="35"/>
                                  </a:lnTo>
                                  <a:lnTo>
                                    <a:pt x="27" y="38"/>
                                  </a:lnTo>
                                  <a:lnTo>
                                    <a:pt x="37" y="38"/>
                                  </a:lnTo>
                                  <a:lnTo>
                                    <a:pt x="38" y="25"/>
                                  </a:lnTo>
                                  <a:lnTo>
                                    <a:pt x="35" y="16"/>
                                  </a:lnTo>
                                  <a:lnTo>
                                    <a:pt x="28" y="6"/>
                                  </a:lnTo>
                                  <a:lnTo>
                                    <a:pt x="22" y="6"/>
                                  </a:lnTo>
                                  <a:lnTo>
                                    <a:pt x="19" y="0"/>
                                  </a:lnTo>
                                  <a:lnTo>
                                    <a:pt x="9" y="0"/>
                                  </a:lnTo>
                                  <a:lnTo>
                                    <a:pt x="9" y="12"/>
                                  </a:lnTo>
                                  <a:lnTo>
                                    <a:pt x="0" y="29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3" name="Freeform 144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9" y="2431"/>
                              <a:ext cx="18" cy="24"/>
                            </a:xfrm>
                            <a:custGeom>
                              <a:avLst/>
                              <a:gdLst>
                                <a:gd name="T0" fmla="*/ 4 w 37"/>
                                <a:gd name="T1" fmla="*/ 0 h 48"/>
                                <a:gd name="T2" fmla="*/ 12 w 37"/>
                                <a:gd name="T3" fmla="*/ 1 h 48"/>
                                <a:gd name="T4" fmla="*/ 15 w 37"/>
                                <a:gd name="T5" fmla="*/ 7 h 48"/>
                                <a:gd name="T6" fmla="*/ 18 w 37"/>
                                <a:gd name="T7" fmla="*/ 11 h 48"/>
                                <a:gd name="T8" fmla="*/ 15 w 37"/>
                                <a:gd name="T9" fmla="*/ 14 h 48"/>
                                <a:gd name="T10" fmla="*/ 18 w 37"/>
                                <a:gd name="T11" fmla="*/ 18 h 48"/>
                                <a:gd name="T12" fmla="*/ 17 w 37"/>
                                <a:gd name="T13" fmla="*/ 22 h 48"/>
                                <a:gd name="T14" fmla="*/ 14 w 37"/>
                                <a:gd name="T15" fmla="*/ 24 h 48"/>
                                <a:gd name="T16" fmla="*/ 9 w 37"/>
                                <a:gd name="T17" fmla="*/ 24 h 48"/>
                                <a:gd name="T18" fmla="*/ 5 w 37"/>
                                <a:gd name="T19" fmla="*/ 24 h 48"/>
                                <a:gd name="T20" fmla="*/ 3 w 37"/>
                                <a:gd name="T21" fmla="*/ 21 h 48"/>
                                <a:gd name="T22" fmla="*/ 1 w 37"/>
                                <a:gd name="T23" fmla="*/ 17 h 48"/>
                                <a:gd name="T24" fmla="*/ 1 w 37"/>
                                <a:gd name="T25" fmla="*/ 13 h 48"/>
                                <a:gd name="T26" fmla="*/ 0 w 37"/>
                                <a:gd name="T27" fmla="*/ 8 h 48"/>
                                <a:gd name="T28" fmla="*/ 4 w 37"/>
                                <a:gd name="T29" fmla="*/ 0 h 48"/>
                                <a:gd name="T30" fmla="*/ 0 60000 65536"/>
                                <a:gd name="T31" fmla="*/ 0 60000 65536"/>
                                <a:gd name="T32" fmla="*/ 0 60000 65536"/>
                                <a:gd name="T33" fmla="*/ 0 60000 65536"/>
                                <a:gd name="T34" fmla="*/ 0 60000 65536"/>
                                <a:gd name="T35" fmla="*/ 0 60000 65536"/>
                                <a:gd name="T36" fmla="*/ 0 60000 65536"/>
                                <a:gd name="T37" fmla="*/ 0 60000 65536"/>
                                <a:gd name="T38" fmla="*/ 0 60000 65536"/>
                                <a:gd name="T39" fmla="*/ 0 60000 65536"/>
                                <a:gd name="T40" fmla="*/ 0 60000 65536"/>
                                <a:gd name="T41" fmla="*/ 0 60000 65536"/>
                                <a:gd name="T42" fmla="*/ 0 60000 65536"/>
                                <a:gd name="T43" fmla="*/ 0 60000 65536"/>
                                <a:gd name="T44" fmla="*/ 0 60000 65536"/>
                                <a:gd name="T45" fmla="*/ 0 w 37"/>
                                <a:gd name="T46" fmla="*/ 0 h 48"/>
                                <a:gd name="T47" fmla="*/ 37 w 37"/>
                                <a:gd name="T48" fmla="*/ 48 h 48"/>
                              </a:gdLst>
                              <a:ahLst/>
                              <a:cxnLst>
                                <a:cxn ang="T30">
                                  <a:pos x="T0" y="T1"/>
                                </a:cxn>
                                <a:cxn ang="T31">
                                  <a:pos x="T2" y="T3"/>
                                </a:cxn>
                                <a:cxn ang="T32">
                                  <a:pos x="T4" y="T5"/>
                                </a:cxn>
                                <a:cxn ang="T33">
                                  <a:pos x="T6" y="T7"/>
                                </a:cxn>
                                <a:cxn ang="T34">
                                  <a:pos x="T8" y="T9"/>
                                </a:cxn>
                                <a:cxn ang="T35">
                                  <a:pos x="T10" y="T11"/>
                                </a:cxn>
                                <a:cxn ang="T36">
                                  <a:pos x="T12" y="T13"/>
                                </a:cxn>
                                <a:cxn ang="T37">
                                  <a:pos x="T14" y="T15"/>
                                </a:cxn>
                                <a:cxn ang="T38">
                                  <a:pos x="T16" y="T17"/>
                                </a:cxn>
                                <a:cxn ang="T39">
                                  <a:pos x="T18" y="T19"/>
                                </a:cxn>
                                <a:cxn ang="T40">
                                  <a:pos x="T20" y="T21"/>
                                </a:cxn>
                                <a:cxn ang="T41">
                                  <a:pos x="T22" y="T23"/>
                                </a:cxn>
                                <a:cxn ang="T42">
                                  <a:pos x="T24" y="T25"/>
                                </a:cxn>
                                <a:cxn ang="T43">
                                  <a:pos x="T26" y="T27"/>
                                </a:cxn>
                                <a:cxn ang="T44">
                                  <a:pos x="T28" y="T29"/>
                                </a:cxn>
                              </a:cxnLst>
                              <a:rect l="T45" t="T46" r="T47" b="T48"/>
                              <a:pathLst>
                                <a:path w="37" h="48">
                                  <a:moveTo>
                                    <a:pt x="8" y="0"/>
                                  </a:moveTo>
                                  <a:lnTo>
                                    <a:pt x="25" y="2"/>
                                  </a:lnTo>
                                  <a:lnTo>
                                    <a:pt x="30" y="15"/>
                                  </a:lnTo>
                                  <a:lnTo>
                                    <a:pt x="37" y="22"/>
                                  </a:lnTo>
                                  <a:lnTo>
                                    <a:pt x="31" y="28"/>
                                  </a:lnTo>
                                  <a:lnTo>
                                    <a:pt x="37" y="35"/>
                                  </a:lnTo>
                                  <a:lnTo>
                                    <a:pt x="34" y="44"/>
                                  </a:lnTo>
                                  <a:lnTo>
                                    <a:pt x="29" y="48"/>
                                  </a:lnTo>
                                  <a:lnTo>
                                    <a:pt x="18" y="47"/>
                                  </a:lnTo>
                                  <a:lnTo>
                                    <a:pt x="11" y="47"/>
                                  </a:lnTo>
                                  <a:lnTo>
                                    <a:pt x="7" y="41"/>
                                  </a:lnTo>
                                  <a:lnTo>
                                    <a:pt x="3" y="34"/>
                                  </a:lnTo>
                                  <a:lnTo>
                                    <a:pt x="3" y="26"/>
                                  </a:lnTo>
                                  <a:lnTo>
                                    <a:pt x="0" y="16"/>
                                  </a:lnTo>
                                  <a:lnTo>
                                    <a:pt x="8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  <p:sp>
                          <p:nvSpPr>
                            <p:cNvPr id="62694" name="Freeform 145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3556" y="2295"/>
                              <a:ext cx="32" cy="22"/>
                            </a:xfrm>
                            <a:custGeom>
                              <a:avLst/>
                              <a:gdLst>
                                <a:gd name="T0" fmla="*/ 5 w 66"/>
                                <a:gd name="T1" fmla="*/ 0 h 45"/>
                                <a:gd name="T2" fmla="*/ 9 w 66"/>
                                <a:gd name="T3" fmla="*/ 3 h 45"/>
                                <a:gd name="T4" fmla="*/ 13 w 66"/>
                                <a:gd name="T5" fmla="*/ 2 h 45"/>
                                <a:gd name="T6" fmla="*/ 18 w 66"/>
                                <a:gd name="T7" fmla="*/ 3 h 45"/>
                                <a:gd name="T8" fmla="*/ 24 w 66"/>
                                <a:gd name="T9" fmla="*/ 3 h 45"/>
                                <a:gd name="T10" fmla="*/ 27 w 66"/>
                                <a:gd name="T11" fmla="*/ 5 h 45"/>
                                <a:gd name="T12" fmla="*/ 30 w 66"/>
                                <a:gd name="T13" fmla="*/ 10 h 45"/>
                                <a:gd name="T14" fmla="*/ 32 w 66"/>
                                <a:gd name="T15" fmla="*/ 13 h 45"/>
                                <a:gd name="T16" fmla="*/ 25 w 66"/>
                                <a:gd name="T17" fmla="*/ 14 h 45"/>
                                <a:gd name="T18" fmla="*/ 23 w 66"/>
                                <a:gd name="T19" fmla="*/ 16 h 45"/>
                                <a:gd name="T20" fmla="*/ 25 w 66"/>
                                <a:gd name="T21" fmla="*/ 18 h 45"/>
                                <a:gd name="T22" fmla="*/ 25 w 66"/>
                                <a:gd name="T23" fmla="*/ 21 h 45"/>
                                <a:gd name="T24" fmla="*/ 17 w 66"/>
                                <a:gd name="T25" fmla="*/ 18 h 45"/>
                                <a:gd name="T26" fmla="*/ 11 w 66"/>
                                <a:gd name="T27" fmla="*/ 16 h 45"/>
                                <a:gd name="T28" fmla="*/ 9 w 66"/>
                                <a:gd name="T29" fmla="*/ 17 h 45"/>
                                <a:gd name="T30" fmla="*/ 9 w 66"/>
                                <a:gd name="T31" fmla="*/ 21 h 45"/>
                                <a:gd name="T32" fmla="*/ 5 w 66"/>
                                <a:gd name="T33" fmla="*/ 22 h 45"/>
                                <a:gd name="T34" fmla="*/ 3 w 66"/>
                                <a:gd name="T35" fmla="*/ 18 h 45"/>
                                <a:gd name="T36" fmla="*/ 2 w 66"/>
                                <a:gd name="T37" fmla="*/ 14 h 45"/>
                                <a:gd name="T38" fmla="*/ 0 w 66"/>
                                <a:gd name="T39" fmla="*/ 13 h 45"/>
                                <a:gd name="T40" fmla="*/ 2 w 66"/>
                                <a:gd name="T41" fmla="*/ 9 h 45"/>
                                <a:gd name="T42" fmla="*/ 5 w 66"/>
                                <a:gd name="T43" fmla="*/ 8 h 45"/>
                                <a:gd name="T44" fmla="*/ 5 w 66"/>
                                <a:gd name="T45" fmla="*/ 0 h 45"/>
                                <a:gd name="T46" fmla="*/ 0 60000 65536"/>
                                <a:gd name="T47" fmla="*/ 0 60000 65536"/>
                                <a:gd name="T48" fmla="*/ 0 60000 65536"/>
                                <a:gd name="T49" fmla="*/ 0 60000 65536"/>
                                <a:gd name="T50" fmla="*/ 0 60000 65536"/>
                                <a:gd name="T51" fmla="*/ 0 60000 65536"/>
                                <a:gd name="T52" fmla="*/ 0 60000 65536"/>
                                <a:gd name="T53" fmla="*/ 0 60000 65536"/>
                                <a:gd name="T54" fmla="*/ 0 60000 65536"/>
                                <a:gd name="T55" fmla="*/ 0 60000 65536"/>
                                <a:gd name="T56" fmla="*/ 0 60000 65536"/>
                                <a:gd name="T57" fmla="*/ 0 60000 65536"/>
                                <a:gd name="T58" fmla="*/ 0 60000 65536"/>
                                <a:gd name="T59" fmla="*/ 0 60000 65536"/>
                                <a:gd name="T60" fmla="*/ 0 60000 65536"/>
                                <a:gd name="T61" fmla="*/ 0 60000 65536"/>
                                <a:gd name="T62" fmla="*/ 0 60000 65536"/>
                                <a:gd name="T63" fmla="*/ 0 60000 65536"/>
                                <a:gd name="T64" fmla="*/ 0 60000 65536"/>
                                <a:gd name="T65" fmla="*/ 0 60000 65536"/>
                                <a:gd name="T66" fmla="*/ 0 60000 65536"/>
                                <a:gd name="T67" fmla="*/ 0 60000 65536"/>
                                <a:gd name="T68" fmla="*/ 0 60000 65536"/>
                                <a:gd name="T69" fmla="*/ 0 w 66"/>
                                <a:gd name="T70" fmla="*/ 0 h 45"/>
                                <a:gd name="T71" fmla="*/ 66 w 66"/>
                                <a:gd name="T72" fmla="*/ 45 h 45"/>
                              </a:gdLst>
                              <a:ahLst/>
                              <a:cxnLst>
                                <a:cxn ang="T46">
                                  <a:pos x="T0" y="T1"/>
                                </a:cxn>
                                <a:cxn ang="T47">
                                  <a:pos x="T2" y="T3"/>
                                </a:cxn>
                                <a:cxn ang="T48">
                                  <a:pos x="T4" y="T5"/>
                                </a:cxn>
                                <a:cxn ang="T49">
                                  <a:pos x="T6" y="T7"/>
                                </a:cxn>
                                <a:cxn ang="T50">
                                  <a:pos x="T8" y="T9"/>
                                </a:cxn>
                                <a:cxn ang="T51">
                                  <a:pos x="T10" y="T11"/>
                                </a:cxn>
                                <a:cxn ang="T52">
                                  <a:pos x="T12" y="T13"/>
                                </a:cxn>
                                <a:cxn ang="T53">
                                  <a:pos x="T14" y="T15"/>
                                </a:cxn>
                                <a:cxn ang="T54">
                                  <a:pos x="T16" y="T17"/>
                                </a:cxn>
                                <a:cxn ang="T55">
                                  <a:pos x="T18" y="T19"/>
                                </a:cxn>
                                <a:cxn ang="T56">
                                  <a:pos x="T20" y="T21"/>
                                </a:cxn>
                                <a:cxn ang="T57">
                                  <a:pos x="T22" y="T23"/>
                                </a:cxn>
                                <a:cxn ang="T58">
                                  <a:pos x="T24" y="T25"/>
                                </a:cxn>
                                <a:cxn ang="T59">
                                  <a:pos x="T26" y="T27"/>
                                </a:cxn>
                                <a:cxn ang="T60">
                                  <a:pos x="T28" y="T29"/>
                                </a:cxn>
                                <a:cxn ang="T61">
                                  <a:pos x="T30" y="T31"/>
                                </a:cxn>
                                <a:cxn ang="T62">
                                  <a:pos x="T32" y="T33"/>
                                </a:cxn>
                                <a:cxn ang="T63">
                                  <a:pos x="T34" y="T35"/>
                                </a:cxn>
                                <a:cxn ang="T64">
                                  <a:pos x="T36" y="T37"/>
                                </a:cxn>
                                <a:cxn ang="T65">
                                  <a:pos x="T38" y="T39"/>
                                </a:cxn>
                                <a:cxn ang="T66">
                                  <a:pos x="T40" y="T41"/>
                                </a:cxn>
                                <a:cxn ang="T67">
                                  <a:pos x="T42" y="T43"/>
                                </a:cxn>
                                <a:cxn ang="T68">
                                  <a:pos x="T44" y="T45"/>
                                </a:cxn>
                              </a:cxnLst>
                              <a:rect l="T69" t="T70" r="T71" b="T72"/>
                              <a:pathLst>
                                <a:path w="66" h="45">
                                  <a:moveTo>
                                    <a:pt x="10" y="0"/>
                                  </a:moveTo>
                                  <a:lnTo>
                                    <a:pt x="18" y="7"/>
                                  </a:lnTo>
                                  <a:lnTo>
                                    <a:pt x="26" y="5"/>
                                  </a:lnTo>
                                  <a:lnTo>
                                    <a:pt x="38" y="7"/>
                                  </a:lnTo>
                                  <a:lnTo>
                                    <a:pt x="49" y="7"/>
                                  </a:lnTo>
                                  <a:lnTo>
                                    <a:pt x="55" y="11"/>
                                  </a:lnTo>
                                  <a:lnTo>
                                    <a:pt x="62" y="21"/>
                                  </a:lnTo>
                                  <a:lnTo>
                                    <a:pt x="66" y="26"/>
                                  </a:lnTo>
                                  <a:lnTo>
                                    <a:pt x="51" y="29"/>
                                  </a:lnTo>
                                  <a:lnTo>
                                    <a:pt x="47" y="32"/>
                                  </a:lnTo>
                                  <a:lnTo>
                                    <a:pt x="51" y="37"/>
                                  </a:lnTo>
                                  <a:lnTo>
                                    <a:pt x="51" y="43"/>
                                  </a:lnTo>
                                  <a:lnTo>
                                    <a:pt x="36" y="37"/>
                                  </a:lnTo>
                                  <a:lnTo>
                                    <a:pt x="23" y="33"/>
                                  </a:lnTo>
                                  <a:lnTo>
                                    <a:pt x="18" y="34"/>
                                  </a:lnTo>
                                  <a:lnTo>
                                    <a:pt x="18" y="43"/>
                                  </a:lnTo>
                                  <a:lnTo>
                                    <a:pt x="10" y="45"/>
                                  </a:lnTo>
                                  <a:lnTo>
                                    <a:pt x="6" y="37"/>
                                  </a:lnTo>
                                  <a:lnTo>
                                    <a:pt x="4" y="29"/>
                                  </a:lnTo>
                                  <a:lnTo>
                                    <a:pt x="0" y="27"/>
                                  </a:lnTo>
                                  <a:lnTo>
                                    <a:pt x="4" y="18"/>
                                  </a:lnTo>
                                  <a:lnTo>
                                    <a:pt x="11" y="16"/>
                                  </a:lnTo>
                                  <a:lnTo>
                                    <a:pt x="10" y="0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83" name="Freeform 14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4" y="2675"/>
                            <a:ext cx="231" cy="182"/>
                          </a:xfrm>
                          <a:custGeom>
                            <a:avLst/>
                            <a:gdLst>
                              <a:gd name="T0" fmla="*/ 179 w 462"/>
                              <a:gd name="T1" fmla="*/ 15 h 364"/>
                              <a:gd name="T2" fmla="*/ 188 w 462"/>
                              <a:gd name="T3" fmla="*/ 22 h 364"/>
                              <a:gd name="T4" fmla="*/ 197 w 462"/>
                              <a:gd name="T5" fmla="*/ 48 h 364"/>
                              <a:gd name="T6" fmla="*/ 218 w 462"/>
                              <a:gd name="T7" fmla="*/ 76 h 364"/>
                              <a:gd name="T8" fmla="*/ 231 w 462"/>
                              <a:gd name="T9" fmla="*/ 104 h 364"/>
                              <a:gd name="T10" fmla="*/ 222 w 462"/>
                              <a:gd name="T11" fmla="*/ 130 h 364"/>
                              <a:gd name="T12" fmla="*/ 213 w 462"/>
                              <a:gd name="T13" fmla="*/ 147 h 364"/>
                              <a:gd name="T14" fmla="*/ 207 w 462"/>
                              <a:gd name="T15" fmla="*/ 163 h 364"/>
                              <a:gd name="T16" fmla="*/ 202 w 462"/>
                              <a:gd name="T17" fmla="*/ 173 h 364"/>
                              <a:gd name="T18" fmla="*/ 191 w 462"/>
                              <a:gd name="T19" fmla="*/ 179 h 364"/>
                              <a:gd name="T20" fmla="*/ 173 w 462"/>
                              <a:gd name="T21" fmla="*/ 177 h 364"/>
                              <a:gd name="T22" fmla="*/ 155 w 462"/>
                              <a:gd name="T23" fmla="*/ 173 h 364"/>
                              <a:gd name="T24" fmla="*/ 146 w 462"/>
                              <a:gd name="T25" fmla="*/ 162 h 364"/>
                              <a:gd name="T26" fmla="*/ 143 w 462"/>
                              <a:gd name="T27" fmla="*/ 149 h 364"/>
                              <a:gd name="T28" fmla="*/ 137 w 462"/>
                              <a:gd name="T29" fmla="*/ 144 h 364"/>
                              <a:gd name="T30" fmla="*/ 127 w 462"/>
                              <a:gd name="T31" fmla="*/ 144 h 364"/>
                              <a:gd name="T32" fmla="*/ 118 w 462"/>
                              <a:gd name="T33" fmla="*/ 134 h 364"/>
                              <a:gd name="T34" fmla="*/ 111 w 462"/>
                              <a:gd name="T35" fmla="*/ 133 h 364"/>
                              <a:gd name="T36" fmla="*/ 98 w 462"/>
                              <a:gd name="T37" fmla="*/ 134 h 364"/>
                              <a:gd name="T38" fmla="*/ 88 w 462"/>
                              <a:gd name="T39" fmla="*/ 136 h 364"/>
                              <a:gd name="T40" fmla="*/ 79 w 462"/>
                              <a:gd name="T41" fmla="*/ 141 h 364"/>
                              <a:gd name="T42" fmla="*/ 66 w 462"/>
                              <a:gd name="T43" fmla="*/ 146 h 364"/>
                              <a:gd name="T44" fmla="*/ 53 w 462"/>
                              <a:gd name="T45" fmla="*/ 152 h 364"/>
                              <a:gd name="T46" fmla="*/ 46 w 462"/>
                              <a:gd name="T47" fmla="*/ 155 h 364"/>
                              <a:gd name="T48" fmla="*/ 27 w 462"/>
                              <a:gd name="T49" fmla="*/ 154 h 364"/>
                              <a:gd name="T50" fmla="*/ 23 w 462"/>
                              <a:gd name="T51" fmla="*/ 150 h 364"/>
                              <a:gd name="T52" fmla="*/ 23 w 462"/>
                              <a:gd name="T53" fmla="*/ 130 h 364"/>
                              <a:gd name="T54" fmla="*/ 17 w 462"/>
                              <a:gd name="T55" fmla="*/ 118 h 364"/>
                              <a:gd name="T56" fmla="*/ 11 w 462"/>
                              <a:gd name="T57" fmla="*/ 109 h 364"/>
                              <a:gd name="T58" fmla="*/ 2 w 462"/>
                              <a:gd name="T59" fmla="*/ 76 h 364"/>
                              <a:gd name="T60" fmla="*/ 3 w 462"/>
                              <a:gd name="T61" fmla="*/ 65 h 364"/>
                              <a:gd name="T62" fmla="*/ 20 w 462"/>
                              <a:gd name="T63" fmla="*/ 59 h 364"/>
                              <a:gd name="T64" fmla="*/ 31 w 462"/>
                              <a:gd name="T65" fmla="*/ 57 h 364"/>
                              <a:gd name="T66" fmla="*/ 39 w 462"/>
                              <a:gd name="T67" fmla="*/ 54 h 364"/>
                              <a:gd name="T68" fmla="*/ 43 w 462"/>
                              <a:gd name="T69" fmla="*/ 46 h 364"/>
                              <a:gd name="T70" fmla="*/ 42 w 462"/>
                              <a:gd name="T71" fmla="*/ 40 h 364"/>
                              <a:gd name="T72" fmla="*/ 58 w 462"/>
                              <a:gd name="T73" fmla="*/ 27 h 364"/>
                              <a:gd name="T74" fmla="*/ 71 w 462"/>
                              <a:gd name="T75" fmla="*/ 17 h 364"/>
                              <a:gd name="T76" fmla="*/ 83 w 462"/>
                              <a:gd name="T77" fmla="*/ 24 h 364"/>
                              <a:gd name="T78" fmla="*/ 92 w 462"/>
                              <a:gd name="T79" fmla="*/ 16 h 364"/>
                              <a:gd name="T80" fmla="*/ 100 w 462"/>
                              <a:gd name="T81" fmla="*/ 7 h 364"/>
                              <a:gd name="T82" fmla="*/ 110 w 462"/>
                              <a:gd name="T83" fmla="*/ 3 h 364"/>
                              <a:gd name="T84" fmla="*/ 125 w 462"/>
                              <a:gd name="T85" fmla="*/ 4 h 364"/>
                              <a:gd name="T86" fmla="*/ 131 w 462"/>
                              <a:gd name="T87" fmla="*/ 11 h 364"/>
                              <a:gd name="T88" fmla="*/ 131 w 462"/>
                              <a:gd name="T89" fmla="*/ 19 h 364"/>
                              <a:gd name="T90" fmla="*/ 144 w 462"/>
                              <a:gd name="T91" fmla="*/ 34 h 364"/>
                              <a:gd name="T92" fmla="*/ 155 w 462"/>
                              <a:gd name="T93" fmla="*/ 38 h 364"/>
                              <a:gd name="T94" fmla="*/ 164 w 462"/>
                              <a:gd name="T95" fmla="*/ 24 h 364"/>
                              <a:gd name="T96" fmla="*/ 166 w 462"/>
                              <a:gd name="T97" fmla="*/ 0 h 364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w 462"/>
                              <a:gd name="T148" fmla="*/ 0 h 364"/>
                              <a:gd name="T149" fmla="*/ 462 w 462"/>
                              <a:gd name="T150" fmla="*/ 364 h 364"/>
                            </a:gdLst>
                            <a:ahLst/>
                            <a:cxnLst>
                              <a:cxn ang="T98">
                                <a:pos x="T0" y="T1"/>
                              </a:cxn>
                              <a:cxn ang="T99">
                                <a:pos x="T2" y="T3"/>
                              </a:cxn>
                              <a:cxn ang="T100">
                                <a:pos x="T4" y="T5"/>
                              </a:cxn>
                              <a:cxn ang="T101">
                                <a:pos x="T6" y="T7"/>
                              </a:cxn>
                              <a:cxn ang="T102">
                                <a:pos x="T8" y="T9"/>
                              </a:cxn>
                              <a:cxn ang="T103">
                                <a:pos x="T10" y="T11"/>
                              </a:cxn>
                              <a:cxn ang="T104">
                                <a:pos x="T12" y="T13"/>
                              </a:cxn>
                              <a:cxn ang="T105">
                                <a:pos x="T14" y="T15"/>
                              </a:cxn>
                              <a:cxn ang="T106">
                                <a:pos x="T16" y="T17"/>
                              </a:cxn>
                              <a:cxn ang="T107">
                                <a:pos x="T18" y="T19"/>
                              </a:cxn>
                              <a:cxn ang="T108">
                                <a:pos x="T20" y="T21"/>
                              </a:cxn>
                              <a:cxn ang="T109">
                                <a:pos x="T22" y="T23"/>
                              </a:cxn>
                              <a:cxn ang="T110">
                                <a:pos x="T24" y="T25"/>
                              </a:cxn>
                              <a:cxn ang="T111">
                                <a:pos x="T26" y="T27"/>
                              </a:cxn>
                              <a:cxn ang="T112">
                                <a:pos x="T28" y="T29"/>
                              </a:cxn>
                              <a:cxn ang="T113">
                                <a:pos x="T30" y="T31"/>
                              </a:cxn>
                              <a:cxn ang="T114">
                                <a:pos x="T32" y="T33"/>
                              </a:cxn>
                              <a:cxn ang="T115">
                                <a:pos x="T34" y="T35"/>
                              </a:cxn>
                              <a:cxn ang="T116">
                                <a:pos x="T36" y="T37"/>
                              </a:cxn>
                              <a:cxn ang="T117">
                                <a:pos x="T38" y="T39"/>
                              </a:cxn>
                              <a:cxn ang="T118">
                                <a:pos x="T40" y="T41"/>
                              </a:cxn>
                              <a:cxn ang="T119">
                                <a:pos x="T42" y="T43"/>
                              </a:cxn>
                              <a:cxn ang="T120">
                                <a:pos x="T44" y="T45"/>
                              </a:cxn>
                              <a:cxn ang="T121">
                                <a:pos x="T46" y="T47"/>
                              </a:cxn>
                              <a:cxn ang="T122">
                                <a:pos x="T48" y="T49"/>
                              </a:cxn>
                              <a:cxn ang="T123">
                                <a:pos x="T50" y="T51"/>
                              </a:cxn>
                              <a:cxn ang="T124">
                                <a:pos x="T52" y="T53"/>
                              </a:cxn>
                              <a:cxn ang="T125">
                                <a:pos x="T54" y="T55"/>
                              </a:cxn>
                              <a:cxn ang="T126">
                                <a:pos x="T56" y="T57"/>
                              </a:cxn>
                              <a:cxn ang="T127">
                                <a:pos x="T58" y="T59"/>
                              </a:cxn>
                              <a:cxn ang="T128">
                                <a:pos x="T60" y="T61"/>
                              </a:cxn>
                              <a:cxn ang="T129">
                                <a:pos x="T62" y="T63"/>
                              </a:cxn>
                              <a:cxn ang="T130">
                                <a:pos x="T64" y="T65"/>
                              </a:cxn>
                              <a:cxn ang="T131">
                                <a:pos x="T66" y="T67"/>
                              </a:cxn>
                              <a:cxn ang="T132">
                                <a:pos x="T68" y="T69"/>
                              </a:cxn>
                              <a:cxn ang="T133">
                                <a:pos x="T70" y="T71"/>
                              </a:cxn>
                              <a:cxn ang="T134">
                                <a:pos x="T72" y="T73"/>
                              </a:cxn>
                              <a:cxn ang="T135">
                                <a:pos x="T74" y="T75"/>
                              </a:cxn>
                              <a:cxn ang="T136">
                                <a:pos x="T76" y="T77"/>
                              </a:cxn>
                              <a:cxn ang="T137">
                                <a:pos x="T78" y="T79"/>
                              </a:cxn>
                              <a:cxn ang="T138">
                                <a:pos x="T80" y="T81"/>
                              </a:cxn>
                              <a:cxn ang="T139">
                                <a:pos x="T82" y="T83"/>
                              </a:cxn>
                              <a:cxn ang="T140">
                                <a:pos x="T84" y="T85"/>
                              </a:cxn>
                              <a:cxn ang="T141">
                                <a:pos x="T86" y="T87"/>
                              </a:cxn>
                              <a:cxn ang="T142">
                                <a:pos x="T88" y="T89"/>
                              </a:cxn>
                              <a:cxn ang="T143">
                                <a:pos x="T90" y="T91"/>
                              </a:cxn>
                              <a:cxn ang="T144">
                                <a:pos x="T92" y="T93"/>
                              </a:cxn>
                              <a:cxn ang="T145">
                                <a:pos x="T94" y="T95"/>
                              </a:cxn>
                              <a:cxn ang="T146">
                                <a:pos x="T96" y="T97"/>
                              </a:cxn>
                            </a:cxnLst>
                            <a:rect l="T147" t="T148" r="T149" b="T150"/>
                            <a:pathLst>
                              <a:path w="462" h="364">
                                <a:moveTo>
                                  <a:pt x="332" y="0"/>
                                </a:moveTo>
                                <a:lnTo>
                                  <a:pt x="357" y="0"/>
                                </a:lnTo>
                                <a:lnTo>
                                  <a:pt x="357" y="30"/>
                                </a:lnTo>
                                <a:lnTo>
                                  <a:pt x="366" y="38"/>
                                </a:lnTo>
                                <a:lnTo>
                                  <a:pt x="369" y="43"/>
                                </a:lnTo>
                                <a:lnTo>
                                  <a:pt x="375" y="43"/>
                                </a:lnTo>
                                <a:lnTo>
                                  <a:pt x="377" y="48"/>
                                </a:lnTo>
                                <a:lnTo>
                                  <a:pt x="380" y="77"/>
                                </a:lnTo>
                                <a:lnTo>
                                  <a:pt x="394" y="96"/>
                                </a:lnTo>
                                <a:lnTo>
                                  <a:pt x="414" y="124"/>
                                </a:lnTo>
                                <a:lnTo>
                                  <a:pt x="414" y="128"/>
                                </a:lnTo>
                                <a:lnTo>
                                  <a:pt x="436" y="152"/>
                                </a:lnTo>
                                <a:lnTo>
                                  <a:pt x="436" y="156"/>
                                </a:lnTo>
                                <a:lnTo>
                                  <a:pt x="458" y="175"/>
                                </a:lnTo>
                                <a:lnTo>
                                  <a:pt x="462" y="208"/>
                                </a:lnTo>
                                <a:lnTo>
                                  <a:pt x="458" y="239"/>
                                </a:lnTo>
                                <a:lnTo>
                                  <a:pt x="451" y="253"/>
                                </a:lnTo>
                                <a:lnTo>
                                  <a:pt x="443" y="260"/>
                                </a:lnTo>
                                <a:lnTo>
                                  <a:pt x="440" y="275"/>
                                </a:lnTo>
                                <a:lnTo>
                                  <a:pt x="432" y="288"/>
                                </a:lnTo>
                                <a:lnTo>
                                  <a:pt x="425" y="294"/>
                                </a:lnTo>
                                <a:lnTo>
                                  <a:pt x="427" y="298"/>
                                </a:lnTo>
                                <a:lnTo>
                                  <a:pt x="419" y="307"/>
                                </a:lnTo>
                                <a:lnTo>
                                  <a:pt x="414" y="326"/>
                                </a:lnTo>
                                <a:lnTo>
                                  <a:pt x="413" y="336"/>
                                </a:lnTo>
                                <a:lnTo>
                                  <a:pt x="405" y="340"/>
                                </a:lnTo>
                                <a:lnTo>
                                  <a:pt x="403" y="345"/>
                                </a:lnTo>
                                <a:lnTo>
                                  <a:pt x="398" y="353"/>
                                </a:lnTo>
                                <a:lnTo>
                                  <a:pt x="388" y="355"/>
                                </a:lnTo>
                                <a:lnTo>
                                  <a:pt x="381" y="358"/>
                                </a:lnTo>
                                <a:lnTo>
                                  <a:pt x="372" y="364"/>
                                </a:lnTo>
                                <a:lnTo>
                                  <a:pt x="360" y="352"/>
                                </a:lnTo>
                                <a:lnTo>
                                  <a:pt x="346" y="353"/>
                                </a:lnTo>
                                <a:lnTo>
                                  <a:pt x="342" y="353"/>
                                </a:lnTo>
                                <a:lnTo>
                                  <a:pt x="323" y="356"/>
                                </a:lnTo>
                                <a:lnTo>
                                  <a:pt x="310" y="345"/>
                                </a:lnTo>
                                <a:lnTo>
                                  <a:pt x="302" y="333"/>
                                </a:lnTo>
                                <a:lnTo>
                                  <a:pt x="296" y="334"/>
                                </a:lnTo>
                                <a:lnTo>
                                  <a:pt x="291" y="324"/>
                                </a:lnTo>
                                <a:lnTo>
                                  <a:pt x="288" y="316"/>
                                </a:lnTo>
                                <a:lnTo>
                                  <a:pt x="286" y="313"/>
                                </a:lnTo>
                                <a:lnTo>
                                  <a:pt x="286" y="298"/>
                                </a:lnTo>
                                <a:lnTo>
                                  <a:pt x="287" y="289"/>
                                </a:lnTo>
                                <a:lnTo>
                                  <a:pt x="284" y="284"/>
                                </a:lnTo>
                                <a:lnTo>
                                  <a:pt x="273" y="287"/>
                                </a:lnTo>
                                <a:lnTo>
                                  <a:pt x="268" y="288"/>
                                </a:lnTo>
                                <a:lnTo>
                                  <a:pt x="258" y="288"/>
                                </a:lnTo>
                                <a:lnTo>
                                  <a:pt x="254" y="288"/>
                                </a:lnTo>
                                <a:lnTo>
                                  <a:pt x="250" y="288"/>
                                </a:lnTo>
                                <a:lnTo>
                                  <a:pt x="243" y="279"/>
                                </a:lnTo>
                                <a:lnTo>
                                  <a:pt x="236" y="268"/>
                                </a:lnTo>
                                <a:lnTo>
                                  <a:pt x="235" y="269"/>
                                </a:lnTo>
                                <a:lnTo>
                                  <a:pt x="222" y="269"/>
                                </a:lnTo>
                                <a:lnTo>
                                  <a:pt x="221" y="265"/>
                                </a:lnTo>
                                <a:lnTo>
                                  <a:pt x="214" y="269"/>
                                </a:lnTo>
                                <a:lnTo>
                                  <a:pt x="207" y="268"/>
                                </a:lnTo>
                                <a:lnTo>
                                  <a:pt x="196" y="268"/>
                                </a:lnTo>
                                <a:lnTo>
                                  <a:pt x="190" y="265"/>
                                </a:lnTo>
                                <a:lnTo>
                                  <a:pt x="187" y="269"/>
                                </a:lnTo>
                                <a:lnTo>
                                  <a:pt x="176" y="271"/>
                                </a:lnTo>
                                <a:lnTo>
                                  <a:pt x="173" y="268"/>
                                </a:lnTo>
                                <a:lnTo>
                                  <a:pt x="166" y="275"/>
                                </a:lnTo>
                                <a:lnTo>
                                  <a:pt x="158" y="282"/>
                                </a:lnTo>
                                <a:lnTo>
                                  <a:pt x="152" y="282"/>
                                </a:lnTo>
                                <a:lnTo>
                                  <a:pt x="144" y="291"/>
                                </a:lnTo>
                                <a:lnTo>
                                  <a:pt x="132" y="291"/>
                                </a:lnTo>
                                <a:lnTo>
                                  <a:pt x="122" y="294"/>
                                </a:lnTo>
                                <a:lnTo>
                                  <a:pt x="111" y="298"/>
                                </a:lnTo>
                                <a:lnTo>
                                  <a:pt x="106" y="304"/>
                                </a:lnTo>
                                <a:lnTo>
                                  <a:pt x="102" y="303"/>
                                </a:lnTo>
                                <a:lnTo>
                                  <a:pt x="98" y="308"/>
                                </a:lnTo>
                                <a:lnTo>
                                  <a:pt x="92" y="310"/>
                                </a:lnTo>
                                <a:lnTo>
                                  <a:pt x="85" y="317"/>
                                </a:lnTo>
                                <a:lnTo>
                                  <a:pt x="63" y="317"/>
                                </a:lnTo>
                                <a:lnTo>
                                  <a:pt x="54" y="307"/>
                                </a:lnTo>
                                <a:lnTo>
                                  <a:pt x="52" y="303"/>
                                </a:lnTo>
                                <a:lnTo>
                                  <a:pt x="50" y="307"/>
                                </a:lnTo>
                                <a:lnTo>
                                  <a:pt x="46" y="300"/>
                                </a:lnTo>
                                <a:lnTo>
                                  <a:pt x="47" y="281"/>
                                </a:lnTo>
                                <a:lnTo>
                                  <a:pt x="50" y="269"/>
                                </a:lnTo>
                                <a:lnTo>
                                  <a:pt x="46" y="260"/>
                                </a:lnTo>
                                <a:lnTo>
                                  <a:pt x="41" y="252"/>
                                </a:lnTo>
                                <a:lnTo>
                                  <a:pt x="40" y="242"/>
                                </a:lnTo>
                                <a:lnTo>
                                  <a:pt x="33" y="237"/>
                                </a:lnTo>
                                <a:lnTo>
                                  <a:pt x="32" y="236"/>
                                </a:lnTo>
                                <a:lnTo>
                                  <a:pt x="30" y="231"/>
                                </a:lnTo>
                                <a:lnTo>
                                  <a:pt x="21" y="218"/>
                                </a:lnTo>
                                <a:lnTo>
                                  <a:pt x="9" y="186"/>
                                </a:lnTo>
                                <a:lnTo>
                                  <a:pt x="4" y="165"/>
                                </a:lnTo>
                                <a:lnTo>
                                  <a:pt x="4" y="152"/>
                                </a:lnTo>
                                <a:lnTo>
                                  <a:pt x="0" y="147"/>
                                </a:lnTo>
                                <a:lnTo>
                                  <a:pt x="2" y="136"/>
                                </a:lnTo>
                                <a:lnTo>
                                  <a:pt x="6" y="130"/>
                                </a:lnTo>
                                <a:lnTo>
                                  <a:pt x="21" y="114"/>
                                </a:lnTo>
                                <a:lnTo>
                                  <a:pt x="36" y="115"/>
                                </a:lnTo>
                                <a:lnTo>
                                  <a:pt x="39" y="118"/>
                                </a:lnTo>
                                <a:lnTo>
                                  <a:pt x="58" y="118"/>
                                </a:lnTo>
                                <a:lnTo>
                                  <a:pt x="59" y="114"/>
                                </a:lnTo>
                                <a:lnTo>
                                  <a:pt x="63" y="115"/>
                                </a:lnTo>
                                <a:lnTo>
                                  <a:pt x="69" y="111"/>
                                </a:lnTo>
                                <a:lnTo>
                                  <a:pt x="73" y="112"/>
                                </a:lnTo>
                                <a:lnTo>
                                  <a:pt x="77" y="109"/>
                                </a:lnTo>
                                <a:lnTo>
                                  <a:pt x="76" y="105"/>
                                </a:lnTo>
                                <a:lnTo>
                                  <a:pt x="80" y="95"/>
                                </a:lnTo>
                                <a:lnTo>
                                  <a:pt x="85" y="91"/>
                                </a:lnTo>
                                <a:lnTo>
                                  <a:pt x="83" y="88"/>
                                </a:lnTo>
                                <a:lnTo>
                                  <a:pt x="85" y="85"/>
                                </a:lnTo>
                                <a:lnTo>
                                  <a:pt x="83" y="80"/>
                                </a:lnTo>
                                <a:lnTo>
                                  <a:pt x="91" y="73"/>
                                </a:lnTo>
                                <a:lnTo>
                                  <a:pt x="103" y="72"/>
                                </a:lnTo>
                                <a:lnTo>
                                  <a:pt x="115" y="54"/>
                                </a:lnTo>
                                <a:lnTo>
                                  <a:pt x="131" y="40"/>
                                </a:lnTo>
                                <a:lnTo>
                                  <a:pt x="137" y="38"/>
                                </a:lnTo>
                                <a:lnTo>
                                  <a:pt x="142" y="34"/>
                                </a:lnTo>
                                <a:lnTo>
                                  <a:pt x="148" y="34"/>
                                </a:lnTo>
                                <a:lnTo>
                                  <a:pt x="161" y="47"/>
                                </a:lnTo>
                                <a:lnTo>
                                  <a:pt x="165" y="48"/>
                                </a:lnTo>
                                <a:lnTo>
                                  <a:pt x="169" y="43"/>
                                </a:lnTo>
                                <a:lnTo>
                                  <a:pt x="177" y="34"/>
                                </a:lnTo>
                                <a:lnTo>
                                  <a:pt x="183" y="32"/>
                                </a:lnTo>
                                <a:lnTo>
                                  <a:pt x="188" y="21"/>
                                </a:lnTo>
                                <a:lnTo>
                                  <a:pt x="194" y="19"/>
                                </a:lnTo>
                                <a:lnTo>
                                  <a:pt x="200" y="15"/>
                                </a:lnTo>
                                <a:lnTo>
                                  <a:pt x="207" y="11"/>
                                </a:lnTo>
                                <a:lnTo>
                                  <a:pt x="214" y="11"/>
                                </a:lnTo>
                                <a:lnTo>
                                  <a:pt x="220" y="5"/>
                                </a:lnTo>
                                <a:lnTo>
                                  <a:pt x="228" y="5"/>
                                </a:lnTo>
                                <a:lnTo>
                                  <a:pt x="238" y="5"/>
                                </a:lnTo>
                                <a:lnTo>
                                  <a:pt x="250" y="8"/>
                                </a:lnTo>
                                <a:lnTo>
                                  <a:pt x="258" y="14"/>
                                </a:lnTo>
                                <a:lnTo>
                                  <a:pt x="259" y="18"/>
                                </a:lnTo>
                                <a:lnTo>
                                  <a:pt x="261" y="21"/>
                                </a:lnTo>
                                <a:lnTo>
                                  <a:pt x="262" y="28"/>
                                </a:lnTo>
                                <a:lnTo>
                                  <a:pt x="261" y="31"/>
                                </a:lnTo>
                                <a:lnTo>
                                  <a:pt x="261" y="38"/>
                                </a:lnTo>
                                <a:lnTo>
                                  <a:pt x="259" y="43"/>
                                </a:lnTo>
                                <a:lnTo>
                                  <a:pt x="280" y="59"/>
                                </a:lnTo>
                                <a:lnTo>
                                  <a:pt x="287" y="67"/>
                                </a:lnTo>
                                <a:lnTo>
                                  <a:pt x="295" y="70"/>
                                </a:lnTo>
                                <a:lnTo>
                                  <a:pt x="303" y="75"/>
                                </a:lnTo>
                                <a:lnTo>
                                  <a:pt x="309" y="76"/>
                                </a:lnTo>
                                <a:lnTo>
                                  <a:pt x="317" y="72"/>
                                </a:lnTo>
                                <a:lnTo>
                                  <a:pt x="324" y="59"/>
                                </a:lnTo>
                                <a:lnTo>
                                  <a:pt x="327" y="48"/>
                                </a:lnTo>
                                <a:lnTo>
                                  <a:pt x="329" y="28"/>
                                </a:lnTo>
                                <a:lnTo>
                                  <a:pt x="332" y="19"/>
                                </a:lnTo>
                                <a:lnTo>
                                  <a:pt x="33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4" name="Freeform 147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29" y="2637"/>
                            <a:ext cx="128" cy="24"/>
                          </a:xfrm>
                          <a:custGeom>
                            <a:avLst/>
                            <a:gdLst>
                              <a:gd name="T0" fmla="*/ 10 w 255"/>
                              <a:gd name="T1" fmla="*/ 3 h 49"/>
                              <a:gd name="T2" fmla="*/ 26 w 255"/>
                              <a:gd name="T3" fmla="*/ 3 h 49"/>
                              <a:gd name="T4" fmla="*/ 35 w 255"/>
                              <a:gd name="T5" fmla="*/ 4 h 49"/>
                              <a:gd name="T6" fmla="*/ 43 w 255"/>
                              <a:gd name="T7" fmla="*/ 11 h 49"/>
                              <a:gd name="T8" fmla="*/ 51 w 255"/>
                              <a:gd name="T9" fmla="*/ 13 h 49"/>
                              <a:gd name="T10" fmla="*/ 63 w 255"/>
                              <a:gd name="T11" fmla="*/ 15 h 49"/>
                              <a:gd name="T12" fmla="*/ 69 w 255"/>
                              <a:gd name="T13" fmla="*/ 17 h 49"/>
                              <a:gd name="T14" fmla="*/ 72 w 255"/>
                              <a:gd name="T15" fmla="*/ 11 h 49"/>
                              <a:gd name="T16" fmla="*/ 87 w 255"/>
                              <a:gd name="T17" fmla="*/ 13 h 49"/>
                              <a:gd name="T18" fmla="*/ 98 w 255"/>
                              <a:gd name="T19" fmla="*/ 15 h 49"/>
                              <a:gd name="T20" fmla="*/ 106 w 255"/>
                              <a:gd name="T21" fmla="*/ 15 h 49"/>
                              <a:gd name="T22" fmla="*/ 111 w 255"/>
                              <a:gd name="T23" fmla="*/ 13 h 49"/>
                              <a:gd name="T24" fmla="*/ 120 w 255"/>
                              <a:gd name="T25" fmla="*/ 11 h 49"/>
                              <a:gd name="T26" fmla="*/ 128 w 255"/>
                              <a:gd name="T27" fmla="*/ 10 h 49"/>
                              <a:gd name="T28" fmla="*/ 126 w 255"/>
                              <a:gd name="T29" fmla="*/ 17 h 49"/>
                              <a:gd name="T30" fmla="*/ 120 w 255"/>
                              <a:gd name="T31" fmla="*/ 19 h 49"/>
                              <a:gd name="T32" fmla="*/ 116 w 255"/>
                              <a:gd name="T33" fmla="*/ 20 h 49"/>
                              <a:gd name="T34" fmla="*/ 111 w 255"/>
                              <a:gd name="T35" fmla="*/ 22 h 49"/>
                              <a:gd name="T36" fmla="*/ 105 w 255"/>
                              <a:gd name="T37" fmla="*/ 22 h 49"/>
                              <a:gd name="T38" fmla="*/ 100 w 255"/>
                              <a:gd name="T39" fmla="*/ 23 h 49"/>
                              <a:gd name="T40" fmla="*/ 93 w 255"/>
                              <a:gd name="T41" fmla="*/ 24 h 49"/>
                              <a:gd name="T42" fmla="*/ 88 w 255"/>
                              <a:gd name="T43" fmla="*/ 19 h 49"/>
                              <a:gd name="T44" fmla="*/ 82 w 255"/>
                              <a:gd name="T45" fmla="*/ 24 h 49"/>
                              <a:gd name="T46" fmla="*/ 75 w 255"/>
                              <a:gd name="T47" fmla="*/ 19 h 49"/>
                              <a:gd name="T48" fmla="*/ 71 w 255"/>
                              <a:gd name="T49" fmla="*/ 20 h 49"/>
                              <a:gd name="T50" fmla="*/ 65 w 255"/>
                              <a:gd name="T51" fmla="*/ 22 h 49"/>
                              <a:gd name="T52" fmla="*/ 59 w 255"/>
                              <a:gd name="T53" fmla="*/ 21 h 49"/>
                              <a:gd name="T54" fmla="*/ 52 w 255"/>
                              <a:gd name="T55" fmla="*/ 20 h 49"/>
                              <a:gd name="T56" fmla="*/ 45 w 255"/>
                              <a:gd name="T57" fmla="*/ 22 h 49"/>
                              <a:gd name="T58" fmla="*/ 36 w 255"/>
                              <a:gd name="T59" fmla="*/ 18 h 49"/>
                              <a:gd name="T60" fmla="*/ 24 w 255"/>
                              <a:gd name="T61" fmla="*/ 16 h 49"/>
                              <a:gd name="T62" fmla="*/ 15 w 255"/>
                              <a:gd name="T63" fmla="*/ 14 h 49"/>
                              <a:gd name="T64" fmla="*/ 6 w 255"/>
                              <a:gd name="T65" fmla="*/ 10 h 49"/>
                              <a:gd name="T66" fmla="*/ 1 w 255"/>
                              <a:gd name="T67" fmla="*/ 9 h 49"/>
                              <a:gd name="T68" fmla="*/ 0 w 255"/>
                              <a:gd name="T69" fmla="*/ 0 h 49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255"/>
                              <a:gd name="T106" fmla="*/ 0 h 49"/>
                              <a:gd name="T107" fmla="*/ 255 w 255"/>
                              <a:gd name="T108" fmla="*/ 49 h 49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255" h="49">
                                <a:moveTo>
                                  <a:pt x="0" y="0"/>
                                </a:moveTo>
                                <a:lnTo>
                                  <a:pt x="19" y="7"/>
                                </a:lnTo>
                                <a:lnTo>
                                  <a:pt x="36" y="7"/>
                                </a:lnTo>
                                <a:lnTo>
                                  <a:pt x="51" y="7"/>
                                </a:lnTo>
                                <a:lnTo>
                                  <a:pt x="62" y="7"/>
                                </a:lnTo>
                                <a:lnTo>
                                  <a:pt x="70" y="8"/>
                                </a:lnTo>
                                <a:lnTo>
                                  <a:pt x="81" y="13"/>
                                </a:lnTo>
                                <a:lnTo>
                                  <a:pt x="86" y="23"/>
                                </a:lnTo>
                                <a:lnTo>
                                  <a:pt x="92" y="27"/>
                                </a:lnTo>
                                <a:lnTo>
                                  <a:pt x="101" y="26"/>
                                </a:lnTo>
                                <a:lnTo>
                                  <a:pt x="112" y="26"/>
                                </a:lnTo>
                                <a:lnTo>
                                  <a:pt x="125" y="31"/>
                                </a:lnTo>
                                <a:lnTo>
                                  <a:pt x="133" y="34"/>
                                </a:lnTo>
                                <a:lnTo>
                                  <a:pt x="138" y="34"/>
                                </a:lnTo>
                                <a:lnTo>
                                  <a:pt x="140" y="27"/>
                                </a:lnTo>
                                <a:lnTo>
                                  <a:pt x="144" y="23"/>
                                </a:lnTo>
                                <a:lnTo>
                                  <a:pt x="160" y="26"/>
                                </a:lnTo>
                                <a:lnTo>
                                  <a:pt x="174" y="26"/>
                                </a:lnTo>
                                <a:lnTo>
                                  <a:pt x="186" y="26"/>
                                </a:lnTo>
                                <a:lnTo>
                                  <a:pt x="196" y="30"/>
                                </a:lnTo>
                                <a:lnTo>
                                  <a:pt x="202" y="33"/>
                                </a:lnTo>
                                <a:lnTo>
                                  <a:pt x="211" y="31"/>
                                </a:lnTo>
                                <a:lnTo>
                                  <a:pt x="218" y="29"/>
                                </a:lnTo>
                                <a:lnTo>
                                  <a:pt x="222" y="26"/>
                                </a:lnTo>
                                <a:lnTo>
                                  <a:pt x="233" y="26"/>
                                </a:lnTo>
                                <a:lnTo>
                                  <a:pt x="240" y="23"/>
                                </a:lnTo>
                                <a:lnTo>
                                  <a:pt x="250" y="20"/>
                                </a:lnTo>
                                <a:lnTo>
                                  <a:pt x="255" y="20"/>
                                </a:lnTo>
                                <a:lnTo>
                                  <a:pt x="254" y="30"/>
                                </a:lnTo>
                                <a:lnTo>
                                  <a:pt x="251" y="34"/>
                                </a:lnTo>
                                <a:lnTo>
                                  <a:pt x="245" y="39"/>
                                </a:lnTo>
                                <a:lnTo>
                                  <a:pt x="240" y="39"/>
                                </a:lnTo>
                                <a:lnTo>
                                  <a:pt x="239" y="39"/>
                                </a:lnTo>
                                <a:lnTo>
                                  <a:pt x="232" y="40"/>
                                </a:lnTo>
                                <a:lnTo>
                                  <a:pt x="226" y="46"/>
                                </a:lnTo>
                                <a:lnTo>
                                  <a:pt x="221" y="45"/>
                                </a:lnTo>
                                <a:lnTo>
                                  <a:pt x="215" y="42"/>
                                </a:lnTo>
                                <a:lnTo>
                                  <a:pt x="210" y="45"/>
                                </a:lnTo>
                                <a:lnTo>
                                  <a:pt x="204" y="46"/>
                                </a:lnTo>
                                <a:lnTo>
                                  <a:pt x="200" y="46"/>
                                </a:lnTo>
                                <a:lnTo>
                                  <a:pt x="196" y="49"/>
                                </a:lnTo>
                                <a:lnTo>
                                  <a:pt x="185" y="49"/>
                                </a:lnTo>
                                <a:lnTo>
                                  <a:pt x="181" y="45"/>
                                </a:lnTo>
                                <a:lnTo>
                                  <a:pt x="175" y="39"/>
                                </a:lnTo>
                                <a:lnTo>
                                  <a:pt x="169" y="45"/>
                                </a:lnTo>
                                <a:lnTo>
                                  <a:pt x="164" y="49"/>
                                </a:lnTo>
                                <a:lnTo>
                                  <a:pt x="159" y="49"/>
                                </a:lnTo>
                                <a:lnTo>
                                  <a:pt x="149" y="39"/>
                                </a:lnTo>
                                <a:lnTo>
                                  <a:pt x="147" y="40"/>
                                </a:lnTo>
                                <a:lnTo>
                                  <a:pt x="141" y="40"/>
                                </a:lnTo>
                                <a:lnTo>
                                  <a:pt x="137" y="46"/>
                                </a:lnTo>
                                <a:lnTo>
                                  <a:pt x="129" y="45"/>
                                </a:lnTo>
                                <a:lnTo>
                                  <a:pt x="121" y="45"/>
                                </a:lnTo>
                                <a:lnTo>
                                  <a:pt x="117" y="42"/>
                                </a:lnTo>
                                <a:lnTo>
                                  <a:pt x="111" y="39"/>
                                </a:lnTo>
                                <a:lnTo>
                                  <a:pt x="103" y="40"/>
                                </a:lnTo>
                                <a:lnTo>
                                  <a:pt x="95" y="46"/>
                                </a:lnTo>
                                <a:lnTo>
                                  <a:pt x="89" y="45"/>
                                </a:lnTo>
                                <a:lnTo>
                                  <a:pt x="81" y="42"/>
                                </a:lnTo>
                                <a:lnTo>
                                  <a:pt x="71" y="37"/>
                                </a:lnTo>
                                <a:lnTo>
                                  <a:pt x="63" y="37"/>
                                </a:lnTo>
                                <a:lnTo>
                                  <a:pt x="47" y="33"/>
                                </a:lnTo>
                                <a:lnTo>
                                  <a:pt x="36" y="30"/>
                                </a:lnTo>
                                <a:lnTo>
                                  <a:pt x="29" y="29"/>
                                </a:lnTo>
                                <a:lnTo>
                                  <a:pt x="18" y="27"/>
                                </a:lnTo>
                                <a:lnTo>
                                  <a:pt x="11" y="21"/>
                                </a:lnTo>
                                <a:lnTo>
                                  <a:pt x="4" y="20"/>
                                </a:lnTo>
                                <a:lnTo>
                                  <a:pt x="1" y="18"/>
                                </a:lnTo>
                                <a:lnTo>
                                  <a:pt x="0" y="15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5" name="Freeform 148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99" y="2588"/>
                            <a:ext cx="58" cy="47"/>
                          </a:xfrm>
                          <a:custGeom>
                            <a:avLst/>
                            <a:gdLst>
                              <a:gd name="T0" fmla="*/ 28 w 115"/>
                              <a:gd name="T1" fmla="*/ 1 h 95"/>
                              <a:gd name="T2" fmla="*/ 48 w 115"/>
                              <a:gd name="T3" fmla="*/ 0 h 95"/>
                              <a:gd name="T4" fmla="*/ 52 w 115"/>
                              <a:gd name="T5" fmla="*/ 6 h 95"/>
                              <a:gd name="T6" fmla="*/ 46 w 115"/>
                              <a:gd name="T7" fmla="*/ 9 h 95"/>
                              <a:gd name="T8" fmla="*/ 45 w 115"/>
                              <a:gd name="T9" fmla="*/ 12 h 95"/>
                              <a:gd name="T10" fmla="*/ 41 w 115"/>
                              <a:gd name="T11" fmla="*/ 16 h 95"/>
                              <a:gd name="T12" fmla="*/ 36 w 115"/>
                              <a:gd name="T13" fmla="*/ 17 h 95"/>
                              <a:gd name="T14" fmla="*/ 31 w 115"/>
                              <a:gd name="T15" fmla="*/ 14 h 95"/>
                              <a:gd name="T16" fmla="*/ 26 w 115"/>
                              <a:gd name="T17" fmla="*/ 9 h 95"/>
                              <a:gd name="T18" fmla="*/ 19 w 115"/>
                              <a:gd name="T19" fmla="*/ 9 h 95"/>
                              <a:gd name="T20" fmla="*/ 18 w 115"/>
                              <a:gd name="T21" fmla="*/ 17 h 95"/>
                              <a:gd name="T22" fmla="*/ 19 w 115"/>
                              <a:gd name="T23" fmla="*/ 21 h 95"/>
                              <a:gd name="T24" fmla="*/ 26 w 115"/>
                              <a:gd name="T25" fmla="*/ 18 h 95"/>
                              <a:gd name="T26" fmla="*/ 30 w 115"/>
                              <a:gd name="T27" fmla="*/ 19 h 95"/>
                              <a:gd name="T28" fmla="*/ 29 w 115"/>
                              <a:gd name="T29" fmla="*/ 24 h 95"/>
                              <a:gd name="T30" fmla="*/ 28 w 115"/>
                              <a:gd name="T31" fmla="*/ 27 h 95"/>
                              <a:gd name="T32" fmla="*/ 29 w 115"/>
                              <a:gd name="T33" fmla="*/ 31 h 95"/>
                              <a:gd name="T34" fmla="*/ 32 w 115"/>
                              <a:gd name="T35" fmla="*/ 33 h 95"/>
                              <a:gd name="T36" fmla="*/ 31 w 115"/>
                              <a:gd name="T37" fmla="*/ 38 h 95"/>
                              <a:gd name="T38" fmla="*/ 29 w 115"/>
                              <a:gd name="T39" fmla="*/ 44 h 95"/>
                              <a:gd name="T40" fmla="*/ 24 w 115"/>
                              <a:gd name="T41" fmla="*/ 46 h 95"/>
                              <a:gd name="T42" fmla="*/ 22 w 115"/>
                              <a:gd name="T43" fmla="*/ 43 h 95"/>
                              <a:gd name="T44" fmla="*/ 19 w 115"/>
                              <a:gd name="T45" fmla="*/ 36 h 95"/>
                              <a:gd name="T46" fmla="*/ 19 w 115"/>
                              <a:gd name="T47" fmla="*/ 30 h 95"/>
                              <a:gd name="T48" fmla="*/ 12 w 115"/>
                              <a:gd name="T49" fmla="*/ 30 h 95"/>
                              <a:gd name="T50" fmla="*/ 8 w 115"/>
                              <a:gd name="T51" fmla="*/ 30 h 95"/>
                              <a:gd name="T52" fmla="*/ 14 w 115"/>
                              <a:gd name="T53" fmla="*/ 33 h 95"/>
                              <a:gd name="T54" fmla="*/ 17 w 115"/>
                              <a:gd name="T55" fmla="*/ 38 h 95"/>
                              <a:gd name="T56" fmla="*/ 15 w 115"/>
                              <a:gd name="T57" fmla="*/ 43 h 95"/>
                              <a:gd name="T58" fmla="*/ 10 w 115"/>
                              <a:gd name="T59" fmla="*/ 47 h 95"/>
                              <a:gd name="T60" fmla="*/ 10 w 115"/>
                              <a:gd name="T61" fmla="*/ 43 h 95"/>
                              <a:gd name="T62" fmla="*/ 8 w 115"/>
                              <a:gd name="T63" fmla="*/ 38 h 95"/>
                              <a:gd name="T64" fmla="*/ 4 w 115"/>
                              <a:gd name="T65" fmla="*/ 33 h 95"/>
                              <a:gd name="T66" fmla="*/ 1 w 115"/>
                              <a:gd name="T67" fmla="*/ 28 h 95"/>
                              <a:gd name="T68" fmla="*/ 6 w 115"/>
                              <a:gd name="T69" fmla="*/ 22 h 95"/>
                              <a:gd name="T70" fmla="*/ 8 w 115"/>
                              <a:gd name="T71" fmla="*/ 15 h 95"/>
                              <a:gd name="T72" fmla="*/ 9 w 115"/>
                              <a:gd name="T73" fmla="*/ 10 h 95"/>
                              <a:gd name="T74" fmla="*/ 8 w 115"/>
                              <a:gd name="T75" fmla="*/ 6 h 95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15"/>
                              <a:gd name="T115" fmla="*/ 0 h 95"/>
                              <a:gd name="T116" fmla="*/ 115 w 115"/>
                              <a:gd name="T117" fmla="*/ 95 h 95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15" h="95">
                                <a:moveTo>
                                  <a:pt x="29" y="0"/>
                                </a:moveTo>
                                <a:lnTo>
                                  <a:pt x="56" y="2"/>
                                </a:lnTo>
                                <a:lnTo>
                                  <a:pt x="82" y="2"/>
                                </a:lnTo>
                                <a:lnTo>
                                  <a:pt x="96" y="0"/>
                                </a:lnTo>
                                <a:lnTo>
                                  <a:pt x="115" y="9"/>
                                </a:lnTo>
                                <a:lnTo>
                                  <a:pt x="103" y="12"/>
                                </a:lnTo>
                                <a:lnTo>
                                  <a:pt x="96" y="16"/>
                                </a:lnTo>
                                <a:lnTo>
                                  <a:pt x="92" y="19"/>
                                </a:lnTo>
                                <a:lnTo>
                                  <a:pt x="89" y="22"/>
                                </a:lnTo>
                                <a:lnTo>
                                  <a:pt x="89" y="25"/>
                                </a:lnTo>
                                <a:lnTo>
                                  <a:pt x="89" y="29"/>
                                </a:lnTo>
                                <a:lnTo>
                                  <a:pt x="81" y="32"/>
                                </a:lnTo>
                                <a:lnTo>
                                  <a:pt x="74" y="32"/>
                                </a:lnTo>
                                <a:lnTo>
                                  <a:pt x="71" y="34"/>
                                </a:lnTo>
                                <a:lnTo>
                                  <a:pt x="64" y="34"/>
                                </a:lnTo>
                                <a:lnTo>
                                  <a:pt x="62" y="29"/>
                                </a:lnTo>
                                <a:lnTo>
                                  <a:pt x="56" y="23"/>
                                </a:lnTo>
                                <a:lnTo>
                                  <a:pt x="51" y="19"/>
                                </a:lnTo>
                                <a:lnTo>
                                  <a:pt x="40" y="19"/>
                                </a:lnTo>
                                <a:lnTo>
                                  <a:pt x="37" y="19"/>
                                </a:lnTo>
                                <a:lnTo>
                                  <a:pt x="34" y="26"/>
                                </a:lnTo>
                                <a:lnTo>
                                  <a:pt x="35" y="34"/>
                                </a:lnTo>
                                <a:lnTo>
                                  <a:pt x="35" y="38"/>
                                </a:lnTo>
                                <a:lnTo>
                                  <a:pt x="37" y="42"/>
                                </a:lnTo>
                                <a:lnTo>
                                  <a:pt x="42" y="41"/>
                                </a:lnTo>
                                <a:lnTo>
                                  <a:pt x="51" y="37"/>
                                </a:lnTo>
                                <a:lnTo>
                                  <a:pt x="56" y="37"/>
                                </a:lnTo>
                                <a:lnTo>
                                  <a:pt x="60" y="39"/>
                                </a:lnTo>
                                <a:lnTo>
                                  <a:pt x="60" y="42"/>
                                </a:lnTo>
                                <a:lnTo>
                                  <a:pt x="57" y="48"/>
                                </a:lnTo>
                                <a:lnTo>
                                  <a:pt x="56" y="51"/>
                                </a:lnTo>
                                <a:lnTo>
                                  <a:pt x="56" y="54"/>
                                </a:lnTo>
                                <a:lnTo>
                                  <a:pt x="55" y="58"/>
                                </a:lnTo>
                                <a:lnTo>
                                  <a:pt x="57" y="63"/>
                                </a:lnTo>
                                <a:lnTo>
                                  <a:pt x="63" y="68"/>
                                </a:lnTo>
                                <a:lnTo>
                                  <a:pt x="64" y="67"/>
                                </a:lnTo>
                                <a:lnTo>
                                  <a:pt x="64" y="73"/>
                                </a:lnTo>
                                <a:lnTo>
                                  <a:pt x="62" y="77"/>
                                </a:lnTo>
                                <a:lnTo>
                                  <a:pt x="59" y="82"/>
                                </a:lnTo>
                                <a:lnTo>
                                  <a:pt x="57" y="89"/>
                                </a:lnTo>
                                <a:lnTo>
                                  <a:pt x="52" y="92"/>
                                </a:lnTo>
                                <a:lnTo>
                                  <a:pt x="48" y="92"/>
                                </a:lnTo>
                                <a:lnTo>
                                  <a:pt x="44" y="92"/>
                                </a:lnTo>
                                <a:lnTo>
                                  <a:pt x="44" y="86"/>
                                </a:lnTo>
                                <a:lnTo>
                                  <a:pt x="42" y="76"/>
                                </a:lnTo>
                                <a:lnTo>
                                  <a:pt x="38" y="73"/>
                                </a:lnTo>
                                <a:lnTo>
                                  <a:pt x="37" y="68"/>
                                </a:lnTo>
                                <a:lnTo>
                                  <a:pt x="38" y="60"/>
                                </a:lnTo>
                                <a:lnTo>
                                  <a:pt x="34" y="57"/>
                                </a:lnTo>
                                <a:lnTo>
                                  <a:pt x="24" y="60"/>
                                </a:lnTo>
                                <a:lnTo>
                                  <a:pt x="20" y="57"/>
                                </a:lnTo>
                                <a:lnTo>
                                  <a:pt x="16" y="61"/>
                                </a:lnTo>
                                <a:lnTo>
                                  <a:pt x="20" y="64"/>
                                </a:lnTo>
                                <a:lnTo>
                                  <a:pt x="27" y="67"/>
                                </a:lnTo>
                                <a:lnTo>
                                  <a:pt x="29" y="70"/>
                                </a:lnTo>
                                <a:lnTo>
                                  <a:pt x="33" y="76"/>
                                </a:lnTo>
                                <a:lnTo>
                                  <a:pt x="33" y="80"/>
                                </a:lnTo>
                                <a:lnTo>
                                  <a:pt x="29" y="87"/>
                                </a:lnTo>
                                <a:lnTo>
                                  <a:pt x="23" y="93"/>
                                </a:lnTo>
                                <a:lnTo>
                                  <a:pt x="20" y="95"/>
                                </a:lnTo>
                                <a:lnTo>
                                  <a:pt x="20" y="90"/>
                                </a:lnTo>
                                <a:lnTo>
                                  <a:pt x="20" y="86"/>
                                </a:lnTo>
                                <a:lnTo>
                                  <a:pt x="22" y="80"/>
                                </a:lnTo>
                                <a:lnTo>
                                  <a:pt x="15" y="76"/>
                                </a:lnTo>
                                <a:lnTo>
                                  <a:pt x="8" y="71"/>
                                </a:lnTo>
                                <a:lnTo>
                                  <a:pt x="7" y="67"/>
                                </a:lnTo>
                                <a:lnTo>
                                  <a:pt x="0" y="64"/>
                                </a:lnTo>
                                <a:lnTo>
                                  <a:pt x="1" y="57"/>
                                </a:lnTo>
                                <a:lnTo>
                                  <a:pt x="7" y="53"/>
                                </a:lnTo>
                                <a:lnTo>
                                  <a:pt x="11" y="45"/>
                                </a:lnTo>
                                <a:lnTo>
                                  <a:pt x="15" y="38"/>
                                </a:lnTo>
                                <a:lnTo>
                                  <a:pt x="16" y="31"/>
                                </a:lnTo>
                                <a:lnTo>
                                  <a:pt x="15" y="23"/>
                                </a:lnTo>
                                <a:lnTo>
                                  <a:pt x="18" y="21"/>
                                </a:lnTo>
                                <a:lnTo>
                                  <a:pt x="20" y="18"/>
                                </a:lnTo>
                                <a:lnTo>
                                  <a:pt x="16" y="12"/>
                                </a:lnTo>
                                <a:lnTo>
                                  <a:pt x="2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6" name="Freeform 149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38" y="2567"/>
                            <a:ext cx="64" cy="65"/>
                          </a:xfrm>
                          <a:custGeom>
                            <a:avLst/>
                            <a:gdLst>
                              <a:gd name="T0" fmla="*/ 0 w 127"/>
                              <a:gd name="T1" fmla="*/ 22 h 131"/>
                              <a:gd name="T2" fmla="*/ 13 w 127"/>
                              <a:gd name="T3" fmla="*/ 11 h 131"/>
                              <a:gd name="T4" fmla="*/ 20 w 127"/>
                              <a:gd name="T5" fmla="*/ 7 h 131"/>
                              <a:gd name="T6" fmla="*/ 23 w 127"/>
                              <a:gd name="T7" fmla="*/ 3 h 131"/>
                              <a:gd name="T8" fmla="*/ 34 w 127"/>
                              <a:gd name="T9" fmla="*/ 0 h 131"/>
                              <a:gd name="T10" fmla="*/ 39 w 127"/>
                              <a:gd name="T11" fmla="*/ 8 h 131"/>
                              <a:gd name="T12" fmla="*/ 45 w 127"/>
                              <a:gd name="T13" fmla="*/ 4 h 131"/>
                              <a:gd name="T14" fmla="*/ 47 w 127"/>
                              <a:gd name="T15" fmla="*/ 2 h 131"/>
                              <a:gd name="T16" fmla="*/ 52 w 127"/>
                              <a:gd name="T17" fmla="*/ 0 h 131"/>
                              <a:gd name="T18" fmla="*/ 54 w 127"/>
                              <a:gd name="T19" fmla="*/ 0 h 131"/>
                              <a:gd name="T20" fmla="*/ 55 w 127"/>
                              <a:gd name="T21" fmla="*/ 3 h 131"/>
                              <a:gd name="T22" fmla="*/ 55 w 127"/>
                              <a:gd name="T23" fmla="*/ 5 h 131"/>
                              <a:gd name="T24" fmla="*/ 52 w 127"/>
                              <a:gd name="T25" fmla="*/ 9 h 131"/>
                              <a:gd name="T26" fmla="*/ 52 w 127"/>
                              <a:gd name="T27" fmla="*/ 11 h 131"/>
                              <a:gd name="T28" fmla="*/ 60 w 127"/>
                              <a:gd name="T29" fmla="*/ 20 h 131"/>
                              <a:gd name="T30" fmla="*/ 61 w 127"/>
                              <a:gd name="T31" fmla="*/ 26 h 131"/>
                              <a:gd name="T32" fmla="*/ 63 w 127"/>
                              <a:gd name="T33" fmla="*/ 26 h 131"/>
                              <a:gd name="T34" fmla="*/ 64 w 127"/>
                              <a:gd name="T35" fmla="*/ 29 h 131"/>
                              <a:gd name="T36" fmla="*/ 61 w 127"/>
                              <a:gd name="T37" fmla="*/ 32 h 131"/>
                              <a:gd name="T38" fmla="*/ 59 w 127"/>
                              <a:gd name="T39" fmla="*/ 30 h 131"/>
                              <a:gd name="T40" fmla="*/ 54 w 127"/>
                              <a:gd name="T41" fmla="*/ 32 h 131"/>
                              <a:gd name="T42" fmla="*/ 55 w 127"/>
                              <a:gd name="T43" fmla="*/ 38 h 131"/>
                              <a:gd name="T44" fmla="*/ 50 w 127"/>
                              <a:gd name="T45" fmla="*/ 42 h 131"/>
                              <a:gd name="T46" fmla="*/ 50 w 127"/>
                              <a:gd name="T47" fmla="*/ 51 h 131"/>
                              <a:gd name="T48" fmla="*/ 50 w 127"/>
                              <a:gd name="T49" fmla="*/ 58 h 131"/>
                              <a:gd name="T50" fmla="*/ 47 w 127"/>
                              <a:gd name="T51" fmla="*/ 61 h 131"/>
                              <a:gd name="T52" fmla="*/ 45 w 127"/>
                              <a:gd name="T53" fmla="*/ 65 h 131"/>
                              <a:gd name="T54" fmla="*/ 42 w 127"/>
                              <a:gd name="T55" fmla="*/ 64 h 131"/>
                              <a:gd name="T56" fmla="*/ 38 w 127"/>
                              <a:gd name="T57" fmla="*/ 62 h 131"/>
                              <a:gd name="T58" fmla="*/ 34 w 127"/>
                              <a:gd name="T59" fmla="*/ 60 h 131"/>
                              <a:gd name="T60" fmla="*/ 32 w 127"/>
                              <a:gd name="T61" fmla="*/ 56 h 131"/>
                              <a:gd name="T62" fmla="*/ 22 w 127"/>
                              <a:gd name="T63" fmla="*/ 57 h 131"/>
                              <a:gd name="T64" fmla="*/ 14 w 127"/>
                              <a:gd name="T65" fmla="*/ 55 h 131"/>
                              <a:gd name="T66" fmla="*/ 8 w 127"/>
                              <a:gd name="T67" fmla="*/ 49 h 131"/>
                              <a:gd name="T68" fmla="*/ 5 w 127"/>
                              <a:gd name="T69" fmla="*/ 45 h 131"/>
                              <a:gd name="T70" fmla="*/ 2 w 127"/>
                              <a:gd name="T71" fmla="*/ 41 h 131"/>
                              <a:gd name="T72" fmla="*/ 2 w 127"/>
                              <a:gd name="T73" fmla="*/ 34 h 131"/>
                              <a:gd name="T74" fmla="*/ 0 w 127"/>
                              <a:gd name="T75" fmla="*/ 22 h 131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w 127"/>
                              <a:gd name="T115" fmla="*/ 0 h 131"/>
                              <a:gd name="T116" fmla="*/ 127 w 127"/>
                              <a:gd name="T117" fmla="*/ 131 h 131"/>
                            </a:gdLst>
                            <a:ahLst/>
                            <a:cxnLst>
                              <a:cxn ang="T76">
                                <a:pos x="T0" y="T1"/>
                              </a:cxn>
                              <a:cxn ang="T77">
                                <a:pos x="T2" y="T3"/>
                              </a:cxn>
                              <a:cxn ang="T78">
                                <a:pos x="T4" y="T5"/>
                              </a:cxn>
                              <a:cxn ang="T79">
                                <a:pos x="T6" y="T7"/>
                              </a:cxn>
                              <a:cxn ang="T80">
                                <a:pos x="T8" y="T9"/>
                              </a:cxn>
                              <a:cxn ang="T81">
                                <a:pos x="T10" y="T11"/>
                              </a:cxn>
                              <a:cxn ang="T82">
                                <a:pos x="T12" y="T13"/>
                              </a:cxn>
                              <a:cxn ang="T83">
                                <a:pos x="T14" y="T15"/>
                              </a:cxn>
                              <a:cxn ang="T84">
                                <a:pos x="T16" y="T17"/>
                              </a:cxn>
                              <a:cxn ang="T85">
                                <a:pos x="T18" y="T19"/>
                              </a:cxn>
                              <a:cxn ang="T86">
                                <a:pos x="T20" y="T21"/>
                              </a:cxn>
                              <a:cxn ang="T87">
                                <a:pos x="T22" y="T23"/>
                              </a:cxn>
                              <a:cxn ang="T88">
                                <a:pos x="T24" y="T25"/>
                              </a:cxn>
                              <a:cxn ang="T89">
                                <a:pos x="T26" y="T27"/>
                              </a:cxn>
                              <a:cxn ang="T90">
                                <a:pos x="T28" y="T29"/>
                              </a:cxn>
                              <a:cxn ang="T91">
                                <a:pos x="T30" y="T31"/>
                              </a:cxn>
                              <a:cxn ang="T92">
                                <a:pos x="T32" y="T33"/>
                              </a:cxn>
                              <a:cxn ang="T93">
                                <a:pos x="T34" y="T35"/>
                              </a:cxn>
                              <a:cxn ang="T94">
                                <a:pos x="T36" y="T37"/>
                              </a:cxn>
                              <a:cxn ang="T95">
                                <a:pos x="T38" y="T39"/>
                              </a:cxn>
                              <a:cxn ang="T96">
                                <a:pos x="T40" y="T41"/>
                              </a:cxn>
                              <a:cxn ang="T97">
                                <a:pos x="T42" y="T43"/>
                              </a:cxn>
                              <a:cxn ang="T98">
                                <a:pos x="T44" y="T45"/>
                              </a:cxn>
                              <a:cxn ang="T99">
                                <a:pos x="T46" y="T47"/>
                              </a:cxn>
                              <a:cxn ang="T100">
                                <a:pos x="T48" y="T49"/>
                              </a:cxn>
                              <a:cxn ang="T101">
                                <a:pos x="T50" y="T51"/>
                              </a:cxn>
                              <a:cxn ang="T102">
                                <a:pos x="T52" y="T53"/>
                              </a:cxn>
                              <a:cxn ang="T103">
                                <a:pos x="T54" y="T55"/>
                              </a:cxn>
                              <a:cxn ang="T104">
                                <a:pos x="T56" y="T57"/>
                              </a:cxn>
                              <a:cxn ang="T105">
                                <a:pos x="T58" y="T59"/>
                              </a:cxn>
                              <a:cxn ang="T106">
                                <a:pos x="T60" y="T61"/>
                              </a:cxn>
                              <a:cxn ang="T107">
                                <a:pos x="T62" y="T63"/>
                              </a:cxn>
                              <a:cxn ang="T108">
                                <a:pos x="T64" y="T65"/>
                              </a:cxn>
                              <a:cxn ang="T109">
                                <a:pos x="T66" y="T67"/>
                              </a:cxn>
                              <a:cxn ang="T110">
                                <a:pos x="T68" y="T69"/>
                              </a:cxn>
                              <a:cxn ang="T111">
                                <a:pos x="T70" y="T71"/>
                              </a:cxn>
                              <a:cxn ang="T112">
                                <a:pos x="T72" y="T73"/>
                              </a:cxn>
                              <a:cxn ang="T113">
                                <a:pos x="T74" y="T75"/>
                              </a:cxn>
                            </a:cxnLst>
                            <a:rect l="T114" t="T115" r="T116" b="T117"/>
                            <a:pathLst>
                              <a:path w="127" h="131">
                                <a:moveTo>
                                  <a:pt x="0" y="44"/>
                                </a:moveTo>
                                <a:lnTo>
                                  <a:pt x="26" y="23"/>
                                </a:lnTo>
                                <a:lnTo>
                                  <a:pt x="40" y="15"/>
                                </a:lnTo>
                                <a:lnTo>
                                  <a:pt x="46" y="7"/>
                                </a:lnTo>
                                <a:lnTo>
                                  <a:pt x="67" y="0"/>
                                </a:lnTo>
                                <a:lnTo>
                                  <a:pt x="78" y="16"/>
                                </a:lnTo>
                                <a:lnTo>
                                  <a:pt x="89" y="9"/>
                                </a:lnTo>
                                <a:lnTo>
                                  <a:pt x="93" y="4"/>
                                </a:lnTo>
                                <a:lnTo>
                                  <a:pt x="103" y="0"/>
                                </a:lnTo>
                                <a:lnTo>
                                  <a:pt x="108" y="0"/>
                                </a:lnTo>
                                <a:lnTo>
                                  <a:pt x="109" y="6"/>
                                </a:lnTo>
                                <a:lnTo>
                                  <a:pt x="109" y="10"/>
                                </a:lnTo>
                                <a:lnTo>
                                  <a:pt x="104" y="18"/>
                                </a:lnTo>
                                <a:lnTo>
                                  <a:pt x="104" y="22"/>
                                </a:lnTo>
                                <a:lnTo>
                                  <a:pt x="119" y="41"/>
                                </a:lnTo>
                                <a:lnTo>
                                  <a:pt x="122" y="52"/>
                                </a:lnTo>
                                <a:lnTo>
                                  <a:pt x="126" y="52"/>
                                </a:lnTo>
                                <a:lnTo>
                                  <a:pt x="127" y="58"/>
                                </a:lnTo>
                                <a:lnTo>
                                  <a:pt x="122" y="64"/>
                                </a:lnTo>
                                <a:lnTo>
                                  <a:pt x="118" y="61"/>
                                </a:lnTo>
                                <a:lnTo>
                                  <a:pt x="108" y="65"/>
                                </a:lnTo>
                                <a:lnTo>
                                  <a:pt x="109" y="77"/>
                                </a:lnTo>
                                <a:lnTo>
                                  <a:pt x="99" y="84"/>
                                </a:lnTo>
                                <a:lnTo>
                                  <a:pt x="99" y="103"/>
                                </a:lnTo>
                                <a:lnTo>
                                  <a:pt x="99" y="116"/>
                                </a:lnTo>
                                <a:lnTo>
                                  <a:pt x="93" y="122"/>
                                </a:lnTo>
                                <a:lnTo>
                                  <a:pt x="89" y="131"/>
                                </a:lnTo>
                                <a:lnTo>
                                  <a:pt x="83" y="129"/>
                                </a:lnTo>
                                <a:lnTo>
                                  <a:pt x="75" y="125"/>
                                </a:lnTo>
                                <a:lnTo>
                                  <a:pt x="68" y="121"/>
                                </a:lnTo>
                                <a:lnTo>
                                  <a:pt x="63" y="113"/>
                                </a:lnTo>
                                <a:lnTo>
                                  <a:pt x="44" y="115"/>
                                </a:lnTo>
                                <a:lnTo>
                                  <a:pt x="27" y="110"/>
                                </a:lnTo>
                                <a:lnTo>
                                  <a:pt x="16" y="99"/>
                                </a:lnTo>
                                <a:lnTo>
                                  <a:pt x="9" y="90"/>
                                </a:lnTo>
                                <a:lnTo>
                                  <a:pt x="4" y="83"/>
                                </a:lnTo>
                                <a:lnTo>
                                  <a:pt x="4" y="68"/>
                                </a:lnTo>
                                <a:lnTo>
                                  <a:pt x="0" y="4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7" name="Freeform 150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674" y="2604"/>
                            <a:ext cx="122" cy="61"/>
                          </a:xfrm>
                          <a:custGeom>
                            <a:avLst/>
                            <a:gdLst>
                              <a:gd name="T0" fmla="*/ 11 w 244"/>
                              <a:gd name="T1" fmla="*/ 1 h 122"/>
                              <a:gd name="T2" fmla="*/ 24 w 244"/>
                              <a:gd name="T3" fmla="*/ 11 h 122"/>
                              <a:gd name="T4" fmla="*/ 26 w 244"/>
                              <a:gd name="T5" fmla="*/ 15 h 122"/>
                              <a:gd name="T6" fmla="*/ 34 w 244"/>
                              <a:gd name="T7" fmla="*/ 13 h 122"/>
                              <a:gd name="T8" fmla="*/ 38 w 244"/>
                              <a:gd name="T9" fmla="*/ 14 h 122"/>
                              <a:gd name="T10" fmla="*/ 43 w 244"/>
                              <a:gd name="T11" fmla="*/ 11 h 122"/>
                              <a:gd name="T12" fmla="*/ 50 w 244"/>
                              <a:gd name="T13" fmla="*/ 8 h 122"/>
                              <a:gd name="T14" fmla="*/ 66 w 244"/>
                              <a:gd name="T15" fmla="*/ 13 h 122"/>
                              <a:gd name="T16" fmla="*/ 75 w 244"/>
                              <a:gd name="T17" fmla="*/ 18 h 122"/>
                              <a:gd name="T18" fmla="*/ 83 w 244"/>
                              <a:gd name="T19" fmla="*/ 21 h 122"/>
                              <a:gd name="T20" fmla="*/ 96 w 244"/>
                              <a:gd name="T21" fmla="*/ 29 h 122"/>
                              <a:gd name="T22" fmla="*/ 97 w 244"/>
                              <a:gd name="T23" fmla="*/ 34 h 122"/>
                              <a:gd name="T24" fmla="*/ 103 w 244"/>
                              <a:gd name="T25" fmla="*/ 37 h 122"/>
                              <a:gd name="T26" fmla="*/ 108 w 244"/>
                              <a:gd name="T27" fmla="*/ 39 h 122"/>
                              <a:gd name="T28" fmla="*/ 114 w 244"/>
                              <a:gd name="T29" fmla="*/ 46 h 122"/>
                              <a:gd name="T30" fmla="*/ 118 w 244"/>
                              <a:gd name="T31" fmla="*/ 50 h 122"/>
                              <a:gd name="T32" fmla="*/ 118 w 244"/>
                              <a:gd name="T33" fmla="*/ 61 h 122"/>
                              <a:gd name="T34" fmla="*/ 113 w 244"/>
                              <a:gd name="T35" fmla="*/ 61 h 122"/>
                              <a:gd name="T36" fmla="*/ 109 w 244"/>
                              <a:gd name="T37" fmla="*/ 59 h 122"/>
                              <a:gd name="T38" fmla="*/ 97 w 244"/>
                              <a:gd name="T39" fmla="*/ 48 h 122"/>
                              <a:gd name="T40" fmla="*/ 85 w 244"/>
                              <a:gd name="T41" fmla="*/ 48 h 122"/>
                              <a:gd name="T42" fmla="*/ 81 w 244"/>
                              <a:gd name="T43" fmla="*/ 52 h 122"/>
                              <a:gd name="T44" fmla="*/ 77 w 244"/>
                              <a:gd name="T45" fmla="*/ 54 h 122"/>
                              <a:gd name="T46" fmla="*/ 70 w 244"/>
                              <a:gd name="T47" fmla="*/ 57 h 122"/>
                              <a:gd name="T48" fmla="*/ 62 w 244"/>
                              <a:gd name="T49" fmla="*/ 56 h 122"/>
                              <a:gd name="T50" fmla="*/ 57 w 244"/>
                              <a:gd name="T51" fmla="*/ 56 h 122"/>
                              <a:gd name="T52" fmla="*/ 49 w 244"/>
                              <a:gd name="T53" fmla="*/ 42 h 122"/>
                              <a:gd name="T54" fmla="*/ 40 w 244"/>
                              <a:gd name="T55" fmla="*/ 29 h 122"/>
                              <a:gd name="T56" fmla="*/ 29 w 244"/>
                              <a:gd name="T57" fmla="*/ 25 h 122"/>
                              <a:gd name="T58" fmla="*/ 19 w 244"/>
                              <a:gd name="T59" fmla="*/ 24 h 122"/>
                              <a:gd name="T60" fmla="*/ 9 w 244"/>
                              <a:gd name="T61" fmla="*/ 20 h 122"/>
                              <a:gd name="T62" fmla="*/ 9 w 244"/>
                              <a:gd name="T63" fmla="*/ 7 h 122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w 244"/>
                              <a:gd name="T97" fmla="*/ 0 h 122"/>
                              <a:gd name="T98" fmla="*/ 244 w 244"/>
                              <a:gd name="T99" fmla="*/ 122 h 122"/>
                            </a:gdLst>
                            <a:ahLst/>
                            <a:cxnLst>
                              <a:cxn ang="T64">
                                <a:pos x="T0" y="T1"/>
                              </a:cxn>
                              <a:cxn ang="T65">
                                <a:pos x="T2" y="T3"/>
                              </a:cxn>
                              <a:cxn ang="T66">
                                <a:pos x="T4" y="T5"/>
                              </a:cxn>
                              <a:cxn ang="T67">
                                <a:pos x="T6" y="T7"/>
                              </a:cxn>
                              <a:cxn ang="T68">
                                <a:pos x="T8" y="T9"/>
                              </a:cxn>
                              <a:cxn ang="T69">
                                <a:pos x="T10" y="T11"/>
                              </a:cxn>
                              <a:cxn ang="T70">
                                <a:pos x="T12" y="T13"/>
                              </a:cxn>
                              <a:cxn ang="T71">
                                <a:pos x="T14" y="T15"/>
                              </a:cxn>
                              <a:cxn ang="T72">
                                <a:pos x="T16" y="T17"/>
                              </a:cxn>
                              <a:cxn ang="T73">
                                <a:pos x="T18" y="T19"/>
                              </a:cxn>
                              <a:cxn ang="T74">
                                <a:pos x="T20" y="T21"/>
                              </a:cxn>
                              <a:cxn ang="T75">
                                <a:pos x="T22" y="T23"/>
                              </a:cxn>
                              <a:cxn ang="T76">
                                <a:pos x="T24" y="T25"/>
                              </a:cxn>
                              <a:cxn ang="T77">
                                <a:pos x="T26" y="T27"/>
                              </a:cxn>
                              <a:cxn ang="T78">
                                <a:pos x="T28" y="T29"/>
                              </a:cxn>
                              <a:cxn ang="T79">
                                <a:pos x="T30" y="T31"/>
                              </a:cxn>
                              <a:cxn ang="T80">
                                <a:pos x="T32" y="T33"/>
                              </a:cxn>
                              <a:cxn ang="T81">
                                <a:pos x="T34" y="T35"/>
                              </a:cxn>
                              <a:cxn ang="T82">
                                <a:pos x="T36" y="T37"/>
                              </a:cxn>
                              <a:cxn ang="T83">
                                <a:pos x="T38" y="T39"/>
                              </a:cxn>
                              <a:cxn ang="T84">
                                <a:pos x="T40" y="T41"/>
                              </a:cxn>
                              <a:cxn ang="T85">
                                <a:pos x="T42" y="T43"/>
                              </a:cxn>
                              <a:cxn ang="T86">
                                <a:pos x="T44" y="T45"/>
                              </a:cxn>
                              <a:cxn ang="T87">
                                <a:pos x="T46" y="T47"/>
                              </a:cxn>
                              <a:cxn ang="T88">
                                <a:pos x="T48" y="T49"/>
                              </a:cxn>
                              <a:cxn ang="T89">
                                <a:pos x="T50" y="T51"/>
                              </a:cxn>
                              <a:cxn ang="T90">
                                <a:pos x="T52" y="T53"/>
                              </a:cxn>
                              <a:cxn ang="T91">
                                <a:pos x="T54" y="T55"/>
                              </a:cxn>
                              <a:cxn ang="T92">
                                <a:pos x="T56" y="T57"/>
                              </a:cxn>
                              <a:cxn ang="T93">
                                <a:pos x="T58" y="T59"/>
                              </a:cxn>
                              <a:cxn ang="T94">
                                <a:pos x="T60" y="T61"/>
                              </a:cxn>
                              <a:cxn ang="T95">
                                <a:pos x="T62" y="T63"/>
                              </a:cxn>
                            </a:cxnLst>
                            <a:rect l="T96" t="T97" r="T98" b="T99"/>
                            <a:pathLst>
                              <a:path w="244" h="122">
                                <a:moveTo>
                                  <a:pt x="0" y="0"/>
                                </a:moveTo>
                                <a:lnTo>
                                  <a:pt x="22" y="2"/>
                                </a:lnTo>
                                <a:lnTo>
                                  <a:pt x="40" y="3"/>
                                </a:lnTo>
                                <a:lnTo>
                                  <a:pt x="48" y="21"/>
                                </a:lnTo>
                                <a:lnTo>
                                  <a:pt x="50" y="26"/>
                                </a:lnTo>
                                <a:lnTo>
                                  <a:pt x="52" y="29"/>
                                </a:lnTo>
                                <a:lnTo>
                                  <a:pt x="58" y="25"/>
                                </a:lnTo>
                                <a:lnTo>
                                  <a:pt x="67" y="25"/>
                                </a:lnTo>
                                <a:lnTo>
                                  <a:pt x="73" y="29"/>
                                </a:lnTo>
                                <a:lnTo>
                                  <a:pt x="76" y="28"/>
                                </a:lnTo>
                                <a:lnTo>
                                  <a:pt x="84" y="21"/>
                                </a:lnTo>
                                <a:lnTo>
                                  <a:pt x="85" y="21"/>
                                </a:lnTo>
                                <a:lnTo>
                                  <a:pt x="92" y="16"/>
                                </a:lnTo>
                                <a:lnTo>
                                  <a:pt x="99" y="16"/>
                                </a:lnTo>
                                <a:lnTo>
                                  <a:pt x="121" y="25"/>
                                </a:lnTo>
                                <a:lnTo>
                                  <a:pt x="131" y="25"/>
                                </a:lnTo>
                                <a:lnTo>
                                  <a:pt x="140" y="32"/>
                                </a:lnTo>
                                <a:lnTo>
                                  <a:pt x="150" y="35"/>
                                </a:lnTo>
                                <a:lnTo>
                                  <a:pt x="158" y="41"/>
                                </a:lnTo>
                                <a:lnTo>
                                  <a:pt x="165" y="42"/>
                                </a:lnTo>
                                <a:lnTo>
                                  <a:pt x="183" y="48"/>
                                </a:lnTo>
                                <a:lnTo>
                                  <a:pt x="191" y="58"/>
                                </a:lnTo>
                                <a:lnTo>
                                  <a:pt x="195" y="64"/>
                                </a:lnTo>
                                <a:lnTo>
                                  <a:pt x="194" y="67"/>
                                </a:lnTo>
                                <a:lnTo>
                                  <a:pt x="200" y="73"/>
                                </a:lnTo>
                                <a:lnTo>
                                  <a:pt x="206" y="74"/>
                                </a:lnTo>
                                <a:lnTo>
                                  <a:pt x="209" y="76"/>
                                </a:lnTo>
                                <a:lnTo>
                                  <a:pt x="216" y="77"/>
                                </a:lnTo>
                                <a:lnTo>
                                  <a:pt x="227" y="86"/>
                                </a:lnTo>
                                <a:lnTo>
                                  <a:pt x="227" y="92"/>
                                </a:lnTo>
                                <a:lnTo>
                                  <a:pt x="233" y="97"/>
                                </a:lnTo>
                                <a:lnTo>
                                  <a:pt x="235" y="100"/>
                                </a:lnTo>
                                <a:lnTo>
                                  <a:pt x="244" y="112"/>
                                </a:lnTo>
                                <a:lnTo>
                                  <a:pt x="236" y="122"/>
                                </a:lnTo>
                                <a:lnTo>
                                  <a:pt x="233" y="122"/>
                                </a:lnTo>
                                <a:lnTo>
                                  <a:pt x="225" y="122"/>
                                </a:lnTo>
                                <a:lnTo>
                                  <a:pt x="222" y="118"/>
                                </a:lnTo>
                                <a:lnTo>
                                  <a:pt x="218" y="118"/>
                                </a:lnTo>
                                <a:lnTo>
                                  <a:pt x="214" y="119"/>
                                </a:lnTo>
                                <a:lnTo>
                                  <a:pt x="194" y="96"/>
                                </a:lnTo>
                                <a:lnTo>
                                  <a:pt x="181" y="97"/>
                                </a:lnTo>
                                <a:lnTo>
                                  <a:pt x="169" y="96"/>
                                </a:lnTo>
                                <a:lnTo>
                                  <a:pt x="165" y="99"/>
                                </a:lnTo>
                                <a:lnTo>
                                  <a:pt x="161" y="103"/>
                                </a:lnTo>
                                <a:lnTo>
                                  <a:pt x="159" y="100"/>
                                </a:lnTo>
                                <a:lnTo>
                                  <a:pt x="154" y="108"/>
                                </a:lnTo>
                                <a:lnTo>
                                  <a:pt x="146" y="118"/>
                                </a:lnTo>
                                <a:lnTo>
                                  <a:pt x="139" y="113"/>
                                </a:lnTo>
                                <a:lnTo>
                                  <a:pt x="131" y="111"/>
                                </a:lnTo>
                                <a:lnTo>
                                  <a:pt x="125" y="111"/>
                                </a:lnTo>
                                <a:lnTo>
                                  <a:pt x="117" y="108"/>
                                </a:lnTo>
                                <a:lnTo>
                                  <a:pt x="113" y="111"/>
                                </a:lnTo>
                                <a:lnTo>
                                  <a:pt x="107" y="96"/>
                                </a:lnTo>
                                <a:lnTo>
                                  <a:pt x="98" y="83"/>
                                </a:lnTo>
                                <a:lnTo>
                                  <a:pt x="88" y="67"/>
                                </a:lnTo>
                                <a:lnTo>
                                  <a:pt x="80" y="58"/>
                                </a:lnTo>
                                <a:lnTo>
                                  <a:pt x="73" y="50"/>
                                </a:lnTo>
                                <a:lnTo>
                                  <a:pt x="58" y="50"/>
                                </a:lnTo>
                                <a:lnTo>
                                  <a:pt x="44" y="54"/>
                                </a:lnTo>
                                <a:lnTo>
                                  <a:pt x="37" y="48"/>
                                </a:lnTo>
                                <a:lnTo>
                                  <a:pt x="24" y="44"/>
                                </a:lnTo>
                                <a:lnTo>
                                  <a:pt x="17" y="39"/>
                                </a:lnTo>
                                <a:lnTo>
                                  <a:pt x="17" y="22"/>
                                </a:lnTo>
                                <a:lnTo>
                                  <a:pt x="18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8" name="Freeform 151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448" y="2561"/>
                            <a:ext cx="74" cy="80"/>
                          </a:xfrm>
                          <a:custGeom>
                            <a:avLst/>
                            <a:gdLst>
                              <a:gd name="T0" fmla="*/ 0 w 148"/>
                              <a:gd name="T1" fmla="*/ 2 h 161"/>
                              <a:gd name="T2" fmla="*/ 7 w 148"/>
                              <a:gd name="T3" fmla="*/ 0 h 161"/>
                              <a:gd name="T4" fmla="*/ 17 w 148"/>
                              <a:gd name="T5" fmla="*/ 3 h 161"/>
                              <a:gd name="T6" fmla="*/ 18 w 148"/>
                              <a:gd name="T7" fmla="*/ 7 h 161"/>
                              <a:gd name="T8" fmla="*/ 18 w 148"/>
                              <a:gd name="T9" fmla="*/ 8 h 161"/>
                              <a:gd name="T10" fmla="*/ 20 w 148"/>
                              <a:gd name="T11" fmla="*/ 9 h 161"/>
                              <a:gd name="T12" fmla="*/ 20 w 148"/>
                              <a:gd name="T13" fmla="*/ 11 h 161"/>
                              <a:gd name="T14" fmla="*/ 22 w 148"/>
                              <a:gd name="T15" fmla="*/ 11 h 161"/>
                              <a:gd name="T16" fmla="*/ 22 w 148"/>
                              <a:gd name="T17" fmla="*/ 14 h 161"/>
                              <a:gd name="T18" fmla="*/ 31 w 148"/>
                              <a:gd name="T19" fmla="*/ 23 h 161"/>
                              <a:gd name="T20" fmla="*/ 33 w 148"/>
                              <a:gd name="T21" fmla="*/ 23 h 161"/>
                              <a:gd name="T22" fmla="*/ 34 w 148"/>
                              <a:gd name="T23" fmla="*/ 25 h 161"/>
                              <a:gd name="T24" fmla="*/ 36 w 148"/>
                              <a:gd name="T25" fmla="*/ 27 h 161"/>
                              <a:gd name="T26" fmla="*/ 37 w 148"/>
                              <a:gd name="T27" fmla="*/ 27 h 161"/>
                              <a:gd name="T28" fmla="*/ 43 w 148"/>
                              <a:gd name="T29" fmla="*/ 30 h 161"/>
                              <a:gd name="T30" fmla="*/ 54 w 148"/>
                              <a:gd name="T31" fmla="*/ 32 h 161"/>
                              <a:gd name="T32" fmla="*/ 55 w 148"/>
                              <a:gd name="T33" fmla="*/ 42 h 161"/>
                              <a:gd name="T34" fmla="*/ 58 w 148"/>
                              <a:gd name="T35" fmla="*/ 43 h 161"/>
                              <a:gd name="T36" fmla="*/ 57 w 148"/>
                              <a:gd name="T37" fmla="*/ 47 h 161"/>
                              <a:gd name="T38" fmla="*/ 65 w 148"/>
                              <a:gd name="T39" fmla="*/ 52 h 161"/>
                              <a:gd name="T40" fmla="*/ 71 w 148"/>
                              <a:gd name="T41" fmla="*/ 54 h 161"/>
                              <a:gd name="T42" fmla="*/ 71 w 148"/>
                              <a:gd name="T43" fmla="*/ 71 h 161"/>
                              <a:gd name="T44" fmla="*/ 74 w 148"/>
                              <a:gd name="T45" fmla="*/ 77 h 161"/>
                              <a:gd name="T46" fmla="*/ 72 w 148"/>
                              <a:gd name="T47" fmla="*/ 80 h 161"/>
                              <a:gd name="T48" fmla="*/ 68 w 148"/>
                              <a:gd name="T49" fmla="*/ 80 h 161"/>
                              <a:gd name="T50" fmla="*/ 67 w 148"/>
                              <a:gd name="T51" fmla="*/ 75 h 161"/>
                              <a:gd name="T52" fmla="*/ 60 w 148"/>
                              <a:gd name="T53" fmla="*/ 80 h 161"/>
                              <a:gd name="T54" fmla="*/ 55 w 148"/>
                              <a:gd name="T55" fmla="*/ 72 h 161"/>
                              <a:gd name="T56" fmla="*/ 52 w 148"/>
                              <a:gd name="T57" fmla="*/ 66 h 161"/>
                              <a:gd name="T58" fmla="*/ 44 w 148"/>
                              <a:gd name="T59" fmla="*/ 58 h 161"/>
                              <a:gd name="T60" fmla="*/ 42 w 148"/>
                              <a:gd name="T61" fmla="*/ 58 h 161"/>
                              <a:gd name="T62" fmla="*/ 35 w 148"/>
                              <a:gd name="T63" fmla="*/ 54 h 161"/>
                              <a:gd name="T64" fmla="*/ 34 w 148"/>
                              <a:gd name="T65" fmla="*/ 49 h 161"/>
                              <a:gd name="T66" fmla="*/ 34 w 148"/>
                              <a:gd name="T67" fmla="*/ 46 h 161"/>
                              <a:gd name="T68" fmla="*/ 27 w 148"/>
                              <a:gd name="T69" fmla="*/ 35 h 161"/>
                              <a:gd name="T70" fmla="*/ 24 w 148"/>
                              <a:gd name="T71" fmla="*/ 27 h 161"/>
                              <a:gd name="T72" fmla="*/ 17 w 148"/>
                              <a:gd name="T73" fmla="*/ 21 h 161"/>
                              <a:gd name="T74" fmla="*/ 6 w 148"/>
                              <a:gd name="T75" fmla="*/ 11 h 161"/>
                              <a:gd name="T76" fmla="*/ 0 w 148"/>
                              <a:gd name="T77" fmla="*/ 2 h 161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w 148"/>
                              <a:gd name="T118" fmla="*/ 0 h 161"/>
                              <a:gd name="T119" fmla="*/ 148 w 148"/>
                              <a:gd name="T120" fmla="*/ 161 h 161"/>
                            </a:gdLst>
                            <a:ahLst/>
                            <a:cxnLst>
                              <a:cxn ang="T78">
                                <a:pos x="T0" y="T1"/>
                              </a:cxn>
                              <a:cxn ang="T79">
                                <a:pos x="T2" y="T3"/>
                              </a:cxn>
                              <a:cxn ang="T80">
                                <a:pos x="T4" y="T5"/>
                              </a:cxn>
                              <a:cxn ang="T81">
                                <a:pos x="T6" y="T7"/>
                              </a:cxn>
                              <a:cxn ang="T82">
                                <a:pos x="T8" y="T9"/>
                              </a:cxn>
                              <a:cxn ang="T83">
                                <a:pos x="T10" y="T11"/>
                              </a:cxn>
                              <a:cxn ang="T84">
                                <a:pos x="T12" y="T13"/>
                              </a:cxn>
                              <a:cxn ang="T85">
                                <a:pos x="T14" y="T15"/>
                              </a:cxn>
                              <a:cxn ang="T86">
                                <a:pos x="T16" y="T17"/>
                              </a:cxn>
                              <a:cxn ang="T87">
                                <a:pos x="T18" y="T19"/>
                              </a:cxn>
                              <a:cxn ang="T88">
                                <a:pos x="T20" y="T21"/>
                              </a:cxn>
                              <a:cxn ang="T89">
                                <a:pos x="T22" y="T23"/>
                              </a:cxn>
                              <a:cxn ang="T90">
                                <a:pos x="T24" y="T25"/>
                              </a:cxn>
                              <a:cxn ang="T91">
                                <a:pos x="T26" y="T27"/>
                              </a:cxn>
                              <a:cxn ang="T92">
                                <a:pos x="T28" y="T29"/>
                              </a:cxn>
                              <a:cxn ang="T93">
                                <a:pos x="T30" y="T31"/>
                              </a:cxn>
                              <a:cxn ang="T94">
                                <a:pos x="T32" y="T33"/>
                              </a:cxn>
                              <a:cxn ang="T95">
                                <a:pos x="T34" y="T35"/>
                              </a:cxn>
                              <a:cxn ang="T96">
                                <a:pos x="T36" y="T37"/>
                              </a:cxn>
                              <a:cxn ang="T97">
                                <a:pos x="T38" y="T39"/>
                              </a:cxn>
                              <a:cxn ang="T98">
                                <a:pos x="T40" y="T41"/>
                              </a:cxn>
                              <a:cxn ang="T99">
                                <a:pos x="T42" y="T43"/>
                              </a:cxn>
                              <a:cxn ang="T100">
                                <a:pos x="T44" y="T45"/>
                              </a:cxn>
                              <a:cxn ang="T101">
                                <a:pos x="T46" y="T47"/>
                              </a:cxn>
                              <a:cxn ang="T102">
                                <a:pos x="T48" y="T49"/>
                              </a:cxn>
                              <a:cxn ang="T103">
                                <a:pos x="T50" y="T51"/>
                              </a:cxn>
                              <a:cxn ang="T104">
                                <a:pos x="T52" y="T53"/>
                              </a:cxn>
                              <a:cxn ang="T105">
                                <a:pos x="T54" y="T55"/>
                              </a:cxn>
                              <a:cxn ang="T106">
                                <a:pos x="T56" y="T57"/>
                              </a:cxn>
                              <a:cxn ang="T107">
                                <a:pos x="T58" y="T59"/>
                              </a:cxn>
                              <a:cxn ang="T108">
                                <a:pos x="T60" y="T61"/>
                              </a:cxn>
                              <a:cxn ang="T109">
                                <a:pos x="T62" y="T63"/>
                              </a:cxn>
                              <a:cxn ang="T110">
                                <a:pos x="T64" y="T65"/>
                              </a:cxn>
                              <a:cxn ang="T111">
                                <a:pos x="T66" y="T67"/>
                              </a:cxn>
                              <a:cxn ang="T112">
                                <a:pos x="T68" y="T69"/>
                              </a:cxn>
                              <a:cxn ang="T113">
                                <a:pos x="T70" y="T71"/>
                              </a:cxn>
                              <a:cxn ang="T114">
                                <a:pos x="T72" y="T73"/>
                              </a:cxn>
                              <a:cxn ang="T115">
                                <a:pos x="T74" y="T75"/>
                              </a:cxn>
                              <a:cxn ang="T116">
                                <a:pos x="T76" y="T77"/>
                              </a:cxn>
                            </a:cxnLst>
                            <a:rect l="T117" t="T118" r="T119" b="T120"/>
                            <a:pathLst>
                              <a:path w="148" h="161">
                                <a:moveTo>
                                  <a:pt x="0" y="4"/>
                                </a:moveTo>
                                <a:lnTo>
                                  <a:pt x="15" y="0"/>
                                </a:lnTo>
                                <a:lnTo>
                                  <a:pt x="33" y="7"/>
                                </a:lnTo>
                                <a:lnTo>
                                  <a:pt x="35" y="15"/>
                                </a:lnTo>
                                <a:lnTo>
                                  <a:pt x="35" y="17"/>
                                </a:lnTo>
                                <a:lnTo>
                                  <a:pt x="40" y="19"/>
                                </a:lnTo>
                                <a:lnTo>
                                  <a:pt x="40" y="22"/>
                                </a:lnTo>
                                <a:lnTo>
                                  <a:pt x="45" y="23"/>
                                </a:lnTo>
                                <a:lnTo>
                                  <a:pt x="45" y="29"/>
                                </a:lnTo>
                                <a:lnTo>
                                  <a:pt x="63" y="47"/>
                                </a:lnTo>
                                <a:lnTo>
                                  <a:pt x="66" y="47"/>
                                </a:lnTo>
                                <a:lnTo>
                                  <a:pt x="68" y="51"/>
                                </a:lnTo>
                                <a:lnTo>
                                  <a:pt x="71" y="55"/>
                                </a:lnTo>
                                <a:lnTo>
                                  <a:pt x="74" y="55"/>
                                </a:lnTo>
                                <a:lnTo>
                                  <a:pt x="86" y="61"/>
                                </a:lnTo>
                                <a:lnTo>
                                  <a:pt x="109" y="64"/>
                                </a:lnTo>
                                <a:lnTo>
                                  <a:pt x="111" y="84"/>
                                </a:lnTo>
                                <a:lnTo>
                                  <a:pt x="116" y="87"/>
                                </a:lnTo>
                                <a:lnTo>
                                  <a:pt x="115" y="94"/>
                                </a:lnTo>
                                <a:lnTo>
                                  <a:pt x="129" y="105"/>
                                </a:lnTo>
                                <a:lnTo>
                                  <a:pt x="141" y="109"/>
                                </a:lnTo>
                                <a:lnTo>
                                  <a:pt x="141" y="142"/>
                                </a:lnTo>
                                <a:lnTo>
                                  <a:pt x="148" y="155"/>
                                </a:lnTo>
                                <a:lnTo>
                                  <a:pt x="144" y="160"/>
                                </a:lnTo>
                                <a:lnTo>
                                  <a:pt x="136" y="161"/>
                                </a:lnTo>
                                <a:lnTo>
                                  <a:pt x="134" y="150"/>
                                </a:lnTo>
                                <a:lnTo>
                                  <a:pt x="120" y="161"/>
                                </a:lnTo>
                                <a:lnTo>
                                  <a:pt x="111" y="144"/>
                                </a:lnTo>
                                <a:lnTo>
                                  <a:pt x="105" y="132"/>
                                </a:lnTo>
                                <a:lnTo>
                                  <a:pt x="89" y="116"/>
                                </a:lnTo>
                                <a:lnTo>
                                  <a:pt x="85" y="116"/>
                                </a:lnTo>
                                <a:lnTo>
                                  <a:pt x="70" y="108"/>
                                </a:lnTo>
                                <a:lnTo>
                                  <a:pt x="67" y="99"/>
                                </a:lnTo>
                                <a:lnTo>
                                  <a:pt x="67" y="93"/>
                                </a:lnTo>
                                <a:lnTo>
                                  <a:pt x="55" y="70"/>
                                </a:lnTo>
                                <a:lnTo>
                                  <a:pt x="49" y="55"/>
                                </a:lnTo>
                                <a:lnTo>
                                  <a:pt x="34" y="42"/>
                                </a:lnTo>
                                <a:lnTo>
                                  <a:pt x="13" y="22"/>
                                </a:lnTo>
                                <a:lnTo>
                                  <a:pt x="0" y="4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89" name="Freeform 15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80" y="2473"/>
                            <a:ext cx="71" cy="90"/>
                          </a:xfrm>
                          <a:custGeom>
                            <a:avLst/>
                            <a:gdLst>
                              <a:gd name="T0" fmla="*/ 5 w 143"/>
                              <a:gd name="T1" fmla="*/ 0 h 178"/>
                              <a:gd name="T2" fmla="*/ 11 w 143"/>
                              <a:gd name="T3" fmla="*/ 0 h 178"/>
                              <a:gd name="T4" fmla="*/ 18 w 143"/>
                              <a:gd name="T5" fmla="*/ 10 h 178"/>
                              <a:gd name="T6" fmla="*/ 16 w 143"/>
                              <a:gd name="T7" fmla="*/ 18 h 178"/>
                              <a:gd name="T8" fmla="*/ 20 w 143"/>
                              <a:gd name="T9" fmla="*/ 21 h 178"/>
                              <a:gd name="T10" fmla="*/ 22 w 143"/>
                              <a:gd name="T11" fmla="*/ 27 h 178"/>
                              <a:gd name="T12" fmla="*/ 27 w 143"/>
                              <a:gd name="T13" fmla="*/ 30 h 178"/>
                              <a:gd name="T14" fmla="*/ 33 w 143"/>
                              <a:gd name="T15" fmla="*/ 31 h 178"/>
                              <a:gd name="T16" fmla="*/ 41 w 143"/>
                              <a:gd name="T17" fmla="*/ 35 h 178"/>
                              <a:gd name="T18" fmla="*/ 46 w 143"/>
                              <a:gd name="T19" fmla="*/ 41 h 178"/>
                              <a:gd name="T20" fmla="*/ 48 w 143"/>
                              <a:gd name="T21" fmla="*/ 41 h 178"/>
                              <a:gd name="T22" fmla="*/ 55 w 143"/>
                              <a:gd name="T23" fmla="*/ 46 h 178"/>
                              <a:gd name="T24" fmla="*/ 55 w 143"/>
                              <a:gd name="T25" fmla="*/ 57 h 178"/>
                              <a:gd name="T26" fmla="*/ 57 w 143"/>
                              <a:gd name="T27" fmla="*/ 62 h 178"/>
                              <a:gd name="T28" fmla="*/ 59 w 143"/>
                              <a:gd name="T29" fmla="*/ 65 h 178"/>
                              <a:gd name="T30" fmla="*/ 61 w 143"/>
                              <a:gd name="T31" fmla="*/ 67 h 178"/>
                              <a:gd name="T32" fmla="*/ 64 w 143"/>
                              <a:gd name="T33" fmla="*/ 71 h 178"/>
                              <a:gd name="T34" fmla="*/ 66 w 143"/>
                              <a:gd name="T35" fmla="*/ 75 h 178"/>
                              <a:gd name="T36" fmla="*/ 71 w 143"/>
                              <a:gd name="T37" fmla="*/ 79 h 178"/>
                              <a:gd name="T38" fmla="*/ 70 w 143"/>
                              <a:gd name="T39" fmla="*/ 83 h 178"/>
                              <a:gd name="T40" fmla="*/ 65 w 143"/>
                              <a:gd name="T41" fmla="*/ 84 h 178"/>
                              <a:gd name="T42" fmla="*/ 63 w 143"/>
                              <a:gd name="T43" fmla="*/ 81 h 178"/>
                              <a:gd name="T44" fmla="*/ 59 w 143"/>
                              <a:gd name="T45" fmla="*/ 81 h 178"/>
                              <a:gd name="T46" fmla="*/ 59 w 143"/>
                              <a:gd name="T47" fmla="*/ 90 h 178"/>
                              <a:gd name="T48" fmla="*/ 55 w 143"/>
                              <a:gd name="T49" fmla="*/ 90 h 178"/>
                              <a:gd name="T50" fmla="*/ 51 w 143"/>
                              <a:gd name="T51" fmla="*/ 86 h 178"/>
                              <a:gd name="T52" fmla="*/ 48 w 143"/>
                              <a:gd name="T53" fmla="*/ 83 h 178"/>
                              <a:gd name="T54" fmla="*/ 48 w 143"/>
                              <a:gd name="T55" fmla="*/ 78 h 178"/>
                              <a:gd name="T56" fmla="*/ 42 w 143"/>
                              <a:gd name="T57" fmla="*/ 78 h 178"/>
                              <a:gd name="T58" fmla="*/ 40 w 143"/>
                              <a:gd name="T59" fmla="*/ 83 h 178"/>
                              <a:gd name="T60" fmla="*/ 38 w 143"/>
                              <a:gd name="T61" fmla="*/ 78 h 178"/>
                              <a:gd name="T62" fmla="*/ 37 w 143"/>
                              <a:gd name="T63" fmla="*/ 73 h 178"/>
                              <a:gd name="T64" fmla="*/ 45 w 143"/>
                              <a:gd name="T65" fmla="*/ 71 h 178"/>
                              <a:gd name="T66" fmla="*/ 49 w 143"/>
                              <a:gd name="T67" fmla="*/ 73 h 178"/>
                              <a:gd name="T68" fmla="*/ 50 w 143"/>
                              <a:gd name="T69" fmla="*/ 64 h 178"/>
                              <a:gd name="T70" fmla="*/ 46 w 143"/>
                              <a:gd name="T71" fmla="*/ 61 h 178"/>
                              <a:gd name="T72" fmla="*/ 43 w 143"/>
                              <a:gd name="T73" fmla="*/ 54 h 178"/>
                              <a:gd name="T74" fmla="*/ 41 w 143"/>
                              <a:gd name="T75" fmla="*/ 44 h 178"/>
                              <a:gd name="T76" fmla="*/ 33 w 143"/>
                              <a:gd name="T77" fmla="*/ 42 h 178"/>
                              <a:gd name="T78" fmla="*/ 30 w 143"/>
                              <a:gd name="T79" fmla="*/ 37 h 178"/>
                              <a:gd name="T80" fmla="*/ 24 w 143"/>
                              <a:gd name="T81" fmla="*/ 35 h 178"/>
                              <a:gd name="T82" fmla="*/ 27 w 143"/>
                              <a:gd name="T83" fmla="*/ 44 h 178"/>
                              <a:gd name="T84" fmla="*/ 20 w 143"/>
                              <a:gd name="T85" fmla="*/ 48 h 178"/>
                              <a:gd name="T86" fmla="*/ 16 w 143"/>
                              <a:gd name="T87" fmla="*/ 38 h 178"/>
                              <a:gd name="T88" fmla="*/ 13 w 143"/>
                              <a:gd name="T89" fmla="*/ 36 h 178"/>
                              <a:gd name="T90" fmla="*/ 13 w 143"/>
                              <a:gd name="T91" fmla="*/ 31 h 178"/>
                              <a:gd name="T92" fmla="*/ 8 w 143"/>
                              <a:gd name="T93" fmla="*/ 25 h 178"/>
                              <a:gd name="T94" fmla="*/ 3 w 143"/>
                              <a:gd name="T95" fmla="*/ 21 h 178"/>
                              <a:gd name="T96" fmla="*/ 0 w 143"/>
                              <a:gd name="T97" fmla="*/ 18 h 178"/>
                              <a:gd name="T98" fmla="*/ 1 w 143"/>
                              <a:gd name="T99" fmla="*/ 15 h 178"/>
                              <a:gd name="T100" fmla="*/ 5 w 143"/>
                              <a:gd name="T101" fmla="*/ 16 h 178"/>
                              <a:gd name="T102" fmla="*/ 7 w 143"/>
                              <a:gd name="T103" fmla="*/ 12 h 178"/>
                              <a:gd name="T104" fmla="*/ 5 w 143"/>
                              <a:gd name="T105" fmla="*/ 7 h 178"/>
                              <a:gd name="T106" fmla="*/ 5 w 143"/>
                              <a:gd name="T107" fmla="*/ 0 h 178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w 143"/>
                              <a:gd name="T163" fmla="*/ 0 h 178"/>
                              <a:gd name="T164" fmla="*/ 143 w 143"/>
                              <a:gd name="T165" fmla="*/ 178 h 178"/>
                            </a:gdLst>
                            <a:ahLst/>
                            <a:cxnLst>
                              <a:cxn ang="T108">
                                <a:pos x="T0" y="T1"/>
                              </a:cxn>
                              <a:cxn ang="T109">
                                <a:pos x="T2" y="T3"/>
                              </a:cxn>
                              <a:cxn ang="T110">
                                <a:pos x="T4" y="T5"/>
                              </a:cxn>
                              <a:cxn ang="T111">
                                <a:pos x="T6" y="T7"/>
                              </a:cxn>
                              <a:cxn ang="T112">
                                <a:pos x="T8" y="T9"/>
                              </a:cxn>
                              <a:cxn ang="T113">
                                <a:pos x="T10" y="T11"/>
                              </a:cxn>
                              <a:cxn ang="T114">
                                <a:pos x="T12" y="T13"/>
                              </a:cxn>
                              <a:cxn ang="T115">
                                <a:pos x="T14" y="T15"/>
                              </a:cxn>
                              <a:cxn ang="T116">
                                <a:pos x="T16" y="T17"/>
                              </a:cxn>
                              <a:cxn ang="T117">
                                <a:pos x="T18" y="T19"/>
                              </a:cxn>
                              <a:cxn ang="T118">
                                <a:pos x="T20" y="T21"/>
                              </a:cxn>
                              <a:cxn ang="T119">
                                <a:pos x="T22" y="T23"/>
                              </a:cxn>
                              <a:cxn ang="T120">
                                <a:pos x="T24" y="T25"/>
                              </a:cxn>
                              <a:cxn ang="T121">
                                <a:pos x="T26" y="T27"/>
                              </a:cxn>
                              <a:cxn ang="T122">
                                <a:pos x="T28" y="T29"/>
                              </a:cxn>
                              <a:cxn ang="T123">
                                <a:pos x="T30" y="T31"/>
                              </a:cxn>
                              <a:cxn ang="T124">
                                <a:pos x="T32" y="T33"/>
                              </a:cxn>
                              <a:cxn ang="T125">
                                <a:pos x="T34" y="T35"/>
                              </a:cxn>
                              <a:cxn ang="T126">
                                <a:pos x="T36" y="T37"/>
                              </a:cxn>
                              <a:cxn ang="T127">
                                <a:pos x="T38" y="T39"/>
                              </a:cxn>
                              <a:cxn ang="T128">
                                <a:pos x="T40" y="T41"/>
                              </a:cxn>
                              <a:cxn ang="T129">
                                <a:pos x="T42" y="T43"/>
                              </a:cxn>
                              <a:cxn ang="T130">
                                <a:pos x="T44" y="T45"/>
                              </a:cxn>
                              <a:cxn ang="T131">
                                <a:pos x="T46" y="T47"/>
                              </a:cxn>
                              <a:cxn ang="T132">
                                <a:pos x="T48" y="T49"/>
                              </a:cxn>
                              <a:cxn ang="T133">
                                <a:pos x="T50" y="T51"/>
                              </a:cxn>
                              <a:cxn ang="T134">
                                <a:pos x="T52" y="T53"/>
                              </a:cxn>
                              <a:cxn ang="T135">
                                <a:pos x="T54" y="T55"/>
                              </a:cxn>
                              <a:cxn ang="T136">
                                <a:pos x="T56" y="T57"/>
                              </a:cxn>
                              <a:cxn ang="T137">
                                <a:pos x="T58" y="T59"/>
                              </a:cxn>
                              <a:cxn ang="T138">
                                <a:pos x="T60" y="T61"/>
                              </a:cxn>
                              <a:cxn ang="T139">
                                <a:pos x="T62" y="T63"/>
                              </a:cxn>
                              <a:cxn ang="T140">
                                <a:pos x="T64" y="T65"/>
                              </a:cxn>
                              <a:cxn ang="T141">
                                <a:pos x="T66" y="T67"/>
                              </a:cxn>
                              <a:cxn ang="T142">
                                <a:pos x="T68" y="T69"/>
                              </a:cxn>
                              <a:cxn ang="T143">
                                <a:pos x="T70" y="T71"/>
                              </a:cxn>
                              <a:cxn ang="T144">
                                <a:pos x="T72" y="T73"/>
                              </a:cxn>
                              <a:cxn ang="T145">
                                <a:pos x="T74" y="T75"/>
                              </a:cxn>
                              <a:cxn ang="T146">
                                <a:pos x="T76" y="T77"/>
                              </a:cxn>
                              <a:cxn ang="T147">
                                <a:pos x="T78" y="T79"/>
                              </a:cxn>
                              <a:cxn ang="T148">
                                <a:pos x="T80" y="T81"/>
                              </a:cxn>
                              <a:cxn ang="T149">
                                <a:pos x="T82" y="T83"/>
                              </a:cxn>
                              <a:cxn ang="T150">
                                <a:pos x="T84" y="T85"/>
                              </a:cxn>
                              <a:cxn ang="T151">
                                <a:pos x="T86" y="T87"/>
                              </a:cxn>
                              <a:cxn ang="T152">
                                <a:pos x="T88" y="T89"/>
                              </a:cxn>
                              <a:cxn ang="T153">
                                <a:pos x="T90" y="T91"/>
                              </a:cxn>
                              <a:cxn ang="T154">
                                <a:pos x="T92" y="T93"/>
                              </a:cxn>
                              <a:cxn ang="T155">
                                <a:pos x="T94" y="T95"/>
                              </a:cxn>
                              <a:cxn ang="T156">
                                <a:pos x="T96" y="T97"/>
                              </a:cxn>
                              <a:cxn ang="T157">
                                <a:pos x="T98" y="T99"/>
                              </a:cxn>
                              <a:cxn ang="T158">
                                <a:pos x="T100" y="T101"/>
                              </a:cxn>
                              <a:cxn ang="T159">
                                <a:pos x="T102" y="T103"/>
                              </a:cxn>
                              <a:cxn ang="T160">
                                <a:pos x="T104" y="T105"/>
                              </a:cxn>
                              <a:cxn ang="T161">
                                <a:pos x="T106" y="T107"/>
                              </a:cxn>
                            </a:cxnLst>
                            <a:rect l="T162" t="T163" r="T164" b="T165"/>
                            <a:pathLst>
                              <a:path w="143" h="178">
                                <a:moveTo>
                                  <a:pt x="10" y="0"/>
                                </a:moveTo>
                                <a:lnTo>
                                  <a:pt x="22" y="0"/>
                                </a:lnTo>
                                <a:lnTo>
                                  <a:pt x="36" y="19"/>
                                </a:lnTo>
                                <a:lnTo>
                                  <a:pt x="33" y="36"/>
                                </a:lnTo>
                                <a:lnTo>
                                  <a:pt x="41" y="42"/>
                                </a:lnTo>
                                <a:lnTo>
                                  <a:pt x="45" y="54"/>
                                </a:lnTo>
                                <a:lnTo>
                                  <a:pt x="55" y="59"/>
                                </a:lnTo>
                                <a:lnTo>
                                  <a:pt x="66" y="61"/>
                                </a:lnTo>
                                <a:lnTo>
                                  <a:pt x="82" y="69"/>
                                </a:lnTo>
                                <a:lnTo>
                                  <a:pt x="93" y="81"/>
                                </a:lnTo>
                                <a:lnTo>
                                  <a:pt x="96" y="81"/>
                                </a:lnTo>
                                <a:lnTo>
                                  <a:pt x="110" y="90"/>
                                </a:lnTo>
                                <a:lnTo>
                                  <a:pt x="110" y="112"/>
                                </a:lnTo>
                                <a:lnTo>
                                  <a:pt x="114" y="122"/>
                                </a:lnTo>
                                <a:lnTo>
                                  <a:pt x="118" y="128"/>
                                </a:lnTo>
                                <a:lnTo>
                                  <a:pt x="123" y="133"/>
                                </a:lnTo>
                                <a:lnTo>
                                  <a:pt x="129" y="141"/>
                                </a:lnTo>
                                <a:lnTo>
                                  <a:pt x="132" y="149"/>
                                </a:lnTo>
                                <a:lnTo>
                                  <a:pt x="143" y="157"/>
                                </a:lnTo>
                                <a:lnTo>
                                  <a:pt x="141" y="165"/>
                                </a:lnTo>
                                <a:lnTo>
                                  <a:pt x="130" y="167"/>
                                </a:lnTo>
                                <a:lnTo>
                                  <a:pt x="126" y="160"/>
                                </a:lnTo>
                                <a:lnTo>
                                  <a:pt x="118" y="160"/>
                                </a:lnTo>
                                <a:lnTo>
                                  <a:pt x="118" y="178"/>
                                </a:lnTo>
                                <a:lnTo>
                                  <a:pt x="111" y="178"/>
                                </a:lnTo>
                                <a:lnTo>
                                  <a:pt x="103" y="170"/>
                                </a:lnTo>
                                <a:lnTo>
                                  <a:pt x="97" y="165"/>
                                </a:lnTo>
                                <a:lnTo>
                                  <a:pt x="97" y="155"/>
                                </a:lnTo>
                                <a:lnTo>
                                  <a:pt x="85" y="155"/>
                                </a:lnTo>
                                <a:lnTo>
                                  <a:pt x="81" y="165"/>
                                </a:lnTo>
                                <a:lnTo>
                                  <a:pt x="77" y="155"/>
                                </a:lnTo>
                                <a:lnTo>
                                  <a:pt x="75" y="145"/>
                                </a:lnTo>
                                <a:lnTo>
                                  <a:pt x="91" y="141"/>
                                </a:lnTo>
                                <a:lnTo>
                                  <a:pt x="99" y="144"/>
                                </a:lnTo>
                                <a:lnTo>
                                  <a:pt x="100" y="126"/>
                                </a:lnTo>
                                <a:lnTo>
                                  <a:pt x="92" y="120"/>
                                </a:lnTo>
                                <a:lnTo>
                                  <a:pt x="86" y="106"/>
                                </a:lnTo>
                                <a:lnTo>
                                  <a:pt x="82" y="88"/>
                                </a:lnTo>
                                <a:lnTo>
                                  <a:pt x="67" y="83"/>
                                </a:lnTo>
                                <a:lnTo>
                                  <a:pt x="60" y="74"/>
                                </a:lnTo>
                                <a:lnTo>
                                  <a:pt x="48" y="69"/>
                                </a:lnTo>
                                <a:lnTo>
                                  <a:pt x="55" y="87"/>
                                </a:lnTo>
                                <a:lnTo>
                                  <a:pt x="41" y="94"/>
                                </a:lnTo>
                                <a:lnTo>
                                  <a:pt x="33" y="75"/>
                                </a:lnTo>
                                <a:lnTo>
                                  <a:pt x="26" y="71"/>
                                </a:lnTo>
                                <a:lnTo>
                                  <a:pt x="26" y="61"/>
                                </a:lnTo>
                                <a:lnTo>
                                  <a:pt x="17" y="49"/>
                                </a:lnTo>
                                <a:lnTo>
                                  <a:pt x="6" y="42"/>
                                </a:lnTo>
                                <a:lnTo>
                                  <a:pt x="0" y="35"/>
                                </a:lnTo>
                                <a:lnTo>
                                  <a:pt x="3" y="29"/>
                                </a:lnTo>
                                <a:lnTo>
                                  <a:pt x="11" y="32"/>
                                </a:lnTo>
                                <a:lnTo>
                                  <a:pt x="14" y="24"/>
                                </a:lnTo>
                                <a:lnTo>
                                  <a:pt x="11" y="14"/>
                                </a:lnTo>
                                <a:lnTo>
                                  <a:pt x="1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90" name="Freeform 15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63" y="2322"/>
                            <a:ext cx="53" cy="76"/>
                          </a:xfrm>
                          <a:custGeom>
                            <a:avLst/>
                            <a:gdLst>
                              <a:gd name="T0" fmla="*/ 11 w 106"/>
                              <a:gd name="T1" fmla="*/ 0 h 153"/>
                              <a:gd name="T2" fmla="*/ 22 w 106"/>
                              <a:gd name="T3" fmla="*/ 5 h 153"/>
                              <a:gd name="T4" fmla="*/ 27 w 106"/>
                              <a:gd name="T5" fmla="*/ 11 h 153"/>
                              <a:gd name="T6" fmla="*/ 31 w 106"/>
                              <a:gd name="T7" fmla="*/ 17 h 153"/>
                              <a:gd name="T8" fmla="*/ 35 w 106"/>
                              <a:gd name="T9" fmla="*/ 17 h 153"/>
                              <a:gd name="T10" fmla="*/ 35 w 106"/>
                              <a:gd name="T11" fmla="*/ 22 h 153"/>
                              <a:gd name="T12" fmla="*/ 39 w 106"/>
                              <a:gd name="T13" fmla="*/ 25 h 153"/>
                              <a:gd name="T14" fmla="*/ 41 w 106"/>
                              <a:gd name="T15" fmla="*/ 29 h 153"/>
                              <a:gd name="T16" fmla="*/ 48 w 106"/>
                              <a:gd name="T17" fmla="*/ 38 h 153"/>
                              <a:gd name="T18" fmla="*/ 53 w 106"/>
                              <a:gd name="T19" fmla="*/ 48 h 153"/>
                              <a:gd name="T20" fmla="*/ 44 w 106"/>
                              <a:gd name="T21" fmla="*/ 47 h 153"/>
                              <a:gd name="T22" fmla="*/ 37 w 106"/>
                              <a:gd name="T23" fmla="*/ 46 h 153"/>
                              <a:gd name="T24" fmla="*/ 42 w 106"/>
                              <a:gd name="T25" fmla="*/ 53 h 153"/>
                              <a:gd name="T26" fmla="*/ 42 w 106"/>
                              <a:gd name="T27" fmla="*/ 57 h 153"/>
                              <a:gd name="T28" fmla="*/ 42 w 106"/>
                              <a:gd name="T29" fmla="*/ 62 h 153"/>
                              <a:gd name="T30" fmla="*/ 39 w 106"/>
                              <a:gd name="T31" fmla="*/ 59 h 153"/>
                              <a:gd name="T32" fmla="*/ 36 w 106"/>
                              <a:gd name="T33" fmla="*/ 56 h 153"/>
                              <a:gd name="T34" fmla="*/ 29 w 106"/>
                              <a:gd name="T35" fmla="*/ 51 h 153"/>
                              <a:gd name="T36" fmla="*/ 26 w 106"/>
                              <a:gd name="T37" fmla="*/ 49 h 153"/>
                              <a:gd name="T38" fmla="*/ 21 w 106"/>
                              <a:gd name="T39" fmla="*/ 51 h 153"/>
                              <a:gd name="T40" fmla="*/ 17 w 106"/>
                              <a:gd name="T41" fmla="*/ 53 h 153"/>
                              <a:gd name="T42" fmla="*/ 20 w 106"/>
                              <a:gd name="T43" fmla="*/ 57 h 153"/>
                              <a:gd name="T44" fmla="*/ 25 w 106"/>
                              <a:gd name="T45" fmla="*/ 59 h 153"/>
                              <a:gd name="T46" fmla="*/ 30 w 106"/>
                              <a:gd name="T47" fmla="*/ 62 h 153"/>
                              <a:gd name="T48" fmla="*/ 33 w 106"/>
                              <a:gd name="T49" fmla="*/ 67 h 153"/>
                              <a:gd name="T50" fmla="*/ 31 w 106"/>
                              <a:gd name="T51" fmla="*/ 74 h 153"/>
                              <a:gd name="T52" fmla="*/ 31 w 106"/>
                              <a:gd name="T53" fmla="*/ 76 h 153"/>
                              <a:gd name="T54" fmla="*/ 29 w 106"/>
                              <a:gd name="T55" fmla="*/ 76 h 153"/>
                              <a:gd name="T56" fmla="*/ 26 w 106"/>
                              <a:gd name="T57" fmla="*/ 74 h 153"/>
                              <a:gd name="T58" fmla="*/ 25 w 106"/>
                              <a:gd name="T59" fmla="*/ 73 h 153"/>
                              <a:gd name="T60" fmla="*/ 23 w 106"/>
                              <a:gd name="T61" fmla="*/ 72 h 153"/>
                              <a:gd name="T62" fmla="*/ 21 w 106"/>
                              <a:gd name="T63" fmla="*/ 75 h 153"/>
                              <a:gd name="T64" fmla="*/ 17 w 106"/>
                              <a:gd name="T65" fmla="*/ 76 h 153"/>
                              <a:gd name="T66" fmla="*/ 14 w 106"/>
                              <a:gd name="T67" fmla="*/ 73 h 153"/>
                              <a:gd name="T68" fmla="*/ 14 w 106"/>
                              <a:gd name="T69" fmla="*/ 67 h 153"/>
                              <a:gd name="T70" fmla="*/ 14 w 106"/>
                              <a:gd name="T71" fmla="*/ 63 h 153"/>
                              <a:gd name="T72" fmla="*/ 11 w 106"/>
                              <a:gd name="T73" fmla="*/ 61 h 153"/>
                              <a:gd name="T74" fmla="*/ 7 w 106"/>
                              <a:gd name="T75" fmla="*/ 65 h 153"/>
                              <a:gd name="T76" fmla="*/ 2 w 106"/>
                              <a:gd name="T77" fmla="*/ 65 h 153"/>
                              <a:gd name="T78" fmla="*/ 0 w 106"/>
                              <a:gd name="T79" fmla="*/ 62 h 153"/>
                              <a:gd name="T80" fmla="*/ 2 w 106"/>
                              <a:gd name="T81" fmla="*/ 54 h 153"/>
                              <a:gd name="T82" fmla="*/ 6 w 106"/>
                              <a:gd name="T83" fmla="*/ 50 h 153"/>
                              <a:gd name="T84" fmla="*/ 5 w 106"/>
                              <a:gd name="T85" fmla="*/ 38 h 153"/>
                              <a:gd name="T86" fmla="*/ 5 w 106"/>
                              <a:gd name="T87" fmla="*/ 35 h 153"/>
                              <a:gd name="T88" fmla="*/ 9 w 106"/>
                              <a:gd name="T89" fmla="*/ 35 h 153"/>
                              <a:gd name="T90" fmla="*/ 13 w 106"/>
                              <a:gd name="T91" fmla="*/ 38 h 153"/>
                              <a:gd name="T92" fmla="*/ 19 w 106"/>
                              <a:gd name="T93" fmla="*/ 39 h 153"/>
                              <a:gd name="T94" fmla="*/ 19 w 106"/>
                              <a:gd name="T95" fmla="*/ 34 h 153"/>
                              <a:gd name="T96" fmla="*/ 16 w 106"/>
                              <a:gd name="T97" fmla="*/ 31 h 153"/>
                              <a:gd name="T98" fmla="*/ 14 w 106"/>
                              <a:gd name="T99" fmla="*/ 29 h 153"/>
                              <a:gd name="T100" fmla="*/ 17 w 106"/>
                              <a:gd name="T101" fmla="*/ 29 h 153"/>
                              <a:gd name="T102" fmla="*/ 18 w 106"/>
                              <a:gd name="T103" fmla="*/ 29 h 153"/>
                              <a:gd name="T104" fmla="*/ 20 w 106"/>
                              <a:gd name="T105" fmla="*/ 29 h 153"/>
                              <a:gd name="T106" fmla="*/ 21 w 106"/>
                              <a:gd name="T107" fmla="*/ 29 h 153"/>
                              <a:gd name="T108" fmla="*/ 23 w 106"/>
                              <a:gd name="T109" fmla="*/ 27 h 153"/>
                              <a:gd name="T110" fmla="*/ 22 w 106"/>
                              <a:gd name="T111" fmla="*/ 25 h 153"/>
                              <a:gd name="T112" fmla="*/ 20 w 106"/>
                              <a:gd name="T113" fmla="*/ 20 h 153"/>
                              <a:gd name="T114" fmla="*/ 16 w 106"/>
                              <a:gd name="T115" fmla="*/ 14 h 153"/>
                              <a:gd name="T116" fmla="*/ 11 w 106"/>
                              <a:gd name="T117" fmla="*/ 12 h 153"/>
                              <a:gd name="T118" fmla="*/ 9 w 106"/>
                              <a:gd name="T119" fmla="*/ 7 h 153"/>
                              <a:gd name="T120" fmla="*/ 11 w 106"/>
                              <a:gd name="T121" fmla="*/ 0 h 153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w 106"/>
                              <a:gd name="T184" fmla="*/ 0 h 153"/>
                              <a:gd name="T185" fmla="*/ 106 w 106"/>
                              <a:gd name="T186" fmla="*/ 153 h 153"/>
                            </a:gdLst>
                            <a:ahLst/>
                            <a:cxnLst>
                              <a:cxn ang="T122">
                                <a:pos x="T0" y="T1"/>
                              </a:cxn>
                              <a:cxn ang="T123">
                                <a:pos x="T2" y="T3"/>
                              </a:cxn>
                              <a:cxn ang="T124">
                                <a:pos x="T4" y="T5"/>
                              </a:cxn>
                              <a:cxn ang="T125">
                                <a:pos x="T6" y="T7"/>
                              </a:cxn>
                              <a:cxn ang="T126">
                                <a:pos x="T8" y="T9"/>
                              </a:cxn>
                              <a:cxn ang="T127">
                                <a:pos x="T10" y="T11"/>
                              </a:cxn>
                              <a:cxn ang="T128">
                                <a:pos x="T12" y="T13"/>
                              </a:cxn>
                              <a:cxn ang="T129">
                                <a:pos x="T14" y="T15"/>
                              </a:cxn>
                              <a:cxn ang="T130">
                                <a:pos x="T16" y="T17"/>
                              </a:cxn>
                              <a:cxn ang="T131">
                                <a:pos x="T18" y="T19"/>
                              </a:cxn>
                              <a:cxn ang="T132">
                                <a:pos x="T20" y="T21"/>
                              </a:cxn>
                              <a:cxn ang="T133">
                                <a:pos x="T22" y="T23"/>
                              </a:cxn>
                              <a:cxn ang="T134">
                                <a:pos x="T24" y="T25"/>
                              </a:cxn>
                              <a:cxn ang="T135">
                                <a:pos x="T26" y="T27"/>
                              </a:cxn>
                              <a:cxn ang="T136">
                                <a:pos x="T28" y="T29"/>
                              </a:cxn>
                              <a:cxn ang="T137">
                                <a:pos x="T30" y="T31"/>
                              </a:cxn>
                              <a:cxn ang="T138">
                                <a:pos x="T32" y="T33"/>
                              </a:cxn>
                              <a:cxn ang="T139">
                                <a:pos x="T34" y="T35"/>
                              </a:cxn>
                              <a:cxn ang="T140">
                                <a:pos x="T36" y="T37"/>
                              </a:cxn>
                              <a:cxn ang="T141">
                                <a:pos x="T38" y="T39"/>
                              </a:cxn>
                              <a:cxn ang="T142">
                                <a:pos x="T40" y="T41"/>
                              </a:cxn>
                              <a:cxn ang="T143">
                                <a:pos x="T42" y="T43"/>
                              </a:cxn>
                              <a:cxn ang="T144">
                                <a:pos x="T44" y="T45"/>
                              </a:cxn>
                              <a:cxn ang="T145">
                                <a:pos x="T46" y="T47"/>
                              </a:cxn>
                              <a:cxn ang="T146">
                                <a:pos x="T48" y="T49"/>
                              </a:cxn>
                              <a:cxn ang="T147">
                                <a:pos x="T50" y="T51"/>
                              </a:cxn>
                              <a:cxn ang="T148">
                                <a:pos x="T52" y="T53"/>
                              </a:cxn>
                              <a:cxn ang="T149">
                                <a:pos x="T54" y="T55"/>
                              </a:cxn>
                              <a:cxn ang="T150">
                                <a:pos x="T56" y="T57"/>
                              </a:cxn>
                              <a:cxn ang="T151">
                                <a:pos x="T58" y="T59"/>
                              </a:cxn>
                              <a:cxn ang="T152">
                                <a:pos x="T60" y="T61"/>
                              </a:cxn>
                              <a:cxn ang="T153">
                                <a:pos x="T62" y="T63"/>
                              </a:cxn>
                              <a:cxn ang="T154">
                                <a:pos x="T64" y="T65"/>
                              </a:cxn>
                              <a:cxn ang="T155">
                                <a:pos x="T66" y="T67"/>
                              </a:cxn>
                              <a:cxn ang="T156">
                                <a:pos x="T68" y="T69"/>
                              </a:cxn>
                              <a:cxn ang="T157">
                                <a:pos x="T70" y="T71"/>
                              </a:cxn>
                              <a:cxn ang="T158">
                                <a:pos x="T72" y="T73"/>
                              </a:cxn>
                              <a:cxn ang="T159">
                                <a:pos x="T74" y="T75"/>
                              </a:cxn>
                              <a:cxn ang="T160">
                                <a:pos x="T76" y="T77"/>
                              </a:cxn>
                              <a:cxn ang="T161">
                                <a:pos x="T78" y="T79"/>
                              </a:cxn>
                              <a:cxn ang="T162">
                                <a:pos x="T80" y="T81"/>
                              </a:cxn>
                              <a:cxn ang="T163">
                                <a:pos x="T82" y="T83"/>
                              </a:cxn>
                              <a:cxn ang="T164">
                                <a:pos x="T84" y="T85"/>
                              </a:cxn>
                              <a:cxn ang="T165">
                                <a:pos x="T86" y="T87"/>
                              </a:cxn>
                              <a:cxn ang="T166">
                                <a:pos x="T88" y="T89"/>
                              </a:cxn>
                              <a:cxn ang="T167">
                                <a:pos x="T90" y="T91"/>
                              </a:cxn>
                              <a:cxn ang="T168">
                                <a:pos x="T92" y="T93"/>
                              </a:cxn>
                              <a:cxn ang="T169">
                                <a:pos x="T94" y="T95"/>
                              </a:cxn>
                              <a:cxn ang="T170">
                                <a:pos x="T96" y="T97"/>
                              </a:cxn>
                              <a:cxn ang="T171">
                                <a:pos x="T98" y="T99"/>
                              </a:cxn>
                              <a:cxn ang="T172">
                                <a:pos x="T100" y="T101"/>
                              </a:cxn>
                              <a:cxn ang="T173">
                                <a:pos x="T102" y="T103"/>
                              </a:cxn>
                              <a:cxn ang="T174">
                                <a:pos x="T104" y="T105"/>
                              </a:cxn>
                              <a:cxn ang="T175">
                                <a:pos x="T106" y="T107"/>
                              </a:cxn>
                              <a:cxn ang="T176">
                                <a:pos x="T108" y="T109"/>
                              </a:cxn>
                              <a:cxn ang="T177">
                                <a:pos x="T110" y="T111"/>
                              </a:cxn>
                              <a:cxn ang="T178">
                                <a:pos x="T112" y="T113"/>
                              </a:cxn>
                              <a:cxn ang="T179">
                                <a:pos x="T114" y="T115"/>
                              </a:cxn>
                              <a:cxn ang="T180">
                                <a:pos x="T116" y="T117"/>
                              </a:cxn>
                              <a:cxn ang="T181">
                                <a:pos x="T118" y="T119"/>
                              </a:cxn>
                              <a:cxn ang="T182">
                                <a:pos x="T120" y="T121"/>
                              </a:cxn>
                            </a:cxnLst>
                            <a:rect l="T183" t="T184" r="T185" b="T186"/>
                            <a:pathLst>
                              <a:path w="106" h="153">
                                <a:moveTo>
                                  <a:pt x="22" y="0"/>
                                </a:moveTo>
                                <a:lnTo>
                                  <a:pt x="43" y="10"/>
                                </a:lnTo>
                                <a:lnTo>
                                  <a:pt x="55" y="22"/>
                                </a:lnTo>
                                <a:lnTo>
                                  <a:pt x="63" y="35"/>
                                </a:lnTo>
                                <a:lnTo>
                                  <a:pt x="70" y="35"/>
                                </a:lnTo>
                                <a:lnTo>
                                  <a:pt x="69" y="44"/>
                                </a:lnTo>
                                <a:lnTo>
                                  <a:pt x="77" y="50"/>
                                </a:lnTo>
                                <a:lnTo>
                                  <a:pt x="82" y="58"/>
                                </a:lnTo>
                                <a:lnTo>
                                  <a:pt x="96" y="76"/>
                                </a:lnTo>
                                <a:lnTo>
                                  <a:pt x="106" y="96"/>
                                </a:lnTo>
                                <a:lnTo>
                                  <a:pt x="88" y="95"/>
                                </a:lnTo>
                                <a:lnTo>
                                  <a:pt x="74" y="92"/>
                                </a:lnTo>
                                <a:lnTo>
                                  <a:pt x="84" y="106"/>
                                </a:lnTo>
                                <a:lnTo>
                                  <a:pt x="84" y="115"/>
                                </a:lnTo>
                                <a:lnTo>
                                  <a:pt x="84" y="124"/>
                                </a:lnTo>
                                <a:lnTo>
                                  <a:pt x="78" y="119"/>
                                </a:lnTo>
                                <a:lnTo>
                                  <a:pt x="71" y="112"/>
                                </a:lnTo>
                                <a:lnTo>
                                  <a:pt x="59" y="103"/>
                                </a:lnTo>
                                <a:lnTo>
                                  <a:pt x="52" y="99"/>
                                </a:lnTo>
                                <a:lnTo>
                                  <a:pt x="41" y="103"/>
                                </a:lnTo>
                                <a:lnTo>
                                  <a:pt x="34" y="106"/>
                                </a:lnTo>
                                <a:lnTo>
                                  <a:pt x="39" y="114"/>
                                </a:lnTo>
                                <a:lnTo>
                                  <a:pt x="50" y="119"/>
                                </a:lnTo>
                                <a:lnTo>
                                  <a:pt x="60" y="125"/>
                                </a:lnTo>
                                <a:lnTo>
                                  <a:pt x="65" y="135"/>
                                </a:lnTo>
                                <a:lnTo>
                                  <a:pt x="63" y="148"/>
                                </a:lnTo>
                                <a:lnTo>
                                  <a:pt x="63" y="153"/>
                                </a:lnTo>
                                <a:lnTo>
                                  <a:pt x="59" y="153"/>
                                </a:lnTo>
                                <a:lnTo>
                                  <a:pt x="52" y="148"/>
                                </a:lnTo>
                                <a:lnTo>
                                  <a:pt x="50" y="147"/>
                                </a:lnTo>
                                <a:lnTo>
                                  <a:pt x="45" y="144"/>
                                </a:lnTo>
                                <a:lnTo>
                                  <a:pt x="41" y="151"/>
                                </a:lnTo>
                                <a:lnTo>
                                  <a:pt x="34" y="153"/>
                                </a:lnTo>
                                <a:lnTo>
                                  <a:pt x="29" y="147"/>
                                </a:lnTo>
                                <a:lnTo>
                                  <a:pt x="29" y="134"/>
                                </a:lnTo>
                                <a:lnTo>
                                  <a:pt x="28" y="127"/>
                                </a:lnTo>
                                <a:lnTo>
                                  <a:pt x="21" y="122"/>
                                </a:lnTo>
                                <a:lnTo>
                                  <a:pt x="14" y="130"/>
                                </a:lnTo>
                                <a:lnTo>
                                  <a:pt x="3" y="130"/>
                                </a:lnTo>
                                <a:lnTo>
                                  <a:pt x="0" y="124"/>
                                </a:lnTo>
                                <a:lnTo>
                                  <a:pt x="3" y="109"/>
                                </a:lnTo>
                                <a:lnTo>
                                  <a:pt x="11" y="101"/>
                                </a:lnTo>
                                <a:lnTo>
                                  <a:pt x="10" y="77"/>
                                </a:lnTo>
                                <a:lnTo>
                                  <a:pt x="10" y="71"/>
                                </a:lnTo>
                                <a:lnTo>
                                  <a:pt x="18" y="70"/>
                                </a:lnTo>
                                <a:lnTo>
                                  <a:pt x="25" y="76"/>
                                </a:lnTo>
                                <a:lnTo>
                                  <a:pt x="37" y="79"/>
                                </a:lnTo>
                                <a:lnTo>
                                  <a:pt x="37" y="69"/>
                                </a:lnTo>
                                <a:lnTo>
                                  <a:pt x="32" y="63"/>
                                </a:lnTo>
                                <a:lnTo>
                                  <a:pt x="29" y="58"/>
                                </a:lnTo>
                                <a:lnTo>
                                  <a:pt x="33" y="58"/>
                                </a:lnTo>
                                <a:lnTo>
                                  <a:pt x="36" y="58"/>
                                </a:lnTo>
                                <a:lnTo>
                                  <a:pt x="39" y="58"/>
                                </a:lnTo>
                                <a:lnTo>
                                  <a:pt x="41" y="58"/>
                                </a:lnTo>
                                <a:lnTo>
                                  <a:pt x="45" y="54"/>
                                </a:lnTo>
                                <a:lnTo>
                                  <a:pt x="44" y="50"/>
                                </a:lnTo>
                                <a:lnTo>
                                  <a:pt x="40" y="40"/>
                                </a:lnTo>
                                <a:lnTo>
                                  <a:pt x="32" y="29"/>
                                </a:lnTo>
                                <a:lnTo>
                                  <a:pt x="21" y="24"/>
                                </a:lnTo>
                                <a:lnTo>
                                  <a:pt x="17" y="15"/>
                                </a:lnTo>
                                <a:lnTo>
                                  <a:pt x="22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91" name="Freeform 15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503" y="2231"/>
                            <a:ext cx="57" cy="62"/>
                          </a:xfrm>
                          <a:custGeom>
                            <a:avLst/>
                            <a:gdLst>
                              <a:gd name="T0" fmla="*/ 0 w 116"/>
                              <a:gd name="T1" fmla="*/ 0 h 123"/>
                              <a:gd name="T2" fmla="*/ 5 w 116"/>
                              <a:gd name="T3" fmla="*/ 0 h 123"/>
                              <a:gd name="T4" fmla="*/ 8 w 116"/>
                              <a:gd name="T5" fmla="*/ 5 h 123"/>
                              <a:gd name="T6" fmla="*/ 15 w 116"/>
                              <a:gd name="T7" fmla="*/ 11 h 123"/>
                              <a:gd name="T8" fmla="*/ 18 w 116"/>
                              <a:gd name="T9" fmla="*/ 18 h 123"/>
                              <a:gd name="T10" fmla="*/ 24 w 116"/>
                              <a:gd name="T11" fmla="*/ 19 h 123"/>
                              <a:gd name="T12" fmla="*/ 28 w 116"/>
                              <a:gd name="T13" fmla="*/ 20 h 123"/>
                              <a:gd name="T14" fmla="*/ 31 w 116"/>
                              <a:gd name="T15" fmla="*/ 23 h 123"/>
                              <a:gd name="T16" fmla="*/ 35 w 116"/>
                              <a:gd name="T17" fmla="*/ 23 h 123"/>
                              <a:gd name="T18" fmla="*/ 40 w 116"/>
                              <a:gd name="T19" fmla="*/ 28 h 123"/>
                              <a:gd name="T20" fmla="*/ 44 w 116"/>
                              <a:gd name="T21" fmla="*/ 31 h 123"/>
                              <a:gd name="T22" fmla="*/ 49 w 116"/>
                              <a:gd name="T23" fmla="*/ 34 h 123"/>
                              <a:gd name="T24" fmla="*/ 48 w 116"/>
                              <a:gd name="T25" fmla="*/ 36 h 123"/>
                              <a:gd name="T26" fmla="*/ 45 w 116"/>
                              <a:gd name="T27" fmla="*/ 37 h 123"/>
                              <a:gd name="T28" fmla="*/ 43 w 116"/>
                              <a:gd name="T29" fmla="*/ 37 h 123"/>
                              <a:gd name="T30" fmla="*/ 41 w 116"/>
                              <a:gd name="T31" fmla="*/ 39 h 123"/>
                              <a:gd name="T32" fmla="*/ 47 w 116"/>
                              <a:gd name="T33" fmla="*/ 44 h 123"/>
                              <a:gd name="T34" fmla="*/ 51 w 116"/>
                              <a:gd name="T35" fmla="*/ 48 h 123"/>
                              <a:gd name="T36" fmla="*/ 57 w 116"/>
                              <a:gd name="T37" fmla="*/ 52 h 123"/>
                              <a:gd name="T38" fmla="*/ 53 w 116"/>
                              <a:gd name="T39" fmla="*/ 58 h 123"/>
                              <a:gd name="T40" fmla="*/ 50 w 116"/>
                              <a:gd name="T41" fmla="*/ 59 h 123"/>
                              <a:gd name="T42" fmla="*/ 50 w 116"/>
                              <a:gd name="T43" fmla="*/ 62 h 123"/>
                              <a:gd name="T44" fmla="*/ 44 w 116"/>
                              <a:gd name="T45" fmla="*/ 62 h 123"/>
                              <a:gd name="T46" fmla="*/ 42 w 116"/>
                              <a:gd name="T47" fmla="*/ 60 h 123"/>
                              <a:gd name="T48" fmla="*/ 37 w 116"/>
                              <a:gd name="T49" fmla="*/ 54 h 123"/>
                              <a:gd name="T50" fmla="*/ 34 w 116"/>
                              <a:gd name="T51" fmla="*/ 49 h 123"/>
                              <a:gd name="T52" fmla="*/ 29 w 116"/>
                              <a:gd name="T53" fmla="*/ 40 h 123"/>
                              <a:gd name="T54" fmla="*/ 23 w 116"/>
                              <a:gd name="T55" fmla="*/ 34 h 123"/>
                              <a:gd name="T56" fmla="*/ 16 w 116"/>
                              <a:gd name="T57" fmla="*/ 24 h 123"/>
                              <a:gd name="T58" fmla="*/ 12 w 116"/>
                              <a:gd name="T59" fmla="*/ 21 h 123"/>
                              <a:gd name="T60" fmla="*/ 8 w 116"/>
                              <a:gd name="T61" fmla="*/ 19 h 123"/>
                              <a:gd name="T62" fmla="*/ 7 w 116"/>
                              <a:gd name="T63" fmla="*/ 14 h 123"/>
                              <a:gd name="T64" fmla="*/ 1 w 116"/>
                              <a:gd name="T65" fmla="*/ 10 h 123"/>
                              <a:gd name="T66" fmla="*/ 1 w 116"/>
                              <a:gd name="T67" fmla="*/ 7 h 123"/>
                              <a:gd name="T68" fmla="*/ 0 w 116"/>
                              <a:gd name="T69" fmla="*/ 0 h 123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w 116"/>
                              <a:gd name="T106" fmla="*/ 0 h 123"/>
                              <a:gd name="T107" fmla="*/ 116 w 116"/>
                              <a:gd name="T108" fmla="*/ 123 h 123"/>
                            </a:gdLst>
                            <a:ahLst/>
                            <a:cxnLst>
                              <a:cxn ang="T70">
                                <a:pos x="T0" y="T1"/>
                              </a:cxn>
                              <a:cxn ang="T71">
                                <a:pos x="T2" y="T3"/>
                              </a:cxn>
                              <a:cxn ang="T72">
                                <a:pos x="T4" y="T5"/>
                              </a:cxn>
                              <a:cxn ang="T73">
                                <a:pos x="T6" y="T7"/>
                              </a:cxn>
                              <a:cxn ang="T74">
                                <a:pos x="T8" y="T9"/>
                              </a:cxn>
                              <a:cxn ang="T75">
                                <a:pos x="T10" y="T11"/>
                              </a:cxn>
                              <a:cxn ang="T76">
                                <a:pos x="T12" y="T13"/>
                              </a:cxn>
                              <a:cxn ang="T77">
                                <a:pos x="T14" y="T15"/>
                              </a:cxn>
                              <a:cxn ang="T78">
                                <a:pos x="T16" y="T17"/>
                              </a:cxn>
                              <a:cxn ang="T79">
                                <a:pos x="T18" y="T19"/>
                              </a:cxn>
                              <a:cxn ang="T80">
                                <a:pos x="T20" y="T21"/>
                              </a:cxn>
                              <a:cxn ang="T81">
                                <a:pos x="T22" y="T23"/>
                              </a:cxn>
                              <a:cxn ang="T82">
                                <a:pos x="T24" y="T25"/>
                              </a:cxn>
                              <a:cxn ang="T83">
                                <a:pos x="T26" y="T27"/>
                              </a:cxn>
                              <a:cxn ang="T84">
                                <a:pos x="T28" y="T29"/>
                              </a:cxn>
                              <a:cxn ang="T85">
                                <a:pos x="T30" y="T31"/>
                              </a:cxn>
                              <a:cxn ang="T86">
                                <a:pos x="T32" y="T33"/>
                              </a:cxn>
                              <a:cxn ang="T87">
                                <a:pos x="T34" y="T35"/>
                              </a:cxn>
                              <a:cxn ang="T88">
                                <a:pos x="T36" y="T37"/>
                              </a:cxn>
                              <a:cxn ang="T89">
                                <a:pos x="T38" y="T39"/>
                              </a:cxn>
                              <a:cxn ang="T90">
                                <a:pos x="T40" y="T41"/>
                              </a:cxn>
                              <a:cxn ang="T91">
                                <a:pos x="T42" y="T43"/>
                              </a:cxn>
                              <a:cxn ang="T92">
                                <a:pos x="T44" y="T45"/>
                              </a:cxn>
                              <a:cxn ang="T93">
                                <a:pos x="T46" y="T47"/>
                              </a:cxn>
                              <a:cxn ang="T94">
                                <a:pos x="T48" y="T49"/>
                              </a:cxn>
                              <a:cxn ang="T95">
                                <a:pos x="T50" y="T51"/>
                              </a:cxn>
                              <a:cxn ang="T96">
                                <a:pos x="T52" y="T53"/>
                              </a:cxn>
                              <a:cxn ang="T97">
                                <a:pos x="T54" y="T55"/>
                              </a:cxn>
                              <a:cxn ang="T98">
                                <a:pos x="T56" y="T57"/>
                              </a:cxn>
                              <a:cxn ang="T99">
                                <a:pos x="T58" y="T59"/>
                              </a:cxn>
                              <a:cxn ang="T100">
                                <a:pos x="T60" y="T61"/>
                              </a:cxn>
                              <a:cxn ang="T101">
                                <a:pos x="T62" y="T63"/>
                              </a:cxn>
                              <a:cxn ang="T102">
                                <a:pos x="T64" y="T65"/>
                              </a:cxn>
                              <a:cxn ang="T103">
                                <a:pos x="T66" y="T67"/>
                              </a:cxn>
                              <a:cxn ang="T104">
                                <a:pos x="T68" y="T69"/>
                              </a:cxn>
                            </a:cxnLst>
                            <a:rect l="T105" t="T106" r="T107" b="T108"/>
                            <a:pathLst>
                              <a:path w="116" h="123">
                                <a:moveTo>
                                  <a:pt x="0" y="0"/>
                                </a:moveTo>
                                <a:lnTo>
                                  <a:pt x="11" y="0"/>
                                </a:lnTo>
                                <a:lnTo>
                                  <a:pt x="16" y="9"/>
                                </a:lnTo>
                                <a:lnTo>
                                  <a:pt x="31" y="22"/>
                                </a:lnTo>
                                <a:lnTo>
                                  <a:pt x="37" y="36"/>
                                </a:lnTo>
                                <a:lnTo>
                                  <a:pt x="48" y="38"/>
                                </a:lnTo>
                                <a:lnTo>
                                  <a:pt x="57" y="40"/>
                                </a:lnTo>
                                <a:lnTo>
                                  <a:pt x="64" y="46"/>
                                </a:lnTo>
                                <a:lnTo>
                                  <a:pt x="72" y="46"/>
                                </a:lnTo>
                                <a:lnTo>
                                  <a:pt x="81" y="55"/>
                                </a:lnTo>
                                <a:lnTo>
                                  <a:pt x="90" y="62"/>
                                </a:lnTo>
                                <a:lnTo>
                                  <a:pt x="99" y="67"/>
                                </a:lnTo>
                                <a:lnTo>
                                  <a:pt x="98" y="71"/>
                                </a:lnTo>
                                <a:lnTo>
                                  <a:pt x="92" y="74"/>
                                </a:lnTo>
                                <a:lnTo>
                                  <a:pt x="87" y="74"/>
                                </a:lnTo>
                                <a:lnTo>
                                  <a:pt x="84" y="78"/>
                                </a:lnTo>
                                <a:lnTo>
                                  <a:pt x="95" y="87"/>
                                </a:lnTo>
                                <a:lnTo>
                                  <a:pt x="103" y="96"/>
                                </a:lnTo>
                                <a:lnTo>
                                  <a:pt x="116" y="104"/>
                                </a:lnTo>
                                <a:lnTo>
                                  <a:pt x="107" y="115"/>
                                </a:lnTo>
                                <a:lnTo>
                                  <a:pt x="101" y="117"/>
                                </a:lnTo>
                                <a:lnTo>
                                  <a:pt x="102" y="123"/>
                                </a:lnTo>
                                <a:lnTo>
                                  <a:pt x="90" y="123"/>
                                </a:lnTo>
                                <a:lnTo>
                                  <a:pt x="85" y="119"/>
                                </a:lnTo>
                                <a:lnTo>
                                  <a:pt x="76" y="107"/>
                                </a:lnTo>
                                <a:lnTo>
                                  <a:pt x="69" y="97"/>
                                </a:lnTo>
                                <a:lnTo>
                                  <a:pt x="58" y="80"/>
                                </a:lnTo>
                                <a:lnTo>
                                  <a:pt x="46" y="67"/>
                                </a:lnTo>
                                <a:lnTo>
                                  <a:pt x="32" y="48"/>
                                </a:lnTo>
                                <a:lnTo>
                                  <a:pt x="24" y="42"/>
                                </a:lnTo>
                                <a:lnTo>
                                  <a:pt x="17" y="38"/>
                                </a:lnTo>
                                <a:lnTo>
                                  <a:pt x="14" y="27"/>
                                </a:lnTo>
                                <a:lnTo>
                                  <a:pt x="2" y="19"/>
                                </a:lnTo>
                                <a:lnTo>
                                  <a:pt x="2" y="13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  <p:grpSp>
                      <p:nvGrpSpPr>
                        <p:cNvPr id="62672" name="Group 15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748" y="2104"/>
                          <a:ext cx="843" cy="1024"/>
                          <a:chOff x="2748" y="2104"/>
                          <a:chExt cx="843" cy="1024"/>
                        </a:xfrm>
                      </p:grpSpPr>
                      <p:sp>
                        <p:nvSpPr>
                          <p:cNvPr id="62673" name="Freeform 156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748" y="2358"/>
                            <a:ext cx="419" cy="469"/>
                          </a:xfrm>
                          <a:custGeom>
                            <a:avLst/>
                            <a:gdLst>
                              <a:gd name="T0" fmla="*/ 320 w 838"/>
                              <a:gd name="T1" fmla="*/ 76 h 938"/>
                              <a:gd name="T2" fmla="*/ 359 w 838"/>
                              <a:gd name="T3" fmla="*/ 153 h 938"/>
                              <a:gd name="T4" fmla="*/ 375 w 838"/>
                              <a:gd name="T5" fmla="*/ 174 h 938"/>
                              <a:gd name="T6" fmla="*/ 409 w 838"/>
                              <a:gd name="T7" fmla="*/ 169 h 938"/>
                              <a:gd name="T8" fmla="*/ 418 w 838"/>
                              <a:gd name="T9" fmla="*/ 188 h 938"/>
                              <a:gd name="T10" fmla="*/ 377 w 838"/>
                              <a:gd name="T11" fmla="*/ 239 h 938"/>
                              <a:gd name="T12" fmla="*/ 344 w 838"/>
                              <a:gd name="T13" fmla="*/ 300 h 938"/>
                              <a:gd name="T14" fmla="*/ 348 w 838"/>
                              <a:gd name="T15" fmla="*/ 322 h 938"/>
                              <a:gd name="T16" fmla="*/ 348 w 838"/>
                              <a:gd name="T17" fmla="*/ 344 h 938"/>
                              <a:gd name="T18" fmla="*/ 333 w 838"/>
                              <a:gd name="T19" fmla="*/ 352 h 938"/>
                              <a:gd name="T20" fmla="*/ 311 w 838"/>
                              <a:gd name="T21" fmla="*/ 382 h 938"/>
                              <a:gd name="T22" fmla="*/ 303 w 838"/>
                              <a:gd name="T23" fmla="*/ 408 h 938"/>
                              <a:gd name="T24" fmla="*/ 282 w 838"/>
                              <a:gd name="T25" fmla="*/ 442 h 938"/>
                              <a:gd name="T26" fmla="*/ 270 w 838"/>
                              <a:gd name="T27" fmla="*/ 450 h 938"/>
                              <a:gd name="T28" fmla="*/ 244 w 838"/>
                              <a:gd name="T29" fmla="*/ 468 h 938"/>
                              <a:gd name="T30" fmla="*/ 213 w 838"/>
                              <a:gd name="T31" fmla="*/ 462 h 938"/>
                              <a:gd name="T32" fmla="*/ 210 w 838"/>
                              <a:gd name="T33" fmla="*/ 445 h 938"/>
                              <a:gd name="T34" fmla="*/ 197 w 838"/>
                              <a:gd name="T35" fmla="*/ 422 h 938"/>
                              <a:gd name="T36" fmla="*/ 194 w 838"/>
                              <a:gd name="T37" fmla="*/ 402 h 938"/>
                              <a:gd name="T38" fmla="*/ 190 w 838"/>
                              <a:gd name="T39" fmla="*/ 389 h 938"/>
                              <a:gd name="T40" fmla="*/ 177 w 838"/>
                              <a:gd name="T41" fmla="*/ 375 h 938"/>
                              <a:gd name="T42" fmla="*/ 169 w 838"/>
                              <a:gd name="T43" fmla="*/ 356 h 938"/>
                              <a:gd name="T44" fmla="*/ 180 w 838"/>
                              <a:gd name="T45" fmla="*/ 323 h 938"/>
                              <a:gd name="T46" fmla="*/ 175 w 838"/>
                              <a:gd name="T47" fmla="*/ 278 h 938"/>
                              <a:gd name="T48" fmla="*/ 156 w 838"/>
                              <a:gd name="T49" fmla="*/ 255 h 938"/>
                              <a:gd name="T50" fmla="*/ 154 w 838"/>
                              <a:gd name="T51" fmla="*/ 220 h 938"/>
                              <a:gd name="T52" fmla="*/ 126 w 838"/>
                              <a:gd name="T53" fmla="*/ 207 h 938"/>
                              <a:gd name="T54" fmla="*/ 92 w 838"/>
                              <a:gd name="T55" fmla="*/ 211 h 938"/>
                              <a:gd name="T56" fmla="*/ 20 w 838"/>
                              <a:gd name="T57" fmla="*/ 182 h 938"/>
                              <a:gd name="T58" fmla="*/ 3 w 838"/>
                              <a:gd name="T59" fmla="*/ 136 h 938"/>
                              <a:gd name="T60" fmla="*/ 17 w 838"/>
                              <a:gd name="T61" fmla="*/ 103 h 938"/>
                              <a:gd name="T62" fmla="*/ 41 w 838"/>
                              <a:gd name="T63" fmla="*/ 68 h 938"/>
                              <a:gd name="T64" fmla="*/ 76 w 838"/>
                              <a:gd name="T65" fmla="*/ 41 h 938"/>
                              <a:gd name="T66" fmla="*/ 103 w 838"/>
                              <a:gd name="T67" fmla="*/ 13 h 938"/>
                              <a:gd name="T68" fmla="*/ 127 w 838"/>
                              <a:gd name="T69" fmla="*/ 20 h 938"/>
                              <a:gd name="T70" fmla="*/ 154 w 838"/>
                              <a:gd name="T71" fmla="*/ 7 h 938"/>
                              <a:gd name="T72" fmla="*/ 173 w 838"/>
                              <a:gd name="T73" fmla="*/ 2 h 938"/>
                              <a:gd name="T74" fmla="*/ 187 w 838"/>
                              <a:gd name="T75" fmla="*/ 16 h 938"/>
                              <a:gd name="T76" fmla="*/ 216 w 838"/>
                              <a:gd name="T77" fmla="*/ 39 h 938"/>
                              <a:gd name="T78" fmla="*/ 235 w 838"/>
                              <a:gd name="T79" fmla="*/ 29 h 938"/>
                              <a:gd name="T80" fmla="*/ 266 w 838"/>
                              <a:gd name="T81" fmla="*/ 37 h 938"/>
                              <a:gd name="T82" fmla="*/ 300 w 838"/>
                              <a:gd name="T83" fmla="*/ 36 h 938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w 838"/>
                              <a:gd name="T127" fmla="*/ 0 h 938"/>
                              <a:gd name="T128" fmla="*/ 838 w 838"/>
                              <a:gd name="T129" fmla="*/ 938 h 938"/>
                            </a:gdLst>
                            <a:ahLst/>
                            <a:cxnLst>
                              <a:cxn ang="T84">
                                <a:pos x="T0" y="T1"/>
                              </a:cxn>
                              <a:cxn ang="T85">
                                <a:pos x="T2" y="T3"/>
                              </a:cxn>
                              <a:cxn ang="T86">
                                <a:pos x="T4" y="T5"/>
                              </a:cxn>
                              <a:cxn ang="T87">
                                <a:pos x="T6" y="T7"/>
                              </a:cxn>
                              <a:cxn ang="T88">
                                <a:pos x="T8" y="T9"/>
                              </a:cxn>
                              <a:cxn ang="T89">
                                <a:pos x="T10" y="T11"/>
                              </a:cxn>
                              <a:cxn ang="T90">
                                <a:pos x="T12" y="T13"/>
                              </a:cxn>
                              <a:cxn ang="T91">
                                <a:pos x="T14" y="T15"/>
                              </a:cxn>
                              <a:cxn ang="T92">
                                <a:pos x="T16" y="T17"/>
                              </a:cxn>
                              <a:cxn ang="T93">
                                <a:pos x="T18" y="T19"/>
                              </a:cxn>
                              <a:cxn ang="T94">
                                <a:pos x="T20" y="T21"/>
                              </a:cxn>
                              <a:cxn ang="T95">
                                <a:pos x="T22" y="T23"/>
                              </a:cxn>
                              <a:cxn ang="T96">
                                <a:pos x="T24" y="T25"/>
                              </a:cxn>
                              <a:cxn ang="T97">
                                <a:pos x="T26" y="T27"/>
                              </a:cxn>
                              <a:cxn ang="T98">
                                <a:pos x="T28" y="T29"/>
                              </a:cxn>
                              <a:cxn ang="T99">
                                <a:pos x="T30" y="T31"/>
                              </a:cxn>
                              <a:cxn ang="T100">
                                <a:pos x="T32" y="T33"/>
                              </a:cxn>
                              <a:cxn ang="T101">
                                <a:pos x="T34" y="T35"/>
                              </a:cxn>
                              <a:cxn ang="T102">
                                <a:pos x="T36" y="T37"/>
                              </a:cxn>
                              <a:cxn ang="T103">
                                <a:pos x="T38" y="T39"/>
                              </a:cxn>
                              <a:cxn ang="T104">
                                <a:pos x="T40" y="T41"/>
                              </a:cxn>
                              <a:cxn ang="T105">
                                <a:pos x="T42" y="T43"/>
                              </a:cxn>
                              <a:cxn ang="T106">
                                <a:pos x="T44" y="T45"/>
                              </a:cxn>
                              <a:cxn ang="T107">
                                <a:pos x="T46" y="T47"/>
                              </a:cxn>
                              <a:cxn ang="T108">
                                <a:pos x="T48" y="T49"/>
                              </a:cxn>
                              <a:cxn ang="T109">
                                <a:pos x="T50" y="T51"/>
                              </a:cxn>
                              <a:cxn ang="T110">
                                <a:pos x="T52" y="T53"/>
                              </a:cxn>
                              <a:cxn ang="T111">
                                <a:pos x="T54" y="T55"/>
                              </a:cxn>
                              <a:cxn ang="T112">
                                <a:pos x="T56" y="T57"/>
                              </a:cxn>
                              <a:cxn ang="T113">
                                <a:pos x="T58" y="T59"/>
                              </a:cxn>
                              <a:cxn ang="T114">
                                <a:pos x="T60" y="T61"/>
                              </a:cxn>
                              <a:cxn ang="T115">
                                <a:pos x="T62" y="T63"/>
                              </a:cxn>
                              <a:cxn ang="T116">
                                <a:pos x="T64" y="T65"/>
                              </a:cxn>
                              <a:cxn ang="T117">
                                <a:pos x="T66" y="T67"/>
                              </a:cxn>
                              <a:cxn ang="T118">
                                <a:pos x="T68" y="T69"/>
                              </a:cxn>
                              <a:cxn ang="T119">
                                <a:pos x="T70" y="T71"/>
                              </a:cxn>
                              <a:cxn ang="T120">
                                <a:pos x="T72" y="T73"/>
                              </a:cxn>
                              <a:cxn ang="T121">
                                <a:pos x="T74" y="T75"/>
                              </a:cxn>
                              <a:cxn ang="T122">
                                <a:pos x="T76" y="T77"/>
                              </a:cxn>
                              <a:cxn ang="T123">
                                <a:pos x="T78" y="T79"/>
                              </a:cxn>
                              <a:cxn ang="T124">
                                <a:pos x="T80" y="T81"/>
                              </a:cxn>
                              <a:cxn ang="T125">
                                <a:pos x="T82" y="T83"/>
                              </a:cxn>
                            </a:cxnLst>
                            <a:rect l="T126" t="T127" r="T128" b="T129"/>
                            <a:pathLst>
                              <a:path w="838" h="938">
                                <a:moveTo>
                                  <a:pt x="626" y="112"/>
                                </a:moveTo>
                                <a:lnTo>
                                  <a:pt x="640" y="151"/>
                                </a:lnTo>
                                <a:lnTo>
                                  <a:pt x="666" y="210"/>
                                </a:lnTo>
                                <a:lnTo>
                                  <a:pt x="718" y="306"/>
                                </a:lnTo>
                                <a:lnTo>
                                  <a:pt x="737" y="319"/>
                                </a:lnTo>
                                <a:lnTo>
                                  <a:pt x="750" y="347"/>
                                </a:lnTo>
                                <a:lnTo>
                                  <a:pt x="791" y="346"/>
                                </a:lnTo>
                                <a:lnTo>
                                  <a:pt x="818" y="337"/>
                                </a:lnTo>
                                <a:lnTo>
                                  <a:pt x="838" y="337"/>
                                </a:lnTo>
                                <a:lnTo>
                                  <a:pt x="836" y="375"/>
                                </a:lnTo>
                                <a:lnTo>
                                  <a:pt x="829" y="395"/>
                                </a:lnTo>
                                <a:lnTo>
                                  <a:pt x="754" y="479"/>
                                </a:lnTo>
                                <a:lnTo>
                                  <a:pt x="685" y="566"/>
                                </a:lnTo>
                                <a:lnTo>
                                  <a:pt x="687" y="600"/>
                                </a:lnTo>
                                <a:lnTo>
                                  <a:pt x="706" y="624"/>
                                </a:lnTo>
                                <a:lnTo>
                                  <a:pt x="696" y="643"/>
                                </a:lnTo>
                                <a:lnTo>
                                  <a:pt x="702" y="669"/>
                                </a:lnTo>
                                <a:lnTo>
                                  <a:pt x="696" y="688"/>
                                </a:lnTo>
                                <a:lnTo>
                                  <a:pt x="680" y="704"/>
                                </a:lnTo>
                                <a:lnTo>
                                  <a:pt x="666" y="704"/>
                                </a:lnTo>
                                <a:lnTo>
                                  <a:pt x="643" y="732"/>
                                </a:lnTo>
                                <a:lnTo>
                                  <a:pt x="622" y="764"/>
                                </a:lnTo>
                                <a:lnTo>
                                  <a:pt x="626" y="799"/>
                                </a:lnTo>
                                <a:lnTo>
                                  <a:pt x="606" y="815"/>
                                </a:lnTo>
                                <a:lnTo>
                                  <a:pt x="587" y="851"/>
                                </a:lnTo>
                                <a:lnTo>
                                  <a:pt x="563" y="884"/>
                                </a:lnTo>
                                <a:lnTo>
                                  <a:pt x="551" y="897"/>
                                </a:lnTo>
                                <a:lnTo>
                                  <a:pt x="540" y="900"/>
                                </a:lnTo>
                                <a:lnTo>
                                  <a:pt x="521" y="922"/>
                                </a:lnTo>
                                <a:lnTo>
                                  <a:pt x="489" y="935"/>
                                </a:lnTo>
                                <a:lnTo>
                                  <a:pt x="449" y="938"/>
                                </a:lnTo>
                                <a:lnTo>
                                  <a:pt x="427" y="923"/>
                                </a:lnTo>
                                <a:lnTo>
                                  <a:pt x="425" y="909"/>
                                </a:lnTo>
                                <a:lnTo>
                                  <a:pt x="421" y="890"/>
                                </a:lnTo>
                                <a:lnTo>
                                  <a:pt x="406" y="880"/>
                                </a:lnTo>
                                <a:lnTo>
                                  <a:pt x="393" y="844"/>
                                </a:lnTo>
                                <a:lnTo>
                                  <a:pt x="389" y="826"/>
                                </a:lnTo>
                                <a:lnTo>
                                  <a:pt x="388" y="804"/>
                                </a:lnTo>
                                <a:lnTo>
                                  <a:pt x="381" y="788"/>
                                </a:lnTo>
                                <a:lnTo>
                                  <a:pt x="379" y="778"/>
                                </a:lnTo>
                                <a:lnTo>
                                  <a:pt x="367" y="762"/>
                                </a:lnTo>
                                <a:lnTo>
                                  <a:pt x="353" y="749"/>
                                </a:lnTo>
                                <a:lnTo>
                                  <a:pt x="344" y="727"/>
                                </a:lnTo>
                                <a:lnTo>
                                  <a:pt x="337" y="711"/>
                                </a:lnTo>
                                <a:lnTo>
                                  <a:pt x="340" y="685"/>
                                </a:lnTo>
                                <a:lnTo>
                                  <a:pt x="360" y="646"/>
                                </a:lnTo>
                                <a:lnTo>
                                  <a:pt x="364" y="604"/>
                                </a:lnTo>
                                <a:lnTo>
                                  <a:pt x="349" y="556"/>
                                </a:lnTo>
                                <a:lnTo>
                                  <a:pt x="327" y="537"/>
                                </a:lnTo>
                                <a:lnTo>
                                  <a:pt x="312" y="511"/>
                                </a:lnTo>
                                <a:lnTo>
                                  <a:pt x="318" y="470"/>
                                </a:lnTo>
                                <a:lnTo>
                                  <a:pt x="307" y="440"/>
                                </a:lnTo>
                                <a:lnTo>
                                  <a:pt x="281" y="437"/>
                                </a:lnTo>
                                <a:lnTo>
                                  <a:pt x="253" y="414"/>
                                </a:lnTo>
                                <a:lnTo>
                                  <a:pt x="219" y="401"/>
                                </a:lnTo>
                                <a:lnTo>
                                  <a:pt x="183" y="421"/>
                                </a:lnTo>
                                <a:lnTo>
                                  <a:pt x="90" y="415"/>
                                </a:lnTo>
                                <a:lnTo>
                                  <a:pt x="39" y="364"/>
                                </a:lnTo>
                                <a:lnTo>
                                  <a:pt x="0" y="295"/>
                                </a:lnTo>
                                <a:lnTo>
                                  <a:pt x="7" y="271"/>
                                </a:lnTo>
                                <a:lnTo>
                                  <a:pt x="24" y="254"/>
                                </a:lnTo>
                                <a:lnTo>
                                  <a:pt x="33" y="206"/>
                                </a:lnTo>
                                <a:lnTo>
                                  <a:pt x="45" y="171"/>
                                </a:lnTo>
                                <a:lnTo>
                                  <a:pt x="81" y="135"/>
                                </a:lnTo>
                                <a:lnTo>
                                  <a:pt x="118" y="119"/>
                                </a:lnTo>
                                <a:lnTo>
                                  <a:pt x="152" y="81"/>
                                </a:lnTo>
                                <a:lnTo>
                                  <a:pt x="160" y="65"/>
                                </a:lnTo>
                                <a:lnTo>
                                  <a:pt x="205" y="25"/>
                                </a:lnTo>
                                <a:lnTo>
                                  <a:pt x="234" y="41"/>
                                </a:lnTo>
                                <a:lnTo>
                                  <a:pt x="255" y="39"/>
                                </a:lnTo>
                                <a:lnTo>
                                  <a:pt x="279" y="17"/>
                                </a:lnTo>
                                <a:lnTo>
                                  <a:pt x="308" y="14"/>
                                </a:lnTo>
                                <a:lnTo>
                                  <a:pt x="327" y="20"/>
                                </a:lnTo>
                                <a:lnTo>
                                  <a:pt x="345" y="3"/>
                                </a:lnTo>
                                <a:lnTo>
                                  <a:pt x="369" y="0"/>
                                </a:lnTo>
                                <a:lnTo>
                                  <a:pt x="374" y="32"/>
                                </a:lnTo>
                                <a:lnTo>
                                  <a:pt x="389" y="55"/>
                                </a:lnTo>
                                <a:lnTo>
                                  <a:pt x="432" y="78"/>
                                </a:lnTo>
                                <a:lnTo>
                                  <a:pt x="467" y="83"/>
                                </a:lnTo>
                                <a:lnTo>
                                  <a:pt x="471" y="57"/>
                                </a:lnTo>
                                <a:lnTo>
                                  <a:pt x="499" y="57"/>
                                </a:lnTo>
                                <a:lnTo>
                                  <a:pt x="532" y="73"/>
                                </a:lnTo>
                                <a:lnTo>
                                  <a:pt x="567" y="81"/>
                                </a:lnTo>
                                <a:lnTo>
                                  <a:pt x="599" y="71"/>
                                </a:lnTo>
                                <a:lnTo>
                                  <a:pt x="626" y="11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grpSp>
                        <p:nvGrpSpPr>
                          <p:cNvPr id="62674" name="Group 157"/>
                          <p:cNvGrpSpPr>
                            <a:grpSpLocks/>
                          </p:cNvGrpSpPr>
                          <p:nvPr/>
                        </p:nvGrpSpPr>
                        <p:grpSpPr bwMode="auto">
                          <a:xfrm>
                            <a:off x="2776" y="2104"/>
                            <a:ext cx="185" cy="161"/>
                            <a:chOff x="2776" y="2104"/>
                            <a:chExt cx="185" cy="161"/>
                          </a:xfrm>
                        </p:grpSpPr>
                        <p:grpSp>
                          <p:nvGrpSpPr>
                            <p:cNvPr id="62678" name="Group 158"/>
                            <p:cNvGrpSpPr>
                              <a:grpSpLocks/>
                            </p:cNvGrpSpPr>
                            <p:nvPr/>
                          </p:nvGrpSpPr>
                          <p:grpSpPr bwMode="auto">
                            <a:xfrm>
                              <a:off x="2850" y="2205"/>
                              <a:ext cx="57" cy="60"/>
                              <a:chOff x="2850" y="2205"/>
                              <a:chExt cx="57" cy="60"/>
                            </a:xfrm>
                          </p:grpSpPr>
                          <p:sp>
                            <p:nvSpPr>
                              <p:cNvPr id="62680" name="Freeform 159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50" y="2227"/>
                                <a:ext cx="27" cy="34"/>
                              </a:xfrm>
                              <a:custGeom>
                                <a:avLst/>
                                <a:gdLst>
                                  <a:gd name="T0" fmla="*/ 6 w 53"/>
                                  <a:gd name="T1" fmla="*/ 10 h 66"/>
                                  <a:gd name="T2" fmla="*/ 8 w 53"/>
                                  <a:gd name="T3" fmla="*/ 7 h 66"/>
                                  <a:gd name="T4" fmla="*/ 13 w 53"/>
                                  <a:gd name="T5" fmla="*/ 7 h 66"/>
                                  <a:gd name="T6" fmla="*/ 20 w 53"/>
                                  <a:gd name="T7" fmla="*/ 0 h 66"/>
                                  <a:gd name="T8" fmla="*/ 22 w 53"/>
                                  <a:gd name="T9" fmla="*/ 4 h 66"/>
                                  <a:gd name="T10" fmla="*/ 26 w 53"/>
                                  <a:gd name="T11" fmla="*/ 4 h 66"/>
                                  <a:gd name="T12" fmla="*/ 27 w 53"/>
                                  <a:gd name="T13" fmla="*/ 7 h 66"/>
                                  <a:gd name="T14" fmla="*/ 25 w 53"/>
                                  <a:gd name="T15" fmla="*/ 10 h 66"/>
                                  <a:gd name="T16" fmla="*/ 22 w 53"/>
                                  <a:gd name="T17" fmla="*/ 12 h 66"/>
                                  <a:gd name="T18" fmla="*/ 22 w 53"/>
                                  <a:gd name="T19" fmla="*/ 15 h 66"/>
                                  <a:gd name="T20" fmla="*/ 21 w 53"/>
                                  <a:gd name="T21" fmla="*/ 16 h 66"/>
                                  <a:gd name="T22" fmla="*/ 21 w 53"/>
                                  <a:gd name="T23" fmla="*/ 19 h 66"/>
                                  <a:gd name="T24" fmla="*/ 22 w 53"/>
                                  <a:gd name="T25" fmla="*/ 22 h 66"/>
                                  <a:gd name="T26" fmla="*/ 20 w 53"/>
                                  <a:gd name="T27" fmla="*/ 24 h 66"/>
                                  <a:gd name="T28" fmla="*/ 18 w 53"/>
                                  <a:gd name="T29" fmla="*/ 26 h 66"/>
                                  <a:gd name="T30" fmla="*/ 16 w 53"/>
                                  <a:gd name="T31" fmla="*/ 26 h 66"/>
                                  <a:gd name="T32" fmla="*/ 15 w 53"/>
                                  <a:gd name="T33" fmla="*/ 27 h 66"/>
                                  <a:gd name="T34" fmla="*/ 15 w 53"/>
                                  <a:gd name="T35" fmla="*/ 29 h 66"/>
                                  <a:gd name="T36" fmla="*/ 11 w 53"/>
                                  <a:gd name="T37" fmla="*/ 30 h 66"/>
                                  <a:gd name="T38" fmla="*/ 11 w 53"/>
                                  <a:gd name="T39" fmla="*/ 29 h 66"/>
                                  <a:gd name="T40" fmla="*/ 8 w 53"/>
                                  <a:gd name="T41" fmla="*/ 31 h 66"/>
                                  <a:gd name="T42" fmla="*/ 7 w 53"/>
                                  <a:gd name="T43" fmla="*/ 32 h 66"/>
                                  <a:gd name="T44" fmla="*/ 4 w 53"/>
                                  <a:gd name="T45" fmla="*/ 34 h 66"/>
                                  <a:gd name="T46" fmla="*/ 2 w 53"/>
                                  <a:gd name="T47" fmla="*/ 34 h 66"/>
                                  <a:gd name="T48" fmla="*/ 2 w 53"/>
                                  <a:gd name="T49" fmla="*/ 32 h 66"/>
                                  <a:gd name="T50" fmla="*/ 1 w 53"/>
                                  <a:gd name="T51" fmla="*/ 29 h 66"/>
                                  <a:gd name="T52" fmla="*/ 0 w 53"/>
                                  <a:gd name="T53" fmla="*/ 28 h 66"/>
                                  <a:gd name="T54" fmla="*/ 0 w 53"/>
                                  <a:gd name="T55" fmla="*/ 25 h 66"/>
                                  <a:gd name="T56" fmla="*/ 2 w 53"/>
                                  <a:gd name="T57" fmla="*/ 24 h 66"/>
                                  <a:gd name="T58" fmla="*/ 4 w 53"/>
                                  <a:gd name="T59" fmla="*/ 22 h 66"/>
                                  <a:gd name="T60" fmla="*/ 6 w 53"/>
                                  <a:gd name="T61" fmla="*/ 19 h 66"/>
                                  <a:gd name="T62" fmla="*/ 8 w 53"/>
                                  <a:gd name="T63" fmla="*/ 19 h 66"/>
                                  <a:gd name="T64" fmla="*/ 9 w 53"/>
                                  <a:gd name="T65" fmla="*/ 20 h 66"/>
                                  <a:gd name="T66" fmla="*/ 11 w 53"/>
                                  <a:gd name="T67" fmla="*/ 19 h 66"/>
                                  <a:gd name="T68" fmla="*/ 9 w 53"/>
                                  <a:gd name="T69" fmla="*/ 19 h 66"/>
                                  <a:gd name="T70" fmla="*/ 6 w 53"/>
                                  <a:gd name="T71" fmla="*/ 10 h 66"/>
                                  <a:gd name="T72" fmla="*/ 0 60000 65536"/>
                                  <a:gd name="T73" fmla="*/ 0 60000 65536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w 53"/>
                                  <a:gd name="T109" fmla="*/ 0 h 66"/>
                                  <a:gd name="T110" fmla="*/ 53 w 53"/>
                                  <a:gd name="T111" fmla="*/ 66 h 66"/>
                                </a:gdLst>
                                <a:ahLst/>
                                <a:cxnLst>
                                  <a:cxn ang="T72">
                                    <a:pos x="T0" y="T1"/>
                                  </a:cxn>
                                  <a:cxn ang="T73">
                                    <a:pos x="T2" y="T3"/>
                                  </a:cxn>
                                  <a:cxn ang="T74">
                                    <a:pos x="T4" y="T5"/>
                                  </a:cxn>
                                  <a:cxn ang="T75">
                                    <a:pos x="T6" y="T7"/>
                                  </a:cxn>
                                  <a:cxn ang="T76">
                                    <a:pos x="T8" y="T9"/>
                                  </a:cxn>
                                  <a:cxn ang="T77">
                                    <a:pos x="T10" y="T11"/>
                                  </a:cxn>
                                  <a:cxn ang="T78">
                                    <a:pos x="T12" y="T13"/>
                                  </a:cxn>
                                  <a:cxn ang="T79">
                                    <a:pos x="T14" y="T15"/>
                                  </a:cxn>
                                  <a:cxn ang="T80">
                                    <a:pos x="T16" y="T17"/>
                                  </a:cxn>
                                  <a:cxn ang="T81">
                                    <a:pos x="T18" y="T19"/>
                                  </a:cxn>
                                  <a:cxn ang="T82">
                                    <a:pos x="T20" y="T21"/>
                                  </a:cxn>
                                  <a:cxn ang="T83">
                                    <a:pos x="T22" y="T23"/>
                                  </a:cxn>
                                  <a:cxn ang="T84">
                                    <a:pos x="T24" y="T25"/>
                                  </a:cxn>
                                  <a:cxn ang="T85">
                                    <a:pos x="T26" y="T27"/>
                                  </a:cxn>
                                  <a:cxn ang="T86">
                                    <a:pos x="T28" y="T29"/>
                                  </a:cxn>
                                  <a:cxn ang="T87">
                                    <a:pos x="T30" y="T31"/>
                                  </a:cxn>
                                  <a:cxn ang="T88">
                                    <a:pos x="T32" y="T33"/>
                                  </a:cxn>
                                  <a:cxn ang="T89">
                                    <a:pos x="T34" y="T35"/>
                                  </a:cxn>
                                  <a:cxn ang="T90">
                                    <a:pos x="T36" y="T37"/>
                                  </a:cxn>
                                  <a:cxn ang="T91">
                                    <a:pos x="T38" y="T39"/>
                                  </a:cxn>
                                  <a:cxn ang="T92">
                                    <a:pos x="T40" y="T41"/>
                                  </a:cxn>
                                  <a:cxn ang="T93">
                                    <a:pos x="T42" y="T43"/>
                                  </a:cxn>
                                  <a:cxn ang="T94">
                                    <a:pos x="T44" y="T45"/>
                                  </a:cxn>
                                  <a:cxn ang="T95">
                                    <a:pos x="T46" y="T47"/>
                                  </a:cxn>
                                  <a:cxn ang="T96">
                                    <a:pos x="T48" y="T49"/>
                                  </a:cxn>
                                  <a:cxn ang="T97">
                                    <a:pos x="T50" y="T51"/>
                                  </a:cxn>
                                  <a:cxn ang="T98">
                                    <a:pos x="T52" y="T53"/>
                                  </a:cxn>
                                  <a:cxn ang="T99">
                                    <a:pos x="T54" y="T55"/>
                                  </a:cxn>
                                  <a:cxn ang="T100">
                                    <a:pos x="T56" y="T57"/>
                                  </a:cxn>
                                  <a:cxn ang="T101">
                                    <a:pos x="T58" y="T59"/>
                                  </a:cxn>
                                  <a:cxn ang="T102">
                                    <a:pos x="T60" y="T61"/>
                                  </a:cxn>
                                  <a:cxn ang="T103">
                                    <a:pos x="T62" y="T63"/>
                                  </a:cxn>
                                  <a:cxn ang="T104">
                                    <a:pos x="T64" y="T65"/>
                                  </a:cxn>
                                  <a:cxn ang="T105">
                                    <a:pos x="T66" y="T67"/>
                                  </a:cxn>
                                  <a:cxn ang="T106">
                                    <a:pos x="T68" y="T69"/>
                                  </a:cxn>
                                  <a:cxn ang="T107">
                                    <a:pos x="T70" y="T71"/>
                                  </a:cxn>
                                </a:cxnLst>
                                <a:rect l="T108" t="T109" r="T110" b="T111"/>
                                <a:pathLst>
                                  <a:path w="53" h="66">
                                    <a:moveTo>
                                      <a:pt x="12" y="20"/>
                                    </a:moveTo>
                                    <a:lnTo>
                                      <a:pt x="16" y="13"/>
                                    </a:lnTo>
                                    <a:lnTo>
                                      <a:pt x="26" y="13"/>
                                    </a:lnTo>
                                    <a:lnTo>
                                      <a:pt x="40" y="0"/>
                                    </a:lnTo>
                                    <a:lnTo>
                                      <a:pt x="44" y="8"/>
                                    </a:lnTo>
                                    <a:lnTo>
                                      <a:pt x="51" y="8"/>
                                    </a:lnTo>
                                    <a:lnTo>
                                      <a:pt x="53" y="13"/>
                                    </a:lnTo>
                                    <a:lnTo>
                                      <a:pt x="49" y="20"/>
                                    </a:lnTo>
                                    <a:lnTo>
                                      <a:pt x="44" y="23"/>
                                    </a:lnTo>
                                    <a:lnTo>
                                      <a:pt x="44" y="29"/>
                                    </a:lnTo>
                                    <a:lnTo>
                                      <a:pt x="42" y="31"/>
                                    </a:lnTo>
                                    <a:lnTo>
                                      <a:pt x="41" y="36"/>
                                    </a:lnTo>
                                    <a:lnTo>
                                      <a:pt x="44" y="42"/>
                                    </a:lnTo>
                                    <a:lnTo>
                                      <a:pt x="40" y="47"/>
                                    </a:lnTo>
                                    <a:lnTo>
                                      <a:pt x="36" y="50"/>
                                    </a:lnTo>
                                    <a:lnTo>
                                      <a:pt x="32" y="50"/>
                                    </a:lnTo>
                                    <a:lnTo>
                                      <a:pt x="30" y="52"/>
                                    </a:lnTo>
                                    <a:lnTo>
                                      <a:pt x="29" y="56"/>
                                    </a:lnTo>
                                    <a:lnTo>
                                      <a:pt x="22" y="58"/>
                                    </a:lnTo>
                                    <a:lnTo>
                                      <a:pt x="21" y="56"/>
                                    </a:lnTo>
                                    <a:lnTo>
                                      <a:pt x="15" y="61"/>
                                    </a:lnTo>
                                    <a:lnTo>
                                      <a:pt x="14" y="62"/>
                                    </a:lnTo>
                                    <a:lnTo>
                                      <a:pt x="7" y="66"/>
                                    </a:lnTo>
                                    <a:lnTo>
                                      <a:pt x="4" y="66"/>
                                    </a:lnTo>
                                    <a:lnTo>
                                      <a:pt x="3" y="63"/>
                                    </a:lnTo>
                                    <a:lnTo>
                                      <a:pt x="1" y="56"/>
                                    </a:lnTo>
                                    <a:lnTo>
                                      <a:pt x="0" y="55"/>
                                    </a:lnTo>
                                    <a:lnTo>
                                      <a:pt x="0" y="49"/>
                                    </a:lnTo>
                                    <a:lnTo>
                                      <a:pt x="4" y="46"/>
                                    </a:lnTo>
                                    <a:lnTo>
                                      <a:pt x="8" y="43"/>
                                    </a:lnTo>
                                    <a:lnTo>
                                      <a:pt x="11" y="37"/>
                                    </a:lnTo>
                                    <a:lnTo>
                                      <a:pt x="15" y="37"/>
                                    </a:lnTo>
                                    <a:lnTo>
                                      <a:pt x="18" y="39"/>
                                    </a:lnTo>
                                    <a:lnTo>
                                      <a:pt x="22" y="37"/>
                                    </a:lnTo>
                                    <a:lnTo>
                                      <a:pt x="18" y="36"/>
                                    </a:lnTo>
                                    <a:lnTo>
                                      <a:pt x="12" y="20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  <p:sp>
                            <p:nvSpPr>
                              <p:cNvPr id="62681" name="Freeform 160"/>
                              <p:cNvSpPr>
                                <a:spLocks/>
                              </p:cNvSpPr>
                              <p:nvPr/>
                            </p:nvSpPr>
                            <p:spPr bwMode="auto">
                              <a:xfrm>
                                <a:off x="2875" y="2205"/>
                                <a:ext cx="32" cy="60"/>
                              </a:xfrm>
                              <a:custGeom>
                                <a:avLst/>
                                <a:gdLst>
                                  <a:gd name="T0" fmla="*/ 12 w 65"/>
                                  <a:gd name="T1" fmla="*/ 7 h 120"/>
                                  <a:gd name="T2" fmla="*/ 20 w 65"/>
                                  <a:gd name="T3" fmla="*/ 6 h 120"/>
                                  <a:gd name="T4" fmla="*/ 23 w 65"/>
                                  <a:gd name="T5" fmla="*/ 4 h 120"/>
                                  <a:gd name="T6" fmla="*/ 26 w 65"/>
                                  <a:gd name="T7" fmla="*/ 1 h 120"/>
                                  <a:gd name="T8" fmla="*/ 32 w 65"/>
                                  <a:gd name="T9" fmla="*/ 1 h 120"/>
                                  <a:gd name="T10" fmla="*/ 30 w 65"/>
                                  <a:gd name="T11" fmla="*/ 6 h 120"/>
                                  <a:gd name="T12" fmla="*/ 27 w 65"/>
                                  <a:gd name="T13" fmla="*/ 7 h 120"/>
                                  <a:gd name="T14" fmla="*/ 23 w 65"/>
                                  <a:gd name="T15" fmla="*/ 12 h 120"/>
                                  <a:gd name="T16" fmla="*/ 28 w 65"/>
                                  <a:gd name="T17" fmla="*/ 12 h 120"/>
                                  <a:gd name="T18" fmla="*/ 32 w 65"/>
                                  <a:gd name="T19" fmla="*/ 12 h 120"/>
                                  <a:gd name="T20" fmla="*/ 29 w 65"/>
                                  <a:gd name="T21" fmla="*/ 17 h 120"/>
                                  <a:gd name="T22" fmla="*/ 25 w 65"/>
                                  <a:gd name="T23" fmla="*/ 19 h 120"/>
                                  <a:gd name="T24" fmla="*/ 24 w 65"/>
                                  <a:gd name="T25" fmla="*/ 23 h 120"/>
                                  <a:gd name="T26" fmla="*/ 28 w 65"/>
                                  <a:gd name="T27" fmla="*/ 28 h 120"/>
                                  <a:gd name="T28" fmla="*/ 30 w 65"/>
                                  <a:gd name="T29" fmla="*/ 33 h 120"/>
                                  <a:gd name="T30" fmla="*/ 32 w 65"/>
                                  <a:gd name="T31" fmla="*/ 39 h 120"/>
                                  <a:gd name="T32" fmla="*/ 31 w 65"/>
                                  <a:gd name="T33" fmla="*/ 47 h 120"/>
                                  <a:gd name="T34" fmla="*/ 27 w 65"/>
                                  <a:gd name="T35" fmla="*/ 51 h 120"/>
                                  <a:gd name="T36" fmla="*/ 30 w 65"/>
                                  <a:gd name="T37" fmla="*/ 57 h 120"/>
                                  <a:gd name="T38" fmla="*/ 23 w 65"/>
                                  <a:gd name="T39" fmla="*/ 57 h 120"/>
                                  <a:gd name="T40" fmla="*/ 18 w 65"/>
                                  <a:gd name="T41" fmla="*/ 56 h 120"/>
                                  <a:gd name="T42" fmla="*/ 12 w 65"/>
                                  <a:gd name="T43" fmla="*/ 58 h 120"/>
                                  <a:gd name="T44" fmla="*/ 9 w 65"/>
                                  <a:gd name="T45" fmla="*/ 59 h 120"/>
                                  <a:gd name="T46" fmla="*/ 5 w 65"/>
                                  <a:gd name="T47" fmla="*/ 60 h 120"/>
                                  <a:gd name="T48" fmla="*/ 1 w 65"/>
                                  <a:gd name="T49" fmla="*/ 57 h 120"/>
                                  <a:gd name="T50" fmla="*/ 0 w 65"/>
                                  <a:gd name="T51" fmla="*/ 54 h 120"/>
                                  <a:gd name="T52" fmla="*/ 3 w 65"/>
                                  <a:gd name="T53" fmla="*/ 50 h 120"/>
                                  <a:gd name="T54" fmla="*/ 8 w 65"/>
                                  <a:gd name="T55" fmla="*/ 49 h 120"/>
                                  <a:gd name="T56" fmla="*/ 5 w 65"/>
                                  <a:gd name="T57" fmla="*/ 47 h 120"/>
                                  <a:gd name="T58" fmla="*/ 5 w 65"/>
                                  <a:gd name="T59" fmla="*/ 44 h 120"/>
                                  <a:gd name="T60" fmla="*/ 10 w 65"/>
                                  <a:gd name="T61" fmla="*/ 41 h 120"/>
                                  <a:gd name="T62" fmla="*/ 13 w 65"/>
                                  <a:gd name="T63" fmla="*/ 41 h 120"/>
                                  <a:gd name="T64" fmla="*/ 15 w 65"/>
                                  <a:gd name="T65" fmla="*/ 34 h 120"/>
                                  <a:gd name="T66" fmla="*/ 17 w 65"/>
                                  <a:gd name="T67" fmla="*/ 28 h 120"/>
                                  <a:gd name="T68" fmla="*/ 14 w 65"/>
                                  <a:gd name="T69" fmla="*/ 23 h 120"/>
                                  <a:gd name="T70" fmla="*/ 7 w 65"/>
                                  <a:gd name="T71" fmla="*/ 22 h 120"/>
                                  <a:gd name="T72" fmla="*/ 10 w 65"/>
                                  <a:gd name="T73" fmla="*/ 9 h 120"/>
                                  <a:gd name="T74" fmla="*/ 0 60000 65536"/>
                                  <a:gd name="T75" fmla="*/ 0 60000 65536"/>
                                  <a:gd name="T76" fmla="*/ 0 60000 65536"/>
                                  <a:gd name="T77" fmla="*/ 0 60000 65536"/>
                                  <a:gd name="T78" fmla="*/ 0 60000 65536"/>
                                  <a:gd name="T79" fmla="*/ 0 60000 65536"/>
                                  <a:gd name="T80" fmla="*/ 0 60000 65536"/>
                                  <a:gd name="T81" fmla="*/ 0 60000 65536"/>
                                  <a:gd name="T82" fmla="*/ 0 60000 65536"/>
                                  <a:gd name="T83" fmla="*/ 0 60000 65536"/>
                                  <a:gd name="T84" fmla="*/ 0 60000 65536"/>
                                  <a:gd name="T85" fmla="*/ 0 60000 65536"/>
                                  <a:gd name="T86" fmla="*/ 0 60000 65536"/>
                                  <a:gd name="T87" fmla="*/ 0 60000 65536"/>
                                  <a:gd name="T88" fmla="*/ 0 60000 65536"/>
                                  <a:gd name="T89" fmla="*/ 0 60000 65536"/>
                                  <a:gd name="T90" fmla="*/ 0 60000 65536"/>
                                  <a:gd name="T91" fmla="*/ 0 60000 65536"/>
                                  <a:gd name="T92" fmla="*/ 0 60000 65536"/>
                                  <a:gd name="T93" fmla="*/ 0 60000 65536"/>
                                  <a:gd name="T94" fmla="*/ 0 60000 65536"/>
                                  <a:gd name="T95" fmla="*/ 0 60000 65536"/>
                                  <a:gd name="T96" fmla="*/ 0 60000 65536"/>
                                  <a:gd name="T97" fmla="*/ 0 60000 65536"/>
                                  <a:gd name="T98" fmla="*/ 0 60000 65536"/>
                                  <a:gd name="T99" fmla="*/ 0 60000 65536"/>
                                  <a:gd name="T100" fmla="*/ 0 60000 65536"/>
                                  <a:gd name="T101" fmla="*/ 0 60000 65536"/>
                                  <a:gd name="T102" fmla="*/ 0 60000 65536"/>
                                  <a:gd name="T103" fmla="*/ 0 60000 65536"/>
                                  <a:gd name="T104" fmla="*/ 0 60000 65536"/>
                                  <a:gd name="T105" fmla="*/ 0 60000 65536"/>
                                  <a:gd name="T106" fmla="*/ 0 60000 65536"/>
                                  <a:gd name="T107" fmla="*/ 0 60000 65536"/>
                                  <a:gd name="T108" fmla="*/ 0 60000 65536"/>
                                  <a:gd name="T109" fmla="*/ 0 60000 65536"/>
                                  <a:gd name="T110" fmla="*/ 0 60000 65536"/>
                                  <a:gd name="T111" fmla="*/ 0 w 65"/>
                                  <a:gd name="T112" fmla="*/ 0 h 120"/>
                                  <a:gd name="T113" fmla="*/ 65 w 65"/>
                                  <a:gd name="T114" fmla="*/ 120 h 120"/>
                                </a:gdLst>
                                <a:ahLst/>
                                <a:cxnLst>
                                  <a:cxn ang="T74">
                                    <a:pos x="T0" y="T1"/>
                                  </a:cxn>
                                  <a:cxn ang="T75">
                                    <a:pos x="T2" y="T3"/>
                                  </a:cxn>
                                  <a:cxn ang="T76">
                                    <a:pos x="T4" y="T5"/>
                                  </a:cxn>
                                  <a:cxn ang="T77">
                                    <a:pos x="T6" y="T7"/>
                                  </a:cxn>
                                  <a:cxn ang="T78">
                                    <a:pos x="T8" y="T9"/>
                                  </a:cxn>
                                  <a:cxn ang="T79">
                                    <a:pos x="T10" y="T11"/>
                                  </a:cxn>
                                  <a:cxn ang="T80">
                                    <a:pos x="T12" y="T13"/>
                                  </a:cxn>
                                  <a:cxn ang="T81">
                                    <a:pos x="T14" y="T15"/>
                                  </a:cxn>
                                  <a:cxn ang="T82">
                                    <a:pos x="T16" y="T17"/>
                                  </a:cxn>
                                  <a:cxn ang="T83">
                                    <a:pos x="T18" y="T19"/>
                                  </a:cxn>
                                  <a:cxn ang="T84">
                                    <a:pos x="T20" y="T21"/>
                                  </a:cxn>
                                  <a:cxn ang="T85">
                                    <a:pos x="T22" y="T23"/>
                                  </a:cxn>
                                  <a:cxn ang="T86">
                                    <a:pos x="T24" y="T25"/>
                                  </a:cxn>
                                  <a:cxn ang="T87">
                                    <a:pos x="T26" y="T27"/>
                                  </a:cxn>
                                  <a:cxn ang="T88">
                                    <a:pos x="T28" y="T29"/>
                                  </a:cxn>
                                  <a:cxn ang="T89">
                                    <a:pos x="T30" y="T31"/>
                                  </a:cxn>
                                  <a:cxn ang="T90">
                                    <a:pos x="T32" y="T33"/>
                                  </a:cxn>
                                  <a:cxn ang="T91">
                                    <a:pos x="T34" y="T35"/>
                                  </a:cxn>
                                  <a:cxn ang="T92">
                                    <a:pos x="T36" y="T37"/>
                                  </a:cxn>
                                  <a:cxn ang="T93">
                                    <a:pos x="T38" y="T39"/>
                                  </a:cxn>
                                  <a:cxn ang="T94">
                                    <a:pos x="T40" y="T41"/>
                                  </a:cxn>
                                  <a:cxn ang="T95">
                                    <a:pos x="T42" y="T43"/>
                                  </a:cxn>
                                  <a:cxn ang="T96">
                                    <a:pos x="T44" y="T45"/>
                                  </a:cxn>
                                  <a:cxn ang="T97">
                                    <a:pos x="T46" y="T47"/>
                                  </a:cxn>
                                  <a:cxn ang="T98">
                                    <a:pos x="T48" y="T49"/>
                                  </a:cxn>
                                  <a:cxn ang="T99">
                                    <a:pos x="T50" y="T51"/>
                                  </a:cxn>
                                  <a:cxn ang="T100">
                                    <a:pos x="T52" y="T53"/>
                                  </a:cxn>
                                  <a:cxn ang="T101">
                                    <a:pos x="T54" y="T55"/>
                                  </a:cxn>
                                  <a:cxn ang="T102">
                                    <a:pos x="T56" y="T57"/>
                                  </a:cxn>
                                  <a:cxn ang="T103">
                                    <a:pos x="T58" y="T59"/>
                                  </a:cxn>
                                  <a:cxn ang="T104">
                                    <a:pos x="T60" y="T61"/>
                                  </a:cxn>
                                  <a:cxn ang="T105">
                                    <a:pos x="T62" y="T63"/>
                                  </a:cxn>
                                  <a:cxn ang="T106">
                                    <a:pos x="T64" y="T65"/>
                                  </a:cxn>
                                  <a:cxn ang="T107">
                                    <a:pos x="T66" y="T67"/>
                                  </a:cxn>
                                  <a:cxn ang="T108">
                                    <a:pos x="T68" y="T69"/>
                                  </a:cxn>
                                  <a:cxn ang="T109">
                                    <a:pos x="T70" y="T71"/>
                                  </a:cxn>
                                  <a:cxn ang="T110">
                                    <a:pos x="T72" y="T73"/>
                                  </a:cxn>
                                </a:cxnLst>
                                <a:rect l="T111" t="T112" r="T113" b="T114"/>
                                <a:pathLst>
                                  <a:path w="65" h="120">
                                    <a:moveTo>
                                      <a:pt x="21" y="17"/>
                                    </a:moveTo>
                                    <a:lnTo>
                                      <a:pt x="25" y="13"/>
                                    </a:lnTo>
                                    <a:lnTo>
                                      <a:pt x="37" y="14"/>
                                    </a:lnTo>
                                    <a:lnTo>
                                      <a:pt x="40" y="11"/>
                                    </a:lnTo>
                                    <a:lnTo>
                                      <a:pt x="43" y="7"/>
                                    </a:lnTo>
                                    <a:lnTo>
                                      <a:pt x="46" y="7"/>
                                    </a:lnTo>
                                    <a:lnTo>
                                      <a:pt x="48" y="5"/>
                                    </a:lnTo>
                                    <a:lnTo>
                                      <a:pt x="52" y="2"/>
                                    </a:lnTo>
                                    <a:lnTo>
                                      <a:pt x="58" y="0"/>
                                    </a:lnTo>
                                    <a:lnTo>
                                      <a:pt x="65" y="1"/>
                                    </a:lnTo>
                                    <a:lnTo>
                                      <a:pt x="63" y="7"/>
                                    </a:lnTo>
                                    <a:lnTo>
                                      <a:pt x="61" y="11"/>
                                    </a:lnTo>
                                    <a:lnTo>
                                      <a:pt x="58" y="13"/>
                                    </a:lnTo>
                                    <a:lnTo>
                                      <a:pt x="55" y="14"/>
                                    </a:lnTo>
                                    <a:lnTo>
                                      <a:pt x="47" y="17"/>
                                    </a:lnTo>
                                    <a:lnTo>
                                      <a:pt x="47" y="23"/>
                                    </a:lnTo>
                                    <a:lnTo>
                                      <a:pt x="48" y="26"/>
                                    </a:lnTo>
                                    <a:lnTo>
                                      <a:pt x="57" y="23"/>
                                    </a:lnTo>
                                    <a:lnTo>
                                      <a:pt x="63" y="20"/>
                                    </a:lnTo>
                                    <a:lnTo>
                                      <a:pt x="65" y="23"/>
                                    </a:lnTo>
                                    <a:lnTo>
                                      <a:pt x="65" y="31"/>
                                    </a:lnTo>
                                    <a:lnTo>
                                      <a:pt x="59" y="33"/>
                                    </a:lnTo>
                                    <a:lnTo>
                                      <a:pt x="54" y="33"/>
                                    </a:lnTo>
                                    <a:lnTo>
                                      <a:pt x="50" y="37"/>
                                    </a:lnTo>
                                    <a:lnTo>
                                      <a:pt x="48" y="40"/>
                                    </a:lnTo>
                                    <a:lnTo>
                                      <a:pt x="48" y="45"/>
                                    </a:lnTo>
                                    <a:lnTo>
                                      <a:pt x="52" y="50"/>
                                    </a:lnTo>
                                    <a:lnTo>
                                      <a:pt x="57" y="55"/>
                                    </a:lnTo>
                                    <a:lnTo>
                                      <a:pt x="59" y="59"/>
                                    </a:lnTo>
                                    <a:lnTo>
                                      <a:pt x="61" y="65"/>
                                    </a:lnTo>
                                    <a:lnTo>
                                      <a:pt x="62" y="71"/>
                                    </a:lnTo>
                                    <a:lnTo>
                                      <a:pt x="65" y="78"/>
                                    </a:lnTo>
                                    <a:lnTo>
                                      <a:pt x="65" y="88"/>
                                    </a:lnTo>
                                    <a:lnTo>
                                      <a:pt x="62" y="94"/>
                                    </a:lnTo>
                                    <a:lnTo>
                                      <a:pt x="57" y="98"/>
                                    </a:lnTo>
                                    <a:lnTo>
                                      <a:pt x="55" y="101"/>
                                    </a:lnTo>
                                    <a:lnTo>
                                      <a:pt x="58" y="107"/>
                                    </a:lnTo>
                                    <a:lnTo>
                                      <a:pt x="61" y="113"/>
                                    </a:lnTo>
                                    <a:lnTo>
                                      <a:pt x="52" y="113"/>
                                    </a:lnTo>
                                    <a:lnTo>
                                      <a:pt x="46" y="113"/>
                                    </a:lnTo>
                                    <a:lnTo>
                                      <a:pt x="43" y="111"/>
                                    </a:lnTo>
                                    <a:lnTo>
                                      <a:pt x="37" y="111"/>
                                    </a:lnTo>
                                    <a:lnTo>
                                      <a:pt x="31" y="113"/>
                                    </a:lnTo>
                                    <a:lnTo>
                                      <a:pt x="25" y="116"/>
                                    </a:lnTo>
                                    <a:lnTo>
                                      <a:pt x="21" y="116"/>
                                    </a:lnTo>
                                    <a:lnTo>
                                      <a:pt x="18" y="117"/>
                                    </a:lnTo>
                                    <a:lnTo>
                                      <a:pt x="11" y="120"/>
                                    </a:lnTo>
                                    <a:lnTo>
                                      <a:pt x="10" y="119"/>
                                    </a:lnTo>
                                    <a:lnTo>
                                      <a:pt x="7" y="116"/>
                                    </a:lnTo>
                                    <a:lnTo>
                                      <a:pt x="3" y="114"/>
                                    </a:lnTo>
                                    <a:lnTo>
                                      <a:pt x="0" y="113"/>
                                    </a:lnTo>
                                    <a:lnTo>
                                      <a:pt x="0" y="107"/>
                                    </a:lnTo>
                                    <a:lnTo>
                                      <a:pt x="3" y="100"/>
                                    </a:lnTo>
                                    <a:lnTo>
                                      <a:pt x="7" y="100"/>
                                    </a:lnTo>
                                    <a:lnTo>
                                      <a:pt x="11" y="98"/>
                                    </a:lnTo>
                                    <a:lnTo>
                                      <a:pt x="17" y="98"/>
                                    </a:lnTo>
                                    <a:lnTo>
                                      <a:pt x="17" y="97"/>
                                    </a:lnTo>
                                    <a:lnTo>
                                      <a:pt x="11" y="94"/>
                                    </a:lnTo>
                                    <a:lnTo>
                                      <a:pt x="11" y="90"/>
                                    </a:lnTo>
                                    <a:lnTo>
                                      <a:pt x="11" y="87"/>
                                    </a:lnTo>
                                    <a:lnTo>
                                      <a:pt x="17" y="84"/>
                                    </a:lnTo>
                                    <a:lnTo>
                                      <a:pt x="20" y="82"/>
                                    </a:lnTo>
                                    <a:lnTo>
                                      <a:pt x="22" y="81"/>
                                    </a:lnTo>
                                    <a:lnTo>
                                      <a:pt x="26" y="81"/>
                                    </a:lnTo>
                                    <a:lnTo>
                                      <a:pt x="29" y="79"/>
                                    </a:lnTo>
                                    <a:lnTo>
                                      <a:pt x="31" y="68"/>
                                    </a:lnTo>
                                    <a:lnTo>
                                      <a:pt x="35" y="59"/>
                                    </a:lnTo>
                                    <a:lnTo>
                                      <a:pt x="35" y="55"/>
                                    </a:lnTo>
                                    <a:lnTo>
                                      <a:pt x="25" y="53"/>
                                    </a:lnTo>
                                    <a:lnTo>
                                      <a:pt x="28" y="46"/>
                                    </a:lnTo>
                                    <a:lnTo>
                                      <a:pt x="21" y="42"/>
                                    </a:lnTo>
                                    <a:lnTo>
                                      <a:pt x="14" y="43"/>
                                    </a:lnTo>
                                    <a:lnTo>
                                      <a:pt x="22" y="33"/>
                                    </a:lnTo>
                                    <a:lnTo>
                                      <a:pt x="21" y="17"/>
                                    </a:lnTo>
                                    <a:close/>
                                  </a:path>
                                </a:pathLst>
                              </a:custGeom>
                              <a:solidFill>
                                <a:srgbClr val="CCFFCC"/>
                              </a:solidFill>
                              <a:ln w="7938">
                                <a:solidFill>
                                  <a:srgbClr val="000000"/>
                                </a:solidFill>
                                <a:prstDash val="solid"/>
                                <a:round/>
                                <a:headEnd/>
                                <a:tailEnd/>
                              </a:ln>
                            </p:spPr>
                            <p:txBody>
                              <a:bodyPr/>
                              <a:lstStyle/>
                              <a:p>
                                <a:endParaRPr lang="pt-BR"/>
                              </a:p>
                            </p:txBody>
                          </p:sp>
                        </p:grpSp>
                        <p:sp>
                          <p:nvSpPr>
                            <p:cNvPr id="62679" name="Freeform 161"/>
                            <p:cNvSpPr>
                              <a:spLocks/>
                            </p:cNvSpPr>
                            <p:nvPr/>
                          </p:nvSpPr>
                          <p:spPr bwMode="auto">
                            <a:xfrm>
                              <a:off x="2776" y="2104"/>
                              <a:ext cx="185" cy="101"/>
                            </a:xfrm>
                            <a:custGeom>
                              <a:avLst/>
                              <a:gdLst>
                                <a:gd name="T0" fmla="*/ 12 w 370"/>
                                <a:gd name="T1" fmla="*/ 99 h 203"/>
                                <a:gd name="T2" fmla="*/ 19 w 370"/>
                                <a:gd name="T3" fmla="*/ 92 h 203"/>
                                <a:gd name="T4" fmla="*/ 23 w 370"/>
                                <a:gd name="T5" fmla="*/ 90 h 203"/>
                                <a:gd name="T6" fmla="*/ 28 w 370"/>
                                <a:gd name="T7" fmla="*/ 87 h 203"/>
                                <a:gd name="T8" fmla="*/ 34 w 370"/>
                                <a:gd name="T9" fmla="*/ 87 h 203"/>
                                <a:gd name="T10" fmla="*/ 38 w 370"/>
                                <a:gd name="T11" fmla="*/ 85 h 203"/>
                                <a:gd name="T12" fmla="*/ 43 w 370"/>
                                <a:gd name="T13" fmla="*/ 80 h 203"/>
                                <a:gd name="T14" fmla="*/ 47 w 370"/>
                                <a:gd name="T15" fmla="*/ 78 h 203"/>
                                <a:gd name="T16" fmla="*/ 52 w 370"/>
                                <a:gd name="T17" fmla="*/ 76 h 203"/>
                                <a:gd name="T18" fmla="*/ 57 w 370"/>
                                <a:gd name="T19" fmla="*/ 73 h 203"/>
                                <a:gd name="T20" fmla="*/ 65 w 370"/>
                                <a:gd name="T21" fmla="*/ 71 h 203"/>
                                <a:gd name="T22" fmla="*/ 76 w 370"/>
                                <a:gd name="T23" fmla="*/ 73 h 203"/>
                                <a:gd name="T24" fmla="*/ 85 w 370"/>
                                <a:gd name="T25" fmla="*/ 70 h 203"/>
                                <a:gd name="T26" fmla="*/ 89 w 370"/>
                                <a:gd name="T27" fmla="*/ 63 h 203"/>
                                <a:gd name="T28" fmla="*/ 95 w 370"/>
                                <a:gd name="T29" fmla="*/ 57 h 203"/>
                                <a:gd name="T30" fmla="*/ 99 w 370"/>
                                <a:gd name="T31" fmla="*/ 52 h 203"/>
                                <a:gd name="T32" fmla="*/ 103 w 370"/>
                                <a:gd name="T33" fmla="*/ 48 h 203"/>
                                <a:gd name="T34" fmla="*/ 111 w 370"/>
                                <a:gd name="T35" fmla="*/ 42 h 203"/>
                                <a:gd name="T36" fmla="*/ 109 w 370"/>
                                <a:gd name="T37" fmla="*/ 49 h 203"/>
                                <a:gd name="T38" fmla="*/ 116 w 370"/>
                                <a:gd name="T39" fmla="*/ 52 h 203"/>
                                <a:gd name="T40" fmla="*/ 121 w 370"/>
                                <a:gd name="T41" fmla="*/ 50 h 203"/>
                                <a:gd name="T42" fmla="*/ 123 w 370"/>
                                <a:gd name="T43" fmla="*/ 45 h 203"/>
                                <a:gd name="T44" fmla="*/ 125 w 370"/>
                                <a:gd name="T45" fmla="*/ 40 h 203"/>
                                <a:gd name="T46" fmla="*/ 129 w 370"/>
                                <a:gd name="T47" fmla="*/ 36 h 203"/>
                                <a:gd name="T48" fmla="*/ 139 w 370"/>
                                <a:gd name="T49" fmla="*/ 36 h 203"/>
                                <a:gd name="T50" fmla="*/ 150 w 370"/>
                                <a:gd name="T51" fmla="*/ 29 h 203"/>
                                <a:gd name="T52" fmla="*/ 160 w 370"/>
                                <a:gd name="T53" fmla="*/ 24 h 203"/>
                                <a:gd name="T54" fmla="*/ 171 w 370"/>
                                <a:gd name="T55" fmla="*/ 11 h 203"/>
                                <a:gd name="T56" fmla="*/ 181 w 370"/>
                                <a:gd name="T57" fmla="*/ 5 h 203"/>
                                <a:gd name="T58" fmla="*/ 177 w 370"/>
                                <a:gd name="T59" fmla="*/ 0 h 203"/>
                                <a:gd name="T60" fmla="*/ 161 w 370"/>
                                <a:gd name="T61" fmla="*/ 3 h 203"/>
                                <a:gd name="T62" fmla="*/ 150 w 370"/>
                                <a:gd name="T63" fmla="*/ 7 h 203"/>
                                <a:gd name="T64" fmla="*/ 138 w 370"/>
                                <a:gd name="T65" fmla="*/ 9 h 203"/>
                                <a:gd name="T66" fmla="*/ 123 w 370"/>
                                <a:gd name="T67" fmla="*/ 15 h 203"/>
                                <a:gd name="T68" fmla="*/ 111 w 370"/>
                                <a:gd name="T69" fmla="*/ 18 h 203"/>
                                <a:gd name="T70" fmla="*/ 98 w 370"/>
                                <a:gd name="T71" fmla="*/ 24 h 203"/>
                                <a:gd name="T72" fmla="*/ 89 w 370"/>
                                <a:gd name="T73" fmla="*/ 31 h 203"/>
                                <a:gd name="T74" fmla="*/ 82 w 370"/>
                                <a:gd name="T75" fmla="*/ 36 h 203"/>
                                <a:gd name="T76" fmla="*/ 67 w 370"/>
                                <a:gd name="T77" fmla="*/ 45 h 203"/>
                                <a:gd name="T78" fmla="*/ 51 w 370"/>
                                <a:gd name="T79" fmla="*/ 56 h 203"/>
                                <a:gd name="T80" fmla="*/ 39 w 370"/>
                                <a:gd name="T81" fmla="*/ 64 h 203"/>
                                <a:gd name="T82" fmla="*/ 28 w 370"/>
                                <a:gd name="T83" fmla="*/ 75 h 203"/>
                                <a:gd name="T84" fmla="*/ 17 w 370"/>
                                <a:gd name="T85" fmla="*/ 82 h 203"/>
                                <a:gd name="T86" fmla="*/ 0 w 370"/>
                                <a:gd name="T87" fmla="*/ 101 h 203"/>
                                <a:gd name="T88" fmla="*/ 0 60000 65536"/>
                                <a:gd name="T89" fmla="*/ 0 60000 65536"/>
                                <a:gd name="T90" fmla="*/ 0 60000 65536"/>
                                <a:gd name="T91" fmla="*/ 0 60000 65536"/>
                                <a:gd name="T92" fmla="*/ 0 60000 65536"/>
                                <a:gd name="T93" fmla="*/ 0 60000 65536"/>
                                <a:gd name="T94" fmla="*/ 0 60000 65536"/>
                                <a:gd name="T95" fmla="*/ 0 60000 65536"/>
                                <a:gd name="T96" fmla="*/ 0 60000 65536"/>
                                <a:gd name="T97" fmla="*/ 0 60000 65536"/>
                                <a:gd name="T98" fmla="*/ 0 60000 65536"/>
                                <a:gd name="T99" fmla="*/ 0 60000 65536"/>
                                <a:gd name="T100" fmla="*/ 0 60000 65536"/>
                                <a:gd name="T101" fmla="*/ 0 60000 65536"/>
                                <a:gd name="T102" fmla="*/ 0 60000 65536"/>
                                <a:gd name="T103" fmla="*/ 0 60000 65536"/>
                                <a:gd name="T104" fmla="*/ 0 60000 65536"/>
                                <a:gd name="T105" fmla="*/ 0 60000 65536"/>
                                <a:gd name="T106" fmla="*/ 0 60000 65536"/>
                                <a:gd name="T107" fmla="*/ 0 60000 65536"/>
                                <a:gd name="T108" fmla="*/ 0 60000 65536"/>
                                <a:gd name="T109" fmla="*/ 0 60000 65536"/>
                                <a:gd name="T110" fmla="*/ 0 60000 65536"/>
                                <a:gd name="T111" fmla="*/ 0 60000 65536"/>
                                <a:gd name="T112" fmla="*/ 0 60000 65536"/>
                                <a:gd name="T113" fmla="*/ 0 60000 65536"/>
                                <a:gd name="T114" fmla="*/ 0 60000 65536"/>
                                <a:gd name="T115" fmla="*/ 0 60000 65536"/>
                                <a:gd name="T116" fmla="*/ 0 60000 65536"/>
                                <a:gd name="T117" fmla="*/ 0 60000 65536"/>
                                <a:gd name="T118" fmla="*/ 0 60000 65536"/>
                                <a:gd name="T119" fmla="*/ 0 60000 65536"/>
                                <a:gd name="T120" fmla="*/ 0 60000 65536"/>
                                <a:gd name="T121" fmla="*/ 0 60000 65536"/>
                                <a:gd name="T122" fmla="*/ 0 60000 65536"/>
                                <a:gd name="T123" fmla="*/ 0 60000 65536"/>
                                <a:gd name="T124" fmla="*/ 0 60000 65536"/>
                                <a:gd name="T125" fmla="*/ 0 60000 65536"/>
                                <a:gd name="T126" fmla="*/ 0 60000 65536"/>
                                <a:gd name="T127" fmla="*/ 0 60000 65536"/>
                                <a:gd name="T128" fmla="*/ 0 60000 65536"/>
                                <a:gd name="T129" fmla="*/ 0 60000 65536"/>
                                <a:gd name="T130" fmla="*/ 0 60000 65536"/>
                                <a:gd name="T131" fmla="*/ 0 60000 65536"/>
                                <a:gd name="T132" fmla="*/ 0 w 370"/>
                                <a:gd name="T133" fmla="*/ 0 h 203"/>
                                <a:gd name="T134" fmla="*/ 370 w 370"/>
                                <a:gd name="T135" fmla="*/ 203 h 203"/>
                              </a:gdLst>
                              <a:ahLst/>
                              <a:cxnLst>
                                <a:cxn ang="T88">
                                  <a:pos x="T0" y="T1"/>
                                </a:cxn>
                                <a:cxn ang="T89">
                                  <a:pos x="T2" y="T3"/>
                                </a:cxn>
                                <a:cxn ang="T90">
                                  <a:pos x="T4" y="T5"/>
                                </a:cxn>
                                <a:cxn ang="T91">
                                  <a:pos x="T6" y="T7"/>
                                </a:cxn>
                                <a:cxn ang="T92">
                                  <a:pos x="T8" y="T9"/>
                                </a:cxn>
                                <a:cxn ang="T93">
                                  <a:pos x="T10" y="T11"/>
                                </a:cxn>
                                <a:cxn ang="T94">
                                  <a:pos x="T12" y="T13"/>
                                </a:cxn>
                                <a:cxn ang="T95">
                                  <a:pos x="T14" y="T15"/>
                                </a:cxn>
                                <a:cxn ang="T96">
                                  <a:pos x="T16" y="T17"/>
                                </a:cxn>
                                <a:cxn ang="T97">
                                  <a:pos x="T18" y="T19"/>
                                </a:cxn>
                                <a:cxn ang="T98">
                                  <a:pos x="T20" y="T21"/>
                                </a:cxn>
                                <a:cxn ang="T99">
                                  <a:pos x="T22" y="T23"/>
                                </a:cxn>
                                <a:cxn ang="T100">
                                  <a:pos x="T24" y="T25"/>
                                </a:cxn>
                                <a:cxn ang="T101">
                                  <a:pos x="T26" y="T27"/>
                                </a:cxn>
                                <a:cxn ang="T102">
                                  <a:pos x="T28" y="T29"/>
                                </a:cxn>
                                <a:cxn ang="T103">
                                  <a:pos x="T30" y="T31"/>
                                </a:cxn>
                                <a:cxn ang="T104">
                                  <a:pos x="T32" y="T33"/>
                                </a:cxn>
                                <a:cxn ang="T105">
                                  <a:pos x="T34" y="T35"/>
                                </a:cxn>
                                <a:cxn ang="T106">
                                  <a:pos x="T36" y="T37"/>
                                </a:cxn>
                                <a:cxn ang="T107">
                                  <a:pos x="T38" y="T39"/>
                                </a:cxn>
                                <a:cxn ang="T108">
                                  <a:pos x="T40" y="T41"/>
                                </a:cxn>
                                <a:cxn ang="T109">
                                  <a:pos x="T42" y="T43"/>
                                </a:cxn>
                                <a:cxn ang="T110">
                                  <a:pos x="T44" y="T45"/>
                                </a:cxn>
                                <a:cxn ang="T111">
                                  <a:pos x="T46" y="T47"/>
                                </a:cxn>
                                <a:cxn ang="T112">
                                  <a:pos x="T48" y="T49"/>
                                </a:cxn>
                                <a:cxn ang="T113">
                                  <a:pos x="T50" y="T51"/>
                                </a:cxn>
                                <a:cxn ang="T114">
                                  <a:pos x="T52" y="T53"/>
                                </a:cxn>
                                <a:cxn ang="T115">
                                  <a:pos x="T54" y="T55"/>
                                </a:cxn>
                                <a:cxn ang="T116">
                                  <a:pos x="T56" y="T57"/>
                                </a:cxn>
                                <a:cxn ang="T117">
                                  <a:pos x="T58" y="T59"/>
                                </a:cxn>
                                <a:cxn ang="T118">
                                  <a:pos x="T60" y="T61"/>
                                </a:cxn>
                                <a:cxn ang="T119">
                                  <a:pos x="T62" y="T63"/>
                                </a:cxn>
                                <a:cxn ang="T120">
                                  <a:pos x="T64" y="T65"/>
                                </a:cxn>
                                <a:cxn ang="T121">
                                  <a:pos x="T66" y="T67"/>
                                </a:cxn>
                                <a:cxn ang="T122">
                                  <a:pos x="T68" y="T69"/>
                                </a:cxn>
                                <a:cxn ang="T123">
                                  <a:pos x="T70" y="T71"/>
                                </a:cxn>
                                <a:cxn ang="T124">
                                  <a:pos x="T72" y="T73"/>
                                </a:cxn>
                                <a:cxn ang="T125">
                                  <a:pos x="T74" y="T75"/>
                                </a:cxn>
                                <a:cxn ang="T126">
                                  <a:pos x="T76" y="T77"/>
                                </a:cxn>
                                <a:cxn ang="T127">
                                  <a:pos x="T78" y="T79"/>
                                </a:cxn>
                                <a:cxn ang="T128">
                                  <a:pos x="T80" y="T81"/>
                                </a:cxn>
                                <a:cxn ang="T129">
                                  <a:pos x="T82" y="T83"/>
                                </a:cxn>
                                <a:cxn ang="T130">
                                  <a:pos x="T84" y="T85"/>
                                </a:cxn>
                                <a:cxn ang="T131">
                                  <a:pos x="T86" y="T87"/>
                                </a:cxn>
                              </a:cxnLst>
                              <a:rect l="T132" t="T133" r="T134" b="T135"/>
                              <a:pathLst>
                                <a:path w="370" h="203">
                                  <a:moveTo>
                                    <a:pt x="0" y="203"/>
                                  </a:moveTo>
                                  <a:lnTo>
                                    <a:pt x="23" y="199"/>
                                  </a:lnTo>
                                  <a:lnTo>
                                    <a:pt x="31" y="190"/>
                                  </a:lnTo>
                                  <a:lnTo>
                                    <a:pt x="37" y="184"/>
                                  </a:lnTo>
                                  <a:lnTo>
                                    <a:pt x="40" y="180"/>
                                  </a:lnTo>
                                  <a:lnTo>
                                    <a:pt x="45" y="180"/>
                                  </a:lnTo>
                                  <a:lnTo>
                                    <a:pt x="51" y="175"/>
                                  </a:lnTo>
                                  <a:lnTo>
                                    <a:pt x="57" y="175"/>
                                  </a:lnTo>
                                  <a:lnTo>
                                    <a:pt x="62" y="175"/>
                                  </a:lnTo>
                                  <a:lnTo>
                                    <a:pt x="67" y="175"/>
                                  </a:lnTo>
                                  <a:lnTo>
                                    <a:pt x="70" y="175"/>
                                  </a:lnTo>
                                  <a:lnTo>
                                    <a:pt x="75" y="170"/>
                                  </a:lnTo>
                                  <a:lnTo>
                                    <a:pt x="78" y="165"/>
                                  </a:lnTo>
                                  <a:lnTo>
                                    <a:pt x="85" y="161"/>
                                  </a:lnTo>
                                  <a:lnTo>
                                    <a:pt x="90" y="159"/>
                                  </a:lnTo>
                                  <a:lnTo>
                                    <a:pt x="94" y="157"/>
                                  </a:lnTo>
                                  <a:lnTo>
                                    <a:pt x="100" y="155"/>
                                  </a:lnTo>
                                  <a:lnTo>
                                    <a:pt x="104" y="152"/>
                                  </a:lnTo>
                                  <a:lnTo>
                                    <a:pt x="110" y="149"/>
                                  </a:lnTo>
                                  <a:lnTo>
                                    <a:pt x="115" y="146"/>
                                  </a:lnTo>
                                  <a:lnTo>
                                    <a:pt x="122" y="142"/>
                                  </a:lnTo>
                                  <a:lnTo>
                                    <a:pt x="129" y="143"/>
                                  </a:lnTo>
                                  <a:lnTo>
                                    <a:pt x="140" y="146"/>
                                  </a:lnTo>
                                  <a:lnTo>
                                    <a:pt x="151" y="146"/>
                                  </a:lnTo>
                                  <a:lnTo>
                                    <a:pt x="163" y="142"/>
                                  </a:lnTo>
                                  <a:lnTo>
                                    <a:pt x="169" y="141"/>
                                  </a:lnTo>
                                  <a:lnTo>
                                    <a:pt x="173" y="132"/>
                                  </a:lnTo>
                                  <a:lnTo>
                                    <a:pt x="178" y="126"/>
                                  </a:lnTo>
                                  <a:lnTo>
                                    <a:pt x="188" y="119"/>
                                  </a:lnTo>
                                  <a:lnTo>
                                    <a:pt x="190" y="114"/>
                                  </a:lnTo>
                                  <a:lnTo>
                                    <a:pt x="190" y="109"/>
                                  </a:lnTo>
                                  <a:lnTo>
                                    <a:pt x="199" y="104"/>
                                  </a:lnTo>
                                  <a:lnTo>
                                    <a:pt x="203" y="100"/>
                                  </a:lnTo>
                                  <a:lnTo>
                                    <a:pt x="206" y="96"/>
                                  </a:lnTo>
                                  <a:lnTo>
                                    <a:pt x="208" y="94"/>
                                  </a:lnTo>
                                  <a:lnTo>
                                    <a:pt x="222" y="85"/>
                                  </a:lnTo>
                                  <a:lnTo>
                                    <a:pt x="222" y="94"/>
                                  </a:lnTo>
                                  <a:lnTo>
                                    <a:pt x="219" y="98"/>
                                  </a:lnTo>
                                  <a:lnTo>
                                    <a:pt x="222" y="103"/>
                                  </a:lnTo>
                                  <a:lnTo>
                                    <a:pt x="232" y="104"/>
                                  </a:lnTo>
                                  <a:lnTo>
                                    <a:pt x="237" y="104"/>
                                  </a:lnTo>
                                  <a:lnTo>
                                    <a:pt x="243" y="100"/>
                                  </a:lnTo>
                                  <a:lnTo>
                                    <a:pt x="247" y="94"/>
                                  </a:lnTo>
                                  <a:lnTo>
                                    <a:pt x="247" y="90"/>
                                  </a:lnTo>
                                  <a:lnTo>
                                    <a:pt x="251" y="85"/>
                                  </a:lnTo>
                                  <a:lnTo>
                                    <a:pt x="251" y="81"/>
                                  </a:lnTo>
                                  <a:lnTo>
                                    <a:pt x="255" y="75"/>
                                  </a:lnTo>
                                  <a:lnTo>
                                    <a:pt x="258" y="72"/>
                                  </a:lnTo>
                                  <a:lnTo>
                                    <a:pt x="265" y="72"/>
                                  </a:lnTo>
                                  <a:lnTo>
                                    <a:pt x="278" y="72"/>
                                  </a:lnTo>
                                  <a:lnTo>
                                    <a:pt x="289" y="66"/>
                                  </a:lnTo>
                                  <a:lnTo>
                                    <a:pt x="299" y="58"/>
                                  </a:lnTo>
                                  <a:lnTo>
                                    <a:pt x="310" y="55"/>
                                  </a:lnTo>
                                  <a:lnTo>
                                    <a:pt x="319" y="48"/>
                                  </a:lnTo>
                                  <a:lnTo>
                                    <a:pt x="326" y="36"/>
                                  </a:lnTo>
                                  <a:lnTo>
                                    <a:pt x="341" y="23"/>
                                  </a:lnTo>
                                  <a:lnTo>
                                    <a:pt x="351" y="17"/>
                                  </a:lnTo>
                                  <a:lnTo>
                                    <a:pt x="361" y="11"/>
                                  </a:lnTo>
                                  <a:lnTo>
                                    <a:pt x="370" y="4"/>
                                  </a:lnTo>
                                  <a:lnTo>
                                    <a:pt x="354" y="0"/>
                                  </a:lnTo>
                                  <a:lnTo>
                                    <a:pt x="337" y="0"/>
                                  </a:lnTo>
                                  <a:lnTo>
                                    <a:pt x="321" y="7"/>
                                  </a:lnTo>
                                  <a:lnTo>
                                    <a:pt x="313" y="11"/>
                                  </a:lnTo>
                                  <a:lnTo>
                                    <a:pt x="299" y="14"/>
                                  </a:lnTo>
                                  <a:lnTo>
                                    <a:pt x="284" y="16"/>
                                  </a:lnTo>
                                  <a:lnTo>
                                    <a:pt x="276" y="19"/>
                                  </a:lnTo>
                                  <a:lnTo>
                                    <a:pt x="258" y="26"/>
                                  </a:lnTo>
                                  <a:lnTo>
                                    <a:pt x="247" y="30"/>
                                  </a:lnTo>
                                  <a:lnTo>
                                    <a:pt x="236" y="35"/>
                                  </a:lnTo>
                                  <a:lnTo>
                                    <a:pt x="222" y="37"/>
                                  </a:lnTo>
                                  <a:lnTo>
                                    <a:pt x="208" y="42"/>
                                  </a:lnTo>
                                  <a:lnTo>
                                    <a:pt x="196" y="48"/>
                                  </a:lnTo>
                                  <a:lnTo>
                                    <a:pt x="186" y="55"/>
                                  </a:lnTo>
                                  <a:lnTo>
                                    <a:pt x="178" y="62"/>
                                  </a:lnTo>
                                  <a:lnTo>
                                    <a:pt x="170" y="68"/>
                                  </a:lnTo>
                                  <a:lnTo>
                                    <a:pt x="163" y="72"/>
                                  </a:lnTo>
                                  <a:lnTo>
                                    <a:pt x="148" y="81"/>
                                  </a:lnTo>
                                  <a:lnTo>
                                    <a:pt x="133" y="90"/>
                                  </a:lnTo>
                                  <a:lnTo>
                                    <a:pt x="115" y="100"/>
                                  </a:lnTo>
                                  <a:lnTo>
                                    <a:pt x="103" y="113"/>
                                  </a:lnTo>
                                  <a:lnTo>
                                    <a:pt x="89" y="123"/>
                                  </a:lnTo>
                                  <a:lnTo>
                                    <a:pt x="77" y="129"/>
                                  </a:lnTo>
                                  <a:lnTo>
                                    <a:pt x="64" y="142"/>
                                  </a:lnTo>
                                  <a:lnTo>
                                    <a:pt x="56" y="151"/>
                                  </a:lnTo>
                                  <a:lnTo>
                                    <a:pt x="45" y="159"/>
                                  </a:lnTo>
                                  <a:lnTo>
                                    <a:pt x="34" y="165"/>
                                  </a:lnTo>
                                  <a:lnTo>
                                    <a:pt x="23" y="171"/>
                                  </a:lnTo>
                                  <a:lnTo>
                                    <a:pt x="0" y="203"/>
                                  </a:lnTo>
                                  <a:close/>
                                </a:path>
                              </a:pathLst>
                            </a:custGeom>
                            <a:solidFill>
                              <a:srgbClr val="CCFFCC"/>
                            </a:solidFill>
                            <a:ln w="7938">
                              <a:solidFill>
                                <a:srgbClr val="000000"/>
                              </a:solidFill>
                              <a:prstDash val="solid"/>
                              <a:round/>
                              <a:headEnd/>
                              <a:tailEnd/>
                            </a:ln>
                          </p:spPr>
                          <p:txBody>
                            <a:bodyPr/>
                            <a:lstStyle/>
                            <a:p>
                              <a:endParaRPr lang="pt-BR"/>
                            </a:p>
                          </p:txBody>
                        </p:sp>
                      </p:grpSp>
                      <p:sp>
                        <p:nvSpPr>
                          <p:cNvPr id="62675" name="Freeform 162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62" y="3033"/>
                            <a:ext cx="275" cy="95"/>
                          </a:xfrm>
                          <a:custGeom>
                            <a:avLst/>
                            <a:gdLst>
                              <a:gd name="T0" fmla="*/ 27 w 552"/>
                              <a:gd name="T1" fmla="*/ 29 h 189"/>
                              <a:gd name="T2" fmla="*/ 38 w 552"/>
                              <a:gd name="T3" fmla="*/ 27 h 189"/>
                              <a:gd name="T4" fmla="*/ 70 w 552"/>
                              <a:gd name="T5" fmla="*/ 25 h 189"/>
                              <a:gd name="T6" fmla="*/ 79 w 552"/>
                              <a:gd name="T7" fmla="*/ 21 h 189"/>
                              <a:gd name="T8" fmla="*/ 88 w 552"/>
                              <a:gd name="T9" fmla="*/ 19 h 189"/>
                              <a:gd name="T10" fmla="*/ 90 w 552"/>
                              <a:gd name="T11" fmla="*/ 19 h 189"/>
                              <a:gd name="T12" fmla="*/ 101 w 552"/>
                              <a:gd name="T13" fmla="*/ 21 h 189"/>
                              <a:gd name="T14" fmla="*/ 107 w 552"/>
                              <a:gd name="T15" fmla="*/ 25 h 189"/>
                              <a:gd name="T16" fmla="*/ 116 w 552"/>
                              <a:gd name="T17" fmla="*/ 28 h 189"/>
                              <a:gd name="T18" fmla="*/ 127 w 552"/>
                              <a:gd name="T19" fmla="*/ 25 h 189"/>
                              <a:gd name="T20" fmla="*/ 137 w 552"/>
                              <a:gd name="T21" fmla="*/ 21 h 189"/>
                              <a:gd name="T22" fmla="*/ 145 w 552"/>
                              <a:gd name="T23" fmla="*/ 19 h 189"/>
                              <a:gd name="T24" fmla="*/ 152 w 552"/>
                              <a:gd name="T25" fmla="*/ 19 h 189"/>
                              <a:gd name="T26" fmla="*/ 168 w 552"/>
                              <a:gd name="T27" fmla="*/ 23 h 189"/>
                              <a:gd name="T28" fmla="*/ 180 w 552"/>
                              <a:gd name="T29" fmla="*/ 19 h 189"/>
                              <a:gd name="T30" fmla="*/ 184 w 552"/>
                              <a:gd name="T31" fmla="*/ 17 h 189"/>
                              <a:gd name="T32" fmla="*/ 198 w 552"/>
                              <a:gd name="T33" fmla="*/ 12 h 189"/>
                              <a:gd name="T34" fmla="*/ 208 w 552"/>
                              <a:gd name="T35" fmla="*/ 10 h 189"/>
                              <a:gd name="T36" fmla="*/ 217 w 552"/>
                              <a:gd name="T37" fmla="*/ 5 h 189"/>
                              <a:gd name="T38" fmla="*/ 222 w 552"/>
                              <a:gd name="T39" fmla="*/ 3 h 189"/>
                              <a:gd name="T40" fmla="*/ 226 w 552"/>
                              <a:gd name="T41" fmla="*/ 0 h 189"/>
                              <a:gd name="T42" fmla="*/ 229 w 552"/>
                              <a:gd name="T43" fmla="*/ 7 h 189"/>
                              <a:gd name="T44" fmla="*/ 233 w 552"/>
                              <a:gd name="T45" fmla="*/ 13 h 189"/>
                              <a:gd name="T46" fmla="*/ 237 w 552"/>
                              <a:gd name="T47" fmla="*/ 14 h 189"/>
                              <a:gd name="T48" fmla="*/ 240 w 552"/>
                              <a:gd name="T49" fmla="*/ 16 h 189"/>
                              <a:gd name="T50" fmla="*/ 259 w 552"/>
                              <a:gd name="T51" fmla="*/ 20 h 189"/>
                              <a:gd name="T52" fmla="*/ 262 w 552"/>
                              <a:gd name="T53" fmla="*/ 23 h 189"/>
                              <a:gd name="T54" fmla="*/ 274 w 552"/>
                              <a:gd name="T55" fmla="*/ 24 h 189"/>
                              <a:gd name="T56" fmla="*/ 275 w 552"/>
                              <a:gd name="T57" fmla="*/ 32 h 189"/>
                              <a:gd name="T58" fmla="*/ 257 w 552"/>
                              <a:gd name="T59" fmla="*/ 46 h 189"/>
                              <a:gd name="T60" fmla="*/ 228 w 552"/>
                              <a:gd name="T61" fmla="*/ 68 h 189"/>
                              <a:gd name="T62" fmla="*/ 198 w 552"/>
                              <a:gd name="T63" fmla="*/ 83 h 189"/>
                              <a:gd name="T64" fmla="*/ 178 w 552"/>
                              <a:gd name="T65" fmla="*/ 88 h 189"/>
                              <a:gd name="T66" fmla="*/ 163 w 552"/>
                              <a:gd name="T67" fmla="*/ 90 h 189"/>
                              <a:gd name="T68" fmla="*/ 150 w 552"/>
                              <a:gd name="T69" fmla="*/ 92 h 189"/>
                              <a:gd name="T70" fmla="*/ 133 w 552"/>
                              <a:gd name="T71" fmla="*/ 93 h 189"/>
                              <a:gd name="T72" fmla="*/ 116 w 552"/>
                              <a:gd name="T73" fmla="*/ 95 h 189"/>
                              <a:gd name="T74" fmla="*/ 101 w 552"/>
                              <a:gd name="T75" fmla="*/ 91 h 189"/>
                              <a:gd name="T76" fmla="*/ 84 w 552"/>
                              <a:gd name="T77" fmla="*/ 91 h 189"/>
                              <a:gd name="T78" fmla="*/ 69 w 552"/>
                              <a:gd name="T79" fmla="*/ 89 h 189"/>
                              <a:gd name="T80" fmla="*/ 57 w 552"/>
                              <a:gd name="T81" fmla="*/ 85 h 189"/>
                              <a:gd name="T82" fmla="*/ 41 w 552"/>
                              <a:gd name="T83" fmla="*/ 77 h 189"/>
                              <a:gd name="T84" fmla="*/ 25 w 552"/>
                              <a:gd name="T85" fmla="*/ 67 h 189"/>
                              <a:gd name="T86" fmla="*/ 12 w 552"/>
                              <a:gd name="T87" fmla="*/ 55 h 189"/>
                              <a:gd name="T88" fmla="*/ 0 w 552"/>
                              <a:gd name="T89" fmla="*/ 42 h 189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60000 65536"/>
                              <a:gd name="T103" fmla="*/ 0 60000 65536"/>
                              <a:gd name="T104" fmla="*/ 0 60000 65536"/>
                              <a:gd name="T105" fmla="*/ 0 60000 65536"/>
                              <a:gd name="T106" fmla="*/ 0 60000 65536"/>
                              <a:gd name="T107" fmla="*/ 0 60000 65536"/>
                              <a:gd name="T108" fmla="*/ 0 60000 65536"/>
                              <a:gd name="T109" fmla="*/ 0 60000 65536"/>
                              <a:gd name="T110" fmla="*/ 0 60000 65536"/>
                              <a:gd name="T111" fmla="*/ 0 60000 65536"/>
                              <a:gd name="T112" fmla="*/ 0 60000 65536"/>
                              <a:gd name="T113" fmla="*/ 0 60000 65536"/>
                              <a:gd name="T114" fmla="*/ 0 60000 65536"/>
                              <a:gd name="T115" fmla="*/ 0 60000 65536"/>
                              <a:gd name="T116" fmla="*/ 0 60000 65536"/>
                              <a:gd name="T117" fmla="*/ 0 60000 65536"/>
                              <a:gd name="T118" fmla="*/ 0 60000 65536"/>
                              <a:gd name="T119" fmla="*/ 0 60000 65536"/>
                              <a:gd name="T120" fmla="*/ 0 60000 65536"/>
                              <a:gd name="T121" fmla="*/ 0 60000 65536"/>
                              <a:gd name="T122" fmla="*/ 0 60000 65536"/>
                              <a:gd name="T123" fmla="*/ 0 60000 655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w 552"/>
                              <a:gd name="T136" fmla="*/ 0 h 189"/>
                              <a:gd name="T137" fmla="*/ 552 w 552"/>
                              <a:gd name="T138" fmla="*/ 189 h 189"/>
                            </a:gdLst>
                            <a:ahLst/>
                            <a:cxnLst>
                              <a:cxn ang="T90">
                                <a:pos x="T0" y="T1"/>
                              </a:cxn>
                              <a:cxn ang="T91">
                                <a:pos x="T2" y="T3"/>
                              </a:cxn>
                              <a:cxn ang="T92">
                                <a:pos x="T4" y="T5"/>
                              </a:cxn>
                              <a:cxn ang="T93">
                                <a:pos x="T6" y="T7"/>
                              </a:cxn>
                              <a:cxn ang="T94">
                                <a:pos x="T8" y="T9"/>
                              </a:cxn>
                              <a:cxn ang="T95">
                                <a:pos x="T10" y="T11"/>
                              </a:cxn>
                              <a:cxn ang="T96">
                                <a:pos x="T12" y="T13"/>
                              </a:cxn>
                              <a:cxn ang="T97">
                                <a:pos x="T14" y="T15"/>
                              </a:cxn>
                              <a:cxn ang="T98">
                                <a:pos x="T16" y="T17"/>
                              </a:cxn>
                              <a:cxn ang="T99">
                                <a:pos x="T18" y="T19"/>
                              </a:cxn>
                              <a:cxn ang="T100">
                                <a:pos x="T20" y="T21"/>
                              </a:cxn>
                              <a:cxn ang="T101">
                                <a:pos x="T22" y="T23"/>
                              </a:cxn>
                              <a:cxn ang="T102">
                                <a:pos x="T24" y="T25"/>
                              </a:cxn>
                              <a:cxn ang="T103">
                                <a:pos x="T26" y="T27"/>
                              </a:cxn>
                              <a:cxn ang="T104">
                                <a:pos x="T28" y="T29"/>
                              </a:cxn>
                              <a:cxn ang="T105">
                                <a:pos x="T30" y="T31"/>
                              </a:cxn>
                              <a:cxn ang="T106">
                                <a:pos x="T32" y="T33"/>
                              </a:cxn>
                              <a:cxn ang="T107">
                                <a:pos x="T34" y="T35"/>
                              </a:cxn>
                              <a:cxn ang="T108">
                                <a:pos x="T36" y="T37"/>
                              </a:cxn>
                              <a:cxn ang="T109">
                                <a:pos x="T38" y="T39"/>
                              </a:cxn>
                              <a:cxn ang="T110">
                                <a:pos x="T40" y="T41"/>
                              </a:cxn>
                              <a:cxn ang="T111">
                                <a:pos x="T42" y="T43"/>
                              </a:cxn>
                              <a:cxn ang="T112">
                                <a:pos x="T44" y="T45"/>
                              </a:cxn>
                              <a:cxn ang="T113">
                                <a:pos x="T46" y="T47"/>
                              </a:cxn>
                              <a:cxn ang="T114">
                                <a:pos x="T48" y="T49"/>
                              </a:cxn>
                              <a:cxn ang="T115">
                                <a:pos x="T50" y="T51"/>
                              </a:cxn>
                              <a:cxn ang="T116">
                                <a:pos x="T52" y="T53"/>
                              </a:cxn>
                              <a:cxn ang="T117">
                                <a:pos x="T54" y="T55"/>
                              </a:cxn>
                              <a:cxn ang="T118">
                                <a:pos x="T56" y="T57"/>
                              </a:cxn>
                              <a:cxn ang="T119">
                                <a:pos x="T58" y="T59"/>
                              </a:cxn>
                              <a:cxn ang="T120">
                                <a:pos x="T60" y="T61"/>
                              </a:cxn>
                              <a:cxn ang="T121">
                                <a:pos x="T62" y="T63"/>
                              </a:cxn>
                              <a:cxn ang="T122">
                                <a:pos x="T64" y="T65"/>
                              </a:cxn>
                              <a:cxn ang="T123">
                                <a:pos x="T66" y="T67"/>
                              </a:cxn>
                              <a:cxn ang="T124">
                                <a:pos x="T68" y="T69"/>
                              </a:cxn>
                              <a:cxn ang="T125">
                                <a:pos x="T70" y="T71"/>
                              </a:cxn>
                              <a:cxn ang="T126">
                                <a:pos x="T72" y="T73"/>
                              </a:cxn>
                              <a:cxn ang="T127">
                                <a:pos x="T74" y="T75"/>
                              </a:cxn>
                              <a:cxn ang="T128">
                                <a:pos x="T76" y="T77"/>
                              </a:cxn>
                              <a:cxn ang="T129">
                                <a:pos x="T78" y="T79"/>
                              </a:cxn>
                              <a:cxn ang="T130">
                                <a:pos x="T80" y="T81"/>
                              </a:cxn>
                              <a:cxn ang="T131">
                                <a:pos x="T82" y="T83"/>
                              </a:cxn>
                              <a:cxn ang="T132">
                                <a:pos x="T84" y="T85"/>
                              </a:cxn>
                              <a:cxn ang="T133">
                                <a:pos x="T86" y="T87"/>
                              </a:cxn>
                              <a:cxn ang="T134">
                                <a:pos x="T88" y="T89"/>
                              </a:cxn>
                            </a:cxnLst>
                            <a:rect l="T135" t="T136" r="T137" b="T138"/>
                            <a:pathLst>
                              <a:path w="552" h="189">
                                <a:moveTo>
                                  <a:pt x="0" y="83"/>
                                </a:moveTo>
                                <a:lnTo>
                                  <a:pt x="54" y="58"/>
                                </a:lnTo>
                                <a:lnTo>
                                  <a:pt x="67" y="57"/>
                                </a:lnTo>
                                <a:lnTo>
                                  <a:pt x="76" y="53"/>
                                </a:lnTo>
                                <a:lnTo>
                                  <a:pt x="136" y="56"/>
                                </a:lnTo>
                                <a:lnTo>
                                  <a:pt x="140" y="50"/>
                                </a:lnTo>
                                <a:lnTo>
                                  <a:pt x="147" y="47"/>
                                </a:lnTo>
                                <a:lnTo>
                                  <a:pt x="159" y="42"/>
                                </a:lnTo>
                                <a:lnTo>
                                  <a:pt x="168" y="37"/>
                                </a:lnTo>
                                <a:lnTo>
                                  <a:pt x="176" y="37"/>
                                </a:lnTo>
                                <a:lnTo>
                                  <a:pt x="179" y="37"/>
                                </a:lnTo>
                                <a:lnTo>
                                  <a:pt x="181" y="37"/>
                                </a:lnTo>
                                <a:lnTo>
                                  <a:pt x="192" y="38"/>
                                </a:lnTo>
                                <a:lnTo>
                                  <a:pt x="203" y="42"/>
                                </a:lnTo>
                                <a:lnTo>
                                  <a:pt x="210" y="51"/>
                                </a:lnTo>
                                <a:lnTo>
                                  <a:pt x="214" y="50"/>
                                </a:lnTo>
                                <a:lnTo>
                                  <a:pt x="217" y="57"/>
                                </a:lnTo>
                                <a:lnTo>
                                  <a:pt x="232" y="56"/>
                                </a:lnTo>
                                <a:lnTo>
                                  <a:pt x="246" y="51"/>
                                </a:lnTo>
                                <a:lnTo>
                                  <a:pt x="254" y="50"/>
                                </a:lnTo>
                                <a:lnTo>
                                  <a:pt x="264" y="45"/>
                                </a:lnTo>
                                <a:lnTo>
                                  <a:pt x="275" y="41"/>
                                </a:lnTo>
                                <a:lnTo>
                                  <a:pt x="284" y="41"/>
                                </a:lnTo>
                                <a:lnTo>
                                  <a:pt x="291" y="38"/>
                                </a:lnTo>
                                <a:lnTo>
                                  <a:pt x="299" y="34"/>
                                </a:lnTo>
                                <a:lnTo>
                                  <a:pt x="305" y="38"/>
                                </a:lnTo>
                                <a:lnTo>
                                  <a:pt x="321" y="42"/>
                                </a:lnTo>
                                <a:lnTo>
                                  <a:pt x="338" y="45"/>
                                </a:lnTo>
                                <a:lnTo>
                                  <a:pt x="354" y="45"/>
                                </a:lnTo>
                                <a:lnTo>
                                  <a:pt x="361" y="38"/>
                                </a:lnTo>
                                <a:lnTo>
                                  <a:pt x="365" y="38"/>
                                </a:lnTo>
                                <a:lnTo>
                                  <a:pt x="369" y="34"/>
                                </a:lnTo>
                                <a:lnTo>
                                  <a:pt x="382" y="27"/>
                                </a:lnTo>
                                <a:lnTo>
                                  <a:pt x="397" y="24"/>
                                </a:lnTo>
                                <a:lnTo>
                                  <a:pt x="405" y="24"/>
                                </a:lnTo>
                                <a:lnTo>
                                  <a:pt x="417" y="19"/>
                                </a:lnTo>
                                <a:lnTo>
                                  <a:pt x="423" y="19"/>
                                </a:lnTo>
                                <a:lnTo>
                                  <a:pt x="436" y="9"/>
                                </a:lnTo>
                                <a:lnTo>
                                  <a:pt x="440" y="11"/>
                                </a:lnTo>
                                <a:lnTo>
                                  <a:pt x="445" y="5"/>
                                </a:lnTo>
                                <a:lnTo>
                                  <a:pt x="449" y="3"/>
                                </a:lnTo>
                                <a:lnTo>
                                  <a:pt x="454" y="0"/>
                                </a:lnTo>
                                <a:lnTo>
                                  <a:pt x="454" y="8"/>
                                </a:lnTo>
                                <a:lnTo>
                                  <a:pt x="460" y="13"/>
                                </a:lnTo>
                                <a:lnTo>
                                  <a:pt x="464" y="21"/>
                                </a:lnTo>
                                <a:lnTo>
                                  <a:pt x="468" y="25"/>
                                </a:lnTo>
                                <a:lnTo>
                                  <a:pt x="472" y="25"/>
                                </a:lnTo>
                                <a:lnTo>
                                  <a:pt x="476" y="28"/>
                                </a:lnTo>
                                <a:lnTo>
                                  <a:pt x="482" y="28"/>
                                </a:lnTo>
                                <a:lnTo>
                                  <a:pt x="482" y="31"/>
                                </a:lnTo>
                                <a:lnTo>
                                  <a:pt x="509" y="31"/>
                                </a:lnTo>
                                <a:lnTo>
                                  <a:pt x="520" y="40"/>
                                </a:lnTo>
                                <a:lnTo>
                                  <a:pt x="523" y="40"/>
                                </a:lnTo>
                                <a:lnTo>
                                  <a:pt x="525" y="45"/>
                                </a:lnTo>
                                <a:lnTo>
                                  <a:pt x="532" y="42"/>
                                </a:lnTo>
                                <a:lnTo>
                                  <a:pt x="550" y="47"/>
                                </a:lnTo>
                                <a:lnTo>
                                  <a:pt x="546" y="56"/>
                                </a:lnTo>
                                <a:lnTo>
                                  <a:pt x="552" y="63"/>
                                </a:lnTo>
                                <a:lnTo>
                                  <a:pt x="531" y="79"/>
                                </a:lnTo>
                                <a:lnTo>
                                  <a:pt x="515" y="92"/>
                                </a:lnTo>
                                <a:lnTo>
                                  <a:pt x="494" y="111"/>
                                </a:lnTo>
                                <a:lnTo>
                                  <a:pt x="458" y="135"/>
                                </a:lnTo>
                                <a:lnTo>
                                  <a:pt x="424" y="151"/>
                                </a:lnTo>
                                <a:lnTo>
                                  <a:pt x="397" y="166"/>
                                </a:lnTo>
                                <a:lnTo>
                                  <a:pt x="379" y="170"/>
                                </a:lnTo>
                                <a:lnTo>
                                  <a:pt x="357" y="176"/>
                                </a:lnTo>
                                <a:lnTo>
                                  <a:pt x="339" y="180"/>
                                </a:lnTo>
                                <a:lnTo>
                                  <a:pt x="328" y="180"/>
                                </a:lnTo>
                                <a:lnTo>
                                  <a:pt x="310" y="185"/>
                                </a:lnTo>
                                <a:lnTo>
                                  <a:pt x="301" y="183"/>
                                </a:lnTo>
                                <a:lnTo>
                                  <a:pt x="284" y="186"/>
                                </a:lnTo>
                                <a:lnTo>
                                  <a:pt x="266" y="185"/>
                                </a:lnTo>
                                <a:lnTo>
                                  <a:pt x="244" y="186"/>
                                </a:lnTo>
                                <a:lnTo>
                                  <a:pt x="232" y="189"/>
                                </a:lnTo>
                                <a:lnTo>
                                  <a:pt x="218" y="185"/>
                                </a:lnTo>
                                <a:lnTo>
                                  <a:pt x="202" y="182"/>
                                </a:lnTo>
                                <a:lnTo>
                                  <a:pt x="185" y="183"/>
                                </a:lnTo>
                                <a:lnTo>
                                  <a:pt x="168" y="182"/>
                                </a:lnTo>
                                <a:lnTo>
                                  <a:pt x="152" y="179"/>
                                </a:lnTo>
                                <a:lnTo>
                                  <a:pt x="139" y="178"/>
                                </a:lnTo>
                                <a:lnTo>
                                  <a:pt x="128" y="178"/>
                                </a:lnTo>
                                <a:lnTo>
                                  <a:pt x="115" y="170"/>
                                </a:lnTo>
                                <a:lnTo>
                                  <a:pt x="98" y="163"/>
                                </a:lnTo>
                                <a:lnTo>
                                  <a:pt x="83" y="153"/>
                                </a:lnTo>
                                <a:lnTo>
                                  <a:pt x="67" y="144"/>
                                </a:lnTo>
                                <a:lnTo>
                                  <a:pt x="50" y="133"/>
                                </a:lnTo>
                                <a:lnTo>
                                  <a:pt x="35" y="121"/>
                                </a:lnTo>
                                <a:lnTo>
                                  <a:pt x="24" y="109"/>
                                </a:lnTo>
                                <a:lnTo>
                                  <a:pt x="13" y="99"/>
                                </a:lnTo>
                                <a:lnTo>
                                  <a:pt x="0" y="8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76" name="Freeform 163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3105" y="2679"/>
                            <a:ext cx="55" cy="99"/>
                          </a:xfrm>
                          <a:custGeom>
                            <a:avLst/>
                            <a:gdLst>
                              <a:gd name="T0" fmla="*/ 11 w 110"/>
                              <a:gd name="T1" fmla="*/ 31 h 197"/>
                              <a:gd name="T2" fmla="*/ 9 w 110"/>
                              <a:gd name="T3" fmla="*/ 51 h 197"/>
                              <a:gd name="T4" fmla="*/ 4 w 110"/>
                              <a:gd name="T5" fmla="*/ 63 h 197"/>
                              <a:gd name="T6" fmla="*/ 0 w 110"/>
                              <a:gd name="T7" fmla="*/ 75 h 197"/>
                              <a:gd name="T8" fmla="*/ 0 w 110"/>
                              <a:gd name="T9" fmla="*/ 84 h 197"/>
                              <a:gd name="T10" fmla="*/ 2 w 110"/>
                              <a:gd name="T11" fmla="*/ 91 h 197"/>
                              <a:gd name="T12" fmla="*/ 6 w 110"/>
                              <a:gd name="T13" fmla="*/ 97 h 197"/>
                              <a:gd name="T14" fmla="*/ 11 w 110"/>
                              <a:gd name="T15" fmla="*/ 98 h 197"/>
                              <a:gd name="T16" fmla="*/ 14 w 110"/>
                              <a:gd name="T17" fmla="*/ 98 h 197"/>
                              <a:gd name="T18" fmla="*/ 18 w 110"/>
                              <a:gd name="T19" fmla="*/ 99 h 197"/>
                              <a:gd name="T20" fmla="*/ 20 w 110"/>
                              <a:gd name="T21" fmla="*/ 94 h 197"/>
                              <a:gd name="T22" fmla="*/ 22 w 110"/>
                              <a:gd name="T23" fmla="*/ 81 h 197"/>
                              <a:gd name="T24" fmla="*/ 28 w 110"/>
                              <a:gd name="T25" fmla="*/ 72 h 197"/>
                              <a:gd name="T26" fmla="*/ 29 w 110"/>
                              <a:gd name="T27" fmla="*/ 59 h 197"/>
                              <a:gd name="T28" fmla="*/ 33 w 110"/>
                              <a:gd name="T29" fmla="*/ 54 h 197"/>
                              <a:gd name="T30" fmla="*/ 35 w 110"/>
                              <a:gd name="T31" fmla="*/ 50 h 197"/>
                              <a:gd name="T32" fmla="*/ 37 w 110"/>
                              <a:gd name="T33" fmla="*/ 41 h 197"/>
                              <a:gd name="T34" fmla="*/ 41 w 110"/>
                              <a:gd name="T35" fmla="*/ 35 h 197"/>
                              <a:gd name="T36" fmla="*/ 44 w 110"/>
                              <a:gd name="T37" fmla="*/ 31 h 197"/>
                              <a:gd name="T38" fmla="*/ 47 w 110"/>
                              <a:gd name="T39" fmla="*/ 27 h 197"/>
                              <a:gd name="T40" fmla="*/ 47 w 110"/>
                              <a:gd name="T41" fmla="*/ 25 h 197"/>
                              <a:gd name="T42" fmla="*/ 53 w 110"/>
                              <a:gd name="T43" fmla="*/ 20 h 197"/>
                              <a:gd name="T44" fmla="*/ 54 w 110"/>
                              <a:gd name="T45" fmla="*/ 11 h 197"/>
                              <a:gd name="T46" fmla="*/ 55 w 110"/>
                              <a:gd name="T47" fmla="*/ 6 h 197"/>
                              <a:gd name="T48" fmla="*/ 50 w 110"/>
                              <a:gd name="T49" fmla="*/ 4 h 197"/>
                              <a:gd name="T50" fmla="*/ 46 w 110"/>
                              <a:gd name="T51" fmla="*/ 0 h 197"/>
                              <a:gd name="T52" fmla="*/ 41 w 110"/>
                              <a:gd name="T53" fmla="*/ 4 h 197"/>
                              <a:gd name="T54" fmla="*/ 37 w 110"/>
                              <a:gd name="T55" fmla="*/ 12 h 197"/>
                              <a:gd name="T56" fmla="*/ 33 w 110"/>
                              <a:gd name="T57" fmla="*/ 19 h 197"/>
                              <a:gd name="T58" fmla="*/ 28 w 110"/>
                              <a:gd name="T59" fmla="*/ 24 h 197"/>
                              <a:gd name="T60" fmla="*/ 26 w 110"/>
                              <a:gd name="T61" fmla="*/ 24 h 197"/>
                              <a:gd name="T62" fmla="*/ 22 w 110"/>
                              <a:gd name="T63" fmla="*/ 27 h 197"/>
                              <a:gd name="T64" fmla="*/ 20 w 110"/>
                              <a:gd name="T65" fmla="*/ 30 h 197"/>
                              <a:gd name="T66" fmla="*/ 11 w 110"/>
                              <a:gd name="T67" fmla="*/ 31 h 197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  <a:gd name="T78" fmla="*/ 0 60000 65536"/>
                              <a:gd name="T79" fmla="*/ 0 60000 65536"/>
                              <a:gd name="T80" fmla="*/ 0 60000 65536"/>
                              <a:gd name="T81" fmla="*/ 0 60000 65536"/>
                              <a:gd name="T82" fmla="*/ 0 60000 65536"/>
                              <a:gd name="T83" fmla="*/ 0 60000 65536"/>
                              <a:gd name="T84" fmla="*/ 0 60000 65536"/>
                              <a:gd name="T85" fmla="*/ 0 60000 65536"/>
                              <a:gd name="T86" fmla="*/ 0 60000 65536"/>
                              <a:gd name="T87" fmla="*/ 0 60000 65536"/>
                              <a:gd name="T88" fmla="*/ 0 60000 65536"/>
                              <a:gd name="T89" fmla="*/ 0 60000 65536"/>
                              <a:gd name="T90" fmla="*/ 0 60000 65536"/>
                              <a:gd name="T91" fmla="*/ 0 60000 65536"/>
                              <a:gd name="T92" fmla="*/ 0 60000 65536"/>
                              <a:gd name="T93" fmla="*/ 0 60000 65536"/>
                              <a:gd name="T94" fmla="*/ 0 60000 65536"/>
                              <a:gd name="T95" fmla="*/ 0 60000 65536"/>
                              <a:gd name="T96" fmla="*/ 0 60000 65536"/>
                              <a:gd name="T97" fmla="*/ 0 60000 65536"/>
                              <a:gd name="T98" fmla="*/ 0 60000 65536"/>
                              <a:gd name="T99" fmla="*/ 0 60000 65536"/>
                              <a:gd name="T100" fmla="*/ 0 60000 65536"/>
                              <a:gd name="T101" fmla="*/ 0 60000 65536"/>
                              <a:gd name="T102" fmla="*/ 0 w 110"/>
                              <a:gd name="T103" fmla="*/ 0 h 197"/>
                              <a:gd name="T104" fmla="*/ 110 w 110"/>
                              <a:gd name="T105" fmla="*/ 197 h 197"/>
                            </a:gdLst>
                            <a:ahLst/>
                            <a:cxnLst>
                              <a:cxn ang="T68">
                                <a:pos x="T0" y="T1"/>
                              </a:cxn>
                              <a:cxn ang="T69">
                                <a:pos x="T2" y="T3"/>
                              </a:cxn>
                              <a:cxn ang="T70">
                                <a:pos x="T4" y="T5"/>
                              </a:cxn>
                              <a:cxn ang="T71">
                                <a:pos x="T6" y="T7"/>
                              </a:cxn>
                              <a:cxn ang="T72">
                                <a:pos x="T8" y="T9"/>
                              </a:cxn>
                              <a:cxn ang="T73">
                                <a:pos x="T10" y="T11"/>
                              </a:cxn>
                              <a:cxn ang="T74">
                                <a:pos x="T12" y="T13"/>
                              </a:cxn>
                              <a:cxn ang="T75">
                                <a:pos x="T14" y="T15"/>
                              </a:cxn>
                              <a:cxn ang="T76">
                                <a:pos x="T16" y="T17"/>
                              </a:cxn>
                              <a:cxn ang="T77">
                                <a:pos x="T18" y="T19"/>
                              </a:cxn>
                              <a:cxn ang="T78">
                                <a:pos x="T20" y="T21"/>
                              </a:cxn>
                              <a:cxn ang="T79">
                                <a:pos x="T22" y="T23"/>
                              </a:cxn>
                              <a:cxn ang="T80">
                                <a:pos x="T24" y="T25"/>
                              </a:cxn>
                              <a:cxn ang="T81">
                                <a:pos x="T26" y="T27"/>
                              </a:cxn>
                              <a:cxn ang="T82">
                                <a:pos x="T28" y="T29"/>
                              </a:cxn>
                              <a:cxn ang="T83">
                                <a:pos x="T30" y="T31"/>
                              </a:cxn>
                              <a:cxn ang="T84">
                                <a:pos x="T32" y="T33"/>
                              </a:cxn>
                              <a:cxn ang="T85">
                                <a:pos x="T34" y="T35"/>
                              </a:cxn>
                              <a:cxn ang="T86">
                                <a:pos x="T36" y="T37"/>
                              </a:cxn>
                              <a:cxn ang="T87">
                                <a:pos x="T38" y="T39"/>
                              </a:cxn>
                              <a:cxn ang="T88">
                                <a:pos x="T40" y="T41"/>
                              </a:cxn>
                              <a:cxn ang="T89">
                                <a:pos x="T42" y="T43"/>
                              </a:cxn>
                              <a:cxn ang="T90">
                                <a:pos x="T44" y="T45"/>
                              </a:cxn>
                              <a:cxn ang="T91">
                                <a:pos x="T46" y="T47"/>
                              </a:cxn>
                              <a:cxn ang="T92">
                                <a:pos x="T48" y="T49"/>
                              </a:cxn>
                              <a:cxn ang="T93">
                                <a:pos x="T50" y="T51"/>
                              </a:cxn>
                              <a:cxn ang="T94">
                                <a:pos x="T52" y="T53"/>
                              </a:cxn>
                              <a:cxn ang="T95">
                                <a:pos x="T54" y="T55"/>
                              </a:cxn>
                              <a:cxn ang="T96">
                                <a:pos x="T56" y="T57"/>
                              </a:cxn>
                              <a:cxn ang="T97">
                                <a:pos x="T58" y="T59"/>
                              </a:cxn>
                              <a:cxn ang="T98">
                                <a:pos x="T60" y="T61"/>
                              </a:cxn>
                              <a:cxn ang="T99">
                                <a:pos x="T62" y="T63"/>
                              </a:cxn>
                              <a:cxn ang="T100">
                                <a:pos x="T64" y="T65"/>
                              </a:cxn>
                              <a:cxn ang="T101">
                                <a:pos x="T66" y="T67"/>
                              </a:cxn>
                            </a:cxnLst>
                            <a:rect l="T102" t="T103" r="T104" b="T105"/>
                            <a:pathLst>
                              <a:path w="110" h="197">
                                <a:moveTo>
                                  <a:pt x="21" y="62"/>
                                </a:moveTo>
                                <a:lnTo>
                                  <a:pt x="18" y="101"/>
                                </a:lnTo>
                                <a:lnTo>
                                  <a:pt x="8" y="126"/>
                                </a:lnTo>
                                <a:lnTo>
                                  <a:pt x="0" y="149"/>
                                </a:lnTo>
                                <a:lnTo>
                                  <a:pt x="0" y="167"/>
                                </a:lnTo>
                                <a:lnTo>
                                  <a:pt x="3" y="181"/>
                                </a:lnTo>
                                <a:lnTo>
                                  <a:pt x="12" y="194"/>
                                </a:lnTo>
                                <a:lnTo>
                                  <a:pt x="21" y="196"/>
                                </a:lnTo>
                                <a:lnTo>
                                  <a:pt x="28" y="196"/>
                                </a:lnTo>
                                <a:lnTo>
                                  <a:pt x="36" y="197"/>
                                </a:lnTo>
                                <a:lnTo>
                                  <a:pt x="40" y="187"/>
                                </a:lnTo>
                                <a:lnTo>
                                  <a:pt x="44" y="161"/>
                                </a:lnTo>
                                <a:lnTo>
                                  <a:pt x="56" y="144"/>
                                </a:lnTo>
                                <a:lnTo>
                                  <a:pt x="59" y="117"/>
                                </a:lnTo>
                                <a:lnTo>
                                  <a:pt x="65" y="107"/>
                                </a:lnTo>
                                <a:lnTo>
                                  <a:pt x="70" y="100"/>
                                </a:lnTo>
                                <a:lnTo>
                                  <a:pt x="74" y="81"/>
                                </a:lnTo>
                                <a:lnTo>
                                  <a:pt x="82" y="69"/>
                                </a:lnTo>
                                <a:lnTo>
                                  <a:pt x="88" y="61"/>
                                </a:lnTo>
                                <a:lnTo>
                                  <a:pt x="93" y="53"/>
                                </a:lnTo>
                                <a:lnTo>
                                  <a:pt x="93" y="49"/>
                                </a:lnTo>
                                <a:lnTo>
                                  <a:pt x="106" y="39"/>
                                </a:lnTo>
                                <a:lnTo>
                                  <a:pt x="107" y="22"/>
                                </a:lnTo>
                                <a:lnTo>
                                  <a:pt x="110" y="11"/>
                                </a:lnTo>
                                <a:lnTo>
                                  <a:pt x="99" y="7"/>
                                </a:lnTo>
                                <a:lnTo>
                                  <a:pt x="92" y="0"/>
                                </a:lnTo>
                                <a:lnTo>
                                  <a:pt x="82" y="7"/>
                                </a:lnTo>
                                <a:lnTo>
                                  <a:pt x="74" y="24"/>
                                </a:lnTo>
                                <a:lnTo>
                                  <a:pt x="65" y="38"/>
                                </a:lnTo>
                                <a:lnTo>
                                  <a:pt x="56" y="48"/>
                                </a:lnTo>
                                <a:lnTo>
                                  <a:pt x="52" y="48"/>
                                </a:lnTo>
                                <a:lnTo>
                                  <a:pt x="44" y="53"/>
                                </a:lnTo>
                                <a:lnTo>
                                  <a:pt x="40" y="59"/>
                                </a:lnTo>
                                <a:lnTo>
                                  <a:pt x="21" y="62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  <p:sp>
                        <p:nvSpPr>
                          <p:cNvPr id="62677" name="Freeform 164"/>
                          <p:cNvSpPr>
                            <a:spLocks/>
                          </p:cNvSpPr>
                          <p:nvPr/>
                        </p:nvSpPr>
                        <p:spPr bwMode="auto">
                          <a:xfrm>
                            <a:off x="2840" y="2113"/>
                            <a:ext cx="751" cy="469"/>
                          </a:xfrm>
                          <a:custGeom>
                            <a:avLst/>
                            <a:gdLst>
                              <a:gd name="T0" fmla="*/ 44 w 1503"/>
                              <a:gd name="T1" fmla="*/ 196 h 936"/>
                              <a:gd name="T2" fmla="*/ 50 w 1503"/>
                              <a:gd name="T3" fmla="*/ 162 h 936"/>
                              <a:gd name="T4" fmla="*/ 75 w 1503"/>
                              <a:gd name="T5" fmla="*/ 142 h 936"/>
                              <a:gd name="T6" fmla="*/ 104 w 1503"/>
                              <a:gd name="T7" fmla="*/ 133 h 936"/>
                              <a:gd name="T8" fmla="*/ 112 w 1503"/>
                              <a:gd name="T9" fmla="*/ 113 h 936"/>
                              <a:gd name="T10" fmla="*/ 149 w 1503"/>
                              <a:gd name="T11" fmla="*/ 96 h 936"/>
                              <a:gd name="T12" fmla="*/ 173 w 1503"/>
                              <a:gd name="T13" fmla="*/ 71 h 936"/>
                              <a:gd name="T14" fmla="*/ 162 w 1503"/>
                              <a:gd name="T15" fmla="*/ 59 h 936"/>
                              <a:gd name="T16" fmla="*/ 165 w 1503"/>
                              <a:gd name="T17" fmla="*/ 47 h 936"/>
                              <a:gd name="T18" fmla="*/ 141 w 1503"/>
                              <a:gd name="T19" fmla="*/ 64 h 936"/>
                              <a:gd name="T20" fmla="*/ 133 w 1503"/>
                              <a:gd name="T21" fmla="*/ 97 h 936"/>
                              <a:gd name="T22" fmla="*/ 117 w 1503"/>
                              <a:gd name="T23" fmla="*/ 107 h 936"/>
                              <a:gd name="T24" fmla="*/ 108 w 1503"/>
                              <a:gd name="T25" fmla="*/ 90 h 936"/>
                              <a:gd name="T26" fmla="*/ 86 w 1503"/>
                              <a:gd name="T27" fmla="*/ 98 h 936"/>
                              <a:gd name="T28" fmla="*/ 79 w 1503"/>
                              <a:gd name="T29" fmla="*/ 85 h 936"/>
                              <a:gd name="T30" fmla="*/ 80 w 1503"/>
                              <a:gd name="T31" fmla="*/ 72 h 936"/>
                              <a:gd name="T32" fmla="*/ 104 w 1503"/>
                              <a:gd name="T33" fmla="*/ 63 h 936"/>
                              <a:gd name="T34" fmla="*/ 120 w 1503"/>
                              <a:gd name="T35" fmla="*/ 41 h 936"/>
                              <a:gd name="T36" fmla="*/ 145 w 1503"/>
                              <a:gd name="T37" fmla="*/ 14 h 936"/>
                              <a:gd name="T38" fmla="*/ 180 w 1503"/>
                              <a:gd name="T39" fmla="*/ 7 h 936"/>
                              <a:gd name="T40" fmla="*/ 227 w 1503"/>
                              <a:gd name="T41" fmla="*/ 27 h 936"/>
                              <a:gd name="T42" fmla="*/ 210 w 1503"/>
                              <a:gd name="T43" fmla="*/ 59 h 936"/>
                              <a:gd name="T44" fmla="*/ 227 w 1503"/>
                              <a:gd name="T45" fmla="*/ 75 h 936"/>
                              <a:gd name="T46" fmla="*/ 241 w 1503"/>
                              <a:gd name="T47" fmla="*/ 57 h 936"/>
                              <a:gd name="T48" fmla="*/ 304 w 1503"/>
                              <a:gd name="T49" fmla="*/ 49 h 936"/>
                              <a:gd name="T50" fmla="*/ 379 w 1503"/>
                              <a:gd name="T51" fmla="*/ 9 h 936"/>
                              <a:gd name="T52" fmla="*/ 496 w 1503"/>
                              <a:gd name="T53" fmla="*/ 27 h 936"/>
                              <a:gd name="T54" fmla="*/ 709 w 1503"/>
                              <a:gd name="T55" fmla="*/ 60 h 936"/>
                              <a:gd name="T56" fmla="*/ 727 w 1503"/>
                              <a:gd name="T57" fmla="*/ 78 h 936"/>
                              <a:gd name="T58" fmla="*/ 734 w 1503"/>
                              <a:gd name="T59" fmla="*/ 142 h 936"/>
                              <a:gd name="T60" fmla="*/ 673 w 1503"/>
                              <a:gd name="T61" fmla="*/ 91 h 936"/>
                              <a:gd name="T62" fmla="*/ 624 w 1503"/>
                              <a:gd name="T63" fmla="*/ 114 h 936"/>
                              <a:gd name="T64" fmla="*/ 691 w 1503"/>
                              <a:gd name="T65" fmla="*/ 203 h 936"/>
                              <a:gd name="T66" fmla="*/ 664 w 1503"/>
                              <a:gd name="T67" fmla="*/ 242 h 936"/>
                              <a:gd name="T68" fmla="*/ 708 w 1503"/>
                              <a:gd name="T69" fmla="*/ 329 h 936"/>
                              <a:gd name="T70" fmla="*/ 663 w 1503"/>
                              <a:gd name="T71" fmla="*/ 374 h 936"/>
                              <a:gd name="T72" fmla="*/ 651 w 1503"/>
                              <a:gd name="T73" fmla="*/ 409 h 936"/>
                              <a:gd name="T74" fmla="*/ 649 w 1503"/>
                              <a:gd name="T75" fmla="*/ 443 h 936"/>
                              <a:gd name="T76" fmla="*/ 633 w 1503"/>
                              <a:gd name="T77" fmla="*/ 442 h 936"/>
                              <a:gd name="T78" fmla="*/ 586 w 1503"/>
                              <a:gd name="T79" fmla="*/ 370 h 936"/>
                              <a:gd name="T80" fmla="*/ 520 w 1503"/>
                              <a:gd name="T81" fmla="*/ 368 h 936"/>
                              <a:gd name="T82" fmla="*/ 480 w 1503"/>
                              <a:gd name="T83" fmla="*/ 410 h 936"/>
                              <a:gd name="T84" fmla="*/ 398 w 1503"/>
                              <a:gd name="T85" fmla="*/ 319 h 936"/>
                              <a:gd name="T86" fmla="*/ 291 w 1503"/>
                              <a:gd name="T87" fmla="*/ 287 h 936"/>
                              <a:gd name="T88" fmla="*/ 372 w 1503"/>
                              <a:gd name="T89" fmla="*/ 343 h 936"/>
                              <a:gd name="T90" fmla="*/ 277 w 1503"/>
                              <a:gd name="T91" fmla="*/ 394 h 936"/>
                              <a:gd name="T92" fmla="*/ 252 w 1503"/>
                              <a:gd name="T93" fmla="*/ 346 h 936"/>
                              <a:gd name="T94" fmla="*/ 213 w 1503"/>
                              <a:gd name="T95" fmla="*/ 290 h 936"/>
                              <a:gd name="T96" fmla="*/ 189 w 1503"/>
                              <a:gd name="T97" fmla="*/ 249 h 936"/>
                              <a:gd name="T98" fmla="*/ 178 w 1503"/>
                              <a:gd name="T99" fmla="*/ 229 h 936"/>
                              <a:gd name="T100" fmla="*/ 164 w 1503"/>
                              <a:gd name="T101" fmla="*/ 217 h 936"/>
                              <a:gd name="T102" fmla="*/ 158 w 1503"/>
                              <a:gd name="T103" fmla="*/ 239 h 936"/>
                              <a:gd name="T104" fmla="*/ 138 w 1503"/>
                              <a:gd name="T105" fmla="*/ 205 h 936"/>
                              <a:gd name="T106" fmla="*/ 116 w 1503"/>
                              <a:gd name="T107" fmla="*/ 194 h 936"/>
                              <a:gd name="T108" fmla="*/ 140 w 1503"/>
                              <a:gd name="T109" fmla="*/ 223 h 936"/>
                              <a:gd name="T110" fmla="*/ 130 w 1503"/>
                              <a:gd name="T111" fmla="*/ 229 h 936"/>
                              <a:gd name="T112" fmla="*/ 110 w 1503"/>
                              <a:gd name="T113" fmla="*/ 210 h 936"/>
                              <a:gd name="T114" fmla="*/ 88 w 1503"/>
                              <a:gd name="T115" fmla="*/ 197 h 936"/>
                              <a:gd name="T116" fmla="*/ 60 w 1503"/>
                              <a:gd name="T117" fmla="*/ 213 h 936"/>
                              <a:gd name="T118" fmla="*/ 53 w 1503"/>
                              <a:gd name="T119" fmla="*/ 234 h 936"/>
                              <a:gd name="T120" fmla="*/ 34 w 1503"/>
                              <a:gd name="T121" fmla="*/ 248 h 936"/>
                              <a:gd name="T122" fmla="*/ 4 w 1503"/>
                              <a:gd name="T123" fmla="*/ 239 h 936"/>
                              <a:gd name="T124" fmla="*/ 0 60000 65536"/>
                              <a:gd name="T125" fmla="*/ 0 60000 65536"/>
                              <a:gd name="T126" fmla="*/ 0 60000 65536"/>
                              <a:gd name="T127" fmla="*/ 0 60000 65536"/>
                              <a:gd name="T128" fmla="*/ 0 60000 65536"/>
                              <a:gd name="T129" fmla="*/ 0 60000 65536"/>
                              <a:gd name="T130" fmla="*/ 0 60000 65536"/>
                              <a:gd name="T131" fmla="*/ 0 60000 65536"/>
                              <a:gd name="T132" fmla="*/ 0 60000 65536"/>
                              <a:gd name="T133" fmla="*/ 0 60000 65536"/>
                              <a:gd name="T134" fmla="*/ 0 60000 65536"/>
                              <a:gd name="T135" fmla="*/ 0 60000 65536"/>
                              <a:gd name="T136" fmla="*/ 0 60000 65536"/>
                              <a:gd name="T137" fmla="*/ 0 60000 65536"/>
                              <a:gd name="T138" fmla="*/ 0 60000 65536"/>
                              <a:gd name="T139" fmla="*/ 0 60000 65536"/>
                              <a:gd name="T140" fmla="*/ 0 60000 65536"/>
                              <a:gd name="T141" fmla="*/ 0 60000 65536"/>
                              <a:gd name="T142" fmla="*/ 0 60000 65536"/>
                              <a:gd name="T143" fmla="*/ 0 60000 65536"/>
                              <a:gd name="T144" fmla="*/ 0 60000 65536"/>
                              <a:gd name="T145" fmla="*/ 0 60000 65536"/>
                              <a:gd name="T146" fmla="*/ 0 60000 65536"/>
                              <a:gd name="T147" fmla="*/ 0 60000 65536"/>
                              <a:gd name="T148" fmla="*/ 0 60000 65536"/>
                              <a:gd name="T149" fmla="*/ 0 60000 65536"/>
                              <a:gd name="T150" fmla="*/ 0 60000 65536"/>
                              <a:gd name="T151" fmla="*/ 0 60000 65536"/>
                              <a:gd name="T152" fmla="*/ 0 60000 65536"/>
                              <a:gd name="T153" fmla="*/ 0 60000 65536"/>
                              <a:gd name="T154" fmla="*/ 0 60000 65536"/>
                              <a:gd name="T155" fmla="*/ 0 60000 65536"/>
                              <a:gd name="T156" fmla="*/ 0 60000 65536"/>
                              <a:gd name="T157" fmla="*/ 0 60000 65536"/>
                              <a:gd name="T158" fmla="*/ 0 60000 65536"/>
                              <a:gd name="T159" fmla="*/ 0 60000 65536"/>
                              <a:gd name="T160" fmla="*/ 0 60000 65536"/>
                              <a:gd name="T161" fmla="*/ 0 60000 65536"/>
                              <a:gd name="T162" fmla="*/ 0 60000 65536"/>
                              <a:gd name="T163" fmla="*/ 0 60000 65536"/>
                              <a:gd name="T164" fmla="*/ 0 60000 65536"/>
                              <a:gd name="T165" fmla="*/ 0 60000 65536"/>
                              <a:gd name="T166" fmla="*/ 0 60000 65536"/>
                              <a:gd name="T167" fmla="*/ 0 60000 65536"/>
                              <a:gd name="T168" fmla="*/ 0 60000 65536"/>
                              <a:gd name="T169" fmla="*/ 0 60000 65536"/>
                              <a:gd name="T170" fmla="*/ 0 60000 65536"/>
                              <a:gd name="T171" fmla="*/ 0 60000 65536"/>
                              <a:gd name="T172" fmla="*/ 0 60000 65536"/>
                              <a:gd name="T173" fmla="*/ 0 60000 65536"/>
                              <a:gd name="T174" fmla="*/ 0 60000 65536"/>
                              <a:gd name="T175" fmla="*/ 0 60000 65536"/>
                              <a:gd name="T176" fmla="*/ 0 60000 65536"/>
                              <a:gd name="T177" fmla="*/ 0 60000 65536"/>
                              <a:gd name="T178" fmla="*/ 0 60000 65536"/>
                              <a:gd name="T179" fmla="*/ 0 60000 65536"/>
                              <a:gd name="T180" fmla="*/ 0 60000 65536"/>
                              <a:gd name="T181" fmla="*/ 0 60000 65536"/>
                              <a:gd name="T182" fmla="*/ 0 60000 65536"/>
                              <a:gd name="T183" fmla="*/ 0 60000 65536"/>
                              <a:gd name="T184" fmla="*/ 0 60000 65536"/>
                              <a:gd name="T185" fmla="*/ 0 60000 65536"/>
                              <a:gd name="T186" fmla="*/ 0 w 1503"/>
                              <a:gd name="T187" fmla="*/ 0 h 936"/>
                              <a:gd name="T188" fmla="*/ 1503 w 1503"/>
                              <a:gd name="T189" fmla="*/ 936 h 936"/>
                            </a:gdLst>
                            <a:ahLst/>
                            <a:cxnLst>
                              <a:cxn ang="T124">
                                <a:pos x="T0" y="T1"/>
                              </a:cxn>
                              <a:cxn ang="T125">
                                <a:pos x="T2" y="T3"/>
                              </a:cxn>
                              <a:cxn ang="T126">
                                <a:pos x="T4" y="T5"/>
                              </a:cxn>
                              <a:cxn ang="T127">
                                <a:pos x="T6" y="T7"/>
                              </a:cxn>
                              <a:cxn ang="T128">
                                <a:pos x="T8" y="T9"/>
                              </a:cxn>
                              <a:cxn ang="T129">
                                <a:pos x="T10" y="T11"/>
                              </a:cxn>
                              <a:cxn ang="T130">
                                <a:pos x="T12" y="T13"/>
                              </a:cxn>
                              <a:cxn ang="T131">
                                <a:pos x="T14" y="T15"/>
                              </a:cxn>
                              <a:cxn ang="T132">
                                <a:pos x="T16" y="T17"/>
                              </a:cxn>
                              <a:cxn ang="T133">
                                <a:pos x="T18" y="T19"/>
                              </a:cxn>
                              <a:cxn ang="T134">
                                <a:pos x="T20" y="T21"/>
                              </a:cxn>
                              <a:cxn ang="T135">
                                <a:pos x="T22" y="T23"/>
                              </a:cxn>
                              <a:cxn ang="T136">
                                <a:pos x="T24" y="T25"/>
                              </a:cxn>
                              <a:cxn ang="T137">
                                <a:pos x="T26" y="T27"/>
                              </a:cxn>
                              <a:cxn ang="T138">
                                <a:pos x="T28" y="T29"/>
                              </a:cxn>
                              <a:cxn ang="T139">
                                <a:pos x="T30" y="T31"/>
                              </a:cxn>
                              <a:cxn ang="T140">
                                <a:pos x="T32" y="T33"/>
                              </a:cxn>
                              <a:cxn ang="T141">
                                <a:pos x="T34" y="T35"/>
                              </a:cxn>
                              <a:cxn ang="T142">
                                <a:pos x="T36" y="T37"/>
                              </a:cxn>
                              <a:cxn ang="T143">
                                <a:pos x="T38" y="T39"/>
                              </a:cxn>
                              <a:cxn ang="T144">
                                <a:pos x="T40" y="T41"/>
                              </a:cxn>
                              <a:cxn ang="T145">
                                <a:pos x="T42" y="T43"/>
                              </a:cxn>
                              <a:cxn ang="T146">
                                <a:pos x="T44" y="T45"/>
                              </a:cxn>
                              <a:cxn ang="T147">
                                <a:pos x="T46" y="T47"/>
                              </a:cxn>
                              <a:cxn ang="T148">
                                <a:pos x="T48" y="T49"/>
                              </a:cxn>
                              <a:cxn ang="T149">
                                <a:pos x="T50" y="T51"/>
                              </a:cxn>
                              <a:cxn ang="T150">
                                <a:pos x="T52" y="T53"/>
                              </a:cxn>
                              <a:cxn ang="T151">
                                <a:pos x="T54" y="T55"/>
                              </a:cxn>
                              <a:cxn ang="T152">
                                <a:pos x="T56" y="T57"/>
                              </a:cxn>
                              <a:cxn ang="T153">
                                <a:pos x="T58" y="T59"/>
                              </a:cxn>
                              <a:cxn ang="T154">
                                <a:pos x="T60" y="T61"/>
                              </a:cxn>
                              <a:cxn ang="T155">
                                <a:pos x="T62" y="T63"/>
                              </a:cxn>
                              <a:cxn ang="T156">
                                <a:pos x="T64" y="T65"/>
                              </a:cxn>
                              <a:cxn ang="T157">
                                <a:pos x="T66" y="T67"/>
                              </a:cxn>
                              <a:cxn ang="T158">
                                <a:pos x="T68" y="T69"/>
                              </a:cxn>
                              <a:cxn ang="T159">
                                <a:pos x="T70" y="T71"/>
                              </a:cxn>
                              <a:cxn ang="T160">
                                <a:pos x="T72" y="T73"/>
                              </a:cxn>
                              <a:cxn ang="T161">
                                <a:pos x="T74" y="T75"/>
                              </a:cxn>
                              <a:cxn ang="T162">
                                <a:pos x="T76" y="T77"/>
                              </a:cxn>
                              <a:cxn ang="T163">
                                <a:pos x="T78" y="T79"/>
                              </a:cxn>
                              <a:cxn ang="T164">
                                <a:pos x="T80" y="T81"/>
                              </a:cxn>
                              <a:cxn ang="T165">
                                <a:pos x="T82" y="T83"/>
                              </a:cxn>
                              <a:cxn ang="T166">
                                <a:pos x="T84" y="T85"/>
                              </a:cxn>
                              <a:cxn ang="T167">
                                <a:pos x="T86" y="T87"/>
                              </a:cxn>
                              <a:cxn ang="T168">
                                <a:pos x="T88" y="T89"/>
                              </a:cxn>
                              <a:cxn ang="T169">
                                <a:pos x="T90" y="T91"/>
                              </a:cxn>
                              <a:cxn ang="T170">
                                <a:pos x="T92" y="T93"/>
                              </a:cxn>
                              <a:cxn ang="T171">
                                <a:pos x="T94" y="T95"/>
                              </a:cxn>
                              <a:cxn ang="T172">
                                <a:pos x="T96" y="T97"/>
                              </a:cxn>
                              <a:cxn ang="T173">
                                <a:pos x="T98" y="T99"/>
                              </a:cxn>
                              <a:cxn ang="T174">
                                <a:pos x="T100" y="T101"/>
                              </a:cxn>
                              <a:cxn ang="T175">
                                <a:pos x="T102" y="T103"/>
                              </a:cxn>
                              <a:cxn ang="T176">
                                <a:pos x="T104" y="T105"/>
                              </a:cxn>
                              <a:cxn ang="T177">
                                <a:pos x="T106" y="T107"/>
                              </a:cxn>
                              <a:cxn ang="T178">
                                <a:pos x="T108" y="T109"/>
                              </a:cxn>
                              <a:cxn ang="T179">
                                <a:pos x="T110" y="T111"/>
                              </a:cxn>
                              <a:cxn ang="T180">
                                <a:pos x="T112" y="T113"/>
                              </a:cxn>
                              <a:cxn ang="T181">
                                <a:pos x="T114" y="T115"/>
                              </a:cxn>
                              <a:cxn ang="T182">
                                <a:pos x="T116" y="T117"/>
                              </a:cxn>
                              <a:cxn ang="T183">
                                <a:pos x="T118" y="T119"/>
                              </a:cxn>
                              <a:cxn ang="T184">
                                <a:pos x="T120" y="T121"/>
                              </a:cxn>
                              <a:cxn ang="T185">
                                <a:pos x="T122" y="T123"/>
                              </a:cxn>
                            </a:cxnLst>
                            <a:rect l="T186" t="T187" r="T188" b="T189"/>
                            <a:pathLst>
                              <a:path w="1503" h="936">
                                <a:moveTo>
                                  <a:pt x="0" y="419"/>
                                </a:moveTo>
                                <a:lnTo>
                                  <a:pt x="14" y="406"/>
                                </a:lnTo>
                                <a:lnTo>
                                  <a:pt x="22" y="396"/>
                                </a:lnTo>
                                <a:lnTo>
                                  <a:pt x="40" y="396"/>
                                </a:lnTo>
                                <a:lnTo>
                                  <a:pt x="59" y="399"/>
                                </a:lnTo>
                                <a:lnTo>
                                  <a:pt x="73" y="393"/>
                                </a:lnTo>
                                <a:lnTo>
                                  <a:pt x="88" y="392"/>
                                </a:lnTo>
                                <a:lnTo>
                                  <a:pt x="90" y="374"/>
                                </a:lnTo>
                                <a:lnTo>
                                  <a:pt x="98" y="363"/>
                                </a:lnTo>
                                <a:lnTo>
                                  <a:pt x="77" y="350"/>
                                </a:lnTo>
                                <a:lnTo>
                                  <a:pt x="74" y="339"/>
                                </a:lnTo>
                                <a:lnTo>
                                  <a:pt x="76" y="325"/>
                                </a:lnTo>
                                <a:lnTo>
                                  <a:pt x="91" y="325"/>
                                </a:lnTo>
                                <a:lnTo>
                                  <a:pt x="101" y="323"/>
                                </a:lnTo>
                                <a:lnTo>
                                  <a:pt x="102" y="325"/>
                                </a:lnTo>
                                <a:lnTo>
                                  <a:pt x="113" y="316"/>
                                </a:lnTo>
                                <a:lnTo>
                                  <a:pt x="124" y="312"/>
                                </a:lnTo>
                                <a:lnTo>
                                  <a:pt x="128" y="312"/>
                                </a:lnTo>
                                <a:lnTo>
                                  <a:pt x="135" y="303"/>
                                </a:lnTo>
                                <a:lnTo>
                                  <a:pt x="143" y="300"/>
                                </a:lnTo>
                                <a:lnTo>
                                  <a:pt x="151" y="284"/>
                                </a:lnTo>
                                <a:lnTo>
                                  <a:pt x="157" y="289"/>
                                </a:lnTo>
                                <a:lnTo>
                                  <a:pt x="168" y="278"/>
                                </a:lnTo>
                                <a:lnTo>
                                  <a:pt x="169" y="278"/>
                                </a:lnTo>
                                <a:lnTo>
                                  <a:pt x="183" y="267"/>
                                </a:lnTo>
                                <a:lnTo>
                                  <a:pt x="191" y="265"/>
                                </a:lnTo>
                                <a:lnTo>
                                  <a:pt x="202" y="265"/>
                                </a:lnTo>
                                <a:lnTo>
                                  <a:pt x="209" y="265"/>
                                </a:lnTo>
                                <a:lnTo>
                                  <a:pt x="203" y="251"/>
                                </a:lnTo>
                                <a:lnTo>
                                  <a:pt x="201" y="239"/>
                                </a:lnTo>
                                <a:lnTo>
                                  <a:pt x="198" y="214"/>
                                </a:lnTo>
                                <a:lnTo>
                                  <a:pt x="214" y="213"/>
                                </a:lnTo>
                                <a:lnTo>
                                  <a:pt x="223" y="209"/>
                                </a:lnTo>
                                <a:lnTo>
                                  <a:pt x="218" y="219"/>
                                </a:lnTo>
                                <a:lnTo>
                                  <a:pt x="225" y="226"/>
                                </a:lnTo>
                                <a:lnTo>
                                  <a:pt x="232" y="235"/>
                                </a:lnTo>
                                <a:lnTo>
                                  <a:pt x="236" y="241"/>
                                </a:lnTo>
                                <a:lnTo>
                                  <a:pt x="255" y="239"/>
                                </a:lnTo>
                                <a:lnTo>
                                  <a:pt x="272" y="217"/>
                                </a:lnTo>
                                <a:lnTo>
                                  <a:pt x="284" y="207"/>
                                </a:lnTo>
                                <a:lnTo>
                                  <a:pt x="291" y="200"/>
                                </a:lnTo>
                                <a:lnTo>
                                  <a:pt x="299" y="191"/>
                                </a:lnTo>
                                <a:lnTo>
                                  <a:pt x="308" y="180"/>
                                </a:lnTo>
                                <a:lnTo>
                                  <a:pt x="314" y="184"/>
                                </a:lnTo>
                                <a:lnTo>
                                  <a:pt x="314" y="177"/>
                                </a:lnTo>
                                <a:lnTo>
                                  <a:pt x="319" y="172"/>
                                </a:lnTo>
                                <a:lnTo>
                                  <a:pt x="331" y="175"/>
                                </a:lnTo>
                                <a:lnTo>
                                  <a:pt x="351" y="194"/>
                                </a:lnTo>
                                <a:lnTo>
                                  <a:pt x="347" y="142"/>
                                </a:lnTo>
                                <a:lnTo>
                                  <a:pt x="330" y="165"/>
                                </a:lnTo>
                                <a:lnTo>
                                  <a:pt x="316" y="164"/>
                                </a:lnTo>
                                <a:lnTo>
                                  <a:pt x="312" y="149"/>
                                </a:lnTo>
                                <a:lnTo>
                                  <a:pt x="312" y="142"/>
                                </a:lnTo>
                                <a:lnTo>
                                  <a:pt x="308" y="138"/>
                                </a:lnTo>
                                <a:lnTo>
                                  <a:pt x="319" y="126"/>
                                </a:lnTo>
                                <a:lnTo>
                                  <a:pt x="325" y="117"/>
                                </a:lnTo>
                                <a:lnTo>
                                  <a:pt x="332" y="114"/>
                                </a:lnTo>
                                <a:lnTo>
                                  <a:pt x="338" y="113"/>
                                </a:lnTo>
                                <a:lnTo>
                                  <a:pt x="342" y="106"/>
                                </a:lnTo>
                                <a:lnTo>
                                  <a:pt x="347" y="104"/>
                                </a:lnTo>
                                <a:lnTo>
                                  <a:pt x="354" y="104"/>
                                </a:lnTo>
                                <a:lnTo>
                                  <a:pt x="342" y="91"/>
                                </a:lnTo>
                                <a:lnTo>
                                  <a:pt x="330" y="94"/>
                                </a:lnTo>
                                <a:lnTo>
                                  <a:pt x="321" y="94"/>
                                </a:lnTo>
                                <a:lnTo>
                                  <a:pt x="314" y="90"/>
                                </a:lnTo>
                                <a:lnTo>
                                  <a:pt x="314" y="98"/>
                                </a:lnTo>
                                <a:lnTo>
                                  <a:pt x="308" y="107"/>
                                </a:lnTo>
                                <a:lnTo>
                                  <a:pt x="298" y="122"/>
                                </a:lnTo>
                                <a:lnTo>
                                  <a:pt x="288" y="127"/>
                                </a:lnTo>
                                <a:lnTo>
                                  <a:pt x="282" y="127"/>
                                </a:lnTo>
                                <a:lnTo>
                                  <a:pt x="279" y="138"/>
                                </a:lnTo>
                                <a:lnTo>
                                  <a:pt x="279" y="142"/>
                                </a:lnTo>
                                <a:lnTo>
                                  <a:pt x="273" y="146"/>
                                </a:lnTo>
                                <a:lnTo>
                                  <a:pt x="280" y="164"/>
                                </a:lnTo>
                                <a:lnTo>
                                  <a:pt x="284" y="172"/>
                                </a:lnTo>
                                <a:lnTo>
                                  <a:pt x="276" y="185"/>
                                </a:lnTo>
                                <a:lnTo>
                                  <a:pt x="266" y="194"/>
                                </a:lnTo>
                                <a:lnTo>
                                  <a:pt x="264" y="207"/>
                                </a:lnTo>
                                <a:lnTo>
                                  <a:pt x="258" y="217"/>
                                </a:lnTo>
                                <a:lnTo>
                                  <a:pt x="253" y="217"/>
                                </a:lnTo>
                                <a:lnTo>
                                  <a:pt x="244" y="219"/>
                                </a:lnTo>
                                <a:lnTo>
                                  <a:pt x="236" y="223"/>
                                </a:lnTo>
                                <a:lnTo>
                                  <a:pt x="234" y="222"/>
                                </a:lnTo>
                                <a:lnTo>
                                  <a:pt x="234" y="214"/>
                                </a:lnTo>
                                <a:lnTo>
                                  <a:pt x="232" y="203"/>
                                </a:lnTo>
                                <a:lnTo>
                                  <a:pt x="225" y="203"/>
                                </a:lnTo>
                                <a:lnTo>
                                  <a:pt x="221" y="196"/>
                                </a:lnTo>
                                <a:lnTo>
                                  <a:pt x="223" y="185"/>
                                </a:lnTo>
                                <a:lnTo>
                                  <a:pt x="224" y="180"/>
                                </a:lnTo>
                                <a:lnTo>
                                  <a:pt x="223" y="177"/>
                                </a:lnTo>
                                <a:lnTo>
                                  <a:pt x="217" y="180"/>
                                </a:lnTo>
                                <a:lnTo>
                                  <a:pt x="214" y="180"/>
                                </a:lnTo>
                                <a:lnTo>
                                  <a:pt x="210" y="178"/>
                                </a:lnTo>
                                <a:lnTo>
                                  <a:pt x="207" y="177"/>
                                </a:lnTo>
                                <a:lnTo>
                                  <a:pt x="201" y="183"/>
                                </a:lnTo>
                                <a:lnTo>
                                  <a:pt x="194" y="190"/>
                                </a:lnTo>
                                <a:lnTo>
                                  <a:pt x="187" y="197"/>
                                </a:lnTo>
                                <a:lnTo>
                                  <a:pt x="172" y="196"/>
                                </a:lnTo>
                                <a:lnTo>
                                  <a:pt x="162" y="194"/>
                                </a:lnTo>
                                <a:lnTo>
                                  <a:pt x="155" y="187"/>
                                </a:lnTo>
                                <a:lnTo>
                                  <a:pt x="155" y="183"/>
                                </a:lnTo>
                                <a:lnTo>
                                  <a:pt x="159" y="177"/>
                                </a:lnTo>
                                <a:lnTo>
                                  <a:pt x="165" y="172"/>
                                </a:lnTo>
                                <a:lnTo>
                                  <a:pt x="169" y="167"/>
                                </a:lnTo>
                                <a:lnTo>
                                  <a:pt x="159" y="169"/>
                                </a:lnTo>
                                <a:lnTo>
                                  <a:pt x="155" y="162"/>
                                </a:lnTo>
                                <a:lnTo>
                                  <a:pt x="155" y="158"/>
                                </a:lnTo>
                                <a:lnTo>
                                  <a:pt x="169" y="156"/>
                                </a:lnTo>
                                <a:lnTo>
                                  <a:pt x="181" y="155"/>
                                </a:lnTo>
                                <a:lnTo>
                                  <a:pt x="173" y="151"/>
                                </a:lnTo>
                                <a:lnTo>
                                  <a:pt x="161" y="152"/>
                                </a:lnTo>
                                <a:lnTo>
                                  <a:pt x="161" y="143"/>
                                </a:lnTo>
                                <a:lnTo>
                                  <a:pt x="166" y="138"/>
                                </a:lnTo>
                                <a:lnTo>
                                  <a:pt x="179" y="132"/>
                                </a:lnTo>
                                <a:lnTo>
                                  <a:pt x="183" y="126"/>
                                </a:lnTo>
                                <a:lnTo>
                                  <a:pt x="187" y="123"/>
                                </a:lnTo>
                                <a:lnTo>
                                  <a:pt x="196" y="122"/>
                                </a:lnTo>
                                <a:lnTo>
                                  <a:pt x="205" y="123"/>
                                </a:lnTo>
                                <a:lnTo>
                                  <a:pt x="209" y="126"/>
                                </a:lnTo>
                                <a:lnTo>
                                  <a:pt x="216" y="122"/>
                                </a:lnTo>
                                <a:lnTo>
                                  <a:pt x="209" y="120"/>
                                </a:lnTo>
                                <a:lnTo>
                                  <a:pt x="209" y="108"/>
                                </a:lnTo>
                                <a:lnTo>
                                  <a:pt x="227" y="95"/>
                                </a:lnTo>
                                <a:lnTo>
                                  <a:pt x="236" y="87"/>
                                </a:lnTo>
                                <a:lnTo>
                                  <a:pt x="242" y="85"/>
                                </a:lnTo>
                                <a:lnTo>
                                  <a:pt x="240" y="81"/>
                                </a:lnTo>
                                <a:lnTo>
                                  <a:pt x="249" y="71"/>
                                </a:lnTo>
                                <a:lnTo>
                                  <a:pt x="258" y="58"/>
                                </a:lnTo>
                                <a:lnTo>
                                  <a:pt x="269" y="52"/>
                                </a:lnTo>
                                <a:lnTo>
                                  <a:pt x="261" y="46"/>
                                </a:lnTo>
                                <a:lnTo>
                                  <a:pt x="283" y="33"/>
                                </a:lnTo>
                                <a:lnTo>
                                  <a:pt x="292" y="34"/>
                                </a:lnTo>
                                <a:lnTo>
                                  <a:pt x="291" y="27"/>
                                </a:lnTo>
                                <a:lnTo>
                                  <a:pt x="310" y="26"/>
                                </a:lnTo>
                                <a:lnTo>
                                  <a:pt x="346" y="2"/>
                                </a:lnTo>
                                <a:lnTo>
                                  <a:pt x="351" y="0"/>
                                </a:lnTo>
                                <a:lnTo>
                                  <a:pt x="345" y="17"/>
                                </a:lnTo>
                                <a:lnTo>
                                  <a:pt x="353" y="8"/>
                                </a:lnTo>
                                <a:lnTo>
                                  <a:pt x="362" y="5"/>
                                </a:lnTo>
                                <a:lnTo>
                                  <a:pt x="361" y="13"/>
                                </a:lnTo>
                                <a:lnTo>
                                  <a:pt x="388" y="4"/>
                                </a:lnTo>
                                <a:lnTo>
                                  <a:pt x="402" y="11"/>
                                </a:lnTo>
                                <a:lnTo>
                                  <a:pt x="383" y="18"/>
                                </a:lnTo>
                                <a:lnTo>
                                  <a:pt x="390" y="27"/>
                                </a:lnTo>
                                <a:lnTo>
                                  <a:pt x="417" y="26"/>
                                </a:lnTo>
                                <a:lnTo>
                                  <a:pt x="457" y="39"/>
                                </a:lnTo>
                                <a:lnTo>
                                  <a:pt x="454" y="53"/>
                                </a:lnTo>
                                <a:lnTo>
                                  <a:pt x="438" y="66"/>
                                </a:lnTo>
                                <a:lnTo>
                                  <a:pt x="413" y="74"/>
                                </a:lnTo>
                                <a:lnTo>
                                  <a:pt x="409" y="90"/>
                                </a:lnTo>
                                <a:lnTo>
                                  <a:pt x="410" y="104"/>
                                </a:lnTo>
                                <a:lnTo>
                                  <a:pt x="417" y="107"/>
                                </a:lnTo>
                                <a:lnTo>
                                  <a:pt x="419" y="114"/>
                                </a:lnTo>
                                <a:lnTo>
                                  <a:pt x="421" y="117"/>
                                </a:lnTo>
                                <a:lnTo>
                                  <a:pt x="427" y="120"/>
                                </a:lnTo>
                                <a:lnTo>
                                  <a:pt x="428" y="129"/>
                                </a:lnTo>
                                <a:lnTo>
                                  <a:pt x="436" y="139"/>
                                </a:lnTo>
                                <a:lnTo>
                                  <a:pt x="436" y="143"/>
                                </a:lnTo>
                                <a:lnTo>
                                  <a:pt x="445" y="143"/>
                                </a:lnTo>
                                <a:lnTo>
                                  <a:pt x="447" y="146"/>
                                </a:lnTo>
                                <a:lnTo>
                                  <a:pt x="454" y="149"/>
                                </a:lnTo>
                                <a:lnTo>
                                  <a:pt x="458" y="145"/>
                                </a:lnTo>
                                <a:lnTo>
                                  <a:pt x="463" y="138"/>
                                </a:lnTo>
                                <a:lnTo>
                                  <a:pt x="465" y="133"/>
                                </a:lnTo>
                                <a:lnTo>
                                  <a:pt x="472" y="136"/>
                                </a:lnTo>
                                <a:lnTo>
                                  <a:pt x="480" y="126"/>
                                </a:lnTo>
                                <a:lnTo>
                                  <a:pt x="480" y="119"/>
                                </a:lnTo>
                                <a:lnTo>
                                  <a:pt x="483" y="113"/>
                                </a:lnTo>
                                <a:lnTo>
                                  <a:pt x="484" y="108"/>
                                </a:lnTo>
                                <a:lnTo>
                                  <a:pt x="501" y="104"/>
                                </a:lnTo>
                                <a:lnTo>
                                  <a:pt x="515" y="100"/>
                                </a:lnTo>
                                <a:lnTo>
                                  <a:pt x="532" y="94"/>
                                </a:lnTo>
                                <a:lnTo>
                                  <a:pt x="553" y="98"/>
                                </a:lnTo>
                                <a:lnTo>
                                  <a:pt x="574" y="98"/>
                                </a:lnTo>
                                <a:lnTo>
                                  <a:pt x="608" y="98"/>
                                </a:lnTo>
                                <a:lnTo>
                                  <a:pt x="613" y="62"/>
                                </a:lnTo>
                                <a:lnTo>
                                  <a:pt x="633" y="63"/>
                                </a:lnTo>
                                <a:lnTo>
                                  <a:pt x="646" y="91"/>
                                </a:lnTo>
                                <a:lnTo>
                                  <a:pt x="649" y="68"/>
                                </a:lnTo>
                                <a:lnTo>
                                  <a:pt x="712" y="4"/>
                                </a:lnTo>
                                <a:lnTo>
                                  <a:pt x="737" y="4"/>
                                </a:lnTo>
                                <a:lnTo>
                                  <a:pt x="759" y="17"/>
                                </a:lnTo>
                                <a:lnTo>
                                  <a:pt x="788" y="16"/>
                                </a:lnTo>
                                <a:lnTo>
                                  <a:pt x="826" y="39"/>
                                </a:lnTo>
                                <a:lnTo>
                                  <a:pt x="870" y="52"/>
                                </a:lnTo>
                                <a:lnTo>
                                  <a:pt x="901" y="49"/>
                                </a:lnTo>
                                <a:lnTo>
                                  <a:pt x="942" y="63"/>
                                </a:lnTo>
                                <a:lnTo>
                                  <a:pt x="977" y="63"/>
                                </a:lnTo>
                                <a:lnTo>
                                  <a:pt x="993" y="53"/>
                                </a:lnTo>
                                <a:lnTo>
                                  <a:pt x="1032" y="53"/>
                                </a:lnTo>
                                <a:lnTo>
                                  <a:pt x="1052" y="65"/>
                                </a:lnTo>
                                <a:lnTo>
                                  <a:pt x="1104" y="65"/>
                                </a:lnTo>
                                <a:lnTo>
                                  <a:pt x="1148" y="85"/>
                                </a:lnTo>
                                <a:lnTo>
                                  <a:pt x="1229" y="82"/>
                                </a:lnTo>
                                <a:lnTo>
                                  <a:pt x="1357" y="91"/>
                                </a:lnTo>
                                <a:lnTo>
                                  <a:pt x="1418" y="119"/>
                                </a:lnTo>
                                <a:lnTo>
                                  <a:pt x="1470" y="136"/>
                                </a:lnTo>
                                <a:lnTo>
                                  <a:pt x="1503" y="151"/>
                                </a:lnTo>
                                <a:lnTo>
                                  <a:pt x="1494" y="155"/>
                                </a:lnTo>
                                <a:lnTo>
                                  <a:pt x="1470" y="143"/>
                                </a:lnTo>
                                <a:lnTo>
                                  <a:pt x="1417" y="139"/>
                                </a:lnTo>
                                <a:lnTo>
                                  <a:pt x="1432" y="151"/>
                                </a:lnTo>
                                <a:lnTo>
                                  <a:pt x="1455" y="156"/>
                                </a:lnTo>
                                <a:lnTo>
                                  <a:pt x="1449" y="175"/>
                                </a:lnTo>
                                <a:lnTo>
                                  <a:pt x="1424" y="187"/>
                                </a:lnTo>
                                <a:lnTo>
                                  <a:pt x="1416" y="206"/>
                                </a:lnTo>
                                <a:lnTo>
                                  <a:pt x="1449" y="223"/>
                                </a:lnTo>
                                <a:lnTo>
                                  <a:pt x="1472" y="246"/>
                                </a:lnTo>
                                <a:lnTo>
                                  <a:pt x="1484" y="280"/>
                                </a:lnTo>
                                <a:lnTo>
                                  <a:pt x="1469" y="283"/>
                                </a:lnTo>
                                <a:lnTo>
                                  <a:pt x="1436" y="273"/>
                                </a:lnTo>
                                <a:lnTo>
                                  <a:pt x="1402" y="248"/>
                                </a:lnTo>
                                <a:lnTo>
                                  <a:pt x="1388" y="235"/>
                                </a:lnTo>
                                <a:lnTo>
                                  <a:pt x="1380" y="217"/>
                                </a:lnTo>
                                <a:lnTo>
                                  <a:pt x="1372" y="191"/>
                                </a:lnTo>
                                <a:lnTo>
                                  <a:pt x="1358" y="183"/>
                                </a:lnTo>
                                <a:lnTo>
                                  <a:pt x="1346" y="181"/>
                                </a:lnTo>
                                <a:lnTo>
                                  <a:pt x="1335" y="184"/>
                                </a:lnTo>
                                <a:lnTo>
                                  <a:pt x="1347" y="204"/>
                                </a:lnTo>
                                <a:lnTo>
                                  <a:pt x="1314" y="207"/>
                                </a:lnTo>
                                <a:lnTo>
                                  <a:pt x="1299" y="197"/>
                                </a:lnTo>
                                <a:lnTo>
                                  <a:pt x="1270" y="203"/>
                                </a:lnTo>
                                <a:lnTo>
                                  <a:pt x="1248" y="219"/>
                                </a:lnTo>
                                <a:lnTo>
                                  <a:pt x="1248" y="228"/>
                                </a:lnTo>
                                <a:lnTo>
                                  <a:pt x="1257" y="242"/>
                                </a:lnTo>
                                <a:lnTo>
                                  <a:pt x="1291" y="246"/>
                                </a:lnTo>
                                <a:lnTo>
                                  <a:pt x="1318" y="264"/>
                                </a:lnTo>
                                <a:lnTo>
                                  <a:pt x="1365" y="312"/>
                                </a:lnTo>
                                <a:lnTo>
                                  <a:pt x="1384" y="344"/>
                                </a:lnTo>
                                <a:lnTo>
                                  <a:pt x="1387" y="377"/>
                                </a:lnTo>
                                <a:lnTo>
                                  <a:pt x="1383" y="405"/>
                                </a:lnTo>
                                <a:lnTo>
                                  <a:pt x="1372" y="405"/>
                                </a:lnTo>
                                <a:lnTo>
                                  <a:pt x="1359" y="395"/>
                                </a:lnTo>
                                <a:lnTo>
                                  <a:pt x="1342" y="408"/>
                                </a:lnTo>
                                <a:lnTo>
                                  <a:pt x="1324" y="419"/>
                                </a:lnTo>
                                <a:lnTo>
                                  <a:pt x="1321" y="441"/>
                                </a:lnTo>
                                <a:lnTo>
                                  <a:pt x="1340" y="464"/>
                                </a:lnTo>
                                <a:lnTo>
                                  <a:pt x="1328" y="483"/>
                                </a:lnTo>
                                <a:lnTo>
                                  <a:pt x="1324" y="515"/>
                                </a:lnTo>
                                <a:lnTo>
                                  <a:pt x="1347" y="535"/>
                                </a:lnTo>
                                <a:lnTo>
                                  <a:pt x="1373" y="541"/>
                                </a:lnTo>
                                <a:lnTo>
                                  <a:pt x="1401" y="563"/>
                                </a:lnTo>
                                <a:lnTo>
                                  <a:pt x="1424" y="592"/>
                                </a:lnTo>
                                <a:lnTo>
                                  <a:pt x="1425" y="636"/>
                                </a:lnTo>
                                <a:lnTo>
                                  <a:pt x="1417" y="656"/>
                                </a:lnTo>
                                <a:lnTo>
                                  <a:pt x="1392" y="673"/>
                                </a:lnTo>
                                <a:lnTo>
                                  <a:pt x="1362" y="682"/>
                                </a:lnTo>
                                <a:lnTo>
                                  <a:pt x="1343" y="695"/>
                                </a:lnTo>
                                <a:lnTo>
                                  <a:pt x="1332" y="688"/>
                                </a:lnTo>
                                <a:lnTo>
                                  <a:pt x="1322" y="695"/>
                                </a:lnTo>
                                <a:lnTo>
                                  <a:pt x="1320" y="727"/>
                                </a:lnTo>
                                <a:lnTo>
                                  <a:pt x="1326" y="746"/>
                                </a:lnTo>
                                <a:lnTo>
                                  <a:pt x="1357" y="768"/>
                                </a:lnTo>
                                <a:lnTo>
                                  <a:pt x="1369" y="789"/>
                                </a:lnTo>
                                <a:lnTo>
                                  <a:pt x="1379" y="803"/>
                                </a:lnTo>
                                <a:lnTo>
                                  <a:pt x="1376" y="826"/>
                                </a:lnTo>
                                <a:lnTo>
                                  <a:pt x="1357" y="845"/>
                                </a:lnTo>
                                <a:lnTo>
                                  <a:pt x="1336" y="845"/>
                                </a:lnTo>
                                <a:lnTo>
                                  <a:pt x="1303" y="817"/>
                                </a:lnTo>
                                <a:lnTo>
                                  <a:pt x="1280" y="807"/>
                                </a:lnTo>
                                <a:lnTo>
                                  <a:pt x="1270" y="801"/>
                                </a:lnTo>
                                <a:lnTo>
                                  <a:pt x="1261" y="816"/>
                                </a:lnTo>
                                <a:lnTo>
                                  <a:pt x="1263" y="836"/>
                                </a:lnTo>
                                <a:lnTo>
                                  <a:pt x="1272" y="852"/>
                                </a:lnTo>
                                <a:lnTo>
                                  <a:pt x="1277" y="877"/>
                                </a:lnTo>
                                <a:lnTo>
                                  <a:pt x="1298" y="885"/>
                                </a:lnTo>
                                <a:lnTo>
                                  <a:pt x="1291" y="898"/>
                                </a:lnTo>
                                <a:lnTo>
                                  <a:pt x="1292" y="917"/>
                                </a:lnTo>
                                <a:lnTo>
                                  <a:pt x="1299" y="936"/>
                                </a:lnTo>
                                <a:lnTo>
                                  <a:pt x="1285" y="935"/>
                                </a:lnTo>
                                <a:lnTo>
                                  <a:pt x="1270" y="913"/>
                                </a:lnTo>
                                <a:lnTo>
                                  <a:pt x="1272" y="890"/>
                                </a:lnTo>
                                <a:lnTo>
                                  <a:pt x="1266" y="882"/>
                                </a:lnTo>
                                <a:lnTo>
                                  <a:pt x="1261" y="856"/>
                                </a:lnTo>
                                <a:lnTo>
                                  <a:pt x="1254" y="849"/>
                                </a:lnTo>
                                <a:lnTo>
                                  <a:pt x="1251" y="813"/>
                                </a:lnTo>
                                <a:lnTo>
                                  <a:pt x="1241" y="789"/>
                                </a:lnTo>
                                <a:lnTo>
                                  <a:pt x="1225" y="769"/>
                                </a:lnTo>
                                <a:lnTo>
                                  <a:pt x="1195" y="758"/>
                                </a:lnTo>
                                <a:lnTo>
                                  <a:pt x="1173" y="739"/>
                                </a:lnTo>
                                <a:lnTo>
                                  <a:pt x="1163" y="724"/>
                                </a:lnTo>
                                <a:lnTo>
                                  <a:pt x="1148" y="708"/>
                                </a:lnTo>
                                <a:lnTo>
                                  <a:pt x="1125" y="672"/>
                                </a:lnTo>
                                <a:lnTo>
                                  <a:pt x="1104" y="675"/>
                                </a:lnTo>
                                <a:lnTo>
                                  <a:pt x="1077" y="692"/>
                                </a:lnTo>
                                <a:lnTo>
                                  <a:pt x="1065" y="707"/>
                                </a:lnTo>
                                <a:lnTo>
                                  <a:pt x="1040" y="734"/>
                                </a:lnTo>
                                <a:lnTo>
                                  <a:pt x="1022" y="763"/>
                                </a:lnTo>
                                <a:lnTo>
                                  <a:pt x="1015" y="774"/>
                                </a:lnTo>
                                <a:lnTo>
                                  <a:pt x="1022" y="808"/>
                                </a:lnTo>
                                <a:lnTo>
                                  <a:pt x="1021" y="842"/>
                                </a:lnTo>
                                <a:lnTo>
                                  <a:pt x="999" y="865"/>
                                </a:lnTo>
                                <a:lnTo>
                                  <a:pt x="986" y="866"/>
                                </a:lnTo>
                                <a:lnTo>
                                  <a:pt x="960" y="819"/>
                                </a:lnTo>
                                <a:lnTo>
                                  <a:pt x="940" y="784"/>
                                </a:lnTo>
                                <a:lnTo>
                                  <a:pt x="899" y="720"/>
                                </a:lnTo>
                                <a:lnTo>
                                  <a:pt x="897" y="695"/>
                                </a:lnTo>
                                <a:lnTo>
                                  <a:pt x="888" y="683"/>
                                </a:lnTo>
                                <a:lnTo>
                                  <a:pt x="881" y="699"/>
                                </a:lnTo>
                                <a:lnTo>
                                  <a:pt x="845" y="663"/>
                                </a:lnTo>
                                <a:lnTo>
                                  <a:pt x="797" y="636"/>
                                </a:lnTo>
                                <a:lnTo>
                                  <a:pt x="767" y="641"/>
                                </a:lnTo>
                                <a:lnTo>
                                  <a:pt x="723" y="638"/>
                                </a:lnTo>
                                <a:lnTo>
                                  <a:pt x="703" y="618"/>
                                </a:lnTo>
                                <a:lnTo>
                                  <a:pt x="679" y="621"/>
                                </a:lnTo>
                                <a:lnTo>
                                  <a:pt x="646" y="612"/>
                                </a:lnTo>
                                <a:lnTo>
                                  <a:pt x="578" y="544"/>
                                </a:lnTo>
                                <a:lnTo>
                                  <a:pt x="582" y="572"/>
                                </a:lnTo>
                                <a:lnTo>
                                  <a:pt x="602" y="611"/>
                                </a:lnTo>
                                <a:lnTo>
                                  <a:pt x="626" y="638"/>
                                </a:lnTo>
                                <a:lnTo>
                                  <a:pt x="650" y="653"/>
                                </a:lnTo>
                                <a:lnTo>
                                  <a:pt x="678" y="641"/>
                                </a:lnTo>
                                <a:lnTo>
                                  <a:pt x="700" y="641"/>
                                </a:lnTo>
                                <a:lnTo>
                                  <a:pt x="729" y="666"/>
                                </a:lnTo>
                                <a:lnTo>
                                  <a:pt x="745" y="685"/>
                                </a:lnTo>
                                <a:lnTo>
                                  <a:pt x="742" y="697"/>
                                </a:lnTo>
                                <a:lnTo>
                                  <a:pt x="693" y="750"/>
                                </a:lnTo>
                                <a:lnTo>
                                  <a:pt x="660" y="771"/>
                                </a:lnTo>
                                <a:lnTo>
                                  <a:pt x="591" y="798"/>
                                </a:lnTo>
                                <a:lnTo>
                                  <a:pt x="571" y="807"/>
                                </a:lnTo>
                                <a:lnTo>
                                  <a:pt x="559" y="798"/>
                                </a:lnTo>
                                <a:lnTo>
                                  <a:pt x="554" y="787"/>
                                </a:lnTo>
                                <a:lnTo>
                                  <a:pt x="553" y="771"/>
                                </a:lnTo>
                                <a:lnTo>
                                  <a:pt x="548" y="755"/>
                                </a:lnTo>
                                <a:lnTo>
                                  <a:pt x="538" y="742"/>
                                </a:lnTo>
                                <a:lnTo>
                                  <a:pt x="530" y="730"/>
                                </a:lnTo>
                                <a:lnTo>
                                  <a:pt x="517" y="714"/>
                                </a:lnTo>
                                <a:lnTo>
                                  <a:pt x="511" y="704"/>
                                </a:lnTo>
                                <a:lnTo>
                                  <a:pt x="505" y="691"/>
                                </a:lnTo>
                                <a:lnTo>
                                  <a:pt x="495" y="679"/>
                                </a:lnTo>
                                <a:lnTo>
                                  <a:pt x="480" y="650"/>
                                </a:lnTo>
                                <a:lnTo>
                                  <a:pt x="472" y="638"/>
                                </a:lnTo>
                                <a:lnTo>
                                  <a:pt x="461" y="623"/>
                                </a:lnTo>
                                <a:lnTo>
                                  <a:pt x="443" y="601"/>
                                </a:lnTo>
                                <a:lnTo>
                                  <a:pt x="434" y="588"/>
                                </a:lnTo>
                                <a:lnTo>
                                  <a:pt x="426" y="579"/>
                                </a:lnTo>
                                <a:lnTo>
                                  <a:pt x="416" y="560"/>
                                </a:lnTo>
                                <a:lnTo>
                                  <a:pt x="445" y="543"/>
                                </a:lnTo>
                                <a:lnTo>
                                  <a:pt x="457" y="505"/>
                                </a:lnTo>
                                <a:lnTo>
                                  <a:pt x="430" y="495"/>
                                </a:lnTo>
                                <a:lnTo>
                                  <a:pt x="391" y="501"/>
                                </a:lnTo>
                                <a:lnTo>
                                  <a:pt x="383" y="496"/>
                                </a:lnTo>
                                <a:lnTo>
                                  <a:pt x="379" y="496"/>
                                </a:lnTo>
                                <a:lnTo>
                                  <a:pt x="373" y="496"/>
                                </a:lnTo>
                                <a:lnTo>
                                  <a:pt x="369" y="496"/>
                                </a:lnTo>
                                <a:lnTo>
                                  <a:pt x="368" y="489"/>
                                </a:lnTo>
                                <a:lnTo>
                                  <a:pt x="365" y="483"/>
                                </a:lnTo>
                                <a:lnTo>
                                  <a:pt x="365" y="471"/>
                                </a:lnTo>
                                <a:lnTo>
                                  <a:pt x="358" y="466"/>
                                </a:lnTo>
                                <a:lnTo>
                                  <a:pt x="357" y="458"/>
                                </a:lnTo>
                                <a:lnTo>
                                  <a:pt x="353" y="457"/>
                                </a:lnTo>
                                <a:lnTo>
                                  <a:pt x="349" y="451"/>
                                </a:lnTo>
                                <a:lnTo>
                                  <a:pt x="347" y="445"/>
                                </a:lnTo>
                                <a:lnTo>
                                  <a:pt x="345" y="440"/>
                                </a:lnTo>
                                <a:lnTo>
                                  <a:pt x="342" y="434"/>
                                </a:lnTo>
                                <a:lnTo>
                                  <a:pt x="334" y="434"/>
                                </a:lnTo>
                                <a:lnTo>
                                  <a:pt x="328" y="434"/>
                                </a:lnTo>
                                <a:lnTo>
                                  <a:pt x="325" y="434"/>
                                </a:lnTo>
                                <a:lnTo>
                                  <a:pt x="324" y="444"/>
                                </a:lnTo>
                                <a:lnTo>
                                  <a:pt x="324" y="451"/>
                                </a:lnTo>
                                <a:lnTo>
                                  <a:pt x="324" y="460"/>
                                </a:lnTo>
                                <a:lnTo>
                                  <a:pt x="324" y="469"/>
                                </a:lnTo>
                                <a:lnTo>
                                  <a:pt x="324" y="474"/>
                                </a:lnTo>
                                <a:lnTo>
                                  <a:pt x="317" y="477"/>
                                </a:lnTo>
                                <a:lnTo>
                                  <a:pt x="312" y="483"/>
                                </a:lnTo>
                                <a:lnTo>
                                  <a:pt x="303" y="474"/>
                                </a:lnTo>
                                <a:lnTo>
                                  <a:pt x="298" y="463"/>
                                </a:lnTo>
                                <a:lnTo>
                                  <a:pt x="299" y="450"/>
                                </a:lnTo>
                                <a:lnTo>
                                  <a:pt x="291" y="429"/>
                                </a:lnTo>
                                <a:lnTo>
                                  <a:pt x="287" y="418"/>
                                </a:lnTo>
                                <a:lnTo>
                                  <a:pt x="277" y="410"/>
                                </a:lnTo>
                                <a:lnTo>
                                  <a:pt x="266" y="403"/>
                                </a:lnTo>
                                <a:lnTo>
                                  <a:pt x="261" y="393"/>
                                </a:lnTo>
                                <a:lnTo>
                                  <a:pt x="257" y="386"/>
                                </a:lnTo>
                                <a:lnTo>
                                  <a:pt x="247" y="384"/>
                                </a:lnTo>
                                <a:lnTo>
                                  <a:pt x="244" y="380"/>
                                </a:lnTo>
                                <a:lnTo>
                                  <a:pt x="238" y="380"/>
                                </a:lnTo>
                                <a:lnTo>
                                  <a:pt x="232" y="387"/>
                                </a:lnTo>
                                <a:lnTo>
                                  <a:pt x="227" y="393"/>
                                </a:lnTo>
                                <a:lnTo>
                                  <a:pt x="239" y="400"/>
                                </a:lnTo>
                                <a:lnTo>
                                  <a:pt x="246" y="410"/>
                                </a:lnTo>
                                <a:lnTo>
                                  <a:pt x="258" y="424"/>
                                </a:lnTo>
                                <a:lnTo>
                                  <a:pt x="264" y="429"/>
                                </a:lnTo>
                                <a:lnTo>
                                  <a:pt x="273" y="434"/>
                                </a:lnTo>
                                <a:lnTo>
                                  <a:pt x="280" y="445"/>
                                </a:lnTo>
                                <a:lnTo>
                                  <a:pt x="272" y="456"/>
                                </a:lnTo>
                                <a:lnTo>
                                  <a:pt x="271" y="451"/>
                                </a:lnTo>
                                <a:lnTo>
                                  <a:pt x="271" y="445"/>
                                </a:lnTo>
                                <a:lnTo>
                                  <a:pt x="266" y="458"/>
                                </a:lnTo>
                                <a:lnTo>
                                  <a:pt x="265" y="470"/>
                                </a:lnTo>
                                <a:lnTo>
                                  <a:pt x="257" y="473"/>
                                </a:lnTo>
                                <a:lnTo>
                                  <a:pt x="260" y="458"/>
                                </a:lnTo>
                                <a:lnTo>
                                  <a:pt x="258" y="451"/>
                                </a:lnTo>
                                <a:lnTo>
                                  <a:pt x="249" y="447"/>
                                </a:lnTo>
                                <a:lnTo>
                                  <a:pt x="244" y="444"/>
                                </a:lnTo>
                                <a:lnTo>
                                  <a:pt x="240" y="438"/>
                                </a:lnTo>
                                <a:lnTo>
                                  <a:pt x="232" y="432"/>
                                </a:lnTo>
                                <a:lnTo>
                                  <a:pt x="227" y="428"/>
                                </a:lnTo>
                                <a:lnTo>
                                  <a:pt x="221" y="419"/>
                                </a:lnTo>
                                <a:lnTo>
                                  <a:pt x="214" y="415"/>
                                </a:lnTo>
                                <a:lnTo>
                                  <a:pt x="210" y="406"/>
                                </a:lnTo>
                                <a:lnTo>
                                  <a:pt x="209" y="399"/>
                                </a:lnTo>
                                <a:lnTo>
                                  <a:pt x="203" y="396"/>
                                </a:lnTo>
                                <a:lnTo>
                                  <a:pt x="198" y="392"/>
                                </a:lnTo>
                                <a:lnTo>
                                  <a:pt x="187" y="392"/>
                                </a:lnTo>
                                <a:lnTo>
                                  <a:pt x="177" y="393"/>
                                </a:lnTo>
                                <a:lnTo>
                                  <a:pt x="166" y="392"/>
                                </a:lnTo>
                                <a:lnTo>
                                  <a:pt x="147" y="393"/>
                                </a:lnTo>
                                <a:lnTo>
                                  <a:pt x="133" y="395"/>
                                </a:lnTo>
                                <a:lnTo>
                                  <a:pt x="129" y="397"/>
                                </a:lnTo>
                                <a:lnTo>
                                  <a:pt x="128" y="406"/>
                                </a:lnTo>
                                <a:lnTo>
                                  <a:pt x="128" y="416"/>
                                </a:lnTo>
                                <a:lnTo>
                                  <a:pt x="120" y="426"/>
                                </a:lnTo>
                                <a:lnTo>
                                  <a:pt x="114" y="431"/>
                                </a:lnTo>
                                <a:lnTo>
                                  <a:pt x="111" y="434"/>
                                </a:lnTo>
                                <a:lnTo>
                                  <a:pt x="107" y="444"/>
                                </a:lnTo>
                                <a:lnTo>
                                  <a:pt x="105" y="450"/>
                                </a:lnTo>
                                <a:lnTo>
                                  <a:pt x="109" y="454"/>
                                </a:lnTo>
                                <a:lnTo>
                                  <a:pt x="109" y="463"/>
                                </a:lnTo>
                                <a:lnTo>
                                  <a:pt x="107" y="467"/>
                                </a:lnTo>
                                <a:lnTo>
                                  <a:pt x="105" y="473"/>
                                </a:lnTo>
                                <a:lnTo>
                                  <a:pt x="98" y="483"/>
                                </a:lnTo>
                                <a:lnTo>
                                  <a:pt x="94" y="479"/>
                                </a:lnTo>
                                <a:lnTo>
                                  <a:pt x="90" y="482"/>
                                </a:lnTo>
                                <a:lnTo>
                                  <a:pt x="84" y="486"/>
                                </a:lnTo>
                                <a:lnTo>
                                  <a:pt x="76" y="487"/>
                                </a:lnTo>
                                <a:lnTo>
                                  <a:pt x="68" y="495"/>
                                </a:lnTo>
                                <a:lnTo>
                                  <a:pt x="59" y="496"/>
                                </a:lnTo>
                                <a:lnTo>
                                  <a:pt x="51" y="496"/>
                                </a:lnTo>
                                <a:lnTo>
                                  <a:pt x="43" y="496"/>
                                </a:lnTo>
                                <a:lnTo>
                                  <a:pt x="25" y="501"/>
                                </a:lnTo>
                                <a:lnTo>
                                  <a:pt x="17" y="501"/>
                                </a:lnTo>
                                <a:lnTo>
                                  <a:pt x="13" y="490"/>
                                </a:lnTo>
                                <a:lnTo>
                                  <a:pt x="9" y="477"/>
                                </a:lnTo>
                                <a:lnTo>
                                  <a:pt x="6" y="466"/>
                                </a:lnTo>
                                <a:lnTo>
                                  <a:pt x="5" y="454"/>
                                </a:lnTo>
                                <a:lnTo>
                                  <a:pt x="5" y="440"/>
                                </a:lnTo>
                                <a:lnTo>
                                  <a:pt x="0" y="419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CCFFCC"/>
                          </a:solidFill>
                          <a:ln w="7938">
                            <a:solidFill>
                              <a:srgbClr val="000000"/>
                            </a:solidFill>
                            <a:prstDash val="solid"/>
                            <a:round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endParaRPr lang="pt-BR"/>
                          </a:p>
                        </p:txBody>
                      </p:sp>
                    </p:grpSp>
                  </p:grpSp>
                  <p:grpSp>
                    <p:nvGrpSpPr>
                      <p:cNvPr id="62661" name="Group 1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803" y="2102"/>
                        <a:ext cx="817" cy="1033"/>
                        <a:chOff x="1803" y="2102"/>
                        <a:chExt cx="817" cy="1033"/>
                      </a:xfrm>
                    </p:grpSpPr>
                    <p:sp>
                      <p:nvSpPr>
                        <p:cNvPr id="62662" name="Freeform 16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803" y="3062"/>
                          <a:ext cx="205" cy="68"/>
                        </a:xfrm>
                        <a:custGeom>
                          <a:avLst/>
                          <a:gdLst>
                            <a:gd name="T0" fmla="*/ 43 w 410"/>
                            <a:gd name="T1" fmla="*/ 25 h 137"/>
                            <a:gd name="T2" fmla="*/ 53 w 410"/>
                            <a:gd name="T3" fmla="*/ 26 h 137"/>
                            <a:gd name="T4" fmla="*/ 67 w 410"/>
                            <a:gd name="T5" fmla="*/ 22 h 137"/>
                            <a:gd name="T6" fmla="*/ 76 w 410"/>
                            <a:gd name="T7" fmla="*/ 20 h 137"/>
                            <a:gd name="T8" fmla="*/ 84 w 410"/>
                            <a:gd name="T9" fmla="*/ 21 h 137"/>
                            <a:gd name="T10" fmla="*/ 100 w 410"/>
                            <a:gd name="T11" fmla="*/ 13 h 137"/>
                            <a:gd name="T12" fmla="*/ 114 w 410"/>
                            <a:gd name="T13" fmla="*/ 11 h 137"/>
                            <a:gd name="T14" fmla="*/ 131 w 410"/>
                            <a:gd name="T15" fmla="*/ 11 h 137"/>
                            <a:gd name="T16" fmla="*/ 149 w 410"/>
                            <a:gd name="T17" fmla="*/ 11 h 137"/>
                            <a:gd name="T18" fmla="*/ 164 w 410"/>
                            <a:gd name="T19" fmla="*/ 16 h 137"/>
                            <a:gd name="T20" fmla="*/ 180 w 410"/>
                            <a:gd name="T21" fmla="*/ 8 h 137"/>
                            <a:gd name="T22" fmla="*/ 194 w 410"/>
                            <a:gd name="T23" fmla="*/ 0 h 137"/>
                            <a:gd name="T24" fmla="*/ 201 w 410"/>
                            <a:gd name="T25" fmla="*/ 5 h 137"/>
                            <a:gd name="T26" fmla="*/ 193 w 410"/>
                            <a:gd name="T27" fmla="*/ 12 h 137"/>
                            <a:gd name="T28" fmla="*/ 183 w 410"/>
                            <a:gd name="T29" fmla="*/ 21 h 137"/>
                            <a:gd name="T30" fmla="*/ 174 w 410"/>
                            <a:gd name="T31" fmla="*/ 27 h 137"/>
                            <a:gd name="T32" fmla="*/ 166 w 410"/>
                            <a:gd name="T33" fmla="*/ 32 h 137"/>
                            <a:gd name="T34" fmla="*/ 157 w 410"/>
                            <a:gd name="T35" fmla="*/ 35 h 137"/>
                            <a:gd name="T36" fmla="*/ 144 w 410"/>
                            <a:gd name="T37" fmla="*/ 42 h 137"/>
                            <a:gd name="T38" fmla="*/ 131 w 410"/>
                            <a:gd name="T39" fmla="*/ 47 h 137"/>
                            <a:gd name="T40" fmla="*/ 118 w 410"/>
                            <a:gd name="T41" fmla="*/ 52 h 137"/>
                            <a:gd name="T42" fmla="*/ 104 w 410"/>
                            <a:gd name="T43" fmla="*/ 57 h 137"/>
                            <a:gd name="T44" fmla="*/ 92 w 410"/>
                            <a:gd name="T45" fmla="*/ 60 h 137"/>
                            <a:gd name="T46" fmla="*/ 78 w 410"/>
                            <a:gd name="T47" fmla="*/ 64 h 137"/>
                            <a:gd name="T48" fmla="*/ 63 w 410"/>
                            <a:gd name="T49" fmla="*/ 67 h 137"/>
                            <a:gd name="T50" fmla="*/ 48 w 410"/>
                            <a:gd name="T51" fmla="*/ 68 h 137"/>
                            <a:gd name="T52" fmla="*/ 32 w 410"/>
                            <a:gd name="T53" fmla="*/ 68 h 137"/>
                            <a:gd name="T54" fmla="*/ 19 w 410"/>
                            <a:gd name="T55" fmla="*/ 61 h 137"/>
                            <a:gd name="T56" fmla="*/ 6 w 410"/>
                            <a:gd name="T57" fmla="*/ 52 h 137"/>
                            <a:gd name="T58" fmla="*/ 18 w 410"/>
                            <a:gd name="T59" fmla="*/ 45 h 137"/>
                            <a:gd name="T60" fmla="*/ 22 w 410"/>
                            <a:gd name="T61" fmla="*/ 44 h 137"/>
                            <a:gd name="T62" fmla="*/ 33 w 410"/>
                            <a:gd name="T63" fmla="*/ 45 h 137"/>
                            <a:gd name="T64" fmla="*/ 39 w 410"/>
                            <a:gd name="T65" fmla="*/ 49 h 137"/>
                            <a:gd name="T66" fmla="*/ 46 w 410"/>
                            <a:gd name="T67" fmla="*/ 49 h 137"/>
                            <a:gd name="T68" fmla="*/ 49 w 410"/>
                            <a:gd name="T69" fmla="*/ 38 h 137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w 410"/>
                            <a:gd name="T106" fmla="*/ 0 h 137"/>
                            <a:gd name="T107" fmla="*/ 410 w 410"/>
                            <a:gd name="T108" fmla="*/ 137 h 137"/>
                          </a:gdLst>
                          <a:ahLst/>
                          <a:cxnLst>
                            <a:cxn ang="T70">
                              <a:pos x="T0" y="T1"/>
                            </a:cxn>
                            <a:cxn ang="T71">
                              <a:pos x="T2" y="T3"/>
                            </a:cxn>
                            <a:cxn ang="T72">
                              <a:pos x="T4" y="T5"/>
                            </a:cxn>
                            <a:cxn ang="T73">
                              <a:pos x="T6" y="T7"/>
                            </a:cxn>
                            <a:cxn ang="T74">
                              <a:pos x="T8" y="T9"/>
                            </a:cxn>
                            <a:cxn ang="T75">
                              <a:pos x="T10" y="T11"/>
                            </a:cxn>
                            <a:cxn ang="T76">
                              <a:pos x="T12" y="T13"/>
                            </a:cxn>
                            <a:cxn ang="T77">
                              <a:pos x="T14" y="T15"/>
                            </a:cxn>
                            <a:cxn ang="T78">
                              <a:pos x="T16" y="T17"/>
                            </a:cxn>
                            <a:cxn ang="T79">
                              <a:pos x="T18" y="T19"/>
                            </a:cxn>
                            <a:cxn ang="T80">
                              <a:pos x="T20" y="T21"/>
                            </a:cxn>
                            <a:cxn ang="T81">
                              <a:pos x="T22" y="T23"/>
                            </a:cxn>
                            <a:cxn ang="T82">
                              <a:pos x="T24" y="T25"/>
                            </a:cxn>
                            <a:cxn ang="T83">
                              <a:pos x="T26" y="T27"/>
                            </a:cxn>
                            <a:cxn ang="T84">
                              <a:pos x="T28" y="T29"/>
                            </a:cxn>
                            <a:cxn ang="T85">
                              <a:pos x="T30" y="T31"/>
                            </a:cxn>
                            <a:cxn ang="T86">
                              <a:pos x="T32" y="T33"/>
                            </a:cxn>
                            <a:cxn ang="T87">
                              <a:pos x="T34" y="T35"/>
                            </a:cxn>
                            <a:cxn ang="T88">
                              <a:pos x="T36" y="T37"/>
                            </a:cxn>
                            <a:cxn ang="T89">
                              <a:pos x="T38" y="T39"/>
                            </a:cxn>
                            <a:cxn ang="T90">
                              <a:pos x="T40" y="T41"/>
                            </a:cxn>
                            <a:cxn ang="T91">
                              <a:pos x="T42" y="T43"/>
                            </a:cxn>
                            <a:cxn ang="T92">
                              <a:pos x="T44" y="T45"/>
                            </a:cxn>
                            <a:cxn ang="T93">
                              <a:pos x="T46" y="T47"/>
                            </a:cxn>
                            <a:cxn ang="T94">
                              <a:pos x="T48" y="T49"/>
                            </a:cxn>
                            <a:cxn ang="T95">
                              <a:pos x="T50" y="T51"/>
                            </a:cxn>
                            <a:cxn ang="T96">
                              <a:pos x="T52" y="T53"/>
                            </a:cxn>
                            <a:cxn ang="T97">
                              <a:pos x="T54" y="T55"/>
                            </a:cxn>
                            <a:cxn ang="T98">
                              <a:pos x="T56" y="T57"/>
                            </a:cxn>
                            <a:cxn ang="T99">
                              <a:pos x="T58" y="T59"/>
                            </a:cxn>
                            <a:cxn ang="T100">
                              <a:pos x="T60" y="T61"/>
                            </a:cxn>
                            <a:cxn ang="T101">
                              <a:pos x="T62" y="T63"/>
                            </a:cxn>
                            <a:cxn ang="T102">
                              <a:pos x="T64" y="T65"/>
                            </a:cxn>
                            <a:cxn ang="T103">
                              <a:pos x="T66" y="T67"/>
                            </a:cxn>
                            <a:cxn ang="T104">
                              <a:pos x="T68" y="T69"/>
                            </a:cxn>
                          </a:cxnLst>
                          <a:rect l="T105" t="T106" r="T107" b="T108"/>
                          <a:pathLst>
                            <a:path w="410" h="137">
                              <a:moveTo>
                                <a:pt x="86" y="65"/>
                              </a:moveTo>
                              <a:lnTo>
                                <a:pt x="85" y="51"/>
                              </a:lnTo>
                              <a:lnTo>
                                <a:pt x="93" y="48"/>
                              </a:lnTo>
                              <a:lnTo>
                                <a:pt x="106" y="52"/>
                              </a:lnTo>
                              <a:lnTo>
                                <a:pt x="121" y="57"/>
                              </a:lnTo>
                              <a:lnTo>
                                <a:pt x="133" y="44"/>
                              </a:lnTo>
                              <a:lnTo>
                                <a:pt x="132" y="35"/>
                              </a:lnTo>
                              <a:lnTo>
                                <a:pt x="151" y="41"/>
                              </a:lnTo>
                              <a:lnTo>
                                <a:pt x="159" y="41"/>
                              </a:lnTo>
                              <a:lnTo>
                                <a:pt x="167" y="42"/>
                              </a:lnTo>
                              <a:lnTo>
                                <a:pt x="182" y="31"/>
                              </a:lnTo>
                              <a:lnTo>
                                <a:pt x="200" y="26"/>
                              </a:lnTo>
                              <a:lnTo>
                                <a:pt x="218" y="26"/>
                              </a:lnTo>
                              <a:lnTo>
                                <a:pt x="229" y="22"/>
                              </a:lnTo>
                              <a:lnTo>
                                <a:pt x="247" y="23"/>
                              </a:lnTo>
                              <a:lnTo>
                                <a:pt x="262" y="23"/>
                              </a:lnTo>
                              <a:lnTo>
                                <a:pt x="276" y="22"/>
                              </a:lnTo>
                              <a:lnTo>
                                <a:pt x="298" y="23"/>
                              </a:lnTo>
                              <a:lnTo>
                                <a:pt x="307" y="22"/>
                              </a:lnTo>
                              <a:lnTo>
                                <a:pt x="328" y="32"/>
                              </a:lnTo>
                              <a:lnTo>
                                <a:pt x="347" y="29"/>
                              </a:lnTo>
                              <a:lnTo>
                                <a:pt x="359" y="16"/>
                              </a:lnTo>
                              <a:lnTo>
                                <a:pt x="370" y="13"/>
                              </a:lnTo>
                              <a:lnTo>
                                <a:pt x="387" y="1"/>
                              </a:lnTo>
                              <a:lnTo>
                                <a:pt x="410" y="0"/>
                              </a:lnTo>
                              <a:lnTo>
                                <a:pt x="402" y="10"/>
                              </a:lnTo>
                              <a:lnTo>
                                <a:pt x="394" y="16"/>
                              </a:lnTo>
                              <a:lnTo>
                                <a:pt x="385" y="25"/>
                              </a:lnTo>
                              <a:lnTo>
                                <a:pt x="373" y="33"/>
                              </a:lnTo>
                              <a:lnTo>
                                <a:pt x="366" y="42"/>
                              </a:lnTo>
                              <a:lnTo>
                                <a:pt x="355" y="48"/>
                              </a:lnTo>
                              <a:lnTo>
                                <a:pt x="347" y="54"/>
                              </a:lnTo>
                              <a:lnTo>
                                <a:pt x="339" y="58"/>
                              </a:lnTo>
                              <a:lnTo>
                                <a:pt x="332" y="64"/>
                              </a:lnTo>
                              <a:lnTo>
                                <a:pt x="321" y="65"/>
                              </a:lnTo>
                              <a:lnTo>
                                <a:pt x="313" y="70"/>
                              </a:lnTo>
                              <a:lnTo>
                                <a:pt x="304" y="76"/>
                              </a:lnTo>
                              <a:lnTo>
                                <a:pt x="288" y="84"/>
                              </a:lnTo>
                              <a:lnTo>
                                <a:pt x="276" y="87"/>
                              </a:lnTo>
                              <a:lnTo>
                                <a:pt x="262" y="94"/>
                              </a:lnTo>
                              <a:lnTo>
                                <a:pt x="248" y="99"/>
                              </a:lnTo>
                              <a:lnTo>
                                <a:pt x="236" y="105"/>
                              </a:lnTo>
                              <a:lnTo>
                                <a:pt x="222" y="109"/>
                              </a:lnTo>
                              <a:lnTo>
                                <a:pt x="208" y="115"/>
                              </a:lnTo>
                              <a:lnTo>
                                <a:pt x="196" y="118"/>
                              </a:lnTo>
                              <a:lnTo>
                                <a:pt x="184" y="121"/>
                              </a:lnTo>
                              <a:lnTo>
                                <a:pt x="171" y="125"/>
                              </a:lnTo>
                              <a:lnTo>
                                <a:pt x="155" y="128"/>
                              </a:lnTo>
                              <a:lnTo>
                                <a:pt x="140" y="129"/>
                              </a:lnTo>
                              <a:lnTo>
                                <a:pt x="126" y="134"/>
                              </a:lnTo>
                              <a:lnTo>
                                <a:pt x="110" y="137"/>
                              </a:lnTo>
                              <a:lnTo>
                                <a:pt x="95" y="137"/>
                              </a:lnTo>
                              <a:lnTo>
                                <a:pt x="80" y="135"/>
                              </a:lnTo>
                              <a:lnTo>
                                <a:pt x="64" y="137"/>
                              </a:lnTo>
                              <a:lnTo>
                                <a:pt x="51" y="129"/>
                              </a:lnTo>
                              <a:lnTo>
                                <a:pt x="38" y="123"/>
                              </a:lnTo>
                              <a:lnTo>
                                <a:pt x="26" y="116"/>
                              </a:lnTo>
                              <a:lnTo>
                                <a:pt x="12" y="105"/>
                              </a:lnTo>
                              <a:lnTo>
                                <a:pt x="0" y="96"/>
                              </a:lnTo>
                              <a:lnTo>
                                <a:pt x="36" y="91"/>
                              </a:lnTo>
                              <a:lnTo>
                                <a:pt x="41" y="91"/>
                              </a:lnTo>
                              <a:lnTo>
                                <a:pt x="44" y="89"/>
                              </a:lnTo>
                              <a:lnTo>
                                <a:pt x="55" y="87"/>
                              </a:lnTo>
                              <a:lnTo>
                                <a:pt x="66" y="91"/>
                              </a:lnTo>
                              <a:lnTo>
                                <a:pt x="74" y="99"/>
                              </a:lnTo>
                              <a:lnTo>
                                <a:pt x="78" y="99"/>
                              </a:lnTo>
                              <a:lnTo>
                                <a:pt x="84" y="103"/>
                              </a:lnTo>
                              <a:lnTo>
                                <a:pt x="92" y="99"/>
                              </a:lnTo>
                              <a:lnTo>
                                <a:pt x="95" y="87"/>
                              </a:lnTo>
                              <a:lnTo>
                                <a:pt x="97" y="77"/>
                              </a:lnTo>
                              <a:lnTo>
                                <a:pt x="86" y="6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3" name="Freeform 16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9" y="3014"/>
                          <a:ext cx="209" cy="121"/>
                        </a:xfrm>
                        <a:custGeom>
                          <a:avLst/>
                          <a:gdLst>
                            <a:gd name="T0" fmla="*/ 102 w 419"/>
                            <a:gd name="T1" fmla="*/ 16 h 241"/>
                            <a:gd name="T2" fmla="*/ 95 w 419"/>
                            <a:gd name="T3" fmla="*/ 23 h 241"/>
                            <a:gd name="T4" fmla="*/ 89 w 419"/>
                            <a:gd name="T5" fmla="*/ 26 h 241"/>
                            <a:gd name="T6" fmla="*/ 96 w 419"/>
                            <a:gd name="T7" fmla="*/ 36 h 241"/>
                            <a:gd name="T8" fmla="*/ 105 w 419"/>
                            <a:gd name="T9" fmla="*/ 54 h 241"/>
                            <a:gd name="T10" fmla="*/ 104 w 419"/>
                            <a:gd name="T11" fmla="*/ 69 h 241"/>
                            <a:gd name="T12" fmla="*/ 88 w 419"/>
                            <a:gd name="T13" fmla="*/ 85 h 241"/>
                            <a:gd name="T14" fmla="*/ 73 w 419"/>
                            <a:gd name="T15" fmla="*/ 86 h 241"/>
                            <a:gd name="T16" fmla="*/ 64 w 419"/>
                            <a:gd name="T17" fmla="*/ 85 h 241"/>
                            <a:gd name="T18" fmla="*/ 66 w 419"/>
                            <a:gd name="T19" fmla="*/ 92 h 241"/>
                            <a:gd name="T20" fmla="*/ 73 w 419"/>
                            <a:gd name="T21" fmla="*/ 95 h 241"/>
                            <a:gd name="T22" fmla="*/ 100 w 419"/>
                            <a:gd name="T23" fmla="*/ 98 h 241"/>
                            <a:gd name="T24" fmla="*/ 132 w 419"/>
                            <a:gd name="T25" fmla="*/ 98 h 241"/>
                            <a:gd name="T26" fmla="*/ 153 w 419"/>
                            <a:gd name="T27" fmla="*/ 90 h 241"/>
                            <a:gd name="T28" fmla="*/ 164 w 419"/>
                            <a:gd name="T29" fmla="*/ 83 h 241"/>
                            <a:gd name="T30" fmla="*/ 173 w 419"/>
                            <a:gd name="T31" fmla="*/ 78 h 241"/>
                            <a:gd name="T32" fmla="*/ 188 w 419"/>
                            <a:gd name="T33" fmla="*/ 71 h 241"/>
                            <a:gd name="T34" fmla="*/ 207 w 419"/>
                            <a:gd name="T35" fmla="*/ 69 h 241"/>
                            <a:gd name="T36" fmla="*/ 199 w 419"/>
                            <a:gd name="T37" fmla="*/ 81 h 241"/>
                            <a:gd name="T38" fmla="*/ 188 w 419"/>
                            <a:gd name="T39" fmla="*/ 92 h 241"/>
                            <a:gd name="T40" fmla="*/ 177 w 419"/>
                            <a:gd name="T41" fmla="*/ 100 h 241"/>
                            <a:gd name="T42" fmla="*/ 160 w 419"/>
                            <a:gd name="T43" fmla="*/ 111 h 241"/>
                            <a:gd name="T44" fmla="*/ 143 w 419"/>
                            <a:gd name="T45" fmla="*/ 117 h 241"/>
                            <a:gd name="T46" fmla="*/ 117 w 419"/>
                            <a:gd name="T47" fmla="*/ 121 h 241"/>
                            <a:gd name="T48" fmla="*/ 90 w 419"/>
                            <a:gd name="T49" fmla="*/ 120 h 241"/>
                            <a:gd name="T50" fmla="*/ 69 w 419"/>
                            <a:gd name="T51" fmla="*/ 116 h 241"/>
                            <a:gd name="T52" fmla="*/ 53 w 419"/>
                            <a:gd name="T53" fmla="*/ 108 h 241"/>
                            <a:gd name="T54" fmla="*/ 40 w 419"/>
                            <a:gd name="T55" fmla="*/ 102 h 241"/>
                            <a:gd name="T56" fmla="*/ 30 w 419"/>
                            <a:gd name="T57" fmla="*/ 98 h 241"/>
                            <a:gd name="T58" fmla="*/ 18 w 419"/>
                            <a:gd name="T59" fmla="*/ 91 h 241"/>
                            <a:gd name="T60" fmla="*/ 11 w 419"/>
                            <a:gd name="T61" fmla="*/ 84 h 241"/>
                            <a:gd name="T62" fmla="*/ 3 w 419"/>
                            <a:gd name="T63" fmla="*/ 77 h 241"/>
                            <a:gd name="T64" fmla="*/ 7 w 419"/>
                            <a:gd name="T65" fmla="*/ 68 h 241"/>
                            <a:gd name="T66" fmla="*/ 14 w 419"/>
                            <a:gd name="T67" fmla="*/ 67 h 241"/>
                            <a:gd name="T68" fmla="*/ 23 w 419"/>
                            <a:gd name="T69" fmla="*/ 64 h 241"/>
                            <a:gd name="T70" fmla="*/ 33 w 419"/>
                            <a:gd name="T71" fmla="*/ 63 h 241"/>
                            <a:gd name="T72" fmla="*/ 44 w 419"/>
                            <a:gd name="T73" fmla="*/ 63 h 241"/>
                            <a:gd name="T74" fmla="*/ 52 w 419"/>
                            <a:gd name="T75" fmla="*/ 64 h 241"/>
                            <a:gd name="T76" fmla="*/ 58 w 419"/>
                            <a:gd name="T77" fmla="*/ 65 h 241"/>
                            <a:gd name="T78" fmla="*/ 69 w 419"/>
                            <a:gd name="T79" fmla="*/ 63 h 241"/>
                            <a:gd name="T80" fmla="*/ 80 w 419"/>
                            <a:gd name="T81" fmla="*/ 63 h 241"/>
                            <a:gd name="T82" fmla="*/ 79 w 419"/>
                            <a:gd name="T83" fmla="*/ 57 h 241"/>
                            <a:gd name="T84" fmla="*/ 77 w 419"/>
                            <a:gd name="T85" fmla="*/ 52 h 241"/>
                            <a:gd name="T86" fmla="*/ 79 w 419"/>
                            <a:gd name="T87" fmla="*/ 45 h 241"/>
                            <a:gd name="T88" fmla="*/ 86 w 419"/>
                            <a:gd name="T89" fmla="*/ 36 h 241"/>
                            <a:gd name="T90" fmla="*/ 81 w 419"/>
                            <a:gd name="T91" fmla="*/ 31 h 241"/>
                            <a:gd name="T92" fmla="*/ 82 w 419"/>
                            <a:gd name="T93" fmla="*/ 24 h 241"/>
                            <a:gd name="T94" fmla="*/ 87 w 419"/>
                            <a:gd name="T95" fmla="*/ 15 h 241"/>
                            <a:gd name="T96" fmla="*/ 92 w 419"/>
                            <a:gd name="T97" fmla="*/ 10 h 241"/>
                            <a:gd name="T98" fmla="*/ 98 w 419"/>
                            <a:gd name="T99" fmla="*/ 4 h 241"/>
                            <a:gd name="T100" fmla="*/ 105 w 419"/>
                            <a:gd name="T101" fmla="*/ 1 h 241"/>
                            <a:gd name="T102" fmla="*/ 112 w 419"/>
                            <a:gd name="T103" fmla="*/ 1 h 241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w 419"/>
                            <a:gd name="T157" fmla="*/ 0 h 241"/>
                            <a:gd name="T158" fmla="*/ 419 w 419"/>
                            <a:gd name="T159" fmla="*/ 241 h 241"/>
                          </a:gdLst>
                          <a:ahLst/>
                          <a:cxnLst>
                            <a:cxn ang="T104">
                              <a:pos x="T0" y="T1"/>
                            </a:cxn>
                            <a:cxn ang="T105">
                              <a:pos x="T2" y="T3"/>
                            </a:cxn>
                            <a:cxn ang="T106">
                              <a:pos x="T4" y="T5"/>
                            </a:cxn>
                            <a:cxn ang="T107">
                              <a:pos x="T6" y="T7"/>
                            </a:cxn>
                            <a:cxn ang="T108">
                              <a:pos x="T8" y="T9"/>
                            </a:cxn>
                            <a:cxn ang="T109">
                              <a:pos x="T10" y="T11"/>
                            </a:cxn>
                            <a:cxn ang="T110">
                              <a:pos x="T12" y="T13"/>
                            </a:cxn>
                            <a:cxn ang="T111">
                              <a:pos x="T14" y="T15"/>
                            </a:cxn>
                            <a:cxn ang="T112">
                              <a:pos x="T16" y="T17"/>
                            </a:cxn>
                            <a:cxn ang="T113">
                              <a:pos x="T18" y="T19"/>
                            </a:cxn>
                            <a:cxn ang="T114">
                              <a:pos x="T20" y="T21"/>
                            </a:cxn>
                            <a:cxn ang="T115">
                              <a:pos x="T22" y="T23"/>
                            </a:cxn>
                            <a:cxn ang="T116">
                              <a:pos x="T24" y="T25"/>
                            </a:cxn>
                            <a:cxn ang="T117">
                              <a:pos x="T26" y="T27"/>
                            </a:cxn>
                            <a:cxn ang="T118">
                              <a:pos x="T28" y="T29"/>
                            </a:cxn>
                            <a:cxn ang="T119">
                              <a:pos x="T30" y="T31"/>
                            </a:cxn>
                            <a:cxn ang="T120">
                              <a:pos x="T32" y="T33"/>
                            </a:cxn>
                            <a:cxn ang="T121">
                              <a:pos x="T34" y="T35"/>
                            </a:cxn>
                            <a:cxn ang="T122">
                              <a:pos x="T36" y="T37"/>
                            </a:cxn>
                            <a:cxn ang="T123">
                              <a:pos x="T38" y="T39"/>
                            </a:cxn>
                            <a:cxn ang="T124">
                              <a:pos x="T40" y="T41"/>
                            </a:cxn>
                            <a:cxn ang="T125">
                              <a:pos x="T42" y="T43"/>
                            </a:cxn>
                            <a:cxn ang="T126">
                              <a:pos x="T44" y="T45"/>
                            </a:cxn>
                            <a:cxn ang="T127">
                              <a:pos x="T46" y="T47"/>
                            </a:cxn>
                            <a:cxn ang="T128">
                              <a:pos x="T48" y="T49"/>
                            </a:cxn>
                            <a:cxn ang="T129">
                              <a:pos x="T50" y="T51"/>
                            </a:cxn>
                            <a:cxn ang="T130">
                              <a:pos x="T52" y="T53"/>
                            </a:cxn>
                            <a:cxn ang="T131">
                              <a:pos x="T54" y="T55"/>
                            </a:cxn>
                            <a:cxn ang="T132">
                              <a:pos x="T56" y="T57"/>
                            </a:cxn>
                            <a:cxn ang="T133">
                              <a:pos x="T58" y="T59"/>
                            </a:cxn>
                            <a:cxn ang="T134">
                              <a:pos x="T60" y="T61"/>
                            </a:cxn>
                            <a:cxn ang="T135">
                              <a:pos x="T62" y="T63"/>
                            </a:cxn>
                            <a:cxn ang="T136">
                              <a:pos x="T64" y="T65"/>
                            </a:cxn>
                            <a:cxn ang="T137">
                              <a:pos x="T66" y="T67"/>
                            </a:cxn>
                            <a:cxn ang="T138">
                              <a:pos x="T68" y="T69"/>
                            </a:cxn>
                            <a:cxn ang="T139">
                              <a:pos x="T70" y="T71"/>
                            </a:cxn>
                            <a:cxn ang="T140">
                              <a:pos x="T72" y="T73"/>
                            </a:cxn>
                            <a:cxn ang="T141">
                              <a:pos x="T74" y="T75"/>
                            </a:cxn>
                            <a:cxn ang="T142">
                              <a:pos x="T76" y="T77"/>
                            </a:cxn>
                            <a:cxn ang="T143">
                              <a:pos x="T78" y="T79"/>
                            </a:cxn>
                            <a:cxn ang="T144">
                              <a:pos x="T80" y="T81"/>
                            </a:cxn>
                            <a:cxn ang="T145">
                              <a:pos x="T82" y="T83"/>
                            </a:cxn>
                            <a:cxn ang="T146">
                              <a:pos x="T84" y="T85"/>
                            </a:cxn>
                            <a:cxn ang="T147">
                              <a:pos x="T86" y="T87"/>
                            </a:cxn>
                            <a:cxn ang="T148">
                              <a:pos x="T88" y="T89"/>
                            </a:cxn>
                            <a:cxn ang="T149">
                              <a:pos x="T90" y="T91"/>
                            </a:cxn>
                            <a:cxn ang="T150">
                              <a:pos x="T92" y="T93"/>
                            </a:cxn>
                            <a:cxn ang="T151">
                              <a:pos x="T94" y="T95"/>
                            </a:cxn>
                            <a:cxn ang="T152">
                              <a:pos x="T96" y="T97"/>
                            </a:cxn>
                            <a:cxn ang="T153">
                              <a:pos x="T98" y="T99"/>
                            </a:cxn>
                            <a:cxn ang="T154">
                              <a:pos x="T100" y="T101"/>
                            </a:cxn>
                            <a:cxn ang="T155">
                              <a:pos x="T102" y="T103"/>
                            </a:cxn>
                          </a:cxnLst>
                          <a:rect l="T156" t="T157" r="T158" b="T159"/>
                          <a:pathLst>
                            <a:path w="419" h="241">
                              <a:moveTo>
                                <a:pt x="229" y="18"/>
                              </a:moveTo>
                              <a:lnTo>
                                <a:pt x="205" y="32"/>
                              </a:lnTo>
                              <a:lnTo>
                                <a:pt x="201" y="40"/>
                              </a:lnTo>
                              <a:lnTo>
                                <a:pt x="191" y="46"/>
                              </a:lnTo>
                              <a:lnTo>
                                <a:pt x="187" y="48"/>
                              </a:lnTo>
                              <a:lnTo>
                                <a:pt x="179" y="52"/>
                              </a:lnTo>
                              <a:lnTo>
                                <a:pt x="188" y="65"/>
                              </a:lnTo>
                              <a:lnTo>
                                <a:pt x="192" y="71"/>
                              </a:lnTo>
                              <a:lnTo>
                                <a:pt x="192" y="81"/>
                              </a:lnTo>
                              <a:lnTo>
                                <a:pt x="211" y="107"/>
                              </a:lnTo>
                              <a:lnTo>
                                <a:pt x="211" y="123"/>
                              </a:lnTo>
                              <a:lnTo>
                                <a:pt x="209" y="138"/>
                              </a:lnTo>
                              <a:lnTo>
                                <a:pt x="184" y="161"/>
                              </a:lnTo>
                              <a:lnTo>
                                <a:pt x="176" y="170"/>
                              </a:lnTo>
                              <a:lnTo>
                                <a:pt x="165" y="174"/>
                              </a:lnTo>
                              <a:lnTo>
                                <a:pt x="147" y="171"/>
                              </a:lnTo>
                              <a:lnTo>
                                <a:pt x="143" y="167"/>
                              </a:lnTo>
                              <a:lnTo>
                                <a:pt x="128" y="170"/>
                              </a:lnTo>
                              <a:lnTo>
                                <a:pt x="133" y="174"/>
                              </a:lnTo>
                              <a:lnTo>
                                <a:pt x="133" y="183"/>
                              </a:lnTo>
                              <a:lnTo>
                                <a:pt x="142" y="191"/>
                              </a:lnTo>
                              <a:lnTo>
                                <a:pt x="147" y="190"/>
                              </a:lnTo>
                              <a:lnTo>
                                <a:pt x="165" y="196"/>
                              </a:lnTo>
                              <a:lnTo>
                                <a:pt x="201" y="196"/>
                              </a:lnTo>
                              <a:lnTo>
                                <a:pt x="206" y="200"/>
                              </a:lnTo>
                              <a:lnTo>
                                <a:pt x="265" y="196"/>
                              </a:lnTo>
                              <a:lnTo>
                                <a:pt x="292" y="185"/>
                              </a:lnTo>
                              <a:lnTo>
                                <a:pt x="307" y="180"/>
                              </a:lnTo>
                              <a:lnTo>
                                <a:pt x="324" y="171"/>
                              </a:lnTo>
                              <a:lnTo>
                                <a:pt x="329" y="165"/>
                              </a:lnTo>
                              <a:lnTo>
                                <a:pt x="335" y="161"/>
                              </a:lnTo>
                              <a:lnTo>
                                <a:pt x="347" y="155"/>
                              </a:lnTo>
                              <a:lnTo>
                                <a:pt x="360" y="146"/>
                              </a:lnTo>
                              <a:lnTo>
                                <a:pt x="377" y="142"/>
                              </a:lnTo>
                              <a:lnTo>
                                <a:pt x="419" y="119"/>
                              </a:lnTo>
                              <a:lnTo>
                                <a:pt x="414" y="138"/>
                              </a:lnTo>
                              <a:lnTo>
                                <a:pt x="406" y="151"/>
                              </a:lnTo>
                              <a:lnTo>
                                <a:pt x="398" y="162"/>
                              </a:lnTo>
                              <a:lnTo>
                                <a:pt x="390" y="172"/>
                              </a:lnTo>
                              <a:lnTo>
                                <a:pt x="376" y="183"/>
                              </a:lnTo>
                              <a:lnTo>
                                <a:pt x="365" y="191"/>
                              </a:lnTo>
                              <a:lnTo>
                                <a:pt x="354" y="200"/>
                              </a:lnTo>
                              <a:lnTo>
                                <a:pt x="339" y="210"/>
                              </a:lnTo>
                              <a:lnTo>
                                <a:pt x="320" y="222"/>
                              </a:lnTo>
                              <a:lnTo>
                                <a:pt x="303" y="229"/>
                              </a:lnTo>
                              <a:lnTo>
                                <a:pt x="287" y="233"/>
                              </a:lnTo>
                              <a:lnTo>
                                <a:pt x="262" y="238"/>
                              </a:lnTo>
                              <a:lnTo>
                                <a:pt x="235" y="241"/>
                              </a:lnTo>
                              <a:lnTo>
                                <a:pt x="210" y="241"/>
                              </a:lnTo>
                              <a:lnTo>
                                <a:pt x="181" y="239"/>
                              </a:lnTo>
                              <a:lnTo>
                                <a:pt x="163" y="236"/>
                              </a:lnTo>
                              <a:lnTo>
                                <a:pt x="139" y="232"/>
                              </a:lnTo>
                              <a:lnTo>
                                <a:pt x="124" y="226"/>
                              </a:lnTo>
                              <a:lnTo>
                                <a:pt x="107" y="216"/>
                              </a:lnTo>
                              <a:lnTo>
                                <a:pt x="91" y="210"/>
                              </a:lnTo>
                              <a:lnTo>
                                <a:pt x="80" y="204"/>
                              </a:lnTo>
                              <a:lnTo>
                                <a:pt x="69" y="199"/>
                              </a:lnTo>
                              <a:lnTo>
                                <a:pt x="61" y="196"/>
                              </a:lnTo>
                              <a:lnTo>
                                <a:pt x="47" y="188"/>
                              </a:lnTo>
                              <a:lnTo>
                                <a:pt x="37" y="181"/>
                              </a:lnTo>
                              <a:lnTo>
                                <a:pt x="29" y="175"/>
                              </a:lnTo>
                              <a:lnTo>
                                <a:pt x="22" y="167"/>
                              </a:lnTo>
                              <a:lnTo>
                                <a:pt x="14" y="159"/>
                              </a:lnTo>
                              <a:lnTo>
                                <a:pt x="7" y="154"/>
                              </a:lnTo>
                              <a:lnTo>
                                <a:pt x="0" y="148"/>
                              </a:lnTo>
                              <a:lnTo>
                                <a:pt x="14" y="135"/>
                              </a:lnTo>
                              <a:lnTo>
                                <a:pt x="22" y="133"/>
                              </a:lnTo>
                              <a:lnTo>
                                <a:pt x="28" y="133"/>
                              </a:lnTo>
                              <a:lnTo>
                                <a:pt x="36" y="132"/>
                              </a:lnTo>
                              <a:lnTo>
                                <a:pt x="47" y="127"/>
                              </a:lnTo>
                              <a:lnTo>
                                <a:pt x="55" y="129"/>
                              </a:lnTo>
                              <a:lnTo>
                                <a:pt x="66" y="126"/>
                              </a:lnTo>
                              <a:lnTo>
                                <a:pt x="80" y="125"/>
                              </a:lnTo>
                              <a:lnTo>
                                <a:pt x="89" y="126"/>
                              </a:lnTo>
                              <a:lnTo>
                                <a:pt x="98" y="127"/>
                              </a:lnTo>
                              <a:lnTo>
                                <a:pt x="105" y="127"/>
                              </a:lnTo>
                              <a:lnTo>
                                <a:pt x="109" y="129"/>
                              </a:lnTo>
                              <a:lnTo>
                                <a:pt x="117" y="129"/>
                              </a:lnTo>
                              <a:lnTo>
                                <a:pt x="121" y="127"/>
                              </a:lnTo>
                              <a:lnTo>
                                <a:pt x="139" y="125"/>
                              </a:lnTo>
                              <a:lnTo>
                                <a:pt x="153" y="123"/>
                              </a:lnTo>
                              <a:lnTo>
                                <a:pt x="161" y="125"/>
                              </a:lnTo>
                              <a:lnTo>
                                <a:pt x="162" y="120"/>
                              </a:lnTo>
                              <a:lnTo>
                                <a:pt x="159" y="114"/>
                              </a:lnTo>
                              <a:lnTo>
                                <a:pt x="157" y="107"/>
                              </a:lnTo>
                              <a:lnTo>
                                <a:pt x="155" y="103"/>
                              </a:lnTo>
                              <a:lnTo>
                                <a:pt x="153" y="97"/>
                              </a:lnTo>
                              <a:lnTo>
                                <a:pt x="159" y="90"/>
                              </a:lnTo>
                              <a:lnTo>
                                <a:pt x="165" y="82"/>
                              </a:lnTo>
                              <a:lnTo>
                                <a:pt x="172" y="71"/>
                              </a:lnTo>
                              <a:lnTo>
                                <a:pt x="165" y="66"/>
                              </a:lnTo>
                              <a:lnTo>
                                <a:pt x="163" y="62"/>
                              </a:lnTo>
                              <a:lnTo>
                                <a:pt x="159" y="58"/>
                              </a:lnTo>
                              <a:lnTo>
                                <a:pt x="165" y="48"/>
                              </a:lnTo>
                              <a:lnTo>
                                <a:pt x="170" y="39"/>
                              </a:lnTo>
                              <a:lnTo>
                                <a:pt x="174" y="29"/>
                              </a:lnTo>
                              <a:lnTo>
                                <a:pt x="180" y="21"/>
                              </a:lnTo>
                              <a:lnTo>
                                <a:pt x="184" y="20"/>
                              </a:lnTo>
                              <a:lnTo>
                                <a:pt x="191" y="10"/>
                              </a:lnTo>
                              <a:lnTo>
                                <a:pt x="196" y="7"/>
                              </a:lnTo>
                              <a:lnTo>
                                <a:pt x="201" y="7"/>
                              </a:lnTo>
                              <a:lnTo>
                                <a:pt x="210" y="1"/>
                              </a:lnTo>
                              <a:lnTo>
                                <a:pt x="216" y="0"/>
                              </a:lnTo>
                              <a:lnTo>
                                <a:pt x="224" y="1"/>
                              </a:lnTo>
                              <a:lnTo>
                                <a:pt x="229" y="1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4" name="Freeform 16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61" y="2141"/>
                          <a:ext cx="447" cy="406"/>
                        </a:xfrm>
                        <a:custGeom>
                          <a:avLst/>
                          <a:gdLst>
                            <a:gd name="T0" fmla="*/ 36 w 892"/>
                            <a:gd name="T1" fmla="*/ 76 h 813"/>
                            <a:gd name="T2" fmla="*/ 29 w 892"/>
                            <a:gd name="T3" fmla="*/ 53 h 813"/>
                            <a:gd name="T4" fmla="*/ 64 w 892"/>
                            <a:gd name="T5" fmla="*/ 34 h 813"/>
                            <a:gd name="T6" fmla="*/ 80 w 892"/>
                            <a:gd name="T7" fmla="*/ 20 h 813"/>
                            <a:gd name="T8" fmla="*/ 107 w 892"/>
                            <a:gd name="T9" fmla="*/ 17 h 813"/>
                            <a:gd name="T10" fmla="*/ 192 w 892"/>
                            <a:gd name="T11" fmla="*/ 18 h 813"/>
                            <a:gd name="T12" fmla="*/ 236 w 892"/>
                            <a:gd name="T13" fmla="*/ 25 h 813"/>
                            <a:gd name="T14" fmla="*/ 219 w 892"/>
                            <a:gd name="T15" fmla="*/ 24 h 813"/>
                            <a:gd name="T16" fmla="*/ 208 w 892"/>
                            <a:gd name="T17" fmla="*/ 0 h 813"/>
                            <a:gd name="T18" fmla="*/ 230 w 892"/>
                            <a:gd name="T19" fmla="*/ 0 h 813"/>
                            <a:gd name="T20" fmla="*/ 246 w 892"/>
                            <a:gd name="T21" fmla="*/ 11 h 813"/>
                            <a:gd name="T22" fmla="*/ 271 w 892"/>
                            <a:gd name="T23" fmla="*/ 27 h 813"/>
                            <a:gd name="T24" fmla="*/ 267 w 892"/>
                            <a:gd name="T25" fmla="*/ 8 h 813"/>
                            <a:gd name="T26" fmla="*/ 314 w 892"/>
                            <a:gd name="T27" fmla="*/ 26 h 813"/>
                            <a:gd name="T28" fmla="*/ 315 w 892"/>
                            <a:gd name="T29" fmla="*/ 34 h 813"/>
                            <a:gd name="T30" fmla="*/ 300 w 892"/>
                            <a:gd name="T31" fmla="*/ 52 h 813"/>
                            <a:gd name="T32" fmla="*/ 288 w 892"/>
                            <a:gd name="T33" fmla="*/ 82 h 813"/>
                            <a:gd name="T34" fmla="*/ 332 w 892"/>
                            <a:gd name="T35" fmla="*/ 98 h 813"/>
                            <a:gd name="T36" fmla="*/ 333 w 892"/>
                            <a:gd name="T37" fmla="*/ 124 h 813"/>
                            <a:gd name="T38" fmla="*/ 339 w 892"/>
                            <a:gd name="T39" fmla="*/ 104 h 813"/>
                            <a:gd name="T40" fmla="*/ 339 w 892"/>
                            <a:gd name="T41" fmla="*/ 66 h 813"/>
                            <a:gd name="T42" fmla="*/ 370 w 892"/>
                            <a:gd name="T43" fmla="*/ 77 h 813"/>
                            <a:gd name="T44" fmla="*/ 389 w 892"/>
                            <a:gd name="T45" fmla="*/ 66 h 813"/>
                            <a:gd name="T46" fmla="*/ 424 w 892"/>
                            <a:gd name="T47" fmla="*/ 93 h 813"/>
                            <a:gd name="T48" fmla="*/ 447 w 892"/>
                            <a:gd name="T49" fmla="*/ 117 h 813"/>
                            <a:gd name="T50" fmla="*/ 428 w 892"/>
                            <a:gd name="T51" fmla="*/ 127 h 813"/>
                            <a:gd name="T52" fmla="*/ 396 w 892"/>
                            <a:gd name="T53" fmla="*/ 135 h 813"/>
                            <a:gd name="T54" fmla="*/ 419 w 892"/>
                            <a:gd name="T55" fmla="*/ 140 h 813"/>
                            <a:gd name="T56" fmla="*/ 428 w 892"/>
                            <a:gd name="T57" fmla="*/ 162 h 813"/>
                            <a:gd name="T58" fmla="*/ 420 w 892"/>
                            <a:gd name="T59" fmla="*/ 163 h 813"/>
                            <a:gd name="T60" fmla="*/ 407 w 892"/>
                            <a:gd name="T61" fmla="*/ 172 h 813"/>
                            <a:gd name="T62" fmla="*/ 386 w 892"/>
                            <a:gd name="T63" fmla="*/ 192 h 813"/>
                            <a:gd name="T64" fmla="*/ 384 w 892"/>
                            <a:gd name="T65" fmla="*/ 220 h 813"/>
                            <a:gd name="T66" fmla="*/ 362 w 892"/>
                            <a:gd name="T67" fmla="*/ 263 h 813"/>
                            <a:gd name="T68" fmla="*/ 368 w 892"/>
                            <a:gd name="T69" fmla="*/ 299 h 813"/>
                            <a:gd name="T70" fmla="*/ 356 w 892"/>
                            <a:gd name="T71" fmla="*/ 275 h 813"/>
                            <a:gd name="T72" fmla="*/ 335 w 892"/>
                            <a:gd name="T73" fmla="*/ 264 h 813"/>
                            <a:gd name="T74" fmla="*/ 316 w 892"/>
                            <a:gd name="T75" fmla="*/ 271 h 813"/>
                            <a:gd name="T76" fmla="*/ 284 w 892"/>
                            <a:gd name="T77" fmla="*/ 275 h 813"/>
                            <a:gd name="T78" fmla="*/ 269 w 892"/>
                            <a:gd name="T79" fmla="*/ 302 h 813"/>
                            <a:gd name="T80" fmla="*/ 304 w 892"/>
                            <a:gd name="T81" fmla="*/ 338 h 813"/>
                            <a:gd name="T82" fmla="*/ 311 w 892"/>
                            <a:gd name="T83" fmla="*/ 318 h 813"/>
                            <a:gd name="T84" fmla="*/ 330 w 892"/>
                            <a:gd name="T85" fmla="*/ 332 h 813"/>
                            <a:gd name="T86" fmla="*/ 341 w 892"/>
                            <a:gd name="T87" fmla="*/ 352 h 813"/>
                            <a:gd name="T88" fmla="*/ 350 w 892"/>
                            <a:gd name="T89" fmla="*/ 371 h 813"/>
                            <a:gd name="T90" fmla="*/ 371 w 892"/>
                            <a:gd name="T91" fmla="*/ 399 h 813"/>
                            <a:gd name="T92" fmla="*/ 402 w 892"/>
                            <a:gd name="T93" fmla="*/ 398 h 813"/>
                            <a:gd name="T94" fmla="*/ 383 w 892"/>
                            <a:gd name="T95" fmla="*/ 402 h 813"/>
                            <a:gd name="T96" fmla="*/ 347 w 892"/>
                            <a:gd name="T97" fmla="*/ 397 h 813"/>
                            <a:gd name="T98" fmla="*/ 322 w 892"/>
                            <a:gd name="T99" fmla="*/ 373 h 813"/>
                            <a:gd name="T100" fmla="*/ 302 w 892"/>
                            <a:gd name="T101" fmla="*/ 363 h 813"/>
                            <a:gd name="T102" fmla="*/ 272 w 892"/>
                            <a:gd name="T103" fmla="*/ 351 h 813"/>
                            <a:gd name="T104" fmla="*/ 220 w 892"/>
                            <a:gd name="T105" fmla="*/ 312 h 813"/>
                            <a:gd name="T106" fmla="*/ 177 w 892"/>
                            <a:gd name="T107" fmla="*/ 254 h 813"/>
                            <a:gd name="T108" fmla="*/ 191 w 892"/>
                            <a:gd name="T109" fmla="*/ 306 h 813"/>
                            <a:gd name="T110" fmla="*/ 164 w 892"/>
                            <a:gd name="T111" fmla="*/ 270 h 813"/>
                            <a:gd name="T112" fmla="*/ 139 w 892"/>
                            <a:gd name="T113" fmla="*/ 201 h 813"/>
                            <a:gd name="T114" fmla="*/ 141 w 892"/>
                            <a:gd name="T115" fmla="*/ 148 h 813"/>
                            <a:gd name="T116" fmla="*/ 132 w 892"/>
                            <a:gd name="T117" fmla="*/ 109 h 813"/>
                            <a:gd name="T118" fmla="*/ 125 w 892"/>
                            <a:gd name="T119" fmla="*/ 86 h 813"/>
                            <a:gd name="T120" fmla="*/ 108 w 892"/>
                            <a:gd name="T121" fmla="*/ 72 h 813"/>
                            <a:gd name="T122" fmla="*/ 71 w 892"/>
                            <a:gd name="T123" fmla="*/ 76 h 813"/>
                            <a:gd name="T124" fmla="*/ 44 w 892"/>
                            <a:gd name="T125" fmla="*/ 90 h 813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60000 65536"/>
                            <a:gd name="T187" fmla="*/ 0 60000 65536"/>
                            <a:gd name="T188" fmla="*/ 0 60000 65536"/>
                            <a:gd name="T189" fmla="*/ 0 w 892"/>
                            <a:gd name="T190" fmla="*/ 0 h 813"/>
                            <a:gd name="T191" fmla="*/ 892 w 892"/>
                            <a:gd name="T192" fmla="*/ 813 h 813"/>
                          </a:gdLst>
                          <a:ahLst/>
                          <a:cxnLst>
                            <a:cxn ang="T126">
                              <a:pos x="T0" y="T1"/>
                            </a:cxn>
                            <a:cxn ang="T127">
                              <a:pos x="T2" y="T3"/>
                            </a:cxn>
                            <a:cxn ang="T128">
                              <a:pos x="T4" y="T5"/>
                            </a:cxn>
                            <a:cxn ang="T129">
                              <a:pos x="T6" y="T7"/>
                            </a:cxn>
                            <a:cxn ang="T130">
                              <a:pos x="T8" y="T9"/>
                            </a:cxn>
                            <a:cxn ang="T131">
                              <a:pos x="T10" y="T11"/>
                            </a:cxn>
                            <a:cxn ang="T132">
                              <a:pos x="T12" y="T13"/>
                            </a:cxn>
                            <a:cxn ang="T133">
                              <a:pos x="T14" y="T15"/>
                            </a:cxn>
                            <a:cxn ang="T134">
                              <a:pos x="T16" y="T17"/>
                            </a:cxn>
                            <a:cxn ang="T135">
                              <a:pos x="T18" y="T19"/>
                            </a:cxn>
                            <a:cxn ang="T136">
                              <a:pos x="T20" y="T21"/>
                            </a:cxn>
                            <a:cxn ang="T137">
                              <a:pos x="T22" y="T23"/>
                            </a:cxn>
                            <a:cxn ang="T138">
                              <a:pos x="T24" y="T25"/>
                            </a:cxn>
                            <a:cxn ang="T139">
                              <a:pos x="T26" y="T27"/>
                            </a:cxn>
                            <a:cxn ang="T140">
                              <a:pos x="T28" y="T29"/>
                            </a:cxn>
                            <a:cxn ang="T141">
                              <a:pos x="T30" y="T31"/>
                            </a:cxn>
                            <a:cxn ang="T142">
                              <a:pos x="T32" y="T33"/>
                            </a:cxn>
                            <a:cxn ang="T143">
                              <a:pos x="T34" y="T35"/>
                            </a:cxn>
                            <a:cxn ang="T144">
                              <a:pos x="T36" y="T37"/>
                            </a:cxn>
                            <a:cxn ang="T145">
                              <a:pos x="T38" y="T39"/>
                            </a:cxn>
                            <a:cxn ang="T146">
                              <a:pos x="T40" y="T41"/>
                            </a:cxn>
                            <a:cxn ang="T147">
                              <a:pos x="T42" y="T43"/>
                            </a:cxn>
                            <a:cxn ang="T148">
                              <a:pos x="T44" y="T45"/>
                            </a:cxn>
                            <a:cxn ang="T149">
                              <a:pos x="T46" y="T47"/>
                            </a:cxn>
                            <a:cxn ang="T150">
                              <a:pos x="T48" y="T49"/>
                            </a:cxn>
                            <a:cxn ang="T151">
                              <a:pos x="T50" y="T51"/>
                            </a:cxn>
                            <a:cxn ang="T152">
                              <a:pos x="T52" y="T53"/>
                            </a:cxn>
                            <a:cxn ang="T153">
                              <a:pos x="T54" y="T55"/>
                            </a:cxn>
                            <a:cxn ang="T154">
                              <a:pos x="T56" y="T57"/>
                            </a:cxn>
                            <a:cxn ang="T155">
                              <a:pos x="T58" y="T59"/>
                            </a:cxn>
                            <a:cxn ang="T156">
                              <a:pos x="T60" y="T61"/>
                            </a:cxn>
                            <a:cxn ang="T157">
                              <a:pos x="T62" y="T63"/>
                            </a:cxn>
                            <a:cxn ang="T158">
                              <a:pos x="T64" y="T65"/>
                            </a:cxn>
                            <a:cxn ang="T159">
                              <a:pos x="T66" y="T67"/>
                            </a:cxn>
                            <a:cxn ang="T160">
                              <a:pos x="T68" y="T69"/>
                            </a:cxn>
                            <a:cxn ang="T161">
                              <a:pos x="T70" y="T71"/>
                            </a:cxn>
                            <a:cxn ang="T162">
                              <a:pos x="T72" y="T73"/>
                            </a:cxn>
                            <a:cxn ang="T163">
                              <a:pos x="T74" y="T75"/>
                            </a:cxn>
                            <a:cxn ang="T164">
                              <a:pos x="T76" y="T77"/>
                            </a:cxn>
                            <a:cxn ang="T165">
                              <a:pos x="T78" y="T79"/>
                            </a:cxn>
                            <a:cxn ang="T166">
                              <a:pos x="T80" y="T81"/>
                            </a:cxn>
                            <a:cxn ang="T167">
                              <a:pos x="T82" y="T83"/>
                            </a:cxn>
                            <a:cxn ang="T168">
                              <a:pos x="T84" y="T85"/>
                            </a:cxn>
                            <a:cxn ang="T169">
                              <a:pos x="T86" y="T87"/>
                            </a:cxn>
                            <a:cxn ang="T170">
                              <a:pos x="T88" y="T89"/>
                            </a:cxn>
                            <a:cxn ang="T171">
                              <a:pos x="T90" y="T91"/>
                            </a:cxn>
                            <a:cxn ang="T172">
                              <a:pos x="T92" y="T93"/>
                            </a:cxn>
                            <a:cxn ang="T173">
                              <a:pos x="T94" y="T95"/>
                            </a:cxn>
                            <a:cxn ang="T174">
                              <a:pos x="T96" y="T97"/>
                            </a:cxn>
                            <a:cxn ang="T175">
                              <a:pos x="T98" y="T99"/>
                            </a:cxn>
                            <a:cxn ang="T176">
                              <a:pos x="T100" y="T101"/>
                            </a:cxn>
                            <a:cxn ang="T177">
                              <a:pos x="T102" y="T103"/>
                            </a:cxn>
                            <a:cxn ang="T178">
                              <a:pos x="T104" y="T105"/>
                            </a:cxn>
                            <a:cxn ang="T179">
                              <a:pos x="T106" y="T107"/>
                            </a:cxn>
                            <a:cxn ang="T180">
                              <a:pos x="T108" y="T109"/>
                            </a:cxn>
                            <a:cxn ang="T181">
                              <a:pos x="T110" y="T111"/>
                            </a:cxn>
                            <a:cxn ang="T182">
                              <a:pos x="T112" y="T113"/>
                            </a:cxn>
                            <a:cxn ang="T183">
                              <a:pos x="T114" y="T115"/>
                            </a:cxn>
                            <a:cxn ang="T184">
                              <a:pos x="T116" y="T117"/>
                            </a:cxn>
                            <a:cxn ang="T185">
                              <a:pos x="T118" y="T119"/>
                            </a:cxn>
                            <a:cxn ang="T186">
                              <a:pos x="T120" y="T121"/>
                            </a:cxn>
                            <a:cxn ang="T187">
                              <a:pos x="T122" y="T123"/>
                            </a:cxn>
                            <a:cxn ang="T188">
                              <a:pos x="T124" y="T125"/>
                            </a:cxn>
                          </a:cxnLst>
                          <a:rect l="T189" t="T190" r="T191" b="T192"/>
                          <a:pathLst>
                            <a:path w="892" h="813">
                              <a:moveTo>
                                <a:pt x="0" y="209"/>
                              </a:moveTo>
                              <a:lnTo>
                                <a:pt x="42" y="181"/>
                              </a:lnTo>
                              <a:lnTo>
                                <a:pt x="67" y="170"/>
                              </a:lnTo>
                              <a:lnTo>
                                <a:pt x="71" y="152"/>
                              </a:lnTo>
                              <a:lnTo>
                                <a:pt x="52" y="142"/>
                              </a:lnTo>
                              <a:lnTo>
                                <a:pt x="50" y="122"/>
                              </a:lnTo>
                              <a:lnTo>
                                <a:pt x="59" y="116"/>
                              </a:lnTo>
                              <a:lnTo>
                                <a:pt x="57" y="107"/>
                              </a:lnTo>
                              <a:lnTo>
                                <a:pt x="90" y="104"/>
                              </a:lnTo>
                              <a:lnTo>
                                <a:pt x="98" y="88"/>
                              </a:lnTo>
                              <a:lnTo>
                                <a:pt x="100" y="74"/>
                              </a:lnTo>
                              <a:lnTo>
                                <a:pt x="127" y="69"/>
                              </a:lnTo>
                              <a:lnTo>
                                <a:pt x="130" y="55"/>
                              </a:lnTo>
                              <a:lnTo>
                                <a:pt x="104" y="51"/>
                              </a:lnTo>
                              <a:lnTo>
                                <a:pt x="116" y="40"/>
                              </a:lnTo>
                              <a:lnTo>
                                <a:pt x="159" y="40"/>
                              </a:lnTo>
                              <a:lnTo>
                                <a:pt x="171" y="29"/>
                              </a:lnTo>
                              <a:lnTo>
                                <a:pt x="189" y="27"/>
                              </a:lnTo>
                              <a:lnTo>
                                <a:pt x="200" y="17"/>
                              </a:lnTo>
                              <a:lnTo>
                                <a:pt x="214" y="35"/>
                              </a:lnTo>
                              <a:lnTo>
                                <a:pt x="267" y="32"/>
                              </a:lnTo>
                              <a:lnTo>
                                <a:pt x="292" y="49"/>
                              </a:lnTo>
                              <a:lnTo>
                                <a:pt x="371" y="45"/>
                              </a:lnTo>
                              <a:lnTo>
                                <a:pt x="384" y="36"/>
                              </a:lnTo>
                              <a:lnTo>
                                <a:pt x="414" y="51"/>
                              </a:lnTo>
                              <a:lnTo>
                                <a:pt x="445" y="64"/>
                              </a:lnTo>
                              <a:lnTo>
                                <a:pt x="461" y="58"/>
                              </a:lnTo>
                              <a:lnTo>
                                <a:pt x="470" y="51"/>
                              </a:lnTo>
                              <a:lnTo>
                                <a:pt x="496" y="55"/>
                              </a:lnTo>
                              <a:lnTo>
                                <a:pt x="478" y="45"/>
                              </a:lnTo>
                              <a:lnTo>
                                <a:pt x="462" y="46"/>
                              </a:lnTo>
                              <a:lnTo>
                                <a:pt x="437" y="49"/>
                              </a:lnTo>
                              <a:lnTo>
                                <a:pt x="425" y="35"/>
                              </a:lnTo>
                              <a:lnTo>
                                <a:pt x="411" y="27"/>
                              </a:lnTo>
                              <a:lnTo>
                                <a:pt x="411" y="14"/>
                              </a:lnTo>
                              <a:lnTo>
                                <a:pt x="415" y="1"/>
                              </a:lnTo>
                              <a:lnTo>
                                <a:pt x="426" y="0"/>
                              </a:lnTo>
                              <a:lnTo>
                                <a:pt x="441" y="11"/>
                              </a:lnTo>
                              <a:lnTo>
                                <a:pt x="445" y="6"/>
                              </a:lnTo>
                              <a:lnTo>
                                <a:pt x="458" y="0"/>
                              </a:lnTo>
                              <a:lnTo>
                                <a:pt x="473" y="8"/>
                              </a:lnTo>
                              <a:lnTo>
                                <a:pt x="481" y="1"/>
                              </a:lnTo>
                              <a:lnTo>
                                <a:pt x="489" y="13"/>
                              </a:lnTo>
                              <a:lnTo>
                                <a:pt x="491" y="22"/>
                              </a:lnTo>
                              <a:lnTo>
                                <a:pt x="513" y="32"/>
                              </a:lnTo>
                              <a:lnTo>
                                <a:pt x="504" y="40"/>
                              </a:lnTo>
                              <a:lnTo>
                                <a:pt x="504" y="52"/>
                              </a:lnTo>
                              <a:lnTo>
                                <a:pt x="541" y="55"/>
                              </a:lnTo>
                              <a:lnTo>
                                <a:pt x="551" y="40"/>
                              </a:lnTo>
                              <a:lnTo>
                                <a:pt x="544" y="33"/>
                              </a:lnTo>
                              <a:lnTo>
                                <a:pt x="528" y="35"/>
                              </a:lnTo>
                              <a:lnTo>
                                <a:pt x="532" y="17"/>
                              </a:lnTo>
                              <a:lnTo>
                                <a:pt x="565" y="27"/>
                              </a:lnTo>
                              <a:lnTo>
                                <a:pt x="572" y="39"/>
                              </a:lnTo>
                              <a:lnTo>
                                <a:pt x="599" y="39"/>
                              </a:lnTo>
                              <a:lnTo>
                                <a:pt x="626" y="53"/>
                              </a:lnTo>
                              <a:lnTo>
                                <a:pt x="640" y="51"/>
                              </a:lnTo>
                              <a:lnTo>
                                <a:pt x="655" y="64"/>
                              </a:lnTo>
                              <a:lnTo>
                                <a:pt x="640" y="81"/>
                              </a:lnTo>
                              <a:lnTo>
                                <a:pt x="628" y="68"/>
                              </a:lnTo>
                              <a:lnTo>
                                <a:pt x="620" y="72"/>
                              </a:lnTo>
                              <a:lnTo>
                                <a:pt x="607" y="83"/>
                              </a:lnTo>
                              <a:lnTo>
                                <a:pt x="588" y="91"/>
                              </a:lnTo>
                              <a:lnTo>
                                <a:pt x="598" y="104"/>
                              </a:lnTo>
                              <a:lnTo>
                                <a:pt x="581" y="106"/>
                              </a:lnTo>
                              <a:lnTo>
                                <a:pt x="567" y="123"/>
                              </a:lnTo>
                              <a:lnTo>
                                <a:pt x="554" y="145"/>
                              </a:lnTo>
                              <a:lnTo>
                                <a:pt x="574" y="164"/>
                              </a:lnTo>
                              <a:lnTo>
                                <a:pt x="591" y="186"/>
                              </a:lnTo>
                              <a:lnTo>
                                <a:pt x="622" y="189"/>
                              </a:lnTo>
                              <a:lnTo>
                                <a:pt x="650" y="186"/>
                              </a:lnTo>
                              <a:lnTo>
                                <a:pt x="662" y="197"/>
                              </a:lnTo>
                              <a:lnTo>
                                <a:pt x="657" y="203"/>
                              </a:lnTo>
                              <a:lnTo>
                                <a:pt x="648" y="215"/>
                              </a:lnTo>
                              <a:lnTo>
                                <a:pt x="661" y="235"/>
                              </a:lnTo>
                              <a:lnTo>
                                <a:pt x="665" y="249"/>
                              </a:lnTo>
                              <a:lnTo>
                                <a:pt x="680" y="257"/>
                              </a:lnTo>
                              <a:lnTo>
                                <a:pt x="700" y="244"/>
                              </a:lnTo>
                              <a:lnTo>
                                <a:pt x="695" y="225"/>
                              </a:lnTo>
                              <a:lnTo>
                                <a:pt x="677" y="209"/>
                              </a:lnTo>
                              <a:lnTo>
                                <a:pt x="698" y="190"/>
                              </a:lnTo>
                              <a:lnTo>
                                <a:pt x="680" y="158"/>
                              </a:lnTo>
                              <a:lnTo>
                                <a:pt x="663" y="145"/>
                              </a:lnTo>
                              <a:lnTo>
                                <a:pt x="677" y="133"/>
                              </a:lnTo>
                              <a:lnTo>
                                <a:pt x="674" y="116"/>
                              </a:lnTo>
                              <a:lnTo>
                                <a:pt x="684" y="106"/>
                              </a:lnTo>
                              <a:lnTo>
                                <a:pt x="700" y="116"/>
                              </a:lnTo>
                              <a:lnTo>
                                <a:pt x="739" y="154"/>
                              </a:lnTo>
                              <a:lnTo>
                                <a:pt x="762" y="159"/>
                              </a:lnTo>
                              <a:lnTo>
                                <a:pt x="769" y="149"/>
                              </a:lnTo>
                              <a:lnTo>
                                <a:pt x="764" y="129"/>
                              </a:lnTo>
                              <a:lnTo>
                                <a:pt x="777" y="132"/>
                              </a:lnTo>
                              <a:lnTo>
                                <a:pt x="801" y="155"/>
                              </a:lnTo>
                              <a:lnTo>
                                <a:pt x="805" y="168"/>
                              </a:lnTo>
                              <a:lnTo>
                                <a:pt x="818" y="177"/>
                              </a:lnTo>
                              <a:lnTo>
                                <a:pt x="846" y="187"/>
                              </a:lnTo>
                              <a:lnTo>
                                <a:pt x="860" y="206"/>
                              </a:lnTo>
                              <a:lnTo>
                                <a:pt x="880" y="219"/>
                              </a:lnTo>
                              <a:lnTo>
                                <a:pt x="891" y="223"/>
                              </a:lnTo>
                              <a:lnTo>
                                <a:pt x="892" y="235"/>
                              </a:lnTo>
                              <a:lnTo>
                                <a:pt x="876" y="242"/>
                              </a:lnTo>
                              <a:lnTo>
                                <a:pt x="866" y="234"/>
                              </a:lnTo>
                              <a:lnTo>
                                <a:pt x="858" y="235"/>
                              </a:lnTo>
                              <a:lnTo>
                                <a:pt x="855" y="254"/>
                              </a:lnTo>
                              <a:lnTo>
                                <a:pt x="842" y="258"/>
                              </a:lnTo>
                              <a:lnTo>
                                <a:pt x="827" y="248"/>
                              </a:lnTo>
                              <a:lnTo>
                                <a:pt x="795" y="248"/>
                              </a:lnTo>
                              <a:lnTo>
                                <a:pt x="791" y="270"/>
                              </a:lnTo>
                              <a:lnTo>
                                <a:pt x="799" y="283"/>
                              </a:lnTo>
                              <a:lnTo>
                                <a:pt x="812" y="276"/>
                              </a:lnTo>
                              <a:lnTo>
                                <a:pt x="824" y="273"/>
                              </a:lnTo>
                              <a:lnTo>
                                <a:pt x="836" y="280"/>
                              </a:lnTo>
                              <a:lnTo>
                                <a:pt x="820" y="296"/>
                              </a:lnTo>
                              <a:lnTo>
                                <a:pt x="836" y="310"/>
                              </a:lnTo>
                              <a:lnTo>
                                <a:pt x="858" y="315"/>
                              </a:lnTo>
                              <a:lnTo>
                                <a:pt x="855" y="324"/>
                              </a:lnTo>
                              <a:lnTo>
                                <a:pt x="847" y="325"/>
                              </a:lnTo>
                              <a:lnTo>
                                <a:pt x="827" y="374"/>
                              </a:lnTo>
                              <a:lnTo>
                                <a:pt x="828" y="342"/>
                              </a:lnTo>
                              <a:lnTo>
                                <a:pt x="838" y="326"/>
                              </a:lnTo>
                              <a:lnTo>
                                <a:pt x="827" y="319"/>
                              </a:lnTo>
                              <a:lnTo>
                                <a:pt x="814" y="329"/>
                              </a:lnTo>
                              <a:lnTo>
                                <a:pt x="821" y="338"/>
                              </a:lnTo>
                              <a:lnTo>
                                <a:pt x="812" y="344"/>
                              </a:lnTo>
                              <a:lnTo>
                                <a:pt x="802" y="351"/>
                              </a:lnTo>
                              <a:lnTo>
                                <a:pt x="803" y="373"/>
                              </a:lnTo>
                              <a:lnTo>
                                <a:pt x="790" y="382"/>
                              </a:lnTo>
                              <a:lnTo>
                                <a:pt x="770" y="385"/>
                              </a:lnTo>
                              <a:lnTo>
                                <a:pt x="777" y="396"/>
                              </a:lnTo>
                              <a:lnTo>
                                <a:pt x="770" y="409"/>
                              </a:lnTo>
                              <a:lnTo>
                                <a:pt x="777" y="419"/>
                              </a:lnTo>
                              <a:lnTo>
                                <a:pt x="766" y="441"/>
                              </a:lnTo>
                              <a:lnTo>
                                <a:pt x="762" y="462"/>
                              </a:lnTo>
                              <a:lnTo>
                                <a:pt x="746" y="473"/>
                              </a:lnTo>
                              <a:lnTo>
                                <a:pt x="725" y="505"/>
                              </a:lnTo>
                              <a:lnTo>
                                <a:pt x="722" y="527"/>
                              </a:lnTo>
                              <a:lnTo>
                                <a:pt x="729" y="544"/>
                              </a:lnTo>
                              <a:lnTo>
                                <a:pt x="739" y="566"/>
                              </a:lnTo>
                              <a:lnTo>
                                <a:pt x="744" y="589"/>
                              </a:lnTo>
                              <a:lnTo>
                                <a:pt x="735" y="599"/>
                              </a:lnTo>
                              <a:lnTo>
                                <a:pt x="722" y="592"/>
                              </a:lnTo>
                              <a:lnTo>
                                <a:pt x="725" y="581"/>
                              </a:lnTo>
                              <a:lnTo>
                                <a:pt x="718" y="554"/>
                              </a:lnTo>
                              <a:lnTo>
                                <a:pt x="710" y="550"/>
                              </a:lnTo>
                              <a:lnTo>
                                <a:pt x="705" y="534"/>
                              </a:lnTo>
                              <a:lnTo>
                                <a:pt x="694" y="534"/>
                              </a:lnTo>
                              <a:lnTo>
                                <a:pt x="681" y="525"/>
                              </a:lnTo>
                              <a:lnTo>
                                <a:pt x="668" y="528"/>
                              </a:lnTo>
                              <a:lnTo>
                                <a:pt x="655" y="522"/>
                              </a:lnTo>
                              <a:lnTo>
                                <a:pt x="640" y="530"/>
                              </a:lnTo>
                              <a:lnTo>
                                <a:pt x="613" y="524"/>
                              </a:lnTo>
                              <a:lnTo>
                                <a:pt x="631" y="543"/>
                              </a:lnTo>
                              <a:lnTo>
                                <a:pt x="607" y="541"/>
                              </a:lnTo>
                              <a:lnTo>
                                <a:pt x="591" y="527"/>
                              </a:lnTo>
                              <a:lnTo>
                                <a:pt x="563" y="527"/>
                              </a:lnTo>
                              <a:lnTo>
                                <a:pt x="567" y="550"/>
                              </a:lnTo>
                              <a:lnTo>
                                <a:pt x="547" y="543"/>
                              </a:lnTo>
                              <a:lnTo>
                                <a:pt x="536" y="566"/>
                              </a:lnTo>
                              <a:lnTo>
                                <a:pt x="544" y="576"/>
                              </a:lnTo>
                              <a:lnTo>
                                <a:pt x="536" y="604"/>
                              </a:lnTo>
                              <a:lnTo>
                                <a:pt x="546" y="636"/>
                              </a:lnTo>
                              <a:lnTo>
                                <a:pt x="557" y="658"/>
                              </a:lnTo>
                              <a:lnTo>
                                <a:pt x="569" y="678"/>
                              </a:lnTo>
                              <a:lnTo>
                                <a:pt x="607" y="676"/>
                              </a:lnTo>
                              <a:lnTo>
                                <a:pt x="624" y="672"/>
                              </a:lnTo>
                              <a:lnTo>
                                <a:pt x="626" y="658"/>
                              </a:lnTo>
                              <a:lnTo>
                                <a:pt x="618" y="646"/>
                              </a:lnTo>
                              <a:lnTo>
                                <a:pt x="620" y="636"/>
                              </a:lnTo>
                              <a:lnTo>
                                <a:pt x="643" y="639"/>
                              </a:lnTo>
                              <a:lnTo>
                                <a:pt x="666" y="633"/>
                              </a:lnTo>
                              <a:lnTo>
                                <a:pt x="666" y="646"/>
                              </a:lnTo>
                              <a:lnTo>
                                <a:pt x="659" y="665"/>
                              </a:lnTo>
                              <a:lnTo>
                                <a:pt x="648" y="679"/>
                              </a:lnTo>
                              <a:lnTo>
                                <a:pt x="646" y="700"/>
                              </a:lnTo>
                              <a:lnTo>
                                <a:pt x="661" y="708"/>
                              </a:lnTo>
                              <a:lnTo>
                                <a:pt x="681" y="705"/>
                              </a:lnTo>
                              <a:lnTo>
                                <a:pt x="694" y="713"/>
                              </a:lnTo>
                              <a:lnTo>
                                <a:pt x="705" y="710"/>
                              </a:lnTo>
                              <a:lnTo>
                                <a:pt x="709" y="723"/>
                              </a:lnTo>
                              <a:lnTo>
                                <a:pt x="699" y="743"/>
                              </a:lnTo>
                              <a:lnTo>
                                <a:pt x="707" y="755"/>
                              </a:lnTo>
                              <a:lnTo>
                                <a:pt x="709" y="778"/>
                              </a:lnTo>
                              <a:lnTo>
                                <a:pt x="722" y="794"/>
                              </a:lnTo>
                              <a:lnTo>
                                <a:pt x="740" y="798"/>
                              </a:lnTo>
                              <a:lnTo>
                                <a:pt x="753" y="794"/>
                              </a:lnTo>
                              <a:lnTo>
                                <a:pt x="758" y="795"/>
                              </a:lnTo>
                              <a:lnTo>
                                <a:pt x="781" y="795"/>
                              </a:lnTo>
                              <a:lnTo>
                                <a:pt x="802" y="797"/>
                              </a:lnTo>
                              <a:lnTo>
                                <a:pt x="807" y="787"/>
                              </a:lnTo>
                              <a:lnTo>
                                <a:pt x="790" y="804"/>
                              </a:lnTo>
                              <a:lnTo>
                                <a:pt x="777" y="803"/>
                              </a:lnTo>
                              <a:lnTo>
                                <a:pt x="765" y="804"/>
                              </a:lnTo>
                              <a:lnTo>
                                <a:pt x="740" y="813"/>
                              </a:lnTo>
                              <a:lnTo>
                                <a:pt x="720" y="801"/>
                              </a:lnTo>
                              <a:lnTo>
                                <a:pt x="700" y="794"/>
                              </a:lnTo>
                              <a:lnTo>
                                <a:pt x="692" y="795"/>
                              </a:lnTo>
                              <a:lnTo>
                                <a:pt x="694" y="785"/>
                              </a:lnTo>
                              <a:lnTo>
                                <a:pt x="692" y="769"/>
                              </a:lnTo>
                              <a:lnTo>
                                <a:pt x="676" y="755"/>
                              </a:lnTo>
                              <a:lnTo>
                                <a:pt x="642" y="746"/>
                              </a:lnTo>
                              <a:lnTo>
                                <a:pt x="636" y="739"/>
                              </a:lnTo>
                              <a:lnTo>
                                <a:pt x="626" y="740"/>
                              </a:lnTo>
                              <a:lnTo>
                                <a:pt x="617" y="733"/>
                              </a:lnTo>
                              <a:lnTo>
                                <a:pt x="602" y="726"/>
                              </a:lnTo>
                              <a:lnTo>
                                <a:pt x="585" y="705"/>
                              </a:lnTo>
                              <a:lnTo>
                                <a:pt x="566" y="700"/>
                              </a:lnTo>
                              <a:lnTo>
                                <a:pt x="555" y="713"/>
                              </a:lnTo>
                              <a:lnTo>
                                <a:pt x="543" y="703"/>
                              </a:lnTo>
                              <a:lnTo>
                                <a:pt x="528" y="703"/>
                              </a:lnTo>
                              <a:lnTo>
                                <a:pt x="498" y="695"/>
                              </a:lnTo>
                              <a:lnTo>
                                <a:pt x="443" y="660"/>
                              </a:lnTo>
                              <a:lnTo>
                                <a:pt x="439" y="624"/>
                              </a:lnTo>
                              <a:lnTo>
                                <a:pt x="433" y="610"/>
                              </a:lnTo>
                              <a:lnTo>
                                <a:pt x="423" y="599"/>
                              </a:lnTo>
                              <a:lnTo>
                                <a:pt x="411" y="579"/>
                              </a:lnTo>
                              <a:lnTo>
                                <a:pt x="354" y="509"/>
                              </a:lnTo>
                              <a:lnTo>
                                <a:pt x="354" y="536"/>
                              </a:lnTo>
                              <a:lnTo>
                                <a:pt x="389" y="582"/>
                              </a:lnTo>
                              <a:lnTo>
                                <a:pt x="404" y="621"/>
                              </a:lnTo>
                              <a:lnTo>
                                <a:pt x="382" y="613"/>
                              </a:lnTo>
                              <a:lnTo>
                                <a:pt x="378" y="589"/>
                              </a:lnTo>
                              <a:lnTo>
                                <a:pt x="349" y="575"/>
                              </a:lnTo>
                              <a:lnTo>
                                <a:pt x="366" y="566"/>
                              </a:lnTo>
                              <a:lnTo>
                                <a:pt x="327" y="541"/>
                              </a:lnTo>
                              <a:lnTo>
                                <a:pt x="343" y="527"/>
                              </a:lnTo>
                              <a:lnTo>
                                <a:pt x="329" y="498"/>
                              </a:lnTo>
                              <a:lnTo>
                                <a:pt x="282" y="437"/>
                              </a:lnTo>
                              <a:lnTo>
                                <a:pt x="277" y="402"/>
                              </a:lnTo>
                              <a:lnTo>
                                <a:pt x="279" y="373"/>
                              </a:lnTo>
                              <a:lnTo>
                                <a:pt x="292" y="344"/>
                              </a:lnTo>
                              <a:lnTo>
                                <a:pt x="292" y="315"/>
                              </a:lnTo>
                              <a:lnTo>
                                <a:pt x="282" y="297"/>
                              </a:lnTo>
                              <a:lnTo>
                                <a:pt x="308" y="292"/>
                              </a:lnTo>
                              <a:lnTo>
                                <a:pt x="277" y="257"/>
                              </a:lnTo>
                              <a:lnTo>
                                <a:pt x="278" y="241"/>
                              </a:lnTo>
                              <a:lnTo>
                                <a:pt x="264" y="219"/>
                              </a:lnTo>
                              <a:lnTo>
                                <a:pt x="270" y="206"/>
                              </a:lnTo>
                              <a:lnTo>
                                <a:pt x="260" y="199"/>
                              </a:lnTo>
                              <a:lnTo>
                                <a:pt x="259" y="184"/>
                              </a:lnTo>
                              <a:lnTo>
                                <a:pt x="249" y="173"/>
                              </a:lnTo>
                              <a:lnTo>
                                <a:pt x="260" y="162"/>
                              </a:lnTo>
                              <a:lnTo>
                                <a:pt x="245" y="155"/>
                              </a:lnTo>
                              <a:lnTo>
                                <a:pt x="233" y="165"/>
                              </a:lnTo>
                              <a:lnTo>
                                <a:pt x="215" y="145"/>
                              </a:lnTo>
                              <a:lnTo>
                                <a:pt x="196" y="139"/>
                              </a:lnTo>
                              <a:lnTo>
                                <a:pt x="168" y="139"/>
                              </a:lnTo>
                              <a:lnTo>
                                <a:pt x="151" y="158"/>
                              </a:lnTo>
                              <a:lnTo>
                                <a:pt x="142" y="152"/>
                              </a:lnTo>
                              <a:lnTo>
                                <a:pt x="157" y="128"/>
                              </a:lnTo>
                              <a:lnTo>
                                <a:pt x="144" y="132"/>
                              </a:lnTo>
                              <a:lnTo>
                                <a:pt x="116" y="158"/>
                              </a:lnTo>
                              <a:lnTo>
                                <a:pt x="88" y="181"/>
                              </a:lnTo>
                              <a:lnTo>
                                <a:pt x="61" y="187"/>
                              </a:lnTo>
                              <a:lnTo>
                                <a:pt x="18" y="210"/>
                              </a:lnTo>
                              <a:lnTo>
                                <a:pt x="0" y="20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5" name="Freeform 1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81" y="2102"/>
                          <a:ext cx="151" cy="107"/>
                        </a:xfrm>
                        <a:custGeom>
                          <a:avLst/>
                          <a:gdLst>
                            <a:gd name="T0" fmla="*/ 0 w 303"/>
                            <a:gd name="T1" fmla="*/ 22 h 213"/>
                            <a:gd name="T2" fmla="*/ 3 w 303"/>
                            <a:gd name="T3" fmla="*/ 14 h 213"/>
                            <a:gd name="T4" fmla="*/ 3 w 303"/>
                            <a:gd name="T5" fmla="*/ 8 h 213"/>
                            <a:gd name="T6" fmla="*/ 9 w 303"/>
                            <a:gd name="T7" fmla="*/ 0 h 213"/>
                            <a:gd name="T8" fmla="*/ 36 w 303"/>
                            <a:gd name="T9" fmla="*/ 5 h 213"/>
                            <a:gd name="T10" fmla="*/ 83 w 303"/>
                            <a:gd name="T11" fmla="*/ 15 h 213"/>
                            <a:gd name="T12" fmla="*/ 102 w 303"/>
                            <a:gd name="T13" fmla="*/ 23 h 213"/>
                            <a:gd name="T14" fmla="*/ 126 w 303"/>
                            <a:gd name="T15" fmla="*/ 30 h 213"/>
                            <a:gd name="T16" fmla="*/ 139 w 303"/>
                            <a:gd name="T17" fmla="*/ 44 h 213"/>
                            <a:gd name="T18" fmla="*/ 151 w 303"/>
                            <a:gd name="T19" fmla="*/ 51 h 213"/>
                            <a:gd name="T20" fmla="*/ 146 w 303"/>
                            <a:gd name="T21" fmla="*/ 56 h 213"/>
                            <a:gd name="T22" fmla="*/ 146 w 303"/>
                            <a:gd name="T23" fmla="*/ 63 h 213"/>
                            <a:gd name="T24" fmla="*/ 142 w 303"/>
                            <a:gd name="T25" fmla="*/ 64 h 213"/>
                            <a:gd name="T26" fmla="*/ 137 w 303"/>
                            <a:gd name="T27" fmla="*/ 70 h 213"/>
                            <a:gd name="T28" fmla="*/ 142 w 303"/>
                            <a:gd name="T29" fmla="*/ 76 h 213"/>
                            <a:gd name="T30" fmla="*/ 141 w 303"/>
                            <a:gd name="T31" fmla="*/ 80 h 213"/>
                            <a:gd name="T32" fmla="*/ 136 w 303"/>
                            <a:gd name="T33" fmla="*/ 86 h 213"/>
                            <a:gd name="T34" fmla="*/ 137 w 303"/>
                            <a:gd name="T35" fmla="*/ 92 h 213"/>
                            <a:gd name="T36" fmla="*/ 145 w 303"/>
                            <a:gd name="T37" fmla="*/ 97 h 213"/>
                            <a:gd name="T38" fmla="*/ 146 w 303"/>
                            <a:gd name="T39" fmla="*/ 103 h 213"/>
                            <a:gd name="T40" fmla="*/ 144 w 303"/>
                            <a:gd name="T41" fmla="*/ 106 h 213"/>
                            <a:gd name="T42" fmla="*/ 135 w 303"/>
                            <a:gd name="T43" fmla="*/ 107 h 213"/>
                            <a:gd name="T44" fmla="*/ 129 w 303"/>
                            <a:gd name="T45" fmla="*/ 104 h 213"/>
                            <a:gd name="T46" fmla="*/ 122 w 303"/>
                            <a:gd name="T47" fmla="*/ 97 h 213"/>
                            <a:gd name="T48" fmla="*/ 120 w 303"/>
                            <a:gd name="T49" fmla="*/ 97 h 213"/>
                            <a:gd name="T50" fmla="*/ 116 w 303"/>
                            <a:gd name="T51" fmla="*/ 94 h 213"/>
                            <a:gd name="T52" fmla="*/ 113 w 303"/>
                            <a:gd name="T53" fmla="*/ 85 h 213"/>
                            <a:gd name="T54" fmla="*/ 109 w 303"/>
                            <a:gd name="T55" fmla="*/ 82 h 213"/>
                            <a:gd name="T56" fmla="*/ 100 w 303"/>
                            <a:gd name="T57" fmla="*/ 78 h 213"/>
                            <a:gd name="T58" fmla="*/ 92 w 303"/>
                            <a:gd name="T59" fmla="*/ 75 h 213"/>
                            <a:gd name="T60" fmla="*/ 81 w 303"/>
                            <a:gd name="T61" fmla="*/ 67 h 213"/>
                            <a:gd name="T62" fmla="*/ 76 w 303"/>
                            <a:gd name="T63" fmla="*/ 61 h 213"/>
                            <a:gd name="T64" fmla="*/ 77 w 303"/>
                            <a:gd name="T65" fmla="*/ 57 h 213"/>
                            <a:gd name="T66" fmla="*/ 82 w 303"/>
                            <a:gd name="T67" fmla="*/ 53 h 213"/>
                            <a:gd name="T68" fmla="*/ 78 w 303"/>
                            <a:gd name="T69" fmla="*/ 48 h 213"/>
                            <a:gd name="T70" fmla="*/ 74 w 303"/>
                            <a:gd name="T71" fmla="*/ 51 h 213"/>
                            <a:gd name="T72" fmla="*/ 67 w 303"/>
                            <a:gd name="T73" fmla="*/ 44 h 213"/>
                            <a:gd name="T74" fmla="*/ 65 w 303"/>
                            <a:gd name="T75" fmla="*/ 47 h 213"/>
                            <a:gd name="T76" fmla="*/ 59 w 303"/>
                            <a:gd name="T77" fmla="*/ 47 h 213"/>
                            <a:gd name="T78" fmla="*/ 58 w 303"/>
                            <a:gd name="T79" fmla="*/ 44 h 213"/>
                            <a:gd name="T80" fmla="*/ 58 w 303"/>
                            <a:gd name="T81" fmla="*/ 39 h 213"/>
                            <a:gd name="T82" fmla="*/ 55 w 303"/>
                            <a:gd name="T83" fmla="*/ 36 h 213"/>
                            <a:gd name="T84" fmla="*/ 51 w 303"/>
                            <a:gd name="T85" fmla="*/ 37 h 213"/>
                            <a:gd name="T86" fmla="*/ 46 w 303"/>
                            <a:gd name="T87" fmla="*/ 29 h 213"/>
                            <a:gd name="T88" fmla="*/ 41 w 303"/>
                            <a:gd name="T89" fmla="*/ 28 h 213"/>
                            <a:gd name="T90" fmla="*/ 35 w 303"/>
                            <a:gd name="T91" fmla="*/ 25 h 213"/>
                            <a:gd name="T92" fmla="*/ 22 w 303"/>
                            <a:gd name="T93" fmla="*/ 26 h 213"/>
                            <a:gd name="T94" fmla="*/ 9 w 303"/>
                            <a:gd name="T95" fmla="*/ 25 h 213"/>
                            <a:gd name="T96" fmla="*/ 0 w 303"/>
                            <a:gd name="T97" fmla="*/ 22 h 213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w 303"/>
                            <a:gd name="T148" fmla="*/ 0 h 213"/>
                            <a:gd name="T149" fmla="*/ 303 w 303"/>
                            <a:gd name="T150" fmla="*/ 213 h 213"/>
                          </a:gdLst>
                          <a:ahLst/>
                          <a:cxnLst>
                            <a:cxn ang="T98">
                              <a:pos x="T0" y="T1"/>
                            </a:cxn>
                            <a:cxn ang="T99">
                              <a:pos x="T2" y="T3"/>
                            </a:cxn>
                            <a:cxn ang="T100">
                              <a:pos x="T4" y="T5"/>
                            </a:cxn>
                            <a:cxn ang="T101">
                              <a:pos x="T6" y="T7"/>
                            </a:cxn>
                            <a:cxn ang="T102">
                              <a:pos x="T8" y="T9"/>
                            </a:cxn>
                            <a:cxn ang="T103">
                              <a:pos x="T10" y="T11"/>
                            </a:cxn>
                            <a:cxn ang="T104">
                              <a:pos x="T12" y="T13"/>
                            </a:cxn>
                            <a:cxn ang="T105">
                              <a:pos x="T14" y="T15"/>
                            </a:cxn>
                            <a:cxn ang="T106">
                              <a:pos x="T16" y="T17"/>
                            </a:cxn>
                            <a:cxn ang="T107">
                              <a:pos x="T18" y="T19"/>
                            </a:cxn>
                            <a:cxn ang="T108">
                              <a:pos x="T20" y="T21"/>
                            </a:cxn>
                            <a:cxn ang="T109">
                              <a:pos x="T22" y="T23"/>
                            </a:cxn>
                            <a:cxn ang="T110">
                              <a:pos x="T24" y="T25"/>
                            </a:cxn>
                            <a:cxn ang="T111">
                              <a:pos x="T26" y="T27"/>
                            </a:cxn>
                            <a:cxn ang="T112">
                              <a:pos x="T28" y="T29"/>
                            </a:cxn>
                            <a:cxn ang="T113">
                              <a:pos x="T30" y="T31"/>
                            </a:cxn>
                            <a:cxn ang="T114">
                              <a:pos x="T32" y="T33"/>
                            </a:cxn>
                            <a:cxn ang="T115">
                              <a:pos x="T34" y="T35"/>
                            </a:cxn>
                            <a:cxn ang="T116">
                              <a:pos x="T36" y="T37"/>
                            </a:cxn>
                            <a:cxn ang="T117">
                              <a:pos x="T38" y="T39"/>
                            </a:cxn>
                            <a:cxn ang="T118">
                              <a:pos x="T40" y="T41"/>
                            </a:cxn>
                            <a:cxn ang="T119">
                              <a:pos x="T42" y="T43"/>
                            </a:cxn>
                            <a:cxn ang="T120">
                              <a:pos x="T44" y="T45"/>
                            </a:cxn>
                            <a:cxn ang="T121">
                              <a:pos x="T46" y="T47"/>
                            </a:cxn>
                            <a:cxn ang="T122">
                              <a:pos x="T48" y="T49"/>
                            </a:cxn>
                            <a:cxn ang="T123">
                              <a:pos x="T50" y="T51"/>
                            </a:cxn>
                            <a:cxn ang="T124">
                              <a:pos x="T52" y="T53"/>
                            </a:cxn>
                            <a:cxn ang="T125">
                              <a:pos x="T54" y="T55"/>
                            </a:cxn>
                            <a:cxn ang="T126">
                              <a:pos x="T56" y="T57"/>
                            </a:cxn>
                            <a:cxn ang="T127">
                              <a:pos x="T58" y="T59"/>
                            </a:cxn>
                            <a:cxn ang="T128">
                              <a:pos x="T60" y="T61"/>
                            </a:cxn>
                            <a:cxn ang="T129">
                              <a:pos x="T62" y="T63"/>
                            </a:cxn>
                            <a:cxn ang="T130">
                              <a:pos x="T64" y="T65"/>
                            </a:cxn>
                            <a:cxn ang="T131">
                              <a:pos x="T66" y="T67"/>
                            </a:cxn>
                            <a:cxn ang="T132">
                              <a:pos x="T68" y="T69"/>
                            </a:cxn>
                            <a:cxn ang="T133">
                              <a:pos x="T70" y="T71"/>
                            </a:cxn>
                            <a:cxn ang="T134">
                              <a:pos x="T72" y="T73"/>
                            </a:cxn>
                            <a:cxn ang="T135">
                              <a:pos x="T74" y="T75"/>
                            </a:cxn>
                            <a:cxn ang="T136">
                              <a:pos x="T76" y="T77"/>
                            </a:cxn>
                            <a:cxn ang="T137">
                              <a:pos x="T78" y="T79"/>
                            </a:cxn>
                            <a:cxn ang="T138">
                              <a:pos x="T80" y="T81"/>
                            </a:cxn>
                            <a:cxn ang="T139">
                              <a:pos x="T82" y="T83"/>
                            </a:cxn>
                            <a:cxn ang="T140">
                              <a:pos x="T84" y="T85"/>
                            </a:cxn>
                            <a:cxn ang="T141">
                              <a:pos x="T86" y="T87"/>
                            </a:cxn>
                            <a:cxn ang="T142">
                              <a:pos x="T88" y="T89"/>
                            </a:cxn>
                            <a:cxn ang="T143">
                              <a:pos x="T90" y="T91"/>
                            </a:cxn>
                            <a:cxn ang="T144">
                              <a:pos x="T92" y="T93"/>
                            </a:cxn>
                            <a:cxn ang="T145">
                              <a:pos x="T94" y="T95"/>
                            </a:cxn>
                            <a:cxn ang="T146">
                              <a:pos x="T96" y="T97"/>
                            </a:cxn>
                          </a:cxnLst>
                          <a:rect l="T147" t="T148" r="T149" b="T150"/>
                          <a:pathLst>
                            <a:path w="303" h="213">
                              <a:moveTo>
                                <a:pt x="0" y="43"/>
                              </a:moveTo>
                              <a:lnTo>
                                <a:pt x="7" y="27"/>
                              </a:lnTo>
                              <a:lnTo>
                                <a:pt x="7" y="16"/>
                              </a:lnTo>
                              <a:lnTo>
                                <a:pt x="18" y="0"/>
                              </a:lnTo>
                              <a:lnTo>
                                <a:pt x="72" y="10"/>
                              </a:lnTo>
                              <a:lnTo>
                                <a:pt x="167" y="29"/>
                              </a:lnTo>
                              <a:lnTo>
                                <a:pt x="204" y="45"/>
                              </a:lnTo>
                              <a:lnTo>
                                <a:pt x="253" y="59"/>
                              </a:lnTo>
                              <a:lnTo>
                                <a:pt x="278" y="87"/>
                              </a:lnTo>
                              <a:lnTo>
                                <a:pt x="303" y="101"/>
                              </a:lnTo>
                              <a:lnTo>
                                <a:pt x="293" y="112"/>
                              </a:lnTo>
                              <a:lnTo>
                                <a:pt x="293" y="125"/>
                              </a:lnTo>
                              <a:lnTo>
                                <a:pt x="284" y="128"/>
                              </a:lnTo>
                              <a:lnTo>
                                <a:pt x="275" y="139"/>
                              </a:lnTo>
                              <a:lnTo>
                                <a:pt x="284" y="151"/>
                              </a:lnTo>
                              <a:lnTo>
                                <a:pt x="282" y="160"/>
                              </a:lnTo>
                              <a:lnTo>
                                <a:pt x="273" y="171"/>
                              </a:lnTo>
                              <a:lnTo>
                                <a:pt x="274" y="183"/>
                              </a:lnTo>
                              <a:lnTo>
                                <a:pt x="291" y="194"/>
                              </a:lnTo>
                              <a:lnTo>
                                <a:pt x="292" y="206"/>
                              </a:lnTo>
                              <a:lnTo>
                                <a:pt x="288" y="212"/>
                              </a:lnTo>
                              <a:lnTo>
                                <a:pt x="271" y="213"/>
                              </a:lnTo>
                              <a:lnTo>
                                <a:pt x="259" y="207"/>
                              </a:lnTo>
                              <a:lnTo>
                                <a:pt x="245" y="193"/>
                              </a:lnTo>
                              <a:lnTo>
                                <a:pt x="240" y="193"/>
                              </a:lnTo>
                              <a:lnTo>
                                <a:pt x="233" y="187"/>
                              </a:lnTo>
                              <a:lnTo>
                                <a:pt x="226" y="170"/>
                              </a:lnTo>
                              <a:lnTo>
                                <a:pt x="218" y="164"/>
                              </a:lnTo>
                              <a:lnTo>
                                <a:pt x="200" y="155"/>
                              </a:lnTo>
                              <a:lnTo>
                                <a:pt x="185" y="149"/>
                              </a:lnTo>
                              <a:lnTo>
                                <a:pt x="163" y="133"/>
                              </a:lnTo>
                              <a:lnTo>
                                <a:pt x="153" y="122"/>
                              </a:lnTo>
                              <a:lnTo>
                                <a:pt x="155" y="113"/>
                              </a:lnTo>
                              <a:lnTo>
                                <a:pt x="164" y="106"/>
                              </a:lnTo>
                              <a:lnTo>
                                <a:pt x="156" y="96"/>
                              </a:lnTo>
                              <a:lnTo>
                                <a:pt x="148" y="101"/>
                              </a:lnTo>
                              <a:lnTo>
                                <a:pt x="134" y="87"/>
                              </a:lnTo>
                              <a:lnTo>
                                <a:pt x="131" y="94"/>
                              </a:lnTo>
                              <a:lnTo>
                                <a:pt x="119" y="94"/>
                              </a:lnTo>
                              <a:lnTo>
                                <a:pt x="116" y="88"/>
                              </a:lnTo>
                              <a:lnTo>
                                <a:pt x="116" y="78"/>
                              </a:lnTo>
                              <a:lnTo>
                                <a:pt x="111" y="72"/>
                              </a:lnTo>
                              <a:lnTo>
                                <a:pt x="103" y="74"/>
                              </a:lnTo>
                              <a:lnTo>
                                <a:pt x="92" y="58"/>
                              </a:lnTo>
                              <a:lnTo>
                                <a:pt x="83" y="56"/>
                              </a:lnTo>
                              <a:lnTo>
                                <a:pt x="71" y="49"/>
                              </a:lnTo>
                              <a:lnTo>
                                <a:pt x="45" y="51"/>
                              </a:lnTo>
                              <a:lnTo>
                                <a:pt x="19" y="49"/>
                              </a:lnTo>
                              <a:lnTo>
                                <a:pt x="0" y="4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6" name="Freeform 1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249" y="2140"/>
                          <a:ext cx="98" cy="55"/>
                        </a:xfrm>
                        <a:custGeom>
                          <a:avLst/>
                          <a:gdLst>
                            <a:gd name="T0" fmla="*/ 3 w 198"/>
                            <a:gd name="T1" fmla="*/ 0 h 111"/>
                            <a:gd name="T2" fmla="*/ 0 w 198"/>
                            <a:gd name="T3" fmla="*/ 4 h 111"/>
                            <a:gd name="T4" fmla="*/ 0 w 198"/>
                            <a:gd name="T5" fmla="*/ 9 h 111"/>
                            <a:gd name="T6" fmla="*/ 7 w 198"/>
                            <a:gd name="T7" fmla="*/ 15 h 111"/>
                            <a:gd name="T8" fmla="*/ 11 w 198"/>
                            <a:gd name="T9" fmla="*/ 14 h 111"/>
                            <a:gd name="T10" fmla="*/ 12 w 198"/>
                            <a:gd name="T11" fmla="*/ 16 h 111"/>
                            <a:gd name="T12" fmla="*/ 18 w 198"/>
                            <a:gd name="T13" fmla="*/ 17 h 111"/>
                            <a:gd name="T14" fmla="*/ 20 w 198"/>
                            <a:gd name="T15" fmla="*/ 13 h 111"/>
                            <a:gd name="T16" fmla="*/ 30 w 198"/>
                            <a:gd name="T17" fmla="*/ 14 h 111"/>
                            <a:gd name="T18" fmla="*/ 31 w 198"/>
                            <a:gd name="T19" fmla="*/ 17 h 111"/>
                            <a:gd name="T20" fmla="*/ 35 w 198"/>
                            <a:gd name="T21" fmla="*/ 19 h 111"/>
                            <a:gd name="T22" fmla="*/ 43 w 198"/>
                            <a:gd name="T23" fmla="*/ 18 h 111"/>
                            <a:gd name="T24" fmla="*/ 46 w 198"/>
                            <a:gd name="T25" fmla="*/ 20 h 111"/>
                            <a:gd name="T26" fmla="*/ 49 w 198"/>
                            <a:gd name="T27" fmla="*/ 22 h 111"/>
                            <a:gd name="T28" fmla="*/ 53 w 198"/>
                            <a:gd name="T29" fmla="*/ 27 h 111"/>
                            <a:gd name="T30" fmla="*/ 53 w 198"/>
                            <a:gd name="T31" fmla="*/ 33 h 111"/>
                            <a:gd name="T32" fmla="*/ 50 w 198"/>
                            <a:gd name="T33" fmla="*/ 34 h 111"/>
                            <a:gd name="T34" fmla="*/ 52 w 198"/>
                            <a:gd name="T35" fmla="*/ 36 h 111"/>
                            <a:gd name="T36" fmla="*/ 48 w 198"/>
                            <a:gd name="T37" fmla="*/ 40 h 111"/>
                            <a:gd name="T38" fmla="*/ 48 w 198"/>
                            <a:gd name="T39" fmla="*/ 45 h 111"/>
                            <a:gd name="T40" fmla="*/ 54 w 198"/>
                            <a:gd name="T41" fmla="*/ 46 h 111"/>
                            <a:gd name="T42" fmla="*/ 57 w 198"/>
                            <a:gd name="T43" fmla="*/ 44 h 111"/>
                            <a:gd name="T44" fmla="*/ 58 w 198"/>
                            <a:gd name="T45" fmla="*/ 42 h 111"/>
                            <a:gd name="T46" fmla="*/ 60 w 198"/>
                            <a:gd name="T47" fmla="*/ 44 h 111"/>
                            <a:gd name="T48" fmla="*/ 64 w 198"/>
                            <a:gd name="T49" fmla="*/ 43 h 111"/>
                            <a:gd name="T50" fmla="*/ 71 w 198"/>
                            <a:gd name="T51" fmla="*/ 46 h 111"/>
                            <a:gd name="T52" fmla="*/ 76 w 198"/>
                            <a:gd name="T53" fmla="*/ 51 h 111"/>
                            <a:gd name="T54" fmla="*/ 78 w 198"/>
                            <a:gd name="T55" fmla="*/ 51 h 111"/>
                            <a:gd name="T56" fmla="*/ 78 w 198"/>
                            <a:gd name="T57" fmla="*/ 54 h 111"/>
                            <a:gd name="T58" fmla="*/ 83 w 198"/>
                            <a:gd name="T59" fmla="*/ 55 h 111"/>
                            <a:gd name="T60" fmla="*/ 89 w 198"/>
                            <a:gd name="T61" fmla="*/ 55 h 111"/>
                            <a:gd name="T62" fmla="*/ 85 w 198"/>
                            <a:gd name="T63" fmla="*/ 52 h 111"/>
                            <a:gd name="T64" fmla="*/ 86 w 198"/>
                            <a:gd name="T65" fmla="*/ 49 h 111"/>
                            <a:gd name="T66" fmla="*/ 91 w 198"/>
                            <a:gd name="T67" fmla="*/ 52 h 111"/>
                            <a:gd name="T68" fmla="*/ 95 w 198"/>
                            <a:gd name="T69" fmla="*/ 53 h 111"/>
                            <a:gd name="T70" fmla="*/ 96 w 198"/>
                            <a:gd name="T71" fmla="*/ 49 h 111"/>
                            <a:gd name="T72" fmla="*/ 91 w 198"/>
                            <a:gd name="T73" fmla="*/ 45 h 111"/>
                            <a:gd name="T74" fmla="*/ 88 w 198"/>
                            <a:gd name="T75" fmla="*/ 45 h 111"/>
                            <a:gd name="T76" fmla="*/ 83 w 198"/>
                            <a:gd name="T77" fmla="*/ 41 h 111"/>
                            <a:gd name="T78" fmla="*/ 88 w 198"/>
                            <a:gd name="T79" fmla="*/ 41 h 111"/>
                            <a:gd name="T80" fmla="*/ 91 w 198"/>
                            <a:gd name="T81" fmla="*/ 43 h 111"/>
                            <a:gd name="T82" fmla="*/ 98 w 198"/>
                            <a:gd name="T83" fmla="*/ 43 h 111"/>
                            <a:gd name="T84" fmla="*/ 97 w 198"/>
                            <a:gd name="T85" fmla="*/ 39 h 111"/>
                            <a:gd name="T86" fmla="*/ 91 w 198"/>
                            <a:gd name="T87" fmla="*/ 35 h 111"/>
                            <a:gd name="T88" fmla="*/ 86 w 198"/>
                            <a:gd name="T89" fmla="*/ 34 h 111"/>
                            <a:gd name="T90" fmla="*/ 80 w 198"/>
                            <a:gd name="T91" fmla="*/ 29 h 111"/>
                            <a:gd name="T92" fmla="*/ 73 w 198"/>
                            <a:gd name="T93" fmla="*/ 27 h 111"/>
                            <a:gd name="T94" fmla="*/ 67 w 198"/>
                            <a:gd name="T95" fmla="*/ 25 h 111"/>
                            <a:gd name="T96" fmla="*/ 62 w 198"/>
                            <a:gd name="T97" fmla="*/ 19 h 111"/>
                            <a:gd name="T98" fmla="*/ 58 w 198"/>
                            <a:gd name="T99" fmla="*/ 10 h 111"/>
                            <a:gd name="T100" fmla="*/ 54 w 198"/>
                            <a:gd name="T101" fmla="*/ 10 h 111"/>
                            <a:gd name="T102" fmla="*/ 52 w 198"/>
                            <a:gd name="T103" fmla="*/ 8 h 111"/>
                            <a:gd name="T104" fmla="*/ 49 w 198"/>
                            <a:gd name="T105" fmla="*/ 9 h 111"/>
                            <a:gd name="T106" fmla="*/ 45 w 198"/>
                            <a:gd name="T107" fmla="*/ 5 h 111"/>
                            <a:gd name="T108" fmla="*/ 37 w 198"/>
                            <a:gd name="T109" fmla="*/ 4 h 111"/>
                            <a:gd name="T110" fmla="*/ 34 w 198"/>
                            <a:gd name="T111" fmla="*/ 6 h 111"/>
                            <a:gd name="T112" fmla="*/ 26 w 198"/>
                            <a:gd name="T113" fmla="*/ 4 h 111"/>
                            <a:gd name="T114" fmla="*/ 21 w 198"/>
                            <a:gd name="T115" fmla="*/ 4 h 111"/>
                            <a:gd name="T116" fmla="*/ 19 w 198"/>
                            <a:gd name="T117" fmla="*/ 1 h 111"/>
                            <a:gd name="T118" fmla="*/ 16 w 198"/>
                            <a:gd name="T119" fmla="*/ 0 h 111"/>
                            <a:gd name="T120" fmla="*/ 12 w 198"/>
                            <a:gd name="T121" fmla="*/ 1 h 111"/>
                            <a:gd name="T122" fmla="*/ 3 w 198"/>
                            <a:gd name="T123" fmla="*/ 0 h 111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  <a:gd name="T159" fmla="*/ 0 60000 65536"/>
                            <a:gd name="T160" fmla="*/ 0 60000 65536"/>
                            <a:gd name="T161" fmla="*/ 0 60000 65536"/>
                            <a:gd name="T162" fmla="*/ 0 60000 65536"/>
                            <a:gd name="T163" fmla="*/ 0 60000 65536"/>
                            <a:gd name="T164" fmla="*/ 0 60000 65536"/>
                            <a:gd name="T165" fmla="*/ 0 60000 65536"/>
                            <a:gd name="T166" fmla="*/ 0 60000 65536"/>
                            <a:gd name="T167" fmla="*/ 0 60000 65536"/>
                            <a:gd name="T168" fmla="*/ 0 60000 65536"/>
                            <a:gd name="T169" fmla="*/ 0 60000 65536"/>
                            <a:gd name="T170" fmla="*/ 0 60000 65536"/>
                            <a:gd name="T171" fmla="*/ 0 60000 65536"/>
                            <a:gd name="T172" fmla="*/ 0 60000 65536"/>
                            <a:gd name="T173" fmla="*/ 0 60000 65536"/>
                            <a:gd name="T174" fmla="*/ 0 60000 65536"/>
                            <a:gd name="T175" fmla="*/ 0 60000 65536"/>
                            <a:gd name="T176" fmla="*/ 0 60000 65536"/>
                            <a:gd name="T177" fmla="*/ 0 60000 65536"/>
                            <a:gd name="T178" fmla="*/ 0 60000 65536"/>
                            <a:gd name="T179" fmla="*/ 0 60000 65536"/>
                            <a:gd name="T180" fmla="*/ 0 60000 65536"/>
                            <a:gd name="T181" fmla="*/ 0 60000 65536"/>
                            <a:gd name="T182" fmla="*/ 0 60000 65536"/>
                            <a:gd name="T183" fmla="*/ 0 60000 65536"/>
                            <a:gd name="T184" fmla="*/ 0 60000 65536"/>
                            <a:gd name="T185" fmla="*/ 0 60000 65536"/>
                            <a:gd name="T186" fmla="*/ 0 w 198"/>
                            <a:gd name="T187" fmla="*/ 0 h 111"/>
                            <a:gd name="T188" fmla="*/ 198 w 198"/>
                            <a:gd name="T189" fmla="*/ 111 h 111"/>
                          </a:gdLst>
                          <a:ahLst/>
                          <a:cxnLst>
                            <a:cxn ang="T124">
                              <a:pos x="T0" y="T1"/>
                            </a:cxn>
                            <a:cxn ang="T125">
                              <a:pos x="T2" y="T3"/>
                            </a:cxn>
                            <a:cxn ang="T126">
                              <a:pos x="T4" y="T5"/>
                            </a:cxn>
                            <a:cxn ang="T127">
                              <a:pos x="T6" y="T7"/>
                            </a:cxn>
                            <a:cxn ang="T128">
                              <a:pos x="T8" y="T9"/>
                            </a:cxn>
                            <a:cxn ang="T129">
                              <a:pos x="T10" y="T11"/>
                            </a:cxn>
                            <a:cxn ang="T130">
                              <a:pos x="T12" y="T13"/>
                            </a:cxn>
                            <a:cxn ang="T131">
                              <a:pos x="T14" y="T15"/>
                            </a:cxn>
                            <a:cxn ang="T132">
                              <a:pos x="T16" y="T17"/>
                            </a:cxn>
                            <a:cxn ang="T133">
                              <a:pos x="T18" y="T19"/>
                            </a:cxn>
                            <a:cxn ang="T134">
                              <a:pos x="T20" y="T21"/>
                            </a:cxn>
                            <a:cxn ang="T135">
                              <a:pos x="T22" y="T23"/>
                            </a:cxn>
                            <a:cxn ang="T136">
                              <a:pos x="T24" y="T25"/>
                            </a:cxn>
                            <a:cxn ang="T137">
                              <a:pos x="T26" y="T27"/>
                            </a:cxn>
                            <a:cxn ang="T138">
                              <a:pos x="T28" y="T29"/>
                            </a:cxn>
                            <a:cxn ang="T139">
                              <a:pos x="T30" y="T31"/>
                            </a:cxn>
                            <a:cxn ang="T140">
                              <a:pos x="T32" y="T33"/>
                            </a:cxn>
                            <a:cxn ang="T141">
                              <a:pos x="T34" y="T35"/>
                            </a:cxn>
                            <a:cxn ang="T142">
                              <a:pos x="T36" y="T37"/>
                            </a:cxn>
                            <a:cxn ang="T143">
                              <a:pos x="T38" y="T39"/>
                            </a:cxn>
                            <a:cxn ang="T144">
                              <a:pos x="T40" y="T41"/>
                            </a:cxn>
                            <a:cxn ang="T145">
                              <a:pos x="T42" y="T43"/>
                            </a:cxn>
                            <a:cxn ang="T146">
                              <a:pos x="T44" y="T45"/>
                            </a:cxn>
                            <a:cxn ang="T147">
                              <a:pos x="T46" y="T47"/>
                            </a:cxn>
                            <a:cxn ang="T148">
                              <a:pos x="T48" y="T49"/>
                            </a:cxn>
                            <a:cxn ang="T149">
                              <a:pos x="T50" y="T51"/>
                            </a:cxn>
                            <a:cxn ang="T150">
                              <a:pos x="T52" y="T53"/>
                            </a:cxn>
                            <a:cxn ang="T151">
                              <a:pos x="T54" y="T55"/>
                            </a:cxn>
                            <a:cxn ang="T152">
                              <a:pos x="T56" y="T57"/>
                            </a:cxn>
                            <a:cxn ang="T153">
                              <a:pos x="T58" y="T59"/>
                            </a:cxn>
                            <a:cxn ang="T154">
                              <a:pos x="T60" y="T61"/>
                            </a:cxn>
                            <a:cxn ang="T155">
                              <a:pos x="T62" y="T63"/>
                            </a:cxn>
                            <a:cxn ang="T156">
                              <a:pos x="T64" y="T65"/>
                            </a:cxn>
                            <a:cxn ang="T157">
                              <a:pos x="T66" y="T67"/>
                            </a:cxn>
                            <a:cxn ang="T158">
                              <a:pos x="T68" y="T69"/>
                            </a:cxn>
                            <a:cxn ang="T159">
                              <a:pos x="T70" y="T71"/>
                            </a:cxn>
                            <a:cxn ang="T160">
                              <a:pos x="T72" y="T73"/>
                            </a:cxn>
                            <a:cxn ang="T161">
                              <a:pos x="T74" y="T75"/>
                            </a:cxn>
                            <a:cxn ang="T162">
                              <a:pos x="T76" y="T77"/>
                            </a:cxn>
                            <a:cxn ang="T163">
                              <a:pos x="T78" y="T79"/>
                            </a:cxn>
                            <a:cxn ang="T164">
                              <a:pos x="T80" y="T81"/>
                            </a:cxn>
                            <a:cxn ang="T165">
                              <a:pos x="T82" y="T83"/>
                            </a:cxn>
                            <a:cxn ang="T166">
                              <a:pos x="T84" y="T85"/>
                            </a:cxn>
                            <a:cxn ang="T167">
                              <a:pos x="T86" y="T87"/>
                            </a:cxn>
                            <a:cxn ang="T168">
                              <a:pos x="T88" y="T89"/>
                            </a:cxn>
                            <a:cxn ang="T169">
                              <a:pos x="T90" y="T91"/>
                            </a:cxn>
                            <a:cxn ang="T170">
                              <a:pos x="T92" y="T93"/>
                            </a:cxn>
                            <a:cxn ang="T171">
                              <a:pos x="T94" y="T95"/>
                            </a:cxn>
                            <a:cxn ang="T172">
                              <a:pos x="T96" y="T97"/>
                            </a:cxn>
                            <a:cxn ang="T173">
                              <a:pos x="T98" y="T99"/>
                            </a:cxn>
                            <a:cxn ang="T174">
                              <a:pos x="T100" y="T101"/>
                            </a:cxn>
                            <a:cxn ang="T175">
                              <a:pos x="T102" y="T103"/>
                            </a:cxn>
                            <a:cxn ang="T176">
                              <a:pos x="T104" y="T105"/>
                            </a:cxn>
                            <a:cxn ang="T177">
                              <a:pos x="T106" y="T107"/>
                            </a:cxn>
                            <a:cxn ang="T178">
                              <a:pos x="T108" y="T109"/>
                            </a:cxn>
                            <a:cxn ang="T179">
                              <a:pos x="T110" y="T111"/>
                            </a:cxn>
                            <a:cxn ang="T180">
                              <a:pos x="T112" y="T113"/>
                            </a:cxn>
                            <a:cxn ang="T181">
                              <a:pos x="T114" y="T115"/>
                            </a:cxn>
                            <a:cxn ang="T182">
                              <a:pos x="T116" y="T117"/>
                            </a:cxn>
                            <a:cxn ang="T183">
                              <a:pos x="T118" y="T119"/>
                            </a:cxn>
                            <a:cxn ang="T184">
                              <a:pos x="T120" y="T121"/>
                            </a:cxn>
                            <a:cxn ang="T185">
                              <a:pos x="T122" y="T123"/>
                            </a:cxn>
                          </a:cxnLst>
                          <a:rect l="T186" t="T187" r="T188" b="T189"/>
                          <a:pathLst>
                            <a:path w="198" h="111">
                              <a:moveTo>
                                <a:pt x="7" y="0"/>
                              </a:moveTo>
                              <a:lnTo>
                                <a:pt x="0" y="9"/>
                              </a:lnTo>
                              <a:lnTo>
                                <a:pt x="0" y="19"/>
                              </a:lnTo>
                              <a:lnTo>
                                <a:pt x="14" y="31"/>
                              </a:lnTo>
                              <a:lnTo>
                                <a:pt x="22" y="28"/>
                              </a:lnTo>
                              <a:lnTo>
                                <a:pt x="25" y="32"/>
                              </a:lnTo>
                              <a:lnTo>
                                <a:pt x="36" y="34"/>
                              </a:lnTo>
                              <a:lnTo>
                                <a:pt x="41" y="26"/>
                              </a:lnTo>
                              <a:lnTo>
                                <a:pt x="61" y="28"/>
                              </a:lnTo>
                              <a:lnTo>
                                <a:pt x="63" y="35"/>
                              </a:lnTo>
                              <a:lnTo>
                                <a:pt x="70" y="38"/>
                              </a:lnTo>
                              <a:lnTo>
                                <a:pt x="87" y="37"/>
                              </a:lnTo>
                              <a:lnTo>
                                <a:pt x="92" y="41"/>
                              </a:lnTo>
                              <a:lnTo>
                                <a:pt x="100" y="45"/>
                              </a:lnTo>
                              <a:lnTo>
                                <a:pt x="107" y="54"/>
                              </a:lnTo>
                              <a:lnTo>
                                <a:pt x="107" y="66"/>
                              </a:lnTo>
                              <a:lnTo>
                                <a:pt x="102" y="69"/>
                              </a:lnTo>
                              <a:lnTo>
                                <a:pt x="105" y="73"/>
                              </a:lnTo>
                              <a:lnTo>
                                <a:pt x="96" y="80"/>
                              </a:lnTo>
                              <a:lnTo>
                                <a:pt x="96" y="90"/>
                              </a:lnTo>
                              <a:lnTo>
                                <a:pt x="109" y="92"/>
                              </a:lnTo>
                              <a:lnTo>
                                <a:pt x="116" y="89"/>
                              </a:lnTo>
                              <a:lnTo>
                                <a:pt x="118" y="85"/>
                              </a:lnTo>
                              <a:lnTo>
                                <a:pt x="122" y="89"/>
                              </a:lnTo>
                              <a:lnTo>
                                <a:pt x="129" y="86"/>
                              </a:lnTo>
                              <a:lnTo>
                                <a:pt x="144" y="92"/>
                              </a:lnTo>
                              <a:lnTo>
                                <a:pt x="154" y="102"/>
                              </a:lnTo>
                              <a:lnTo>
                                <a:pt x="157" y="102"/>
                              </a:lnTo>
                              <a:lnTo>
                                <a:pt x="158" y="108"/>
                              </a:lnTo>
                              <a:lnTo>
                                <a:pt x="168" y="111"/>
                              </a:lnTo>
                              <a:lnTo>
                                <a:pt x="179" y="111"/>
                              </a:lnTo>
                              <a:lnTo>
                                <a:pt x="172" y="105"/>
                              </a:lnTo>
                              <a:lnTo>
                                <a:pt x="174" y="99"/>
                              </a:lnTo>
                              <a:lnTo>
                                <a:pt x="183" y="105"/>
                              </a:lnTo>
                              <a:lnTo>
                                <a:pt x="192" y="106"/>
                              </a:lnTo>
                              <a:lnTo>
                                <a:pt x="194" y="98"/>
                              </a:lnTo>
                              <a:lnTo>
                                <a:pt x="184" y="90"/>
                              </a:lnTo>
                              <a:lnTo>
                                <a:pt x="177" y="90"/>
                              </a:lnTo>
                              <a:lnTo>
                                <a:pt x="168" y="83"/>
                              </a:lnTo>
                              <a:lnTo>
                                <a:pt x="177" y="83"/>
                              </a:lnTo>
                              <a:lnTo>
                                <a:pt x="184" y="87"/>
                              </a:lnTo>
                              <a:lnTo>
                                <a:pt x="198" y="87"/>
                              </a:lnTo>
                              <a:lnTo>
                                <a:pt x="195" y="79"/>
                              </a:lnTo>
                              <a:lnTo>
                                <a:pt x="183" y="70"/>
                              </a:lnTo>
                              <a:lnTo>
                                <a:pt x="174" y="69"/>
                              </a:lnTo>
                              <a:lnTo>
                                <a:pt x="162" y="58"/>
                              </a:lnTo>
                              <a:lnTo>
                                <a:pt x="147" y="55"/>
                              </a:lnTo>
                              <a:lnTo>
                                <a:pt x="135" y="51"/>
                              </a:lnTo>
                              <a:lnTo>
                                <a:pt x="125" y="38"/>
                              </a:lnTo>
                              <a:lnTo>
                                <a:pt x="118" y="21"/>
                              </a:lnTo>
                              <a:lnTo>
                                <a:pt x="109" y="21"/>
                              </a:lnTo>
                              <a:lnTo>
                                <a:pt x="106" y="16"/>
                              </a:lnTo>
                              <a:lnTo>
                                <a:pt x="100" y="18"/>
                              </a:lnTo>
                              <a:lnTo>
                                <a:pt x="91" y="10"/>
                              </a:lnTo>
                              <a:lnTo>
                                <a:pt x="74" y="8"/>
                              </a:lnTo>
                              <a:lnTo>
                                <a:pt x="68" y="12"/>
                              </a:lnTo>
                              <a:lnTo>
                                <a:pt x="52" y="8"/>
                              </a:lnTo>
                              <a:lnTo>
                                <a:pt x="43" y="8"/>
                              </a:lnTo>
                              <a:lnTo>
                                <a:pt x="39" y="2"/>
                              </a:lnTo>
                              <a:lnTo>
                                <a:pt x="33" y="0"/>
                              </a:lnTo>
                              <a:lnTo>
                                <a:pt x="25" y="2"/>
                              </a:lnTo>
                              <a:lnTo>
                                <a:pt x="7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7" name="Freeform 17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05" y="2447"/>
                          <a:ext cx="69" cy="24"/>
                        </a:xfrm>
                        <a:custGeom>
                          <a:avLst/>
                          <a:gdLst>
                            <a:gd name="T0" fmla="*/ 0 w 138"/>
                            <a:gd name="T1" fmla="*/ 12 h 49"/>
                            <a:gd name="T2" fmla="*/ 6 w 138"/>
                            <a:gd name="T3" fmla="*/ 5 h 49"/>
                            <a:gd name="T4" fmla="*/ 9 w 138"/>
                            <a:gd name="T5" fmla="*/ 5 h 49"/>
                            <a:gd name="T6" fmla="*/ 13 w 138"/>
                            <a:gd name="T7" fmla="*/ 1 h 49"/>
                            <a:gd name="T8" fmla="*/ 19 w 138"/>
                            <a:gd name="T9" fmla="*/ 1 h 49"/>
                            <a:gd name="T10" fmla="*/ 20 w 138"/>
                            <a:gd name="T11" fmla="*/ 1 h 49"/>
                            <a:gd name="T12" fmla="*/ 22 w 138"/>
                            <a:gd name="T13" fmla="*/ 0 h 49"/>
                            <a:gd name="T14" fmla="*/ 29 w 138"/>
                            <a:gd name="T15" fmla="*/ 4 h 49"/>
                            <a:gd name="T16" fmla="*/ 31 w 138"/>
                            <a:gd name="T17" fmla="*/ 7 h 49"/>
                            <a:gd name="T18" fmla="*/ 33 w 138"/>
                            <a:gd name="T19" fmla="*/ 6 h 49"/>
                            <a:gd name="T20" fmla="*/ 38 w 138"/>
                            <a:gd name="T21" fmla="*/ 8 h 49"/>
                            <a:gd name="T22" fmla="*/ 41 w 138"/>
                            <a:gd name="T23" fmla="*/ 8 h 49"/>
                            <a:gd name="T24" fmla="*/ 44 w 138"/>
                            <a:gd name="T25" fmla="*/ 11 h 49"/>
                            <a:gd name="T26" fmla="*/ 49 w 138"/>
                            <a:gd name="T27" fmla="*/ 12 h 49"/>
                            <a:gd name="T28" fmla="*/ 49 w 138"/>
                            <a:gd name="T29" fmla="*/ 16 h 49"/>
                            <a:gd name="T30" fmla="*/ 58 w 138"/>
                            <a:gd name="T31" fmla="*/ 16 h 49"/>
                            <a:gd name="T32" fmla="*/ 60 w 138"/>
                            <a:gd name="T33" fmla="*/ 19 h 49"/>
                            <a:gd name="T34" fmla="*/ 66 w 138"/>
                            <a:gd name="T35" fmla="*/ 19 h 49"/>
                            <a:gd name="T36" fmla="*/ 69 w 138"/>
                            <a:gd name="T37" fmla="*/ 24 h 49"/>
                            <a:gd name="T38" fmla="*/ 67 w 138"/>
                            <a:gd name="T39" fmla="*/ 24 h 49"/>
                            <a:gd name="T40" fmla="*/ 66 w 138"/>
                            <a:gd name="T41" fmla="*/ 23 h 49"/>
                            <a:gd name="T42" fmla="*/ 65 w 138"/>
                            <a:gd name="T43" fmla="*/ 22 h 49"/>
                            <a:gd name="T44" fmla="*/ 60 w 138"/>
                            <a:gd name="T45" fmla="*/ 23 h 49"/>
                            <a:gd name="T46" fmla="*/ 59 w 138"/>
                            <a:gd name="T47" fmla="*/ 24 h 49"/>
                            <a:gd name="T48" fmla="*/ 54 w 138"/>
                            <a:gd name="T49" fmla="*/ 24 h 49"/>
                            <a:gd name="T50" fmla="*/ 48 w 138"/>
                            <a:gd name="T51" fmla="*/ 24 h 49"/>
                            <a:gd name="T52" fmla="*/ 44 w 138"/>
                            <a:gd name="T53" fmla="*/ 24 h 49"/>
                            <a:gd name="T54" fmla="*/ 44 w 138"/>
                            <a:gd name="T55" fmla="*/ 22 h 49"/>
                            <a:gd name="T56" fmla="*/ 38 w 138"/>
                            <a:gd name="T57" fmla="*/ 16 h 49"/>
                            <a:gd name="T58" fmla="*/ 38 w 138"/>
                            <a:gd name="T59" fmla="*/ 13 h 49"/>
                            <a:gd name="T60" fmla="*/ 31 w 138"/>
                            <a:gd name="T61" fmla="*/ 13 h 49"/>
                            <a:gd name="T62" fmla="*/ 28 w 138"/>
                            <a:gd name="T63" fmla="*/ 11 h 49"/>
                            <a:gd name="T64" fmla="*/ 26 w 138"/>
                            <a:gd name="T65" fmla="*/ 13 h 49"/>
                            <a:gd name="T66" fmla="*/ 24 w 138"/>
                            <a:gd name="T67" fmla="*/ 10 h 49"/>
                            <a:gd name="T68" fmla="*/ 22 w 138"/>
                            <a:gd name="T69" fmla="*/ 10 h 49"/>
                            <a:gd name="T70" fmla="*/ 22 w 138"/>
                            <a:gd name="T71" fmla="*/ 6 h 49"/>
                            <a:gd name="T72" fmla="*/ 20 w 138"/>
                            <a:gd name="T73" fmla="*/ 5 h 49"/>
                            <a:gd name="T74" fmla="*/ 14 w 138"/>
                            <a:gd name="T75" fmla="*/ 6 h 49"/>
                            <a:gd name="T76" fmla="*/ 10 w 138"/>
                            <a:gd name="T77" fmla="*/ 10 h 49"/>
                            <a:gd name="T78" fmla="*/ 5 w 138"/>
                            <a:gd name="T79" fmla="*/ 11 h 49"/>
                            <a:gd name="T80" fmla="*/ 0 w 138"/>
                            <a:gd name="T81" fmla="*/ 12 h 49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w 138"/>
                            <a:gd name="T124" fmla="*/ 0 h 49"/>
                            <a:gd name="T125" fmla="*/ 138 w 138"/>
                            <a:gd name="T126" fmla="*/ 49 h 49"/>
                          </a:gdLst>
                          <a:ahLst/>
                          <a:cxnLst>
                            <a:cxn ang="T82">
                              <a:pos x="T0" y="T1"/>
                            </a:cxn>
                            <a:cxn ang="T83">
                              <a:pos x="T2" y="T3"/>
                            </a:cxn>
                            <a:cxn ang="T84">
                              <a:pos x="T4" y="T5"/>
                            </a:cxn>
                            <a:cxn ang="T85">
                              <a:pos x="T6" y="T7"/>
                            </a:cxn>
                            <a:cxn ang="T86">
                              <a:pos x="T8" y="T9"/>
                            </a:cxn>
                            <a:cxn ang="T87">
                              <a:pos x="T10" y="T11"/>
                            </a:cxn>
                            <a:cxn ang="T88">
                              <a:pos x="T12" y="T13"/>
                            </a:cxn>
                            <a:cxn ang="T89">
                              <a:pos x="T14" y="T15"/>
                            </a:cxn>
                            <a:cxn ang="T90">
                              <a:pos x="T16" y="T17"/>
                            </a:cxn>
                            <a:cxn ang="T91">
                              <a:pos x="T18" y="T19"/>
                            </a:cxn>
                            <a:cxn ang="T92">
                              <a:pos x="T20" y="T21"/>
                            </a:cxn>
                            <a:cxn ang="T93">
                              <a:pos x="T22" y="T23"/>
                            </a:cxn>
                            <a:cxn ang="T94">
                              <a:pos x="T24" y="T25"/>
                            </a:cxn>
                            <a:cxn ang="T95">
                              <a:pos x="T26" y="T27"/>
                            </a:cxn>
                            <a:cxn ang="T96">
                              <a:pos x="T28" y="T29"/>
                            </a:cxn>
                            <a:cxn ang="T97">
                              <a:pos x="T30" y="T31"/>
                            </a:cxn>
                            <a:cxn ang="T98">
                              <a:pos x="T32" y="T33"/>
                            </a:cxn>
                            <a:cxn ang="T99">
                              <a:pos x="T34" y="T35"/>
                            </a:cxn>
                            <a:cxn ang="T100">
                              <a:pos x="T36" y="T37"/>
                            </a:cxn>
                            <a:cxn ang="T101">
                              <a:pos x="T38" y="T39"/>
                            </a:cxn>
                            <a:cxn ang="T102">
                              <a:pos x="T40" y="T41"/>
                            </a:cxn>
                            <a:cxn ang="T103">
                              <a:pos x="T42" y="T43"/>
                            </a:cxn>
                            <a:cxn ang="T104">
                              <a:pos x="T44" y="T45"/>
                            </a:cxn>
                            <a:cxn ang="T105">
                              <a:pos x="T46" y="T47"/>
                            </a:cxn>
                            <a:cxn ang="T106">
                              <a:pos x="T48" y="T49"/>
                            </a:cxn>
                            <a:cxn ang="T107">
                              <a:pos x="T50" y="T51"/>
                            </a:cxn>
                            <a:cxn ang="T108">
                              <a:pos x="T52" y="T53"/>
                            </a:cxn>
                            <a:cxn ang="T109">
                              <a:pos x="T54" y="T55"/>
                            </a:cxn>
                            <a:cxn ang="T110">
                              <a:pos x="T56" y="T57"/>
                            </a:cxn>
                            <a:cxn ang="T111">
                              <a:pos x="T58" y="T59"/>
                            </a:cxn>
                            <a:cxn ang="T112">
                              <a:pos x="T60" y="T61"/>
                            </a:cxn>
                            <a:cxn ang="T113">
                              <a:pos x="T62" y="T63"/>
                            </a:cxn>
                            <a:cxn ang="T114">
                              <a:pos x="T64" y="T65"/>
                            </a:cxn>
                            <a:cxn ang="T115">
                              <a:pos x="T66" y="T67"/>
                            </a:cxn>
                            <a:cxn ang="T116">
                              <a:pos x="T68" y="T69"/>
                            </a:cxn>
                            <a:cxn ang="T117">
                              <a:pos x="T70" y="T71"/>
                            </a:cxn>
                            <a:cxn ang="T118">
                              <a:pos x="T72" y="T73"/>
                            </a:cxn>
                            <a:cxn ang="T119">
                              <a:pos x="T74" y="T75"/>
                            </a:cxn>
                            <a:cxn ang="T120">
                              <a:pos x="T76" y="T77"/>
                            </a:cxn>
                            <a:cxn ang="T121">
                              <a:pos x="T78" y="T79"/>
                            </a:cxn>
                            <a:cxn ang="T122">
                              <a:pos x="T80" y="T81"/>
                            </a:cxn>
                          </a:cxnLst>
                          <a:rect l="T123" t="T124" r="T125" b="T126"/>
                          <a:pathLst>
                            <a:path w="138" h="49">
                              <a:moveTo>
                                <a:pt x="0" y="25"/>
                              </a:moveTo>
                              <a:lnTo>
                                <a:pt x="12" y="10"/>
                              </a:lnTo>
                              <a:lnTo>
                                <a:pt x="18" y="10"/>
                              </a:lnTo>
                              <a:lnTo>
                                <a:pt x="27" y="3"/>
                              </a:lnTo>
                              <a:lnTo>
                                <a:pt x="38" y="3"/>
                              </a:lnTo>
                              <a:lnTo>
                                <a:pt x="41" y="2"/>
                              </a:lnTo>
                              <a:lnTo>
                                <a:pt x="45" y="0"/>
                              </a:lnTo>
                              <a:lnTo>
                                <a:pt x="59" y="9"/>
                              </a:lnTo>
                              <a:lnTo>
                                <a:pt x="63" y="15"/>
                              </a:lnTo>
                              <a:lnTo>
                                <a:pt x="66" y="12"/>
                              </a:lnTo>
                              <a:lnTo>
                                <a:pt x="77" y="17"/>
                              </a:lnTo>
                              <a:lnTo>
                                <a:pt x="83" y="17"/>
                              </a:lnTo>
                              <a:lnTo>
                                <a:pt x="89" y="22"/>
                              </a:lnTo>
                              <a:lnTo>
                                <a:pt x="99" y="25"/>
                              </a:lnTo>
                              <a:lnTo>
                                <a:pt x="99" y="32"/>
                              </a:lnTo>
                              <a:lnTo>
                                <a:pt x="116" y="32"/>
                              </a:lnTo>
                              <a:lnTo>
                                <a:pt x="120" y="39"/>
                              </a:lnTo>
                              <a:lnTo>
                                <a:pt x="131" y="39"/>
                              </a:lnTo>
                              <a:lnTo>
                                <a:pt x="138" y="48"/>
                              </a:lnTo>
                              <a:lnTo>
                                <a:pt x="134" y="49"/>
                              </a:lnTo>
                              <a:lnTo>
                                <a:pt x="131" y="47"/>
                              </a:lnTo>
                              <a:lnTo>
                                <a:pt x="130" y="45"/>
                              </a:lnTo>
                              <a:lnTo>
                                <a:pt x="120" y="47"/>
                              </a:lnTo>
                              <a:lnTo>
                                <a:pt x="118" y="48"/>
                              </a:lnTo>
                              <a:lnTo>
                                <a:pt x="109" y="49"/>
                              </a:lnTo>
                              <a:lnTo>
                                <a:pt x="97" y="49"/>
                              </a:lnTo>
                              <a:lnTo>
                                <a:pt x="89" y="49"/>
                              </a:lnTo>
                              <a:lnTo>
                                <a:pt x="89" y="45"/>
                              </a:lnTo>
                              <a:lnTo>
                                <a:pt x="77" y="33"/>
                              </a:lnTo>
                              <a:lnTo>
                                <a:pt x="77" y="26"/>
                              </a:lnTo>
                              <a:lnTo>
                                <a:pt x="63" y="26"/>
                              </a:lnTo>
                              <a:lnTo>
                                <a:pt x="57" y="22"/>
                              </a:lnTo>
                              <a:lnTo>
                                <a:pt x="53" y="26"/>
                              </a:lnTo>
                              <a:lnTo>
                                <a:pt x="49" y="20"/>
                              </a:lnTo>
                              <a:lnTo>
                                <a:pt x="45" y="20"/>
                              </a:lnTo>
                              <a:lnTo>
                                <a:pt x="45" y="13"/>
                              </a:lnTo>
                              <a:lnTo>
                                <a:pt x="41" y="10"/>
                              </a:lnTo>
                              <a:lnTo>
                                <a:pt x="29" y="12"/>
                              </a:lnTo>
                              <a:lnTo>
                                <a:pt x="20" y="20"/>
                              </a:lnTo>
                              <a:lnTo>
                                <a:pt x="11" y="22"/>
                              </a:lnTo>
                              <a:lnTo>
                                <a:pt x="0" y="2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8" name="Freeform 17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66" y="2465"/>
                          <a:ext cx="44" cy="21"/>
                        </a:xfrm>
                        <a:custGeom>
                          <a:avLst/>
                          <a:gdLst>
                            <a:gd name="T0" fmla="*/ 0 w 88"/>
                            <a:gd name="T1" fmla="*/ 16 h 42"/>
                            <a:gd name="T2" fmla="*/ 4 w 88"/>
                            <a:gd name="T3" fmla="*/ 17 h 42"/>
                            <a:gd name="T4" fmla="*/ 13 w 88"/>
                            <a:gd name="T5" fmla="*/ 16 h 42"/>
                            <a:gd name="T6" fmla="*/ 18 w 88"/>
                            <a:gd name="T7" fmla="*/ 21 h 42"/>
                            <a:gd name="T8" fmla="*/ 23 w 88"/>
                            <a:gd name="T9" fmla="*/ 21 h 42"/>
                            <a:gd name="T10" fmla="*/ 26 w 88"/>
                            <a:gd name="T11" fmla="*/ 16 h 42"/>
                            <a:gd name="T12" fmla="*/ 24 w 88"/>
                            <a:gd name="T13" fmla="*/ 14 h 42"/>
                            <a:gd name="T14" fmla="*/ 27 w 88"/>
                            <a:gd name="T15" fmla="*/ 12 h 42"/>
                            <a:gd name="T16" fmla="*/ 33 w 88"/>
                            <a:gd name="T17" fmla="*/ 16 h 42"/>
                            <a:gd name="T18" fmla="*/ 37 w 88"/>
                            <a:gd name="T19" fmla="*/ 16 h 42"/>
                            <a:gd name="T20" fmla="*/ 37 w 88"/>
                            <a:gd name="T21" fmla="*/ 14 h 42"/>
                            <a:gd name="T22" fmla="*/ 40 w 88"/>
                            <a:gd name="T23" fmla="*/ 14 h 42"/>
                            <a:gd name="T24" fmla="*/ 44 w 88"/>
                            <a:gd name="T25" fmla="*/ 11 h 42"/>
                            <a:gd name="T26" fmla="*/ 41 w 88"/>
                            <a:gd name="T27" fmla="*/ 10 h 42"/>
                            <a:gd name="T28" fmla="*/ 41 w 88"/>
                            <a:gd name="T29" fmla="*/ 6 h 42"/>
                            <a:gd name="T30" fmla="*/ 41 w 88"/>
                            <a:gd name="T31" fmla="*/ 3 h 42"/>
                            <a:gd name="T32" fmla="*/ 35 w 88"/>
                            <a:gd name="T33" fmla="*/ 3 h 42"/>
                            <a:gd name="T34" fmla="*/ 30 w 88"/>
                            <a:gd name="T35" fmla="*/ 3 h 42"/>
                            <a:gd name="T36" fmla="*/ 26 w 88"/>
                            <a:gd name="T37" fmla="*/ 3 h 42"/>
                            <a:gd name="T38" fmla="*/ 20 w 88"/>
                            <a:gd name="T39" fmla="*/ 3 h 42"/>
                            <a:gd name="T40" fmla="*/ 15 w 88"/>
                            <a:gd name="T41" fmla="*/ 0 h 42"/>
                            <a:gd name="T42" fmla="*/ 13 w 88"/>
                            <a:gd name="T43" fmla="*/ 3 h 42"/>
                            <a:gd name="T44" fmla="*/ 13 w 88"/>
                            <a:gd name="T45" fmla="*/ 6 h 42"/>
                            <a:gd name="T46" fmla="*/ 8 w 88"/>
                            <a:gd name="T47" fmla="*/ 6 h 42"/>
                            <a:gd name="T48" fmla="*/ 7 w 88"/>
                            <a:gd name="T49" fmla="*/ 11 h 42"/>
                            <a:gd name="T50" fmla="*/ 4 w 88"/>
                            <a:gd name="T51" fmla="*/ 12 h 42"/>
                            <a:gd name="T52" fmla="*/ 0 w 88"/>
                            <a:gd name="T53" fmla="*/ 16 h 42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88"/>
                            <a:gd name="T82" fmla="*/ 0 h 42"/>
                            <a:gd name="T83" fmla="*/ 88 w 88"/>
                            <a:gd name="T84" fmla="*/ 42 h 42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88" h="42">
                              <a:moveTo>
                                <a:pt x="0" y="32"/>
                              </a:moveTo>
                              <a:lnTo>
                                <a:pt x="8" y="34"/>
                              </a:lnTo>
                              <a:lnTo>
                                <a:pt x="27" y="32"/>
                              </a:lnTo>
                              <a:lnTo>
                                <a:pt x="35" y="41"/>
                              </a:lnTo>
                              <a:lnTo>
                                <a:pt x="46" y="42"/>
                              </a:lnTo>
                              <a:lnTo>
                                <a:pt x="52" y="32"/>
                              </a:lnTo>
                              <a:lnTo>
                                <a:pt x="49" y="29"/>
                              </a:lnTo>
                              <a:lnTo>
                                <a:pt x="55" y="25"/>
                              </a:lnTo>
                              <a:lnTo>
                                <a:pt x="66" y="32"/>
                              </a:lnTo>
                              <a:lnTo>
                                <a:pt x="74" y="32"/>
                              </a:lnTo>
                              <a:lnTo>
                                <a:pt x="74" y="28"/>
                              </a:lnTo>
                              <a:lnTo>
                                <a:pt x="79" y="28"/>
                              </a:lnTo>
                              <a:lnTo>
                                <a:pt x="88" y="21"/>
                              </a:lnTo>
                              <a:lnTo>
                                <a:pt x="82" y="19"/>
                              </a:lnTo>
                              <a:lnTo>
                                <a:pt x="82" y="12"/>
                              </a:lnTo>
                              <a:lnTo>
                                <a:pt x="82" y="6"/>
                              </a:lnTo>
                              <a:lnTo>
                                <a:pt x="70" y="5"/>
                              </a:lnTo>
                              <a:lnTo>
                                <a:pt x="60" y="6"/>
                              </a:lnTo>
                              <a:lnTo>
                                <a:pt x="52" y="6"/>
                              </a:lnTo>
                              <a:lnTo>
                                <a:pt x="40" y="5"/>
                              </a:lnTo>
                              <a:lnTo>
                                <a:pt x="30" y="0"/>
                              </a:lnTo>
                              <a:lnTo>
                                <a:pt x="27" y="5"/>
                              </a:lnTo>
                              <a:lnTo>
                                <a:pt x="26" y="13"/>
                              </a:lnTo>
                              <a:lnTo>
                                <a:pt x="16" y="13"/>
                              </a:lnTo>
                              <a:lnTo>
                                <a:pt x="14" y="21"/>
                              </a:lnTo>
                              <a:lnTo>
                                <a:pt x="8" y="24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  <p:sp>
                      <p:nvSpPr>
                        <p:cNvPr id="62669" name="Freeform 17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338" y="2526"/>
                          <a:ext cx="282" cy="444"/>
                        </a:xfrm>
                        <a:custGeom>
                          <a:avLst/>
                          <a:gdLst>
                            <a:gd name="T0" fmla="*/ 32 w 563"/>
                            <a:gd name="T1" fmla="*/ 7 h 887"/>
                            <a:gd name="T2" fmla="*/ 54 w 563"/>
                            <a:gd name="T3" fmla="*/ 1 h 887"/>
                            <a:gd name="T4" fmla="*/ 45 w 563"/>
                            <a:gd name="T5" fmla="*/ 15 h 887"/>
                            <a:gd name="T6" fmla="*/ 54 w 563"/>
                            <a:gd name="T7" fmla="*/ 15 h 887"/>
                            <a:gd name="T8" fmla="*/ 62 w 563"/>
                            <a:gd name="T9" fmla="*/ 14 h 887"/>
                            <a:gd name="T10" fmla="*/ 75 w 563"/>
                            <a:gd name="T11" fmla="*/ 19 h 887"/>
                            <a:gd name="T12" fmla="*/ 113 w 563"/>
                            <a:gd name="T13" fmla="*/ 27 h 887"/>
                            <a:gd name="T14" fmla="*/ 131 w 563"/>
                            <a:gd name="T15" fmla="*/ 35 h 887"/>
                            <a:gd name="T16" fmla="*/ 154 w 563"/>
                            <a:gd name="T17" fmla="*/ 39 h 887"/>
                            <a:gd name="T18" fmla="*/ 187 w 563"/>
                            <a:gd name="T19" fmla="*/ 61 h 887"/>
                            <a:gd name="T20" fmla="*/ 204 w 563"/>
                            <a:gd name="T21" fmla="*/ 88 h 887"/>
                            <a:gd name="T22" fmla="*/ 274 w 563"/>
                            <a:gd name="T23" fmla="*/ 111 h 887"/>
                            <a:gd name="T24" fmla="*/ 275 w 563"/>
                            <a:gd name="T25" fmla="*/ 148 h 887"/>
                            <a:gd name="T26" fmla="*/ 257 w 563"/>
                            <a:gd name="T27" fmla="*/ 168 h 887"/>
                            <a:gd name="T28" fmla="*/ 254 w 563"/>
                            <a:gd name="T29" fmla="*/ 196 h 887"/>
                            <a:gd name="T30" fmla="*/ 244 w 563"/>
                            <a:gd name="T31" fmla="*/ 209 h 887"/>
                            <a:gd name="T32" fmla="*/ 228 w 563"/>
                            <a:gd name="T33" fmla="*/ 230 h 887"/>
                            <a:gd name="T34" fmla="*/ 204 w 563"/>
                            <a:gd name="T35" fmla="*/ 237 h 887"/>
                            <a:gd name="T36" fmla="*/ 191 w 563"/>
                            <a:gd name="T37" fmla="*/ 259 h 887"/>
                            <a:gd name="T38" fmla="*/ 189 w 563"/>
                            <a:gd name="T39" fmla="*/ 277 h 887"/>
                            <a:gd name="T40" fmla="*/ 169 w 563"/>
                            <a:gd name="T41" fmla="*/ 293 h 887"/>
                            <a:gd name="T42" fmla="*/ 158 w 563"/>
                            <a:gd name="T43" fmla="*/ 307 h 887"/>
                            <a:gd name="T44" fmla="*/ 150 w 563"/>
                            <a:gd name="T45" fmla="*/ 313 h 887"/>
                            <a:gd name="T46" fmla="*/ 146 w 563"/>
                            <a:gd name="T47" fmla="*/ 331 h 887"/>
                            <a:gd name="T48" fmla="*/ 127 w 563"/>
                            <a:gd name="T49" fmla="*/ 338 h 887"/>
                            <a:gd name="T50" fmla="*/ 112 w 563"/>
                            <a:gd name="T51" fmla="*/ 345 h 887"/>
                            <a:gd name="T52" fmla="*/ 111 w 563"/>
                            <a:gd name="T53" fmla="*/ 363 h 887"/>
                            <a:gd name="T54" fmla="*/ 97 w 563"/>
                            <a:gd name="T55" fmla="*/ 376 h 887"/>
                            <a:gd name="T56" fmla="*/ 106 w 563"/>
                            <a:gd name="T57" fmla="*/ 388 h 887"/>
                            <a:gd name="T58" fmla="*/ 91 w 563"/>
                            <a:gd name="T59" fmla="*/ 399 h 887"/>
                            <a:gd name="T60" fmla="*/ 84 w 563"/>
                            <a:gd name="T61" fmla="*/ 418 h 887"/>
                            <a:gd name="T62" fmla="*/ 103 w 563"/>
                            <a:gd name="T63" fmla="*/ 444 h 887"/>
                            <a:gd name="T64" fmla="*/ 80 w 563"/>
                            <a:gd name="T65" fmla="*/ 431 h 887"/>
                            <a:gd name="T66" fmla="*/ 66 w 563"/>
                            <a:gd name="T67" fmla="*/ 407 h 887"/>
                            <a:gd name="T68" fmla="*/ 65 w 563"/>
                            <a:gd name="T69" fmla="*/ 345 h 887"/>
                            <a:gd name="T70" fmla="*/ 62 w 563"/>
                            <a:gd name="T71" fmla="*/ 319 h 887"/>
                            <a:gd name="T72" fmla="*/ 64 w 563"/>
                            <a:gd name="T73" fmla="*/ 291 h 887"/>
                            <a:gd name="T74" fmla="*/ 67 w 563"/>
                            <a:gd name="T75" fmla="*/ 268 h 887"/>
                            <a:gd name="T76" fmla="*/ 65 w 563"/>
                            <a:gd name="T77" fmla="*/ 232 h 887"/>
                            <a:gd name="T78" fmla="*/ 67 w 563"/>
                            <a:gd name="T79" fmla="*/ 202 h 887"/>
                            <a:gd name="T80" fmla="*/ 51 w 563"/>
                            <a:gd name="T81" fmla="*/ 182 h 887"/>
                            <a:gd name="T82" fmla="*/ 25 w 563"/>
                            <a:gd name="T83" fmla="*/ 165 h 887"/>
                            <a:gd name="T84" fmla="*/ 17 w 563"/>
                            <a:gd name="T85" fmla="*/ 140 h 887"/>
                            <a:gd name="T86" fmla="*/ 5 w 563"/>
                            <a:gd name="T87" fmla="*/ 126 h 887"/>
                            <a:gd name="T88" fmla="*/ 6 w 563"/>
                            <a:gd name="T89" fmla="*/ 103 h 887"/>
                            <a:gd name="T90" fmla="*/ 3 w 563"/>
                            <a:gd name="T91" fmla="*/ 81 h 887"/>
                            <a:gd name="T92" fmla="*/ 21 w 563"/>
                            <a:gd name="T93" fmla="*/ 36 h 887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w 563"/>
                            <a:gd name="T142" fmla="*/ 0 h 887"/>
                            <a:gd name="T143" fmla="*/ 563 w 563"/>
                            <a:gd name="T144" fmla="*/ 887 h 887"/>
                          </a:gdLst>
                          <a:ahLst/>
                          <a:cxnLst>
                            <a:cxn ang="T94">
                              <a:pos x="T0" y="T1"/>
                            </a:cxn>
                            <a:cxn ang="T95">
                              <a:pos x="T2" y="T3"/>
                            </a:cxn>
                            <a:cxn ang="T96">
                              <a:pos x="T4" y="T5"/>
                            </a:cxn>
                            <a:cxn ang="T97">
                              <a:pos x="T6" y="T7"/>
                            </a:cxn>
                            <a:cxn ang="T98">
                              <a:pos x="T8" y="T9"/>
                            </a:cxn>
                            <a:cxn ang="T99">
                              <a:pos x="T10" y="T11"/>
                            </a:cxn>
                            <a:cxn ang="T100">
                              <a:pos x="T12" y="T13"/>
                            </a:cxn>
                            <a:cxn ang="T101">
                              <a:pos x="T14" y="T15"/>
                            </a:cxn>
                            <a:cxn ang="T102">
                              <a:pos x="T16" y="T17"/>
                            </a:cxn>
                            <a:cxn ang="T103">
                              <a:pos x="T18" y="T19"/>
                            </a:cxn>
                            <a:cxn ang="T104">
                              <a:pos x="T20" y="T21"/>
                            </a:cxn>
                            <a:cxn ang="T105">
                              <a:pos x="T22" y="T23"/>
                            </a:cxn>
                            <a:cxn ang="T106">
                              <a:pos x="T24" y="T25"/>
                            </a:cxn>
                            <a:cxn ang="T107">
                              <a:pos x="T26" y="T27"/>
                            </a:cxn>
                            <a:cxn ang="T108">
                              <a:pos x="T28" y="T29"/>
                            </a:cxn>
                            <a:cxn ang="T109">
                              <a:pos x="T30" y="T31"/>
                            </a:cxn>
                            <a:cxn ang="T110">
                              <a:pos x="T32" y="T33"/>
                            </a:cxn>
                            <a:cxn ang="T111">
                              <a:pos x="T34" y="T35"/>
                            </a:cxn>
                            <a:cxn ang="T112">
                              <a:pos x="T36" y="T37"/>
                            </a:cxn>
                            <a:cxn ang="T113">
                              <a:pos x="T38" y="T39"/>
                            </a:cxn>
                            <a:cxn ang="T114">
                              <a:pos x="T40" y="T41"/>
                            </a:cxn>
                            <a:cxn ang="T115">
                              <a:pos x="T42" y="T43"/>
                            </a:cxn>
                            <a:cxn ang="T116">
                              <a:pos x="T44" y="T45"/>
                            </a:cxn>
                            <a:cxn ang="T117">
                              <a:pos x="T46" y="T47"/>
                            </a:cxn>
                            <a:cxn ang="T118">
                              <a:pos x="T48" y="T49"/>
                            </a:cxn>
                            <a:cxn ang="T119">
                              <a:pos x="T50" y="T51"/>
                            </a:cxn>
                            <a:cxn ang="T120">
                              <a:pos x="T52" y="T53"/>
                            </a:cxn>
                            <a:cxn ang="T121">
                              <a:pos x="T54" y="T55"/>
                            </a:cxn>
                            <a:cxn ang="T122">
                              <a:pos x="T56" y="T57"/>
                            </a:cxn>
                            <a:cxn ang="T123">
                              <a:pos x="T58" y="T59"/>
                            </a:cxn>
                            <a:cxn ang="T124">
                              <a:pos x="T60" y="T61"/>
                            </a:cxn>
                            <a:cxn ang="T125">
                              <a:pos x="T62" y="T63"/>
                            </a:cxn>
                            <a:cxn ang="T126">
                              <a:pos x="T64" y="T65"/>
                            </a:cxn>
                            <a:cxn ang="T127">
                              <a:pos x="T66" y="T67"/>
                            </a:cxn>
                            <a:cxn ang="T128">
                              <a:pos x="T68" y="T69"/>
                            </a:cxn>
                            <a:cxn ang="T129">
                              <a:pos x="T70" y="T71"/>
                            </a:cxn>
                            <a:cxn ang="T130">
                              <a:pos x="T72" y="T73"/>
                            </a:cxn>
                            <a:cxn ang="T131">
                              <a:pos x="T74" y="T75"/>
                            </a:cxn>
                            <a:cxn ang="T132">
                              <a:pos x="T76" y="T77"/>
                            </a:cxn>
                            <a:cxn ang="T133">
                              <a:pos x="T78" y="T79"/>
                            </a:cxn>
                            <a:cxn ang="T134">
                              <a:pos x="T80" y="T81"/>
                            </a:cxn>
                            <a:cxn ang="T135">
                              <a:pos x="T82" y="T83"/>
                            </a:cxn>
                            <a:cxn ang="T136">
                              <a:pos x="T84" y="T85"/>
                            </a:cxn>
                            <a:cxn ang="T137">
                              <a:pos x="T86" y="T87"/>
                            </a:cxn>
                            <a:cxn ang="T138">
                              <a:pos x="T88" y="T89"/>
                            </a:cxn>
                            <a:cxn ang="T139">
                              <a:pos x="T90" y="T91"/>
                            </a:cxn>
                            <a:cxn ang="T140">
                              <a:pos x="T92" y="T93"/>
                            </a:cxn>
                          </a:cxnLst>
                          <a:rect l="T141" t="T142" r="T143" b="T144"/>
                          <a:pathLst>
                            <a:path w="563" h="887">
                              <a:moveTo>
                                <a:pt x="43" y="39"/>
                              </a:moveTo>
                              <a:lnTo>
                                <a:pt x="50" y="29"/>
                              </a:lnTo>
                              <a:lnTo>
                                <a:pt x="64" y="14"/>
                              </a:lnTo>
                              <a:lnTo>
                                <a:pt x="85" y="6"/>
                              </a:lnTo>
                              <a:lnTo>
                                <a:pt x="96" y="0"/>
                              </a:lnTo>
                              <a:lnTo>
                                <a:pt x="107" y="1"/>
                              </a:lnTo>
                              <a:lnTo>
                                <a:pt x="104" y="9"/>
                              </a:lnTo>
                              <a:lnTo>
                                <a:pt x="91" y="16"/>
                              </a:lnTo>
                              <a:lnTo>
                                <a:pt x="89" y="30"/>
                              </a:lnTo>
                              <a:lnTo>
                                <a:pt x="91" y="42"/>
                              </a:lnTo>
                              <a:lnTo>
                                <a:pt x="102" y="42"/>
                              </a:lnTo>
                              <a:lnTo>
                                <a:pt x="107" y="29"/>
                              </a:lnTo>
                              <a:lnTo>
                                <a:pt x="109" y="16"/>
                              </a:lnTo>
                              <a:lnTo>
                                <a:pt x="116" y="20"/>
                              </a:lnTo>
                              <a:lnTo>
                                <a:pt x="124" y="27"/>
                              </a:lnTo>
                              <a:lnTo>
                                <a:pt x="138" y="24"/>
                              </a:lnTo>
                              <a:lnTo>
                                <a:pt x="146" y="30"/>
                              </a:lnTo>
                              <a:lnTo>
                                <a:pt x="149" y="38"/>
                              </a:lnTo>
                              <a:lnTo>
                                <a:pt x="170" y="35"/>
                              </a:lnTo>
                              <a:lnTo>
                                <a:pt x="211" y="30"/>
                              </a:lnTo>
                              <a:lnTo>
                                <a:pt x="226" y="54"/>
                              </a:lnTo>
                              <a:lnTo>
                                <a:pt x="252" y="65"/>
                              </a:lnTo>
                              <a:lnTo>
                                <a:pt x="251" y="75"/>
                              </a:lnTo>
                              <a:lnTo>
                                <a:pt x="262" y="70"/>
                              </a:lnTo>
                              <a:lnTo>
                                <a:pt x="274" y="70"/>
                              </a:lnTo>
                              <a:lnTo>
                                <a:pt x="289" y="80"/>
                              </a:lnTo>
                              <a:lnTo>
                                <a:pt x="307" y="78"/>
                              </a:lnTo>
                              <a:lnTo>
                                <a:pt x="322" y="80"/>
                              </a:lnTo>
                              <a:lnTo>
                                <a:pt x="347" y="99"/>
                              </a:lnTo>
                              <a:lnTo>
                                <a:pt x="373" y="122"/>
                              </a:lnTo>
                              <a:lnTo>
                                <a:pt x="384" y="148"/>
                              </a:lnTo>
                              <a:lnTo>
                                <a:pt x="377" y="168"/>
                              </a:lnTo>
                              <a:lnTo>
                                <a:pt x="408" y="176"/>
                              </a:lnTo>
                              <a:lnTo>
                                <a:pt x="460" y="186"/>
                              </a:lnTo>
                              <a:lnTo>
                                <a:pt x="514" y="197"/>
                              </a:lnTo>
                              <a:lnTo>
                                <a:pt x="548" y="221"/>
                              </a:lnTo>
                              <a:lnTo>
                                <a:pt x="563" y="242"/>
                              </a:lnTo>
                              <a:lnTo>
                                <a:pt x="563" y="270"/>
                              </a:lnTo>
                              <a:lnTo>
                                <a:pt x="549" y="295"/>
                              </a:lnTo>
                              <a:lnTo>
                                <a:pt x="534" y="308"/>
                              </a:lnTo>
                              <a:lnTo>
                                <a:pt x="525" y="316"/>
                              </a:lnTo>
                              <a:lnTo>
                                <a:pt x="514" y="335"/>
                              </a:lnTo>
                              <a:lnTo>
                                <a:pt x="512" y="351"/>
                              </a:lnTo>
                              <a:lnTo>
                                <a:pt x="514" y="372"/>
                              </a:lnTo>
                              <a:lnTo>
                                <a:pt x="508" y="392"/>
                              </a:lnTo>
                              <a:lnTo>
                                <a:pt x="500" y="396"/>
                              </a:lnTo>
                              <a:lnTo>
                                <a:pt x="497" y="408"/>
                              </a:lnTo>
                              <a:lnTo>
                                <a:pt x="488" y="417"/>
                              </a:lnTo>
                              <a:lnTo>
                                <a:pt x="486" y="427"/>
                              </a:lnTo>
                              <a:lnTo>
                                <a:pt x="474" y="438"/>
                              </a:lnTo>
                              <a:lnTo>
                                <a:pt x="455" y="459"/>
                              </a:lnTo>
                              <a:lnTo>
                                <a:pt x="438" y="464"/>
                              </a:lnTo>
                              <a:lnTo>
                                <a:pt x="427" y="463"/>
                              </a:lnTo>
                              <a:lnTo>
                                <a:pt x="407" y="473"/>
                              </a:lnTo>
                              <a:lnTo>
                                <a:pt x="386" y="496"/>
                              </a:lnTo>
                              <a:lnTo>
                                <a:pt x="382" y="505"/>
                              </a:lnTo>
                              <a:lnTo>
                                <a:pt x="382" y="517"/>
                              </a:lnTo>
                              <a:lnTo>
                                <a:pt x="386" y="530"/>
                              </a:lnTo>
                              <a:lnTo>
                                <a:pt x="377" y="543"/>
                              </a:lnTo>
                              <a:lnTo>
                                <a:pt x="377" y="553"/>
                              </a:lnTo>
                              <a:lnTo>
                                <a:pt x="360" y="565"/>
                              </a:lnTo>
                              <a:lnTo>
                                <a:pt x="348" y="573"/>
                              </a:lnTo>
                              <a:lnTo>
                                <a:pt x="338" y="586"/>
                              </a:lnTo>
                              <a:lnTo>
                                <a:pt x="334" y="600"/>
                              </a:lnTo>
                              <a:lnTo>
                                <a:pt x="320" y="615"/>
                              </a:lnTo>
                              <a:lnTo>
                                <a:pt x="315" y="613"/>
                              </a:lnTo>
                              <a:lnTo>
                                <a:pt x="304" y="613"/>
                              </a:lnTo>
                              <a:lnTo>
                                <a:pt x="290" y="618"/>
                              </a:lnTo>
                              <a:lnTo>
                                <a:pt x="300" y="626"/>
                              </a:lnTo>
                              <a:lnTo>
                                <a:pt x="300" y="640"/>
                              </a:lnTo>
                              <a:lnTo>
                                <a:pt x="299" y="652"/>
                              </a:lnTo>
                              <a:lnTo>
                                <a:pt x="292" y="661"/>
                              </a:lnTo>
                              <a:lnTo>
                                <a:pt x="274" y="662"/>
                              </a:lnTo>
                              <a:lnTo>
                                <a:pt x="260" y="666"/>
                              </a:lnTo>
                              <a:lnTo>
                                <a:pt x="253" y="675"/>
                              </a:lnTo>
                              <a:lnTo>
                                <a:pt x="253" y="690"/>
                              </a:lnTo>
                              <a:lnTo>
                                <a:pt x="237" y="694"/>
                              </a:lnTo>
                              <a:lnTo>
                                <a:pt x="223" y="690"/>
                              </a:lnTo>
                              <a:lnTo>
                                <a:pt x="219" y="698"/>
                              </a:lnTo>
                              <a:lnTo>
                                <a:pt x="226" y="704"/>
                              </a:lnTo>
                              <a:lnTo>
                                <a:pt x="222" y="726"/>
                              </a:lnTo>
                              <a:lnTo>
                                <a:pt x="216" y="745"/>
                              </a:lnTo>
                              <a:lnTo>
                                <a:pt x="198" y="745"/>
                              </a:lnTo>
                              <a:lnTo>
                                <a:pt x="193" y="752"/>
                              </a:lnTo>
                              <a:lnTo>
                                <a:pt x="194" y="767"/>
                              </a:lnTo>
                              <a:lnTo>
                                <a:pt x="204" y="767"/>
                              </a:lnTo>
                              <a:lnTo>
                                <a:pt x="211" y="775"/>
                              </a:lnTo>
                              <a:lnTo>
                                <a:pt x="207" y="790"/>
                              </a:lnTo>
                              <a:lnTo>
                                <a:pt x="197" y="791"/>
                              </a:lnTo>
                              <a:lnTo>
                                <a:pt x="182" y="797"/>
                              </a:lnTo>
                              <a:lnTo>
                                <a:pt x="178" y="809"/>
                              </a:lnTo>
                              <a:lnTo>
                                <a:pt x="177" y="826"/>
                              </a:lnTo>
                              <a:lnTo>
                                <a:pt x="167" y="835"/>
                              </a:lnTo>
                              <a:lnTo>
                                <a:pt x="201" y="864"/>
                              </a:lnTo>
                              <a:lnTo>
                                <a:pt x="211" y="878"/>
                              </a:lnTo>
                              <a:lnTo>
                                <a:pt x="205" y="887"/>
                              </a:lnTo>
                              <a:lnTo>
                                <a:pt x="190" y="881"/>
                              </a:lnTo>
                              <a:lnTo>
                                <a:pt x="178" y="870"/>
                              </a:lnTo>
                              <a:lnTo>
                                <a:pt x="160" y="861"/>
                              </a:lnTo>
                              <a:lnTo>
                                <a:pt x="144" y="846"/>
                              </a:lnTo>
                              <a:lnTo>
                                <a:pt x="133" y="829"/>
                              </a:lnTo>
                              <a:lnTo>
                                <a:pt x="131" y="814"/>
                              </a:lnTo>
                              <a:lnTo>
                                <a:pt x="134" y="803"/>
                              </a:lnTo>
                              <a:lnTo>
                                <a:pt x="133" y="708"/>
                              </a:lnTo>
                              <a:lnTo>
                                <a:pt x="129" y="690"/>
                              </a:lnTo>
                              <a:lnTo>
                                <a:pt x="116" y="672"/>
                              </a:lnTo>
                              <a:lnTo>
                                <a:pt x="116" y="656"/>
                              </a:lnTo>
                              <a:lnTo>
                                <a:pt x="124" y="637"/>
                              </a:lnTo>
                              <a:lnTo>
                                <a:pt x="131" y="614"/>
                              </a:lnTo>
                              <a:lnTo>
                                <a:pt x="129" y="591"/>
                              </a:lnTo>
                              <a:lnTo>
                                <a:pt x="127" y="581"/>
                              </a:lnTo>
                              <a:lnTo>
                                <a:pt x="126" y="568"/>
                              </a:lnTo>
                              <a:lnTo>
                                <a:pt x="130" y="562"/>
                              </a:lnTo>
                              <a:lnTo>
                                <a:pt x="133" y="536"/>
                              </a:lnTo>
                              <a:lnTo>
                                <a:pt x="130" y="523"/>
                              </a:lnTo>
                              <a:lnTo>
                                <a:pt x="135" y="491"/>
                              </a:lnTo>
                              <a:lnTo>
                                <a:pt x="130" y="463"/>
                              </a:lnTo>
                              <a:lnTo>
                                <a:pt x="134" y="449"/>
                              </a:lnTo>
                              <a:lnTo>
                                <a:pt x="141" y="421"/>
                              </a:lnTo>
                              <a:lnTo>
                                <a:pt x="134" y="403"/>
                              </a:lnTo>
                              <a:lnTo>
                                <a:pt x="120" y="390"/>
                              </a:lnTo>
                              <a:lnTo>
                                <a:pt x="116" y="376"/>
                              </a:lnTo>
                              <a:lnTo>
                                <a:pt x="101" y="363"/>
                              </a:lnTo>
                              <a:lnTo>
                                <a:pt x="85" y="354"/>
                              </a:lnTo>
                              <a:lnTo>
                                <a:pt x="61" y="350"/>
                              </a:lnTo>
                              <a:lnTo>
                                <a:pt x="50" y="329"/>
                              </a:lnTo>
                              <a:lnTo>
                                <a:pt x="35" y="311"/>
                              </a:lnTo>
                              <a:lnTo>
                                <a:pt x="34" y="295"/>
                              </a:lnTo>
                              <a:lnTo>
                                <a:pt x="33" y="280"/>
                              </a:lnTo>
                              <a:lnTo>
                                <a:pt x="28" y="270"/>
                              </a:lnTo>
                              <a:lnTo>
                                <a:pt x="20" y="258"/>
                              </a:lnTo>
                              <a:lnTo>
                                <a:pt x="9" y="252"/>
                              </a:lnTo>
                              <a:lnTo>
                                <a:pt x="1" y="241"/>
                              </a:lnTo>
                              <a:lnTo>
                                <a:pt x="11" y="231"/>
                              </a:lnTo>
                              <a:lnTo>
                                <a:pt x="11" y="206"/>
                              </a:lnTo>
                              <a:lnTo>
                                <a:pt x="5" y="193"/>
                              </a:lnTo>
                              <a:lnTo>
                                <a:pt x="0" y="180"/>
                              </a:lnTo>
                              <a:lnTo>
                                <a:pt x="5" y="161"/>
                              </a:lnTo>
                              <a:lnTo>
                                <a:pt x="27" y="115"/>
                              </a:lnTo>
                              <a:lnTo>
                                <a:pt x="28" y="94"/>
                              </a:lnTo>
                              <a:lnTo>
                                <a:pt x="41" y="72"/>
                              </a:lnTo>
                              <a:lnTo>
                                <a:pt x="41" y="61"/>
                              </a:lnTo>
                              <a:lnTo>
                                <a:pt x="43" y="39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CFFCC"/>
                        </a:solidFill>
                        <a:ln w="7938">
                          <a:solidFill>
                            <a:srgbClr val="000000"/>
                          </a:solidFill>
                          <a:prstDash val="solid"/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pt-BR"/>
                        </a:p>
                      </p:txBody>
                    </p:sp>
                  </p:grpSp>
                </p:grpSp>
              </p:grpSp>
              <p:sp>
                <p:nvSpPr>
                  <p:cNvPr id="62623" name="AutoShape 174"/>
                  <p:cNvSpPr>
                    <a:spLocks noChangeArrowheads="1"/>
                  </p:cNvSpPr>
                  <p:nvPr/>
                </p:nvSpPr>
                <p:spPr bwMode="auto">
                  <a:xfrm>
                    <a:off x="3891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4" name="AutoShape 175"/>
                  <p:cNvSpPr>
                    <a:spLocks noChangeArrowheads="1"/>
                  </p:cNvSpPr>
                  <p:nvPr/>
                </p:nvSpPr>
                <p:spPr bwMode="auto">
                  <a:xfrm>
                    <a:off x="3923" y="940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5" name="AutoShape 176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881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6" name="AutoShape 177"/>
                  <p:cNvSpPr>
                    <a:spLocks noChangeArrowheads="1"/>
                  </p:cNvSpPr>
                  <p:nvPr/>
                </p:nvSpPr>
                <p:spPr bwMode="auto">
                  <a:xfrm>
                    <a:off x="4354" y="952"/>
                    <a:ext cx="28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7" name="AutoShape 17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921"/>
                    <a:ext cx="26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114FFB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8" name="AutoShape 179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29" name="AutoShap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1" y="1126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0" name="AutoShape 181"/>
                  <p:cNvSpPr>
                    <a:spLocks noChangeArrowheads="1"/>
                  </p:cNvSpPr>
                  <p:nvPr/>
                </p:nvSpPr>
                <p:spPr bwMode="auto">
                  <a:xfrm>
                    <a:off x="4674" y="117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1" name="AutoShape 182"/>
                  <p:cNvSpPr>
                    <a:spLocks noChangeArrowheads="1"/>
                  </p:cNvSpPr>
                  <p:nvPr/>
                </p:nvSpPr>
                <p:spPr bwMode="auto">
                  <a:xfrm>
                    <a:off x="4572" y="995"/>
                    <a:ext cx="25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2" name="AutoShape 183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3" name="AutoShape 184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4" name="AutoShape 185"/>
                  <p:cNvSpPr>
                    <a:spLocks noChangeArrowheads="1"/>
                  </p:cNvSpPr>
                  <p:nvPr/>
                </p:nvSpPr>
                <p:spPr bwMode="auto">
                  <a:xfrm>
                    <a:off x="3886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00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5" name="AutoShape 186"/>
                  <p:cNvSpPr>
                    <a:spLocks noChangeArrowheads="1"/>
                  </p:cNvSpPr>
                  <p:nvPr/>
                </p:nvSpPr>
                <p:spPr bwMode="auto">
                  <a:xfrm>
                    <a:off x="3869" y="963"/>
                    <a:ext cx="28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6" name="AutoShape 187"/>
                  <p:cNvSpPr>
                    <a:spLocks noChangeArrowheads="1"/>
                  </p:cNvSpPr>
                  <p:nvPr/>
                </p:nvSpPr>
                <p:spPr bwMode="auto">
                  <a:xfrm>
                    <a:off x="4066" y="1136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7" name="AutoShape 188"/>
                  <p:cNvSpPr>
                    <a:spLocks noChangeArrowheads="1"/>
                  </p:cNvSpPr>
                  <p:nvPr/>
                </p:nvSpPr>
                <p:spPr bwMode="auto">
                  <a:xfrm>
                    <a:off x="4020" y="119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8" name="AutoShape 189"/>
                  <p:cNvSpPr>
                    <a:spLocks noChangeArrowheads="1"/>
                  </p:cNvSpPr>
                  <p:nvPr/>
                </p:nvSpPr>
                <p:spPr bwMode="auto">
                  <a:xfrm>
                    <a:off x="4350" y="908"/>
                    <a:ext cx="28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39" name="AutoShape 190"/>
                  <p:cNvSpPr>
                    <a:spLocks noChangeArrowheads="1"/>
                  </p:cNvSpPr>
                  <p:nvPr/>
                </p:nvSpPr>
                <p:spPr bwMode="auto">
                  <a:xfrm>
                    <a:off x="4319" y="1000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0" name="AutoShape 191"/>
                  <p:cNvSpPr>
                    <a:spLocks noChangeArrowheads="1"/>
                  </p:cNvSpPr>
                  <p:nvPr/>
                </p:nvSpPr>
                <p:spPr bwMode="auto">
                  <a:xfrm>
                    <a:off x="4560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1" name="AutoShape 192"/>
                  <p:cNvSpPr>
                    <a:spLocks noChangeArrowheads="1"/>
                  </p:cNvSpPr>
                  <p:nvPr/>
                </p:nvSpPr>
                <p:spPr bwMode="auto">
                  <a:xfrm>
                    <a:off x="4655" y="1190"/>
                    <a:ext cx="24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2" name="AutoShape 193"/>
                  <p:cNvSpPr>
                    <a:spLocks noChangeArrowheads="1"/>
                  </p:cNvSpPr>
                  <p:nvPr/>
                </p:nvSpPr>
                <p:spPr bwMode="auto">
                  <a:xfrm>
                    <a:off x="4401" y="871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3" name="AutoShape 194"/>
                  <p:cNvSpPr>
                    <a:spLocks noChangeArrowheads="1"/>
                  </p:cNvSpPr>
                  <p:nvPr/>
                </p:nvSpPr>
                <p:spPr bwMode="auto">
                  <a:xfrm>
                    <a:off x="3952" y="93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4" name="AutoShape 195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929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5" name="AutoShape 196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967"/>
                    <a:ext cx="26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6" name="AutoShape 197"/>
                  <p:cNvSpPr>
                    <a:spLocks noChangeArrowheads="1"/>
                  </p:cNvSpPr>
                  <p:nvPr/>
                </p:nvSpPr>
                <p:spPr bwMode="auto">
                  <a:xfrm>
                    <a:off x="4004" y="120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7" name="AutoShape 198"/>
                  <p:cNvSpPr>
                    <a:spLocks noChangeArrowheads="1"/>
                  </p:cNvSpPr>
                  <p:nvPr/>
                </p:nvSpPr>
                <p:spPr bwMode="auto">
                  <a:xfrm>
                    <a:off x="4283" y="871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8" name="AutoShape 199"/>
                  <p:cNvSpPr>
                    <a:spLocks noChangeArrowheads="1"/>
                  </p:cNvSpPr>
                  <p:nvPr/>
                </p:nvSpPr>
                <p:spPr bwMode="auto">
                  <a:xfrm>
                    <a:off x="4252" y="925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49" name="AutoShape 200"/>
                  <p:cNvSpPr>
                    <a:spLocks noChangeArrowheads="1"/>
                  </p:cNvSpPr>
                  <p:nvPr/>
                </p:nvSpPr>
                <p:spPr bwMode="auto">
                  <a:xfrm>
                    <a:off x="4379" y="908"/>
                    <a:ext cx="29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0" name="AutoShape 201"/>
                  <p:cNvSpPr>
                    <a:spLocks noChangeArrowheads="1"/>
                  </p:cNvSpPr>
                  <p:nvPr/>
                </p:nvSpPr>
                <p:spPr bwMode="auto">
                  <a:xfrm>
                    <a:off x="4293" y="1017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1" name="AutoShape 202"/>
                  <p:cNvSpPr>
                    <a:spLocks noChangeArrowheads="1"/>
                  </p:cNvSpPr>
                  <p:nvPr/>
                </p:nvSpPr>
                <p:spPr bwMode="auto">
                  <a:xfrm>
                    <a:off x="4611" y="979"/>
                    <a:ext cx="29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2" name="AutoShape 203"/>
                  <p:cNvSpPr>
                    <a:spLocks noChangeArrowheads="1"/>
                  </p:cNvSpPr>
                  <p:nvPr/>
                </p:nvSpPr>
                <p:spPr bwMode="auto">
                  <a:xfrm>
                    <a:off x="4695" y="1180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C0128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3" name="AutoShape 204"/>
                  <p:cNvSpPr>
                    <a:spLocks noChangeArrowheads="1"/>
                  </p:cNvSpPr>
                  <p:nvPr/>
                </p:nvSpPr>
                <p:spPr bwMode="auto">
                  <a:xfrm>
                    <a:off x="4436" y="1108"/>
                    <a:ext cx="27" cy="34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4" name="AutoShape 205"/>
                  <p:cNvSpPr>
                    <a:spLocks noChangeArrowheads="1"/>
                  </p:cNvSpPr>
                  <p:nvPr/>
                </p:nvSpPr>
                <p:spPr bwMode="auto">
                  <a:xfrm>
                    <a:off x="4043" y="1194"/>
                    <a:ext cx="27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5" name="AutoShape 206"/>
                  <p:cNvSpPr>
                    <a:spLocks noChangeArrowheads="1"/>
                  </p:cNvSpPr>
                  <p:nvPr/>
                </p:nvSpPr>
                <p:spPr bwMode="auto">
                  <a:xfrm>
                    <a:off x="4250" y="1057"/>
                    <a:ext cx="26" cy="33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  <p:sp>
                <p:nvSpPr>
                  <p:cNvPr id="62656" name="AutoShape 207"/>
                  <p:cNvSpPr>
                    <a:spLocks noChangeArrowheads="1"/>
                  </p:cNvSpPr>
                  <p:nvPr/>
                </p:nvSpPr>
                <p:spPr bwMode="auto">
                  <a:xfrm>
                    <a:off x="3913" y="967"/>
                    <a:ext cx="27" cy="35"/>
                  </a:xfrm>
                  <a:prstGeom prst="triangle">
                    <a:avLst>
                      <a:gd name="adj" fmla="val 49995"/>
                    </a:avLst>
                  </a:prstGeom>
                  <a:solidFill>
                    <a:srgbClr val="FDC0E5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algn="ctr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endParaRPr lang="pt-BR" altLang="pt-BR"/>
                  </a:p>
                </p:txBody>
              </p:sp>
            </p:grpSp>
          </p:grpSp>
          <p:sp>
            <p:nvSpPr>
              <p:cNvPr id="62548" name="Rectangle 208"/>
              <p:cNvSpPr>
                <a:spLocks noChangeArrowheads="1"/>
              </p:cNvSpPr>
              <p:nvPr/>
            </p:nvSpPr>
            <p:spPr bwMode="auto">
              <a:xfrm>
                <a:off x="4575" y="2735"/>
                <a:ext cx="8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r>
                  <a:rPr lang="en-US" altLang="pt-BR"/>
                  <a:t>Mercado</a:t>
                </a:r>
              </a:p>
            </p:txBody>
          </p:sp>
        </p:grpSp>
      </p:grpSp>
      <p:grpSp>
        <p:nvGrpSpPr>
          <p:cNvPr id="62473" name="Group 209"/>
          <p:cNvGrpSpPr>
            <a:grpSpLocks/>
          </p:cNvGrpSpPr>
          <p:nvPr/>
        </p:nvGrpSpPr>
        <p:grpSpPr bwMode="auto">
          <a:xfrm>
            <a:off x="3483195" y="4435721"/>
            <a:ext cx="6015037" cy="1836737"/>
            <a:chOff x="1235" y="2879"/>
            <a:chExt cx="3789" cy="1157"/>
          </a:xfrm>
        </p:grpSpPr>
        <p:sp useBgFill="1">
          <p:nvSpPr>
            <p:cNvPr id="62536" name="Oval 210"/>
            <p:cNvSpPr>
              <a:spLocks noChangeArrowheads="1"/>
            </p:cNvSpPr>
            <p:nvPr/>
          </p:nvSpPr>
          <p:spPr bwMode="auto">
            <a:xfrm rot="-5400000">
              <a:off x="2812" y="1825"/>
              <a:ext cx="745" cy="3678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Tecnológica</a:t>
              </a:r>
            </a:p>
          </p:txBody>
        </p:sp>
        <p:sp>
          <p:nvSpPr>
            <p:cNvPr id="62537" name="AutoShape 211"/>
            <p:cNvSpPr>
              <a:spLocks noChangeArrowheads="1"/>
            </p:cNvSpPr>
            <p:nvPr/>
          </p:nvSpPr>
          <p:spPr bwMode="auto">
            <a:xfrm rot="-7035679">
              <a:off x="1132" y="327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8" name="AutoShape 212"/>
            <p:cNvSpPr>
              <a:spLocks noChangeArrowheads="1"/>
            </p:cNvSpPr>
            <p:nvPr/>
          </p:nvSpPr>
          <p:spPr bwMode="auto">
            <a:xfrm rot="-6523264">
              <a:off x="1502" y="3098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9" name="AutoShape 213"/>
            <p:cNvSpPr>
              <a:spLocks noChangeArrowheads="1"/>
            </p:cNvSpPr>
            <p:nvPr/>
          </p:nvSpPr>
          <p:spPr bwMode="auto">
            <a:xfrm rot="-6042606">
              <a:off x="1865" y="3003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0" name="AutoShape 214"/>
            <p:cNvSpPr>
              <a:spLocks noChangeArrowheads="1"/>
            </p:cNvSpPr>
            <p:nvPr/>
          </p:nvSpPr>
          <p:spPr bwMode="auto">
            <a:xfrm rot="-5425129">
              <a:off x="2284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1" name="AutoShape 215"/>
            <p:cNvSpPr>
              <a:spLocks noChangeArrowheads="1"/>
            </p:cNvSpPr>
            <p:nvPr/>
          </p:nvSpPr>
          <p:spPr bwMode="auto">
            <a:xfrm rot="-5305128">
              <a:off x="2729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2" name="AutoShape 216"/>
            <p:cNvSpPr>
              <a:spLocks noChangeArrowheads="1"/>
            </p:cNvSpPr>
            <p:nvPr/>
          </p:nvSpPr>
          <p:spPr bwMode="auto">
            <a:xfrm rot="-5350101">
              <a:off x="3113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43" name="AutoShape 217"/>
            <p:cNvSpPr>
              <a:spLocks noChangeArrowheads="1"/>
            </p:cNvSpPr>
            <p:nvPr/>
          </p:nvSpPr>
          <p:spPr bwMode="auto">
            <a:xfrm rot="-5350101">
              <a:off x="3545" y="298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grpSp>
        <p:nvGrpSpPr>
          <p:cNvPr id="62474" name="Group 218"/>
          <p:cNvGrpSpPr>
            <a:grpSpLocks/>
          </p:cNvGrpSpPr>
          <p:nvPr/>
        </p:nvGrpSpPr>
        <p:grpSpPr bwMode="auto">
          <a:xfrm>
            <a:off x="3408363" y="1090614"/>
            <a:ext cx="6828962" cy="1914525"/>
            <a:chOff x="1187" y="687"/>
            <a:chExt cx="3732" cy="1206"/>
          </a:xfrm>
        </p:grpSpPr>
        <p:sp useBgFill="1">
          <p:nvSpPr>
            <p:cNvPr id="62528" name="Oval 219"/>
            <p:cNvSpPr>
              <a:spLocks noChangeArrowheads="1"/>
            </p:cNvSpPr>
            <p:nvPr/>
          </p:nvSpPr>
          <p:spPr bwMode="auto">
            <a:xfrm rot="5400000">
              <a:off x="2702" y="-758"/>
              <a:ext cx="772" cy="3662"/>
            </a:xfrm>
            <a:prstGeom prst="ellipse">
              <a:avLst/>
            </a:prstGeom>
            <a:ln w="12700">
              <a:solidFill>
                <a:srgbClr val="7A7AD4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pt-BR" sz="2800"/>
                <a:t>Estratégia de Produto / Mercado</a:t>
              </a:r>
            </a:p>
          </p:txBody>
        </p:sp>
        <p:sp>
          <p:nvSpPr>
            <p:cNvPr id="62529" name="AutoShape 220"/>
            <p:cNvSpPr>
              <a:spLocks noChangeArrowheads="1"/>
            </p:cNvSpPr>
            <p:nvPr/>
          </p:nvSpPr>
          <p:spPr bwMode="auto">
            <a:xfrm rot="7035679" flipV="1">
              <a:off x="1084" y="1179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0" name="AutoShape 221"/>
            <p:cNvSpPr>
              <a:spLocks noChangeArrowheads="1"/>
            </p:cNvSpPr>
            <p:nvPr/>
          </p:nvSpPr>
          <p:spPr bwMode="auto">
            <a:xfrm rot="6523264" flipV="1">
              <a:off x="1358" y="1322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1" name="AutoShape 222"/>
            <p:cNvSpPr>
              <a:spLocks noChangeArrowheads="1"/>
            </p:cNvSpPr>
            <p:nvPr/>
          </p:nvSpPr>
          <p:spPr bwMode="auto">
            <a:xfrm rot="6042606" flipV="1">
              <a:off x="1774" y="1460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2" name="AutoShape 223"/>
            <p:cNvSpPr>
              <a:spLocks noChangeArrowheads="1"/>
            </p:cNvSpPr>
            <p:nvPr/>
          </p:nvSpPr>
          <p:spPr bwMode="auto">
            <a:xfrm rot="5425129" flipV="1">
              <a:off x="2284" y="1551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3" name="AutoShape 224"/>
            <p:cNvSpPr>
              <a:spLocks noChangeArrowheads="1"/>
            </p:cNvSpPr>
            <p:nvPr/>
          </p:nvSpPr>
          <p:spPr bwMode="auto">
            <a:xfrm rot="5305128" flipV="1">
              <a:off x="2729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4" name="AutoShape 225"/>
            <p:cNvSpPr>
              <a:spLocks noChangeArrowheads="1"/>
            </p:cNvSpPr>
            <p:nvPr/>
          </p:nvSpPr>
          <p:spPr bwMode="auto">
            <a:xfrm rot="5350101" flipV="1">
              <a:off x="3113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62535" name="AutoShape 226"/>
            <p:cNvSpPr>
              <a:spLocks noChangeArrowheads="1"/>
            </p:cNvSpPr>
            <p:nvPr/>
          </p:nvSpPr>
          <p:spPr bwMode="auto">
            <a:xfrm rot="5350101" flipV="1">
              <a:off x="3545" y="1584"/>
              <a:ext cx="412" cy="205"/>
            </a:xfrm>
            <a:prstGeom prst="rightArrow">
              <a:avLst>
                <a:gd name="adj1" fmla="val 50000"/>
                <a:gd name="adj2" fmla="val 50244"/>
              </a:avLst>
            </a:prstGeom>
            <a:solidFill>
              <a:srgbClr val="FF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62475" name="AutoShape 227"/>
          <p:cNvSpPr>
            <a:spLocks noChangeArrowheads="1"/>
          </p:cNvSpPr>
          <p:nvPr/>
        </p:nvSpPr>
        <p:spPr bwMode="auto">
          <a:xfrm>
            <a:off x="1905000" y="3260726"/>
            <a:ext cx="6351588" cy="1006475"/>
          </a:xfrm>
          <a:prstGeom prst="rightArrow">
            <a:avLst>
              <a:gd name="adj1" fmla="val 73500"/>
              <a:gd name="adj2" fmla="val 93843"/>
            </a:avLst>
          </a:prstGeom>
          <a:solidFill>
            <a:srgbClr val="CCFFFF"/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4000">
                <a:solidFill>
                  <a:schemeClr val="tx2"/>
                </a:solidFill>
              </a:rPr>
              <a:t>Product pipeline</a:t>
            </a:r>
          </a:p>
        </p:txBody>
      </p:sp>
      <p:grpSp>
        <p:nvGrpSpPr>
          <p:cNvPr id="62476" name="Group 228"/>
          <p:cNvGrpSpPr>
            <a:grpSpLocks/>
          </p:cNvGrpSpPr>
          <p:nvPr/>
        </p:nvGrpSpPr>
        <p:grpSpPr bwMode="auto">
          <a:xfrm rot="-2261450">
            <a:off x="6210495" y="4142902"/>
            <a:ext cx="3797359" cy="4034721"/>
            <a:chOff x="2181" y="1183"/>
            <a:chExt cx="1419" cy="1966"/>
          </a:xfrm>
        </p:grpSpPr>
        <p:grpSp>
          <p:nvGrpSpPr>
            <p:cNvPr id="62477" name="Group 229"/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62514" name="Group 230"/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62520" name="Group 231"/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62526" name="Freeform 232"/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27" name="Freeform 233"/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62521" name="Group 234"/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62522" name="Freeform 235"/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23" name="Freeform 236"/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24" name="Freeform 237"/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25" name="Freeform 238"/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62515" name="Oval 239"/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grpSp>
            <p:nvGrpSpPr>
              <p:cNvPr id="62516" name="Group 240"/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62517" name="Oval 241"/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18" name="Oval 242"/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  <p:sp>
              <p:nvSpPr>
                <p:cNvPr id="62519" name="Oval 243"/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/>
                  <a:endParaRPr lang="pt-BR" altLang="pt-BR"/>
                </a:p>
              </p:txBody>
            </p:sp>
          </p:grpSp>
        </p:grpSp>
        <p:grpSp>
          <p:nvGrpSpPr>
            <p:cNvPr id="62478" name="Group 244"/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62479" name="Freeform 245"/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80" name="Arc 246"/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1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81" name="Arc 247"/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1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82" name="Freeform 248"/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83" name="Arc 249"/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84" name="Arc 250"/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1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62485" name="Group 251"/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62509" name="Group 252"/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62511" name="Arc 253"/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1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12" name="Arc 254"/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13" name="Arc 255"/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1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2510" name="Arc 256"/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1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2486" name="Group 257"/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62504" name="Group 258"/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62506" name="Arc 259"/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1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07" name="Arc 260"/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508" name="Arc 261"/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1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2505" name="Arc 262"/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1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2487" name="Group 263"/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62502" name="Arc 264"/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1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2503" name="Arc 265"/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2488" name="Group 266"/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62500" name="Arc 267"/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1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2501" name="Arc 268"/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1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2489" name="Group 269"/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62498" name="Line 270"/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2499" name="Line 271"/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62490" name="Group 272"/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62493" name="Group 273"/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62496" name="Arc 274"/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1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62497" name="Arc 275"/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62494" name="Arc 276"/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1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62495" name="Arc 277"/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1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62491" name="Freeform 278"/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2492" name="Oval 279"/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</p:spTree>
  </p:cSld>
  <p:clrMapOvr>
    <a:masterClrMapping/>
  </p:clrMapOvr>
  <p:transition>
    <p:check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Imagem 1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31750"/>
            <a:ext cx="8928100" cy="67945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88146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>
          <a:xfrm>
            <a:off x="2241654" y="737017"/>
            <a:ext cx="8128000" cy="706438"/>
          </a:xfrm>
        </p:spPr>
        <p:txBody>
          <a:bodyPr>
            <a:normAutofit fontScale="90000"/>
          </a:bodyPr>
          <a:lstStyle/>
          <a:p>
            <a:pPr algn="ctr"/>
            <a:r>
              <a:rPr lang="pt-BR" altLang="pt-BR" b="1"/>
              <a:t>ANÁLISAR O PORTFÓLIO DE PRODUTOS DA EMPRESA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altLang="pt-BR" sz="2400" u="sng" dirty="0"/>
              <a:t>Estudo de Portfólio de produtos da empresa</a:t>
            </a:r>
          </a:p>
          <a:p>
            <a:r>
              <a:rPr lang="pt-BR" altLang="pt-BR" sz="2400" dirty="0"/>
              <a:t>Portfólio de produtos é “</a:t>
            </a:r>
            <a:r>
              <a:rPr lang="pt-BR" altLang="pt-BR" sz="2400" b="1" dirty="0">
                <a:solidFill>
                  <a:srgbClr val="002060"/>
                </a:solidFill>
              </a:rPr>
              <a:t>carteira” de projetos de desenvolvimento que a empresa oferece</a:t>
            </a:r>
            <a:r>
              <a:rPr lang="pt-BR" altLang="pt-BR" sz="2400" dirty="0"/>
              <a:t>, o conjunto de produtos que a empresa está desenvolvendo ou que comercializa.</a:t>
            </a:r>
          </a:p>
          <a:p>
            <a:r>
              <a:rPr lang="pt-BR" altLang="pt-BR" sz="2400" dirty="0"/>
              <a:t>Sugestões (</a:t>
            </a:r>
            <a:r>
              <a:rPr lang="pt-BR" altLang="pt-BR" sz="2400" dirty="0" err="1"/>
              <a:t>Idéias</a:t>
            </a:r>
            <a:r>
              <a:rPr lang="pt-BR" altLang="pt-BR" sz="2400" dirty="0"/>
              <a:t>) mudanças e possíveis novos produtos.</a:t>
            </a:r>
          </a:p>
          <a:p>
            <a:r>
              <a:rPr lang="pt-BR" altLang="pt-BR" sz="2400" dirty="0"/>
              <a:t>Cada produto ou novo projeto de produto será visto como um negócio</a:t>
            </a:r>
          </a:p>
          <a:p>
            <a:r>
              <a:rPr lang="pt-BR" altLang="pt-BR" sz="2400" dirty="0"/>
              <a:t>Similar a um acionista que investe em uma carteira ou portfólios de ações, </a:t>
            </a:r>
            <a:r>
              <a:rPr lang="pt-BR" altLang="pt-BR" sz="2400" dirty="0">
                <a:solidFill>
                  <a:srgbClr val="FF0000"/>
                </a:solidFill>
              </a:rPr>
              <a:t>o objetivo principal do time de planejamento estratégico de </a:t>
            </a:r>
            <a:r>
              <a:rPr lang="pt-BR" altLang="pt-BR" sz="2400" u="sng" dirty="0">
                <a:solidFill>
                  <a:srgbClr val="FF0000"/>
                </a:solidFill>
              </a:rPr>
              <a:t>produtos escolher os projetos a serem desenvolvidos e produtos que devem permanecer no mercado.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>
          <a:xfrm>
            <a:off x="1223169" y="927309"/>
            <a:ext cx="8880567" cy="706438"/>
          </a:xfrm>
        </p:spPr>
        <p:txBody>
          <a:bodyPr>
            <a:noAutofit/>
          </a:bodyPr>
          <a:lstStyle/>
          <a:p>
            <a:r>
              <a:rPr lang="pt-BR" altLang="pt-BR" sz="2400" b="1" dirty="0">
                <a:solidFill>
                  <a:srgbClr val="002060"/>
                </a:solidFill>
              </a:rPr>
              <a:t>Gestão de Portfólio ou Carteiras de Projetos</a:t>
            </a:r>
          </a:p>
        </p:txBody>
      </p:sp>
      <p:sp>
        <p:nvSpPr>
          <p:cNvPr id="21507" name="Espaço Reservado para Conteúdo 2"/>
          <p:cNvSpPr>
            <a:spLocks noGrp="1"/>
          </p:cNvSpPr>
          <p:nvPr>
            <p:ph idx="1"/>
          </p:nvPr>
        </p:nvSpPr>
        <p:spPr>
          <a:xfrm>
            <a:off x="638553" y="1633747"/>
            <a:ext cx="10469159" cy="44670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pt-BR" altLang="pt-BR" sz="2400" dirty="0"/>
              <a:t>Seu resultado é uma decisão sobre cada projeto de produto ou produto da empresa: </a:t>
            </a:r>
          </a:p>
          <a:p>
            <a:pPr lvl="1">
              <a:lnSpc>
                <a:spcPct val="150000"/>
              </a:lnSpc>
            </a:pPr>
            <a:r>
              <a:rPr lang="pt-BR" altLang="pt-BR" b="1" dirty="0">
                <a:solidFill>
                  <a:srgbClr val="002060"/>
                </a:solidFill>
              </a:rPr>
              <a:t>CRIAR</a:t>
            </a:r>
            <a:r>
              <a:rPr lang="pt-BR" altLang="pt-BR" dirty="0">
                <a:solidFill>
                  <a:srgbClr val="002060"/>
                </a:solidFill>
              </a:rPr>
              <a:t> </a:t>
            </a:r>
            <a:r>
              <a:rPr lang="pt-BR" altLang="pt-BR" dirty="0"/>
              <a:t>novo projeto</a:t>
            </a:r>
          </a:p>
          <a:p>
            <a:pPr lvl="1">
              <a:lnSpc>
                <a:spcPct val="150000"/>
              </a:lnSpc>
            </a:pPr>
            <a:r>
              <a:rPr lang="pt-BR" altLang="pt-BR" b="1" dirty="0">
                <a:solidFill>
                  <a:srgbClr val="002060"/>
                </a:solidFill>
              </a:rPr>
              <a:t>APROVAR</a:t>
            </a:r>
            <a:r>
              <a:rPr lang="pt-BR" altLang="pt-BR" b="1" dirty="0"/>
              <a:t> </a:t>
            </a:r>
            <a:r>
              <a:rPr lang="pt-BR" altLang="pt-BR" dirty="0"/>
              <a:t>o projeto de desenvolvimento, na forma como está atualmente,</a:t>
            </a:r>
          </a:p>
          <a:p>
            <a:pPr lvl="1">
              <a:lnSpc>
                <a:spcPct val="150000"/>
              </a:lnSpc>
            </a:pPr>
            <a:r>
              <a:rPr lang="pt-BR" altLang="pt-BR" b="1" dirty="0">
                <a:solidFill>
                  <a:srgbClr val="002060"/>
                </a:solidFill>
              </a:rPr>
              <a:t>REDIRECIONAR</a:t>
            </a:r>
            <a:r>
              <a:rPr lang="pt-BR" altLang="pt-BR" dirty="0"/>
              <a:t> – Mudança significativa no escopo do projeto</a:t>
            </a:r>
          </a:p>
          <a:p>
            <a:pPr lvl="1">
              <a:lnSpc>
                <a:spcPct val="150000"/>
              </a:lnSpc>
            </a:pPr>
            <a:r>
              <a:rPr lang="pt-BR" altLang="pt-BR" b="1" dirty="0"/>
              <a:t>CONGELAR</a:t>
            </a:r>
            <a:r>
              <a:rPr lang="pt-BR" altLang="pt-BR" dirty="0"/>
              <a:t> – suspender o projeto até que ele possa ser retomado no futuro, do ponto em que se encontra.</a:t>
            </a:r>
          </a:p>
          <a:p>
            <a:pPr lvl="1">
              <a:lnSpc>
                <a:spcPct val="150000"/>
              </a:lnSpc>
            </a:pPr>
            <a:r>
              <a:rPr lang="pt-BR" altLang="pt-BR" dirty="0"/>
              <a:t>CANCELAR- Abandonar ou matar um projeto. 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736892" y="619412"/>
            <a:ext cx="6028543" cy="519841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r>
              <a:rPr lang="pt-BR" sz="2800" b="1" kern="0" dirty="0">
                <a:solidFill>
                  <a:srgbClr val="000096"/>
                </a:solidFill>
                <a:latin typeface="Calibri" pitchFamily="34" charset="0"/>
                <a:ea typeface="+mj-ea"/>
                <a:cs typeface="+mj-cs"/>
              </a:rPr>
              <a:t>DECISÕES ESTRATÉGICAS DE PRODUTO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764499" y="1600201"/>
            <a:ext cx="11257612" cy="4525963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pt-BR" sz="2400" kern="0" dirty="0">
                <a:latin typeface="Tahoma" pitchFamily="34" charset="0"/>
              </a:rPr>
              <a:t>Estágios do Ciclo de Vida do Produto Comercial</a:t>
            </a:r>
          </a:p>
          <a:p>
            <a:pPr marL="342900" indent="-342900" eaLnBrk="0" hangingPunct="0">
              <a:spcBef>
                <a:spcPct val="20000"/>
              </a:spcBef>
              <a:defRPr/>
            </a:pPr>
            <a:endParaRPr lang="pt-BR" sz="2400" kern="0" dirty="0">
              <a:latin typeface="Tahoma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Introdução;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Crescimento;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Maturidade;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Tahoma" pitchFamily="34" charset="0"/>
              </a:rPr>
              <a:t>Declínio.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endParaRPr lang="pt-BR" sz="2400" kern="0" dirty="0"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667" y="1220199"/>
            <a:ext cx="10607040" cy="4069080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3600">
                <a:latin typeface="Tahoma" charset="0"/>
              </a:rPr>
              <a:t>Representação gráfica do Ciclo de Vida do Produto</a:t>
            </a:r>
          </a:p>
          <a:p>
            <a:pPr algn="ctr">
              <a:buFontTx/>
              <a:buNone/>
            </a:pPr>
            <a:endParaRPr lang="pt-BR" altLang="pt-BR" dirty="0">
              <a:latin typeface="Tahoma" charset="0"/>
            </a:endParaRPr>
          </a:p>
          <a:p>
            <a:pPr>
              <a:buFontTx/>
              <a:buNone/>
            </a:pPr>
            <a:endParaRPr lang="pt-BR" altLang="pt-BR" dirty="0">
              <a:latin typeface="Tahoma" charset="0"/>
            </a:endParaRPr>
          </a:p>
          <a:p>
            <a:pPr>
              <a:buFontTx/>
              <a:buNone/>
            </a:pPr>
            <a:endParaRPr lang="pt-BR" altLang="pt-BR" dirty="0">
              <a:latin typeface="Tahoma" charset="0"/>
            </a:endParaRPr>
          </a:p>
        </p:txBody>
      </p:sp>
      <p:pic>
        <p:nvPicPr>
          <p:cNvPr id="34819" name="Picture 4" descr="figura 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49" y="1983958"/>
            <a:ext cx="7151557" cy="4249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6F018C7-49A0-634B-B0A3-5C27EC6E89BE}"/>
              </a:ext>
            </a:extLst>
          </p:cNvPr>
          <p:cNvSpPr txBox="1"/>
          <p:nvPr/>
        </p:nvSpPr>
        <p:spPr>
          <a:xfrm>
            <a:off x="8529403" y="2503357"/>
            <a:ext cx="3057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FF0000"/>
                </a:solidFill>
              </a:rPr>
              <a:t>VIDEO 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433639" y="401638"/>
            <a:ext cx="7793037" cy="2201862"/>
          </a:xfrm>
          <a:prstGeom prst="rect">
            <a:avLst/>
          </a:prstGeom>
        </p:spPr>
        <p:txBody>
          <a:bodyPr/>
          <a:lstStyle/>
          <a:p>
            <a:pPr algn="l" eaLnBrk="0" hangingPunct="0">
              <a:defRPr/>
            </a:pPr>
            <a:br>
              <a:rPr lang="pt-BR" sz="36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</a:br>
            <a:r>
              <a:rPr lang="pt-BR" sz="36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 Idéias de Novos Produtos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1739900" y="2433639"/>
            <a:ext cx="4033838" cy="3476625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pt-BR" sz="2800" b="1" kern="0" dirty="0"/>
              <a:t>Métodos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Espontâneo;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Formal e sistemático;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Pesquisa;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Observação;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Questionários;</a:t>
            </a:r>
          </a:p>
          <a:p>
            <a:pPr marL="342900" indent="-342900" eaLnBrk="0" hangingPunct="0"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Entrevistas.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5935664" y="2349501"/>
            <a:ext cx="4033837" cy="3560763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defRPr/>
            </a:pPr>
            <a:r>
              <a:rPr lang="pt-BR" sz="2800" b="1" kern="0" dirty="0"/>
              <a:t>Fontes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Jornais, revistas, rádio e TV;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Relatórios;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Seminários e encontros;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Estatísticas;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Clientes e clientes potenciais;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kern="0" dirty="0"/>
              <a:t>Fornecedores.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ChangeArrowheads="1"/>
          </p:cNvSpPr>
          <p:nvPr/>
        </p:nvSpPr>
        <p:spPr bwMode="auto">
          <a:xfrm>
            <a:off x="2807678" y="1594339"/>
            <a:ext cx="1814513" cy="92868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 b="1">
                <a:solidFill>
                  <a:srgbClr val="000000"/>
                </a:solidFill>
              </a:rPr>
              <a:t>Planejamento Estratégico de Produtos</a:t>
            </a:r>
            <a:endParaRPr lang="pt-BR" altLang="pt-BR" sz="1800" b="1">
              <a:solidFill>
                <a:srgbClr val="000000"/>
              </a:solidFill>
            </a:endParaRPr>
          </a:p>
        </p:txBody>
      </p:sp>
      <p:sp>
        <p:nvSpPr>
          <p:cNvPr id="52227" name="AutoShape 3"/>
          <p:cNvSpPr>
            <a:spLocks noChangeArrowheads="1"/>
          </p:cNvSpPr>
          <p:nvPr/>
        </p:nvSpPr>
        <p:spPr bwMode="auto">
          <a:xfrm rot="10800000">
            <a:off x="4418991" y="3431968"/>
            <a:ext cx="1806574" cy="754877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28" name="AutoShape 4"/>
          <p:cNvSpPr>
            <a:spLocks noChangeArrowheads="1"/>
          </p:cNvSpPr>
          <p:nvPr/>
        </p:nvSpPr>
        <p:spPr bwMode="auto">
          <a:xfrm rot="187049">
            <a:off x="4602001" y="1432731"/>
            <a:ext cx="1631502" cy="922583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3590913" y="832338"/>
            <a:ext cx="3623197" cy="166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5000"/>
              </a:spcBef>
            </a:pP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Portfólio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Produtos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(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Atual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)</a:t>
            </a:r>
          </a:p>
        </p:txBody>
      </p:sp>
      <p:sp>
        <p:nvSpPr>
          <p:cNvPr id="52230" name="Freeform 6"/>
          <p:cNvSpPr>
            <a:spLocks/>
          </p:cNvSpPr>
          <p:nvPr/>
        </p:nvSpPr>
        <p:spPr bwMode="auto">
          <a:xfrm>
            <a:off x="5968390" y="651365"/>
            <a:ext cx="5612280" cy="4813678"/>
          </a:xfrm>
          <a:custGeom>
            <a:avLst/>
            <a:gdLst>
              <a:gd name="T0" fmla="*/ 0 w 2785"/>
              <a:gd name="T1" fmla="*/ 1739635 h 2424"/>
              <a:gd name="T2" fmla="*/ 1422633 w 2785"/>
              <a:gd name="T3" fmla="*/ 0 h 2424"/>
              <a:gd name="T4" fmla="*/ 5514187 w 2785"/>
              <a:gd name="T5" fmla="*/ 0 h 2424"/>
              <a:gd name="T6" fmla="*/ 5518150 w 2785"/>
              <a:gd name="T7" fmla="*/ 4161346 h 2424"/>
              <a:gd name="T8" fmla="*/ 1466223 w 2785"/>
              <a:gd name="T9" fmla="*/ 4175125 h 2424"/>
              <a:gd name="T10" fmla="*/ 19814 w 2785"/>
              <a:gd name="T11" fmla="*/ 2306309 h 24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785"/>
              <a:gd name="T19" fmla="*/ 0 h 2424"/>
              <a:gd name="T20" fmla="*/ 2785 w 2785"/>
              <a:gd name="T21" fmla="*/ 2424 h 24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785" h="2424">
                <a:moveTo>
                  <a:pt x="0" y="1010"/>
                </a:moveTo>
                <a:lnTo>
                  <a:pt x="718" y="0"/>
                </a:lnTo>
                <a:lnTo>
                  <a:pt x="2783" y="0"/>
                </a:lnTo>
                <a:lnTo>
                  <a:pt x="2785" y="2416"/>
                </a:lnTo>
                <a:lnTo>
                  <a:pt x="740" y="2424"/>
                </a:lnTo>
                <a:lnTo>
                  <a:pt x="10" y="1339"/>
                </a:lnTo>
              </a:path>
            </a:pathLst>
          </a:custGeom>
          <a:solidFill>
            <a:srgbClr val="EAEAEA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 wrap="square" lIns="72000" tIns="0" rIns="72000" bIns="0" anchor="ctr">
            <a:spAutoFit/>
          </a:bodyPr>
          <a:lstStyle/>
          <a:p>
            <a:endParaRPr lang="pt-BR"/>
          </a:p>
        </p:txBody>
      </p:sp>
      <p:sp>
        <p:nvSpPr>
          <p:cNvPr id="52231" name="Text Box 7"/>
          <p:cNvSpPr txBox="1">
            <a:spLocks noChangeArrowheads="1"/>
          </p:cNvSpPr>
          <p:nvPr/>
        </p:nvSpPr>
        <p:spPr bwMode="auto">
          <a:xfrm>
            <a:off x="7757503" y="651364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produtos a serem descontinuados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2" name="Text Box 8"/>
          <p:cNvSpPr txBox="1">
            <a:spLocks noChangeArrowheads="1"/>
          </p:cNvSpPr>
          <p:nvPr/>
        </p:nvSpPr>
        <p:spPr bwMode="auto">
          <a:xfrm>
            <a:off x="7757503" y="3061189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Preparar as minuttas para cada um dos novos projetos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3" name="Text Box 9"/>
          <p:cNvSpPr txBox="1">
            <a:spLocks noChangeArrowheads="1"/>
          </p:cNvSpPr>
          <p:nvPr/>
        </p:nvSpPr>
        <p:spPr bwMode="auto">
          <a:xfrm>
            <a:off x="7757503" y="4140689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Consolidar o novo portfólio de produtos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34" name="Text Box 10"/>
          <p:cNvSpPr txBox="1">
            <a:spLocks noChangeArrowheads="1"/>
          </p:cNvSpPr>
          <p:nvPr/>
        </p:nvSpPr>
        <p:spPr bwMode="auto">
          <a:xfrm>
            <a:off x="4418991" y="2269028"/>
            <a:ext cx="1806575" cy="112712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solidFill>
                  <a:srgbClr val="000000"/>
                </a:solidFill>
                <a:ea typeface="Times New Roman" charset="0"/>
                <a:cs typeface="Times New Roman" charset="0"/>
              </a:rPr>
              <a:t>Propor mudanças no portfólio de produtos</a:t>
            </a:r>
            <a:endParaRPr lang="pt-BR" altLang="pt-BR" sz="180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35" name="Text Box 11"/>
          <p:cNvSpPr txBox="1">
            <a:spLocks noChangeArrowheads="1"/>
          </p:cNvSpPr>
          <p:nvPr/>
        </p:nvSpPr>
        <p:spPr bwMode="auto">
          <a:xfrm>
            <a:off x="3341078" y="4185140"/>
            <a:ext cx="39846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Portfólio</a:t>
            </a:r>
            <a:r>
              <a:rPr lang="en-US" altLang="pt-BR" sz="20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Produtos</a:t>
            </a:r>
            <a:endParaRPr lang="en-US" altLang="pt-BR" sz="20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Minuta</a:t>
            </a:r>
            <a:r>
              <a:rPr lang="en-US" altLang="pt-BR" sz="20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20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Projeto</a:t>
            </a:r>
            <a:endParaRPr lang="en-US" altLang="pt-BR" sz="20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grpSp>
        <p:nvGrpSpPr>
          <p:cNvPr id="52236" name="Group 12"/>
          <p:cNvGrpSpPr>
            <a:grpSpLocks/>
          </p:cNvGrpSpPr>
          <p:nvPr/>
        </p:nvGrpSpPr>
        <p:grpSpPr bwMode="auto">
          <a:xfrm>
            <a:off x="7616790" y="4915388"/>
            <a:ext cx="3718938" cy="1167617"/>
            <a:chOff x="2365" y="2976"/>
            <a:chExt cx="1880" cy="630"/>
          </a:xfrm>
        </p:grpSpPr>
        <p:sp>
          <p:nvSpPr>
            <p:cNvPr id="52245" name="Text Box 14"/>
            <p:cNvSpPr txBox="1">
              <a:spLocks noChangeArrowheads="1"/>
            </p:cNvSpPr>
            <p:nvPr/>
          </p:nvSpPr>
          <p:spPr bwMode="auto">
            <a:xfrm>
              <a:off x="2475" y="3446"/>
              <a:ext cx="173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2000" tIns="0" rIns="7200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lnSpc>
                  <a:spcPct val="110000"/>
                </a:lnSpc>
              </a:pPr>
              <a:r>
                <a:rPr lang="en-US" altLang="pt-BR" sz="1800">
                  <a:solidFill>
                    <a:srgbClr val="000000"/>
                  </a:solidFill>
                  <a:ea typeface="Times New Roman" charset="0"/>
                  <a:cs typeface="Times New Roman" charset="0"/>
                </a:rPr>
                <a:t>Técnicas de Gestão de Portfólio</a:t>
              </a:r>
            </a:p>
          </p:txBody>
        </p:sp>
        <p:sp>
          <p:nvSpPr>
            <p:cNvPr id="256015" name="Text Box 15"/>
            <p:cNvSpPr txBox="1">
              <a:spLocks noChangeArrowheads="1"/>
            </p:cNvSpPr>
            <p:nvPr/>
          </p:nvSpPr>
          <p:spPr bwMode="auto">
            <a:xfrm>
              <a:off x="2365" y="2976"/>
              <a:ext cx="1880" cy="289"/>
            </a:xfrm>
            <a:prstGeom prst="rect">
              <a:avLst/>
            </a:prstGeom>
            <a:solidFill>
              <a:srgbClr val="FF3300"/>
            </a:solidFill>
            <a:ln w="12700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lIns="72000" tIns="0" rIns="72000" bIns="0">
              <a:spAutoFit/>
            </a:bodyPr>
            <a:lstStyle/>
            <a:p>
              <a:pPr>
                <a:defRPr/>
              </a:pPr>
              <a:r>
                <a:rPr lang="pt-BR">
                  <a:solidFill>
                    <a:schemeClr val="bg1"/>
                  </a:solidFill>
                </a:rPr>
                <a:t>Métodos, ferramentas, documentos de apoio</a:t>
              </a:r>
            </a:p>
          </p:txBody>
        </p:sp>
      </p:grpSp>
      <p:sp>
        <p:nvSpPr>
          <p:cNvPr id="256017" name="Text Box 17"/>
          <p:cNvSpPr txBox="1">
            <a:spLocks noChangeArrowheads="1"/>
          </p:cNvSpPr>
          <p:nvPr/>
        </p:nvSpPr>
        <p:spPr bwMode="auto">
          <a:xfrm>
            <a:off x="3280752" y="5365349"/>
            <a:ext cx="3724275" cy="274638"/>
          </a:xfrm>
          <a:prstGeom prst="rect">
            <a:avLst/>
          </a:prstGeom>
          <a:solidFill>
            <a:srgbClr val="FF3300"/>
          </a:solidFill>
          <a:ln w="12700">
            <a:noFill/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72000" tIns="0" rIns="72000" bIns="0">
            <a:spAutoFit/>
          </a:bodyPr>
          <a:lstStyle/>
          <a:p>
            <a:pPr>
              <a:defRPr/>
            </a:pPr>
            <a:r>
              <a:rPr lang="pt-BR">
                <a:solidFill>
                  <a:schemeClr val="bg1"/>
                </a:solidFill>
              </a:rPr>
              <a:t>Relação com outras atividades</a:t>
            </a:r>
          </a:p>
        </p:txBody>
      </p:sp>
      <p:sp>
        <p:nvSpPr>
          <p:cNvPr id="52239" name="Text Box 18"/>
          <p:cNvSpPr txBox="1">
            <a:spLocks noChangeArrowheads="1"/>
          </p:cNvSpPr>
          <p:nvPr/>
        </p:nvSpPr>
        <p:spPr bwMode="auto">
          <a:xfrm>
            <a:off x="3401402" y="5949117"/>
            <a:ext cx="3603625" cy="4308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400">
                <a:solidFill>
                  <a:srgbClr val="000000"/>
                </a:solidFill>
                <a:ea typeface="Times New Roman" charset="0"/>
                <a:cs typeface="Times New Roman" charset="0"/>
              </a:rPr>
              <a:t>Verificar a viabilidade do portfólio de produtos</a:t>
            </a:r>
            <a:endParaRPr lang="pt-BR" altLang="pt-BR" sz="140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0" name="Rectangle 19"/>
          <p:cNvSpPr>
            <a:spLocks noChangeArrowheads="1"/>
          </p:cNvSpPr>
          <p:nvPr/>
        </p:nvSpPr>
        <p:spPr bwMode="auto">
          <a:xfrm>
            <a:off x="4418990" y="1211283"/>
            <a:ext cx="3200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60000"/>
              </a:lnSpc>
              <a:spcBef>
                <a:spcPct val="55000"/>
              </a:spcBef>
            </a:pPr>
            <a:r>
              <a:rPr lang="en-US" altLang="pt-BR" sz="1800">
                <a:solidFill>
                  <a:srgbClr val="000000"/>
                </a:solidFill>
                <a:ea typeface="Times New Roman" charset="0"/>
                <a:cs typeface="Times New Roman" charset="0"/>
              </a:rPr>
              <a:t>Lista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idéias</a:t>
            </a:r>
            <a:endParaRPr lang="pt-BR" altLang="pt-BR" sz="18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1" name="Rectangle 20"/>
          <p:cNvSpPr>
            <a:spLocks noChangeArrowheads="1"/>
          </p:cNvSpPr>
          <p:nvPr/>
        </p:nvSpPr>
        <p:spPr bwMode="auto">
          <a:xfrm>
            <a:off x="7836877" y="6242539"/>
            <a:ext cx="34988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Técnicas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Gestão</a:t>
            </a:r>
            <a:r>
              <a:rPr lang="en-US" altLang="pt-BR" sz="1800" dirty="0">
                <a:solidFill>
                  <a:srgbClr val="000000"/>
                </a:solidFill>
                <a:ea typeface="Times New Roman" charset="0"/>
                <a:cs typeface="Times New Roman" charset="0"/>
              </a:rPr>
              <a:t> de </a:t>
            </a:r>
            <a:r>
              <a:rPr lang="en-US" altLang="pt-BR" sz="1800" dirty="0" err="1">
                <a:solidFill>
                  <a:srgbClr val="000000"/>
                </a:solidFill>
                <a:ea typeface="Times New Roman" charset="0"/>
                <a:cs typeface="Times New Roman" charset="0"/>
              </a:rPr>
              <a:t>Projetos</a:t>
            </a:r>
            <a:endParaRPr lang="pt-BR" altLang="pt-BR" sz="1800" dirty="0">
              <a:solidFill>
                <a:srgbClr val="000000"/>
              </a:solidFill>
              <a:ea typeface="Times New Roman" charset="0"/>
              <a:cs typeface="Times New Roman" charset="0"/>
            </a:endParaRPr>
          </a:p>
        </p:txBody>
      </p:sp>
      <p:sp>
        <p:nvSpPr>
          <p:cNvPr id="52242" name="Text Box 21"/>
          <p:cNvSpPr txBox="1">
            <a:spLocks noChangeArrowheads="1"/>
          </p:cNvSpPr>
          <p:nvPr/>
        </p:nvSpPr>
        <p:spPr bwMode="auto">
          <a:xfrm>
            <a:off x="7757503" y="1454639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projetos a serem abandonados e congelados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  <p:sp>
        <p:nvSpPr>
          <p:cNvPr id="52243" name="Text Box 22"/>
          <p:cNvSpPr txBox="1">
            <a:spLocks noChangeArrowheads="1"/>
          </p:cNvSpPr>
          <p:nvPr/>
        </p:nvSpPr>
        <p:spPr bwMode="auto">
          <a:xfrm>
            <a:off x="7757503" y="2257914"/>
            <a:ext cx="3279775" cy="55399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72000" tIns="0" rIns="7200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pt-BR" sz="1800">
                <a:ea typeface="Times New Roman" charset="0"/>
                <a:cs typeface="Times New Roman" charset="0"/>
              </a:rPr>
              <a:t>Identificar os novos projetos que deverão ser iniciados</a:t>
            </a:r>
            <a:endParaRPr lang="pt-BR" altLang="pt-BR" sz="1800"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05659" y="239717"/>
            <a:ext cx="8503920" cy="1293028"/>
          </a:xfrm>
        </p:spPr>
        <p:txBody>
          <a:bodyPr/>
          <a:lstStyle/>
          <a:p>
            <a:r>
              <a:rPr lang="pt-BR" altLang="pt-BR" b="1"/>
              <a:t>Minuta do Projeto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61763" y="1933731"/>
            <a:ext cx="9935693" cy="3964899"/>
          </a:xfrm>
        </p:spPr>
        <p:txBody>
          <a:bodyPr/>
          <a:lstStyle/>
          <a:p>
            <a:pPr>
              <a:spcBef>
                <a:spcPct val="65000"/>
              </a:spcBef>
            </a:pPr>
            <a:r>
              <a:rPr lang="pt-BR" altLang="pt-BR" dirty="0"/>
              <a:t>Segundo a teoria de Gestão de Projetos, a Minuta do projeto (</a:t>
            </a:r>
            <a:r>
              <a:rPr lang="pt-BR" altLang="pt-BR" i="1" dirty="0"/>
              <a:t>Project Charter</a:t>
            </a:r>
            <a:r>
              <a:rPr lang="pt-BR" altLang="pt-BR" dirty="0"/>
              <a:t>) é um anúncio único que autoriza formalmente o início do projeto.</a:t>
            </a:r>
          </a:p>
          <a:p>
            <a:pPr>
              <a:spcBef>
                <a:spcPct val="65000"/>
              </a:spcBef>
            </a:pPr>
            <a:r>
              <a:rPr lang="pt-BR" altLang="pt-BR" dirty="0"/>
              <a:t>No caso do desenvolvimento de produtos, muitas ideais podem ser sugeridas. Para as mais promissoras produzem-se as minutas que serão analisadas e, uma vez aprovadas na sistemática de avaliação de portfolio, serão desenvolvidas.</a:t>
            </a:r>
          </a:p>
          <a:p>
            <a:pPr>
              <a:spcBef>
                <a:spcPct val="65000"/>
              </a:spcBef>
            </a:pPr>
            <a:r>
              <a:rPr lang="pt-BR" altLang="pt-BR" dirty="0"/>
              <a:t>A Minuta traz a primeira definição do produto a ser desenvolvida, a qual será continuamente detalhada e desenvolvida até o fim do processo de desenvolvimento.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sz="quarter" idx="10"/>
          </p:nvPr>
        </p:nvSpPr>
        <p:spPr>
          <a:xfrm>
            <a:off x="334434" y="1484026"/>
            <a:ext cx="11523133" cy="4825758"/>
          </a:xfrm>
        </p:spPr>
        <p:txBody>
          <a:bodyPr>
            <a:normAutofit/>
          </a:bodyPr>
          <a:lstStyle/>
          <a:p>
            <a:r>
              <a:rPr lang="pt-BR" sz="2000" dirty="0">
                <a:hlinkClick r:id="rId2"/>
              </a:rPr>
              <a:t>http://canvabrasil.blogspot.com.br/p/meu-primeiro-modelo-de-negocios-canvas.html</a:t>
            </a:r>
            <a:r>
              <a:rPr lang="pt-BR" sz="3200" dirty="0"/>
              <a:t>.</a:t>
            </a:r>
          </a:p>
          <a:p>
            <a:r>
              <a:rPr lang="pt-BR" sz="3200" dirty="0" err="1"/>
              <a:t>http</a:t>
            </a:r>
            <a:r>
              <a:rPr lang="pt-BR" sz="3200" dirty="0"/>
              <a:t>://</a:t>
            </a:r>
            <a:r>
              <a:rPr lang="pt-BR" sz="3200" dirty="0" err="1"/>
              <a:t>www.romanpichler.com</a:t>
            </a:r>
            <a:r>
              <a:rPr lang="pt-BR" sz="3200" dirty="0"/>
              <a:t>/tools/</a:t>
            </a:r>
            <a:r>
              <a:rPr lang="pt-BR" sz="3200" dirty="0" err="1"/>
              <a:t>product-canvas</a:t>
            </a:r>
            <a:r>
              <a:rPr lang="pt-BR" sz="32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503967857"/>
      </p:ext>
    </p:extLst>
  </p:cSld>
  <p:clrMapOvr>
    <a:masterClrMapping/>
  </p:clrMapOvr>
</p:sld>
</file>

<file path=ppt/theme/theme1.xml><?xml version="1.0" encoding="utf-8"?>
<a:theme xmlns:a="http://schemas.openxmlformats.org/drawingml/2006/main" name="Trilha de Vapor">
  <a:themeElements>
    <a:clrScheme name="Trilha de Vapor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Trilha de Vapor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rilha de Vapor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B14309-8521-4B18-A4A8-C5D124F7605B}">
  <ds:schemaRefs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0616edac-8b85-431d-b1bb-a5cc9cdccc91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3E01C39-4CAD-4FCD-8650-1EE904A9DF14}"/>
</file>

<file path=customXml/itemProps3.xml><?xml version="1.0" encoding="utf-8"?>
<ds:datastoreItem xmlns:ds="http://schemas.openxmlformats.org/officeDocument/2006/customXml" ds:itemID="{97017A4E-BEBB-4F42-B40E-31BE401100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Colaboração trabalho em equipe</Template>
  <TotalTime>1841</TotalTime>
  <Words>863</Words>
  <Application>Microsoft Macintosh PowerPoint</Application>
  <PresentationFormat>Widescreen</PresentationFormat>
  <Paragraphs>147</Paragraphs>
  <Slides>22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Century Gothic</vt:lpstr>
      <vt:lpstr>Tahoma</vt:lpstr>
      <vt:lpstr>Times New Roman</vt:lpstr>
      <vt:lpstr>Wingdings 2</vt:lpstr>
      <vt:lpstr>Trilha de Vapor</vt:lpstr>
      <vt:lpstr>Universidade de Brasília  Faculdade de Tecnologia  Departamento de Engenharia de Produção Disciplina: Engenharia de Produto   Profa. Andréa Santos </vt:lpstr>
      <vt:lpstr>Apresentação do PowerPoint</vt:lpstr>
      <vt:lpstr>Objetivos do capítulo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Informações e dependências da fase de Planejamento Estratégico de Produtos</vt:lpstr>
      <vt:lpstr>Elementos da Estratégia de Produto </vt:lpstr>
      <vt:lpstr>Apresentação do PowerPoint</vt:lpstr>
      <vt:lpstr>Elementos da Estratégia de Produto </vt:lpstr>
      <vt:lpstr>Apresentação do PowerPoint</vt:lpstr>
      <vt:lpstr>ANÁLISAR O PORTFÓLIO DE PRODUTOS DA EMPRESA</vt:lpstr>
      <vt:lpstr>Gestão de Portfólio ou Carteiras de Projetos</vt:lpstr>
      <vt:lpstr>Apresentação do PowerPoint</vt:lpstr>
      <vt:lpstr>Apresentação do PowerPoint</vt:lpstr>
      <vt:lpstr>Apresentação do PowerPoint</vt:lpstr>
      <vt:lpstr>Apresentação do PowerPoint</vt:lpstr>
      <vt:lpstr>Minuta do Projeto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 Faculdade de Tecnologia  Departamento de Engenharia de Produção Disciplina: Engenharia de Produto   Profa. Andréa Santos </dc:title>
  <dc:creator>Andrea Cristina dos Santos</dc:creator>
  <cp:lastModifiedBy>Andrea Cristina dos Santos</cp:lastModifiedBy>
  <cp:revision>55</cp:revision>
  <dcterms:created xsi:type="dcterms:W3CDTF">2015-08-09T19:14:35Z</dcterms:created>
  <dcterms:modified xsi:type="dcterms:W3CDTF">2024-04-08T16:46:34Z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