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41"/>
  </p:notesMasterIdLst>
  <p:handoutMasterIdLst>
    <p:handoutMasterId r:id="rId42"/>
  </p:handoutMasterIdLst>
  <p:sldIdLst>
    <p:sldId id="558" r:id="rId5"/>
    <p:sldId id="318" r:id="rId6"/>
    <p:sldId id="496" r:id="rId7"/>
    <p:sldId id="463" r:id="rId8"/>
    <p:sldId id="479" r:id="rId9"/>
    <p:sldId id="480" r:id="rId10"/>
    <p:sldId id="498" r:id="rId11"/>
    <p:sldId id="500" r:id="rId12"/>
    <p:sldId id="484" r:id="rId13"/>
    <p:sldId id="485" r:id="rId14"/>
    <p:sldId id="486" r:id="rId15"/>
    <p:sldId id="501" r:id="rId16"/>
    <p:sldId id="502" r:id="rId17"/>
    <p:sldId id="503" r:id="rId18"/>
    <p:sldId id="471" r:id="rId19"/>
    <p:sldId id="487" r:id="rId20"/>
    <p:sldId id="491" r:id="rId21"/>
    <p:sldId id="492" r:id="rId22"/>
    <p:sldId id="493" r:id="rId23"/>
    <p:sldId id="494" r:id="rId24"/>
    <p:sldId id="495" r:id="rId25"/>
    <p:sldId id="475" r:id="rId26"/>
    <p:sldId id="477" r:id="rId27"/>
    <p:sldId id="472" r:id="rId28"/>
    <p:sldId id="510" r:id="rId29"/>
    <p:sldId id="511" r:id="rId30"/>
    <p:sldId id="512" r:id="rId31"/>
    <p:sldId id="514" r:id="rId32"/>
    <p:sldId id="515" r:id="rId33"/>
    <p:sldId id="513" r:id="rId34"/>
    <p:sldId id="516" r:id="rId35"/>
    <p:sldId id="517" r:id="rId36"/>
    <p:sldId id="518" r:id="rId37"/>
    <p:sldId id="519" r:id="rId38"/>
    <p:sldId id="520" r:id="rId39"/>
    <p:sldId id="366" r:id="rId4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20828" autoAdjust="0"/>
    <p:restoredTop sz="89329" autoAdjust="0"/>
  </p:normalViewPr>
  <p:slideViewPr>
    <p:cSldViewPr>
      <p:cViewPr varScale="1">
        <p:scale>
          <a:sx n="93" d="100"/>
          <a:sy n="93" d="100"/>
        </p:scale>
        <p:origin x="157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Santos" userId="c1f965dc-8845-4afc-9e32-8f70830fffd6" providerId="ADAL" clId="{E5F94FF3-8E28-AE4F-99DE-C8391B0D1262}"/>
    <pc:docChg chg="delSld">
      <pc:chgData name=" Santos" userId="c1f965dc-8845-4afc-9e32-8f70830fffd6" providerId="ADAL" clId="{E5F94FF3-8E28-AE4F-99DE-C8391B0D1262}" dt="2022-02-16T21:45:09.308" v="4" actId="2696"/>
      <pc:docMkLst>
        <pc:docMk/>
      </pc:docMkLst>
      <pc:sldChg chg="del">
        <pc:chgData name=" Santos" userId="c1f965dc-8845-4afc-9e32-8f70830fffd6" providerId="ADAL" clId="{E5F94FF3-8E28-AE4F-99DE-C8391B0D1262}" dt="2022-02-16T21:45:09.308" v="4" actId="2696"/>
        <pc:sldMkLst>
          <pc:docMk/>
          <pc:sldMk cId="0" sldId="504"/>
        </pc:sldMkLst>
      </pc:sldChg>
      <pc:sldChg chg="del">
        <pc:chgData name=" Santos" userId="c1f965dc-8845-4afc-9e32-8f70830fffd6" providerId="ADAL" clId="{E5F94FF3-8E28-AE4F-99DE-C8391B0D1262}" dt="2022-02-16T21:45:01.458" v="0" actId="2696"/>
        <pc:sldMkLst>
          <pc:docMk/>
          <pc:sldMk cId="0" sldId="505"/>
        </pc:sldMkLst>
      </pc:sldChg>
      <pc:sldChg chg="del">
        <pc:chgData name=" Santos" userId="c1f965dc-8845-4afc-9e32-8f70830fffd6" providerId="ADAL" clId="{E5F94FF3-8E28-AE4F-99DE-C8391B0D1262}" dt="2022-02-16T21:45:02.666" v="1" actId="2696"/>
        <pc:sldMkLst>
          <pc:docMk/>
          <pc:sldMk cId="0" sldId="506"/>
        </pc:sldMkLst>
      </pc:sldChg>
      <pc:sldChg chg="del">
        <pc:chgData name=" Santos" userId="c1f965dc-8845-4afc-9e32-8f70830fffd6" providerId="ADAL" clId="{E5F94FF3-8E28-AE4F-99DE-C8391B0D1262}" dt="2022-02-16T21:45:05.154" v="2" actId="2696"/>
        <pc:sldMkLst>
          <pc:docMk/>
          <pc:sldMk cId="0" sldId="507"/>
        </pc:sldMkLst>
      </pc:sldChg>
      <pc:sldChg chg="del">
        <pc:chgData name=" Santos" userId="c1f965dc-8845-4afc-9e32-8f70830fffd6" providerId="ADAL" clId="{E5F94FF3-8E28-AE4F-99DE-C8391B0D1262}" dt="2022-02-16T21:45:06.890" v="3" actId="2696"/>
        <pc:sldMkLst>
          <pc:docMk/>
          <pc:sldMk cId="0" sldId="508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8B859343-AF8E-5946-91BC-DEFF47B045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D7647A11-2E28-0E48-8FDD-DE87A504BE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219140" name="Rectangle 4">
            <a:extLst>
              <a:ext uri="{FF2B5EF4-FFF2-40B4-BE49-F238E27FC236}">
                <a16:creationId xmlns:a16="http://schemas.microsoft.com/office/drawing/2014/main" id="{55D25CF9-B5D0-4845-887F-6D18853495A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219141" name="Rectangle 5">
            <a:extLst>
              <a:ext uri="{FF2B5EF4-FFF2-40B4-BE49-F238E27FC236}">
                <a16:creationId xmlns:a16="http://schemas.microsoft.com/office/drawing/2014/main" id="{FA53E306-2220-A94D-94A6-5C6001E7831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fld id="{7F517D91-B69E-CD4A-8A55-EEC48370BF5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E9A5208B-1FBE-2C4A-AC5F-E79332B1C3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192C4842-6F92-D745-9C2D-74B8BFC7509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130052" name="Rectangle 4">
            <a:extLst>
              <a:ext uri="{FF2B5EF4-FFF2-40B4-BE49-F238E27FC236}">
                <a16:creationId xmlns:a16="http://schemas.microsoft.com/office/drawing/2014/main" id="{66AA46E0-A16E-CF47-A4B2-4D3614ECB6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>
            <a:extLst>
              <a:ext uri="{FF2B5EF4-FFF2-40B4-BE49-F238E27FC236}">
                <a16:creationId xmlns:a16="http://schemas.microsoft.com/office/drawing/2014/main" id="{AD573F10-BB6C-3142-82F3-E0DD9DB593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8B149177-FEF2-C847-971F-4E11774C96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aseline="0"/>
            </a:lvl1pPr>
          </a:lstStyle>
          <a:p>
            <a:endParaRPr lang="pt-BR" altLang="pt-BR"/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693F18BF-D56F-704E-B211-50DAA8C3F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fld id="{2A9EF84C-BD3A-1E46-9B57-AFE1EB94F65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06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7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42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73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5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4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3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9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8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29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425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0C4CA-1DA9-9149-9077-2A38F191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018" y="42864"/>
            <a:ext cx="9698567" cy="7207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4AC944-D1E7-5A45-AE3E-51A1F75238B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1567" y="981076"/>
            <a:ext cx="5274733" cy="54006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D8519FD4-D3FB-8548-85FC-695498790AF1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6159500" y="981076"/>
            <a:ext cx="5274733" cy="5400675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860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2185977" y="2384079"/>
            <a:ext cx="7948612" cy="3684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GRÁFICO/TABELA</a:t>
            </a:r>
            <a:endParaRPr lang="es-ES" dirty="0"/>
          </a:p>
        </p:txBody>
      </p:sp>
      <p:sp>
        <p:nvSpPr>
          <p:cNvPr id="10" name="Elipse 9"/>
          <p:cNvSpPr/>
          <p:nvPr userDrawn="1"/>
        </p:nvSpPr>
        <p:spPr>
          <a:xfrm flipV="1">
            <a:off x="1269437" y="479080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Retângulo 13"/>
          <p:cNvSpPr/>
          <p:nvPr userDrawn="1"/>
        </p:nvSpPr>
        <p:spPr>
          <a:xfrm>
            <a:off x="1712155" y="3725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07031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2/16/22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ep.espacenet.com/" TargetMode="External"/><Relationship Id="rId2" Type="http://schemas.openxmlformats.org/officeDocument/2006/relationships/hyperlink" Target="http://www.inpi.gov.b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si3.newisiknowledge.com/" TargetMode="External"/><Relationship Id="rId5" Type="http://schemas.openxmlformats.org/officeDocument/2006/relationships/hyperlink" Target="http://www.uspto.gov/" TargetMode="External"/><Relationship Id="rId4" Type="http://schemas.openxmlformats.org/officeDocument/2006/relationships/hyperlink" Target="http://www.jpo.go.jp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2101439" y="474535"/>
            <a:ext cx="4479718" cy="70656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046671" y="2411684"/>
            <a:ext cx="96594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DEPARTAMENTO DE ENGENHARIA DE PRODUÇÃO</a:t>
            </a:r>
          </a:p>
          <a:p>
            <a:pPr algn="ctr"/>
            <a:r>
              <a:rPr lang="pt-BR" sz="2800" b="1" dirty="0"/>
              <a:t>DISCIPLINA ENGENHARIA DE PRODUTO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Profa. Andréa Cristina dos Santos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Aula 09 – PROPRIEDADE INDUSTRIAL</a:t>
            </a:r>
          </a:p>
          <a:p>
            <a:pPr algn="ctr"/>
            <a:endParaRPr lang="pt-BR" sz="2800" b="1" dirty="0"/>
          </a:p>
          <a:p>
            <a:pPr algn="ctr"/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509968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6" name="Rectangle 2">
            <a:extLst>
              <a:ext uri="{FF2B5EF4-FFF2-40B4-BE49-F238E27FC236}">
                <a16:creationId xmlns:a16="http://schemas.microsoft.com/office/drawing/2014/main" id="{09719B09-30AC-CF49-AEC5-F7FDCF9A2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solidFill>
                  <a:srgbClr val="002060"/>
                </a:solidFill>
              </a:rPr>
              <a:t>Estrutura da apresentação</a:t>
            </a:r>
          </a:p>
        </p:txBody>
      </p:sp>
      <p:sp>
        <p:nvSpPr>
          <p:cNvPr id="943109" name="Rectangle 5">
            <a:extLst>
              <a:ext uri="{FF2B5EF4-FFF2-40B4-BE49-F238E27FC236}">
                <a16:creationId xmlns:a16="http://schemas.microsoft.com/office/drawing/2014/main" id="{1193FC3C-F527-1544-8461-A873062B8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1000" indent="-381000"/>
            <a:r>
              <a:rPr lang="pt-BR" altLang="pt-BR" sz="2800" dirty="0"/>
              <a:t>Patente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Classificação da propriedade intelectual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O que é uma patente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Processo de pedido de patente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Processo de exame do pedido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Concessão e tempo de duração da patente</a:t>
            </a:r>
          </a:p>
          <a:p>
            <a:pPr marL="800100" lvl="1" indent="-342900">
              <a:buFontTx/>
              <a:buAutoNum type="arabicPeriod"/>
            </a:pPr>
            <a:r>
              <a:rPr lang="pt-BR" altLang="pt-BR" sz="2800" dirty="0">
                <a:solidFill>
                  <a:srgbClr val="002060"/>
                </a:solidFill>
              </a:rPr>
              <a:t>Nulidade da patente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658" name="Picture 2">
            <a:extLst>
              <a:ext uri="{FF2B5EF4-FFF2-40B4-BE49-F238E27FC236}">
                <a16:creationId xmlns:a16="http://schemas.microsoft.com/office/drawing/2014/main" id="{F65A877D-9EAE-D142-AB42-DE8181E16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701" y="1305361"/>
            <a:ext cx="8353425" cy="491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0659" name="Text Box 3">
            <a:extLst>
              <a:ext uri="{FF2B5EF4-FFF2-40B4-BE49-F238E27FC236}">
                <a16:creationId xmlns:a16="http://schemas.microsoft.com/office/drawing/2014/main" id="{9FE6E23C-60CE-8A4A-B216-40F8EA9C9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6092825"/>
            <a:ext cx="5905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1800" dirty="0"/>
              <a:t>FONTE: ZIBETTI, F. W. FLORIANÓPOLIS, JULHO , 2006</a:t>
            </a:r>
          </a:p>
        </p:txBody>
      </p:sp>
      <p:sp>
        <p:nvSpPr>
          <p:cNvPr id="1350660" name="Rectangle 4">
            <a:extLst>
              <a:ext uri="{FF2B5EF4-FFF2-40B4-BE49-F238E27FC236}">
                <a16:creationId xmlns:a16="http://schemas.microsoft.com/office/drawing/2014/main" id="{B65A8EBF-BF01-A047-9F5C-4C65CF99C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9776" y="123031"/>
            <a:ext cx="10515600" cy="1325563"/>
          </a:xfrm>
          <a:noFill/>
          <a:ln/>
        </p:spPr>
        <p:txBody>
          <a:bodyPr>
            <a:normAutofit/>
          </a:bodyPr>
          <a:lstStyle/>
          <a:p>
            <a:r>
              <a:rPr lang="pt-BR" altLang="pt-BR" sz="2800" b="1" dirty="0">
                <a:solidFill>
                  <a:srgbClr val="002060"/>
                </a:solidFill>
              </a:rPr>
              <a:t>O QUE É UMA PATENTE 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53384DC-C7BA-7141-938E-133310E3D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210082"/>
            <a:ext cx="8353425" cy="491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695B0463-46BD-3E40-9217-A3FEE5F87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701" y="6404368"/>
            <a:ext cx="5905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1800" dirty="0"/>
              <a:t>FONTE: ZIBETTI, F. W. FLORIANÓPOLIS, JULHO , 2006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868" name="AutoShape 4">
            <a:extLst>
              <a:ext uri="{FF2B5EF4-FFF2-40B4-BE49-F238E27FC236}">
                <a16:creationId xmlns:a16="http://schemas.microsoft.com/office/drawing/2014/main" id="{E590D220-337A-E944-B511-14FAD33D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99" y="1617358"/>
            <a:ext cx="5522913" cy="51077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400" b="1" baseline="0">
                <a:solidFill>
                  <a:srgbClr val="002060"/>
                </a:solidFill>
              </a:rPr>
              <a:t>PROPRIEDADE INTELECTUAL </a:t>
            </a:r>
          </a:p>
        </p:txBody>
      </p:sp>
      <p:sp>
        <p:nvSpPr>
          <p:cNvPr id="1316869" name="AutoShape 5">
            <a:extLst>
              <a:ext uri="{FF2B5EF4-FFF2-40B4-BE49-F238E27FC236}">
                <a16:creationId xmlns:a16="http://schemas.microsoft.com/office/drawing/2014/main" id="{0B784597-6846-8941-92F0-E3448041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2711450"/>
            <a:ext cx="4124325" cy="40862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PROPRIEDADE INDUSTRIAL  </a:t>
            </a:r>
          </a:p>
        </p:txBody>
      </p:sp>
      <p:sp>
        <p:nvSpPr>
          <p:cNvPr id="1316870" name="AutoShape 6">
            <a:extLst>
              <a:ext uri="{FF2B5EF4-FFF2-40B4-BE49-F238E27FC236}">
                <a16:creationId xmlns:a16="http://schemas.microsoft.com/office/drawing/2014/main" id="{0BB53BC0-00D2-8347-AEAC-DAA1AC432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2708275"/>
            <a:ext cx="3425825" cy="40862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DIREITOS AUTORAIS</a:t>
            </a:r>
          </a:p>
        </p:txBody>
      </p:sp>
      <p:sp>
        <p:nvSpPr>
          <p:cNvPr id="1316871" name="Line 7">
            <a:extLst>
              <a:ext uri="{FF2B5EF4-FFF2-40B4-BE49-F238E27FC236}">
                <a16:creationId xmlns:a16="http://schemas.microsoft.com/office/drawing/2014/main" id="{1871895D-2E1D-B54F-8DF3-DBC123703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9663" y="2420939"/>
            <a:ext cx="5110162" cy="31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72" name="Line 8">
            <a:extLst>
              <a:ext uri="{FF2B5EF4-FFF2-40B4-BE49-F238E27FC236}">
                <a16:creationId xmlns:a16="http://schemas.microsoft.com/office/drawing/2014/main" id="{1F260127-6BFB-754D-A9DC-D72AB4846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3" y="2424114"/>
            <a:ext cx="0" cy="28892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73" name="Line 9">
            <a:extLst>
              <a:ext uri="{FF2B5EF4-FFF2-40B4-BE49-F238E27FC236}">
                <a16:creationId xmlns:a16="http://schemas.microsoft.com/office/drawing/2014/main" id="{B6CBB5AB-E22D-7446-B71D-80B522AB0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88" y="2135188"/>
            <a:ext cx="0" cy="290512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74" name="Line 10">
            <a:extLst>
              <a:ext uri="{FF2B5EF4-FFF2-40B4-BE49-F238E27FC236}">
                <a16:creationId xmlns:a16="http://schemas.microsoft.com/office/drawing/2014/main" id="{CC9BD3E0-4380-1A47-937B-EB9454B10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5" y="2420939"/>
            <a:ext cx="0" cy="28892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75" name="Line 11">
            <a:extLst>
              <a:ext uri="{FF2B5EF4-FFF2-40B4-BE49-F238E27FC236}">
                <a16:creationId xmlns:a16="http://schemas.microsoft.com/office/drawing/2014/main" id="{D26B62FA-F11B-584D-9099-60ED131F9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3" y="3144839"/>
            <a:ext cx="0" cy="28082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76" name="AutoShape 12">
            <a:extLst>
              <a:ext uri="{FF2B5EF4-FFF2-40B4-BE49-F238E27FC236}">
                <a16:creationId xmlns:a16="http://schemas.microsoft.com/office/drawing/2014/main" id="{144097F3-E699-8048-832D-A1FEE001E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3430588"/>
            <a:ext cx="4124325" cy="408623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INVENÇÃO </a:t>
            </a:r>
          </a:p>
        </p:txBody>
      </p:sp>
      <p:sp>
        <p:nvSpPr>
          <p:cNvPr id="1316877" name="AutoShape 13">
            <a:extLst>
              <a:ext uri="{FF2B5EF4-FFF2-40B4-BE49-F238E27FC236}">
                <a16:creationId xmlns:a16="http://schemas.microsoft.com/office/drawing/2014/main" id="{314DA261-7DBE-5540-8970-5715264FD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4151313"/>
            <a:ext cx="4124325" cy="408623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MODELO DE UTILIDADE </a:t>
            </a:r>
          </a:p>
        </p:txBody>
      </p:sp>
      <p:sp>
        <p:nvSpPr>
          <p:cNvPr id="1316878" name="AutoShape 14">
            <a:extLst>
              <a:ext uri="{FF2B5EF4-FFF2-40B4-BE49-F238E27FC236}">
                <a16:creationId xmlns:a16="http://schemas.microsoft.com/office/drawing/2014/main" id="{3EDF5592-2F83-504E-9032-57B1BD35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4943475"/>
            <a:ext cx="4124325" cy="408623"/>
          </a:xfrm>
          <a:prstGeom prst="roundRect">
            <a:avLst>
              <a:gd name="adj" fmla="val 16667"/>
            </a:avLst>
          </a:prstGeom>
          <a:solidFill>
            <a:srgbClr val="FFFDA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DESENHO INDUSTRIAL  </a:t>
            </a:r>
          </a:p>
        </p:txBody>
      </p:sp>
      <p:sp>
        <p:nvSpPr>
          <p:cNvPr id="1316879" name="AutoShape 15">
            <a:extLst>
              <a:ext uri="{FF2B5EF4-FFF2-40B4-BE49-F238E27FC236}">
                <a16:creationId xmlns:a16="http://schemas.microsoft.com/office/drawing/2014/main" id="{72034FDF-5EA6-EE44-B82B-9DB441470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4" y="5734050"/>
            <a:ext cx="4124325" cy="40862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baseline="0">
                <a:solidFill>
                  <a:srgbClr val="002060"/>
                </a:solidFill>
              </a:rPr>
              <a:t>MARCAS</a:t>
            </a:r>
          </a:p>
        </p:txBody>
      </p:sp>
      <p:sp>
        <p:nvSpPr>
          <p:cNvPr id="1316880" name="Line 16">
            <a:extLst>
              <a:ext uri="{FF2B5EF4-FFF2-40B4-BE49-F238E27FC236}">
                <a16:creationId xmlns:a16="http://schemas.microsoft.com/office/drawing/2014/main" id="{B4F77BD3-1234-9E41-B898-C323B60C9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4" y="595312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81" name="Line 17">
            <a:extLst>
              <a:ext uri="{FF2B5EF4-FFF2-40B4-BE49-F238E27FC236}">
                <a16:creationId xmlns:a16="http://schemas.microsoft.com/office/drawing/2014/main" id="{5428FB0A-09A5-424E-98E8-82BE55269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4" y="5160963"/>
            <a:ext cx="28733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82" name="Line 18">
            <a:extLst>
              <a:ext uri="{FF2B5EF4-FFF2-40B4-BE49-F238E27FC236}">
                <a16:creationId xmlns:a16="http://schemas.microsoft.com/office/drawing/2014/main" id="{5A61175B-1074-6640-9179-B76EC323F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4" y="4368800"/>
            <a:ext cx="28733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83" name="Line 19">
            <a:extLst>
              <a:ext uri="{FF2B5EF4-FFF2-40B4-BE49-F238E27FC236}">
                <a16:creationId xmlns:a16="http://schemas.microsoft.com/office/drawing/2014/main" id="{81584CF8-422F-1D4A-9124-6FCE66F45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9664" y="3648075"/>
            <a:ext cx="28733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16884" name="Rectangle 20">
            <a:extLst>
              <a:ext uri="{FF2B5EF4-FFF2-40B4-BE49-F238E27FC236}">
                <a16:creationId xmlns:a16="http://schemas.microsoft.com/office/drawing/2014/main" id="{F15B320E-1104-624E-B715-3F6DB21D4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3360739"/>
            <a:ext cx="4392612" cy="1368425"/>
          </a:xfrm>
          <a:prstGeom prst="rect">
            <a:avLst/>
          </a:prstGeom>
          <a:noFill/>
          <a:ln w="9525">
            <a:solidFill>
              <a:srgbClr val="3333CC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16885" name="Text Box 21">
            <a:extLst>
              <a:ext uri="{FF2B5EF4-FFF2-40B4-BE49-F238E27FC236}">
                <a16:creationId xmlns:a16="http://schemas.microsoft.com/office/drawing/2014/main" id="{1AC374E5-DD52-9442-8EEA-BCD594AD4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9613" y="3792539"/>
            <a:ext cx="1871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b="1" baseline="0">
                <a:solidFill>
                  <a:schemeClr val="accent2"/>
                </a:solidFill>
              </a:rPr>
              <a:t>Patentes</a:t>
            </a:r>
          </a:p>
        </p:txBody>
      </p:sp>
      <p:sp>
        <p:nvSpPr>
          <p:cNvPr id="1316886" name="Text Box 22">
            <a:extLst>
              <a:ext uri="{FF2B5EF4-FFF2-40B4-BE49-F238E27FC236}">
                <a16:creationId xmlns:a16="http://schemas.microsoft.com/office/drawing/2014/main" id="{5547375E-876E-7A41-B623-4395089FB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3713" y="4945064"/>
            <a:ext cx="1871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b="1" baseline="0">
                <a:solidFill>
                  <a:schemeClr val="accent2"/>
                </a:solidFill>
              </a:rPr>
              <a:t>Registro</a:t>
            </a:r>
          </a:p>
        </p:txBody>
      </p:sp>
      <p:sp>
        <p:nvSpPr>
          <p:cNvPr id="1316887" name="Text Box 23">
            <a:extLst>
              <a:ext uri="{FF2B5EF4-FFF2-40B4-BE49-F238E27FC236}">
                <a16:creationId xmlns:a16="http://schemas.microsoft.com/office/drawing/2014/main" id="{971349C0-E01C-1B49-9F6E-0A8D354A6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76" y="985619"/>
            <a:ext cx="8497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3200" b="1" baseline="0" dirty="0">
                <a:solidFill>
                  <a:srgbClr val="003399"/>
                </a:solidFill>
                <a:latin typeface="Verdana" panose="020B0604030504040204" pitchFamily="34" charset="0"/>
              </a:rPr>
              <a:t> PROPRIEDADE INDUSTRIAL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50" name="Rectangle 2">
            <a:extLst>
              <a:ext uri="{FF2B5EF4-FFF2-40B4-BE49-F238E27FC236}">
                <a16:creationId xmlns:a16="http://schemas.microsoft.com/office/drawing/2014/main" id="{1C5E2E9D-4821-0146-B2B6-2184F9DB8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072" y="934323"/>
            <a:ext cx="8497887" cy="720725"/>
          </a:xfrm>
        </p:spPr>
        <p:txBody>
          <a:bodyPr>
            <a:noAutofit/>
          </a:bodyPr>
          <a:lstStyle/>
          <a:p>
            <a:r>
              <a:rPr lang="pt-BR" altLang="pt-BR" sz="32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PATENTES: INVENÇÃO/MODELO UTILIDADE</a:t>
            </a:r>
            <a:br>
              <a:rPr lang="pt-BR" altLang="pt-BR" sz="32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</a:br>
            <a:endParaRPr lang="pt-BR" altLang="pt-BR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333251" name="Rectangle 3">
            <a:extLst>
              <a:ext uri="{FF2B5EF4-FFF2-40B4-BE49-F238E27FC236}">
                <a16:creationId xmlns:a16="http://schemas.microsoft.com/office/drawing/2014/main" id="{B016CCE9-B318-1A47-84C3-FE7037271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84592" y="1833687"/>
            <a:ext cx="9432849" cy="9144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Proteção jurídica temporária concedida pelo Estado</a:t>
            </a:r>
            <a:r>
              <a:rPr lang="pt-BR" altLang="pt-BR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33252" name="Text Box 4">
            <a:extLst>
              <a:ext uri="{FF2B5EF4-FFF2-40B4-BE49-F238E27FC236}">
                <a16:creationId xmlns:a16="http://schemas.microsoft.com/office/drawing/2014/main" id="{F5BBBD12-86D7-9546-BB0B-268A3D8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6295" y="2469525"/>
            <a:ext cx="9649444" cy="175432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3000" b="1" u="sng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 </a:t>
            </a:r>
          </a:p>
          <a:p>
            <a:pPr lvl="1" algn="l">
              <a:spcBef>
                <a:spcPct val="50000"/>
              </a:spcBef>
              <a:buFontTx/>
              <a:buChar char="•"/>
            </a:pPr>
            <a:r>
              <a:rPr lang="pt-BR" altLang="pt-BR" sz="2600" baseline="0" dirty="0">
                <a:solidFill>
                  <a:srgbClr val="002060"/>
                </a:solidFill>
              </a:rPr>
              <a:t>Estimular a pesquisa e o desenvolvimento de novas técnicas;</a:t>
            </a:r>
          </a:p>
          <a:p>
            <a:pPr lvl="1" algn="l">
              <a:spcBef>
                <a:spcPct val="50000"/>
              </a:spcBef>
              <a:buFontTx/>
              <a:buChar char="•"/>
            </a:pPr>
            <a:r>
              <a:rPr lang="pt-BR" altLang="pt-BR" sz="2600" baseline="0" dirty="0">
                <a:solidFill>
                  <a:srgbClr val="002060"/>
                </a:solidFill>
              </a:rPr>
              <a:t>Permitir o retorno financeiro da aplicação feita na pesquisa.</a:t>
            </a:r>
          </a:p>
        </p:txBody>
      </p:sp>
      <p:sp>
        <p:nvSpPr>
          <p:cNvPr id="1333253" name="Text Box 5">
            <a:extLst>
              <a:ext uri="{FF2B5EF4-FFF2-40B4-BE49-F238E27FC236}">
                <a16:creationId xmlns:a16="http://schemas.microsoft.com/office/drawing/2014/main" id="{1ABABAD6-ADD4-7E44-BC76-86E331431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760" y="4581128"/>
            <a:ext cx="7924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 b="1" baseline="0" dirty="0">
                <a:solidFill>
                  <a:srgbClr val="00206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“PROTEÇÃO TERRITORIAL</a:t>
            </a:r>
            <a:r>
              <a:rPr lang="pt-BR" altLang="pt-BR" sz="3600" b="1" baseline="0" dirty="0">
                <a:solidFill>
                  <a:srgbClr val="00206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3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7" name="Rectangle 5">
            <a:extLst>
              <a:ext uri="{FF2B5EF4-FFF2-40B4-BE49-F238E27FC236}">
                <a16:creationId xmlns:a16="http://schemas.microsoft.com/office/drawing/2014/main" id="{E72F08A6-BD6C-084A-81CC-F3CE304AA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15680" y="589061"/>
            <a:ext cx="8497887" cy="720725"/>
          </a:xfrm>
          <a:noFill/>
          <a:ln/>
        </p:spPr>
        <p:txBody>
          <a:bodyPr>
            <a:noAutofit/>
          </a:bodyPr>
          <a:lstStyle/>
          <a:p>
            <a:r>
              <a:rPr lang="pt-BR" altLang="pt-BR" sz="2400" b="1" dirty="0">
                <a:solidFill>
                  <a:srgbClr val="002060"/>
                </a:solidFill>
                <a:latin typeface="+mn-lt"/>
              </a:rPr>
              <a:t>PATENTES: INVENÇÃO/MODELO UTILIDADE</a:t>
            </a:r>
            <a:br>
              <a:rPr lang="pt-BR" altLang="pt-BR" sz="2400" b="1" dirty="0">
                <a:solidFill>
                  <a:srgbClr val="002060"/>
                </a:solidFill>
                <a:latin typeface="+mn-lt"/>
              </a:rPr>
            </a:br>
            <a:endParaRPr lang="pt-BR" altLang="pt-BR" sz="2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334275" name="Rectangle 3">
            <a:extLst>
              <a:ext uri="{FF2B5EF4-FFF2-40B4-BE49-F238E27FC236}">
                <a16:creationId xmlns:a16="http://schemas.microsoft.com/office/drawing/2014/main" id="{B65C2F65-F278-CC41-8CED-EBEC2696F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3512" y="1412776"/>
            <a:ext cx="9504411" cy="4495800"/>
          </a:xfrm>
          <a:solidFill>
            <a:srgbClr val="FFC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None/>
              <a:tabLst>
                <a:tab pos="377825" algn="l"/>
              </a:tabLst>
            </a:pPr>
            <a:r>
              <a:rPr lang="pt-BR" altLang="pt-BR" sz="2900" b="1" dirty="0">
                <a:solidFill>
                  <a:srgbClr val="002060"/>
                </a:solidFill>
                <a:cs typeface="Times New Roman" panose="02020603050405020304" pitchFamily="18" charset="0"/>
              </a:rPr>
              <a:t>AÇÃO:</a:t>
            </a:r>
          </a:p>
          <a:p>
            <a:pPr marL="533400" lvl="1" indent="0">
              <a:lnSpc>
                <a:spcPct val="90000"/>
              </a:lnSpc>
              <a:spcBef>
                <a:spcPct val="50000"/>
              </a:spcBef>
              <a:buNone/>
              <a:tabLst>
                <a:tab pos="377825" algn="l"/>
              </a:tabLst>
            </a:pPr>
            <a:r>
              <a:rPr lang="pt-BR" altLang="pt-BR" sz="2400" b="1" dirty="0">
                <a:solidFill>
                  <a:srgbClr val="002060"/>
                </a:solidFill>
              </a:rPr>
              <a:t>A patente confere ao seu titular o direito de impedir terceiros de produzir, usar, colocar à venda, vender ou importar (monopólio legal):</a:t>
            </a:r>
          </a:p>
          <a:p>
            <a:pPr marL="1330325" lvl="2" indent="-157163">
              <a:lnSpc>
                <a:spcPct val="90000"/>
              </a:lnSpc>
              <a:spcBef>
                <a:spcPct val="50000"/>
              </a:spcBef>
              <a:tabLst>
                <a:tab pos="377825" algn="l"/>
              </a:tabLst>
            </a:pPr>
            <a:r>
              <a:rPr lang="pt-BR" altLang="pt-BR" sz="2400" b="1" dirty="0">
                <a:solidFill>
                  <a:srgbClr val="002060"/>
                </a:solidFill>
                <a:cs typeface="Times New Roman" panose="02020603050405020304" pitchFamily="18" charset="0"/>
              </a:rPr>
              <a:t>produto objeto de patente;</a:t>
            </a:r>
          </a:p>
          <a:p>
            <a:pPr marL="1330325" lvl="2" indent="-157163">
              <a:lnSpc>
                <a:spcPct val="90000"/>
              </a:lnSpc>
              <a:spcBef>
                <a:spcPct val="50000"/>
              </a:spcBef>
              <a:tabLst>
                <a:tab pos="377825" algn="l"/>
              </a:tabLst>
            </a:pPr>
            <a:r>
              <a:rPr lang="pt-BR" altLang="pt-BR" sz="2400" b="1" dirty="0">
                <a:solidFill>
                  <a:srgbClr val="002060"/>
                </a:solidFill>
                <a:cs typeface="Times New Roman" panose="02020603050405020304" pitchFamily="18" charset="0"/>
              </a:rPr>
              <a:t>processo patenteado;</a:t>
            </a:r>
          </a:p>
          <a:p>
            <a:pPr marL="1330325" lvl="2" indent="-157163">
              <a:lnSpc>
                <a:spcPct val="90000"/>
              </a:lnSpc>
              <a:spcBef>
                <a:spcPct val="50000"/>
              </a:spcBef>
              <a:tabLst>
                <a:tab pos="377825" algn="l"/>
              </a:tabLst>
            </a:pPr>
            <a:r>
              <a:rPr lang="pt-BR" altLang="pt-BR" sz="2400" b="1" dirty="0">
                <a:solidFill>
                  <a:srgbClr val="002060"/>
                </a:solidFill>
                <a:cs typeface="Times New Roman" panose="02020603050405020304" pitchFamily="18" charset="0"/>
              </a:rPr>
              <a:t>produto obtido diretamente por processo patenteado.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706" name="AutoShape 2">
            <a:extLst>
              <a:ext uri="{FF2B5EF4-FFF2-40B4-BE49-F238E27FC236}">
                <a16:creationId xmlns:a16="http://schemas.microsoft.com/office/drawing/2014/main" id="{96D3EF90-65A4-D342-8ABF-389EF7262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653" y="1219771"/>
            <a:ext cx="7592597" cy="510778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2400" b="1" baseline="0">
                <a:solidFill>
                  <a:srgbClr val="002060"/>
                </a:solidFill>
              </a:rPr>
              <a:t> INVENÇÃO</a:t>
            </a:r>
          </a:p>
        </p:txBody>
      </p:sp>
      <p:sp>
        <p:nvSpPr>
          <p:cNvPr id="1352707" name="AutoShape 3">
            <a:extLst>
              <a:ext uri="{FF2B5EF4-FFF2-40B4-BE49-F238E27FC236}">
                <a16:creationId xmlns:a16="http://schemas.microsoft.com/office/drawing/2014/main" id="{04492C0A-719D-B741-AE42-FA4784E22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853" y="2710334"/>
            <a:ext cx="8114289" cy="510778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2400" b="1" baseline="0" dirty="0">
                <a:solidFill>
                  <a:srgbClr val="002060"/>
                </a:solidFill>
              </a:rPr>
              <a:t>ATIVIDADE INVENTIVA </a:t>
            </a:r>
          </a:p>
        </p:txBody>
      </p:sp>
      <p:sp>
        <p:nvSpPr>
          <p:cNvPr id="1352708" name="AutoShape 4">
            <a:extLst>
              <a:ext uri="{FF2B5EF4-FFF2-40B4-BE49-F238E27FC236}">
                <a16:creationId xmlns:a16="http://schemas.microsoft.com/office/drawing/2014/main" id="{CC380B92-5258-B548-9647-FF921141E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953" y="4200897"/>
            <a:ext cx="8330189" cy="510778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2400" b="1" baseline="0">
                <a:solidFill>
                  <a:srgbClr val="002060"/>
                </a:solidFill>
              </a:rPr>
              <a:t>APLICAÇÃO INDUSTRIAL  </a:t>
            </a:r>
          </a:p>
        </p:txBody>
      </p:sp>
      <p:sp>
        <p:nvSpPr>
          <p:cNvPr id="1352709" name="Rectangle 5">
            <a:extLst>
              <a:ext uri="{FF2B5EF4-FFF2-40B4-BE49-F238E27FC236}">
                <a16:creationId xmlns:a16="http://schemas.microsoft.com/office/drawing/2014/main" id="{057B6149-F84C-DC45-A2DA-1347D61FF8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288" y="188914"/>
            <a:ext cx="8208962" cy="1081087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3200" b="1" dirty="0">
                <a:solidFill>
                  <a:srgbClr val="002060"/>
                </a:solidFill>
              </a:rPr>
              <a:t>REQUISITOS DAS PATENTES</a:t>
            </a:r>
          </a:p>
        </p:txBody>
      </p:sp>
      <p:sp>
        <p:nvSpPr>
          <p:cNvPr id="1352710" name="Text Box 6">
            <a:extLst>
              <a:ext uri="{FF2B5EF4-FFF2-40B4-BE49-F238E27FC236}">
                <a16:creationId xmlns:a16="http://schemas.microsoft.com/office/drawing/2014/main" id="{1CE07E4A-783B-A54E-8F64-EFF17D888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0116" y="1679327"/>
            <a:ext cx="75380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400" i="1" dirty="0">
                <a:solidFill>
                  <a:srgbClr val="002060"/>
                </a:solidFill>
              </a:rPr>
              <a:t>Nunca deve ser realizada anteriormente  </a:t>
            </a:r>
          </a:p>
        </p:txBody>
      </p:sp>
      <p:sp>
        <p:nvSpPr>
          <p:cNvPr id="1352711" name="Text Box 7">
            <a:extLst>
              <a:ext uri="{FF2B5EF4-FFF2-40B4-BE49-F238E27FC236}">
                <a16:creationId xmlns:a16="http://schemas.microsoft.com/office/drawing/2014/main" id="{5A3CD4E9-1C70-E149-B2CA-EE3DB02FE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91" y="3142134"/>
            <a:ext cx="75380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400" dirty="0">
                <a:solidFill>
                  <a:srgbClr val="002060"/>
                </a:solidFill>
              </a:rPr>
              <a:t>Não ser obvia para um técnico na área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5" name="Rectangle 3">
            <a:extLst>
              <a:ext uri="{FF2B5EF4-FFF2-40B4-BE49-F238E27FC236}">
                <a16:creationId xmlns:a16="http://schemas.microsoft.com/office/drawing/2014/main" id="{A950D5D5-0B04-2349-8079-0AD4176F78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9536" y="1928951"/>
            <a:ext cx="8673083" cy="1500049"/>
          </a:xfrm>
          <a:solidFill>
            <a:srgbClr val="FFC000"/>
          </a:solidFill>
        </p:spPr>
        <p:txBody>
          <a:bodyPr/>
          <a:lstStyle/>
          <a:p>
            <a:pPr marL="377825" indent="0">
              <a:buNone/>
              <a:tabLst>
                <a:tab pos="854075" algn="l"/>
              </a:tabLst>
            </a:pPr>
            <a:r>
              <a:rPr lang="pt-BR" altLang="pt-BR" sz="2500" b="1" dirty="0">
                <a:cs typeface="Times New Roman" panose="02020603050405020304" pitchFamily="18" charset="0"/>
              </a:rPr>
              <a:t>Novidade:</a:t>
            </a:r>
          </a:p>
          <a:p>
            <a:pPr marL="377825" indent="0">
              <a:buNone/>
              <a:tabLst>
                <a:tab pos="854075" algn="l"/>
              </a:tabLst>
            </a:pPr>
            <a:r>
              <a:rPr lang="pt-BR" altLang="pt-BR" sz="2500" dirty="0">
                <a:cs typeface="Times New Roman" panose="02020603050405020304" pitchFamily="18" charset="0"/>
              </a:rPr>
              <a:t>A invenção é considerada nova quando não compreendida no estado da técnica.</a:t>
            </a:r>
            <a:endParaRPr lang="pt-BR" altLang="pt-BR" sz="2800" dirty="0"/>
          </a:p>
        </p:txBody>
      </p:sp>
      <p:sp>
        <p:nvSpPr>
          <p:cNvPr id="1354756" name="Rectangle 4">
            <a:extLst>
              <a:ext uri="{FF2B5EF4-FFF2-40B4-BE49-F238E27FC236}">
                <a16:creationId xmlns:a16="http://schemas.microsoft.com/office/drawing/2014/main" id="{E6925AEC-E125-CD49-8426-EF49BB903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827" y="4118426"/>
            <a:ext cx="9072809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7825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854075" algn="l"/>
              </a:tabLst>
              <a:defRPr sz="24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854075" indent="-28575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854075" algn="l"/>
              </a:tabLst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273175" indent="-228600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854075" algn="l"/>
              </a:tabLst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92275" indent="-22860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111375" indent="-228600" algn="l">
              <a:spcBef>
                <a:spcPct val="20000"/>
              </a:spcBef>
              <a:spcAft>
                <a:spcPct val="50000"/>
              </a:spcAft>
              <a:buChar char="»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685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30257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829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9401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854075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pt-BR" altLang="pt-BR" b="1" u="sng" baseline="0" dirty="0">
                <a:cs typeface="Times New Roman" panose="02020603050405020304" pitchFamily="18" charset="0"/>
              </a:rPr>
              <a:t>Estado da técnica</a:t>
            </a:r>
            <a:r>
              <a:rPr lang="pt-BR" altLang="pt-BR" baseline="0" dirty="0">
                <a:cs typeface="Times New Roman" panose="02020603050405020304" pitchFamily="18" charset="0"/>
              </a:rPr>
              <a:t> é tudo aquilo tornado acessível ao público antes da data de depósito do pedido de patente no Brasil ou no exterior (palestras, teses, artigos, etc.)</a:t>
            </a:r>
          </a:p>
        </p:txBody>
      </p:sp>
      <p:sp>
        <p:nvSpPr>
          <p:cNvPr id="1354758" name="Rectangle 6">
            <a:extLst>
              <a:ext uri="{FF2B5EF4-FFF2-40B4-BE49-F238E27FC236}">
                <a16:creationId xmlns:a16="http://schemas.microsoft.com/office/drawing/2014/main" id="{D9088589-9EE7-5449-8B92-CA50269D8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656" y="503151"/>
            <a:ext cx="8208963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4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pt-BR" altLang="pt-BR" sz="3200" b="1" baseline="0" dirty="0"/>
              <a:t>REQUISITOS DAS PATENTES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370" name="Rectangle 2">
            <a:extLst>
              <a:ext uri="{FF2B5EF4-FFF2-40B4-BE49-F238E27FC236}">
                <a16:creationId xmlns:a16="http://schemas.microsoft.com/office/drawing/2014/main" id="{B332FAEE-FDE8-2343-81DB-C01BB5234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515076"/>
            <a:ext cx="9073008" cy="1143000"/>
          </a:xfrm>
        </p:spPr>
        <p:txBody>
          <a:bodyPr/>
          <a:lstStyle/>
          <a:p>
            <a:r>
              <a:rPr lang="pt-BR" altLang="pt-BR" sz="3200" dirty="0"/>
              <a:t>14 de fevereiro de 1876</a:t>
            </a:r>
            <a:br>
              <a:rPr lang="pt-BR" altLang="pt-BR" sz="3200" dirty="0"/>
            </a:br>
            <a:r>
              <a:rPr lang="pt-BR" altLang="pt-BR" sz="3200" dirty="0"/>
              <a:t>Deposito do pedido de telefone</a:t>
            </a:r>
          </a:p>
        </p:txBody>
      </p:sp>
      <p:pic>
        <p:nvPicPr>
          <p:cNvPr id="1338371" name="Picture 3">
            <a:extLst>
              <a:ext uri="{FF2B5EF4-FFF2-40B4-BE49-F238E27FC236}">
                <a16:creationId xmlns:a16="http://schemas.microsoft.com/office/drawing/2014/main" id="{230C7FCD-08C0-1846-8D8F-FE069970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1" y="1916114"/>
            <a:ext cx="2955925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8372" name="Rectangle 4">
            <a:extLst>
              <a:ext uri="{FF2B5EF4-FFF2-40B4-BE49-F238E27FC236}">
                <a16:creationId xmlns:a16="http://schemas.microsoft.com/office/drawing/2014/main" id="{BE507322-97BD-EF4F-B361-FA9516793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194" y="2024424"/>
            <a:ext cx="2671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pt-BR" altLang="pt-BR" sz="2800" baseline="0">
                <a:latin typeface="Times New Roman" panose="02020603050405020304" pitchFamily="18" charset="0"/>
              </a:rPr>
              <a:t>ELISHA GRAY</a:t>
            </a:r>
          </a:p>
        </p:txBody>
      </p:sp>
      <p:sp>
        <p:nvSpPr>
          <p:cNvPr id="1338373" name="Rectangle 5">
            <a:extLst>
              <a:ext uri="{FF2B5EF4-FFF2-40B4-BE49-F238E27FC236}">
                <a16:creationId xmlns:a16="http://schemas.microsoft.com/office/drawing/2014/main" id="{955F9B79-59CC-784F-A697-CE82DC58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194" y="2862624"/>
            <a:ext cx="2162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pt-BR" altLang="pt-BR" sz="2800" baseline="0">
                <a:latin typeface="Times New Roman" panose="02020603050405020304" pitchFamily="18" charset="0"/>
              </a:rPr>
              <a:t>2 horas antes</a:t>
            </a:r>
          </a:p>
        </p:txBody>
      </p:sp>
      <p:sp>
        <p:nvSpPr>
          <p:cNvPr id="1338374" name="Rectangle 6">
            <a:extLst>
              <a:ext uri="{FF2B5EF4-FFF2-40B4-BE49-F238E27FC236}">
                <a16:creationId xmlns:a16="http://schemas.microsoft.com/office/drawing/2014/main" id="{2761E6B9-D4F8-5F48-86D1-2FBE099C0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496" y="3635014"/>
            <a:ext cx="4572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pt-BR" altLang="pt-BR" sz="2800" baseline="0" dirty="0">
                <a:latin typeface="Times New Roman" panose="02020603050405020304" pitchFamily="18" charset="0"/>
              </a:rPr>
              <a:t>ALEXANDER GRAHAM BELL</a:t>
            </a:r>
          </a:p>
          <a:p>
            <a:pPr algn="l">
              <a:spcBef>
                <a:spcPct val="50000"/>
              </a:spcBef>
            </a:pPr>
            <a:r>
              <a:rPr lang="pt-BR" altLang="pt-BR" sz="1800" b="1" baseline="0" dirty="0">
                <a:solidFill>
                  <a:schemeClr val="tx2"/>
                </a:solidFill>
                <a:latin typeface="Lithograph" pitchFamily="2" charset="0"/>
              </a:rPr>
              <a:t>Patente US No. 174,465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3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8372" grpId="0" autoUpdateAnimBg="0"/>
      <p:bldP spid="1338373" grpId="0" autoUpdateAnimBg="0"/>
      <p:bldP spid="133837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A225BC4F-7182-B04D-A10B-1CAB177EE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95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800" baseline="0" dirty="0"/>
              <a:t>U.S. 821.393 depositada em 23/03/1903 – Avião irmãos Wright</a:t>
            </a:r>
          </a:p>
        </p:txBody>
      </p:sp>
      <p:graphicFrame>
        <p:nvGraphicFramePr>
          <p:cNvPr id="1339395" name="Object 3">
            <a:extLst>
              <a:ext uri="{FF2B5EF4-FFF2-40B4-BE49-F238E27FC236}">
                <a16:creationId xmlns:a16="http://schemas.microsoft.com/office/drawing/2014/main" id="{7F74BFB4-9D46-704F-854E-C981DC04A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029357"/>
              </p:ext>
            </p:extLst>
          </p:nvPr>
        </p:nvGraphicFramePr>
        <p:xfrm>
          <a:off x="1847528" y="1700808"/>
          <a:ext cx="7924800" cy="387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Foto do Photo Editor" r:id="rId3" imgW="10058400" imgH="6515100" progId="MSPhotoEd.3">
                  <p:embed/>
                </p:oleObj>
              </mc:Choice>
              <mc:Fallback>
                <p:oleObj name="Foto do Photo Editor" r:id="rId3" imgW="10058400" imgH="6515100" progId="MSPhotoEd.3">
                  <p:embed/>
                  <p:pic>
                    <p:nvPicPr>
                      <p:cNvPr id="1339395" name="Object 3">
                        <a:extLst>
                          <a:ext uri="{FF2B5EF4-FFF2-40B4-BE49-F238E27FC236}">
                            <a16:creationId xmlns:a16="http://schemas.microsoft.com/office/drawing/2014/main" id="{7F74BFB4-9D46-704F-854E-C981DC04AD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700808"/>
                        <a:ext cx="7924800" cy="387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9" name="Rectangle 3">
            <a:extLst>
              <a:ext uri="{FF2B5EF4-FFF2-40B4-BE49-F238E27FC236}">
                <a16:creationId xmlns:a16="http://schemas.microsoft.com/office/drawing/2014/main" id="{87CFFDC7-9286-A84A-8089-5D312C7927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660382"/>
            <a:ext cx="8064500" cy="1747836"/>
          </a:xfrm>
          <a:solidFill>
            <a:srgbClr val="FFC000"/>
          </a:solidFill>
        </p:spPr>
        <p:txBody>
          <a:bodyPr>
            <a:normAutofit lnSpcReduction="10000"/>
          </a:bodyPr>
          <a:lstStyle/>
          <a:p>
            <a:pPr marL="377825" indent="0">
              <a:buNone/>
            </a:pPr>
            <a:r>
              <a:rPr lang="pt-BR" altLang="pt-BR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Atividade Inventiva:</a:t>
            </a:r>
          </a:p>
          <a:p>
            <a:pPr marL="377825" indent="0">
              <a:buNone/>
            </a:pPr>
            <a:r>
              <a:rPr lang="pt-BR" altLang="pt-BR" sz="2800" dirty="0">
                <a:solidFill>
                  <a:srgbClr val="002060"/>
                </a:solidFill>
                <a:cs typeface="Times New Roman" panose="02020603050405020304" pitchFamily="18" charset="0"/>
              </a:rPr>
              <a:t>É quando, para um técnico no assunto, a invenção não decorra de maneira evidente ou óbvia do estado da técnica.</a:t>
            </a:r>
          </a:p>
          <a:p>
            <a:pPr marL="377825" indent="0"/>
            <a:endParaRPr lang="pt-BR" altLang="pt-BR" sz="28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1340420" name="Rectangle 4">
            <a:extLst>
              <a:ext uri="{FF2B5EF4-FFF2-40B4-BE49-F238E27FC236}">
                <a16:creationId xmlns:a16="http://schemas.microsoft.com/office/drawing/2014/main" id="{F40477F4-27CD-C449-9D63-35D355B51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404664"/>
            <a:ext cx="650928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 sz="4400" b="1" dirty="0">
                <a:solidFill>
                  <a:srgbClr val="003399"/>
                </a:solidFill>
              </a:rPr>
              <a:t>REQUISITOS DAS PATENTES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>
            <a:extLst>
              <a:ext uri="{FF2B5EF4-FFF2-40B4-BE49-F238E27FC236}">
                <a16:creationId xmlns:a16="http://schemas.microsoft.com/office/drawing/2014/main" id="{5F1D2FAA-C996-A94E-AADD-9C569196B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3750" y="1457327"/>
            <a:ext cx="9144818" cy="2403722"/>
          </a:xfrm>
          <a:solidFill>
            <a:srgbClr val="FFC000"/>
          </a:solidFill>
        </p:spPr>
        <p:txBody>
          <a:bodyPr/>
          <a:lstStyle/>
          <a:p>
            <a:r>
              <a:rPr lang="pt-BR" altLang="pt-BR" dirty="0">
                <a:solidFill>
                  <a:srgbClr val="002060"/>
                </a:solidFill>
              </a:rPr>
              <a:t>Tudo aquilo tornado acessível ao público </a:t>
            </a:r>
          </a:p>
          <a:p>
            <a:pPr lvl="1">
              <a:buFontTx/>
              <a:buNone/>
            </a:pPr>
            <a:r>
              <a:rPr lang="pt-BR" altLang="pt-BR" dirty="0">
                <a:solidFill>
                  <a:srgbClr val="002060"/>
                </a:solidFill>
              </a:rPr>
              <a:t>... Antes da data do depósito do pedido de patente</a:t>
            </a:r>
          </a:p>
          <a:p>
            <a:pPr lvl="1">
              <a:buFontTx/>
              <a:buNone/>
            </a:pPr>
            <a:r>
              <a:rPr lang="pt-BR" altLang="pt-BR" dirty="0">
                <a:solidFill>
                  <a:srgbClr val="002060"/>
                </a:solidFill>
              </a:rPr>
              <a:t>...Por descrição escrita ou oral, por uso ou qualquer outro meio.</a:t>
            </a:r>
          </a:p>
          <a:p>
            <a:pPr lvl="1">
              <a:buFontTx/>
              <a:buNone/>
            </a:pPr>
            <a:r>
              <a:rPr lang="pt-BR" altLang="pt-BR" dirty="0">
                <a:solidFill>
                  <a:srgbClr val="002060"/>
                </a:solidFill>
              </a:rPr>
              <a:t>...No Brasil e no exterior</a:t>
            </a:r>
          </a:p>
        </p:txBody>
      </p:sp>
      <p:sp>
        <p:nvSpPr>
          <p:cNvPr id="1355779" name="Text Box 3">
            <a:extLst>
              <a:ext uri="{FF2B5EF4-FFF2-40B4-BE49-F238E27FC236}">
                <a16:creationId xmlns:a16="http://schemas.microsoft.com/office/drawing/2014/main" id="{B33125B9-AD52-3B4B-A5ED-1AD72F0AD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461" y="548680"/>
            <a:ext cx="6049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 b="1" baseline="0" dirty="0">
                <a:solidFill>
                  <a:srgbClr val="002060"/>
                </a:solidFill>
              </a:rPr>
              <a:t>ESTADO DA TÉCNICA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802" name="Text Box 2">
            <a:extLst>
              <a:ext uri="{FF2B5EF4-FFF2-40B4-BE49-F238E27FC236}">
                <a16:creationId xmlns:a16="http://schemas.microsoft.com/office/drawing/2014/main" id="{46667180-D169-ED48-AF44-E7D8B5B4A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269" y="3070685"/>
            <a:ext cx="2592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 dirty="0">
                <a:solidFill>
                  <a:srgbClr val="002060"/>
                </a:solidFill>
              </a:rPr>
              <a:t>PERÍODO DO ESTADO DA TÉCNICA</a:t>
            </a:r>
          </a:p>
        </p:txBody>
      </p:sp>
      <p:sp>
        <p:nvSpPr>
          <p:cNvPr id="1356803" name="Rectangle 3">
            <a:extLst>
              <a:ext uri="{FF2B5EF4-FFF2-40B4-BE49-F238E27FC236}">
                <a16:creationId xmlns:a16="http://schemas.microsoft.com/office/drawing/2014/main" id="{7D6DF4F8-F546-DF49-918A-79A2F848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573464"/>
            <a:ext cx="8351838" cy="71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56804" name="Line 4">
            <a:extLst>
              <a:ext uri="{FF2B5EF4-FFF2-40B4-BE49-F238E27FC236}">
                <a16:creationId xmlns:a16="http://schemas.microsoft.com/office/drawing/2014/main" id="{2DFAB25D-5B69-484D-9C0A-5975260EC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1773239"/>
            <a:ext cx="0" cy="2592387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05" name="Text Box 5">
            <a:extLst>
              <a:ext uri="{FF2B5EF4-FFF2-40B4-BE49-F238E27FC236}">
                <a16:creationId xmlns:a16="http://schemas.microsoft.com/office/drawing/2014/main" id="{6EBDB07E-FF05-704D-8522-2B254FF48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9" y="1125538"/>
            <a:ext cx="3887787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200" b="1"/>
              <a:t>DATA DO DEPÓSITO</a:t>
            </a:r>
          </a:p>
        </p:txBody>
      </p:sp>
      <p:sp>
        <p:nvSpPr>
          <p:cNvPr id="1356806" name="Line 6">
            <a:extLst>
              <a:ext uri="{FF2B5EF4-FFF2-40B4-BE49-F238E27FC236}">
                <a16:creationId xmlns:a16="http://schemas.microsoft.com/office/drawing/2014/main" id="{47752ECB-D2CF-FB48-B8FD-DBEF861A04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038" y="3070226"/>
            <a:ext cx="0" cy="1008063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07" name="Line 7">
            <a:extLst>
              <a:ext uri="{FF2B5EF4-FFF2-40B4-BE49-F238E27FC236}">
                <a16:creationId xmlns:a16="http://schemas.microsoft.com/office/drawing/2014/main" id="{7190354F-1AEC-DB4A-ADCD-F150CBED36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039" y="414972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08" name="Text Box 8">
            <a:extLst>
              <a:ext uri="{FF2B5EF4-FFF2-40B4-BE49-F238E27FC236}">
                <a16:creationId xmlns:a16="http://schemas.microsoft.com/office/drawing/2014/main" id="{C9883FEB-0495-BF47-8F2B-4F2D8A3B2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801" y="4149726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chemeClr val="accent2"/>
                </a:solidFill>
              </a:rPr>
              <a:t>12 MESES</a:t>
            </a:r>
          </a:p>
        </p:txBody>
      </p:sp>
      <p:sp>
        <p:nvSpPr>
          <p:cNvPr id="1356809" name="Line 9">
            <a:extLst>
              <a:ext uri="{FF2B5EF4-FFF2-40B4-BE49-F238E27FC236}">
                <a16:creationId xmlns:a16="http://schemas.microsoft.com/office/drawing/2014/main" id="{62E9E043-8C84-BD43-99AF-9802C9F6E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7581" y="3161311"/>
            <a:ext cx="792163" cy="865188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0" name="Text Box 10">
            <a:extLst>
              <a:ext uri="{FF2B5EF4-FFF2-40B4-BE49-F238E27FC236}">
                <a16:creationId xmlns:a16="http://schemas.microsoft.com/office/drawing/2014/main" id="{90896A84-9AED-0746-9FDE-1F3BA43E2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937" y="3951726"/>
            <a:ext cx="25209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002060"/>
                </a:solidFill>
              </a:rPr>
              <a:t>Não será considerada como estado da técnica a divulgação de invenção ou modelo de utilidade 12 meses que precedem a data do depósito</a:t>
            </a:r>
          </a:p>
        </p:txBody>
      </p:sp>
      <p:sp>
        <p:nvSpPr>
          <p:cNvPr id="1356811" name="Line 11">
            <a:extLst>
              <a:ext uri="{FF2B5EF4-FFF2-40B4-BE49-F238E27FC236}">
                <a16:creationId xmlns:a16="http://schemas.microsoft.com/office/drawing/2014/main" id="{912B36ED-ABAD-2F41-B705-986B07E73A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149725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2" name="Text Box 12">
            <a:extLst>
              <a:ext uri="{FF2B5EF4-FFF2-40B4-BE49-F238E27FC236}">
                <a16:creationId xmlns:a16="http://schemas.microsoft.com/office/drawing/2014/main" id="{94A2136B-AFD2-E045-928B-76DC8A083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4221164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/>
              <a:t>12 MESES</a:t>
            </a:r>
          </a:p>
        </p:txBody>
      </p:sp>
      <p:sp>
        <p:nvSpPr>
          <p:cNvPr id="1356813" name="Line 13">
            <a:extLst>
              <a:ext uri="{FF2B5EF4-FFF2-40B4-BE49-F238E27FC236}">
                <a16:creationId xmlns:a16="http://schemas.microsoft.com/office/drawing/2014/main" id="{3BB1529C-06A2-4E42-B7A6-EBA2DA43C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0550" y="2761455"/>
            <a:ext cx="1587" cy="151288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4" name="Text Box 14">
            <a:extLst>
              <a:ext uri="{FF2B5EF4-FFF2-40B4-BE49-F238E27FC236}">
                <a16:creationId xmlns:a16="http://schemas.microsoft.com/office/drawing/2014/main" id="{74BF3618-034A-D741-98AF-106F24EAD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2925763"/>
            <a:ext cx="16557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 dirty="0">
                <a:solidFill>
                  <a:srgbClr val="00B050"/>
                </a:solidFill>
              </a:rPr>
              <a:t>ESTADO DE GRAÇA</a:t>
            </a:r>
          </a:p>
        </p:txBody>
      </p:sp>
      <p:sp>
        <p:nvSpPr>
          <p:cNvPr id="1356815" name="Line 15">
            <a:extLst>
              <a:ext uri="{FF2B5EF4-FFF2-40B4-BE49-F238E27FC236}">
                <a16:creationId xmlns:a16="http://schemas.microsoft.com/office/drawing/2014/main" id="{CC719792-8146-7E49-9D82-8F22747FDA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0463" y="3502025"/>
            <a:ext cx="792162" cy="1081088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6" name="Text Box 16">
            <a:extLst>
              <a:ext uri="{FF2B5EF4-FFF2-40B4-BE49-F238E27FC236}">
                <a16:creationId xmlns:a16="http://schemas.microsoft.com/office/drawing/2014/main" id="{679895EF-7DF5-EA4E-9382-A1B2410AD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344" y="4672100"/>
            <a:ext cx="29518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00B050"/>
                </a:solidFill>
              </a:rPr>
              <a:t>Tempo para fazer o depósito nos outros países. </a:t>
            </a:r>
          </a:p>
        </p:txBody>
      </p:sp>
      <p:sp>
        <p:nvSpPr>
          <p:cNvPr id="1356817" name="Line 17">
            <a:extLst>
              <a:ext uri="{FF2B5EF4-FFF2-40B4-BE49-F238E27FC236}">
                <a16:creationId xmlns:a16="http://schemas.microsoft.com/office/drawing/2014/main" id="{4BC1263F-2362-FE42-B958-472C425ACE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0463" y="2781300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8" name="Line 18">
            <a:extLst>
              <a:ext uri="{FF2B5EF4-FFF2-40B4-BE49-F238E27FC236}">
                <a16:creationId xmlns:a16="http://schemas.microsoft.com/office/drawing/2014/main" id="{B3DD2B43-ADF4-B147-AD43-D0909BA71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5725" y="2060576"/>
            <a:ext cx="1588" cy="223361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19" name="Text Box 19">
            <a:extLst>
              <a:ext uri="{FF2B5EF4-FFF2-40B4-BE49-F238E27FC236}">
                <a16:creationId xmlns:a16="http://schemas.microsoft.com/office/drawing/2014/main" id="{8290CCAD-6951-ED42-A564-E748BB126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176" y="4221164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18 MESES</a:t>
            </a:r>
          </a:p>
        </p:txBody>
      </p:sp>
      <p:sp>
        <p:nvSpPr>
          <p:cNvPr id="1356820" name="Text Box 20">
            <a:extLst>
              <a:ext uri="{FF2B5EF4-FFF2-40B4-BE49-F238E27FC236}">
                <a16:creationId xmlns:a16="http://schemas.microsoft.com/office/drawing/2014/main" id="{DA0F8706-CE12-2846-8442-210925713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2205038"/>
            <a:ext cx="2520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 dirty="0">
                <a:solidFill>
                  <a:srgbClr val="C00000"/>
                </a:solidFill>
              </a:rPr>
              <a:t>TEMPO DE SIGILO </a:t>
            </a:r>
          </a:p>
        </p:txBody>
      </p:sp>
      <p:sp>
        <p:nvSpPr>
          <p:cNvPr id="1356821" name="Line 21">
            <a:extLst>
              <a:ext uri="{FF2B5EF4-FFF2-40B4-BE49-F238E27FC236}">
                <a16:creationId xmlns:a16="http://schemas.microsoft.com/office/drawing/2014/main" id="{27248CFD-077D-5440-9F2B-F06AC8EC63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9475" y="1573557"/>
            <a:ext cx="936625" cy="503237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6822" name="Text Box 22">
            <a:extLst>
              <a:ext uri="{FF2B5EF4-FFF2-40B4-BE49-F238E27FC236}">
                <a16:creationId xmlns:a16="http://schemas.microsoft.com/office/drawing/2014/main" id="{4B5D17AC-A854-434A-94FE-00F490618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8273" y="849909"/>
            <a:ext cx="3523032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C00000"/>
                </a:solidFill>
              </a:rPr>
              <a:t>A publicação do pedido poderá ser antecipada a requerimento do depositante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897" name="Text Box 49">
            <a:extLst>
              <a:ext uri="{FF2B5EF4-FFF2-40B4-BE49-F238E27FC236}">
                <a16:creationId xmlns:a16="http://schemas.microsoft.com/office/drawing/2014/main" id="{6DCBB253-3DC5-664A-854F-903428959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3070225"/>
            <a:ext cx="2592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>
                <a:solidFill>
                  <a:schemeClr val="accent2"/>
                </a:solidFill>
              </a:rPr>
              <a:t>PERÍODO DO ESTADO DA TÉCNICA</a:t>
            </a:r>
          </a:p>
        </p:txBody>
      </p:sp>
      <p:sp>
        <p:nvSpPr>
          <p:cNvPr id="1358898" name="Rectangle 50">
            <a:extLst>
              <a:ext uri="{FF2B5EF4-FFF2-40B4-BE49-F238E27FC236}">
                <a16:creationId xmlns:a16="http://schemas.microsoft.com/office/drawing/2014/main" id="{AB837D9E-62F6-B848-9895-957344CC1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573464"/>
            <a:ext cx="8351838" cy="71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58899" name="Line 51">
            <a:extLst>
              <a:ext uri="{FF2B5EF4-FFF2-40B4-BE49-F238E27FC236}">
                <a16:creationId xmlns:a16="http://schemas.microsoft.com/office/drawing/2014/main" id="{A81C33B4-A279-EC4D-BF5C-39AEA08E9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1773239"/>
            <a:ext cx="0" cy="2592387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0" name="Text Box 52">
            <a:extLst>
              <a:ext uri="{FF2B5EF4-FFF2-40B4-BE49-F238E27FC236}">
                <a16:creationId xmlns:a16="http://schemas.microsoft.com/office/drawing/2014/main" id="{881EB27C-1370-5149-82D9-3BE4FBF75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836613"/>
            <a:ext cx="3887787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200" b="1" dirty="0"/>
              <a:t>DATA DO 1 DEPÓSITO</a:t>
            </a:r>
          </a:p>
        </p:txBody>
      </p:sp>
      <p:sp>
        <p:nvSpPr>
          <p:cNvPr id="1358901" name="Line 53">
            <a:extLst>
              <a:ext uri="{FF2B5EF4-FFF2-40B4-BE49-F238E27FC236}">
                <a16:creationId xmlns:a16="http://schemas.microsoft.com/office/drawing/2014/main" id="{EEAFEB70-5C04-8345-838C-C53174E9E3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038" y="3070226"/>
            <a:ext cx="0" cy="100806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2" name="Line 54">
            <a:extLst>
              <a:ext uri="{FF2B5EF4-FFF2-40B4-BE49-F238E27FC236}">
                <a16:creationId xmlns:a16="http://schemas.microsoft.com/office/drawing/2014/main" id="{E565BA6A-2AC0-4F45-908A-2D458BE2C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039" y="414972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3" name="Text Box 55">
            <a:extLst>
              <a:ext uri="{FF2B5EF4-FFF2-40B4-BE49-F238E27FC236}">
                <a16:creationId xmlns:a16="http://schemas.microsoft.com/office/drawing/2014/main" id="{CCDA73F7-9034-D845-927F-4C23E10D3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801" y="4149726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>
                <a:solidFill>
                  <a:schemeClr val="accent2"/>
                </a:solidFill>
              </a:rPr>
              <a:t>12 MESES</a:t>
            </a:r>
          </a:p>
        </p:txBody>
      </p:sp>
      <p:sp>
        <p:nvSpPr>
          <p:cNvPr id="1358904" name="Line 56">
            <a:extLst>
              <a:ext uri="{FF2B5EF4-FFF2-40B4-BE49-F238E27FC236}">
                <a16:creationId xmlns:a16="http://schemas.microsoft.com/office/drawing/2014/main" id="{12390F8B-01E6-DE46-9402-6019456512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7576" y="3213100"/>
            <a:ext cx="792163" cy="865188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5" name="Text Box 57">
            <a:extLst>
              <a:ext uri="{FF2B5EF4-FFF2-40B4-BE49-F238E27FC236}">
                <a16:creationId xmlns:a16="http://schemas.microsoft.com/office/drawing/2014/main" id="{BF8848BC-27C3-B44D-9845-42D58750E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408" y="3897313"/>
            <a:ext cx="252095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/>
              <a:t>Não será considerada como estado da técnica a divulgação de invenção ou modelo de utilidade 12 meses que precedem a data do depósito</a:t>
            </a:r>
          </a:p>
        </p:txBody>
      </p:sp>
      <p:sp>
        <p:nvSpPr>
          <p:cNvPr id="1358906" name="Line 58">
            <a:extLst>
              <a:ext uri="{FF2B5EF4-FFF2-40B4-BE49-F238E27FC236}">
                <a16:creationId xmlns:a16="http://schemas.microsoft.com/office/drawing/2014/main" id="{26DCA7CE-FB5A-FA4A-97C4-0585C83F2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149725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7" name="Text Box 59">
            <a:extLst>
              <a:ext uri="{FF2B5EF4-FFF2-40B4-BE49-F238E27FC236}">
                <a16:creationId xmlns:a16="http://schemas.microsoft.com/office/drawing/2014/main" id="{8F5C03A3-ED98-E942-AE45-E3598FBB6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4221164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12 MESES</a:t>
            </a:r>
          </a:p>
        </p:txBody>
      </p:sp>
      <p:sp>
        <p:nvSpPr>
          <p:cNvPr id="1358908" name="Line 60">
            <a:extLst>
              <a:ext uri="{FF2B5EF4-FFF2-40B4-BE49-F238E27FC236}">
                <a16:creationId xmlns:a16="http://schemas.microsoft.com/office/drawing/2014/main" id="{330C64D0-C734-3B40-B63F-D4F7E54AF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1764" y="2781300"/>
            <a:ext cx="1587" cy="151288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09" name="Text Box 61">
            <a:extLst>
              <a:ext uri="{FF2B5EF4-FFF2-40B4-BE49-F238E27FC236}">
                <a16:creationId xmlns:a16="http://schemas.microsoft.com/office/drawing/2014/main" id="{CDE456FB-4AD8-E848-9473-04A8D01E5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2925763"/>
            <a:ext cx="16557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>
                <a:solidFill>
                  <a:schemeClr val="accent2"/>
                </a:solidFill>
              </a:rPr>
              <a:t>ESTADO DE GRAÇA</a:t>
            </a:r>
          </a:p>
        </p:txBody>
      </p:sp>
      <p:sp>
        <p:nvSpPr>
          <p:cNvPr id="1358910" name="Line 62">
            <a:extLst>
              <a:ext uri="{FF2B5EF4-FFF2-40B4-BE49-F238E27FC236}">
                <a16:creationId xmlns:a16="http://schemas.microsoft.com/office/drawing/2014/main" id="{66CF1E04-724E-A748-AEB8-A616A154CA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0463" y="3502025"/>
            <a:ext cx="792162" cy="1081088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11" name="Text Box 63">
            <a:extLst>
              <a:ext uri="{FF2B5EF4-FFF2-40B4-BE49-F238E27FC236}">
                <a16:creationId xmlns:a16="http://schemas.microsoft.com/office/drawing/2014/main" id="{1FF053BC-39D9-904E-AA31-0DDAB0C0A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4581525"/>
            <a:ext cx="2520950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/>
              <a:t>Tempo para fazer o depósito nos outros países. </a:t>
            </a:r>
          </a:p>
        </p:txBody>
      </p:sp>
      <p:sp>
        <p:nvSpPr>
          <p:cNvPr id="1358912" name="Line 64">
            <a:extLst>
              <a:ext uri="{FF2B5EF4-FFF2-40B4-BE49-F238E27FC236}">
                <a16:creationId xmlns:a16="http://schemas.microsoft.com/office/drawing/2014/main" id="{CF466688-2EF3-574A-A78C-144B1402A0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0463" y="2781300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13" name="Line 65">
            <a:extLst>
              <a:ext uri="{FF2B5EF4-FFF2-40B4-BE49-F238E27FC236}">
                <a16:creationId xmlns:a16="http://schemas.microsoft.com/office/drawing/2014/main" id="{8721C79B-415A-B34A-BD43-EFF86AA3A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5725" y="2060576"/>
            <a:ext cx="1588" cy="223361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14" name="Text Box 66">
            <a:extLst>
              <a:ext uri="{FF2B5EF4-FFF2-40B4-BE49-F238E27FC236}">
                <a16:creationId xmlns:a16="http://schemas.microsoft.com/office/drawing/2014/main" id="{A0969C0B-8907-AD4E-B15D-515ECF3F2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176" y="4221164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18 MESES</a:t>
            </a:r>
          </a:p>
        </p:txBody>
      </p:sp>
      <p:sp>
        <p:nvSpPr>
          <p:cNvPr id="1358915" name="Text Box 67">
            <a:extLst>
              <a:ext uri="{FF2B5EF4-FFF2-40B4-BE49-F238E27FC236}">
                <a16:creationId xmlns:a16="http://schemas.microsoft.com/office/drawing/2014/main" id="{E6186976-618C-AB46-9927-8A109D333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2205038"/>
            <a:ext cx="2520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>
                <a:solidFill>
                  <a:schemeClr val="accent2"/>
                </a:solidFill>
              </a:rPr>
              <a:t>TEMPO DE SIGILO </a:t>
            </a:r>
          </a:p>
        </p:txBody>
      </p:sp>
      <p:sp>
        <p:nvSpPr>
          <p:cNvPr id="1358916" name="Line 68">
            <a:extLst>
              <a:ext uri="{FF2B5EF4-FFF2-40B4-BE49-F238E27FC236}">
                <a16:creationId xmlns:a16="http://schemas.microsoft.com/office/drawing/2014/main" id="{2E263C07-FDC2-C444-8CCE-6DE6AC670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1" y="1557339"/>
            <a:ext cx="936625" cy="503237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17" name="Text Box 69">
            <a:extLst>
              <a:ext uri="{FF2B5EF4-FFF2-40B4-BE49-F238E27FC236}">
                <a16:creationId xmlns:a16="http://schemas.microsoft.com/office/drawing/2014/main" id="{0987DC32-560A-1D47-A561-6558577F4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5680" y="657868"/>
            <a:ext cx="25209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/>
              <a:t>A publicação do pedido poderá ser antecipada a requerimento do depositante</a:t>
            </a:r>
          </a:p>
        </p:txBody>
      </p:sp>
      <p:sp>
        <p:nvSpPr>
          <p:cNvPr id="1358918" name="Line 70">
            <a:extLst>
              <a:ext uri="{FF2B5EF4-FFF2-40B4-BE49-F238E27FC236}">
                <a16:creationId xmlns:a16="http://schemas.microsoft.com/office/drawing/2014/main" id="{D5DE6FB8-A23F-8945-B986-2CD0A5771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01050" y="1773239"/>
            <a:ext cx="0" cy="2592387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19" name="Text Box 71">
            <a:extLst>
              <a:ext uri="{FF2B5EF4-FFF2-40B4-BE49-F238E27FC236}">
                <a16:creationId xmlns:a16="http://schemas.microsoft.com/office/drawing/2014/main" id="{32DBE6AE-FCD9-4647-8636-B34BFDCC0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925" y="5144171"/>
            <a:ext cx="46087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3200" b="1" dirty="0">
                <a:solidFill>
                  <a:srgbClr val="3333CC"/>
                </a:solidFill>
              </a:rPr>
              <a:t>DATA DO DEPÓSITO 2</a:t>
            </a:r>
          </a:p>
        </p:txBody>
      </p:sp>
      <p:sp>
        <p:nvSpPr>
          <p:cNvPr id="1358920" name="Line 72">
            <a:extLst>
              <a:ext uri="{FF2B5EF4-FFF2-40B4-BE49-F238E27FC236}">
                <a16:creationId xmlns:a16="http://schemas.microsoft.com/office/drawing/2014/main" id="{A3C053B4-B8FD-7441-AC3B-B0BF668CD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6299" y="2841245"/>
            <a:ext cx="71438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58921" name="Text Box 73">
            <a:extLst>
              <a:ext uri="{FF2B5EF4-FFF2-40B4-BE49-F238E27FC236}">
                <a16:creationId xmlns:a16="http://schemas.microsoft.com/office/drawing/2014/main" id="{234084E8-2A1F-AF48-AD71-9249A0858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7" y="5613679"/>
            <a:ext cx="4357489" cy="92333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CC3300"/>
                </a:solidFill>
              </a:rPr>
              <a:t>As informações do pedido não publicada são consideradas estado da técnica, se forem publicadas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059" name="Rectangle 3">
            <a:extLst>
              <a:ext uri="{FF2B5EF4-FFF2-40B4-BE49-F238E27FC236}">
                <a16:creationId xmlns:a16="http://schemas.microsoft.com/office/drawing/2014/main" id="{56FFC650-084C-3040-BAFC-B1374BE1D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31504" y="1196752"/>
            <a:ext cx="9576866" cy="3240136"/>
          </a:xfrm>
        </p:spPr>
        <p:txBody>
          <a:bodyPr>
            <a:normAutofit lnSpcReduction="10000"/>
          </a:bodyPr>
          <a:lstStyle/>
          <a:p>
            <a:r>
              <a:rPr lang="pt-BR" altLang="pt-BR" dirty="0">
                <a:solidFill>
                  <a:srgbClr val="002060"/>
                </a:solidFill>
              </a:rPr>
              <a:t>Como regra geral uma patente será concedida a primeira pessoa que depositar uma solicitação de patente. – </a:t>
            </a:r>
            <a:r>
              <a:rPr lang="pt-BR" altLang="pt-BR" u="sng" dirty="0">
                <a:solidFill>
                  <a:srgbClr val="002060"/>
                </a:solidFill>
              </a:rPr>
              <a:t>primeiro depositante.</a:t>
            </a:r>
          </a:p>
          <a:p>
            <a:pPr marL="0" indent="0">
              <a:buNone/>
            </a:pPr>
            <a:endParaRPr lang="pt-BR" altLang="pt-BR" dirty="0">
              <a:solidFill>
                <a:srgbClr val="002060"/>
              </a:solidFill>
            </a:endParaRPr>
          </a:p>
          <a:p>
            <a:r>
              <a:rPr lang="pt-BR" altLang="pt-BR" dirty="0">
                <a:solidFill>
                  <a:srgbClr val="002060"/>
                </a:solidFill>
              </a:rPr>
              <a:t>Baseado numa primeira solicitação depositada no país (onde depositou a patente) terá o período de 12 meses para depositar a mesma patente em outros países que lhe interessar – </a:t>
            </a:r>
            <a:r>
              <a:rPr lang="pt-BR" altLang="pt-BR" u="sng" dirty="0">
                <a:solidFill>
                  <a:srgbClr val="002060"/>
                </a:solidFill>
              </a:rPr>
              <a:t>período de graça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43" name="Rectangle 3">
            <a:extLst>
              <a:ext uri="{FF2B5EF4-FFF2-40B4-BE49-F238E27FC236}">
                <a16:creationId xmlns:a16="http://schemas.microsoft.com/office/drawing/2014/main" id="{A241D2BC-1846-B440-B2DC-9FC9DE295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7528" y="2204864"/>
            <a:ext cx="9145016" cy="2736898"/>
          </a:xfrm>
          <a:solidFill>
            <a:srgbClr val="FFC000"/>
          </a:solidFill>
        </p:spPr>
        <p:txBody>
          <a:bodyPr>
            <a:normAutofit/>
          </a:bodyPr>
          <a:lstStyle/>
          <a:p>
            <a:pPr marL="377825" indent="0">
              <a:buNone/>
            </a:pPr>
            <a:r>
              <a:rPr lang="pt-BR" altLang="pt-BR" sz="2400" b="1" dirty="0">
                <a:solidFill>
                  <a:srgbClr val="002060"/>
                </a:solidFill>
              </a:rPr>
              <a:t>USO INDUSTRIAL: </a:t>
            </a:r>
          </a:p>
          <a:p>
            <a:pPr marL="377825" indent="0">
              <a:buNone/>
            </a:pPr>
            <a:r>
              <a:rPr lang="pt-BR" altLang="pt-BR" sz="2400" dirty="0">
                <a:solidFill>
                  <a:srgbClr val="002060"/>
                </a:solidFill>
              </a:rPr>
              <a:t>O invento obrigatoriamente tem de ter uma aplicação industrial.</a:t>
            </a:r>
          </a:p>
          <a:p>
            <a:pPr marL="377825" indent="0">
              <a:buNone/>
            </a:pPr>
            <a:r>
              <a:rPr lang="pt-BR" altLang="pt-BR" sz="2400" dirty="0">
                <a:solidFill>
                  <a:srgbClr val="002060"/>
                </a:solidFill>
              </a:rPr>
              <a:t>A </a:t>
            </a:r>
            <a:r>
              <a:rPr lang="pt-BR" altLang="pt-BR" sz="2400" i="1" dirty="0">
                <a:solidFill>
                  <a:srgbClr val="00B050"/>
                </a:solidFill>
              </a:rPr>
              <a:t>Licença compulsória</a:t>
            </a:r>
            <a:r>
              <a:rPr lang="pt-BR" altLang="pt-BR" sz="2400" dirty="0">
                <a:solidFill>
                  <a:srgbClr val="00B050"/>
                </a:solidFill>
              </a:rPr>
              <a:t> </a:t>
            </a:r>
            <a:r>
              <a:rPr lang="pt-BR" altLang="pt-BR" sz="2400" dirty="0">
                <a:solidFill>
                  <a:srgbClr val="002060"/>
                </a:solidFill>
              </a:rPr>
              <a:t>é prevista entre outras situações para a não exploração do objeto da patente por falta de fabricação ou fabricação incompleta do produto      (3 anos) .</a:t>
            </a:r>
          </a:p>
          <a:p>
            <a:pPr marL="377825" indent="0"/>
            <a:endParaRPr lang="pt-BR" altLang="pt-BR" sz="2400" dirty="0">
              <a:solidFill>
                <a:srgbClr val="002060"/>
              </a:solidFill>
            </a:endParaRPr>
          </a:p>
        </p:txBody>
      </p:sp>
      <p:sp>
        <p:nvSpPr>
          <p:cNvPr id="1341445" name="Rectangle 5">
            <a:extLst>
              <a:ext uri="{FF2B5EF4-FFF2-40B4-BE49-F238E27FC236}">
                <a16:creationId xmlns:a16="http://schemas.microsoft.com/office/drawing/2014/main" id="{C9FA377E-FAB5-6F4C-A5F1-878EC24FF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544" y="836712"/>
            <a:ext cx="6661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altLang="pt-BR" sz="5400" b="1" dirty="0">
                <a:solidFill>
                  <a:srgbClr val="003399"/>
                </a:solidFill>
              </a:rPr>
              <a:t>REQUISITOS DAS PATENTES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:a16="http://schemas.microsoft.com/office/drawing/2014/main" id="{9D2C8969-6024-9F46-B1BD-E59711A0A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0"/>
            <a:ext cx="6769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3200" baseline="0"/>
              <a:t>PATENTE DE INVENÇÃO</a:t>
            </a:r>
          </a:p>
        </p:txBody>
      </p:sp>
      <p:sp>
        <p:nvSpPr>
          <p:cNvPr id="1345539" name="Rectangle 3">
            <a:extLst>
              <a:ext uri="{FF2B5EF4-FFF2-40B4-BE49-F238E27FC236}">
                <a16:creationId xmlns:a16="http://schemas.microsoft.com/office/drawing/2014/main" id="{DFDD99C8-51F2-C449-A0ED-C9A6909F0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4" y="1321594"/>
            <a:ext cx="627538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pt-BR" altLang="pt-BR" b="1" baseline="0" dirty="0">
                <a:solidFill>
                  <a:schemeClr val="accent2"/>
                </a:solidFill>
              </a:rPr>
              <a:t>1° </a:t>
            </a:r>
            <a:r>
              <a:rPr lang="pt-BR" altLang="pt-BR" b="1" baseline="0" dirty="0" err="1">
                <a:solidFill>
                  <a:schemeClr val="accent2"/>
                </a:solidFill>
              </a:rPr>
              <a:t>telephone</a:t>
            </a:r>
            <a:endParaRPr lang="pt-BR" altLang="pt-BR" b="1" baseline="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baseline="0" dirty="0">
                <a:solidFill>
                  <a:schemeClr val="accent2"/>
                </a:solidFill>
              </a:rPr>
              <a:t>   Aparelho capaz de transmitir e receber sons através de um cabo elétrico. 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pt-BR" altLang="pt-BR" baseline="0" dirty="0">
                <a:solidFill>
                  <a:schemeClr val="accent2"/>
                </a:solidFill>
              </a:rPr>
              <a:t>Alexander Graham Bell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b="1" baseline="0" dirty="0" err="1">
                <a:solidFill>
                  <a:schemeClr val="accent2"/>
                </a:solidFill>
              </a:rPr>
              <a:t>Patent</a:t>
            </a:r>
            <a:r>
              <a:rPr lang="pt-BR" altLang="pt-BR" b="1" baseline="0" dirty="0">
                <a:solidFill>
                  <a:schemeClr val="accent2"/>
                </a:solidFill>
              </a:rPr>
              <a:t> No. 174,465</a:t>
            </a:r>
            <a:r>
              <a:rPr lang="pt-BR" altLang="pt-BR" b="1" baseline="0" dirty="0">
                <a:solidFill>
                  <a:schemeClr val="accent2"/>
                </a:solidFill>
                <a:latin typeface="Lithograph" pitchFamily="2" charset="0"/>
              </a:rPr>
              <a:t> </a:t>
            </a:r>
            <a:endParaRPr lang="pt-BR" altLang="pt-BR" baseline="0" dirty="0">
              <a:solidFill>
                <a:schemeClr val="accent2"/>
              </a:solidFill>
              <a:latin typeface="Lithograph" pitchFamily="2" charset="0"/>
            </a:endParaRPr>
          </a:p>
        </p:txBody>
      </p:sp>
      <p:graphicFrame>
        <p:nvGraphicFramePr>
          <p:cNvPr id="1345540" name="Object 4">
            <a:extLst>
              <a:ext uri="{FF2B5EF4-FFF2-40B4-BE49-F238E27FC236}">
                <a16:creationId xmlns:a16="http://schemas.microsoft.com/office/drawing/2014/main" id="{B7DEBCE6-9AB1-9D46-A5A8-6149A9724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4064" y="1989138"/>
          <a:ext cx="2674937" cy="41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Clip" r:id="rId3" imgW="1117600" imgH="1809750" progId="MS_ClipArt_Gallery.5">
                  <p:embed/>
                </p:oleObj>
              </mc:Choice>
              <mc:Fallback>
                <p:oleObj name="Clip" r:id="rId3" imgW="1117600" imgH="1809750" progId="MS_ClipArt_Gallery.5">
                  <p:embed/>
                  <p:pic>
                    <p:nvPicPr>
                      <p:cNvPr id="1345540" name="Object 4">
                        <a:extLst>
                          <a:ext uri="{FF2B5EF4-FFF2-40B4-BE49-F238E27FC236}">
                            <a16:creationId xmlns:a16="http://schemas.microsoft.com/office/drawing/2014/main" id="{B7DEBCE6-9AB1-9D46-A5A8-6149A9724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4" y="1989138"/>
                        <a:ext cx="2674937" cy="417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45541" name="Picture 5">
            <a:extLst>
              <a:ext uri="{FF2B5EF4-FFF2-40B4-BE49-F238E27FC236}">
                <a16:creationId xmlns:a16="http://schemas.microsoft.com/office/drawing/2014/main" id="{0A6DB718-C9FE-B942-9B84-F8CB8829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6" y="727075"/>
            <a:ext cx="1584325" cy="118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5542" name="Rectangle 6">
            <a:extLst>
              <a:ext uri="{FF2B5EF4-FFF2-40B4-BE49-F238E27FC236}">
                <a16:creationId xmlns:a16="http://schemas.microsoft.com/office/drawing/2014/main" id="{C72C4160-69DA-7145-8DD9-F3236256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876925"/>
            <a:ext cx="4032250" cy="65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altLang="pt-BR" sz="1600" b="1" baseline="0">
                <a:solidFill>
                  <a:schemeClr val="accent2"/>
                </a:solidFill>
                <a:latin typeface="Lithograph" pitchFamily="2" charset="0"/>
              </a:rPr>
              <a:t>Luiz Otávio Beaklini</a:t>
            </a:r>
          </a:p>
          <a:p>
            <a:pPr algn="r">
              <a:spcBef>
                <a:spcPct val="50000"/>
              </a:spcBef>
            </a:pPr>
            <a:r>
              <a:rPr lang="pt-BR" altLang="pt-BR" sz="1400" b="1" baseline="0">
                <a:solidFill>
                  <a:schemeClr val="accent2"/>
                </a:solidFill>
                <a:latin typeface="Lithograph" pitchFamily="2" charset="0"/>
              </a:rPr>
              <a:t> INPI</a:t>
            </a:r>
            <a:endParaRPr lang="en-US" altLang="pt-BR" sz="1400" b="1" baseline="0">
              <a:solidFill>
                <a:schemeClr val="accent2"/>
              </a:solidFill>
              <a:latin typeface="Lithograph" pitchFamily="2" charset="0"/>
            </a:endParaRPr>
          </a:p>
        </p:txBody>
      </p:sp>
      <p:sp>
        <p:nvSpPr>
          <p:cNvPr id="1345543" name="Rectangle 7">
            <a:extLst>
              <a:ext uri="{FF2B5EF4-FFF2-40B4-BE49-F238E27FC236}">
                <a16:creationId xmlns:a16="http://schemas.microsoft.com/office/drawing/2014/main" id="{0DDC5E90-F369-1F4F-8146-B3ECA7CC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769519"/>
            <a:ext cx="5184775" cy="29241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/>
          <a:lstStyle>
            <a:lvl1pPr marL="198438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2182813" algn="l"/>
              </a:tabLst>
              <a:defRPr sz="24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3333750" indent="-28575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2182813" algn="l"/>
              </a:tabLst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3752850" indent="-228600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2182813" algn="l"/>
              </a:tabLst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4171950" indent="-22860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4591050" indent="-228600" algn="l">
              <a:spcBef>
                <a:spcPct val="20000"/>
              </a:spcBef>
              <a:spcAft>
                <a:spcPct val="50000"/>
              </a:spcAft>
              <a:buChar char="»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5048250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5505450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5962650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6419850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21828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 algn="r">
              <a:buFontTx/>
              <a:buNone/>
            </a:pPr>
            <a:r>
              <a:rPr lang="pt-BR" altLang="pt-BR" sz="1800" b="1" baseline="0" dirty="0">
                <a:solidFill>
                  <a:schemeClr val="tx2"/>
                </a:solidFill>
                <a:cs typeface="Times New Roman" panose="02020603050405020304" pitchFamily="18" charset="0"/>
              </a:rPr>
              <a:t>Validade:</a:t>
            </a:r>
          </a:p>
          <a:p>
            <a:pPr algn="r">
              <a:buFontTx/>
              <a:buNone/>
            </a:pPr>
            <a:r>
              <a:rPr lang="pt-BR" altLang="pt-BR" sz="1800" b="1" baseline="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pt-BR" altLang="pt-BR" sz="1800" baseline="0" dirty="0">
                <a:solidFill>
                  <a:schemeClr val="tx2"/>
                </a:solidFill>
                <a:cs typeface="Times New Roman" panose="02020603050405020304" pitchFamily="18" charset="0"/>
              </a:rPr>
              <a:t>20 anos da data de depósito</a:t>
            </a:r>
          </a:p>
          <a:p>
            <a:pPr algn="r">
              <a:buFontTx/>
              <a:buNone/>
            </a:pPr>
            <a:r>
              <a:rPr lang="pt-BR" altLang="pt-BR" sz="1800" baseline="0" dirty="0">
                <a:cs typeface="Times New Roman" panose="02020603050405020304" pitchFamily="18" charset="0"/>
              </a:rPr>
              <a:t> </a:t>
            </a:r>
          </a:p>
          <a:p>
            <a:pPr>
              <a:buFontTx/>
              <a:buNone/>
            </a:pPr>
            <a:r>
              <a:rPr lang="pt-BR" altLang="pt-BR" sz="2000" baseline="0" dirty="0">
                <a:cs typeface="Times New Roman" panose="02020603050405020304" pitchFamily="18" charset="0"/>
              </a:rPr>
              <a:t>É o invento que atenda aos requisitos de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novidade</a:t>
            </a:r>
            <a:r>
              <a:rPr lang="pt-BR" altLang="pt-BR" sz="2000" baseline="0" dirty="0">
                <a:cs typeface="Times New Roman" panose="02020603050405020304" pitchFamily="18" charset="0"/>
              </a:rPr>
              <a:t>,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atividade inventiva</a:t>
            </a:r>
            <a:r>
              <a:rPr lang="pt-BR" altLang="pt-BR" sz="2000" baseline="0" dirty="0">
                <a:cs typeface="Times New Roman" panose="02020603050405020304" pitchFamily="18" charset="0"/>
              </a:rPr>
              <a:t> e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aplicação industrial.</a:t>
            </a:r>
            <a:r>
              <a:rPr lang="pt-BR" altLang="pt-BR" sz="2000" baseline="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4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4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34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34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/>
      <p:bldP spid="13455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562" name="Rectangle 2">
            <a:extLst>
              <a:ext uri="{FF2B5EF4-FFF2-40B4-BE49-F238E27FC236}">
                <a16:creationId xmlns:a16="http://schemas.microsoft.com/office/drawing/2014/main" id="{B2FA3040-2E28-994E-9B3A-5368CA85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0"/>
            <a:ext cx="8077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3200" baseline="0"/>
              <a:t>PATENTE MODELO DE UTILIDADE</a:t>
            </a:r>
          </a:p>
        </p:txBody>
      </p:sp>
      <p:sp>
        <p:nvSpPr>
          <p:cNvPr id="1346563" name="Rectangle 3">
            <a:extLst>
              <a:ext uri="{FF2B5EF4-FFF2-40B4-BE49-F238E27FC236}">
                <a16:creationId xmlns:a16="http://schemas.microsoft.com/office/drawing/2014/main" id="{08662E54-1261-9346-B380-87D45DAF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920" y="1412875"/>
            <a:ext cx="5761038" cy="21605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="1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 elementos</a:t>
            </a:r>
          </a:p>
          <a:p>
            <a:pPr>
              <a:buFontTx/>
              <a:buNone/>
            </a:pPr>
            <a:r>
              <a:rPr lang="pt-BR" altLang="pt-BR" sz="1800" baseline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sz="1800" b="1" baseline="0" dirty="0"/>
              <a:t>O aparelho foi aperfeiçoado, melhorando seu funcionamento, de um modo normalmente esperável.  Ficou mais prático de utilizar.</a:t>
            </a:r>
          </a:p>
          <a:p>
            <a:pPr>
              <a:buFontTx/>
              <a:buNone/>
            </a:pPr>
            <a:endParaRPr lang="pt-BR" altLang="pt-BR" sz="1800" b="1" baseline="0" dirty="0"/>
          </a:p>
        </p:txBody>
      </p:sp>
      <p:pic>
        <p:nvPicPr>
          <p:cNvPr id="1346564" name="Picture 4">
            <a:extLst>
              <a:ext uri="{FF2B5EF4-FFF2-40B4-BE49-F238E27FC236}">
                <a16:creationId xmlns:a16="http://schemas.microsoft.com/office/drawing/2014/main" id="{A054756E-39F6-B745-8A99-4E7E92BA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1412875"/>
            <a:ext cx="2278063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6565" name="Rectangle 5">
            <a:extLst>
              <a:ext uri="{FF2B5EF4-FFF2-40B4-BE49-F238E27FC236}">
                <a16:creationId xmlns:a16="http://schemas.microsoft.com/office/drawing/2014/main" id="{48CBB389-A8C7-E04C-AB99-3D24188F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573463"/>
            <a:ext cx="7916862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77813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1052513" algn="l"/>
              </a:tabLst>
              <a:defRPr sz="24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854075" indent="-28575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1052513" algn="l"/>
              </a:tabLst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273175" indent="-228600" algn="l">
              <a:spcBef>
                <a:spcPct val="20000"/>
              </a:spcBef>
              <a:spcAft>
                <a:spcPct val="50000"/>
              </a:spcAft>
              <a:buChar char="•"/>
              <a:tabLst>
                <a:tab pos="1052513" algn="l"/>
              </a:tabLst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92275" indent="-228600" algn="l">
              <a:spcBef>
                <a:spcPct val="20000"/>
              </a:spcBef>
              <a:spcAft>
                <a:spcPct val="50000"/>
              </a:spcAft>
              <a:buChar char="–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111375" indent="-228600" algn="l">
              <a:spcBef>
                <a:spcPct val="20000"/>
              </a:spcBef>
              <a:spcAft>
                <a:spcPct val="50000"/>
              </a:spcAft>
              <a:buChar char="»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685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30257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829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940175" indent="-228600" fontAlgn="base">
              <a:spcBef>
                <a:spcPct val="20000"/>
              </a:spcBef>
              <a:spcAft>
                <a:spcPct val="50000"/>
              </a:spcAft>
              <a:buChar char="»"/>
              <a:tabLst>
                <a:tab pos="1052513" algn="l"/>
              </a:tabLst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lang="pt-BR" altLang="pt-BR" sz="1800" b="1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altLang="pt-BR" sz="1800" b="1" baseline="0">
                <a:solidFill>
                  <a:schemeClr val="tx2"/>
                </a:solidFill>
                <a:cs typeface="Times New Roman" panose="02020603050405020304" pitchFamily="18" charset="0"/>
              </a:rPr>
              <a:t>Validade: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pt-BR" altLang="pt-BR" sz="1800" baseline="0">
                <a:solidFill>
                  <a:schemeClr val="tx2"/>
                </a:solidFill>
                <a:cs typeface="Times New Roman" panose="02020603050405020304" pitchFamily="18" charset="0"/>
              </a:rPr>
              <a:t> 15 anos da data de dep</a:t>
            </a:r>
            <a:r>
              <a:rPr lang="pt-BR" altLang="pt-BR" sz="1800" baseline="0">
                <a:solidFill>
                  <a:schemeClr val="tx2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ó</a:t>
            </a:r>
            <a:r>
              <a:rPr lang="pt-BR" altLang="pt-BR" sz="1800" baseline="0">
                <a:solidFill>
                  <a:schemeClr val="tx2"/>
                </a:solidFill>
                <a:cs typeface="Times New Roman" panose="02020603050405020304" pitchFamily="18" charset="0"/>
              </a:rPr>
              <a:t>sito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1800" baseline="0">
                <a:latin typeface="Tahoma" panose="020B0604030504040204" pitchFamily="34" charset="0"/>
                <a:cs typeface="Times New Roman" panose="02020603050405020304" pitchFamily="18" charset="0"/>
              </a:rPr>
              <a:t> </a:t>
            </a:r>
            <a:endParaRPr lang="pt-BR" altLang="pt-BR" sz="1800" baseline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1800" b="1" baseline="0">
                <a:latin typeface="Tahoma" panose="020B0604030504040204" pitchFamily="34" charset="0"/>
                <a:cs typeface="Times New Roman" panose="02020603050405020304" pitchFamily="18" charset="0"/>
              </a:rPr>
              <a:t>É</a:t>
            </a:r>
            <a:r>
              <a:rPr lang="pt-BR" altLang="pt-BR" sz="1800" b="1" baseline="0">
                <a:cs typeface="Times New Roman" panose="02020603050405020304" pitchFamily="18" charset="0"/>
              </a:rPr>
              <a:t> o objeto de uso pr</a:t>
            </a:r>
            <a:r>
              <a:rPr lang="pt-BR" altLang="pt-BR" sz="1800" b="1" baseline="0">
                <a:latin typeface="Tahoma" panose="020B0604030504040204" pitchFamily="34" charset="0"/>
                <a:cs typeface="Times New Roman" panose="02020603050405020304" pitchFamily="18" charset="0"/>
              </a:rPr>
              <a:t>á</a:t>
            </a:r>
            <a:r>
              <a:rPr lang="pt-BR" altLang="pt-BR" sz="1800" b="1" baseline="0">
                <a:cs typeface="Times New Roman" panose="02020603050405020304" pitchFamily="18" charset="0"/>
              </a:rPr>
              <a:t>tico, ou parte deste, suscet</a:t>
            </a:r>
            <a:r>
              <a:rPr lang="pt-BR" altLang="pt-BR" sz="1800" b="1" baseline="0">
                <a:latin typeface="Tahoma" panose="020B0604030504040204" pitchFamily="34" charset="0"/>
                <a:cs typeface="Times New Roman" panose="02020603050405020304" pitchFamily="18" charset="0"/>
              </a:rPr>
              <a:t>í</a:t>
            </a:r>
            <a:r>
              <a:rPr lang="pt-BR" altLang="pt-BR" sz="1800" b="1" baseline="0">
                <a:cs typeface="Times New Roman" panose="02020603050405020304" pitchFamily="18" charset="0"/>
              </a:rPr>
              <a:t>vel de aplica</a:t>
            </a:r>
            <a:r>
              <a:rPr lang="pt-BR" altLang="pt-BR" sz="1800" b="1" baseline="0">
                <a:latin typeface="Tahoma" panose="020B0604030504040204" pitchFamily="34" charset="0"/>
                <a:cs typeface="Times New Roman" panose="02020603050405020304" pitchFamily="18" charset="0"/>
              </a:rPr>
              <a:t>ç</a:t>
            </a:r>
            <a:r>
              <a:rPr lang="pt-BR" altLang="pt-BR" sz="1800" b="1" baseline="0">
                <a:cs typeface="Times New Roman" panose="02020603050405020304" pitchFamily="18" charset="0"/>
              </a:rPr>
              <a:t>ão industrial, que apresente nova forma obtida ou introduzida em objetos conhecidos, envolvendo ato inventivo, que resulte em melhoria funcional no seu uso ou em sua fabrica</a:t>
            </a:r>
            <a:r>
              <a:rPr lang="pt-BR" altLang="pt-BR" sz="1800" b="1" baseline="0">
                <a:latin typeface="Tahoma" panose="020B0604030504040204" pitchFamily="34" charset="0"/>
                <a:cs typeface="Times New Roman" panose="02020603050405020304" pitchFamily="18" charset="0"/>
              </a:rPr>
              <a:t>ç</a:t>
            </a:r>
            <a:r>
              <a:rPr lang="pt-BR" altLang="pt-BR" sz="1800" b="1" baseline="0">
                <a:cs typeface="Times New Roman" panose="02020603050405020304" pitchFamily="18" charset="0"/>
              </a:rPr>
              <a:t>ão.</a:t>
            </a:r>
            <a:endParaRPr lang="pt-BR" altLang="pt-BR" sz="1800" b="1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34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34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4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4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6563" grpId="0" animBg="1"/>
      <p:bldP spid="13465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>
            <a:extLst>
              <a:ext uri="{FF2B5EF4-FFF2-40B4-BE49-F238E27FC236}">
                <a16:creationId xmlns:a16="http://schemas.microsoft.com/office/drawing/2014/main" id="{46C19AC4-2E1B-8A48-ABBB-CF4773A1A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920" y="957838"/>
            <a:ext cx="5616624" cy="720725"/>
          </a:xfrm>
        </p:spPr>
        <p:txBody>
          <a:bodyPr/>
          <a:lstStyle/>
          <a:p>
            <a:r>
              <a:rPr lang="pt-BR" altLang="pt-BR" sz="2800" b="1" dirty="0">
                <a:solidFill>
                  <a:srgbClr val="002060"/>
                </a:solidFill>
                <a:latin typeface="+mn-lt"/>
              </a:rPr>
              <a:t>DESENHO INDUSTRIAL - registro</a:t>
            </a:r>
          </a:p>
        </p:txBody>
      </p:sp>
      <p:sp>
        <p:nvSpPr>
          <p:cNvPr id="1347587" name="Rectangle 3">
            <a:extLst>
              <a:ext uri="{FF2B5EF4-FFF2-40B4-BE49-F238E27FC236}">
                <a16:creationId xmlns:a16="http://schemas.microsoft.com/office/drawing/2014/main" id="{FDEBEB90-FE38-324B-A164-BCBF09FE1C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5189" y="1864878"/>
            <a:ext cx="9073379" cy="1519238"/>
          </a:xfrm>
          <a:solidFill>
            <a:srgbClr val="FFC000"/>
          </a:solidFill>
        </p:spPr>
        <p:txBody>
          <a:bodyPr>
            <a:noAutofit/>
          </a:bodyPr>
          <a:lstStyle/>
          <a:p>
            <a:pPr marL="3333750" indent="0">
              <a:lnSpc>
                <a:spcPct val="90000"/>
              </a:lnSpc>
              <a:buNone/>
            </a:pPr>
            <a:r>
              <a:rPr lang="pt-BR" altLang="pt-BR" b="1" dirty="0">
                <a:solidFill>
                  <a:schemeClr val="tx2"/>
                </a:solidFill>
                <a:cs typeface="Times New Roman" panose="02020603050405020304" pitchFamily="18" charset="0"/>
              </a:rPr>
              <a:t>Validade:</a:t>
            </a:r>
            <a:r>
              <a:rPr lang="pt-BR" altLang="pt-BR" dirty="0">
                <a:solidFill>
                  <a:schemeClr val="tx2"/>
                </a:solidFill>
                <a:cs typeface="Times New Roman" panose="02020603050405020304" pitchFamily="18" charset="0"/>
              </a:rPr>
              <a:t> 10 anos da data de depósito, prorrogáveis por mais três períodos iguais sucessivos, de 5 anos cada.</a:t>
            </a:r>
          </a:p>
        </p:txBody>
      </p:sp>
      <p:graphicFrame>
        <p:nvGraphicFramePr>
          <p:cNvPr id="1347589" name="Object 5">
            <a:extLst>
              <a:ext uri="{FF2B5EF4-FFF2-40B4-BE49-F238E27FC236}">
                <a16:creationId xmlns:a16="http://schemas.microsoft.com/office/drawing/2014/main" id="{AB2509D6-C37D-7940-B767-0016C2E9EBE0}"/>
              </a:ext>
            </a:extLst>
          </p:cNvPr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2279650" y="1844675"/>
          <a:ext cx="2428875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Clip" r:id="rId3" imgW="1619250" imgH="1212850" progId="MS_ClipArt_Gallery.2">
                  <p:embed/>
                </p:oleObj>
              </mc:Choice>
              <mc:Fallback>
                <p:oleObj name="Clip" r:id="rId3" imgW="1619250" imgH="1212850" progId="MS_ClipArt_Gallery.2">
                  <p:embed/>
                  <p:pic>
                    <p:nvPicPr>
                      <p:cNvPr id="1347589" name="Object 5">
                        <a:extLst>
                          <a:ext uri="{FF2B5EF4-FFF2-40B4-BE49-F238E27FC236}">
                            <a16:creationId xmlns:a16="http://schemas.microsoft.com/office/drawing/2014/main" id="{AB2509D6-C37D-7940-B767-0016C2E9EB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844675"/>
                        <a:ext cx="2428875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7588" name="Rectangle 4">
            <a:extLst>
              <a:ext uri="{FF2B5EF4-FFF2-40B4-BE49-F238E27FC236}">
                <a16:creationId xmlns:a16="http://schemas.microsoft.com/office/drawing/2014/main" id="{E83D78BB-3DC0-354D-87C8-3142A1C2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055" y="4077072"/>
            <a:ext cx="8066087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spcAft>
                <a:spcPct val="50000"/>
              </a:spcAft>
              <a:buChar char="•"/>
              <a:defRPr sz="24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54063" indent="-285750" algn="l">
              <a:spcBef>
                <a:spcPct val="20000"/>
              </a:spcBef>
              <a:spcAft>
                <a:spcPct val="50000"/>
              </a:spcAft>
              <a:buChar char="–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73163" indent="-228600" algn="l">
              <a:spcBef>
                <a:spcPct val="20000"/>
              </a:spcBef>
              <a:spcAft>
                <a:spcPct val="50000"/>
              </a:spcAft>
              <a:buChar char="•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pt-BR" altLang="pt-BR" sz="2000" baseline="0" dirty="0">
                <a:cs typeface="Times New Roman" panose="02020603050405020304" pitchFamily="18" charset="0"/>
              </a:rPr>
              <a:t> É a forma plástica ornamental de um objeto ou o conjunto ornamental de linhas e cores que possa ser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aplicado a um produto</a:t>
            </a:r>
            <a:r>
              <a:rPr lang="pt-BR" altLang="pt-BR" sz="2000" baseline="0" dirty="0">
                <a:cs typeface="Times New Roman" panose="02020603050405020304" pitchFamily="18" charset="0"/>
              </a:rPr>
              <a:t>, proporcionando resultado visual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novo e original</a:t>
            </a:r>
            <a:r>
              <a:rPr lang="pt-BR" altLang="pt-BR" sz="2000" baseline="0" dirty="0">
                <a:cs typeface="Times New Roman" panose="02020603050405020304" pitchFamily="18" charset="0"/>
              </a:rPr>
              <a:t> na sua configuração externa e que possa </a:t>
            </a:r>
            <a:r>
              <a:rPr lang="pt-BR" altLang="pt-BR" sz="2000" b="1" baseline="0" dirty="0">
                <a:cs typeface="Times New Roman" panose="02020603050405020304" pitchFamily="18" charset="0"/>
              </a:rPr>
              <a:t>servir de tipo de fabricação</a:t>
            </a:r>
            <a:r>
              <a:rPr lang="pt-BR" altLang="pt-BR" sz="2000" baseline="0" dirty="0">
                <a:cs typeface="Times New Roman" panose="02020603050405020304" pitchFamily="18" charset="0"/>
              </a:rPr>
              <a:t> industrial.</a:t>
            </a:r>
            <a:r>
              <a:rPr lang="pt-BR" altLang="pt-BR" sz="2000" baseline="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4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4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34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4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4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587" grpId="0" build="p"/>
      <p:bldP spid="13475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10" name="Rectangle 2">
            <a:extLst>
              <a:ext uri="{FF2B5EF4-FFF2-40B4-BE49-F238E27FC236}">
                <a16:creationId xmlns:a16="http://schemas.microsoft.com/office/drawing/2014/main" id="{B4F722B3-5201-BF45-A29E-758B691DE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95800" y="466317"/>
            <a:ext cx="10515600" cy="1325563"/>
          </a:xfrm>
        </p:spPr>
        <p:txBody>
          <a:bodyPr>
            <a:normAutofit/>
          </a:bodyPr>
          <a:lstStyle/>
          <a:p>
            <a:r>
              <a:rPr lang="pt-BR" altLang="pt-BR" sz="3600" b="1" dirty="0">
                <a:solidFill>
                  <a:srgbClr val="002060"/>
                </a:solidFill>
                <a:latin typeface="+mn-lt"/>
              </a:rPr>
              <a:t>BUSCA PRÉVIA</a:t>
            </a:r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04A6BF16-3311-E347-A683-ED5400EB6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99656" y="2025464"/>
            <a:ext cx="6840760" cy="2251447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b="1" dirty="0">
                <a:solidFill>
                  <a:srgbClr val="002060"/>
                </a:solidFill>
                <a:cs typeface="Times New Roman" panose="02020603050405020304" pitchFamily="18" charset="0"/>
              </a:rPr>
              <a:t>No início da Pesquisa :</a:t>
            </a:r>
          </a:p>
          <a:p>
            <a:pPr>
              <a:buFontTx/>
              <a:buNone/>
            </a:pPr>
            <a:r>
              <a:rPr lang="pt-BR" altLang="pt-BR" b="1" dirty="0">
                <a:solidFill>
                  <a:srgbClr val="002060"/>
                </a:solidFill>
                <a:cs typeface="Times New Roman" panose="02020603050405020304" pitchFamily="18" charset="0"/>
              </a:rPr>
              <a:t>Conhecimento do estado da técnica;</a:t>
            </a:r>
          </a:p>
          <a:p>
            <a:r>
              <a:rPr lang="pt-BR" altLang="pt-BR" b="1" dirty="0">
                <a:solidFill>
                  <a:srgbClr val="002060"/>
                </a:solidFill>
                <a:cs typeface="Times New Roman" panose="02020603050405020304" pitchFamily="18" charset="0"/>
              </a:rPr>
              <a:t>Economizar etapas;</a:t>
            </a:r>
          </a:p>
          <a:p>
            <a:r>
              <a:rPr lang="pt-BR" altLang="pt-BR" b="1" dirty="0">
                <a:solidFill>
                  <a:srgbClr val="002060"/>
                </a:solidFill>
                <a:cs typeface="Times New Roman" panose="02020603050405020304" pitchFamily="18" charset="0"/>
              </a:rPr>
              <a:t>Alteração do assunto a ser pesquisado. </a:t>
            </a:r>
            <a:r>
              <a:rPr lang="pt-BR" altLang="pt-BR" b="1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>
            <a:extLst>
              <a:ext uri="{FF2B5EF4-FFF2-40B4-BE49-F238E27FC236}">
                <a16:creationId xmlns:a16="http://schemas.microsoft.com/office/drawing/2014/main" id="{5FEFCBE1-CD1F-534C-9444-637B60868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b="0" baseline="0"/>
              <a:t>Busca de Patentes</a:t>
            </a:r>
          </a:p>
        </p:txBody>
      </p:sp>
      <p:sp>
        <p:nvSpPr>
          <p:cNvPr id="1349635" name="Rectangle 3">
            <a:extLst>
              <a:ext uri="{FF2B5EF4-FFF2-40B4-BE49-F238E27FC236}">
                <a16:creationId xmlns:a16="http://schemas.microsoft.com/office/drawing/2014/main" id="{584DE237-AC47-844B-8A2B-C5CEE3F6E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1989138"/>
            <a:ext cx="3810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aseline="0"/>
              <a:t>Instituto Nacional da Propriedade Industrial</a:t>
            </a:r>
          </a:p>
        </p:txBody>
      </p:sp>
      <p:sp>
        <p:nvSpPr>
          <p:cNvPr id="1349636" name="Rectangle 4">
            <a:extLst>
              <a:ext uri="{FF2B5EF4-FFF2-40B4-BE49-F238E27FC236}">
                <a16:creationId xmlns:a16="http://schemas.microsoft.com/office/drawing/2014/main" id="{1C93C362-EDE1-B846-966D-CEEAD269E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108200"/>
            <a:ext cx="41846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400" baseline="0">
                <a:solidFill>
                  <a:schemeClr val="accent2"/>
                </a:solidFill>
                <a:hlinkClick r:id="rId2"/>
              </a:rPr>
              <a:t>http://www.inpi.gov.br</a:t>
            </a:r>
            <a:endParaRPr lang="pt-BR" altLang="pt-BR" sz="2400" baseline="0">
              <a:solidFill>
                <a:schemeClr val="accent2"/>
              </a:solidFill>
            </a:endParaRPr>
          </a:p>
        </p:txBody>
      </p:sp>
      <p:sp>
        <p:nvSpPr>
          <p:cNvPr id="1349637" name="Rectangle 5">
            <a:extLst>
              <a:ext uri="{FF2B5EF4-FFF2-40B4-BE49-F238E27FC236}">
                <a16:creationId xmlns:a16="http://schemas.microsoft.com/office/drawing/2014/main" id="{681EDBA5-4ED4-4049-98CA-A1A61ADE7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19400"/>
            <a:ext cx="3810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aseline="0"/>
              <a:t>European Patent Office</a:t>
            </a:r>
          </a:p>
        </p:txBody>
      </p:sp>
      <p:sp>
        <p:nvSpPr>
          <p:cNvPr id="1349638" name="Rectangle 6">
            <a:extLst>
              <a:ext uri="{FF2B5EF4-FFF2-40B4-BE49-F238E27FC236}">
                <a16:creationId xmlns:a16="http://schemas.microsoft.com/office/drawing/2014/main" id="{52504B5C-EAD4-7346-B5F8-07153C15B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3810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aseline="0"/>
              <a:t>Japan Patent Office</a:t>
            </a:r>
          </a:p>
        </p:txBody>
      </p:sp>
      <p:sp>
        <p:nvSpPr>
          <p:cNvPr id="1349639" name="Rectangle 7">
            <a:extLst>
              <a:ext uri="{FF2B5EF4-FFF2-40B4-BE49-F238E27FC236}">
                <a16:creationId xmlns:a16="http://schemas.microsoft.com/office/drawing/2014/main" id="{8D60644C-1614-8543-AFAA-70D599BA9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733800"/>
            <a:ext cx="381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aseline="0"/>
              <a:t>United States Patent and Trademark Office</a:t>
            </a:r>
          </a:p>
        </p:txBody>
      </p:sp>
      <p:sp>
        <p:nvSpPr>
          <p:cNvPr id="1349640" name="Rectangle 8">
            <a:extLst>
              <a:ext uri="{FF2B5EF4-FFF2-40B4-BE49-F238E27FC236}">
                <a16:creationId xmlns:a16="http://schemas.microsoft.com/office/drawing/2014/main" id="{D3A4B306-5DE6-A747-B3FD-66D4AA874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800600"/>
            <a:ext cx="381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aseline="0"/>
              <a:t>ISI Web of Knowledge</a:t>
            </a:r>
          </a:p>
          <a:p>
            <a:pPr algn="ctr">
              <a:buFontTx/>
              <a:buNone/>
            </a:pPr>
            <a:r>
              <a:rPr lang="pt-BR" altLang="pt-BR" sz="1800" baseline="0"/>
              <a:t>USP convênio FAPESP</a:t>
            </a:r>
          </a:p>
        </p:txBody>
      </p:sp>
      <p:sp>
        <p:nvSpPr>
          <p:cNvPr id="1349641" name="Rectangle 9">
            <a:extLst>
              <a:ext uri="{FF2B5EF4-FFF2-40B4-BE49-F238E27FC236}">
                <a16:creationId xmlns:a16="http://schemas.microsoft.com/office/drawing/2014/main" id="{C0721DD2-022E-8841-B2AC-E3A30A99A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708275"/>
            <a:ext cx="454501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400" baseline="0">
                <a:solidFill>
                  <a:schemeClr val="accent2"/>
                </a:solidFill>
                <a:hlinkClick r:id="rId3"/>
              </a:rPr>
              <a:t>http://ep.espacenet.com</a:t>
            </a:r>
            <a:endParaRPr lang="pt-BR" altLang="pt-BR" sz="2400" baseline="0">
              <a:solidFill>
                <a:schemeClr val="accent2"/>
              </a:solidFill>
            </a:endParaRPr>
          </a:p>
        </p:txBody>
      </p:sp>
      <p:sp>
        <p:nvSpPr>
          <p:cNvPr id="1349642" name="Rectangle 10">
            <a:extLst>
              <a:ext uri="{FF2B5EF4-FFF2-40B4-BE49-F238E27FC236}">
                <a16:creationId xmlns:a16="http://schemas.microsoft.com/office/drawing/2014/main" id="{56194D14-631C-D946-9C70-B69D7158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251200"/>
            <a:ext cx="3810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400" baseline="0">
                <a:solidFill>
                  <a:schemeClr val="accent2"/>
                </a:solidFill>
                <a:hlinkClick r:id="rId4"/>
              </a:rPr>
              <a:t>http://www.jpo.go.jp</a:t>
            </a:r>
            <a:endParaRPr lang="pt-BR" altLang="pt-BR" sz="2400" baseline="0">
              <a:solidFill>
                <a:schemeClr val="accent2"/>
              </a:solidFill>
            </a:endParaRPr>
          </a:p>
        </p:txBody>
      </p:sp>
      <p:sp>
        <p:nvSpPr>
          <p:cNvPr id="1349643" name="Rectangle 11">
            <a:extLst>
              <a:ext uri="{FF2B5EF4-FFF2-40B4-BE49-F238E27FC236}">
                <a16:creationId xmlns:a16="http://schemas.microsoft.com/office/drawing/2014/main" id="{A74102BE-1F45-234E-BCE2-4C3BE58AC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860800"/>
            <a:ext cx="4724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400" baseline="0">
                <a:solidFill>
                  <a:schemeClr val="accent2"/>
                </a:solidFill>
                <a:hlinkClick r:id="rId5"/>
              </a:rPr>
              <a:t>http://www.uspto.gov</a:t>
            </a:r>
            <a:endParaRPr lang="pt-BR" altLang="pt-BR" sz="2400" baseline="0">
              <a:solidFill>
                <a:schemeClr val="accent2"/>
              </a:solidFill>
            </a:endParaRPr>
          </a:p>
        </p:txBody>
      </p:sp>
      <p:sp>
        <p:nvSpPr>
          <p:cNvPr id="1349644" name="Rectangle 12">
            <a:extLst>
              <a:ext uri="{FF2B5EF4-FFF2-40B4-BE49-F238E27FC236}">
                <a16:creationId xmlns:a16="http://schemas.microsoft.com/office/drawing/2014/main" id="{0173BF78-FF72-7A43-AAA0-0FF14AD14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1" y="4797425"/>
            <a:ext cx="49688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spcAft>
                <a:spcPct val="50000"/>
              </a:spcAft>
              <a:buChar char="•"/>
              <a:defRPr sz="2000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marL="742950" indent="-285750" algn="l">
              <a:spcBef>
                <a:spcPct val="20000"/>
              </a:spcBef>
              <a:spcAft>
                <a:spcPct val="50000"/>
              </a:spcAft>
              <a:buChar char="–"/>
              <a:defRPr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marL="1143000" indent="-228600" algn="l">
              <a:spcBef>
                <a:spcPct val="20000"/>
              </a:spcBef>
              <a:spcAft>
                <a:spcPct val="50000"/>
              </a:spcAft>
              <a:buChar char="•"/>
              <a:defRPr sz="1600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marL="1600200" indent="-228600" algn="l">
              <a:spcBef>
                <a:spcPct val="20000"/>
              </a:spcBef>
              <a:spcAft>
                <a:spcPct val="50000"/>
              </a:spcAft>
              <a:buChar char="–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marL="2057400" indent="-228600" algn="l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50000"/>
              </a:spcAft>
              <a:buChar char="»"/>
              <a:defRPr sz="1400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baseline="0">
                <a:hlinkClick r:id="rId6"/>
              </a:rPr>
              <a:t>http://isi3.newisiknowledge.com/</a:t>
            </a:r>
            <a:endParaRPr lang="pt-BR" altLang="pt-BR" baseline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9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9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4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4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4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4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4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49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49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4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4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4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4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4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4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9635" grpId="0" build="p" autoUpdateAnimBg="0"/>
      <p:bldP spid="1349636" grpId="0" build="p" autoUpdateAnimBg="0"/>
      <p:bldP spid="1349637" grpId="0" autoUpdateAnimBg="0"/>
      <p:bldP spid="1349638" grpId="0" autoUpdateAnimBg="0"/>
      <p:bldP spid="1349639" grpId="0" autoUpdateAnimBg="0"/>
      <p:bldP spid="1349640" grpId="0" build="p" autoUpdateAnimBg="0"/>
      <p:bldP spid="1349641" grpId="0" autoUpdateAnimBg="0"/>
      <p:bldP spid="1349642" grpId="0" autoUpdateAnimBg="0"/>
      <p:bldP spid="1349643" grpId="0" autoUpdateAnimBg="0"/>
      <p:bldP spid="134964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154" name="Rectangle 2">
            <a:extLst>
              <a:ext uri="{FF2B5EF4-FFF2-40B4-BE49-F238E27FC236}">
                <a16:creationId xmlns:a16="http://schemas.microsoft.com/office/drawing/2014/main" id="{362C8FC4-2223-E148-8F7D-32D2111F8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PEDIDO DE PATENTE</a:t>
            </a:r>
          </a:p>
        </p:txBody>
      </p:sp>
      <p:sp>
        <p:nvSpPr>
          <p:cNvPr id="1329155" name="Rectangle 3">
            <a:extLst>
              <a:ext uri="{FF2B5EF4-FFF2-40B4-BE49-F238E27FC236}">
                <a16:creationId xmlns:a16="http://schemas.microsoft.com/office/drawing/2014/main" id="{303B387D-3D2F-5244-AF9F-8A8ACACE8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pt-BR" altLang="pt-BR" sz="3200" b="1"/>
              <a:t>REQUERIMENTO</a:t>
            </a:r>
          </a:p>
          <a:p>
            <a:pPr marL="457200" indent="-457200">
              <a:buFontTx/>
              <a:buAutoNum type="arabicPeriod"/>
            </a:pPr>
            <a:r>
              <a:rPr lang="pt-BR" altLang="pt-BR"/>
              <a:t>GUIA DE PAGAMENTO- deposito de patente</a:t>
            </a:r>
          </a:p>
          <a:p>
            <a:pPr marL="457200" indent="-457200">
              <a:buFontTx/>
              <a:buAutoNum type="arabicPeriod"/>
            </a:pPr>
            <a:r>
              <a:rPr lang="pt-BR" altLang="pt-BR"/>
              <a:t>RELATÓRIO DESCRITIVO</a:t>
            </a:r>
          </a:p>
          <a:p>
            <a:pPr marL="457200" indent="-457200">
              <a:buFontTx/>
              <a:buAutoNum type="arabicPeriod"/>
            </a:pPr>
            <a:r>
              <a:rPr lang="pt-BR" altLang="pt-BR"/>
              <a:t>REINVIDICAÇOES</a:t>
            </a:r>
          </a:p>
          <a:p>
            <a:pPr marL="457200" indent="-457200">
              <a:buFontTx/>
              <a:buAutoNum type="arabicPeriod"/>
            </a:pPr>
            <a:r>
              <a:rPr lang="pt-BR" altLang="pt-BR"/>
              <a:t>DESENHO, SE FOR O CASO</a:t>
            </a:r>
          </a:p>
          <a:p>
            <a:pPr marL="457200" indent="-457200">
              <a:buFontTx/>
              <a:buAutoNum type="arabicPeriod"/>
            </a:pPr>
            <a:r>
              <a:rPr lang="pt-BR" altLang="pt-BR"/>
              <a:t>RESUMO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04" name="Rectangle 4">
            <a:extLst>
              <a:ext uri="{FF2B5EF4-FFF2-40B4-BE49-F238E27FC236}">
                <a16:creationId xmlns:a16="http://schemas.microsoft.com/office/drawing/2014/main" id="{7381A776-E6F8-F64E-B851-836C39D68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721" y="599067"/>
            <a:ext cx="74168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800" baseline="0" dirty="0"/>
              <a:t>EXAME DE PEDIDO DE PATENTE</a:t>
            </a:r>
          </a:p>
        </p:txBody>
      </p:sp>
      <p:sp>
        <p:nvSpPr>
          <p:cNvPr id="1331205" name="Rectangle 5">
            <a:extLst>
              <a:ext uri="{FF2B5EF4-FFF2-40B4-BE49-F238E27FC236}">
                <a16:creationId xmlns:a16="http://schemas.microsoft.com/office/drawing/2014/main" id="{77370224-4ABE-AF4E-999A-7002D9509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278064"/>
            <a:ext cx="8351837" cy="71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1206" name="Line 6">
            <a:extLst>
              <a:ext uri="{FF2B5EF4-FFF2-40B4-BE49-F238E27FC236}">
                <a16:creationId xmlns:a16="http://schemas.microsoft.com/office/drawing/2014/main" id="{DCFB9704-D77E-F44D-A8FF-B12BA1A2E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550" y="1557339"/>
            <a:ext cx="0" cy="2160587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07" name="Line 7">
            <a:extLst>
              <a:ext uri="{FF2B5EF4-FFF2-40B4-BE49-F238E27FC236}">
                <a16:creationId xmlns:a16="http://schemas.microsoft.com/office/drawing/2014/main" id="{8C3D4CD6-522F-6348-98EE-04C5FDCCCA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95550" y="1773238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08" name="Line 8">
            <a:extLst>
              <a:ext uri="{FF2B5EF4-FFF2-40B4-BE49-F238E27FC236}">
                <a16:creationId xmlns:a16="http://schemas.microsoft.com/office/drawing/2014/main" id="{A4AF4324-EC1D-1841-8008-87096890F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557339"/>
            <a:ext cx="0" cy="2160587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09" name="Text Box 9">
            <a:extLst>
              <a:ext uri="{FF2B5EF4-FFF2-40B4-BE49-F238E27FC236}">
                <a16:creationId xmlns:a16="http://schemas.microsoft.com/office/drawing/2014/main" id="{03D0167D-31BA-3345-89E2-3F37FE114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2420939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18 MESES</a:t>
            </a:r>
          </a:p>
        </p:txBody>
      </p:sp>
      <p:sp>
        <p:nvSpPr>
          <p:cNvPr id="1331210" name="Text Box 10">
            <a:extLst>
              <a:ext uri="{FF2B5EF4-FFF2-40B4-BE49-F238E27FC236}">
                <a16:creationId xmlns:a16="http://schemas.microsoft.com/office/drawing/2014/main" id="{99E6293D-2844-A04A-8F98-9B1E3EEB5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1846263"/>
            <a:ext cx="2089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400" b="1" baseline="0">
                <a:solidFill>
                  <a:schemeClr val="accent2"/>
                </a:solidFill>
              </a:rPr>
              <a:t>TEMPO DE SIGILO </a:t>
            </a:r>
          </a:p>
        </p:txBody>
      </p:sp>
      <p:sp>
        <p:nvSpPr>
          <p:cNvPr id="1331211" name="Text Box 11">
            <a:extLst>
              <a:ext uri="{FF2B5EF4-FFF2-40B4-BE49-F238E27FC236}">
                <a16:creationId xmlns:a16="http://schemas.microsoft.com/office/drawing/2014/main" id="{886E8077-7D39-CB4A-BA95-AF5775554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1308102"/>
            <a:ext cx="3887787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dirty="0"/>
              <a:t>A publicação do pedido poderá ser antecipada a requerimento do depositante</a:t>
            </a:r>
          </a:p>
        </p:txBody>
      </p:sp>
      <p:sp>
        <p:nvSpPr>
          <p:cNvPr id="1331212" name="Text Box 12">
            <a:extLst>
              <a:ext uri="{FF2B5EF4-FFF2-40B4-BE49-F238E27FC236}">
                <a16:creationId xmlns:a16="http://schemas.microsoft.com/office/drawing/2014/main" id="{353CAAA2-697C-4943-BC67-EC1688DEE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9" y="3644900"/>
            <a:ext cx="1296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800" b="1" dirty="0"/>
              <a:t>DATA DO DEPÓSITO</a:t>
            </a:r>
          </a:p>
        </p:txBody>
      </p:sp>
      <p:sp>
        <p:nvSpPr>
          <p:cNvPr id="1331213" name="Text Box 13">
            <a:extLst>
              <a:ext uri="{FF2B5EF4-FFF2-40B4-BE49-F238E27FC236}">
                <a16:creationId xmlns:a16="http://schemas.microsoft.com/office/drawing/2014/main" id="{123F08D7-43FC-F644-915E-1FB96F99F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7" y="3644901"/>
            <a:ext cx="15836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sz="1800" b="1" dirty="0"/>
              <a:t>DATA DE PUBLICAÇÃO DO PEDIDO</a:t>
            </a:r>
          </a:p>
        </p:txBody>
      </p:sp>
      <p:sp>
        <p:nvSpPr>
          <p:cNvPr id="1331219" name="Text Box 19">
            <a:extLst>
              <a:ext uri="{FF2B5EF4-FFF2-40B4-BE49-F238E27FC236}">
                <a16:creationId xmlns:a16="http://schemas.microsoft.com/office/drawing/2014/main" id="{F038625B-6AA5-E84F-B437-171ACB5EA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766" y="5144279"/>
            <a:ext cx="77049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400" dirty="0"/>
              <a:t>Será facultada a apresentação pelos interessados de documentos e informações para subsidiarem o exame, após 60 dias da data de publicação.  </a:t>
            </a:r>
          </a:p>
        </p:txBody>
      </p:sp>
      <p:sp>
        <p:nvSpPr>
          <p:cNvPr id="1331220" name="Line 20">
            <a:extLst>
              <a:ext uri="{FF2B5EF4-FFF2-40B4-BE49-F238E27FC236}">
                <a16:creationId xmlns:a16="http://schemas.microsoft.com/office/drawing/2014/main" id="{9A3148BC-BC13-F54B-BF98-2218612C6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4288" y="2278063"/>
            <a:ext cx="0" cy="143986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23" name="Line 23">
            <a:extLst>
              <a:ext uri="{FF2B5EF4-FFF2-40B4-BE49-F238E27FC236}">
                <a16:creationId xmlns:a16="http://schemas.microsoft.com/office/drawing/2014/main" id="{F12D478E-EF34-1E40-85B3-8B3CC1BC0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550" y="2854325"/>
            <a:ext cx="633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24" name="Text Box 24">
            <a:extLst>
              <a:ext uri="{FF2B5EF4-FFF2-40B4-BE49-F238E27FC236}">
                <a16:creationId xmlns:a16="http://schemas.microsoft.com/office/drawing/2014/main" id="{7A9C1A66-E4ED-B248-8149-E5033BBA6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9" y="2420939"/>
            <a:ext cx="2663825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/>
              <a:t>36 MESES</a:t>
            </a:r>
          </a:p>
        </p:txBody>
      </p:sp>
      <p:sp>
        <p:nvSpPr>
          <p:cNvPr id="1331225" name="Text Box 25">
            <a:extLst>
              <a:ext uri="{FF2B5EF4-FFF2-40B4-BE49-F238E27FC236}">
                <a16:creationId xmlns:a16="http://schemas.microsoft.com/office/drawing/2014/main" id="{3E353BA9-2FAF-CC4F-AF92-CF22111C8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9" y="3717926"/>
            <a:ext cx="1800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1800" b="1"/>
              <a:t>Requerimento do pedido de patente pelo depositante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082" name="Rectangle 2">
            <a:extLst>
              <a:ext uri="{FF2B5EF4-FFF2-40B4-BE49-F238E27FC236}">
                <a16:creationId xmlns:a16="http://schemas.microsoft.com/office/drawing/2014/main" id="{AD48B4F0-EDF0-314C-B606-ECC1E2E87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5" y="1"/>
            <a:ext cx="8504238" cy="720725"/>
          </a:xfrm>
        </p:spPr>
        <p:txBody>
          <a:bodyPr/>
          <a:lstStyle/>
          <a:p>
            <a:r>
              <a:rPr lang="pt-BR" altLang="pt-BR" sz="3200"/>
              <a:t>EXEMPLO MODELO DE UTILIDADE</a:t>
            </a:r>
          </a:p>
        </p:txBody>
      </p:sp>
      <p:sp>
        <p:nvSpPr>
          <p:cNvPr id="1326087" name="Rectangle 7">
            <a:extLst>
              <a:ext uri="{FF2B5EF4-FFF2-40B4-BE49-F238E27FC236}">
                <a16:creationId xmlns:a16="http://schemas.microsoft.com/office/drawing/2014/main" id="{D91D7116-C843-EB4F-8F91-47B19375C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b="0" baseline="0"/>
              <a:t>1. </a:t>
            </a:r>
            <a:r>
              <a:rPr lang="pt-BR" altLang="pt-BR" baseline="0"/>
              <a:t>Título</a:t>
            </a:r>
          </a:p>
        </p:txBody>
      </p:sp>
      <p:sp>
        <p:nvSpPr>
          <p:cNvPr id="1326088" name="Text Box 8">
            <a:extLst>
              <a:ext uri="{FF2B5EF4-FFF2-40B4-BE49-F238E27FC236}">
                <a16:creationId xmlns:a16="http://schemas.microsoft.com/office/drawing/2014/main" id="{025744D6-7E3F-6749-98E3-A6FA31B67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1844675"/>
            <a:ext cx="7345362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 b="1">
                <a:solidFill>
                  <a:srgbClr val="003399"/>
                </a:solidFill>
              </a:rPr>
              <a:t>COMEDOR DE RAÇÃO PARA PINTINHOS</a:t>
            </a:r>
          </a:p>
        </p:txBody>
      </p:sp>
      <p:sp>
        <p:nvSpPr>
          <p:cNvPr id="1326089" name="Rectangle 9">
            <a:extLst>
              <a:ext uri="{FF2B5EF4-FFF2-40B4-BE49-F238E27FC236}">
                <a16:creationId xmlns:a16="http://schemas.microsoft.com/office/drawing/2014/main" id="{7FCD960E-A42E-6C47-8ED0-F13F9BA33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205038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1pPr>
            <a:lvl2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2pPr>
            <a:lvl3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3pPr>
            <a:lvl4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4pPr>
            <a:lvl5pPr algn="l"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2800" b="0" baseline="0"/>
              <a:t>2. </a:t>
            </a:r>
            <a:r>
              <a:rPr lang="pt-BR" altLang="pt-BR" sz="2400" baseline="0"/>
              <a:t>Apresentação do modelo ou invento</a:t>
            </a:r>
          </a:p>
        </p:txBody>
      </p:sp>
      <p:pic>
        <p:nvPicPr>
          <p:cNvPr id="1326090" name="Picture 10">
            <a:extLst>
              <a:ext uri="{FF2B5EF4-FFF2-40B4-BE49-F238E27FC236}">
                <a16:creationId xmlns:a16="http://schemas.microsoft.com/office/drawing/2014/main" id="{4A6FE60C-E279-DD4F-BA08-0C785814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3357564"/>
            <a:ext cx="8043862" cy="165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>
            <a:extLst>
              <a:ext uri="{FF2B5EF4-FFF2-40B4-BE49-F238E27FC236}">
                <a16:creationId xmlns:a16="http://schemas.microsoft.com/office/drawing/2014/main" id="{45DC4014-6DC0-674C-A3A7-907B546A2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188" y="981076"/>
            <a:ext cx="7777162" cy="720725"/>
          </a:xfrm>
        </p:spPr>
        <p:txBody>
          <a:bodyPr/>
          <a:lstStyle/>
          <a:p>
            <a:r>
              <a:rPr lang="pt-BR" altLang="pt-BR" sz="2400"/>
              <a:t>3. Breve descrição do estado da técnica referente ao pedido</a:t>
            </a:r>
          </a:p>
        </p:txBody>
      </p:sp>
      <p:pic>
        <p:nvPicPr>
          <p:cNvPr id="1366020" name="Picture 4">
            <a:extLst>
              <a:ext uri="{FF2B5EF4-FFF2-40B4-BE49-F238E27FC236}">
                <a16:creationId xmlns:a16="http://schemas.microsoft.com/office/drawing/2014/main" id="{DF8B853F-54A2-9E43-A4DA-6DBC4E1E4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1" y="2095501"/>
            <a:ext cx="8088313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042" name="Rectangle 2">
            <a:extLst>
              <a:ext uri="{FF2B5EF4-FFF2-40B4-BE49-F238E27FC236}">
                <a16:creationId xmlns:a16="http://schemas.microsoft.com/office/drawing/2014/main" id="{C538B98D-D4A7-DB42-9E38-B6B040659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1" y="1052514"/>
            <a:ext cx="7991475" cy="720725"/>
          </a:xfrm>
        </p:spPr>
        <p:txBody>
          <a:bodyPr>
            <a:normAutofit fontScale="90000"/>
          </a:bodyPr>
          <a:lstStyle/>
          <a:p>
            <a:r>
              <a:rPr lang="pt-BR" altLang="pt-BR" sz="2800"/>
              <a:t>4. Apresentação do problema existentes no estado da técnica</a:t>
            </a:r>
          </a:p>
        </p:txBody>
      </p:sp>
      <p:pic>
        <p:nvPicPr>
          <p:cNvPr id="1367044" name="Picture 4">
            <a:extLst>
              <a:ext uri="{FF2B5EF4-FFF2-40B4-BE49-F238E27FC236}">
                <a16:creationId xmlns:a16="http://schemas.microsoft.com/office/drawing/2014/main" id="{046A3809-4835-3C46-ABFC-072835CE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060576"/>
            <a:ext cx="7920038" cy="424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066" name="Rectangle 2">
            <a:extLst>
              <a:ext uri="{FF2B5EF4-FFF2-40B4-BE49-F238E27FC236}">
                <a16:creationId xmlns:a16="http://schemas.microsoft.com/office/drawing/2014/main" id="{D04A868E-9106-BA43-9D04-0C2A70BA4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052514"/>
            <a:ext cx="7848600" cy="720725"/>
          </a:xfrm>
        </p:spPr>
        <p:txBody>
          <a:bodyPr/>
          <a:lstStyle/>
          <a:p>
            <a:r>
              <a:rPr lang="pt-BR" altLang="pt-BR" sz="3200"/>
              <a:t>5. Apresentação das soluções em linhas gerais </a:t>
            </a:r>
          </a:p>
        </p:txBody>
      </p:sp>
      <p:pic>
        <p:nvPicPr>
          <p:cNvPr id="1368068" name="Picture 4">
            <a:extLst>
              <a:ext uri="{FF2B5EF4-FFF2-40B4-BE49-F238E27FC236}">
                <a16:creationId xmlns:a16="http://schemas.microsoft.com/office/drawing/2014/main" id="{47432F1A-C137-FE45-8951-F020D4B21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060575"/>
            <a:ext cx="7727950" cy="167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114" name="Rectangle 2">
            <a:extLst>
              <a:ext uri="{FF2B5EF4-FFF2-40B4-BE49-F238E27FC236}">
                <a16:creationId xmlns:a16="http://schemas.microsoft.com/office/drawing/2014/main" id="{D0DD3019-68DA-4F48-876D-DED7737A8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1" y="981076"/>
            <a:ext cx="7273925" cy="720725"/>
          </a:xfrm>
        </p:spPr>
        <p:txBody>
          <a:bodyPr/>
          <a:lstStyle/>
          <a:p>
            <a:r>
              <a:rPr lang="pt-BR" altLang="pt-BR" sz="3200"/>
              <a:t>6. Apresentação das figuras</a:t>
            </a:r>
          </a:p>
        </p:txBody>
      </p:sp>
      <p:pic>
        <p:nvPicPr>
          <p:cNvPr id="1370116" name="Picture 4">
            <a:extLst>
              <a:ext uri="{FF2B5EF4-FFF2-40B4-BE49-F238E27FC236}">
                <a16:creationId xmlns:a16="http://schemas.microsoft.com/office/drawing/2014/main" id="{DE9C2466-CE8B-2D44-AD0E-D2FBB7C6D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1" y="1836739"/>
            <a:ext cx="8583613" cy="318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138" name="Rectangle 2">
            <a:extLst>
              <a:ext uri="{FF2B5EF4-FFF2-40B4-BE49-F238E27FC236}">
                <a16:creationId xmlns:a16="http://schemas.microsoft.com/office/drawing/2014/main" id="{5F7EF42F-31D4-5A48-8468-020D23B22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0" y="908051"/>
            <a:ext cx="8064500" cy="720725"/>
          </a:xfrm>
        </p:spPr>
        <p:txBody>
          <a:bodyPr/>
          <a:lstStyle/>
          <a:p>
            <a:r>
              <a:rPr lang="pt-BR" altLang="pt-BR" sz="3200"/>
              <a:t>7. Descrição detalhada do modelo</a:t>
            </a:r>
          </a:p>
        </p:txBody>
      </p:sp>
      <p:pic>
        <p:nvPicPr>
          <p:cNvPr id="1371140" name="Picture 4">
            <a:extLst>
              <a:ext uri="{FF2B5EF4-FFF2-40B4-BE49-F238E27FC236}">
                <a16:creationId xmlns:a16="http://schemas.microsoft.com/office/drawing/2014/main" id="{5F9D662A-CA7C-1A4D-97A2-55A6BDDFB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1844676"/>
            <a:ext cx="4248150" cy="156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71141" name="Picture 5">
            <a:extLst>
              <a:ext uri="{FF2B5EF4-FFF2-40B4-BE49-F238E27FC236}">
                <a16:creationId xmlns:a16="http://schemas.microsoft.com/office/drawing/2014/main" id="{CD470033-BB22-6343-B427-A3E68176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3429001"/>
            <a:ext cx="5543550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090" name="Rectangle 2">
            <a:extLst>
              <a:ext uri="{FF2B5EF4-FFF2-40B4-BE49-F238E27FC236}">
                <a16:creationId xmlns:a16="http://schemas.microsoft.com/office/drawing/2014/main" id="{279E1C4D-26D0-CE4C-9623-B2D0FB080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1369092" name="Picture 4">
            <a:extLst>
              <a:ext uri="{FF2B5EF4-FFF2-40B4-BE49-F238E27FC236}">
                <a16:creationId xmlns:a16="http://schemas.microsoft.com/office/drawing/2014/main" id="{CAA7327C-2160-274E-A7DD-41451310E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484314"/>
            <a:ext cx="6769100" cy="466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>
            <a:extLst>
              <a:ext uri="{FF2B5EF4-FFF2-40B4-BE49-F238E27FC236}">
                <a16:creationId xmlns:a16="http://schemas.microsoft.com/office/drawing/2014/main" id="{08FD8980-5537-6B4A-8D0A-04CC13A8B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REINVIDICAÇÕES</a:t>
            </a:r>
          </a:p>
        </p:txBody>
      </p:sp>
      <p:pic>
        <p:nvPicPr>
          <p:cNvPr id="1372164" name="Picture 4">
            <a:extLst>
              <a:ext uri="{FF2B5EF4-FFF2-40B4-BE49-F238E27FC236}">
                <a16:creationId xmlns:a16="http://schemas.microsoft.com/office/drawing/2014/main" id="{6EE0BB91-A703-A449-AB01-4A463F330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450" y="1628775"/>
            <a:ext cx="8718550" cy="304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72165" name="Text Box 5">
            <a:extLst>
              <a:ext uri="{FF2B5EF4-FFF2-40B4-BE49-F238E27FC236}">
                <a16:creationId xmlns:a16="http://schemas.microsoft.com/office/drawing/2014/main" id="{02014758-659F-C243-A842-D6A146A48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4941889"/>
            <a:ext cx="69119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2800">
                <a:solidFill>
                  <a:srgbClr val="CC3300"/>
                </a:solidFill>
              </a:rPr>
              <a:t>DESCREVE A PARTE JÁ ABRANGIDA PELO ESTADO DA TÉCNICA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>
            <a:extLst>
              <a:ext uri="{FF2B5EF4-FFF2-40B4-BE49-F238E27FC236}">
                <a16:creationId xmlns:a16="http://schemas.microsoft.com/office/drawing/2014/main" id="{24AF63CA-8D89-1F40-BF0A-138B6AEF6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1373188" name="Picture 4">
            <a:extLst>
              <a:ext uri="{FF2B5EF4-FFF2-40B4-BE49-F238E27FC236}">
                <a16:creationId xmlns:a16="http://schemas.microsoft.com/office/drawing/2014/main" id="{DE4CBAFE-D7AA-EB4F-8AD7-12C8E91D5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2852739"/>
            <a:ext cx="799941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:a16="http://schemas.microsoft.com/office/drawing/2014/main" id="{B3F3FFE8-6226-0E47-BE82-39D3D4037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400"/>
              <a:t>Descreve a parte inventiva do objeto</a:t>
            </a:r>
          </a:p>
        </p:txBody>
      </p:sp>
      <p:pic>
        <p:nvPicPr>
          <p:cNvPr id="1374213" name="Picture 5">
            <a:extLst>
              <a:ext uri="{FF2B5EF4-FFF2-40B4-BE49-F238E27FC236}">
                <a16:creationId xmlns:a16="http://schemas.microsoft.com/office/drawing/2014/main" id="{8EC9A6E8-1CC0-8645-83DD-05561DE05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908050"/>
            <a:ext cx="8043863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234" name="Rectangle 2">
            <a:extLst>
              <a:ext uri="{FF2B5EF4-FFF2-40B4-BE49-F238E27FC236}">
                <a16:creationId xmlns:a16="http://schemas.microsoft.com/office/drawing/2014/main" id="{633D3E23-6BCF-1A4E-9F72-A5F3BD431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Desenhos</a:t>
            </a:r>
          </a:p>
        </p:txBody>
      </p:sp>
      <p:pic>
        <p:nvPicPr>
          <p:cNvPr id="1375236" name="Picture 4">
            <a:extLst>
              <a:ext uri="{FF2B5EF4-FFF2-40B4-BE49-F238E27FC236}">
                <a16:creationId xmlns:a16="http://schemas.microsoft.com/office/drawing/2014/main" id="{90B3FFBF-1E29-E843-B893-9DEBAAAF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908051"/>
            <a:ext cx="3813175" cy="493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75237" name="Picture 5">
            <a:extLst>
              <a:ext uri="{FF2B5EF4-FFF2-40B4-BE49-F238E27FC236}">
                <a16:creationId xmlns:a16="http://schemas.microsoft.com/office/drawing/2014/main" id="{41166E31-6961-3C4A-A450-3BA15235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836613"/>
            <a:ext cx="399415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>
            <a:extLst>
              <a:ext uri="{FF2B5EF4-FFF2-40B4-BE49-F238E27FC236}">
                <a16:creationId xmlns:a16="http://schemas.microsoft.com/office/drawing/2014/main" id="{CC14E2A9-4B6B-FB4D-B493-CD375E530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Resumo</a:t>
            </a:r>
          </a:p>
        </p:txBody>
      </p:sp>
      <p:pic>
        <p:nvPicPr>
          <p:cNvPr id="1376260" name="Picture 4">
            <a:extLst>
              <a:ext uri="{FF2B5EF4-FFF2-40B4-BE49-F238E27FC236}">
                <a16:creationId xmlns:a16="http://schemas.microsoft.com/office/drawing/2014/main" id="{AFFEAE6C-2F4A-BC4D-9E95-63E728AB7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692150"/>
            <a:ext cx="7561263" cy="602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>
            <a:extLst>
              <a:ext uri="{FF2B5EF4-FFF2-40B4-BE49-F238E27FC236}">
                <a16:creationId xmlns:a16="http://schemas.microsoft.com/office/drawing/2014/main" id="{A405ABE9-6FF0-C348-94A6-93490A9C6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995332" name="Picture 4">
            <a:extLst>
              <a:ext uri="{FF2B5EF4-FFF2-40B4-BE49-F238E27FC236}">
                <a16:creationId xmlns:a16="http://schemas.microsoft.com/office/drawing/2014/main" id="{D93E6E9F-D7A8-C24C-AF7E-006DA7305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557338"/>
            <a:ext cx="2230438" cy="254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5333" name="Picture 5">
            <a:extLst>
              <a:ext uri="{FF2B5EF4-FFF2-40B4-BE49-F238E27FC236}">
                <a16:creationId xmlns:a16="http://schemas.microsoft.com/office/drawing/2014/main" id="{8C437FCF-2B42-5540-B85B-FDFAA8913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5" y="2420939"/>
            <a:ext cx="2057400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95334" name="Text Box 6">
            <a:extLst>
              <a:ext uri="{FF2B5EF4-FFF2-40B4-BE49-F238E27FC236}">
                <a16:creationId xmlns:a16="http://schemas.microsoft.com/office/drawing/2014/main" id="{42418CEC-3CE9-0144-8C1A-3B626CD49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1268413"/>
            <a:ext cx="44513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pt-BR" sz="5400" b="1" i="1" baseline="0">
                <a:latin typeface="Times New Roman" panose="02020603050405020304" pitchFamily="18" charset="0"/>
              </a:rPr>
              <a:t>Até a próxima!</a:t>
            </a:r>
            <a:endParaRPr lang="pt-BR" altLang="pt-BR" sz="5400" b="1" i="1" baseline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5" ma:contentTypeDescription="Crie um novo documento." ma:contentTypeScope="" ma:versionID="03a2bb3a47b51376378bf08e532d75c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fa73517d4a9523936914bab2fc4498b3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6262B-F06E-4F46-B07A-6C7F5BD90FCD}"/>
</file>

<file path=customXml/itemProps2.xml><?xml version="1.0" encoding="utf-8"?>
<ds:datastoreItem xmlns:ds="http://schemas.openxmlformats.org/officeDocument/2006/customXml" ds:itemID="{2A4A53A9-CCC3-468F-B130-6631D12A3EBF}">
  <ds:schemaRefs>
    <ds:schemaRef ds:uri="http://www.w3.org/XML/1998/namespace"/>
    <ds:schemaRef ds:uri="0616edac-8b85-431d-b1bb-a5cc9cdccc91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7DB4535-A19E-4671-9AD0-63CBFB053D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6788</TotalTime>
  <Words>1081</Words>
  <Application>Microsoft Macintosh PowerPoint</Application>
  <PresentationFormat>Widescreen</PresentationFormat>
  <Paragraphs>161</Paragraphs>
  <Slides>36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Calibri Light</vt:lpstr>
      <vt:lpstr>Lithograph</vt:lpstr>
      <vt:lpstr>Tahoma</vt:lpstr>
      <vt:lpstr>Times New Roman</vt:lpstr>
      <vt:lpstr>Verdana</vt:lpstr>
      <vt:lpstr>Design padrão</vt:lpstr>
      <vt:lpstr>Foto do Photo Editor</vt:lpstr>
      <vt:lpstr>Clip</vt:lpstr>
      <vt:lpstr>Apresentação do PowerPoint</vt:lpstr>
      <vt:lpstr>Estrutura da apresentação</vt:lpstr>
      <vt:lpstr>O QUE É UMA PATENTE ?</vt:lpstr>
      <vt:lpstr>Apresentação do PowerPoint</vt:lpstr>
      <vt:lpstr>PATENTES: INVENÇÃO/MODELO UTILIDADE </vt:lpstr>
      <vt:lpstr>PATENTES: INVENÇÃO/MODELO UTILIDADE </vt:lpstr>
      <vt:lpstr>Apresentação do PowerPoint</vt:lpstr>
      <vt:lpstr>Apresentação do PowerPoint</vt:lpstr>
      <vt:lpstr>14 de fevereiro de 1876 Deposito do pedido de telefone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DESENHO INDUSTRIAL - registro</vt:lpstr>
      <vt:lpstr>BUSCA PRÉVIA</vt:lpstr>
      <vt:lpstr>Apresentação do PowerPoint</vt:lpstr>
      <vt:lpstr>PEDIDO DE PATENTE</vt:lpstr>
      <vt:lpstr>Apresentação do PowerPoint</vt:lpstr>
      <vt:lpstr>EXEMPLO MODELO DE UTILIDADE</vt:lpstr>
      <vt:lpstr>3. Breve descrição do estado da técnica referente ao pedido</vt:lpstr>
      <vt:lpstr>4. Apresentação do problema existentes no estado da técnica</vt:lpstr>
      <vt:lpstr>5. Apresentação das soluções em linhas gerais </vt:lpstr>
      <vt:lpstr>6. Apresentação das figuras</vt:lpstr>
      <vt:lpstr>7. Descrição detalhada do modelo</vt:lpstr>
      <vt:lpstr>Apresentação do PowerPoint</vt:lpstr>
      <vt:lpstr>REINVIDICAÇÕES</vt:lpstr>
      <vt:lpstr>Apresentação do PowerPoint</vt:lpstr>
      <vt:lpstr>Descreve a parte inventiva do objeto</vt:lpstr>
      <vt:lpstr>Desenhos</vt:lpstr>
      <vt:lpstr>Resumo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Gitirana</dc:creator>
  <cp:lastModifiedBy>Andrea Cristina dos Santos</cp:lastModifiedBy>
  <cp:revision>145</cp:revision>
  <dcterms:created xsi:type="dcterms:W3CDTF">2006-08-20T12:27:28Z</dcterms:created>
  <dcterms:modified xsi:type="dcterms:W3CDTF">2022-02-16T21:45:31Z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