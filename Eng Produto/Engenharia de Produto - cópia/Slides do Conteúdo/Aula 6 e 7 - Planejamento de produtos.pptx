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9"/>
  </p:notesMasterIdLst>
  <p:sldIdLst>
    <p:sldId id="256" r:id="rId5"/>
    <p:sldId id="303" r:id="rId6"/>
    <p:sldId id="304" r:id="rId7"/>
    <p:sldId id="305" r:id="rId8"/>
    <p:sldId id="416" r:id="rId9"/>
    <p:sldId id="313" r:id="rId10"/>
    <p:sldId id="306" r:id="rId11"/>
    <p:sldId id="308" r:id="rId12"/>
    <p:sldId id="309" r:id="rId13"/>
    <p:sldId id="312" r:id="rId14"/>
    <p:sldId id="257" r:id="rId15"/>
    <p:sldId id="418" r:id="rId16"/>
    <p:sldId id="419" r:id="rId17"/>
    <p:sldId id="420" r:id="rId18"/>
    <p:sldId id="421" r:id="rId19"/>
    <p:sldId id="422" r:id="rId20"/>
    <p:sldId id="315" r:id="rId21"/>
    <p:sldId id="316" r:id="rId22"/>
    <p:sldId id="314" r:id="rId23"/>
    <p:sldId id="301" r:id="rId24"/>
    <p:sldId id="317" r:id="rId25"/>
    <p:sldId id="318" r:id="rId26"/>
    <p:sldId id="319" r:id="rId27"/>
    <p:sldId id="258" r:id="rId28"/>
    <p:sldId id="272" r:id="rId29"/>
    <p:sldId id="276" r:id="rId30"/>
    <p:sldId id="327" r:id="rId31"/>
    <p:sldId id="340" r:id="rId32"/>
    <p:sldId id="341" r:id="rId33"/>
    <p:sldId id="343" r:id="rId34"/>
    <p:sldId id="346" r:id="rId35"/>
    <p:sldId id="414" r:id="rId36"/>
    <p:sldId id="372" r:id="rId37"/>
    <p:sldId id="373" r:id="rId38"/>
    <p:sldId id="374" r:id="rId39"/>
    <p:sldId id="375" r:id="rId40"/>
    <p:sldId id="376" r:id="rId41"/>
    <p:sldId id="377" r:id="rId42"/>
    <p:sldId id="378" r:id="rId43"/>
    <p:sldId id="379" r:id="rId44"/>
    <p:sldId id="380" r:id="rId45"/>
    <p:sldId id="381" r:id="rId46"/>
    <p:sldId id="413" r:id="rId47"/>
    <p:sldId id="382" r:id="rId48"/>
    <p:sldId id="383" r:id="rId49"/>
    <p:sldId id="344" r:id="rId50"/>
    <p:sldId id="384" r:id="rId51"/>
    <p:sldId id="385" r:id="rId52"/>
    <p:sldId id="278" r:id="rId53"/>
    <p:sldId id="279" r:id="rId54"/>
    <p:sldId id="280" r:id="rId55"/>
    <p:sldId id="281" r:id="rId56"/>
    <p:sldId id="285" r:id="rId57"/>
    <p:sldId id="284" r:id="rId5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9FAB8E-D9DD-A747-9594-F7364A1E9FCA}" v="2" dt="2022-02-07T18:12:57.9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46"/>
    <p:restoredTop sz="92649"/>
  </p:normalViewPr>
  <p:slideViewPr>
    <p:cSldViewPr>
      <p:cViewPr varScale="1">
        <p:scale>
          <a:sx n="110" d="100"/>
          <a:sy n="110" d="100"/>
        </p:scale>
        <p:origin x="208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42A391-FD5D-4829-A431-6A9EC937BAE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BBC707A-E20B-4825-973F-9EDE266E48B5}">
      <dgm:prSet/>
      <dgm:spPr/>
      <dgm:t>
        <a:bodyPr/>
        <a:lstStyle/>
        <a:p>
          <a:r>
            <a:rPr lang="pt-BR"/>
            <a:t>4.1 Gest</a:t>
          </a:r>
          <a:r>
            <a:rPr lang="en-US"/>
            <a:t>ão do conhecimento</a:t>
          </a:r>
        </a:p>
      </dgm:t>
    </dgm:pt>
    <dgm:pt modelId="{18D6659E-B5C2-4419-B0F4-94CB7D3A9E92}" type="parTrans" cxnId="{D633F183-94BC-4D41-A80F-176CEF9E6D10}">
      <dgm:prSet/>
      <dgm:spPr/>
      <dgm:t>
        <a:bodyPr/>
        <a:lstStyle/>
        <a:p>
          <a:endParaRPr lang="en-US"/>
        </a:p>
      </dgm:t>
    </dgm:pt>
    <dgm:pt modelId="{1BA41289-7EBD-4A1A-8674-D7F5E2072F39}" type="sibTrans" cxnId="{D633F183-94BC-4D41-A80F-176CEF9E6D10}">
      <dgm:prSet/>
      <dgm:spPr/>
      <dgm:t>
        <a:bodyPr/>
        <a:lstStyle/>
        <a:p>
          <a:endParaRPr lang="en-US"/>
        </a:p>
      </dgm:t>
    </dgm:pt>
    <dgm:pt modelId="{2A9AADDE-48AB-4F20-9940-6B9FD772E335}">
      <dgm:prSet/>
      <dgm:spPr/>
      <dgm:t>
        <a:bodyPr/>
        <a:lstStyle/>
        <a:p>
          <a:r>
            <a:rPr lang="en-US"/>
            <a:t>4.2 Inteligência Competitiva</a:t>
          </a:r>
        </a:p>
      </dgm:t>
    </dgm:pt>
    <dgm:pt modelId="{B4AE56B2-2703-4B9C-8A05-A2514060F92F}" type="parTrans" cxnId="{99C13AD0-A771-4CD1-B308-364EFAC1108D}">
      <dgm:prSet/>
      <dgm:spPr/>
      <dgm:t>
        <a:bodyPr/>
        <a:lstStyle/>
        <a:p>
          <a:endParaRPr lang="en-US"/>
        </a:p>
      </dgm:t>
    </dgm:pt>
    <dgm:pt modelId="{94AB5C5D-0B39-4C79-A638-21401BB70E13}" type="sibTrans" cxnId="{99C13AD0-A771-4CD1-B308-364EFAC1108D}">
      <dgm:prSet/>
      <dgm:spPr/>
      <dgm:t>
        <a:bodyPr/>
        <a:lstStyle/>
        <a:p>
          <a:endParaRPr lang="en-US"/>
        </a:p>
      </dgm:t>
    </dgm:pt>
    <dgm:pt modelId="{6E488620-50DA-4859-B84F-694CFBA5DED5}">
      <dgm:prSet/>
      <dgm:spPr/>
      <dgm:t>
        <a:bodyPr/>
        <a:lstStyle/>
        <a:p>
          <a:r>
            <a:rPr lang="en-US"/>
            <a:t>4.3 Gestão da inovação de produtos</a:t>
          </a:r>
        </a:p>
      </dgm:t>
    </dgm:pt>
    <dgm:pt modelId="{C9B530BA-63E6-4153-9006-57662E3D2740}" type="parTrans" cxnId="{8ECE1C72-30CE-4886-8EE6-8EED149497DF}">
      <dgm:prSet/>
      <dgm:spPr/>
      <dgm:t>
        <a:bodyPr/>
        <a:lstStyle/>
        <a:p>
          <a:endParaRPr lang="en-US"/>
        </a:p>
      </dgm:t>
    </dgm:pt>
    <dgm:pt modelId="{9CFC8596-A21D-4F6B-8867-F742ECA8A5B5}" type="sibTrans" cxnId="{8ECE1C72-30CE-4886-8EE6-8EED149497DF}">
      <dgm:prSet/>
      <dgm:spPr/>
      <dgm:t>
        <a:bodyPr/>
        <a:lstStyle/>
        <a:p>
          <a:endParaRPr lang="en-US"/>
        </a:p>
      </dgm:t>
    </dgm:pt>
    <dgm:pt modelId="{8627AE3A-FDBC-438C-B5F0-C0F4529B9DDB}" type="pres">
      <dgm:prSet presAssocID="{2D42A391-FD5D-4829-A431-6A9EC937BAE7}" presName="root" presStyleCnt="0">
        <dgm:presLayoutVars>
          <dgm:dir/>
          <dgm:resizeHandles val="exact"/>
        </dgm:presLayoutVars>
      </dgm:prSet>
      <dgm:spPr/>
    </dgm:pt>
    <dgm:pt modelId="{A39B5443-99B0-425A-BA09-F386640CAD21}" type="pres">
      <dgm:prSet presAssocID="{0BBC707A-E20B-4825-973F-9EDE266E48B5}" presName="compNode" presStyleCnt="0"/>
      <dgm:spPr/>
    </dgm:pt>
    <dgm:pt modelId="{7E28EEA9-A27F-4D8B-A9B4-CD5329D213E2}" type="pres">
      <dgm:prSet presAssocID="{0BBC707A-E20B-4825-973F-9EDE266E48B5}" presName="bgRect" presStyleLbl="bgShp" presStyleIdx="0" presStyleCnt="3"/>
      <dgm:spPr/>
    </dgm:pt>
    <dgm:pt modelId="{0A1AC82A-0E69-47AF-BC16-637C8175D144}" type="pres">
      <dgm:prSet presAssocID="{0BBC707A-E20B-4825-973F-9EDE266E48B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397D013-29A1-4499-8222-5EE146EC7A18}" type="pres">
      <dgm:prSet presAssocID="{0BBC707A-E20B-4825-973F-9EDE266E48B5}" presName="spaceRect" presStyleCnt="0"/>
      <dgm:spPr/>
    </dgm:pt>
    <dgm:pt modelId="{1FEAE1E3-40BD-47E3-8EE3-6F47FCF6628E}" type="pres">
      <dgm:prSet presAssocID="{0BBC707A-E20B-4825-973F-9EDE266E48B5}" presName="parTx" presStyleLbl="revTx" presStyleIdx="0" presStyleCnt="3">
        <dgm:presLayoutVars>
          <dgm:chMax val="0"/>
          <dgm:chPref val="0"/>
        </dgm:presLayoutVars>
      </dgm:prSet>
      <dgm:spPr/>
    </dgm:pt>
    <dgm:pt modelId="{5EC0150F-BFF2-4601-86DC-3484E43128DB}" type="pres">
      <dgm:prSet presAssocID="{1BA41289-7EBD-4A1A-8674-D7F5E2072F39}" presName="sibTrans" presStyleCnt="0"/>
      <dgm:spPr/>
    </dgm:pt>
    <dgm:pt modelId="{7EBFAF5F-4026-49E4-9F6E-DDFAC132A262}" type="pres">
      <dgm:prSet presAssocID="{2A9AADDE-48AB-4F20-9940-6B9FD772E335}" presName="compNode" presStyleCnt="0"/>
      <dgm:spPr/>
    </dgm:pt>
    <dgm:pt modelId="{3F6F69BD-6EA9-4F8E-BF2D-1ADF08592A42}" type="pres">
      <dgm:prSet presAssocID="{2A9AADDE-48AB-4F20-9940-6B9FD772E335}" presName="bgRect" presStyleLbl="bgShp" presStyleIdx="1" presStyleCnt="3"/>
      <dgm:spPr/>
    </dgm:pt>
    <dgm:pt modelId="{77F111C1-64F3-4447-A32C-C8198E08A98F}" type="pres">
      <dgm:prSet presAssocID="{2A9AADDE-48AB-4F20-9940-6B9FD772E33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2D51E8F5-93AE-4FF1-AD6E-163CF63294BA}" type="pres">
      <dgm:prSet presAssocID="{2A9AADDE-48AB-4F20-9940-6B9FD772E335}" presName="spaceRect" presStyleCnt="0"/>
      <dgm:spPr/>
    </dgm:pt>
    <dgm:pt modelId="{97C3D595-4AC4-471B-9646-81D101B865A4}" type="pres">
      <dgm:prSet presAssocID="{2A9AADDE-48AB-4F20-9940-6B9FD772E335}" presName="parTx" presStyleLbl="revTx" presStyleIdx="1" presStyleCnt="3">
        <dgm:presLayoutVars>
          <dgm:chMax val="0"/>
          <dgm:chPref val="0"/>
        </dgm:presLayoutVars>
      </dgm:prSet>
      <dgm:spPr/>
    </dgm:pt>
    <dgm:pt modelId="{860BF53C-159F-4F2C-A7D9-627AD4A13774}" type="pres">
      <dgm:prSet presAssocID="{94AB5C5D-0B39-4C79-A638-21401BB70E13}" presName="sibTrans" presStyleCnt="0"/>
      <dgm:spPr/>
    </dgm:pt>
    <dgm:pt modelId="{6D18F469-4CC4-4BE3-8B1F-C845108530A8}" type="pres">
      <dgm:prSet presAssocID="{6E488620-50DA-4859-B84F-694CFBA5DED5}" presName="compNode" presStyleCnt="0"/>
      <dgm:spPr/>
    </dgm:pt>
    <dgm:pt modelId="{09F9C3E4-2CE7-4D2E-B4AF-2A3B865855B3}" type="pres">
      <dgm:prSet presAssocID="{6E488620-50DA-4859-B84F-694CFBA5DED5}" presName="bgRect" presStyleLbl="bgShp" presStyleIdx="2" presStyleCnt="3"/>
      <dgm:spPr/>
    </dgm:pt>
    <dgm:pt modelId="{1DF0B728-262F-4051-9895-16617AEB1060}" type="pres">
      <dgm:prSet presAssocID="{6E488620-50DA-4859-B84F-694CFBA5DED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C1E4249A-B00C-4203-8395-906C0008B197}" type="pres">
      <dgm:prSet presAssocID="{6E488620-50DA-4859-B84F-694CFBA5DED5}" presName="spaceRect" presStyleCnt="0"/>
      <dgm:spPr/>
    </dgm:pt>
    <dgm:pt modelId="{CBB1F717-6A75-44B0-BF24-FD20ED364E01}" type="pres">
      <dgm:prSet presAssocID="{6E488620-50DA-4859-B84F-694CFBA5DED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F17D11B-817A-4CD6-B9C1-2FDC2EA7CA7D}" type="presOf" srcId="{2D42A391-FD5D-4829-A431-6A9EC937BAE7}" destId="{8627AE3A-FDBC-438C-B5F0-C0F4529B9DDB}" srcOrd="0" destOrd="0" presId="urn:microsoft.com/office/officeart/2018/2/layout/IconVerticalSolidList"/>
    <dgm:cxn modelId="{4E4F192B-3ABC-459C-8919-ED646778673A}" type="presOf" srcId="{2A9AADDE-48AB-4F20-9940-6B9FD772E335}" destId="{97C3D595-4AC4-471B-9646-81D101B865A4}" srcOrd="0" destOrd="0" presId="urn:microsoft.com/office/officeart/2018/2/layout/IconVerticalSolidList"/>
    <dgm:cxn modelId="{8ECE1C72-30CE-4886-8EE6-8EED149497DF}" srcId="{2D42A391-FD5D-4829-A431-6A9EC937BAE7}" destId="{6E488620-50DA-4859-B84F-694CFBA5DED5}" srcOrd="2" destOrd="0" parTransId="{C9B530BA-63E6-4153-9006-57662E3D2740}" sibTransId="{9CFC8596-A21D-4F6B-8867-F742ECA8A5B5}"/>
    <dgm:cxn modelId="{D633F183-94BC-4D41-A80F-176CEF9E6D10}" srcId="{2D42A391-FD5D-4829-A431-6A9EC937BAE7}" destId="{0BBC707A-E20B-4825-973F-9EDE266E48B5}" srcOrd="0" destOrd="0" parTransId="{18D6659E-B5C2-4419-B0F4-94CB7D3A9E92}" sibTransId="{1BA41289-7EBD-4A1A-8674-D7F5E2072F39}"/>
    <dgm:cxn modelId="{99C13AD0-A771-4CD1-B308-364EFAC1108D}" srcId="{2D42A391-FD5D-4829-A431-6A9EC937BAE7}" destId="{2A9AADDE-48AB-4F20-9940-6B9FD772E335}" srcOrd="1" destOrd="0" parTransId="{B4AE56B2-2703-4B9C-8A05-A2514060F92F}" sibTransId="{94AB5C5D-0B39-4C79-A638-21401BB70E13}"/>
    <dgm:cxn modelId="{163D90E8-EE9D-4C41-A472-74B899BAB937}" type="presOf" srcId="{6E488620-50DA-4859-B84F-694CFBA5DED5}" destId="{CBB1F717-6A75-44B0-BF24-FD20ED364E01}" srcOrd="0" destOrd="0" presId="urn:microsoft.com/office/officeart/2018/2/layout/IconVerticalSolidList"/>
    <dgm:cxn modelId="{F27D90EF-CADA-4DB6-BD25-DCE0A1EA2F4B}" type="presOf" srcId="{0BBC707A-E20B-4825-973F-9EDE266E48B5}" destId="{1FEAE1E3-40BD-47E3-8EE3-6F47FCF6628E}" srcOrd="0" destOrd="0" presId="urn:microsoft.com/office/officeart/2018/2/layout/IconVerticalSolidList"/>
    <dgm:cxn modelId="{43CEB998-5ED9-471F-8714-F7DD4E7E0F06}" type="presParOf" srcId="{8627AE3A-FDBC-438C-B5F0-C0F4529B9DDB}" destId="{A39B5443-99B0-425A-BA09-F386640CAD21}" srcOrd="0" destOrd="0" presId="urn:microsoft.com/office/officeart/2018/2/layout/IconVerticalSolidList"/>
    <dgm:cxn modelId="{D2D0F4D1-9B04-4726-A499-F880BA87099F}" type="presParOf" srcId="{A39B5443-99B0-425A-BA09-F386640CAD21}" destId="{7E28EEA9-A27F-4D8B-A9B4-CD5329D213E2}" srcOrd="0" destOrd="0" presId="urn:microsoft.com/office/officeart/2018/2/layout/IconVerticalSolidList"/>
    <dgm:cxn modelId="{2C2F06BD-AE48-4B88-B995-B2526F634D1D}" type="presParOf" srcId="{A39B5443-99B0-425A-BA09-F386640CAD21}" destId="{0A1AC82A-0E69-47AF-BC16-637C8175D144}" srcOrd="1" destOrd="0" presId="urn:microsoft.com/office/officeart/2018/2/layout/IconVerticalSolidList"/>
    <dgm:cxn modelId="{20EEC6AC-9DB6-4E49-B278-27B3A55287CF}" type="presParOf" srcId="{A39B5443-99B0-425A-BA09-F386640CAD21}" destId="{A397D013-29A1-4499-8222-5EE146EC7A18}" srcOrd="2" destOrd="0" presId="urn:microsoft.com/office/officeart/2018/2/layout/IconVerticalSolidList"/>
    <dgm:cxn modelId="{8E5E74C4-9539-4F89-9C9A-E4EFBFFC4A60}" type="presParOf" srcId="{A39B5443-99B0-425A-BA09-F386640CAD21}" destId="{1FEAE1E3-40BD-47E3-8EE3-6F47FCF6628E}" srcOrd="3" destOrd="0" presId="urn:microsoft.com/office/officeart/2018/2/layout/IconVerticalSolidList"/>
    <dgm:cxn modelId="{09D3A50B-8D21-44B7-9DA9-021E5357F259}" type="presParOf" srcId="{8627AE3A-FDBC-438C-B5F0-C0F4529B9DDB}" destId="{5EC0150F-BFF2-4601-86DC-3484E43128DB}" srcOrd="1" destOrd="0" presId="urn:microsoft.com/office/officeart/2018/2/layout/IconVerticalSolidList"/>
    <dgm:cxn modelId="{78D878F0-25CF-4139-88F7-771F002E45FD}" type="presParOf" srcId="{8627AE3A-FDBC-438C-B5F0-C0F4529B9DDB}" destId="{7EBFAF5F-4026-49E4-9F6E-DDFAC132A262}" srcOrd="2" destOrd="0" presId="urn:microsoft.com/office/officeart/2018/2/layout/IconVerticalSolidList"/>
    <dgm:cxn modelId="{E698C1C5-0727-48D4-A1D0-73B9CCF38579}" type="presParOf" srcId="{7EBFAF5F-4026-49E4-9F6E-DDFAC132A262}" destId="{3F6F69BD-6EA9-4F8E-BF2D-1ADF08592A42}" srcOrd="0" destOrd="0" presId="urn:microsoft.com/office/officeart/2018/2/layout/IconVerticalSolidList"/>
    <dgm:cxn modelId="{1BD167B5-98A7-4F5E-8AFF-2A7EA63F8F1D}" type="presParOf" srcId="{7EBFAF5F-4026-49E4-9F6E-DDFAC132A262}" destId="{77F111C1-64F3-4447-A32C-C8198E08A98F}" srcOrd="1" destOrd="0" presId="urn:microsoft.com/office/officeart/2018/2/layout/IconVerticalSolidList"/>
    <dgm:cxn modelId="{8735D92B-CA31-4313-A05D-EC77D52B0D78}" type="presParOf" srcId="{7EBFAF5F-4026-49E4-9F6E-DDFAC132A262}" destId="{2D51E8F5-93AE-4FF1-AD6E-163CF63294BA}" srcOrd="2" destOrd="0" presId="urn:microsoft.com/office/officeart/2018/2/layout/IconVerticalSolidList"/>
    <dgm:cxn modelId="{845CE992-3B5F-472D-A145-64DDD7D0E199}" type="presParOf" srcId="{7EBFAF5F-4026-49E4-9F6E-DDFAC132A262}" destId="{97C3D595-4AC4-471B-9646-81D101B865A4}" srcOrd="3" destOrd="0" presId="urn:microsoft.com/office/officeart/2018/2/layout/IconVerticalSolidList"/>
    <dgm:cxn modelId="{7F76A4D7-F8B1-4B70-9892-D324BA163375}" type="presParOf" srcId="{8627AE3A-FDBC-438C-B5F0-C0F4529B9DDB}" destId="{860BF53C-159F-4F2C-A7D9-627AD4A13774}" srcOrd="3" destOrd="0" presId="urn:microsoft.com/office/officeart/2018/2/layout/IconVerticalSolidList"/>
    <dgm:cxn modelId="{B901C804-58D6-40F3-94DE-488A6EFA77C2}" type="presParOf" srcId="{8627AE3A-FDBC-438C-B5F0-C0F4529B9DDB}" destId="{6D18F469-4CC4-4BE3-8B1F-C845108530A8}" srcOrd="4" destOrd="0" presId="urn:microsoft.com/office/officeart/2018/2/layout/IconVerticalSolidList"/>
    <dgm:cxn modelId="{61E7D31C-21DE-4052-942D-DA0F892D3995}" type="presParOf" srcId="{6D18F469-4CC4-4BE3-8B1F-C845108530A8}" destId="{09F9C3E4-2CE7-4D2E-B4AF-2A3B865855B3}" srcOrd="0" destOrd="0" presId="urn:microsoft.com/office/officeart/2018/2/layout/IconVerticalSolidList"/>
    <dgm:cxn modelId="{F0F9C55B-FCEE-41BA-AE78-C808741E1439}" type="presParOf" srcId="{6D18F469-4CC4-4BE3-8B1F-C845108530A8}" destId="{1DF0B728-262F-4051-9895-16617AEB1060}" srcOrd="1" destOrd="0" presId="urn:microsoft.com/office/officeart/2018/2/layout/IconVerticalSolidList"/>
    <dgm:cxn modelId="{B551A418-B021-433D-8673-58BADDD1586A}" type="presParOf" srcId="{6D18F469-4CC4-4BE3-8B1F-C845108530A8}" destId="{C1E4249A-B00C-4203-8395-906C0008B197}" srcOrd="2" destOrd="0" presId="urn:microsoft.com/office/officeart/2018/2/layout/IconVerticalSolidList"/>
    <dgm:cxn modelId="{27551F23-3BC9-46D2-BBDE-F87A7DC26650}" type="presParOf" srcId="{6D18F469-4CC4-4BE3-8B1F-C845108530A8}" destId="{CBB1F717-6A75-44B0-BF24-FD20ED364E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28EEA9-A27F-4D8B-A9B4-CD5329D213E2}">
      <dsp:nvSpPr>
        <dsp:cNvPr id="0" name=""/>
        <dsp:cNvSpPr/>
      </dsp:nvSpPr>
      <dsp:spPr>
        <a:xfrm>
          <a:off x="0" y="527"/>
          <a:ext cx="8229600" cy="123544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1AC82A-0E69-47AF-BC16-637C8175D144}">
      <dsp:nvSpPr>
        <dsp:cNvPr id="0" name=""/>
        <dsp:cNvSpPr/>
      </dsp:nvSpPr>
      <dsp:spPr>
        <a:xfrm>
          <a:off x="373721" y="278503"/>
          <a:ext cx="679494" cy="6794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EAE1E3-40BD-47E3-8EE3-6F47FCF6628E}">
      <dsp:nvSpPr>
        <dsp:cNvPr id="0" name=""/>
        <dsp:cNvSpPr/>
      </dsp:nvSpPr>
      <dsp:spPr>
        <a:xfrm>
          <a:off x="1426938" y="527"/>
          <a:ext cx="6802661" cy="123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751" tIns="130751" rIns="130751" bIns="1307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/>
            <a:t>4.1 Gest</a:t>
          </a:r>
          <a:r>
            <a:rPr lang="en-US" sz="2500" kern="1200"/>
            <a:t>ão do conhecimento</a:t>
          </a:r>
        </a:p>
      </dsp:txBody>
      <dsp:txXfrm>
        <a:off x="1426938" y="527"/>
        <a:ext cx="6802661" cy="1235444"/>
      </dsp:txXfrm>
    </dsp:sp>
    <dsp:sp modelId="{3F6F69BD-6EA9-4F8E-BF2D-1ADF08592A42}">
      <dsp:nvSpPr>
        <dsp:cNvPr id="0" name=""/>
        <dsp:cNvSpPr/>
      </dsp:nvSpPr>
      <dsp:spPr>
        <a:xfrm>
          <a:off x="0" y="1544833"/>
          <a:ext cx="8229600" cy="123544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111C1-64F3-4447-A32C-C8198E08A98F}">
      <dsp:nvSpPr>
        <dsp:cNvPr id="0" name=""/>
        <dsp:cNvSpPr/>
      </dsp:nvSpPr>
      <dsp:spPr>
        <a:xfrm>
          <a:off x="373721" y="1822808"/>
          <a:ext cx="679494" cy="6794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3D595-4AC4-471B-9646-81D101B865A4}">
      <dsp:nvSpPr>
        <dsp:cNvPr id="0" name=""/>
        <dsp:cNvSpPr/>
      </dsp:nvSpPr>
      <dsp:spPr>
        <a:xfrm>
          <a:off x="1426938" y="1544833"/>
          <a:ext cx="6802661" cy="123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751" tIns="130751" rIns="130751" bIns="1307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4.2 Inteligência Competitiva</a:t>
          </a:r>
        </a:p>
      </dsp:txBody>
      <dsp:txXfrm>
        <a:off x="1426938" y="1544833"/>
        <a:ext cx="6802661" cy="1235444"/>
      </dsp:txXfrm>
    </dsp:sp>
    <dsp:sp modelId="{09F9C3E4-2CE7-4D2E-B4AF-2A3B865855B3}">
      <dsp:nvSpPr>
        <dsp:cNvPr id="0" name=""/>
        <dsp:cNvSpPr/>
      </dsp:nvSpPr>
      <dsp:spPr>
        <a:xfrm>
          <a:off x="0" y="3089139"/>
          <a:ext cx="8229600" cy="123544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0B728-262F-4051-9895-16617AEB1060}">
      <dsp:nvSpPr>
        <dsp:cNvPr id="0" name=""/>
        <dsp:cNvSpPr/>
      </dsp:nvSpPr>
      <dsp:spPr>
        <a:xfrm>
          <a:off x="373721" y="3367114"/>
          <a:ext cx="679494" cy="6794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B1F717-6A75-44B0-BF24-FD20ED364E01}">
      <dsp:nvSpPr>
        <dsp:cNvPr id="0" name=""/>
        <dsp:cNvSpPr/>
      </dsp:nvSpPr>
      <dsp:spPr>
        <a:xfrm>
          <a:off x="1426938" y="3089139"/>
          <a:ext cx="6802661" cy="123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751" tIns="130751" rIns="130751" bIns="1307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4.3 Gestão da inovação de produtos</a:t>
          </a:r>
        </a:p>
      </dsp:txBody>
      <dsp:txXfrm>
        <a:off x="1426938" y="3089139"/>
        <a:ext cx="6802661" cy="12354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C8228F-5D52-A54F-A8AF-B77461C14A07}" type="datetimeFigureOut">
              <a:rPr lang="pt-BR" smtClean="0"/>
              <a:t>18/09/2023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Clique para editar os estilos de texto mestres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9FCBA-CF29-284D-A2E1-4F3EE0C89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9289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22A5DB3-FE43-4B43-89E6-9FA19EC14575}" type="slidenum">
              <a:rPr lang="pt-BR" altLang="pt-BR" sz="1300"/>
              <a:pPr eaLnBrk="1" hangingPunct="1"/>
              <a:t>32</a:t>
            </a:fld>
            <a:endParaRPr lang="pt-BR" altLang="pt-BR" sz="13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pt-BR" sz="260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9007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22A5DB3-FE43-4B43-89E6-9FA19EC14575}" type="slidenum">
              <a:rPr lang="pt-BR" altLang="pt-BR" sz="1300"/>
              <a:pPr eaLnBrk="1" hangingPunct="1"/>
              <a:t>44</a:t>
            </a:fld>
            <a:endParaRPr lang="pt-BR" altLang="pt-BR" sz="13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pt-BR" sz="260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4392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tângulo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tângulo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tângulo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tângulo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9A59C39A-12CC-4825-90E1-B2E6D53DBA09}" type="datetimeFigureOut">
              <a:rPr lang="pt-BR" smtClean="0"/>
              <a:pPr/>
              <a:t>18/09/2023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39A-12CC-4825-90E1-B2E6D53DBA09}" type="datetimeFigureOut">
              <a:rPr lang="pt-BR" smtClean="0"/>
              <a:pPr/>
              <a:t>18/09/2023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39A-12CC-4825-90E1-B2E6D53DBA09}" type="datetimeFigureOut">
              <a:rPr lang="pt-BR" smtClean="0"/>
              <a:pPr/>
              <a:t>18/09/2023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39A-12CC-4825-90E1-B2E6D53DBA09}" type="datetimeFigureOut">
              <a:rPr lang="pt-BR" smtClean="0"/>
              <a:pPr/>
              <a:t>18/09/2023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A59C39A-12CC-4825-90E1-B2E6D53DBA09}" type="datetimeFigureOut">
              <a:rPr lang="pt-BR" smtClean="0"/>
              <a:pPr/>
              <a:t>18/09/2023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9A59C39A-12CC-4825-90E1-B2E6D53DBA09}" type="datetimeFigureOut">
              <a:rPr lang="pt-BR" smtClean="0"/>
              <a:pPr/>
              <a:t>18/09/2023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39A-12CC-4825-90E1-B2E6D53DBA09}" type="datetimeFigureOut">
              <a:rPr lang="pt-BR" smtClean="0"/>
              <a:pPr/>
              <a:t>18/09/2023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39A-12CC-4825-90E1-B2E6D53DBA09}" type="datetimeFigureOut">
              <a:rPr lang="pt-BR" smtClean="0"/>
              <a:pPr/>
              <a:t>18/09/2023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39A-12CC-4825-90E1-B2E6D53DBA09}" type="datetimeFigureOut">
              <a:rPr lang="pt-BR" smtClean="0"/>
              <a:pPr/>
              <a:t>18/09/2023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39A-12CC-4825-90E1-B2E6D53DBA09}" type="datetimeFigureOut">
              <a:rPr lang="pt-BR" smtClean="0"/>
              <a:pPr/>
              <a:t>18/09/2023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39A-12CC-4825-90E1-B2E6D53DBA09}" type="datetimeFigureOut">
              <a:rPr lang="pt-BR" smtClean="0"/>
              <a:pPr/>
              <a:t>18/09/2023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tângulo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tângulo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tângulo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tângulo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tângulo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tângulo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tângulo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9A59C39A-12CC-4825-90E1-B2E6D53DBA09}" type="datetimeFigureOut">
              <a:rPr lang="pt-BR" smtClean="0"/>
              <a:pPr/>
              <a:t>18/09/2023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H1QjD1fi6Q" TargetMode="External"/><Relationship Id="rId2" Type="http://schemas.openxmlformats.org/officeDocument/2006/relationships/hyperlink" Target="https://www.youtube.com/watch?v=rZU0tv6OMI4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Universidade de Brasília</a:t>
            </a:r>
            <a:br>
              <a:rPr lang="pt-BR" sz="3200" dirty="0"/>
            </a:br>
            <a:r>
              <a:rPr lang="pt-BR" sz="3200" dirty="0"/>
              <a:t>Departamento de Engenharia de Produção</a:t>
            </a:r>
            <a:br>
              <a:rPr lang="pt-BR" sz="3200" dirty="0"/>
            </a:br>
            <a:r>
              <a:rPr lang="pt-BR" sz="3200" dirty="0"/>
              <a:t>Disciplina: Engenharia de Produto</a:t>
            </a:r>
            <a:br>
              <a:rPr lang="pt-BR" sz="3200" dirty="0"/>
            </a:br>
            <a:r>
              <a:rPr lang="pt-BR" sz="3200" dirty="0"/>
              <a:t>  </a:t>
            </a:r>
            <a:br>
              <a:rPr lang="pt-BR" sz="3200" dirty="0"/>
            </a:b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51520" y="4365104"/>
            <a:ext cx="8352928" cy="1752600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Aula 06 –Planejamento de Produto</a:t>
            </a:r>
          </a:p>
          <a:p>
            <a:pPr algn="ctr"/>
            <a:r>
              <a:rPr lang="pt-BR" dirty="0"/>
              <a:t>Profa. Andréa Santos</a:t>
            </a:r>
          </a:p>
          <a:p>
            <a:endParaRPr lang="pt-BR" dirty="0"/>
          </a:p>
          <a:p>
            <a:pPr algn="ctr"/>
            <a:r>
              <a:rPr lang="pt-BR" dirty="0"/>
              <a:t>Fonte: Capítulo 4 – Back et al (2008) </a:t>
            </a:r>
          </a:p>
        </p:txBody>
      </p:sp>
    </p:spTree>
    <p:extLst>
      <p:ext uri="{BB962C8B-B14F-4D97-AF65-F5344CB8AC3E}">
        <p14:creationId xmlns:p14="http://schemas.microsoft.com/office/powerpoint/2010/main" val="115775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270739"/>
            <a:ext cx="8229600" cy="1066800"/>
          </a:xfrm>
        </p:spPr>
        <p:txBody>
          <a:bodyPr/>
          <a:lstStyle/>
          <a:p>
            <a:r>
              <a:rPr lang="pt-BR" dirty="0"/>
              <a:t>Planejamento do produto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2547728"/>
          </a:xfrm>
        </p:spPr>
        <p:txBody>
          <a:bodyPr anchor="ctr"/>
          <a:lstStyle/>
          <a:p>
            <a:pPr marL="109728" indent="0" algn="ctr">
              <a:buNone/>
            </a:pPr>
            <a:r>
              <a:rPr lang="pt-BR" dirty="0">
                <a:latin typeface="#PCMyungjo" charset="0"/>
                <a:ea typeface="#PCMyungjo" charset="0"/>
                <a:cs typeface="#PCMyungjo" charset="0"/>
              </a:rPr>
              <a:t>O que ser</a:t>
            </a:r>
            <a:r>
              <a:rPr lang="en-US" dirty="0" err="1">
                <a:latin typeface="#PCMyungjo" charset="0"/>
                <a:ea typeface="#PCMyungjo" charset="0"/>
                <a:cs typeface="#PCMyungjo" charset="0"/>
              </a:rPr>
              <a:t>á</a:t>
            </a:r>
            <a:r>
              <a:rPr lang="en-US" dirty="0">
                <a:latin typeface="#PCMyungjo" charset="0"/>
                <a:ea typeface="#PCMyungjo" charset="0"/>
                <a:cs typeface="#PCMyungjo" charset="0"/>
              </a:rPr>
              <a:t> </a:t>
            </a:r>
            <a:r>
              <a:rPr lang="en-US" dirty="0" err="1">
                <a:latin typeface="#PCMyungjo" charset="0"/>
                <a:ea typeface="#PCMyungjo" charset="0"/>
                <a:cs typeface="#PCMyungjo" charset="0"/>
              </a:rPr>
              <a:t>desenvolvido</a:t>
            </a:r>
            <a:r>
              <a:rPr lang="en-US" dirty="0">
                <a:latin typeface="#PCMyungjo" charset="0"/>
                <a:ea typeface="#PCMyungjo" charset="0"/>
                <a:cs typeface="#PCMyungjo" charset="0"/>
              </a:rPr>
              <a:t> </a:t>
            </a:r>
            <a:r>
              <a:rPr lang="en-US" dirty="0" err="1">
                <a:latin typeface="#PCMyungjo" charset="0"/>
                <a:ea typeface="#PCMyungjo" charset="0"/>
                <a:cs typeface="#PCMyungjo" charset="0"/>
              </a:rPr>
              <a:t>em</a:t>
            </a:r>
            <a:r>
              <a:rPr lang="en-US" dirty="0">
                <a:latin typeface="#PCMyungjo" charset="0"/>
                <a:ea typeface="#PCMyungjo" charset="0"/>
                <a:cs typeface="#PCMyungjo" charset="0"/>
              </a:rPr>
              <a:t> </a:t>
            </a:r>
            <a:r>
              <a:rPr lang="en-US" dirty="0" err="1">
                <a:latin typeface="#PCMyungjo" charset="0"/>
                <a:ea typeface="#PCMyungjo" charset="0"/>
                <a:cs typeface="#PCMyungjo" charset="0"/>
              </a:rPr>
              <a:t>função</a:t>
            </a:r>
            <a:r>
              <a:rPr lang="en-US" dirty="0">
                <a:latin typeface="#PCMyungjo" charset="0"/>
                <a:ea typeface="#PCMyungjo" charset="0"/>
                <a:cs typeface="#PCMyungjo" charset="0"/>
              </a:rPr>
              <a:t> das </a:t>
            </a:r>
            <a:r>
              <a:rPr lang="en-US" dirty="0" err="1">
                <a:latin typeface="#PCMyungjo" charset="0"/>
                <a:ea typeface="#PCMyungjo" charset="0"/>
                <a:cs typeface="#PCMyungjo" charset="0"/>
              </a:rPr>
              <a:t>estratégias</a:t>
            </a:r>
            <a:r>
              <a:rPr lang="en-US" dirty="0">
                <a:latin typeface="#PCMyungjo" charset="0"/>
                <a:ea typeface="#PCMyungjo" charset="0"/>
                <a:cs typeface="#PCMyungjo" charset="0"/>
              </a:rPr>
              <a:t> da </a:t>
            </a:r>
            <a:r>
              <a:rPr lang="en-US" dirty="0" err="1">
                <a:latin typeface="#PCMyungjo" charset="0"/>
                <a:ea typeface="#PCMyungjo" charset="0"/>
                <a:cs typeface="#PCMyungjo" charset="0"/>
              </a:rPr>
              <a:t>organização</a:t>
            </a:r>
            <a:r>
              <a:rPr lang="en-US" dirty="0">
                <a:latin typeface="#PCMyungjo" charset="0"/>
                <a:ea typeface="#PCMyungjo" charset="0"/>
                <a:cs typeface="#PCMyungjo" charset="0"/>
              </a:rPr>
              <a:t>?</a:t>
            </a:r>
            <a:endParaRPr lang="pt-BR" dirty="0">
              <a:latin typeface="#PCMyungjo" charset="0"/>
              <a:ea typeface="#PCMyungjo" charset="0"/>
              <a:cs typeface="#PCMyungjo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652120" y="76470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INTRODU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ÇÃO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49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3528" y="1131189"/>
            <a:ext cx="8229600" cy="1066800"/>
          </a:xfrm>
        </p:spPr>
        <p:txBody>
          <a:bodyPr>
            <a:normAutofit/>
          </a:bodyPr>
          <a:lstStyle/>
          <a:p>
            <a:pPr algn="ctr"/>
            <a:r>
              <a:rPr lang="pt-BR" sz="2800" dirty="0"/>
              <a:t>De modo geral existem diversas abordagens para este tema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90872" y="2197989"/>
            <a:ext cx="8229600" cy="432511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Planejamento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estrat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égico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Planejamento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Portfólio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produtos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Planejamento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tecnologia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Planejamento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projetos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projects)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Processo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projeto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Design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do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produto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suas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fases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iniciais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Estas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abordagens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vezes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superpõem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outros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momentos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complementam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seus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príncipios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métodos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ferramentas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652120" y="76470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INTRODU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ÇÃO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439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2564904"/>
            <a:ext cx="7848872" cy="1066800"/>
          </a:xfrm>
        </p:spPr>
        <p:txBody>
          <a:bodyPr>
            <a:noAutofit/>
          </a:bodyPr>
          <a:lstStyle/>
          <a:p>
            <a:pPr algn="just"/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ênfase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dada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processo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planejamento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produtos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considerando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processos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métodos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ferramentas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para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orientar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apoiar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identificação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 a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seleção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idéias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produtos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inovadores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pt-B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39552" y="5229200"/>
            <a:ext cx="77768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Refer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ência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é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capítulo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4 –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Livro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Back et al (2008)</a:t>
            </a:r>
            <a:endParaRPr lang="pt-B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5652120" y="76470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INTRODU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ÇÃO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323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049" y="980728"/>
            <a:ext cx="8304407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139952" y="116632"/>
            <a:ext cx="5349280" cy="432048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>
                <a:solidFill>
                  <a:schemeClr val="bg1">
                    <a:lumMod val="50000"/>
                  </a:schemeClr>
                </a:solidFill>
              </a:rPr>
              <a:t>3. Processo de planejamento do produto</a:t>
            </a:r>
            <a:endParaRPr lang="pt-BR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313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1664"/>
            <a:ext cx="8820472" cy="2555972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323528" y="5805264"/>
            <a:ext cx="777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Refer</a:t>
            </a:r>
            <a:r>
              <a:rPr lang="en-US" dirty="0" err="1"/>
              <a:t>ência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o </a:t>
            </a:r>
            <a:r>
              <a:rPr lang="en-US" dirty="0" err="1"/>
              <a:t>capítulo</a:t>
            </a:r>
            <a:r>
              <a:rPr lang="en-US" dirty="0"/>
              <a:t> 4 – </a:t>
            </a:r>
            <a:r>
              <a:rPr lang="en-US" dirty="0" err="1"/>
              <a:t>Livro</a:t>
            </a:r>
            <a:r>
              <a:rPr lang="en-US" dirty="0"/>
              <a:t> Back et al (2008)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5652120" y="76470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INTRODU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ÇÃO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962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2110" y="637024"/>
            <a:ext cx="8382000" cy="1069848"/>
          </a:xfrm>
        </p:spPr>
        <p:txBody>
          <a:bodyPr>
            <a:normAutofit/>
          </a:bodyPr>
          <a:lstStyle/>
          <a:p>
            <a:r>
              <a:rPr lang="pt-BR" sz="2800" dirty="0"/>
              <a:t>Desafios do planejamento de produtos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352110" y="1637781"/>
            <a:ext cx="352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pt-BR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NEG</a:t>
            </a: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ÓCIO</a:t>
            </a:r>
            <a:endParaRPr lang="pt-BR" sz="20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2116306" y="2159366"/>
            <a:ext cx="66035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0"/>
              </a:spcBef>
              <a:buFont typeface="Wingdings" charset="2"/>
              <a:buChar char="Ø"/>
            </a:pPr>
            <a:r>
              <a:rPr lang="pt-BR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Assegurar o Alinhamento </a:t>
            </a:r>
            <a:r>
              <a:rPr lang="pt-BR" sz="20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Estrat</a:t>
            </a:r>
            <a:r>
              <a:rPr lang="en-US" sz="20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égico</a:t>
            </a: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</a:t>
            </a:r>
            <a:r>
              <a:rPr lang="pt-BR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Balanceamento do </a:t>
            </a:r>
            <a:r>
              <a:rPr lang="pt-BR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portf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ólio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dos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projetos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investimentos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vs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riscos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, de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acordo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com as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estratégias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da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empresa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</a:t>
            </a:r>
            <a:endParaRPr lang="pt-BR" sz="2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2134030" y="3861048"/>
            <a:ext cx="660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0"/>
              </a:spcBef>
              <a:buFont typeface="Wingdings" charset="2"/>
              <a:buChar char="Ø"/>
            </a:pPr>
            <a:r>
              <a:rPr lang="pt-BR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Assegurar </a:t>
            </a:r>
            <a:r>
              <a:rPr lang="pt-BR" sz="20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Decis</a:t>
            </a:r>
            <a:r>
              <a:rPr lang="en-US" sz="20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ões</a:t>
            </a: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Consistentes</a:t>
            </a: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spcBef>
                <a:spcPct val="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  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Sistema de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informações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apoio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as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decisões</a:t>
            </a:r>
            <a:endParaRPr lang="pt-BR" sz="2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2134030" y="4982301"/>
            <a:ext cx="66035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0"/>
              </a:spcBef>
              <a:buFont typeface="Wingdings" charset="2"/>
              <a:buChar char="Ø"/>
            </a:pPr>
            <a:r>
              <a:rPr lang="en-US" sz="20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Alcançar</a:t>
            </a: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metas</a:t>
            </a: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0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rendimento</a:t>
            </a: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20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lucratividade</a:t>
            </a: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</a:t>
            </a:r>
          </a:p>
          <a:p>
            <a:pPr marL="330200" indent="-330200">
              <a:spcBef>
                <a:spcPct val="0"/>
              </a:spcBef>
            </a:pP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  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Aumentar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eficiência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na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maneira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como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os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produtos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são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planejados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desenvolvidos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lançados</a:t>
            </a:r>
            <a:r>
              <a:rPr 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no </a:t>
            </a:r>
            <a:r>
              <a:rPr lang="en-US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mercado</a:t>
            </a:r>
            <a:endParaRPr lang="en-US" sz="2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  </a:t>
            </a:r>
            <a:endParaRPr lang="pt-BR" sz="2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5652120" y="76470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INTRODU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ÇÃO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363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2110" y="637024"/>
            <a:ext cx="8382000" cy="1069848"/>
          </a:xfrm>
        </p:spPr>
        <p:txBody>
          <a:bodyPr>
            <a:normAutofit/>
          </a:bodyPr>
          <a:lstStyle/>
          <a:p>
            <a:r>
              <a:rPr lang="pt-BR" sz="2800" dirty="0"/>
              <a:t>Desafios do planejamento de produtos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352110" y="1637781"/>
            <a:ext cx="352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pt-BR" sz="2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MERCADO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2116306" y="2159366"/>
            <a:ext cx="66035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0"/>
              </a:spcBef>
              <a:buFont typeface="Wingdings" charset="2"/>
              <a:buChar char="Ø"/>
            </a:pPr>
            <a:r>
              <a:rPr lang="en-US" sz="2000" b="1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Balanceamento</a:t>
            </a:r>
            <a:r>
              <a:rPr lang="en-US" sz="2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das </a:t>
            </a:r>
            <a:r>
              <a:rPr lang="en-US" sz="2000" b="1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necessidades</a:t>
            </a:r>
            <a:r>
              <a:rPr lang="en-US" sz="2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: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desenvolver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habilidades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para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entender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as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preferências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do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mercado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e de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consumidores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para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planejar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produtos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apropriados</a:t>
            </a:r>
            <a:endParaRPr lang="pt-BR" sz="20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2116306" y="3627394"/>
            <a:ext cx="66035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0"/>
              </a:spcBef>
              <a:buFont typeface="Wingdings" charset="2"/>
              <a:buChar char="Ø"/>
            </a:pPr>
            <a:r>
              <a:rPr lang="en-US" sz="2000" b="1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Respostas</a:t>
            </a:r>
            <a:r>
              <a:rPr lang="en-US" sz="2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às</a:t>
            </a:r>
            <a:r>
              <a:rPr lang="en-US" sz="2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mudanças</a:t>
            </a:r>
            <a:r>
              <a:rPr lang="en-US" sz="2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 marL="344488" indent="-344488">
              <a:spcBef>
                <a:spcPct val="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  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Entender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as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mudanças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seus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impactos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no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plano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produtos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promover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os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ajustes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qdo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necessário</a:t>
            </a:r>
            <a:endParaRPr lang="pt-BR" sz="20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2134030" y="4982301"/>
            <a:ext cx="66035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0"/>
              </a:spcBef>
              <a:buFont typeface="Wingdings" charset="2"/>
              <a:buChar char="Ø"/>
            </a:pPr>
            <a:r>
              <a:rPr lang="en-US" sz="2000" b="1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Estabelecer</a:t>
            </a:r>
            <a:r>
              <a:rPr lang="en-US" sz="2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expectativas</a:t>
            </a:r>
            <a:r>
              <a:rPr lang="en-US" sz="2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realísticas</a:t>
            </a:r>
            <a:r>
              <a:rPr lang="en-US" sz="2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do </a:t>
            </a:r>
            <a:r>
              <a:rPr lang="en-US" sz="2000" b="1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mercado</a:t>
            </a:r>
            <a:r>
              <a:rPr lang="en-US" sz="2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: </a:t>
            </a:r>
          </a:p>
          <a:p>
            <a:pPr marL="371475">
              <a:spcBef>
                <a:spcPct val="0"/>
              </a:spcBef>
            </a:pP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Stakeholders,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claras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obtíveis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no tempo de </a:t>
            </a:r>
            <a:r>
              <a:rPr lang="en-US" sz="20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lançamento</a:t>
            </a:r>
            <a:r>
              <a:rPr lang="en-US" sz="20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5652120" y="76470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INTRODU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ÇÃO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190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2110" y="637024"/>
            <a:ext cx="8382000" cy="1069848"/>
          </a:xfrm>
        </p:spPr>
        <p:txBody>
          <a:bodyPr>
            <a:normAutofit/>
          </a:bodyPr>
          <a:lstStyle/>
          <a:p>
            <a:r>
              <a:rPr lang="pt-BR" sz="2800" dirty="0"/>
              <a:t>Desafios do planejamento de produtos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352110" y="1637781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pt-BR" sz="2800" b="1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PRODUTO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2116306" y="2159366"/>
            <a:ext cx="66035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0"/>
              </a:spcBef>
              <a:buFont typeface="Wingdings" charset="2"/>
              <a:buChar char="Ø"/>
            </a:pP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Gerenciamento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da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complexidade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do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protuto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 marL="303213" indent="-303213">
              <a:spcBef>
                <a:spcPct val="0"/>
              </a:spcBef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  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Mudança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rápida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tecnologia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e a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relação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dependência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entre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os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produtos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.</a:t>
            </a:r>
            <a:endParaRPr lang="pt-BR" sz="2000" dirty="0">
              <a:solidFill>
                <a:schemeClr val="accent3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2116306" y="3868413"/>
            <a:ext cx="6603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0"/>
              </a:spcBef>
              <a:buFont typeface="Wingdings" charset="2"/>
              <a:buChar char="Ø"/>
            </a:pP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Melhorar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qualidade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do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produto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 marL="344488" indent="-344488">
              <a:spcBef>
                <a:spcPct val="0"/>
              </a:spcBef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  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Atender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as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demandas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(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necessidades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) do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mercado</a:t>
            </a:r>
            <a:endParaRPr lang="pt-BR" sz="1600" dirty="0">
              <a:solidFill>
                <a:schemeClr val="accent3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2134030" y="4982301"/>
            <a:ext cx="66035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0"/>
              </a:spcBef>
              <a:buFont typeface="Wingdings" charset="2"/>
              <a:buChar char="Ø"/>
            </a:pP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Gerenciar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compatibilidade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e a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absolescência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 marL="371475">
              <a:spcBef>
                <a:spcPct val="0"/>
              </a:spcBef>
            </a:pP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Compatibilidade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com o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que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esta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no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mercado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futuro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, e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passado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Evitar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interupção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no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mercado</a:t>
            </a:r>
            <a:endParaRPr lang="en-US" sz="2000" dirty="0">
              <a:solidFill>
                <a:schemeClr val="accent3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5652120" y="76470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INTRODU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ÇÃO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654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7306" y="839136"/>
            <a:ext cx="8382000" cy="1069848"/>
          </a:xfrm>
        </p:spPr>
        <p:txBody>
          <a:bodyPr>
            <a:normAutofit/>
          </a:bodyPr>
          <a:lstStyle/>
          <a:p>
            <a:r>
              <a:rPr lang="pt-BR" sz="2800" dirty="0"/>
              <a:t>Desafios do planejamento de produtos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355086" y="1820729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pt-BR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ORGANIZA</a:t>
            </a:r>
            <a:r>
              <a:rPr lang="en-US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ÇÃO</a:t>
            </a:r>
            <a:endParaRPr lang="pt-BR" sz="2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2119282" y="2342314"/>
            <a:ext cx="6603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0"/>
              </a:spcBef>
              <a:buFont typeface="Wingdings" charset="2"/>
              <a:buChar char="Ø"/>
            </a:pPr>
            <a:r>
              <a:rPr lang="en-US" sz="24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Colaboração</a:t>
            </a:r>
            <a:r>
              <a:rPr lang="en-US" sz="2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entre </a:t>
            </a:r>
            <a:r>
              <a:rPr lang="en-US" sz="24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equipes</a:t>
            </a:r>
            <a:r>
              <a:rPr lang="en-US" sz="2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</a:t>
            </a:r>
          </a:p>
          <a:p>
            <a:pPr marL="427038" indent="-41275">
              <a:spcBef>
                <a:spcPct val="0"/>
              </a:spcBef>
            </a:pPr>
            <a:r>
              <a:rPr lang="en-US" sz="24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Habilidades</a:t>
            </a:r>
            <a:r>
              <a:rPr lang="en-US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4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infraestrutura</a:t>
            </a:r>
            <a:r>
              <a:rPr lang="en-US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para </a:t>
            </a:r>
            <a:r>
              <a:rPr lang="en-US" sz="24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que</a:t>
            </a:r>
            <a:r>
              <a:rPr lang="en-US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haja</a:t>
            </a:r>
            <a:r>
              <a:rPr lang="en-US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colaboração</a:t>
            </a:r>
            <a:r>
              <a:rPr lang="en-US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entre as </a:t>
            </a:r>
            <a:r>
              <a:rPr lang="en-US" sz="24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equipes</a:t>
            </a:r>
            <a:endParaRPr lang="pt-BR" sz="24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2137006" y="5165249"/>
            <a:ext cx="6603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0"/>
              </a:spcBef>
              <a:buFont typeface="Wingdings" charset="2"/>
              <a:buChar char="Ø"/>
            </a:pPr>
            <a:r>
              <a:rPr lang="en-US" sz="2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Interfaces com </a:t>
            </a:r>
            <a:r>
              <a:rPr lang="en-US" sz="24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os</a:t>
            </a:r>
            <a:r>
              <a:rPr lang="en-US" sz="2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parceiros</a:t>
            </a:r>
            <a:r>
              <a:rPr lang="en-US" sz="2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spcBef>
                <a:spcPct val="0"/>
              </a:spcBef>
            </a:pPr>
            <a:r>
              <a:rPr lang="en-US" sz="2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  </a:t>
            </a:r>
            <a:r>
              <a:rPr lang="en-US" sz="24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Promover</a:t>
            </a:r>
            <a:r>
              <a:rPr lang="en-US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participação</a:t>
            </a:r>
            <a:r>
              <a:rPr lang="en-US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ativa</a:t>
            </a:r>
            <a:r>
              <a:rPr lang="en-US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dos   </a:t>
            </a:r>
          </a:p>
          <a:p>
            <a:pPr>
              <a:spcBef>
                <a:spcPct val="0"/>
              </a:spcBef>
            </a:pPr>
            <a:r>
              <a:rPr lang="en-US" sz="24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fornecedores-chave</a:t>
            </a:r>
            <a:r>
              <a:rPr lang="en-US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no </a:t>
            </a:r>
            <a:r>
              <a:rPr lang="en-US" sz="24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desenvolvimento</a:t>
            </a:r>
            <a:endParaRPr lang="pt-BR" sz="28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2137006" y="3753781"/>
            <a:ext cx="6603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0"/>
              </a:spcBef>
              <a:buFont typeface="Wingdings" charset="2"/>
              <a:buChar char="Ø"/>
            </a:pPr>
            <a:r>
              <a:rPr lang="en-US" sz="24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Alocação</a:t>
            </a:r>
            <a:r>
              <a:rPr lang="en-US" sz="2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4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recursos</a:t>
            </a:r>
            <a:r>
              <a:rPr lang="en-US" sz="2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máximo</a:t>
            </a:r>
            <a:r>
              <a:rPr lang="en-US" sz="2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4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retorno</a:t>
            </a:r>
            <a:r>
              <a:rPr lang="en-US" sz="2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</a:t>
            </a:r>
          </a:p>
          <a:p>
            <a:pPr marL="330200">
              <a:spcBef>
                <a:spcPct val="0"/>
              </a:spcBef>
            </a:pPr>
            <a:r>
              <a:rPr lang="en-US" sz="24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Necessidades</a:t>
            </a:r>
            <a:r>
              <a:rPr lang="en-US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dos stakeholders para o </a:t>
            </a:r>
            <a:r>
              <a:rPr lang="en-US" sz="24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máximo</a:t>
            </a:r>
            <a:r>
              <a:rPr lang="en-US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4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retorno</a:t>
            </a:r>
            <a:r>
              <a:rPr lang="en-US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652120" y="76470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INTRODU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ÇÃO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9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58866" y="2996952"/>
            <a:ext cx="8661648" cy="1066800"/>
          </a:xfrm>
        </p:spPr>
        <p:txBody>
          <a:bodyPr>
            <a:noAutofit/>
          </a:bodyPr>
          <a:lstStyle/>
          <a:p>
            <a:r>
              <a:rPr lang="pt-BR" sz="2400" dirty="0"/>
              <a:t>O </a:t>
            </a:r>
            <a:r>
              <a:rPr lang="pt-BR" sz="2400" b="1" dirty="0"/>
              <a:t>PLANEJAMENTO DO PRODUTO </a:t>
            </a:r>
            <a:r>
              <a:rPr lang="pt-BR" sz="2400" dirty="0"/>
              <a:t>busca, em essência,</a:t>
            </a:r>
            <a:br>
              <a:rPr lang="pt-BR" sz="2400" dirty="0"/>
            </a:br>
            <a:r>
              <a:rPr lang="pt-BR" sz="2400" dirty="0"/>
              <a:t>responder a seguinte questão: o que será desenvolvido</a:t>
            </a:r>
            <a:br>
              <a:rPr lang="pt-BR" sz="2400" dirty="0"/>
            </a:br>
            <a:r>
              <a:rPr lang="pt-BR" sz="2400" dirty="0"/>
              <a:t>em função das </a:t>
            </a:r>
            <a:r>
              <a:rPr lang="pt-BR" sz="2400" dirty="0">
                <a:solidFill>
                  <a:srgbClr val="FF0000"/>
                </a:solidFill>
              </a:rPr>
              <a:t>estratégias da organização</a:t>
            </a:r>
            <a:r>
              <a:rPr lang="pt-BR" sz="2400" dirty="0"/>
              <a:t>?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• Esse processo se relaciona com:</a:t>
            </a:r>
            <a:br>
              <a:rPr lang="pt-BR" sz="2400" dirty="0"/>
            </a:br>
            <a:r>
              <a:rPr lang="pt-BR" sz="2400" dirty="0"/>
              <a:t>• as atividades do planejamento estratégico da</a:t>
            </a:r>
            <a:br>
              <a:rPr lang="pt-BR" sz="2400" dirty="0"/>
            </a:br>
            <a:r>
              <a:rPr lang="pt-BR" sz="2400" dirty="0"/>
              <a:t>organização;</a:t>
            </a:r>
            <a:br>
              <a:rPr lang="pt-BR" sz="2400" dirty="0"/>
            </a:br>
            <a:r>
              <a:rPr lang="pt-BR" sz="2400" dirty="0"/>
              <a:t>• as atividades de inteligência competitiva e prospecção</a:t>
            </a:r>
            <a:br>
              <a:rPr lang="pt-BR" sz="2400" dirty="0"/>
            </a:br>
            <a:r>
              <a:rPr lang="pt-BR" sz="2400" dirty="0"/>
              <a:t>tecnológica;</a:t>
            </a:r>
            <a:br>
              <a:rPr lang="pt-BR" sz="2400" dirty="0"/>
            </a:br>
            <a:r>
              <a:rPr lang="pt-BR" sz="2400" dirty="0"/>
              <a:t>• as atividades de marketing;</a:t>
            </a:r>
            <a:br>
              <a:rPr lang="pt-BR" sz="2400" dirty="0"/>
            </a:br>
            <a:r>
              <a:rPr lang="pt-BR" sz="2400" dirty="0"/>
              <a:t>• as atividades de planejamento de projetos; e</a:t>
            </a:r>
            <a:br>
              <a:rPr lang="pt-BR" sz="2400" dirty="0"/>
            </a:br>
            <a:r>
              <a:rPr lang="pt-BR" sz="2400" dirty="0"/>
              <a:t>• as atividades do projeto informacional de produtos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652120" y="76470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INTRODU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ÇÃO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274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400"/>
              <a:t>4. Metodologias gerais de APOIO ao planejamento de produtos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17BE6B0E-DB65-4EDE-9FBF-B17EB652332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249424"/>
          <a:ext cx="8229600" cy="4325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5495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4833" y="548680"/>
            <a:ext cx="7619535" cy="576064"/>
          </a:xfrm>
        </p:spPr>
        <p:txBody>
          <a:bodyPr>
            <a:noAutofit/>
          </a:bodyPr>
          <a:lstStyle/>
          <a:p>
            <a:r>
              <a:rPr lang="pt-BR" sz="2800" dirty="0"/>
              <a:t>4.1 </a:t>
            </a:r>
            <a:r>
              <a:rPr lang="pt-BR" sz="2800" dirty="0" err="1"/>
              <a:t>Gest</a:t>
            </a:r>
            <a:r>
              <a:rPr lang="en-US" sz="2800" dirty="0" err="1"/>
              <a:t>ão</a:t>
            </a:r>
            <a:r>
              <a:rPr lang="en-US" sz="2800" dirty="0"/>
              <a:t> do </a:t>
            </a:r>
            <a:r>
              <a:rPr lang="en-US" sz="2800" dirty="0" err="1"/>
              <a:t>conhecimento</a:t>
            </a:r>
            <a:endParaRPr lang="pt-BR" sz="28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520" y="1556792"/>
            <a:ext cx="88646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480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4833" y="548680"/>
            <a:ext cx="7619535" cy="576064"/>
          </a:xfrm>
        </p:spPr>
        <p:txBody>
          <a:bodyPr>
            <a:noAutofit/>
          </a:bodyPr>
          <a:lstStyle/>
          <a:p>
            <a:r>
              <a:rPr lang="pt-BR" sz="2800" dirty="0"/>
              <a:t>4.1 </a:t>
            </a:r>
            <a:r>
              <a:rPr lang="pt-BR" sz="2800" dirty="0" err="1"/>
              <a:t>Gest</a:t>
            </a:r>
            <a:r>
              <a:rPr lang="en-US" sz="2800" dirty="0" err="1"/>
              <a:t>ão</a:t>
            </a:r>
            <a:r>
              <a:rPr lang="en-US" sz="2800" dirty="0"/>
              <a:t> do </a:t>
            </a:r>
            <a:r>
              <a:rPr lang="en-US" sz="2800" dirty="0" err="1"/>
              <a:t>conhecimento</a:t>
            </a:r>
            <a:br>
              <a:rPr lang="en-US" sz="2800" dirty="0"/>
            </a:br>
            <a:endParaRPr lang="pt-BR" sz="2800" dirty="0"/>
          </a:p>
        </p:txBody>
      </p:sp>
      <p:pic>
        <p:nvPicPr>
          <p:cNvPr id="6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9632" y="1124744"/>
            <a:ext cx="7194808" cy="42981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tângulo 2"/>
          <p:cNvSpPr/>
          <p:nvPr/>
        </p:nvSpPr>
        <p:spPr>
          <a:xfrm>
            <a:off x="2571036" y="567579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>
                <a:latin typeface="Times New Roman" charset="0"/>
                <a:ea typeface="Calibri" charset="0"/>
              </a:rPr>
              <a:t>Figura 4‑3: Representação do conhecimento no PDP (CHANDRASEGARAN et al., 2013)</a:t>
            </a:r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4002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908720"/>
            <a:ext cx="8229600" cy="1066800"/>
          </a:xfrm>
        </p:spPr>
        <p:txBody>
          <a:bodyPr/>
          <a:lstStyle/>
          <a:p>
            <a:r>
              <a:rPr lang="pt-BR" dirty="0"/>
              <a:t>4.2 Inteligência competitiva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71475" y="2273300"/>
            <a:ext cx="8493125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pt-BR" altLang="pt-BR">
                <a:latin typeface="Verdana" charset="0"/>
              </a:rPr>
              <a:t>É um processo sistemático que permite a criação de conhecimento estratégico, a partir do </a:t>
            </a:r>
            <a:r>
              <a:rPr lang="pt-BR" altLang="pt-BR" b="1">
                <a:latin typeface="Verdana" charset="0"/>
              </a:rPr>
              <a:t>planejamento</a:t>
            </a:r>
            <a:r>
              <a:rPr lang="pt-BR" altLang="pt-BR">
                <a:latin typeface="Verdana" charset="0"/>
              </a:rPr>
              <a:t>, </a:t>
            </a:r>
            <a:r>
              <a:rPr lang="pt-BR" altLang="pt-BR" b="1">
                <a:latin typeface="Verdana" charset="0"/>
              </a:rPr>
              <a:t>coleta</a:t>
            </a:r>
            <a:r>
              <a:rPr lang="pt-BR" altLang="pt-BR">
                <a:latin typeface="Verdana" charset="0"/>
              </a:rPr>
              <a:t>, </a:t>
            </a:r>
            <a:r>
              <a:rPr lang="pt-BR" altLang="pt-BR" b="1">
                <a:latin typeface="Verdana" charset="0"/>
              </a:rPr>
              <a:t>análise</a:t>
            </a:r>
            <a:r>
              <a:rPr lang="pt-BR" altLang="pt-BR">
                <a:latin typeface="Verdana" charset="0"/>
              </a:rPr>
              <a:t>, </a:t>
            </a:r>
            <a:r>
              <a:rPr lang="pt-BR" altLang="pt-BR" b="1">
                <a:latin typeface="Verdana" charset="0"/>
              </a:rPr>
              <a:t>síntese</a:t>
            </a:r>
            <a:r>
              <a:rPr lang="pt-BR" altLang="pt-BR">
                <a:latin typeface="Verdana" charset="0"/>
              </a:rPr>
              <a:t> e </a:t>
            </a:r>
            <a:r>
              <a:rPr lang="pt-BR" altLang="pt-BR" b="1">
                <a:latin typeface="Verdana" charset="0"/>
              </a:rPr>
              <a:t>disseminação</a:t>
            </a:r>
            <a:r>
              <a:rPr lang="pt-BR" altLang="pt-BR">
                <a:latin typeface="Verdana" charset="0"/>
              </a:rPr>
              <a:t> de </a:t>
            </a:r>
            <a:r>
              <a:rPr lang="pt-BR" altLang="pt-BR" u="sng">
                <a:solidFill>
                  <a:srgbClr val="FF3300"/>
                </a:solidFill>
                <a:latin typeface="Verdana" charset="0"/>
              </a:rPr>
              <a:t>informações sobre concorrentes</a:t>
            </a:r>
            <a:r>
              <a:rPr lang="pt-BR" altLang="pt-BR">
                <a:latin typeface="Verdana" charset="0"/>
              </a:rPr>
              <a:t>, </a:t>
            </a:r>
            <a:r>
              <a:rPr lang="pt-BR" altLang="pt-BR" u="sng">
                <a:latin typeface="Verdana" charset="0"/>
              </a:rPr>
              <a:t>clientes, fornecedores e do ambiente competitivo </a:t>
            </a:r>
            <a:r>
              <a:rPr lang="pt-BR" altLang="pt-BR">
                <a:latin typeface="Verdana" charset="0"/>
              </a:rPr>
              <a:t>em geral, para apoiar a tomada de decisão organizacional.</a:t>
            </a:r>
          </a:p>
        </p:txBody>
      </p:sp>
    </p:spTree>
    <p:extLst>
      <p:ext uri="{BB962C8B-B14F-4D97-AF65-F5344CB8AC3E}">
        <p14:creationId xmlns:p14="http://schemas.microsoft.com/office/powerpoint/2010/main" val="1289310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4902" y="252844"/>
            <a:ext cx="8229600" cy="1066800"/>
          </a:xfrm>
        </p:spPr>
        <p:txBody>
          <a:bodyPr/>
          <a:lstStyle/>
          <a:p>
            <a:r>
              <a:rPr lang="pt-BR" dirty="0"/>
              <a:t>4.2 Inteligência competitiva</a:t>
            </a:r>
          </a:p>
        </p:txBody>
      </p:sp>
      <p:pic>
        <p:nvPicPr>
          <p:cNvPr id="51" name="Imagem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234" y="1319644"/>
            <a:ext cx="5731165" cy="530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69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9122" y="980728"/>
            <a:ext cx="8229600" cy="1066800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 Id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éia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do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produto</a:t>
            </a:r>
            <a:endParaRPr lang="pt-B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3">
                    <a:lumMod val="50000"/>
                  </a:schemeClr>
                </a:solidFill>
              </a:rPr>
              <a:t>Ideia do produto pode ser entendida como uma </a:t>
            </a:r>
            <a:r>
              <a:rPr lang="pt-BR" sz="2400" b="1" dirty="0">
                <a:solidFill>
                  <a:schemeClr val="accent3">
                    <a:lumMod val="50000"/>
                  </a:schemeClr>
                </a:solidFill>
              </a:rPr>
              <a:t>especificação de oportunidade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</a:rPr>
              <a:t>, com uma ideia central chamada de </a:t>
            </a:r>
            <a:r>
              <a:rPr lang="pt-BR" sz="2400" b="1" dirty="0">
                <a:solidFill>
                  <a:schemeClr val="accent3">
                    <a:lumMod val="50000"/>
                  </a:schemeClr>
                </a:solidFill>
              </a:rPr>
              <a:t>benefício básico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</a:rPr>
              <a:t>;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accent3">
                  <a:lumMod val="50000"/>
                </a:schemeClr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3">
                    <a:lumMod val="50000"/>
                  </a:schemeClr>
                </a:solidFill>
              </a:rPr>
              <a:t>Sendo a </a:t>
            </a:r>
            <a:r>
              <a:rPr lang="pt-BR" sz="2400" b="1" dirty="0">
                <a:solidFill>
                  <a:schemeClr val="accent3">
                    <a:lumMod val="50000"/>
                  </a:schemeClr>
                </a:solidFill>
              </a:rPr>
              <a:t>busca por novas ideias um processo complexo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</a:rPr>
              <a:t>, dependendo da capacidade criativa, mas também de processos e métodos sistemáticos e bem definidos de trabalho.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451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40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2. ID</a:t>
            </a:r>
            <a:r>
              <a:rPr lang="en-US" sz="40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ÉIA DO PRODUTO</a:t>
            </a:r>
            <a:endParaRPr lang="pt-BR" sz="40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58644"/>
            <a:ext cx="8229600" cy="31066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46753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3. Processo de planejamento do produto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lnSpc>
                <a:spcPct val="150000"/>
              </a:lnSpc>
              <a:buNone/>
            </a:pPr>
            <a:r>
              <a:rPr lang="pt-BR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Roozenburg</a:t>
            </a:r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Eekels</a:t>
            </a:r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(1995) </a:t>
            </a:r>
          </a:p>
          <a:p>
            <a:pPr marL="109728" indent="0">
              <a:lnSpc>
                <a:spcPct val="150000"/>
              </a:lnSpc>
              <a:buNone/>
            </a:pPr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...o planejamento do produto se </a:t>
            </a:r>
            <a:r>
              <a:rPr lang="pt-BR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á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fase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inicial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processo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inovação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que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é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de forma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abrangente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o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desenvolvimento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a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introdução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produto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no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mercado</a:t>
            </a:r>
            <a:r>
              <a:rPr lang="en-US" sz="2400" dirty="0"/>
              <a:t>.  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44624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6093296"/>
            <a:ext cx="8892480" cy="764704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/>
              <a:t>Modelo</a:t>
            </a:r>
            <a:r>
              <a:rPr lang="en-US" sz="1800" dirty="0"/>
              <a:t> </a:t>
            </a:r>
            <a:r>
              <a:rPr lang="en-US" sz="1800" dirty="0" err="1"/>
              <a:t>genérico</a:t>
            </a:r>
            <a:r>
              <a:rPr lang="en-US" sz="1800" dirty="0"/>
              <a:t> de </a:t>
            </a:r>
            <a:r>
              <a:rPr lang="en-US" sz="1800" dirty="0" err="1"/>
              <a:t>planejamento</a:t>
            </a:r>
            <a:r>
              <a:rPr lang="en-US" sz="1800" dirty="0"/>
              <a:t> de </a:t>
            </a:r>
            <a:r>
              <a:rPr lang="en-US" sz="1800" dirty="0" err="1"/>
              <a:t>produto</a:t>
            </a:r>
            <a:r>
              <a:rPr lang="en-US" sz="1800" dirty="0"/>
              <a:t> (</a:t>
            </a:r>
            <a:r>
              <a:rPr lang="en-US" sz="1800" dirty="0" err="1"/>
              <a:t>Adaptado</a:t>
            </a:r>
            <a:r>
              <a:rPr lang="en-US" sz="1800" dirty="0"/>
              <a:t> de </a:t>
            </a:r>
            <a:r>
              <a:rPr lang="en-US" sz="1800" dirty="0" err="1"/>
              <a:t>Sidén</a:t>
            </a:r>
            <a:r>
              <a:rPr lang="en-US" sz="1800" dirty="0"/>
              <a:t>, Lindstrom e Paul, 2000)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08" y="216025"/>
            <a:ext cx="8057926" cy="5877271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4211960" y="15846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pt-BR" sz="1600">
                <a:solidFill>
                  <a:schemeClr val="bg1">
                    <a:lumMod val="50000"/>
                  </a:schemeClr>
                </a:solidFill>
              </a:rPr>
              <a:t>3. 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</a:rPr>
              <a:t>Processo de planejamento do produto</a:t>
            </a:r>
          </a:p>
        </p:txBody>
      </p:sp>
    </p:spTree>
    <p:extLst>
      <p:ext uri="{BB962C8B-B14F-4D97-AF65-F5344CB8AC3E}">
        <p14:creationId xmlns:p14="http://schemas.microsoft.com/office/powerpoint/2010/main" val="3953642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6093296"/>
            <a:ext cx="8892480" cy="764704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/>
              <a:t>Modelo</a:t>
            </a:r>
            <a:r>
              <a:rPr lang="en-US" sz="1800" dirty="0"/>
              <a:t> </a:t>
            </a:r>
            <a:r>
              <a:rPr lang="en-US" sz="1800" dirty="0" err="1"/>
              <a:t>genérico</a:t>
            </a:r>
            <a:r>
              <a:rPr lang="en-US" sz="1800" dirty="0"/>
              <a:t> de </a:t>
            </a:r>
            <a:r>
              <a:rPr lang="en-US" sz="1800" dirty="0" err="1"/>
              <a:t>planejamento</a:t>
            </a:r>
            <a:r>
              <a:rPr lang="en-US" sz="1800" dirty="0"/>
              <a:t> de </a:t>
            </a:r>
            <a:r>
              <a:rPr lang="en-US" sz="1800" dirty="0" err="1"/>
              <a:t>produto</a:t>
            </a:r>
            <a:r>
              <a:rPr lang="en-US" sz="1800" dirty="0"/>
              <a:t> (</a:t>
            </a:r>
            <a:r>
              <a:rPr lang="en-US" sz="1800" dirty="0" err="1"/>
              <a:t>Adaptado</a:t>
            </a:r>
            <a:r>
              <a:rPr lang="en-US" sz="1800" dirty="0"/>
              <a:t> de </a:t>
            </a:r>
            <a:r>
              <a:rPr lang="en-US" sz="1800" dirty="0" err="1"/>
              <a:t>Sidén</a:t>
            </a:r>
            <a:r>
              <a:rPr lang="en-US" sz="1800" dirty="0"/>
              <a:t>, Lindstrom e Paul, 2000)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98" y="332656"/>
            <a:ext cx="8057926" cy="5877271"/>
          </a:xfrm>
          <a:prstGeom prst="rect">
            <a:avLst/>
          </a:prstGeom>
        </p:spPr>
      </p:pic>
      <p:sp>
        <p:nvSpPr>
          <p:cNvPr id="3" name="Balão de Nuvem 2"/>
          <p:cNvSpPr/>
          <p:nvPr/>
        </p:nvSpPr>
        <p:spPr>
          <a:xfrm>
            <a:off x="4427984" y="476672"/>
            <a:ext cx="4608512" cy="216024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charset="0"/>
              <a:buChar char="•"/>
            </a:pPr>
            <a:r>
              <a:rPr lang="pt-BR" dirty="0"/>
              <a:t>As atividades  que devem ser executadas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pt-BR" dirty="0"/>
              <a:t>Priorizar as id</a:t>
            </a:r>
            <a:r>
              <a:rPr lang="en-US" dirty="0" err="1"/>
              <a:t>eias</a:t>
            </a:r>
            <a:r>
              <a:rPr lang="en-US" dirty="0"/>
              <a:t> de forma </a:t>
            </a:r>
            <a:r>
              <a:rPr lang="en-US" dirty="0" err="1"/>
              <a:t>clara</a:t>
            </a:r>
            <a:r>
              <a:rPr lang="en-US" dirty="0"/>
              <a:t> e </a:t>
            </a:r>
            <a:r>
              <a:rPr lang="en-US" dirty="0" err="1"/>
              <a:t>objetiva</a:t>
            </a:r>
            <a:endParaRPr lang="en-US" dirty="0"/>
          </a:p>
          <a:p>
            <a:pPr marL="285750" indent="-285750" algn="just">
              <a:buFont typeface="Arial" charset="0"/>
              <a:buChar char="•"/>
            </a:pPr>
            <a:r>
              <a:rPr lang="en-US" dirty="0" err="1"/>
              <a:t>Gerenciamento</a:t>
            </a:r>
            <a:r>
              <a:rPr lang="en-US" dirty="0"/>
              <a:t> dos </a:t>
            </a:r>
            <a:r>
              <a:rPr lang="en-US" dirty="0" err="1"/>
              <a:t>projetos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127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6093296"/>
            <a:ext cx="8892480" cy="764704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/>
              <a:t>Modelo</a:t>
            </a:r>
            <a:r>
              <a:rPr lang="en-US" sz="1800" dirty="0"/>
              <a:t> </a:t>
            </a:r>
            <a:r>
              <a:rPr lang="en-US" sz="1800" dirty="0" err="1"/>
              <a:t>genérico</a:t>
            </a:r>
            <a:r>
              <a:rPr lang="en-US" sz="1800" dirty="0"/>
              <a:t> de </a:t>
            </a:r>
            <a:r>
              <a:rPr lang="en-US" sz="1800" dirty="0" err="1"/>
              <a:t>planejamento</a:t>
            </a:r>
            <a:r>
              <a:rPr lang="en-US" sz="1800" dirty="0"/>
              <a:t> de </a:t>
            </a:r>
            <a:r>
              <a:rPr lang="en-US" sz="1800" dirty="0" err="1"/>
              <a:t>produto</a:t>
            </a:r>
            <a:r>
              <a:rPr lang="en-US" sz="1800" dirty="0"/>
              <a:t> (</a:t>
            </a:r>
            <a:r>
              <a:rPr lang="en-US" sz="1800" dirty="0" err="1"/>
              <a:t>Adaptado</a:t>
            </a:r>
            <a:r>
              <a:rPr lang="en-US" sz="1800" dirty="0"/>
              <a:t> de </a:t>
            </a:r>
            <a:r>
              <a:rPr lang="en-US" sz="1800" dirty="0" err="1"/>
              <a:t>Sidén</a:t>
            </a:r>
            <a:r>
              <a:rPr lang="en-US" sz="1800" dirty="0"/>
              <a:t>, Lindstrom e Paul, 2000)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98" y="332656"/>
            <a:ext cx="8057926" cy="5877271"/>
          </a:xfrm>
          <a:prstGeom prst="rect">
            <a:avLst/>
          </a:prstGeom>
        </p:spPr>
      </p:pic>
      <p:sp>
        <p:nvSpPr>
          <p:cNvPr id="3" name="Balão de Nuvem 2"/>
          <p:cNvSpPr/>
          <p:nvPr/>
        </p:nvSpPr>
        <p:spPr>
          <a:xfrm>
            <a:off x="3059832" y="116632"/>
            <a:ext cx="5881920" cy="2160240"/>
          </a:xfrm>
          <a:prstGeom prst="cloudCallout">
            <a:avLst>
              <a:gd name="adj1" fmla="val -6229"/>
              <a:gd name="adj2" fmla="val 618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charset="0"/>
              <a:buChar char="•"/>
            </a:pPr>
            <a:r>
              <a:rPr lang="pt-BR" dirty="0"/>
              <a:t>M</a:t>
            </a:r>
            <a:r>
              <a:rPr lang="en-US" dirty="0" err="1"/>
              <a:t>étodos</a:t>
            </a:r>
            <a:r>
              <a:rPr lang="en-US" dirty="0"/>
              <a:t> e </a:t>
            </a:r>
            <a:r>
              <a:rPr lang="en-US" dirty="0" err="1"/>
              <a:t>ferramentas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compomentes</a:t>
            </a:r>
            <a:r>
              <a:rPr lang="en-US" dirty="0"/>
              <a:t> </a:t>
            </a:r>
            <a:r>
              <a:rPr lang="en-US" dirty="0" err="1"/>
              <a:t>operacionais</a:t>
            </a:r>
            <a:r>
              <a:rPr lang="en-US" dirty="0"/>
              <a:t> de </a:t>
            </a:r>
            <a:r>
              <a:rPr lang="en-US" dirty="0" err="1"/>
              <a:t>suporte</a:t>
            </a:r>
            <a:r>
              <a:rPr lang="en-US" dirty="0"/>
              <a:t> as </a:t>
            </a:r>
            <a:r>
              <a:rPr lang="en-US" dirty="0" err="1"/>
              <a:t>atividades</a:t>
            </a:r>
            <a:r>
              <a:rPr lang="en-US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6486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6093296"/>
            <a:ext cx="8892480" cy="764704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/>
              <a:t>Modelo</a:t>
            </a:r>
            <a:r>
              <a:rPr lang="en-US" sz="1800" dirty="0"/>
              <a:t> </a:t>
            </a:r>
            <a:r>
              <a:rPr lang="en-US" sz="1800" dirty="0" err="1"/>
              <a:t>genérico</a:t>
            </a:r>
            <a:r>
              <a:rPr lang="en-US" sz="1800" dirty="0"/>
              <a:t> de </a:t>
            </a:r>
            <a:r>
              <a:rPr lang="en-US" sz="1800" dirty="0" err="1"/>
              <a:t>planejamento</a:t>
            </a:r>
            <a:r>
              <a:rPr lang="en-US" sz="1800" dirty="0"/>
              <a:t> de </a:t>
            </a:r>
            <a:r>
              <a:rPr lang="en-US" sz="1800" dirty="0" err="1"/>
              <a:t>produto</a:t>
            </a:r>
            <a:r>
              <a:rPr lang="en-US" sz="1800" dirty="0"/>
              <a:t> (</a:t>
            </a:r>
            <a:r>
              <a:rPr lang="en-US" sz="1800" dirty="0" err="1"/>
              <a:t>Adaptado</a:t>
            </a:r>
            <a:r>
              <a:rPr lang="en-US" sz="1800" dirty="0"/>
              <a:t> de </a:t>
            </a:r>
            <a:r>
              <a:rPr lang="en-US" sz="1800" dirty="0" err="1"/>
              <a:t>Sidén</a:t>
            </a:r>
            <a:r>
              <a:rPr lang="en-US" sz="1800" dirty="0"/>
              <a:t>, Lindstrom e Paul, 2000)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98" y="332656"/>
            <a:ext cx="8057926" cy="5877271"/>
          </a:xfrm>
          <a:prstGeom prst="rect">
            <a:avLst/>
          </a:prstGeom>
        </p:spPr>
      </p:pic>
      <p:sp>
        <p:nvSpPr>
          <p:cNvPr id="3" name="Balão de Nuvem 2"/>
          <p:cNvSpPr/>
          <p:nvPr/>
        </p:nvSpPr>
        <p:spPr>
          <a:xfrm>
            <a:off x="3923928" y="188640"/>
            <a:ext cx="5220072" cy="1944216"/>
          </a:xfrm>
          <a:prstGeom prst="cloudCallout">
            <a:avLst>
              <a:gd name="adj1" fmla="val -21136"/>
              <a:gd name="adj2" fmla="val 5416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charset="0"/>
              <a:buChar char="•"/>
            </a:pPr>
            <a:r>
              <a:rPr lang="pt-BR" dirty="0"/>
              <a:t>Gerenciamentos em que se insere as </a:t>
            </a:r>
            <a:r>
              <a:rPr lang="pt-BR" dirty="0" err="1"/>
              <a:t>estrat</a:t>
            </a:r>
            <a:r>
              <a:rPr lang="en-US" dirty="0" err="1"/>
              <a:t>égias</a:t>
            </a:r>
            <a:r>
              <a:rPr lang="en-US" dirty="0"/>
              <a:t> da </a:t>
            </a:r>
            <a:r>
              <a:rPr lang="en-US" dirty="0" err="1"/>
              <a:t>organização</a:t>
            </a:r>
            <a:r>
              <a:rPr lang="en-US" dirty="0"/>
              <a:t>,  a </a:t>
            </a:r>
            <a:r>
              <a:rPr lang="en-US" dirty="0" err="1"/>
              <a:t>visão</a:t>
            </a:r>
            <a:r>
              <a:rPr lang="en-US" dirty="0"/>
              <a:t> do </a:t>
            </a:r>
            <a:r>
              <a:rPr lang="en-US" dirty="0" err="1"/>
              <a:t>mercado</a:t>
            </a:r>
            <a:r>
              <a:rPr lang="en-US" dirty="0"/>
              <a:t>, as </a:t>
            </a:r>
            <a:r>
              <a:rPr lang="en-US" dirty="0" err="1"/>
              <a:t>competências</a:t>
            </a:r>
            <a:r>
              <a:rPr lang="en-US" dirty="0"/>
              <a:t> e a infra-</a:t>
            </a:r>
            <a:r>
              <a:rPr lang="en-US" dirty="0" err="1"/>
              <a:t>estrutura</a:t>
            </a:r>
            <a:r>
              <a:rPr lang="en-US" dirty="0"/>
              <a:t> </a:t>
            </a:r>
            <a:r>
              <a:rPr lang="en-US" dirty="0" err="1"/>
              <a:t>necessária</a:t>
            </a:r>
            <a:r>
              <a:rPr lang="en-US" dirty="0"/>
              <a:t>.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291009" y="332656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MODELOS GERAIS DE PP</a:t>
            </a:r>
          </a:p>
        </p:txBody>
      </p:sp>
    </p:spTree>
    <p:extLst>
      <p:ext uri="{BB962C8B-B14F-4D97-AF65-F5344CB8AC3E}">
        <p14:creationId xmlns:p14="http://schemas.microsoft.com/office/powerpoint/2010/main" val="1051384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3501008"/>
            <a:ext cx="8712968" cy="300152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O PLANEJAMENTO DO PRODUTO relaciona os resultados do planejamento estratégico da inovação e os estudos de inteligência competitiva da empresa com as necessidades para o planejamento de projetos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O PLANEJAMENTO DE PRODUTO também fornece as preliminares para o projeto informacional de produtos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32008"/>
            <a:ext cx="7632848" cy="3048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4139952" y="116632"/>
            <a:ext cx="5349280" cy="432048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3. Processo de planejamento do produto</a:t>
            </a:r>
          </a:p>
        </p:txBody>
      </p:sp>
    </p:spTree>
    <p:extLst>
      <p:ext uri="{BB962C8B-B14F-4D97-AF65-F5344CB8AC3E}">
        <p14:creationId xmlns:p14="http://schemas.microsoft.com/office/powerpoint/2010/main" val="655047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4395" y="260648"/>
            <a:ext cx="9392791" cy="633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73511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98" y="980728"/>
            <a:ext cx="8256658" cy="5584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139952" y="116632"/>
            <a:ext cx="5349280" cy="432048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>
                <a:solidFill>
                  <a:schemeClr val="bg1">
                    <a:lumMod val="50000"/>
                  </a:schemeClr>
                </a:solidFill>
              </a:rPr>
              <a:t>3. Processo de planejamento do produto</a:t>
            </a:r>
            <a:endParaRPr lang="pt-BR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116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pt-BR" dirty="0"/>
              <a:t>4.3 </a:t>
            </a:r>
            <a:r>
              <a:rPr lang="pt-BR" dirty="0" err="1"/>
              <a:t>Gest</a:t>
            </a:r>
            <a:r>
              <a:rPr lang="en-US" dirty="0" err="1"/>
              <a:t>ão</a:t>
            </a:r>
            <a:r>
              <a:rPr lang="en-US" dirty="0"/>
              <a:t> da </a:t>
            </a:r>
            <a:r>
              <a:rPr lang="en-US" dirty="0" err="1"/>
              <a:t>Inovação</a:t>
            </a:r>
            <a:r>
              <a:rPr lang="en-US" dirty="0"/>
              <a:t> de </a:t>
            </a:r>
            <a:r>
              <a:rPr lang="en-US" dirty="0" err="1"/>
              <a:t>produtos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457200" y="1451288"/>
            <a:ext cx="8229600" cy="4325112"/>
          </a:xfrm>
        </p:spPr>
        <p:txBody>
          <a:bodyPr/>
          <a:lstStyle/>
          <a:p>
            <a:r>
              <a:rPr lang="pt-BR"/>
              <a:t>ALGUNS CONCEITOS PRELIMINARES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848" y="2060848"/>
            <a:ext cx="7308304" cy="452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906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pt-BR" dirty="0"/>
              <a:t>4.3 </a:t>
            </a:r>
            <a:r>
              <a:rPr lang="pt-BR" dirty="0" err="1"/>
              <a:t>Gest</a:t>
            </a:r>
            <a:r>
              <a:rPr lang="en-US" dirty="0" err="1"/>
              <a:t>ão</a:t>
            </a:r>
            <a:r>
              <a:rPr lang="en-US" dirty="0"/>
              <a:t> da </a:t>
            </a:r>
            <a:r>
              <a:rPr lang="en-US" dirty="0" err="1"/>
              <a:t>Inovação</a:t>
            </a:r>
            <a:r>
              <a:rPr lang="en-US" dirty="0"/>
              <a:t> de </a:t>
            </a:r>
            <a:r>
              <a:rPr lang="en-US" dirty="0" err="1"/>
              <a:t>produtos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457200" y="1451288"/>
            <a:ext cx="8229600" cy="4325112"/>
          </a:xfrm>
        </p:spPr>
        <p:txBody>
          <a:bodyPr/>
          <a:lstStyle/>
          <a:p>
            <a:r>
              <a:rPr lang="pt-BR" dirty="0"/>
              <a:t>ALGUNS CONCEITOS PRELIMINARES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16" y="2217590"/>
            <a:ext cx="7884368" cy="473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483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pt-BR" dirty="0"/>
              <a:t>4.3 </a:t>
            </a:r>
            <a:r>
              <a:rPr lang="pt-BR" dirty="0" err="1"/>
              <a:t>Gest</a:t>
            </a:r>
            <a:r>
              <a:rPr lang="en-US" dirty="0" err="1"/>
              <a:t>ão</a:t>
            </a:r>
            <a:r>
              <a:rPr lang="en-US" dirty="0"/>
              <a:t> da </a:t>
            </a:r>
            <a:r>
              <a:rPr lang="en-US" dirty="0" err="1"/>
              <a:t>Inovação</a:t>
            </a:r>
            <a:r>
              <a:rPr lang="en-US" dirty="0"/>
              <a:t> de </a:t>
            </a:r>
            <a:r>
              <a:rPr lang="en-US" dirty="0" err="1"/>
              <a:t>produtos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457200" y="1451288"/>
            <a:ext cx="8229600" cy="4325112"/>
          </a:xfrm>
        </p:spPr>
        <p:txBody>
          <a:bodyPr/>
          <a:lstStyle/>
          <a:p>
            <a:r>
              <a:rPr lang="pt-BR" dirty="0"/>
              <a:t>FATORES INDUTORES DA INOVA</a:t>
            </a:r>
            <a:r>
              <a:rPr lang="en-US" dirty="0"/>
              <a:t>ÇÃO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348880"/>
            <a:ext cx="7380312" cy="396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161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4.3 Gerenciamento de inova</a:t>
            </a:r>
            <a:r>
              <a:rPr lang="en-US" dirty="0" err="1"/>
              <a:t>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https://www.youtube.com/watch?v=rZU0tv6OMI4</a:t>
            </a:r>
            <a:endParaRPr lang="pt-BR" dirty="0"/>
          </a:p>
          <a:p>
            <a:endParaRPr lang="pt-BR" dirty="0"/>
          </a:p>
          <a:p>
            <a:r>
              <a:rPr lang="pt-BR" dirty="0"/>
              <a:t>Assistam o </a:t>
            </a:r>
            <a:r>
              <a:rPr lang="pt-BR" dirty="0" err="1"/>
              <a:t>video</a:t>
            </a:r>
            <a:r>
              <a:rPr lang="pt-BR" dirty="0"/>
              <a:t> e elaborem um resumo</a:t>
            </a:r>
          </a:p>
          <a:p>
            <a:endParaRPr lang="pt-BR" dirty="0"/>
          </a:p>
          <a:p>
            <a:r>
              <a:rPr lang="pt-BR" dirty="0">
                <a:hlinkClick r:id="rId3"/>
              </a:rPr>
              <a:t>https://www.youtube.com/watch?v=0H1QjD1fi6Q</a:t>
            </a:r>
            <a:r>
              <a:rPr lang="pt-BR" dirty="0"/>
              <a:t> (Curso on-line </a:t>
            </a:r>
            <a:r>
              <a:rPr lang="pt-BR" dirty="0" err="1"/>
              <a:t>gest</a:t>
            </a:r>
            <a:r>
              <a:rPr lang="en-US" dirty="0" err="1"/>
              <a:t>ão</a:t>
            </a:r>
            <a:r>
              <a:rPr lang="en-US" dirty="0"/>
              <a:t> da </a:t>
            </a:r>
            <a:r>
              <a:rPr lang="en-US" dirty="0" err="1"/>
              <a:t>inovação</a:t>
            </a:r>
            <a:r>
              <a:rPr lang="en-US" dirty="0"/>
              <a:t> USP)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22004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4320" y="836712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pt-BR" dirty="0"/>
              <a:t>5. M</a:t>
            </a:r>
            <a:r>
              <a:rPr lang="en-US" dirty="0" err="1"/>
              <a:t>étodos</a:t>
            </a:r>
            <a:r>
              <a:rPr lang="en-US" dirty="0"/>
              <a:t> e </a:t>
            </a:r>
            <a:r>
              <a:rPr lang="en-US" dirty="0" err="1"/>
              <a:t>Ferramentas</a:t>
            </a:r>
            <a:r>
              <a:rPr lang="en-US" dirty="0"/>
              <a:t> de </a:t>
            </a:r>
            <a:r>
              <a:rPr lang="en-US" dirty="0" err="1"/>
              <a:t>apoio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planejamento</a:t>
            </a:r>
            <a:r>
              <a:rPr lang="en-US" dirty="0"/>
              <a:t> de </a:t>
            </a:r>
            <a:r>
              <a:rPr lang="en-US" dirty="0" err="1"/>
              <a:t>produtos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5.1 – M</a:t>
            </a:r>
            <a:r>
              <a:rPr lang="en-US" dirty="0" err="1"/>
              <a:t>étodos</a:t>
            </a:r>
            <a:r>
              <a:rPr lang="en-US" dirty="0"/>
              <a:t> e </a:t>
            </a:r>
            <a:r>
              <a:rPr lang="en-US" dirty="0" err="1"/>
              <a:t>ferramentas</a:t>
            </a:r>
            <a:r>
              <a:rPr lang="en-US" dirty="0"/>
              <a:t> para </a:t>
            </a:r>
            <a:r>
              <a:rPr lang="en-US" dirty="0" err="1"/>
              <a:t>geração</a:t>
            </a:r>
            <a:r>
              <a:rPr lang="en-US" dirty="0"/>
              <a:t> de </a:t>
            </a:r>
            <a:r>
              <a:rPr lang="en-US" dirty="0" err="1"/>
              <a:t>idéias</a:t>
            </a:r>
            <a:r>
              <a:rPr lang="en-US" dirty="0"/>
              <a:t> de </a:t>
            </a:r>
            <a:r>
              <a:rPr lang="en-US" dirty="0" err="1"/>
              <a:t>produtos</a:t>
            </a:r>
            <a:endParaRPr lang="en-US" dirty="0"/>
          </a:p>
          <a:p>
            <a:endParaRPr lang="en-US" dirty="0"/>
          </a:p>
          <a:p>
            <a:r>
              <a:rPr lang="en-US" dirty="0"/>
              <a:t>5.2 – </a:t>
            </a:r>
            <a:r>
              <a:rPr lang="en-US" dirty="0" err="1"/>
              <a:t>Métodos</a:t>
            </a:r>
            <a:r>
              <a:rPr lang="en-US" dirty="0"/>
              <a:t> e </a:t>
            </a:r>
            <a:r>
              <a:rPr lang="en-US" dirty="0" err="1"/>
              <a:t>ferramentas</a:t>
            </a:r>
            <a:r>
              <a:rPr lang="en-US" dirty="0"/>
              <a:t> de </a:t>
            </a:r>
            <a:r>
              <a:rPr lang="en-US" dirty="0" err="1"/>
              <a:t>apoio</a:t>
            </a:r>
            <a:r>
              <a:rPr lang="en-US" dirty="0"/>
              <a:t> a </a:t>
            </a:r>
            <a:r>
              <a:rPr lang="en-US" dirty="0" err="1"/>
              <a:t>gestão</a:t>
            </a:r>
            <a:r>
              <a:rPr lang="en-US" dirty="0"/>
              <a:t> da </a:t>
            </a:r>
            <a:r>
              <a:rPr lang="en-US" dirty="0" err="1"/>
              <a:t>tecnologia</a:t>
            </a:r>
            <a:r>
              <a:rPr lang="en-US" dirty="0"/>
              <a:t> de </a:t>
            </a:r>
            <a:r>
              <a:rPr lang="en-US" dirty="0" err="1"/>
              <a:t>produtos</a:t>
            </a:r>
            <a:r>
              <a:rPr lang="en-US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3209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322425" y="309505"/>
            <a:ext cx="9159552" cy="7889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pt-BR" dirty="0" err="1">
                <a:ea typeface="ＭＳ Ｐゴシック" charset="-128"/>
              </a:rPr>
              <a:t>Elementos</a:t>
            </a:r>
            <a:r>
              <a:rPr lang="en-US" altLang="pt-BR" dirty="0">
                <a:ea typeface="ＭＳ Ｐゴシック" charset="-128"/>
              </a:rPr>
              <a:t> da </a:t>
            </a:r>
            <a:r>
              <a:rPr lang="en-US" altLang="pt-BR" dirty="0" err="1">
                <a:ea typeface="ＭＳ Ｐゴシック" charset="-128"/>
              </a:rPr>
              <a:t>Estratégia</a:t>
            </a:r>
            <a:r>
              <a:rPr lang="en-US" altLang="pt-BR" dirty="0">
                <a:ea typeface="ＭＳ Ｐゴシック" charset="-128"/>
              </a:rPr>
              <a:t> de </a:t>
            </a:r>
            <a:r>
              <a:rPr lang="en-US" altLang="pt-BR" dirty="0" err="1">
                <a:ea typeface="ＭＳ Ｐゴシック" charset="-128"/>
              </a:rPr>
              <a:t>Produto</a:t>
            </a:r>
            <a:r>
              <a:rPr lang="en-US" altLang="pt-BR" dirty="0">
                <a:ea typeface="ＭＳ Ｐゴシック" charset="-128"/>
              </a:rPr>
              <a:t> </a:t>
            </a:r>
          </a:p>
        </p:txBody>
      </p:sp>
      <p:grpSp>
        <p:nvGrpSpPr>
          <p:cNvPr id="58370" name="Group 3"/>
          <p:cNvGrpSpPr>
            <a:grpSpLocks/>
          </p:cNvGrpSpPr>
          <p:nvPr/>
        </p:nvGrpSpPr>
        <p:grpSpPr bwMode="auto">
          <a:xfrm>
            <a:off x="609600" y="2360613"/>
            <a:ext cx="685800" cy="2667000"/>
            <a:chOff x="384" y="1487"/>
            <a:chExt cx="432" cy="1680"/>
          </a:xfrm>
        </p:grpSpPr>
        <p:sp>
          <p:nvSpPr>
            <p:cNvPr id="58641" name="Oval 4"/>
            <p:cNvSpPr>
              <a:spLocks noChangeArrowheads="1"/>
            </p:cNvSpPr>
            <p:nvPr/>
          </p:nvSpPr>
          <p:spPr bwMode="auto">
            <a:xfrm>
              <a:off x="528" y="1487"/>
              <a:ext cx="144" cy="144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2" name="Oval 5"/>
            <p:cNvSpPr>
              <a:spLocks noChangeArrowheads="1"/>
            </p:cNvSpPr>
            <p:nvPr/>
          </p:nvSpPr>
          <p:spPr bwMode="auto">
            <a:xfrm>
              <a:off x="528" y="1860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3" name="Oval 6"/>
            <p:cNvSpPr>
              <a:spLocks noChangeArrowheads="1"/>
            </p:cNvSpPr>
            <p:nvPr/>
          </p:nvSpPr>
          <p:spPr bwMode="auto">
            <a:xfrm>
              <a:off x="672" y="2255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4" name="Oval 7"/>
            <p:cNvSpPr>
              <a:spLocks noChangeArrowheads="1"/>
            </p:cNvSpPr>
            <p:nvPr/>
          </p:nvSpPr>
          <p:spPr bwMode="auto">
            <a:xfrm>
              <a:off x="672" y="2639"/>
              <a:ext cx="144" cy="1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5" name="Oval 8"/>
            <p:cNvSpPr>
              <a:spLocks noChangeArrowheads="1"/>
            </p:cNvSpPr>
            <p:nvPr/>
          </p:nvSpPr>
          <p:spPr bwMode="auto">
            <a:xfrm>
              <a:off x="384" y="2351"/>
              <a:ext cx="144" cy="144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6" name="Oval 9"/>
            <p:cNvSpPr>
              <a:spLocks noChangeArrowheads="1"/>
            </p:cNvSpPr>
            <p:nvPr/>
          </p:nvSpPr>
          <p:spPr bwMode="auto">
            <a:xfrm>
              <a:off x="528" y="3023"/>
              <a:ext cx="144" cy="144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1" name="Group 10"/>
          <p:cNvGrpSpPr>
            <a:grpSpLocks/>
          </p:cNvGrpSpPr>
          <p:nvPr/>
        </p:nvGrpSpPr>
        <p:grpSpPr bwMode="auto">
          <a:xfrm>
            <a:off x="1524000" y="2970213"/>
            <a:ext cx="762000" cy="1828800"/>
            <a:chOff x="960" y="1871"/>
            <a:chExt cx="480" cy="1152"/>
          </a:xfrm>
        </p:grpSpPr>
        <p:sp>
          <p:nvSpPr>
            <p:cNvPr id="58634" name="Oval 11"/>
            <p:cNvSpPr>
              <a:spLocks noChangeArrowheads="1"/>
            </p:cNvSpPr>
            <p:nvPr/>
          </p:nvSpPr>
          <p:spPr bwMode="auto">
            <a:xfrm>
              <a:off x="960" y="1871"/>
              <a:ext cx="144" cy="144"/>
            </a:xfrm>
            <a:prstGeom prst="ellipse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5" name="Oval 12"/>
            <p:cNvSpPr>
              <a:spLocks noChangeArrowheads="1"/>
            </p:cNvSpPr>
            <p:nvPr/>
          </p:nvSpPr>
          <p:spPr bwMode="auto">
            <a:xfrm>
              <a:off x="1296" y="2015"/>
              <a:ext cx="144" cy="144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6" name="Oval 13"/>
            <p:cNvSpPr>
              <a:spLocks noChangeArrowheads="1"/>
            </p:cNvSpPr>
            <p:nvPr/>
          </p:nvSpPr>
          <p:spPr bwMode="auto">
            <a:xfrm>
              <a:off x="960" y="2159"/>
              <a:ext cx="144" cy="144"/>
            </a:xfrm>
            <a:prstGeom prst="ellipse">
              <a:avLst/>
            </a:prstGeom>
            <a:solidFill>
              <a:srgbClr val="E0F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7" name="Oval 14"/>
            <p:cNvSpPr>
              <a:spLocks noChangeArrowheads="1"/>
            </p:cNvSpPr>
            <p:nvPr/>
          </p:nvSpPr>
          <p:spPr bwMode="auto">
            <a:xfrm>
              <a:off x="1296" y="2399"/>
              <a:ext cx="144" cy="14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8" name="Oval 15"/>
            <p:cNvSpPr>
              <a:spLocks noChangeArrowheads="1"/>
            </p:cNvSpPr>
            <p:nvPr/>
          </p:nvSpPr>
          <p:spPr bwMode="auto">
            <a:xfrm>
              <a:off x="960" y="2495"/>
              <a:ext cx="144" cy="144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9" name="Oval 16"/>
            <p:cNvSpPr>
              <a:spLocks noChangeArrowheads="1"/>
            </p:cNvSpPr>
            <p:nvPr/>
          </p:nvSpPr>
          <p:spPr bwMode="auto">
            <a:xfrm>
              <a:off x="960" y="2879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0" name="Oval 17"/>
            <p:cNvSpPr>
              <a:spLocks noChangeArrowheads="1"/>
            </p:cNvSpPr>
            <p:nvPr/>
          </p:nvSpPr>
          <p:spPr bwMode="auto">
            <a:xfrm>
              <a:off x="1296" y="2735"/>
              <a:ext cx="144" cy="144"/>
            </a:xfrm>
            <a:prstGeom prst="ellipse">
              <a:avLst/>
            </a:prstGeom>
            <a:solidFill>
              <a:srgbClr val="FFB1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2" name="Group 18"/>
          <p:cNvGrpSpPr>
            <a:grpSpLocks/>
          </p:cNvGrpSpPr>
          <p:nvPr/>
        </p:nvGrpSpPr>
        <p:grpSpPr bwMode="auto">
          <a:xfrm>
            <a:off x="2574925" y="3351213"/>
            <a:ext cx="1082675" cy="990600"/>
            <a:chOff x="1622" y="2111"/>
            <a:chExt cx="682" cy="624"/>
          </a:xfrm>
        </p:grpSpPr>
        <p:sp>
          <p:nvSpPr>
            <p:cNvPr id="58629" name="Oval 19"/>
            <p:cNvSpPr>
              <a:spLocks noChangeArrowheads="1"/>
            </p:cNvSpPr>
            <p:nvPr/>
          </p:nvSpPr>
          <p:spPr bwMode="auto">
            <a:xfrm>
              <a:off x="1938" y="2111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0" name="Oval 20"/>
            <p:cNvSpPr>
              <a:spLocks noChangeArrowheads="1"/>
            </p:cNvSpPr>
            <p:nvPr/>
          </p:nvSpPr>
          <p:spPr bwMode="auto">
            <a:xfrm>
              <a:off x="1622" y="2255"/>
              <a:ext cx="144" cy="144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1" name="Oval 21"/>
            <p:cNvSpPr>
              <a:spLocks noChangeArrowheads="1"/>
            </p:cNvSpPr>
            <p:nvPr/>
          </p:nvSpPr>
          <p:spPr bwMode="auto">
            <a:xfrm>
              <a:off x="2160" y="2495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2" name="Oval 22"/>
            <p:cNvSpPr>
              <a:spLocks noChangeArrowheads="1"/>
            </p:cNvSpPr>
            <p:nvPr/>
          </p:nvSpPr>
          <p:spPr bwMode="auto">
            <a:xfrm>
              <a:off x="1666" y="2591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3" name="Oval 23"/>
            <p:cNvSpPr>
              <a:spLocks noChangeArrowheads="1"/>
            </p:cNvSpPr>
            <p:nvPr/>
          </p:nvSpPr>
          <p:spPr bwMode="auto">
            <a:xfrm>
              <a:off x="2160" y="2495"/>
              <a:ext cx="144" cy="144"/>
            </a:xfrm>
            <a:prstGeom prst="ellips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3" name="Group 24"/>
          <p:cNvGrpSpPr>
            <a:grpSpLocks/>
          </p:cNvGrpSpPr>
          <p:nvPr/>
        </p:nvGrpSpPr>
        <p:grpSpPr bwMode="auto">
          <a:xfrm>
            <a:off x="5105400" y="3579813"/>
            <a:ext cx="1371600" cy="506412"/>
            <a:chOff x="3216" y="2255"/>
            <a:chExt cx="864" cy="319"/>
          </a:xfrm>
        </p:grpSpPr>
        <p:sp>
          <p:nvSpPr>
            <p:cNvPr id="58625" name="Oval 25"/>
            <p:cNvSpPr>
              <a:spLocks noChangeArrowheads="1"/>
            </p:cNvSpPr>
            <p:nvPr/>
          </p:nvSpPr>
          <p:spPr bwMode="auto">
            <a:xfrm>
              <a:off x="3216" y="2255"/>
              <a:ext cx="144" cy="144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6" name="Oval 26"/>
            <p:cNvSpPr>
              <a:spLocks noChangeArrowheads="1"/>
            </p:cNvSpPr>
            <p:nvPr/>
          </p:nvSpPr>
          <p:spPr bwMode="auto">
            <a:xfrm>
              <a:off x="3936" y="2255"/>
              <a:ext cx="144" cy="144"/>
            </a:xfrm>
            <a:prstGeom prst="ellips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7" name="Oval 27"/>
            <p:cNvSpPr>
              <a:spLocks noChangeArrowheads="1"/>
            </p:cNvSpPr>
            <p:nvPr/>
          </p:nvSpPr>
          <p:spPr bwMode="auto">
            <a:xfrm>
              <a:off x="3755" y="2430"/>
              <a:ext cx="144" cy="144"/>
            </a:xfrm>
            <a:prstGeom prst="ellipse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8" name="Oval 28"/>
            <p:cNvSpPr>
              <a:spLocks noChangeArrowheads="1"/>
            </p:cNvSpPr>
            <p:nvPr/>
          </p:nvSpPr>
          <p:spPr bwMode="auto">
            <a:xfrm>
              <a:off x="3504" y="2255"/>
              <a:ext cx="144" cy="144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4" name="Group 29"/>
          <p:cNvGrpSpPr>
            <a:grpSpLocks/>
          </p:cNvGrpSpPr>
          <p:nvPr/>
        </p:nvGrpSpPr>
        <p:grpSpPr bwMode="auto">
          <a:xfrm>
            <a:off x="3886200" y="3427413"/>
            <a:ext cx="990600" cy="609600"/>
            <a:chOff x="2448" y="2159"/>
            <a:chExt cx="624" cy="384"/>
          </a:xfrm>
        </p:grpSpPr>
        <p:sp>
          <p:nvSpPr>
            <p:cNvPr id="58622" name="Oval 30"/>
            <p:cNvSpPr>
              <a:spLocks noChangeArrowheads="1"/>
            </p:cNvSpPr>
            <p:nvPr/>
          </p:nvSpPr>
          <p:spPr bwMode="auto">
            <a:xfrm>
              <a:off x="2688" y="2255"/>
              <a:ext cx="144" cy="144"/>
            </a:xfrm>
            <a:prstGeom prst="ellipse">
              <a:avLst/>
            </a:prstGeom>
            <a:solidFill>
              <a:srgbClr val="CC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3" name="Oval 31"/>
            <p:cNvSpPr>
              <a:spLocks noChangeArrowheads="1"/>
            </p:cNvSpPr>
            <p:nvPr/>
          </p:nvSpPr>
          <p:spPr bwMode="auto">
            <a:xfrm>
              <a:off x="2928" y="2399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4" name="Oval 32"/>
            <p:cNvSpPr>
              <a:spLocks noChangeArrowheads="1"/>
            </p:cNvSpPr>
            <p:nvPr/>
          </p:nvSpPr>
          <p:spPr bwMode="auto">
            <a:xfrm>
              <a:off x="2448" y="2159"/>
              <a:ext cx="144" cy="144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5" name="Group 33"/>
          <p:cNvGrpSpPr>
            <a:grpSpLocks/>
          </p:cNvGrpSpPr>
          <p:nvPr/>
        </p:nvGrpSpPr>
        <p:grpSpPr bwMode="auto">
          <a:xfrm>
            <a:off x="990600" y="1674813"/>
            <a:ext cx="8008938" cy="4038600"/>
            <a:chOff x="624" y="1055"/>
            <a:chExt cx="5045" cy="2544"/>
          </a:xfrm>
        </p:grpSpPr>
        <p:sp>
          <p:nvSpPr>
            <p:cNvPr id="58447" name="Freeform 34"/>
            <p:cNvSpPr>
              <a:spLocks/>
            </p:cNvSpPr>
            <p:nvPr/>
          </p:nvSpPr>
          <p:spPr bwMode="auto">
            <a:xfrm>
              <a:off x="624" y="1055"/>
              <a:ext cx="3696" cy="960"/>
            </a:xfrm>
            <a:custGeom>
              <a:avLst/>
              <a:gdLst>
                <a:gd name="T0" fmla="*/ 0 w 4560"/>
                <a:gd name="T1" fmla="*/ 0 h 1056"/>
                <a:gd name="T2" fmla="*/ 168 w 4560"/>
                <a:gd name="T3" fmla="*/ 327 h 1056"/>
                <a:gd name="T4" fmla="*/ 705 w 4560"/>
                <a:gd name="T5" fmla="*/ 596 h 1056"/>
                <a:gd name="T6" fmla="*/ 1595 w 4560"/>
                <a:gd name="T7" fmla="*/ 656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60"/>
                <a:gd name="T13" fmla="*/ 0 h 1056"/>
                <a:gd name="T14" fmla="*/ 4560 w 4560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60" h="1056">
                  <a:moveTo>
                    <a:pt x="0" y="0"/>
                  </a:moveTo>
                  <a:cubicBezTo>
                    <a:pt x="72" y="184"/>
                    <a:pt x="144" y="368"/>
                    <a:pt x="480" y="528"/>
                  </a:cubicBezTo>
                  <a:cubicBezTo>
                    <a:pt x="816" y="688"/>
                    <a:pt x="1336" y="872"/>
                    <a:pt x="2016" y="960"/>
                  </a:cubicBezTo>
                  <a:cubicBezTo>
                    <a:pt x="2696" y="1048"/>
                    <a:pt x="4120" y="1040"/>
                    <a:pt x="4560" y="1056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8448" name="Freeform 35"/>
            <p:cNvSpPr>
              <a:spLocks/>
            </p:cNvSpPr>
            <p:nvPr/>
          </p:nvSpPr>
          <p:spPr bwMode="auto">
            <a:xfrm flipV="1">
              <a:off x="624" y="2735"/>
              <a:ext cx="3696" cy="864"/>
            </a:xfrm>
            <a:custGeom>
              <a:avLst/>
              <a:gdLst>
                <a:gd name="T0" fmla="*/ 0 w 4560"/>
                <a:gd name="T1" fmla="*/ 0 h 1056"/>
                <a:gd name="T2" fmla="*/ 168 w 4560"/>
                <a:gd name="T3" fmla="*/ 193 h 1056"/>
                <a:gd name="T4" fmla="*/ 705 w 4560"/>
                <a:gd name="T5" fmla="*/ 352 h 1056"/>
                <a:gd name="T6" fmla="*/ 1595 w 4560"/>
                <a:gd name="T7" fmla="*/ 387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60"/>
                <a:gd name="T13" fmla="*/ 0 h 1056"/>
                <a:gd name="T14" fmla="*/ 4560 w 4560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60" h="1056">
                  <a:moveTo>
                    <a:pt x="0" y="0"/>
                  </a:moveTo>
                  <a:cubicBezTo>
                    <a:pt x="72" y="184"/>
                    <a:pt x="144" y="368"/>
                    <a:pt x="480" y="528"/>
                  </a:cubicBezTo>
                  <a:cubicBezTo>
                    <a:pt x="816" y="688"/>
                    <a:pt x="1336" y="872"/>
                    <a:pt x="2016" y="960"/>
                  </a:cubicBezTo>
                  <a:cubicBezTo>
                    <a:pt x="2696" y="1048"/>
                    <a:pt x="4120" y="1040"/>
                    <a:pt x="4560" y="1056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58449" name="Group 36"/>
            <p:cNvGrpSpPr>
              <a:grpSpLocks/>
            </p:cNvGrpSpPr>
            <p:nvPr/>
          </p:nvGrpSpPr>
          <p:grpSpPr bwMode="auto">
            <a:xfrm>
              <a:off x="4341" y="1993"/>
              <a:ext cx="1328" cy="1030"/>
              <a:chOff x="4341" y="1993"/>
              <a:chExt cx="1328" cy="1030"/>
            </a:xfrm>
          </p:grpSpPr>
          <p:grpSp>
            <p:nvGrpSpPr>
              <p:cNvPr id="58450" name="Group 37"/>
              <p:cNvGrpSpPr>
                <a:grpSpLocks/>
              </p:cNvGrpSpPr>
              <p:nvPr/>
            </p:nvGrpSpPr>
            <p:grpSpPr bwMode="auto">
              <a:xfrm>
                <a:off x="4341" y="1993"/>
                <a:ext cx="1328" cy="742"/>
                <a:chOff x="4125" y="2064"/>
                <a:chExt cx="1503" cy="742"/>
              </a:xfrm>
            </p:grpSpPr>
            <p:sp>
              <p:nvSpPr>
                <p:cNvPr id="58452" name="AutoShape 38"/>
                <p:cNvSpPr>
                  <a:spLocks noChangeArrowheads="1"/>
                </p:cNvSpPr>
                <p:nvPr/>
              </p:nvSpPr>
              <p:spPr bwMode="auto">
                <a:xfrm>
                  <a:off x="4181" y="2231"/>
                  <a:ext cx="52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114FFB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53" name="AutoShape 39"/>
                <p:cNvSpPr>
                  <a:spLocks noChangeArrowheads="1"/>
                </p:cNvSpPr>
                <p:nvPr/>
              </p:nvSpPr>
              <p:spPr bwMode="auto">
                <a:xfrm>
                  <a:off x="4176" y="2366"/>
                  <a:ext cx="53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FF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54" name="AutoShape 40"/>
                <p:cNvSpPr>
                  <a:spLocks noChangeArrowheads="1"/>
                </p:cNvSpPr>
                <p:nvPr/>
              </p:nvSpPr>
              <p:spPr bwMode="auto">
                <a:xfrm>
                  <a:off x="4176" y="2526"/>
                  <a:ext cx="53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FF505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55" name="AutoShape 41"/>
                <p:cNvSpPr>
                  <a:spLocks noChangeArrowheads="1"/>
                </p:cNvSpPr>
                <p:nvPr/>
              </p:nvSpPr>
              <p:spPr bwMode="auto">
                <a:xfrm>
                  <a:off x="4171" y="2666"/>
                  <a:ext cx="54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CC00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grpSp>
              <p:nvGrpSpPr>
                <p:cNvPr id="58456" name="Group 42"/>
                <p:cNvGrpSpPr>
                  <a:grpSpLocks/>
                </p:cNvGrpSpPr>
                <p:nvPr/>
              </p:nvGrpSpPr>
              <p:grpSpPr bwMode="auto">
                <a:xfrm>
                  <a:off x="4125" y="2064"/>
                  <a:ext cx="1503" cy="742"/>
                  <a:chOff x="3633" y="834"/>
                  <a:chExt cx="1208" cy="596"/>
                </a:xfrm>
              </p:grpSpPr>
              <p:sp>
                <p:nvSpPr>
                  <p:cNvPr id="58457" name="Freeform 43"/>
                  <p:cNvSpPr>
                    <a:spLocks/>
                  </p:cNvSpPr>
                  <p:nvPr/>
                </p:nvSpPr>
                <p:spPr bwMode="auto">
                  <a:xfrm>
                    <a:off x="3960" y="843"/>
                    <a:ext cx="71" cy="79"/>
                  </a:xfrm>
                  <a:custGeom>
                    <a:avLst/>
                    <a:gdLst>
                      <a:gd name="T0" fmla="*/ 0 w 266"/>
                      <a:gd name="T1" fmla="*/ 0 h 284"/>
                      <a:gd name="T2" fmla="*/ 0 w 266"/>
                      <a:gd name="T3" fmla="*/ 0 h 284"/>
                      <a:gd name="T4" fmla="*/ 0 w 266"/>
                      <a:gd name="T5" fmla="*/ 0 h 284"/>
                      <a:gd name="T6" fmla="*/ 0 w 266"/>
                      <a:gd name="T7" fmla="*/ 1 h 28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66"/>
                      <a:gd name="T13" fmla="*/ 0 h 284"/>
                      <a:gd name="T14" fmla="*/ 266 w 266"/>
                      <a:gd name="T15" fmla="*/ 284 h 28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66" h="284">
                        <a:moveTo>
                          <a:pt x="0" y="0"/>
                        </a:moveTo>
                        <a:lnTo>
                          <a:pt x="80" y="67"/>
                        </a:lnTo>
                        <a:lnTo>
                          <a:pt x="155" y="143"/>
                        </a:lnTo>
                        <a:lnTo>
                          <a:pt x="266" y="28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58" name="Freeform 44"/>
                  <p:cNvSpPr>
                    <a:spLocks/>
                  </p:cNvSpPr>
                  <p:nvPr/>
                </p:nvSpPr>
                <p:spPr bwMode="auto">
                  <a:xfrm>
                    <a:off x="3979" y="849"/>
                    <a:ext cx="73" cy="73"/>
                  </a:xfrm>
                  <a:custGeom>
                    <a:avLst/>
                    <a:gdLst>
                      <a:gd name="T0" fmla="*/ 0 w 279"/>
                      <a:gd name="T1" fmla="*/ 0 h 265"/>
                      <a:gd name="T2" fmla="*/ 0 w 279"/>
                      <a:gd name="T3" fmla="*/ 0 h 265"/>
                      <a:gd name="T4" fmla="*/ 0 w 279"/>
                      <a:gd name="T5" fmla="*/ 0 h 265"/>
                      <a:gd name="T6" fmla="*/ 0 w 279"/>
                      <a:gd name="T7" fmla="*/ 1 h 26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79"/>
                      <a:gd name="T13" fmla="*/ 0 h 265"/>
                      <a:gd name="T14" fmla="*/ 279 w 279"/>
                      <a:gd name="T15" fmla="*/ 265 h 265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79" h="265">
                        <a:moveTo>
                          <a:pt x="0" y="0"/>
                        </a:moveTo>
                        <a:lnTo>
                          <a:pt x="79" y="57"/>
                        </a:lnTo>
                        <a:lnTo>
                          <a:pt x="150" y="124"/>
                        </a:lnTo>
                        <a:lnTo>
                          <a:pt x="279" y="26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59" name="Freeform 45"/>
                  <p:cNvSpPr>
                    <a:spLocks/>
                  </p:cNvSpPr>
                  <p:nvPr/>
                </p:nvSpPr>
                <p:spPr bwMode="auto">
                  <a:xfrm>
                    <a:off x="4015" y="863"/>
                    <a:ext cx="60" cy="58"/>
                  </a:xfrm>
                  <a:custGeom>
                    <a:avLst/>
                    <a:gdLst>
                      <a:gd name="T0" fmla="*/ 0 w 231"/>
                      <a:gd name="T1" fmla="*/ 0 h 207"/>
                      <a:gd name="T2" fmla="*/ 0 w 231"/>
                      <a:gd name="T3" fmla="*/ 0 h 207"/>
                      <a:gd name="T4" fmla="*/ 0 w 231"/>
                      <a:gd name="T5" fmla="*/ 0 h 207"/>
                      <a:gd name="T6" fmla="*/ 0 w 231"/>
                      <a:gd name="T7" fmla="*/ 0 h 20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31"/>
                      <a:gd name="T13" fmla="*/ 0 h 207"/>
                      <a:gd name="T14" fmla="*/ 231 w 231"/>
                      <a:gd name="T15" fmla="*/ 207 h 20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31" h="207">
                        <a:moveTo>
                          <a:pt x="0" y="0"/>
                        </a:moveTo>
                        <a:lnTo>
                          <a:pt x="79" y="56"/>
                        </a:lnTo>
                        <a:lnTo>
                          <a:pt x="150" y="123"/>
                        </a:lnTo>
                        <a:lnTo>
                          <a:pt x="231" y="20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0" name="Freeform 46"/>
                  <p:cNvSpPr>
                    <a:spLocks/>
                  </p:cNvSpPr>
                  <p:nvPr/>
                </p:nvSpPr>
                <p:spPr bwMode="auto">
                  <a:xfrm>
                    <a:off x="4585" y="871"/>
                    <a:ext cx="114" cy="79"/>
                  </a:xfrm>
                  <a:custGeom>
                    <a:avLst/>
                    <a:gdLst>
                      <a:gd name="T0" fmla="*/ 0 w 436"/>
                      <a:gd name="T1" fmla="*/ 0 h 289"/>
                      <a:gd name="T2" fmla="*/ 0 w 436"/>
                      <a:gd name="T3" fmla="*/ 0 h 289"/>
                      <a:gd name="T4" fmla="*/ 0 w 436"/>
                      <a:gd name="T5" fmla="*/ 0 h 289"/>
                      <a:gd name="T6" fmla="*/ 1 w 436"/>
                      <a:gd name="T7" fmla="*/ 1 h 289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436"/>
                      <a:gd name="T13" fmla="*/ 0 h 289"/>
                      <a:gd name="T14" fmla="*/ 436 w 436"/>
                      <a:gd name="T15" fmla="*/ 289 h 289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436" h="289">
                        <a:moveTo>
                          <a:pt x="0" y="0"/>
                        </a:moveTo>
                        <a:lnTo>
                          <a:pt x="143" y="81"/>
                        </a:lnTo>
                        <a:lnTo>
                          <a:pt x="290" y="180"/>
                        </a:lnTo>
                        <a:lnTo>
                          <a:pt x="436" y="289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1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4184" y="916"/>
                    <a:ext cx="504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2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4184" y="944"/>
                    <a:ext cx="54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3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4159" y="980"/>
                    <a:ext cx="576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4" name="Freeform 50"/>
                  <p:cNvSpPr>
                    <a:spLocks/>
                  </p:cNvSpPr>
                  <p:nvPr/>
                </p:nvSpPr>
                <p:spPr bwMode="auto">
                  <a:xfrm>
                    <a:off x="4052" y="1095"/>
                    <a:ext cx="57" cy="335"/>
                  </a:xfrm>
                  <a:custGeom>
                    <a:avLst/>
                    <a:gdLst>
                      <a:gd name="T0" fmla="*/ 0 w 213"/>
                      <a:gd name="T1" fmla="*/ 0 h 1198"/>
                      <a:gd name="T2" fmla="*/ 0 w 213"/>
                      <a:gd name="T3" fmla="*/ 0 h 1198"/>
                      <a:gd name="T4" fmla="*/ 0 w 213"/>
                      <a:gd name="T5" fmla="*/ 1 h 1198"/>
                      <a:gd name="T6" fmla="*/ 0 w 213"/>
                      <a:gd name="T7" fmla="*/ 1 h 1198"/>
                      <a:gd name="T8" fmla="*/ 0 w 213"/>
                      <a:gd name="T9" fmla="*/ 1 h 1198"/>
                      <a:gd name="T10" fmla="*/ 0 w 213"/>
                      <a:gd name="T11" fmla="*/ 1 h 1198"/>
                      <a:gd name="T12" fmla="*/ 0 w 213"/>
                      <a:gd name="T13" fmla="*/ 1 h 1198"/>
                      <a:gd name="T14" fmla="*/ 0 w 213"/>
                      <a:gd name="T15" fmla="*/ 2 h 1198"/>
                      <a:gd name="T16" fmla="*/ 0 w 213"/>
                      <a:gd name="T17" fmla="*/ 2 h 1198"/>
                      <a:gd name="T18" fmla="*/ 0 w 213"/>
                      <a:gd name="T19" fmla="*/ 2 h 1198"/>
                      <a:gd name="T20" fmla="*/ 0 w 213"/>
                      <a:gd name="T21" fmla="*/ 2 h 119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13"/>
                      <a:gd name="T34" fmla="*/ 0 h 1198"/>
                      <a:gd name="T35" fmla="*/ 213 w 213"/>
                      <a:gd name="T36" fmla="*/ 1198 h 1198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13" h="1198">
                        <a:moveTo>
                          <a:pt x="213" y="0"/>
                        </a:moveTo>
                        <a:lnTo>
                          <a:pt x="213" y="117"/>
                        </a:lnTo>
                        <a:lnTo>
                          <a:pt x="204" y="249"/>
                        </a:lnTo>
                        <a:lnTo>
                          <a:pt x="182" y="379"/>
                        </a:lnTo>
                        <a:lnTo>
                          <a:pt x="160" y="528"/>
                        </a:lnTo>
                        <a:lnTo>
                          <a:pt x="138" y="652"/>
                        </a:lnTo>
                        <a:lnTo>
                          <a:pt x="115" y="794"/>
                        </a:lnTo>
                        <a:lnTo>
                          <a:pt x="93" y="913"/>
                        </a:lnTo>
                        <a:lnTo>
                          <a:pt x="61" y="1020"/>
                        </a:lnTo>
                        <a:lnTo>
                          <a:pt x="35" y="1102"/>
                        </a:lnTo>
                        <a:lnTo>
                          <a:pt x="0" y="1198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5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4137" y="1018"/>
                    <a:ext cx="640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6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4122" y="1056"/>
                    <a:ext cx="690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7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3633" y="1165"/>
                    <a:ext cx="120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8" name="Freeform 54"/>
                  <p:cNvSpPr>
                    <a:spLocks/>
                  </p:cNvSpPr>
                  <p:nvPr/>
                </p:nvSpPr>
                <p:spPr bwMode="auto">
                  <a:xfrm>
                    <a:off x="3701" y="843"/>
                    <a:ext cx="156" cy="581"/>
                  </a:xfrm>
                  <a:custGeom>
                    <a:avLst/>
                    <a:gdLst>
                      <a:gd name="T0" fmla="*/ 1 w 599"/>
                      <a:gd name="T1" fmla="*/ 0 h 2082"/>
                      <a:gd name="T2" fmla="*/ 1 w 599"/>
                      <a:gd name="T3" fmla="*/ 0 h 2082"/>
                      <a:gd name="T4" fmla="*/ 1 w 599"/>
                      <a:gd name="T5" fmla="*/ 0 h 2082"/>
                      <a:gd name="T6" fmla="*/ 1 w 599"/>
                      <a:gd name="T7" fmla="*/ 0 h 2082"/>
                      <a:gd name="T8" fmla="*/ 0 w 599"/>
                      <a:gd name="T9" fmla="*/ 1 h 2082"/>
                      <a:gd name="T10" fmla="*/ 0 w 599"/>
                      <a:gd name="T11" fmla="*/ 1 h 2082"/>
                      <a:gd name="T12" fmla="*/ 0 w 599"/>
                      <a:gd name="T13" fmla="*/ 1 h 2082"/>
                      <a:gd name="T14" fmla="*/ 0 w 599"/>
                      <a:gd name="T15" fmla="*/ 1 h 2082"/>
                      <a:gd name="T16" fmla="*/ 0 w 599"/>
                      <a:gd name="T17" fmla="*/ 2 h 2082"/>
                      <a:gd name="T18" fmla="*/ 0 w 599"/>
                      <a:gd name="T19" fmla="*/ 2 h 2082"/>
                      <a:gd name="T20" fmla="*/ 0 w 599"/>
                      <a:gd name="T21" fmla="*/ 2 h 2082"/>
                      <a:gd name="T22" fmla="*/ 0 w 599"/>
                      <a:gd name="T23" fmla="*/ 2 h 2082"/>
                      <a:gd name="T24" fmla="*/ 0 w 599"/>
                      <a:gd name="T25" fmla="*/ 3 h 2082"/>
                      <a:gd name="T26" fmla="*/ 0 w 599"/>
                      <a:gd name="T27" fmla="*/ 3 h 2082"/>
                      <a:gd name="T28" fmla="*/ 0 w 599"/>
                      <a:gd name="T29" fmla="*/ 3 h 2082"/>
                      <a:gd name="T30" fmla="*/ 0 w 599"/>
                      <a:gd name="T31" fmla="*/ 3 h 2082"/>
                      <a:gd name="T32" fmla="*/ 0 w 599"/>
                      <a:gd name="T33" fmla="*/ 4 h 2082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599"/>
                      <a:gd name="T52" fmla="*/ 0 h 2082"/>
                      <a:gd name="T53" fmla="*/ 599 w 599"/>
                      <a:gd name="T54" fmla="*/ 2082 h 2082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599" h="2082">
                        <a:moveTo>
                          <a:pt x="599" y="0"/>
                        </a:moveTo>
                        <a:lnTo>
                          <a:pt x="541" y="33"/>
                        </a:lnTo>
                        <a:lnTo>
                          <a:pt x="426" y="128"/>
                        </a:lnTo>
                        <a:lnTo>
                          <a:pt x="319" y="245"/>
                        </a:lnTo>
                        <a:lnTo>
                          <a:pt x="244" y="363"/>
                        </a:lnTo>
                        <a:lnTo>
                          <a:pt x="172" y="501"/>
                        </a:lnTo>
                        <a:lnTo>
                          <a:pt x="101" y="639"/>
                        </a:lnTo>
                        <a:lnTo>
                          <a:pt x="53" y="765"/>
                        </a:lnTo>
                        <a:lnTo>
                          <a:pt x="8" y="908"/>
                        </a:lnTo>
                        <a:lnTo>
                          <a:pt x="0" y="1025"/>
                        </a:lnTo>
                        <a:lnTo>
                          <a:pt x="0" y="1157"/>
                        </a:lnTo>
                        <a:lnTo>
                          <a:pt x="0" y="1285"/>
                        </a:lnTo>
                        <a:lnTo>
                          <a:pt x="4" y="1430"/>
                        </a:lnTo>
                        <a:lnTo>
                          <a:pt x="0" y="1567"/>
                        </a:lnTo>
                        <a:lnTo>
                          <a:pt x="0" y="1708"/>
                        </a:lnTo>
                        <a:lnTo>
                          <a:pt x="4" y="2008"/>
                        </a:lnTo>
                        <a:lnTo>
                          <a:pt x="8" y="208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9" name="Freeform 55"/>
                  <p:cNvSpPr>
                    <a:spLocks/>
                  </p:cNvSpPr>
                  <p:nvPr/>
                </p:nvSpPr>
                <p:spPr bwMode="auto">
                  <a:xfrm>
                    <a:off x="3705" y="841"/>
                    <a:ext cx="159" cy="588"/>
                  </a:xfrm>
                  <a:custGeom>
                    <a:avLst/>
                    <a:gdLst>
                      <a:gd name="T0" fmla="*/ 1 w 609"/>
                      <a:gd name="T1" fmla="*/ 0 h 2105"/>
                      <a:gd name="T2" fmla="*/ 1 w 609"/>
                      <a:gd name="T3" fmla="*/ 0 h 2105"/>
                      <a:gd name="T4" fmla="*/ 1 w 609"/>
                      <a:gd name="T5" fmla="*/ 0 h 2105"/>
                      <a:gd name="T6" fmla="*/ 1 w 609"/>
                      <a:gd name="T7" fmla="*/ 0 h 2105"/>
                      <a:gd name="T8" fmla="*/ 1 w 609"/>
                      <a:gd name="T9" fmla="*/ 1 h 2105"/>
                      <a:gd name="T10" fmla="*/ 0 w 609"/>
                      <a:gd name="T11" fmla="*/ 1 h 2105"/>
                      <a:gd name="T12" fmla="*/ 0 w 609"/>
                      <a:gd name="T13" fmla="*/ 1 h 2105"/>
                      <a:gd name="T14" fmla="*/ 0 w 609"/>
                      <a:gd name="T15" fmla="*/ 1 h 2105"/>
                      <a:gd name="T16" fmla="*/ 0 w 609"/>
                      <a:gd name="T17" fmla="*/ 2 h 2105"/>
                      <a:gd name="T18" fmla="*/ 0 w 609"/>
                      <a:gd name="T19" fmla="*/ 2 h 2105"/>
                      <a:gd name="T20" fmla="*/ 0 w 609"/>
                      <a:gd name="T21" fmla="*/ 2 h 2105"/>
                      <a:gd name="T22" fmla="*/ 0 w 609"/>
                      <a:gd name="T23" fmla="*/ 2 h 2105"/>
                      <a:gd name="T24" fmla="*/ 0 w 609"/>
                      <a:gd name="T25" fmla="*/ 3 h 2105"/>
                      <a:gd name="T26" fmla="*/ 0 w 609"/>
                      <a:gd name="T27" fmla="*/ 3 h 2105"/>
                      <a:gd name="T28" fmla="*/ 0 w 609"/>
                      <a:gd name="T29" fmla="*/ 3 h 2105"/>
                      <a:gd name="T30" fmla="*/ 0 w 609"/>
                      <a:gd name="T31" fmla="*/ 3 h 2105"/>
                      <a:gd name="T32" fmla="*/ 0 w 609"/>
                      <a:gd name="T33" fmla="*/ 3 h 2105"/>
                      <a:gd name="T34" fmla="*/ 0 w 609"/>
                      <a:gd name="T35" fmla="*/ 4 h 2105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609"/>
                      <a:gd name="T55" fmla="*/ 0 h 2105"/>
                      <a:gd name="T56" fmla="*/ 609 w 609"/>
                      <a:gd name="T57" fmla="*/ 2105 h 2105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609" h="2105">
                        <a:moveTo>
                          <a:pt x="609" y="0"/>
                        </a:moveTo>
                        <a:lnTo>
                          <a:pt x="546" y="48"/>
                        </a:lnTo>
                        <a:lnTo>
                          <a:pt x="476" y="132"/>
                        </a:lnTo>
                        <a:lnTo>
                          <a:pt x="391" y="245"/>
                        </a:lnTo>
                        <a:lnTo>
                          <a:pt x="320" y="367"/>
                        </a:lnTo>
                        <a:lnTo>
                          <a:pt x="262" y="490"/>
                        </a:lnTo>
                        <a:lnTo>
                          <a:pt x="199" y="624"/>
                        </a:lnTo>
                        <a:lnTo>
                          <a:pt x="151" y="769"/>
                        </a:lnTo>
                        <a:lnTo>
                          <a:pt x="120" y="897"/>
                        </a:lnTo>
                        <a:lnTo>
                          <a:pt x="112" y="1029"/>
                        </a:lnTo>
                        <a:lnTo>
                          <a:pt x="102" y="1151"/>
                        </a:lnTo>
                        <a:lnTo>
                          <a:pt x="94" y="1283"/>
                        </a:lnTo>
                        <a:lnTo>
                          <a:pt x="94" y="1415"/>
                        </a:lnTo>
                        <a:lnTo>
                          <a:pt x="84" y="1552"/>
                        </a:lnTo>
                        <a:lnTo>
                          <a:pt x="66" y="1712"/>
                        </a:lnTo>
                        <a:lnTo>
                          <a:pt x="58" y="1819"/>
                        </a:lnTo>
                        <a:lnTo>
                          <a:pt x="44" y="1934"/>
                        </a:lnTo>
                        <a:lnTo>
                          <a:pt x="0" y="210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0" name="Freeform 56"/>
                  <p:cNvSpPr>
                    <a:spLocks/>
                  </p:cNvSpPr>
                  <p:nvPr/>
                </p:nvSpPr>
                <p:spPr bwMode="auto">
                  <a:xfrm>
                    <a:off x="3711" y="839"/>
                    <a:ext cx="167" cy="587"/>
                  </a:xfrm>
                  <a:custGeom>
                    <a:avLst/>
                    <a:gdLst>
                      <a:gd name="T0" fmla="*/ 1 w 637"/>
                      <a:gd name="T1" fmla="*/ 0 h 2101"/>
                      <a:gd name="T2" fmla="*/ 1 w 637"/>
                      <a:gd name="T3" fmla="*/ 0 h 2101"/>
                      <a:gd name="T4" fmla="*/ 1 w 637"/>
                      <a:gd name="T5" fmla="*/ 0 h 2101"/>
                      <a:gd name="T6" fmla="*/ 1 w 637"/>
                      <a:gd name="T7" fmla="*/ 0 h 2101"/>
                      <a:gd name="T8" fmla="*/ 1 w 637"/>
                      <a:gd name="T9" fmla="*/ 1 h 2101"/>
                      <a:gd name="T10" fmla="*/ 1 w 637"/>
                      <a:gd name="T11" fmla="*/ 1 h 2101"/>
                      <a:gd name="T12" fmla="*/ 0 w 637"/>
                      <a:gd name="T13" fmla="*/ 1 h 2101"/>
                      <a:gd name="T14" fmla="*/ 0 w 637"/>
                      <a:gd name="T15" fmla="*/ 1 h 2101"/>
                      <a:gd name="T16" fmla="*/ 0 w 637"/>
                      <a:gd name="T17" fmla="*/ 2 h 2101"/>
                      <a:gd name="T18" fmla="*/ 0 w 637"/>
                      <a:gd name="T19" fmla="*/ 2 h 2101"/>
                      <a:gd name="T20" fmla="*/ 0 w 637"/>
                      <a:gd name="T21" fmla="*/ 2 h 2101"/>
                      <a:gd name="T22" fmla="*/ 0 w 637"/>
                      <a:gd name="T23" fmla="*/ 2 h 2101"/>
                      <a:gd name="T24" fmla="*/ 0 w 637"/>
                      <a:gd name="T25" fmla="*/ 3 h 2101"/>
                      <a:gd name="T26" fmla="*/ 0 w 637"/>
                      <a:gd name="T27" fmla="*/ 3 h 2101"/>
                      <a:gd name="T28" fmla="*/ 0 w 637"/>
                      <a:gd name="T29" fmla="*/ 3 h 2101"/>
                      <a:gd name="T30" fmla="*/ 0 w 637"/>
                      <a:gd name="T31" fmla="*/ 3 h 2101"/>
                      <a:gd name="T32" fmla="*/ 0 w 637"/>
                      <a:gd name="T33" fmla="*/ 3 h 2101"/>
                      <a:gd name="T34" fmla="*/ 0 w 637"/>
                      <a:gd name="T35" fmla="*/ 3 h 2101"/>
                      <a:gd name="T36" fmla="*/ 0 w 637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37"/>
                      <a:gd name="T58" fmla="*/ 0 h 2101"/>
                      <a:gd name="T59" fmla="*/ 637 w 637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37" h="2101">
                        <a:moveTo>
                          <a:pt x="637" y="0"/>
                        </a:moveTo>
                        <a:lnTo>
                          <a:pt x="583" y="51"/>
                        </a:lnTo>
                        <a:lnTo>
                          <a:pt x="534" y="122"/>
                        </a:lnTo>
                        <a:lnTo>
                          <a:pt x="458" y="240"/>
                        </a:lnTo>
                        <a:lnTo>
                          <a:pt x="378" y="382"/>
                        </a:lnTo>
                        <a:lnTo>
                          <a:pt x="338" y="504"/>
                        </a:lnTo>
                        <a:lnTo>
                          <a:pt x="294" y="642"/>
                        </a:lnTo>
                        <a:lnTo>
                          <a:pt x="258" y="759"/>
                        </a:lnTo>
                        <a:lnTo>
                          <a:pt x="236" y="910"/>
                        </a:lnTo>
                        <a:lnTo>
                          <a:pt x="227" y="1038"/>
                        </a:lnTo>
                        <a:lnTo>
                          <a:pt x="213" y="1170"/>
                        </a:lnTo>
                        <a:lnTo>
                          <a:pt x="195" y="1302"/>
                        </a:lnTo>
                        <a:lnTo>
                          <a:pt x="173" y="1448"/>
                        </a:lnTo>
                        <a:lnTo>
                          <a:pt x="155" y="1575"/>
                        </a:lnTo>
                        <a:lnTo>
                          <a:pt x="133" y="1711"/>
                        </a:lnTo>
                        <a:lnTo>
                          <a:pt x="111" y="1834"/>
                        </a:lnTo>
                        <a:lnTo>
                          <a:pt x="90" y="1934"/>
                        </a:lnTo>
                        <a:lnTo>
                          <a:pt x="48" y="2026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1" name="Freeform 57"/>
                  <p:cNvSpPr>
                    <a:spLocks/>
                  </p:cNvSpPr>
                  <p:nvPr/>
                </p:nvSpPr>
                <p:spPr bwMode="auto">
                  <a:xfrm>
                    <a:off x="3713" y="839"/>
                    <a:ext cx="174" cy="589"/>
                  </a:xfrm>
                  <a:custGeom>
                    <a:avLst/>
                    <a:gdLst>
                      <a:gd name="T0" fmla="*/ 1 w 662"/>
                      <a:gd name="T1" fmla="*/ 0 h 2110"/>
                      <a:gd name="T2" fmla="*/ 1 w 662"/>
                      <a:gd name="T3" fmla="*/ 0 h 2110"/>
                      <a:gd name="T4" fmla="*/ 1 w 662"/>
                      <a:gd name="T5" fmla="*/ 0 h 2110"/>
                      <a:gd name="T6" fmla="*/ 1 w 662"/>
                      <a:gd name="T7" fmla="*/ 1 h 2110"/>
                      <a:gd name="T8" fmla="*/ 1 w 662"/>
                      <a:gd name="T9" fmla="*/ 1 h 2110"/>
                      <a:gd name="T10" fmla="*/ 1 w 662"/>
                      <a:gd name="T11" fmla="*/ 1 h 2110"/>
                      <a:gd name="T12" fmla="*/ 1 w 662"/>
                      <a:gd name="T13" fmla="*/ 1 h 2110"/>
                      <a:gd name="T14" fmla="*/ 1 w 662"/>
                      <a:gd name="T15" fmla="*/ 1 h 2110"/>
                      <a:gd name="T16" fmla="*/ 1 w 662"/>
                      <a:gd name="T17" fmla="*/ 2 h 2110"/>
                      <a:gd name="T18" fmla="*/ 1 w 662"/>
                      <a:gd name="T19" fmla="*/ 2 h 2110"/>
                      <a:gd name="T20" fmla="*/ 1 w 662"/>
                      <a:gd name="T21" fmla="*/ 2 h 2110"/>
                      <a:gd name="T22" fmla="*/ 1 w 662"/>
                      <a:gd name="T23" fmla="*/ 2 h 2110"/>
                      <a:gd name="T24" fmla="*/ 0 w 662"/>
                      <a:gd name="T25" fmla="*/ 3 h 2110"/>
                      <a:gd name="T26" fmla="*/ 0 w 662"/>
                      <a:gd name="T27" fmla="*/ 3 h 2110"/>
                      <a:gd name="T28" fmla="*/ 0 w 662"/>
                      <a:gd name="T29" fmla="*/ 3 h 2110"/>
                      <a:gd name="T30" fmla="*/ 0 w 662"/>
                      <a:gd name="T31" fmla="*/ 3 h 2110"/>
                      <a:gd name="T32" fmla="*/ 0 w 662"/>
                      <a:gd name="T33" fmla="*/ 3 h 2110"/>
                      <a:gd name="T34" fmla="*/ 0 w 662"/>
                      <a:gd name="T35" fmla="*/ 3 h 2110"/>
                      <a:gd name="T36" fmla="*/ 0 w 662"/>
                      <a:gd name="T37" fmla="*/ 4 h 2110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62"/>
                      <a:gd name="T58" fmla="*/ 0 h 2110"/>
                      <a:gd name="T59" fmla="*/ 662 w 662"/>
                      <a:gd name="T60" fmla="*/ 2110 h 2110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62" h="2110">
                        <a:moveTo>
                          <a:pt x="662" y="0"/>
                        </a:moveTo>
                        <a:lnTo>
                          <a:pt x="614" y="70"/>
                        </a:lnTo>
                        <a:lnTo>
                          <a:pt x="569" y="145"/>
                        </a:lnTo>
                        <a:lnTo>
                          <a:pt x="511" y="250"/>
                        </a:lnTo>
                        <a:lnTo>
                          <a:pt x="458" y="376"/>
                        </a:lnTo>
                        <a:lnTo>
                          <a:pt x="432" y="499"/>
                        </a:lnTo>
                        <a:lnTo>
                          <a:pt x="396" y="642"/>
                        </a:lnTo>
                        <a:lnTo>
                          <a:pt x="360" y="778"/>
                        </a:lnTo>
                        <a:lnTo>
                          <a:pt x="347" y="921"/>
                        </a:lnTo>
                        <a:lnTo>
                          <a:pt x="342" y="1034"/>
                        </a:lnTo>
                        <a:lnTo>
                          <a:pt x="329" y="1166"/>
                        </a:lnTo>
                        <a:lnTo>
                          <a:pt x="316" y="1302"/>
                        </a:lnTo>
                        <a:lnTo>
                          <a:pt x="289" y="1435"/>
                        </a:lnTo>
                        <a:lnTo>
                          <a:pt x="249" y="1575"/>
                        </a:lnTo>
                        <a:lnTo>
                          <a:pt x="222" y="1706"/>
                        </a:lnTo>
                        <a:lnTo>
                          <a:pt x="178" y="1828"/>
                        </a:lnTo>
                        <a:lnTo>
                          <a:pt x="134" y="1934"/>
                        </a:lnTo>
                        <a:lnTo>
                          <a:pt x="71" y="2030"/>
                        </a:lnTo>
                        <a:lnTo>
                          <a:pt x="0" y="2110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2" name="Freeform 58"/>
                  <p:cNvSpPr>
                    <a:spLocks/>
                  </p:cNvSpPr>
                  <p:nvPr/>
                </p:nvSpPr>
                <p:spPr bwMode="auto">
                  <a:xfrm>
                    <a:off x="3722" y="837"/>
                    <a:ext cx="173" cy="589"/>
                  </a:xfrm>
                  <a:custGeom>
                    <a:avLst/>
                    <a:gdLst>
                      <a:gd name="T0" fmla="*/ 1 w 662"/>
                      <a:gd name="T1" fmla="*/ 0 h 2111"/>
                      <a:gd name="T2" fmla="*/ 1 w 662"/>
                      <a:gd name="T3" fmla="*/ 0 h 2111"/>
                      <a:gd name="T4" fmla="*/ 1 w 662"/>
                      <a:gd name="T5" fmla="*/ 0 h 2111"/>
                      <a:gd name="T6" fmla="*/ 1 w 662"/>
                      <a:gd name="T7" fmla="*/ 1 h 2111"/>
                      <a:gd name="T8" fmla="*/ 1 w 662"/>
                      <a:gd name="T9" fmla="*/ 1 h 2111"/>
                      <a:gd name="T10" fmla="*/ 1 w 662"/>
                      <a:gd name="T11" fmla="*/ 1 h 2111"/>
                      <a:gd name="T12" fmla="*/ 1 w 662"/>
                      <a:gd name="T13" fmla="*/ 1 h 2111"/>
                      <a:gd name="T14" fmla="*/ 1 w 662"/>
                      <a:gd name="T15" fmla="*/ 1 h 2111"/>
                      <a:gd name="T16" fmla="*/ 1 w 662"/>
                      <a:gd name="T17" fmla="*/ 2 h 2111"/>
                      <a:gd name="T18" fmla="*/ 1 w 662"/>
                      <a:gd name="T19" fmla="*/ 2 h 2111"/>
                      <a:gd name="T20" fmla="*/ 1 w 662"/>
                      <a:gd name="T21" fmla="*/ 2 h 2111"/>
                      <a:gd name="T22" fmla="*/ 1 w 662"/>
                      <a:gd name="T23" fmla="*/ 2 h 2111"/>
                      <a:gd name="T24" fmla="*/ 1 w 662"/>
                      <a:gd name="T25" fmla="*/ 3 h 2111"/>
                      <a:gd name="T26" fmla="*/ 1 w 662"/>
                      <a:gd name="T27" fmla="*/ 3 h 2111"/>
                      <a:gd name="T28" fmla="*/ 0 w 662"/>
                      <a:gd name="T29" fmla="*/ 3 h 2111"/>
                      <a:gd name="T30" fmla="*/ 0 w 662"/>
                      <a:gd name="T31" fmla="*/ 3 h 2111"/>
                      <a:gd name="T32" fmla="*/ 0 w 662"/>
                      <a:gd name="T33" fmla="*/ 3 h 2111"/>
                      <a:gd name="T34" fmla="*/ 0 w 662"/>
                      <a:gd name="T35" fmla="*/ 3 h 2111"/>
                      <a:gd name="T36" fmla="*/ 0 w 662"/>
                      <a:gd name="T37" fmla="*/ 4 h 211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62"/>
                      <a:gd name="T58" fmla="*/ 0 h 2111"/>
                      <a:gd name="T59" fmla="*/ 662 w 662"/>
                      <a:gd name="T60" fmla="*/ 2111 h 211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62" h="2111">
                        <a:moveTo>
                          <a:pt x="662" y="0"/>
                        </a:moveTo>
                        <a:lnTo>
                          <a:pt x="622" y="66"/>
                        </a:lnTo>
                        <a:lnTo>
                          <a:pt x="583" y="161"/>
                        </a:lnTo>
                        <a:lnTo>
                          <a:pt x="547" y="268"/>
                        </a:lnTo>
                        <a:lnTo>
                          <a:pt x="525" y="381"/>
                        </a:lnTo>
                        <a:lnTo>
                          <a:pt x="498" y="501"/>
                        </a:lnTo>
                        <a:lnTo>
                          <a:pt x="480" y="647"/>
                        </a:lnTo>
                        <a:lnTo>
                          <a:pt x="454" y="784"/>
                        </a:lnTo>
                        <a:lnTo>
                          <a:pt x="448" y="916"/>
                        </a:lnTo>
                        <a:lnTo>
                          <a:pt x="440" y="1044"/>
                        </a:lnTo>
                        <a:lnTo>
                          <a:pt x="422" y="1166"/>
                        </a:lnTo>
                        <a:lnTo>
                          <a:pt x="391" y="1304"/>
                        </a:lnTo>
                        <a:lnTo>
                          <a:pt x="365" y="1426"/>
                        </a:lnTo>
                        <a:lnTo>
                          <a:pt x="319" y="1581"/>
                        </a:lnTo>
                        <a:lnTo>
                          <a:pt x="275" y="1720"/>
                        </a:lnTo>
                        <a:lnTo>
                          <a:pt x="214" y="1839"/>
                        </a:lnTo>
                        <a:lnTo>
                          <a:pt x="160" y="1935"/>
                        </a:lnTo>
                        <a:lnTo>
                          <a:pt x="75" y="2035"/>
                        </a:lnTo>
                        <a:lnTo>
                          <a:pt x="0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3" name="Freeform 59"/>
                  <p:cNvSpPr>
                    <a:spLocks/>
                  </p:cNvSpPr>
                  <p:nvPr/>
                </p:nvSpPr>
                <p:spPr bwMode="auto">
                  <a:xfrm>
                    <a:off x="3736" y="839"/>
                    <a:ext cx="165" cy="587"/>
                  </a:xfrm>
                  <a:custGeom>
                    <a:avLst/>
                    <a:gdLst>
                      <a:gd name="T0" fmla="*/ 1 w 626"/>
                      <a:gd name="T1" fmla="*/ 0 h 2101"/>
                      <a:gd name="T2" fmla="*/ 1 w 626"/>
                      <a:gd name="T3" fmla="*/ 0 h 2101"/>
                      <a:gd name="T4" fmla="*/ 1 w 626"/>
                      <a:gd name="T5" fmla="*/ 0 h 2101"/>
                      <a:gd name="T6" fmla="*/ 1 w 626"/>
                      <a:gd name="T7" fmla="*/ 1 h 2101"/>
                      <a:gd name="T8" fmla="*/ 1 w 626"/>
                      <a:gd name="T9" fmla="*/ 1 h 2101"/>
                      <a:gd name="T10" fmla="*/ 1 w 626"/>
                      <a:gd name="T11" fmla="*/ 1 h 2101"/>
                      <a:gd name="T12" fmla="*/ 1 w 626"/>
                      <a:gd name="T13" fmla="*/ 1 h 2101"/>
                      <a:gd name="T14" fmla="*/ 1 w 626"/>
                      <a:gd name="T15" fmla="*/ 1 h 2101"/>
                      <a:gd name="T16" fmla="*/ 1 w 626"/>
                      <a:gd name="T17" fmla="*/ 2 h 2101"/>
                      <a:gd name="T18" fmla="*/ 1 w 626"/>
                      <a:gd name="T19" fmla="*/ 2 h 2101"/>
                      <a:gd name="T20" fmla="*/ 1 w 626"/>
                      <a:gd name="T21" fmla="*/ 2 h 2101"/>
                      <a:gd name="T22" fmla="*/ 1 w 626"/>
                      <a:gd name="T23" fmla="*/ 2 h 2101"/>
                      <a:gd name="T24" fmla="*/ 1 w 626"/>
                      <a:gd name="T25" fmla="*/ 3 h 2101"/>
                      <a:gd name="T26" fmla="*/ 1 w 626"/>
                      <a:gd name="T27" fmla="*/ 3 h 2101"/>
                      <a:gd name="T28" fmla="*/ 1 w 626"/>
                      <a:gd name="T29" fmla="*/ 3 h 2101"/>
                      <a:gd name="T30" fmla="*/ 0 w 626"/>
                      <a:gd name="T31" fmla="*/ 3 h 2101"/>
                      <a:gd name="T32" fmla="*/ 0 w 626"/>
                      <a:gd name="T33" fmla="*/ 3 h 2101"/>
                      <a:gd name="T34" fmla="*/ 0 w 626"/>
                      <a:gd name="T35" fmla="*/ 3 h 2101"/>
                      <a:gd name="T36" fmla="*/ 0 w 626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26"/>
                      <a:gd name="T58" fmla="*/ 0 h 2101"/>
                      <a:gd name="T59" fmla="*/ 626 w 626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26" h="2101">
                        <a:moveTo>
                          <a:pt x="626" y="0"/>
                        </a:moveTo>
                        <a:lnTo>
                          <a:pt x="614" y="61"/>
                        </a:lnTo>
                        <a:lnTo>
                          <a:pt x="596" y="155"/>
                        </a:lnTo>
                        <a:lnTo>
                          <a:pt x="569" y="273"/>
                        </a:lnTo>
                        <a:lnTo>
                          <a:pt x="551" y="376"/>
                        </a:lnTo>
                        <a:lnTo>
                          <a:pt x="533" y="481"/>
                        </a:lnTo>
                        <a:lnTo>
                          <a:pt x="525" y="646"/>
                        </a:lnTo>
                        <a:lnTo>
                          <a:pt x="515" y="774"/>
                        </a:lnTo>
                        <a:lnTo>
                          <a:pt x="511" y="902"/>
                        </a:lnTo>
                        <a:lnTo>
                          <a:pt x="498" y="1038"/>
                        </a:lnTo>
                        <a:lnTo>
                          <a:pt x="480" y="1160"/>
                        </a:lnTo>
                        <a:lnTo>
                          <a:pt x="462" y="1302"/>
                        </a:lnTo>
                        <a:lnTo>
                          <a:pt x="418" y="1448"/>
                        </a:lnTo>
                        <a:lnTo>
                          <a:pt x="365" y="1586"/>
                        </a:lnTo>
                        <a:lnTo>
                          <a:pt x="297" y="1729"/>
                        </a:lnTo>
                        <a:lnTo>
                          <a:pt x="236" y="1838"/>
                        </a:lnTo>
                        <a:lnTo>
                          <a:pt x="156" y="1934"/>
                        </a:lnTo>
                        <a:lnTo>
                          <a:pt x="93" y="2007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4" name="Line 6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06" y="839"/>
                    <a:ext cx="1" cy="328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5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3636" y="1093"/>
                    <a:ext cx="119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6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3633" y="1129"/>
                    <a:ext cx="1208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7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3639" y="1203"/>
                    <a:ext cx="26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8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3913" y="1203"/>
                    <a:ext cx="255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9" name="Line 65"/>
                  <p:cNvSpPr>
                    <a:spLocks noChangeShapeType="1"/>
                  </p:cNvSpPr>
                  <p:nvPr/>
                </p:nvSpPr>
                <p:spPr bwMode="auto">
                  <a:xfrm>
                    <a:off x="3718" y="944"/>
                    <a:ext cx="32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0" name="Line 66"/>
                  <p:cNvSpPr>
                    <a:spLocks noChangeShapeType="1"/>
                  </p:cNvSpPr>
                  <p:nvPr/>
                </p:nvSpPr>
                <p:spPr bwMode="auto">
                  <a:xfrm>
                    <a:off x="3693" y="980"/>
                    <a:ext cx="37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1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3666" y="1018"/>
                    <a:ext cx="416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2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1056"/>
                    <a:ext cx="451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3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3642" y="1240"/>
                    <a:ext cx="244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4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3646" y="1281"/>
                    <a:ext cx="22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5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3651" y="1319"/>
                    <a:ext cx="199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6" name="Line 72"/>
                  <p:cNvSpPr>
                    <a:spLocks noChangeShapeType="1"/>
                  </p:cNvSpPr>
                  <p:nvPr/>
                </p:nvSpPr>
                <p:spPr bwMode="auto">
                  <a:xfrm>
                    <a:off x="3919" y="1240"/>
                    <a:ext cx="242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7" name="Line 73"/>
                  <p:cNvSpPr>
                    <a:spLocks noChangeShapeType="1"/>
                  </p:cNvSpPr>
                  <p:nvPr/>
                </p:nvSpPr>
                <p:spPr bwMode="auto">
                  <a:xfrm>
                    <a:off x="3929" y="1281"/>
                    <a:ext cx="216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8" name="Line 74"/>
                  <p:cNvSpPr>
                    <a:spLocks noChangeShapeType="1"/>
                  </p:cNvSpPr>
                  <p:nvPr/>
                </p:nvSpPr>
                <p:spPr bwMode="auto">
                  <a:xfrm>
                    <a:off x="3941" y="1319"/>
                    <a:ext cx="19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9" name="Line 75"/>
                  <p:cNvSpPr>
                    <a:spLocks noChangeShapeType="1"/>
                  </p:cNvSpPr>
                  <p:nvPr/>
                </p:nvSpPr>
                <p:spPr bwMode="auto">
                  <a:xfrm>
                    <a:off x="3787" y="880"/>
                    <a:ext cx="259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0" name="Line 76"/>
                  <p:cNvSpPr>
                    <a:spLocks noChangeShapeType="1"/>
                  </p:cNvSpPr>
                  <p:nvPr/>
                </p:nvSpPr>
                <p:spPr bwMode="auto">
                  <a:xfrm>
                    <a:off x="3748" y="916"/>
                    <a:ext cx="33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1" name="Line 77"/>
                  <p:cNvSpPr>
                    <a:spLocks noChangeShapeType="1"/>
                  </p:cNvSpPr>
                  <p:nvPr/>
                </p:nvSpPr>
                <p:spPr bwMode="auto">
                  <a:xfrm>
                    <a:off x="3822" y="855"/>
                    <a:ext cx="18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2" name="Freeform 78"/>
                  <p:cNvSpPr>
                    <a:spLocks/>
                  </p:cNvSpPr>
                  <p:nvPr/>
                </p:nvSpPr>
                <p:spPr bwMode="auto">
                  <a:xfrm>
                    <a:off x="4635" y="889"/>
                    <a:ext cx="94" cy="64"/>
                  </a:xfrm>
                  <a:custGeom>
                    <a:avLst/>
                    <a:gdLst>
                      <a:gd name="T0" fmla="*/ 0 w 360"/>
                      <a:gd name="T1" fmla="*/ 0 h 226"/>
                      <a:gd name="T2" fmla="*/ 0 w 360"/>
                      <a:gd name="T3" fmla="*/ 0 h 226"/>
                      <a:gd name="T4" fmla="*/ 1 w 360"/>
                      <a:gd name="T5" fmla="*/ 0 h 226"/>
                      <a:gd name="T6" fmla="*/ 0 60000 65536"/>
                      <a:gd name="T7" fmla="*/ 0 60000 65536"/>
                      <a:gd name="T8" fmla="*/ 0 60000 65536"/>
                      <a:gd name="T9" fmla="*/ 0 w 360"/>
                      <a:gd name="T10" fmla="*/ 0 h 226"/>
                      <a:gd name="T11" fmla="*/ 360 w 360"/>
                      <a:gd name="T12" fmla="*/ 226 h 22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60" h="226">
                        <a:moveTo>
                          <a:pt x="0" y="0"/>
                        </a:moveTo>
                        <a:lnTo>
                          <a:pt x="164" y="98"/>
                        </a:lnTo>
                        <a:lnTo>
                          <a:pt x="360" y="22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3" name="Line 79"/>
                  <p:cNvSpPr>
                    <a:spLocks noChangeShapeType="1"/>
                  </p:cNvSpPr>
                  <p:nvPr/>
                </p:nvSpPr>
                <p:spPr bwMode="auto">
                  <a:xfrm>
                    <a:off x="4215" y="880"/>
                    <a:ext cx="395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4" name="Freeform 80"/>
                  <p:cNvSpPr>
                    <a:spLocks/>
                  </p:cNvSpPr>
                  <p:nvPr/>
                </p:nvSpPr>
                <p:spPr bwMode="auto">
                  <a:xfrm>
                    <a:off x="4199" y="849"/>
                    <a:ext cx="66" cy="74"/>
                  </a:xfrm>
                  <a:custGeom>
                    <a:avLst/>
                    <a:gdLst>
                      <a:gd name="T0" fmla="*/ 0 w 253"/>
                      <a:gd name="T1" fmla="*/ 0 h 264"/>
                      <a:gd name="T2" fmla="*/ 0 w 253"/>
                      <a:gd name="T3" fmla="*/ 0 h 264"/>
                      <a:gd name="T4" fmla="*/ 0 w 253"/>
                      <a:gd name="T5" fmla="*/ 0 h 264"/>
                      <a:gd name="T6" fmla="*/ 0 w 253"/>
                      <a:gd name="T7" fmla="*/ 1 h 26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53"/>
                      <a:gd name="T13" fmla="*/ 0 h 264"/>
                      <a:gd name="T14" fmla="*/ 253 w 253"/>
                      <a:gd name="T15" fmla="*/ 264 h 26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53" h="264">
                        <a:moveTo>
                          <a:pt x="253" y="0"/>
                        </a:moveTo>
                        <a:lnTo>
                          <a:pt x="142" y="100"/>
                        </a:lnTo>
                        <a:lnTo>
                          <a:pt x="62" y="189"/>
                        </a:lnTo>
                        <a:lnTo>
                          <a:pt x="0" y="26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5" name="Freeform 81"/>
                  <p:cNvSpPr>
                    <a:spLocks/>
                  </p:cNvSpPr>
                  <p:nvPr/>
                </p:nvSpPr>
                <p:spPr bwMode="auto">
                  <a:xfrm>
                    <a:off x="4506" y="849"/>
                    <a:ext cx="232" cy="574"/>
                  </a:xfrm>
                  <a:custGeom>
                    <a:avLst/>
                    <a:gdLst>
                      <a:gd name="T0" fmla="*/ 0 w 890"/>
                      <a:gd name="T1" fmla="*/ 0 h 2059"/>
                      <a:gd name="T2" fmla="*/ 0 w 890"/>
                      <a:gd name="T3" fmla="*/ 0 h 2059"/>
                      <a:gd name="T4" fmla="*/ 0 w 890"/>
                      <a:gd name="T5" fmla="*/ 0 h 2059"/>
                      <a:gd name="T6" fmla="*/ 0 w 890"/>
                      <a:gd name="T7" fmla="*/ 0 h 2059"/>
                      <a:gd name="T8" fmla="*/ 1 w 890"/>
                      <a:gd name="T9" fmla="*/ 1 h 2059"/>
                      <a:gd name="T10" fmla="*/ 1 w 890"/>
                      <a:gd name="T11" fmla="*/ 1 h 2059"/>
                      <a:gd name="T12" fmla="*/ 1 w 890"/>
                      <a:gd name="T13" fmla="*/ 1 h 2059"/>
                      <a:gd name="T14" fmla="*/ 1 w 890"/>
                      <a:gd name="T15" fmla="*/ 1 h 2059"/>
                      <a:gd name="T16" fmla="*/ 1 w 890"/>
                      <a:gd name="T17" fmla="*/ 1 h 2059"/>
                      <a:gd name="T18" fmla="*/ 1 w 890"/>
                      <a:gd name="T19" fmla="*/ 2 h 2059"/>
                      <a:gd name="T20" fmla="*/ 1 w 890"/>
                      <a:gd name="T21" fmla="*/ 2 h 2059"/>
                      <a:gd name="T22" fmla="*/ 1 w 890"/>
                      <a:gd name="T23" fmla="*/ 2 h 2059"/>
                      <a:gd name="T24" fmla="*/ 1 w 890"/>
                      <a:gd name="T25" fmla="*/ 2 h 2059"/>
                      <a:gd name="T26" fmla="*/ 1 w 890"/>
                      <a:gd name="T27" fmla="*/ 3 h 2059"/>
                      <a:gd name="T28" fmla="*/ 1 w 890"/>
                      <a:gd name="T29" fmla="*/ 3 h 2059"/>
                      <a:gd name="T30" fmla="*/ 1 w 890"/>
                      <a:gd name="T31" fmla="*/ 3 h 2059"/>
                      <a:gd name="T32" fmla="*/ 1 w 890"/>
                      <a:gd name="T33" fmla="*/ 3 h 2059"/>
                      <a:gd name="T34" fmla="*/ 1 w 890"/>
                      <a:gd name="T35" fmla="*/ 4 h 2059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890"/>
                      <a:gd name="T55" fmla="*/ 0 h 2059"/>
                      <a:gd name="T56" fmla="*/ 890 w 890"/>
                      <a:gd name="T57" fmla="*/ 2059 h 2059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890" h="2059">
                        <a:moveTo>
                          <a:pt x="0" y="0"/>
                        </a:moveTo>
                        <a:lnTo>
                          <a:pt x="142" y="90"/>
                        </a:lnTo>
                        <a:lnTo>
                          <a:pt x="232" y="162"/>
                        </a:lnTo>
                        <a:lnTo>
                          <a:pt x="303" y="227"/>
                        </a:lnTo>
                        <a:lnTo>
                          <a:pt x="410" y="317"/>
                        </a:lnTo>
                        <a:lnTo>
                          <a:pt x="566" y="468"/>
                        </a:lnTo>
                        <a:lnTo>
                          <a:pt x="707" y="610"/>
                        </a:lnTo>
                        <a:lnTo>
                          <a:pt x="814" y="747"/>
                        </a:lnTo>
                        <a:lnTo>
                          <a:pt x="877" y="875"/>
                        </a:lnTo>
                        <a:lnTo>
                          <a:pt x="886" y="988"/>
                        </a:lnTo>
                        <a:lnTo>
                          <a:pt x="890" y="1129"/>
                        </a:lnTo>
                        <a:lnTo>
                          <a:pt x="890" y="1261"/>
                        </a:lnTo>
                        <a:lnTo>
                          <a:pt x="882" y="1407"/>
                        </a:lnTo>
                        <a:lnTo>
                          <a:pt x="868" y="1540"/>
                        </a:lnTo>
                        <a:lnTo>
                          <a:pt x="860" y="1683"/>
                        </a:lnTo>
                        <a:lnTo>
                          <a:pt x="846" y="1789"/>
                        </a:lnTo>
                        <a:lnTo>
                          <a:pt x="832" y="1940"/>
                        </a:lnTo>
                        <a:lnTo>
                          <a:pt x="801" y="2059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6" name="Freeform 82"/>
                  <p:cNvSpPr>
                    <a:spLocks/>
                  </p:cNvSpPr>
                  <p:nvPr/>
                </p:nvSpPr>
                <p:spPr bwMode="auto">
                  <a:xfrm>
                    <a:off x="4529" y="854"/>
                    <a:ext cx="244" cy="567"/>
                  </a:xfrm>
                  <a:custGeom>
                    <a:avLst/>
                    <a:gdLst>
                      <a:gd name="T0" fmla="*/ 0 w 930"/>
                      <a:gd name="T1" fmla="*/ 0 h 2036"/>
                      <a:gd name="T2" fmla="*/ 0 w 930"/>
                      <a:gd name="T3" fmla="*/ 0 h 2036"/>
                      <a:gd name="T4" fmla="*/ 0 w 930"/>
                      <a:gd name="T5" fmla="*/ 0 h 2036"/>
                      <a:gd name="T6" fmla="*/ 1 w 930"/>
                      <a:gd name="T7" fmla="*/ 0 h 2036"/>
                      <a:gd name="T8" fmla="*/ 1 w 930"/>
                      <a:gd name="T9" fmla="*/ 1 h 2036"/>
                      <a:gd name="T10" fmla="*/ 1 w 930"/>
                      <a:gd name="T11" fmla="*/ 1 h 2036"/>
                      <a:gd name="T12" fmla="*/ 1 w 930"/>
                      <a:gd name="T13" fmla="*/ 1 h 2036"/>
                      <a:gd name="T14" fmla="*/ 1 w 930"/>
                      <a:gd name="T15" fmla="*/ 1 h 2036"/>
                      <a:gd name="T16" fmla="*/ 1 w 930"/>
                      <a:gd name="T17" fmla="*/ 1 h 2036"/>
                      <a:gd name="T18" fmla="*/ 1 w 930"/>
                      <a:gd name="T19" fmla="*/ 2 h 2036"/>
                      <a:gd name="T20" fmla="*/ 1 w 930"/>
                      <a:gd name="T21" fmla="*/ 2 h 2036"/>
                      <a:gd name="T22" fmla="*/ 1 w 930"/>
                      <a:gd name="T23" fmla="*/ 2 h 2036"/>
                      <a:gd name="T24" fmla="*/ 1 w 930"/>
                      <a:gd name="T25" fmla="*/ 2 h 2036"/>
                      <a:gd name="T26" fmla="*/ 1 w 930"/>
                      <a:gd name="T27" fmla="*/ 3 h 2036"/>
                      <a:gd name="T28" fmla="*/ 1 w 930"/>
                      <a:gd name="T29" fmla="*/ 3 h 2036"/>
                      <a:gd name="T30" fmla="*/ 1 w 930"/>
                      <a:gd name="T31" fmla="*/ 3 h 2036"/>
                      <a:gd name="T32" fmla="*/ 1 w 930"/>
                      <a:gd name="T33" fmla="*/ 3 h 2036"/>
                      <a:gd name="T34" fmla="*/ 1 w 930"/>
                      <a:gd name="T35" fmla="*/ 3 h 20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930"/>
                      <a:gd name="T55" fmla="*/ 0 h 2036"/>
                      <a:gd name="T56" fmla="*/ 930 w 930"/>
                      <a:gd name="T57" fmla="*/ 2036 h 20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930" h="2036">
                        <a:moveTo>
                          <a:pt x="0" y="0"/>
                        </a:moveTo>
                        <a:lnTo>
                          <a:pt x="135" y="82"/>
                        </a:lnTo>
                        <a:lnTo>
                          <a:pt x="224" y="157"/>
                        </a:lnTo>
                        <a:lnTo>
                          <a:pt x="303" y="222"/>
                        </a:lnTo>
                        <a:lnTo>
                          <a:pt x="414" y="317"/>
                        </a:lnTo>
                        <a:lnTo>
                          <a:pt x="565" y="445"/>
                        </a:lnTo>
                        <a:lnTo>
                          <a:pt x="718" y="583"/>
                        </a:lnTo>
                        <a:lnTo>
                          <a:pt x="846" y="723"/>
                        </a:lnTo>
                        <a:lnTo>
                          <a:pt x="912" y="866"/>
                        </a:lnTo>
                        <a:lnTo>
                          <a:pt x="926" y="996"/>
                        </a:lnTo>
                        <a:lnTo>
                          <a:pt x="930" y="1120"/>
                        </a:lnTo>
                        <a:lnTo>
                          <a:pt x="926" y="1256"/>
                        </a:lnTo>
                        <a:lnTo>
                          <a:pt x="900" y="1388"/>
                        </a:lnTo>
                        <a:lnTo>
                          <a:pt x="882" y="1516"/>
                        </a:lnTo>
                        <a:lnTo>
                          <a:pt x="855" y="1656"/>
                        </a:lnTo>
                        <a:lnTo>
                          <a:pt x="833" y="1785"/>
                        </a:lnTo>
                        <a:lnTo>
                          <a:pt x="801" y="1888"/>
                        </a:lnTo>
                        <a:lnTo>
                          <a:pt x="744" y="203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7" name="Freeform 83"/>
                  <p:cNvSpPr>
                    <a:spLocks/>
                  </p:cNvSpPr>
                  <p:nvPr/>
                </p:nvSpPr>
                <p:spPr bwMode="auto">
                  <a:xfrm>
                    <a:off x="4559" y="862"/>
                    <a:ext cx="249" cy="554"/>
                  </a:xfrm>
                  <a:custGeom>
                    <a:avLst/>
                    <a:gdLst>
                      <a:gd name="T0" fmla="*/ 0 w 952"/>
                      <a:gd name="T1" fmla="*/ 0 h 1986"/>
                      <a:gd name="T2" fmla="*/ 0 w 952"/>
                      <a:gd name="T3" fmla="*/ 0 h 1986"/>
                      <a:gd name="T4" fmla="*/ 0 w 952"/>
                      <a:gd name="T5" fmla="*/ 0 h 1986"/>
                      <a:gd name="T6" fmla="*/ 1 w 952"/>
                      <a:gd name="T7" fmla="*/ 1 h 1986"/>
                      <a:gd name="T8" fmla="*/ 1 w 952"/>
                      <a:gd name="T9" fmla="*/ 1 h 1986"/>
                      <a:gd name="T10" fmla="*/ 1 w 952"/>
                      <a:gd name="T11" fmla="*/ 1 h 1986"/>
                      <a:gd name="T12" fmla="*/ 1 w 952"/>
                      <a:gd name="T13" fmla="*/ 1 h 1986"/>
                      <a:gd name="T14" fmla="*/ 1 w 952"/>
                      <a:gd name="T15" fmla="*/ 1 h 1986"/>
                      <a:gd name="T16" fmla="*/ 1 w 952"/>
                      <a:gd name="T17" fmla="*/ 2 h 1986"/>
                      <a:gd name="T18" fmla="*/ 1 w 952"/>
                      <a:gd name="T19" fmla="*/ 2 h 1986"/>
                      <a:gd name="T20" fmla="*/ 1 w 952"/>
                      <a:gd name="T21" fmla="*/ 2 h 1986"/>
                      <a:gd name="T22" fmla="*/ 1 w 952"/>
                      <a:gd name="T23" fmla="*/ 2 h 1986"/>
                      <a:gd name="T24" fmla="*/ 1 w 952"/>
                      <a:gd name="T25" fmla="*/ 3 h 1986"/>
                      <a:gd name="T26" fmla="*/ 1 w 952"/>
                      <a:gd name="T27" fmla="*/ 3 h 1986"/>
                      <a:gd name="T28" fmla="*/ 1 w 952"/>
                      <a:gd name="T29" fmla="*/ 3 h 1986"/>
                      <a:gd name="T30" fmla="*/ 1 w 952"/>
                      <a:gd name="T31" fmla="*/ 3 h 1986"/>
                      <a:gd name="T32" fmla="*/ 1 w 952"/>
                      <a:gd name="T33" fmla="*/ 3 h 198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952"/>
                      <a:gd name="T52" fmla="*/ 0 h 1986"/>
                      <a:gd name="T53" fmla="*/ 952 w 952"/>
                      <a:gd name="T54" fmla="*/ 1986 h 198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952" h="1986">
                        <a:moveTo>
                          <a:pt x="0" y="0"/>
                        </a:moveTo>
                        <a:lnTo>
                          <a:pt x="120" y="80"/>
                        </a:lnTo>
                        <a:lnTo>
                          <a:pt x="262" y="183"/>
                        </a:lnTo>
                        <a:lnTo>
                          <a:pt x="391" y="283"/>
                        </a:lnTo>
                        <a:lnTo>
                          <a:pt x="556" y="419"/>
                        </a:lnTo>
                        <a:lnTo>
                          <a:pt x="716" y="562"/>
                        </a:lnTo>
                        <a:lnTo>
                          <a:pt x="845" y="690"/>
                        </a:lnTo>
                        <a:lnTo>
                          <a:pt x="929" y="830"/>
                        </a:lnTo>
                        <a:lnTo>
                          <a:pt x="938" y="954"/>
                        </a:lnTo>
                        <a:lnTo>
                          <a:pt x="952" y="1090"/>
                        </a:lnTo>
                        <a:lnTo>
                          <a:pt x="934" y="1218"/>
                        </a:lnTo>
                        <a:lnTo>
                          <a:pt x="899" y="1355"/>
                        </a:lnTo>
                        <a:lnTo>
                          <a:pt x="867" y="1495"/>
                        </a:lnTo>
                        <a:lnTo>
                          <a:pt x="831" y="1633"/>
                        </a:lnTo>
                        <a:lnTo>
                          <a:pt x="796" y="1763"/>
                        </a:lnTo>
                        <a:lnTo>
                          <a:pt x="742" y="1869"/>
                        </a:lnTo>
                        <a:lnTo>
                          <a:pt x="676" y="198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8" name="Freeform 84"/>
                  <p:cNvSpPr>
                    <a:spLocks/>
                  </p:cNvSpPr>
                  <p:nvPr/>
                </p:nvSpPr>
                <p:spPr bwMode="auto">
                  <a:xfrm>
                    <a:off x="4313" y="839"/>
                    <a:ext cx="28" cy="586"/>
                  </a:xfrm>
                  <a:custGeom>
                    <a:avLst/>
                    <a:gdLst>
                      <a:gd name="T0" fmla="*/ 0 w 107"/>
                      <a:gd name="T1" fmla="*/ 0 h 2101"/>
                      <a:gd name="T2" fmla="*/ 0 w 107"/>
                      <a:gd name="T3" fmla="*/ 0 h 2101"/>
                      <a:gd name="T4" fmla="*/ 0 w 107"/>
                      <a:gd name="T5" fmla="*/ 0 h 2101"/>
                      <a:gd name="T6" fmla="*/ 0 w 107"/>
                      <a:gd name="T7" fmla="*/ 1 h 2101"/>
                      <a:gd name="T8" fmla="*/ 0 w 107"/>
                      <a:gd name="T9" fmla="*/ 1 h 2101"/>
                      <a:gd name="T10" fmla="*/ 0 w 107"/>
                      <a:gd name="T11" fmla="*/ 1 h 2101"/>
                      <a:gd name="T12" fmla="*/ 0 w 107"/>
                      <a:gd name="T13" fmla="*/ 1 h 2101"/>
                      <a:gd name="T14" fmla="*/ 0 w 107"/>
                      <a:gd name="T15" fmla="*/ 1 h 2101"/>
                      <a:gd name="T16" fmla="*/ 0 w 107"/>
                      <a:gd name="T17" fmla="*/ 2 h 2101"/>
                      <a:gd name="T18" fmla="*/ 0 w 107"/>
                      <a:gd name="T19" fmla="*/ 2 h 2101"/>
                      <a:gd name="T20" fmla="*/ 0 w 107"/>
                      <a:gd name="T21" fmla="*/ 2 h 2101"/>
                      <a:gd name="T22" fmla="*/ 0 w 107"/>
                      <a:gd name="T23" fmla="*/ 2 h 2101"/>
                      <a:gd name="T24" fmla="*/ 0 w 107"/>
                      <a:gd name="T25" fmla="*/ 3 h 2101"/>
                      <a:gd name="T26" fmla="*/ 0 w 107"/>
                      <a:gd name="T27" fmla="*/ 3 h 2101"/>
                      <a:gd name="T28" fmla="*/ 0 w 107"/>
                      <a:gd name="T29" fmla="*/ 3 h 2101"/>
                      <a:gd name="T30" fmla="*/ 0 w 107"/>
                      <a:gd name="T31" fmla="*/ 3 h 2101"/>
                      <a:gd name="T32" fmla="*/ 0 w 107"/>
                      <a:gd name="T33" fmla="*/ 3 h 2101"/>
                      <a:gd name="T34" fmla="*/ 0 w 107"/>
                      <a:gd name="T35" fmla="*/ 4 h 210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7"/>
                      <a:gd name="T55" fmla="*/ 0 h 2101"/>
                      <a:gd name="T56" fmla="*/ 107 w 107"/>
                      <a:gd name="T57" fmla="*/ 2101 h 210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7" h="2101">
                        <a:moveTo>
                          <a:pt x="90" y="0"/>
                        </a:moveTo>
                        <a:lnTo>
                          <a:pt x="95" y="62"/>
                        </a:lnTo>
                        <a:lnTo>
                          <a:pt x="99" y="161"/>
                        </a:lnTo>
                        <a:lnTo>
                          <a:pt x="99" y="279"/>
                        </a:lnTo>
                        <a:lnTo>
                          <a:pt x="103" y="392"/>
                        </a:lnTo>
                        <a:lnTo>
                          <a:pt x="107" y="510"/>
                        </a:lnTo>
                        <a:lnTo>
                          <a:pt x="107" y="635"/>
                        </a:lnTo>
                        <a:lnTo>
                          <a:pt x="107" y="784"/>
                        </a:lnTo>
                        <a:lnTo>
                          <a:pt x="107" y="931"/>
                        </a:lnTo>
                        <a:lnTo>
                          <a:pt x="103" y="1035"/>
                        </a:lnTo>
                        <a:lnTo>
                          <a:pt x="99" y="1172"/>
                        </a:lnTo>
                        <a:lnTo>
                          <a:pt x="81" y="1298"/>
                        </a:lnTo>
                        <a:lnTo>
                          <a:pt x="77" y="1441"/>
                        </a:lnTo>
                        <a:lnTo>
                          <a:pt x="64" y="1586"/>
                        </a:lnTo>
                        <a:lnTo>
                          <a:pt x="50" y="1716"/>
                        </a:lnTo>
                        <a:lnTo>
                          <a:pt x="46" y="1841"/>
                        </a:lnTo>
                        <a:lnTo>
                          <a:pt x="28" y="1982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9" name="Freeform 85"/>
                  <p:cNvSpPr>
                    <a:spLocks/>
                  </p:cNvSpPr>
                  <p:nvPr/>
                </p:nvSpPr>
                <p:spPr bwMode="auto">
                  <a:xfrm>
                    <a:off x="4324" y="836"/>
                    <a:ext cx="54" cy="588"/>
                  </a:xfrm>
                  <a:custGeom>
                    <a:avLst/>
                    <a:gdLst>
                      <a:gd name="T0" fmla="*/ 0 w 204"/>
                      <a:gd name="T1" fmla="*/ 0 h 2106"/>
                      <a:gd name="T2" fmla="*/ 0 w 204"/>
                      <a:gd name="T3" fmla="*/ 0 h 2106"/>
                      <a:gd name="T4" fmla="*/ 0 w 204"/>
                      <a:gd name="T5" fmla="*/ 0 h 2106"/>
                      <a:gd name="T6" fmla="*/ 0 w 204"/>
                      <a:gd name="T7" fmla="*/ 1 h 2106"/>
                      <a:gd name="T8" fmla="*/ 0 w 204"/>
                      <a:gd name="T9" fmla="*/ 1 h 2106"/>
                      <a:gd name="T10" fmla="*/ 0 w 204"/>
                      <a:gd name="T11" fmla="*/ 1 h 2106"/>
                      <a:gd name="T12" fmla="*/ 0 w 204"/>
                      <a:gd name="T13" fmla="*/ 1 h 2106"/>
                      <a:gd name="T14" fmla="*/ 0 w 204"/>
                      <a:gd name="T15" fmla="*/ 1 h 2106"/>
                      <a:gd name="T16" fmla="*/ 0 w 204"/>
                      <a:gd name="T17" fmla="*/ 2 h 2106"/>
                      <a:gd name="T18" fmla="*/ 0 w 204"/>
                      <a:gd name="T19" fmla="*/ 2 h 2106"/>
                      <a:gd name="T20" fmla="*/ 0 w 204"/>
                      <a:gd name="T21" fmla="*/ 2 h 2106"/>
                      <a:gd name="T22" fmla="*/ 0 w 204"/>
                      <a:gd name="T23" fmla="*/ 2 h 2106"/>
                      <a:gd name="T24" fmla="*/ 0 w 204"/>
                      <a:gd name="T25" fmla="*/ 3 h 2106"/>
                      <a:gd name="T26" fmla="*/ 0 w 204"/>
                      <a:gd name="T27" fmla="*/ 3 h 2106"/>
                      <a:gd name="T28" fmla="*/ 0 w 204"/>
                      <a:gd name="T29" fmla="*/ 3 h 2106"/>
                      <a:gd name="T30" fmla="*/ 0 w 204"/>
                      <a:gd name="T31" fmla="*/ 3 h 2106"/>
                      <a:gd name="T32" fmla="*/ 0 w 204"/>
                      <a:gd name="T33" fmla="*/ 3 h 2106"/>
                      <a:gd name="T34" fmla="*/ 0 w 204"/>
                      <a:gd name="T35" fmla="*/ 4 h 210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04"/>
                      <a:gd name="T55" fmla="*/ 0 h 2106"/>
                      <a:gd name="T56" fmla="*/ 204 w 204"/>
                      <a:gd name="T57" fmla="*/ 2106 h 210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04" h="2106">
                        <a:moveTo>
                          <a:pt x="71" y="0"/>
                        </a:moveTo>
                        <a:lnTo>
                          <a:pt x="89" y="57"/>
                        </a:lnTo>
                        <a:lnTo>
                          <a:pt x="111" y="156"/>
                        </a:lnTo>
                        <a:lnTo>
                          <a:pt x="137" y="273"/>
                        </a:lnTo>
                        <a:lnTo>
                          <a:pt x="150" y="378"/>
                        </a:lnTo>
                        <a:lnTo>
                          <a:pt x="168" y="504"/>
                        </a:lnTo>
                        <a:lnTo>
                          <a:pt x="186" y="638"/>
                        </a:lnTo>
                        <a:lnTo>
                          <a:pt x="200" y="789"/>
                        </a:lnTo>
                        <a:lnTo>
                          <a:pt x="204" y="921"/>
                        </a:lnTo>
                        <a:lnTo>
                          <a:pt x="200" y="1057"/>
                        </a:lnTo>
                        <a:lnTo>
                          <a:pt x="182" y="1190"/>
                        </a:lnTo>
                        <a:lnTo>
                          <a:pt x="168" y="1322"/>
                        </a:lnTo>
                        <a:lnTo>
                          <a:pt x="150" y="1454"/>
                        </a:lnTo>
                        <a:lnTo>
                          <a:pt x="123" y="1595"/>
                        </a:lnTo>
                        <a:lnTo>
                          <a:pt x="97" y="1730"/>
                        </a:lnTo>
                        <a:lnTo>
                          <a:pt x="71" y="1855"/>
                        </a:lnTo>
                        <a:lnTo>
                          <a:pt x="39" y="1987"/>
                        </a:lnTo>
                        <a:lnTo>
                          <a:pt x="0" y="210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0" name="Freeform 86"/>
                  <p:cNvSpPr>
                    <a:spLocks/>
                  </p:cNvSpPr>
                  <p:nvPr/>
                </p:nvSpPr>
                <p:spPr bwMode="auto">
                  <a:xfrm>
                    <a:off x="4331" y="835"/>
                    <a:ext cx="74" cy="589"/>
                  </a:xfrm>
                  <a:custGeom>
                    <a:avLst/>
                    <a:gdLst>
                      <a:gd name="T0" fmla="*/ 0 w 285"/>
                      <a:gd name="T1" fmla="*/ 0 h 2110"/>
                      <a:gd name="T2" fmla="*/ 0 w 285"/>
                      <a:gd name="T3" fmla="*/ 0 h 2110"/>
                      <a:gd name="T4" fmla="*/ 0 w 285"/>
                      <a:gd name="T5" fmla="*/ 0 h 2110"/>
                      <a:gd name="T6" fmla="*/ 0 w 285"/>
                      <a:gd name="T7" fmla="*/ 1 h 2110"/>
                      <a:gd name="T8" fmla="*/ 0 w 285"/>
                      <a:gd name="T9" fmla="*/ 1 h 2110"/>
                      <a:gd name="T10" fmla="*/ 0 w 285"/>
                      <a:gd name="T11" fmla="*/ 1 h 2110"/>
                      <a:gd name="T12" fmla="*/ 0 w 285"/>
                      <a:gd name="T13" fmla="*/ 1 h 2110"/>
                      <a:gd name="T14" fmla="*/ 0 w 285"/>
                      <a:gd name="T15" fmla="*/ 1 h 2110"/>
                      <a:gd name="T16" fmla="*/ 0 w 285"/>
                      <a:gd name="T17" fmla="*/ 2 h 2110"/>
                      <a:gd name="T18" fmla="*/ 0 w 285"/>
                      <a:gd name="T19" fmla="*/ 2 h 2110"/>
                      <a:gd name="T20" fmla="*/ 0 w 285"/>
                      <a:gd name="T21" fmla="*/ 2 h 2110"/>
                      <a:gd name="T22" fmla="*/ 0 w 285"/>
                      <a:gd name="T23" fmla="*/ 2 h 2110"/>
                      <a:gd name="T24" fmla="*/ 0 w 285"/>
                      <a:gd name="T25" fmla="*/ 3 h 2110"/>
                      <a:gd name="T26" fmla="*/ 0 w 285"/>
                      <a:gd name="T27" fmla="*/ 3 h 2110"/>
                      <a:gd name="T28" fmla="*/ 0 w 285"/>
                      <a:gd name="T29" fmla="*/ 3 h 2110"/>
                      <a:gd name="T30" fmla="*/ 0 w 285"/>
                      <a:gd name="T31" fmla="*/ 3 h 2110"/>
                      <a:gd name="T32" fmla="*/ 0 w 285"/>
                      <a:gd name="T33" fmla="*/ 3 h 2110"/>
                      <a:gd name="T34" fmla="*/ 0 w 285"/>
                      <a:gd name="T35" fmla="*/ 4 h 2110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85"/>
                      <a:gd name="T55" fmla="*/ 0 h 2110"/>
                      <a:gd name="T56" fmla="*/ 285 w 285"/>
                      <a:gd name="T57" fmla="*/ 2110 h 2110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85" h="2110">
                        <a:moveTo>
                          <a:pt x="71" y="0"/>
                        </a:moveTo>
                        <a:lnTo>
                          <a:pt x="103" y="72"/>
                        </a:lnTo>
                        <a:lnTo>
                          <a:pt x="142" y="156"/>
                        </a:lnTo>
                        <a:lnTo>
                          <a:pt x="186" y="273"/>
                        </a:lnTo>
                        <a:lnTo>
                          <a:pt x="222" y="397"/>
                        </a:lnTo>
                        <a:lnTo>
                          <a:pt x="244" y="519"/>
                        </a:lnTo>
                        <a:lnTo>
                          <a:pt x="262" y="642"/>
                        </a:lnTo>
                        <a:lnTo>
                          <a:pt x="279" y="799"/>
                        </a:lnTo>
                        <a:lnTo>
                          <a:pt x="285" y="930"/>
                        </a:lnTo>
                        <a:lnTo>
                          <a:pt x="285" y="1068"/>
                        </a:lnTo>
                        <a:lnTo>
                          <a:pt x="275" y="1190"/>
                        </a:lnTo>
                        <a:lnTo>
                          <a:pt x="257" y="1317"/>
                        </a:lnTo>
                        <a:lnTo>
                          <a:pt x="231" y="1450"/>
                        </a:lnTo>
                        <a:lnTo>
                          <a:pt x="196" y="1595"/>
                        </a:lnTo>
                        <a:lnTo>
                          <a:pt x="156" y="1736"/>
                        </a:lnTo>
                        <a:lnTo>
                          <a:pt x="120" y="1855"/>
                        </a:lnTo>
                        <a:lnTo>
                          <a:pt x="71" y="1983"/>
                        </a:lnTo>
                        <a:lnTo>
                          <a:pt x="0" y="2110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1" name="Freeform 87"/>
                  <p:cNvSpPr>
                    <a:spLocks/>
                  </p:cNvSpPr>
                  <p:nvPr/>
                </p:nvSpPr>
                <p:spPr bwMode="auto">
                  <a:xfrm>
                    <a:off x="4347" y="834"/>
                    <a:ext cx="94" cy="583"/>
                  </a:xfrm>
                  <a:custGeom>
                    <a:avLst/>
                    <a:gdLst>
                      <a:gd name="T0" fmla="*/ 0 w 355"/>
                      <a:gd name="T1" fmla="*/ 0 h 2091"/>
                      <a:gd name="T2" fmla="*/ 0 w 355"/>
                      <a:gd name="T3" fmla="*/ 0 h 2091"/>
                      <a:gd name="T4" fmla="*/ 0 w 355"/>
                      <a:gd name="T5" fmla="*/ 0 h 2091"/>
                      <a:gd name="T6" fmla="*/ 0 w 355"/>
                      <a:gd name="T7" fmla="*/ 1 h 2091"/>
                      <a:gd name="T8" fmla="*/ 0 w 355"/>
                      <a:gd name="T9" fmla="*/ 1 h 2091"/>
                      <a:gd name="T10" fmla="*/ 0 w 355"/>
                      <a:gd name="T11" fmla="*/ 1 h 2091"/>
                      <a:gd name="T12" fmla="*/ 1 w 355"/>
                      <a:gd name="T13" fmla="*/ 1 h 2091"/>
                      <a:gd name="T14" fmla="*/ 1 w 355"/>
                      <a:gd name="T15" fmla="*/ 1 h 2091"/>
                      <a:gd name="T16" fmla="*/ 1 w 355"/>
                      <a:gd name="T17" fmla="*/ 2 h 2091"/>
                      <a:gd name="T18" fmla="*/ 1 w 355"/>
                      <a:gd name="T19" fmla="*/ 2 h 2091"/>
                      <a:gd name="T20" fmla="*/ 1 w 355"/>
                      <a:gd name="T21" fmla="*/ 2 h 2091"/>
                      <a:gd name="T22" fmla="*/ 1 w 355"/>
                      <a:gd name="T23" fmla="*/ 2 h 2091"/>
                      <a:gd name="T24" fmla="*/ 0 w 355"/>
                      <a:gd name="T25" fmla="*/ 3 h 2091"/>
                      <a:gd name="T26" fmla="*/ 0 w 355"/>
                      <a:gd name="T27" fmla="*/ 3 h 2091"/>
                      <a:gd name="T28" fmla="*/ 0 w 355"/>
                      <a:gd name="T29" fmla="*/ 3 h 2091"/>
                      <a:gd name="T30" fmla="*/ 0 w 355"/>
                      <a:gd name="T31" fmla="*/ 3 h 2091"/>
                      <a:gd name="T32" fmla="*/ 0 w 355"/>
                      <a:gd name="T33" fmla="*/ 3 h 2091"/>
                      <a:gd name="T34" fmla="*/ 0 w 355"/>
                      <a:gd name="T35" fmla="*/ 4 h 209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55"/>
                      <a:gd name="T55" fmla="*/ 0 h 2091"/>
                      <a:gd name="T56" fmla="*/ 355 w 355"/>
                      <a:gd name="T57" fmla="*/ 2091 h 209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55" h="2091">
                        <a:moveTo>
                          <a:pt x="26" y="0"/>
                        </a:moveTo>
                        <a:lnTo>
                          <a:pt x="79" y="69"/>
                        </a:lnTo>
                        <a:lnTo>
                          <a:pt x="141" y="174"/>
                        </a:lnTo>
                        <a:lnTo>
                          <a:pt x="186" y="254"/>
                        </a:lnTo>
                        <a:lnTo>
                          <a:pt x="230" y="357"/>
                        </a:lnTo>
                        <a:lnTo>
                          <a:pt x="279" y="489"/>
                        </a:lnTo>
                        <a:lnTo>
                          <a:pt x="311" y="641"/>
                        </a:lnTo>
                        <a:lnTo>
                          <a:pt x="337" y="807"/>
                        </a:lnTo>
                        <a:lnTo>
                          <a:pt x="351" y="933"/>
                        </a:lnTo>
                        <a:lnTo>
                          <a:pt x="355" y="1061"/>
                        </a:lnTo>
                        <a:lnTo>
                          <a:pt x="333" y="1202"/>
                        </a:lnTo>
                        <a:lnTo>
                          <a:pt x="315" y="1325"/>
                        </a:lnTo>
                        <a:lnTo>
                          <a:pt x="279" y="1462"/>
                        </a:lnTo>
                        <a:lnTo>
                          <a:pt x="230" y="1594"/>
                        </a:lnTo>
                        <a:lnTo>
                          <a:pt x="181" y="1738"/>
                        </a:lnTo>
                        <a:lnTo>
                          <a:pt x="129" y="1858"/>
                        </a:lnTo>
                        <a:lnTo>
                          <a:pt x="66" y="1972"/>
                        </a:lnTo>
                        <a:lnTo>
                          <a:pt x="0" y="209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2" name="Freeform 88"/>
                  <p:cNvSpPr>
                    <a:spLocks/>
                  </p:cNvSpPr>
                  <p:nvPr/>
                </p:nvSpPr>
                <p:spPr bwMode="auto">
                  <a:xfrm>
                    <a:off x="4359" y="834"/>
                    <a:ext cx="113" cy="578"/>
                  </a:xfrm>
                  <a:custGeom>
                    <a:avLst/>
                    <a:gdLst>
                      <a:gd name="T0" fmla="*/ 0 w 432"/>
                      <a:gd name="T1" fmla="*/ 0 h 2072"/>
                      <a:gd name="T2" fmla="*/ 0 w 432"/>
                      <a:gd name="T3" fmla="*/ 0 h 2072"/>
                      <a:gd name="T4" fmla="*/ 0 w 432"/>
                      <a:gd name="T5" fmla="*/ 0 h 2072"/>
                      <a:gd name="T6" fmla="*/ 0 w 432"/>
                      <a:gd name="T7" fmla="*/ 1 h 2072"/>
                      <a:gd name="T8" fmla="*/ 0 w 432"/>
                      <a:gd name="T9" fmla="*/ 1 h 2072"/>
                      <a:gd name="T10" fmla="*/ 0 w 432"/>
                      <a:gd name="T11" fmla="*/ 1 h 2072"/>
                      <a:gd name="T12" fmla="*/ 1 w 432"/>
                      <a:gd name="T13" fmla="*/ 1 h 2072"/>
                      <a:gd name="T14" fmla="*/ 1 w 432"/>
                      <a:gd name="T15" fmla="*/ 1 h 2072"/>
                      <a:gd name="T16" fmla="*/ 1 w 432"/>
                      <a:gd name="T17" fmla="*/ 2 h 2072"/>
                      <a:gd name="T18" fmla="*/ 1 w 432"/>
                      <a:gd name="T19" fmla="*/ 2 h 2072"/>
                      <a:gd name="T20" fmla="*/ 1 w 432"/>
                      <a:gd name="T21" fmla="*/ 2 h 2072"/>
                      <a:gd name="T22" fmla="*/ 1 w 432"/>
                      <a:gd name="T23" fmla="*/ 2 h 2072"/>
                      <a:gd name="T24" fmla="*/ 1 w 432"/>
                      <a:gd name="T25" fmla="*/ 3 h 2072"/>
                      <a:gd name="T26" fmla="*/ 0 w 432"/>
                      <a:gd name="T27" fmla="*/ 3 h 2072"/>
                      <a:gd name="T28" fmla="*/ 0 w 432"/>
                      <a:gd name="T29" fmla="*/ 3 h 2072"/>
                      <a:gd name="T30" fmla="*/ 0 w 432"/>
                      <a:gd name="T31" fmla="*/ 3 h 2072"/>
                      <a:gd name="T32" fmla="*/ 0 w 432"/>
                      <a:gd name="T33" fmla="*/ 3 h 2072"/>
                      <a:gd name="T34" fmla="*/ 0 w 432"/>
                      <a:gd name="T35" fmla="*/ 4 h 207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432"/>
                      <a:gd name="T55" fmla="*/ 0 h 2072"/>
                      <a:gd name="T56" fmla="*/ 432 w 432"/>
                      <a:gd name="T57" fmla="*/ 2072 h 207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432" h="2072">
                        <a:moveTo>
                          <a:pt x="8" y="0"/>
                        </a:moveTo>
                        <a:lnTo>
                          <a:pt x="71" y="70"/>
                        </a:lnTo>
                        <a:lnTo>
                          <a:pt x="142" y="164"/>
                        </a:lnTo>
                        <a:lnTo>
                          <a:pt x="200" y="269"/>
                        </a:lnTo>
                        <a:lnTo>
                          <a:pt x="253" y="363"/>
                        </a:lnTo>
                        <a:lnTo>
                          <a:pt x="315" y="495"/>
                        </a:lnTo>
                        <a:lnTo>
                          <a:pt x="364" y="638"/>
                        </a:lnTo>
                        <a:lnTo>
                          <a:pt x="414" y="807"/>
                        </a:lnTo>
                        <a:lnTo>
                          <a:pt x="426" y="934"/>
                        </a:lnTo>
                        <a:lnTo>
                          <a:pt x="432" y="1057"/>
                        </a:lnTo>
                        <a:lnTo>
                          <a:pt x="414" y="1189"/>
                        </a:lnTo>
                        <a:lnTo>
                          <a:pt x="382" y="1321"/>
                        </a:lnTo>
                        <a:lnTo>
                          <a:pt x="333" y="1473"/>
                        </a:lnTo>
                        <a:lnTo>
                          <a:pt x="267" y="1615"/>
                        </a:lnTo>
                        <a:lnTo>
                          <a:pt x="208" y="1744"/>
                        </a:lnTo>
                        <a:lnTo>
                          <a:pt x="137" y="1873"/>
                        </a:lnTo>
                        <a:lnTo>
                          <a:pt x="67" y="1987"/>
                        </a:lnTo>
                        <a:lnTo>
                          <a:pt x="0" y="207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3" name="Freeform 89"/>
                  <p:cNvSpPr>
                    <a:spLocks/>
                  </p:cNvSpPr>
                  <p:nvPr/>
                </p:nvSpPr>
                <p:spPr bwMode="auto">
                  <a:xfrm>
                    <a:off x="4369" y="834"/>
                    <a:ext cx="135" cy="351"/>
                  </a:xfrm>
                  <a:custGeom>
                    <a:avLst/>
                    <a:gdLst>
                      <a:gd name="T0" fmla="*/ 0 w 516"/>
                      <a:gd name="T1" fmla="*/ 0 h 1261"/>
                      <a:gd name="T2" fmla="*/ 0 w 516"/>
                      <a:gd name="T3" fmla="*/ 0 h 1261"/>
                      <a:gd name="T4" fmla="*/ 0 w 516"/>
                      <a:gd name="T5" fmla="*/ 0 h 1261"/>
                      <a:gd name="T6" fmla="*/ 0 w 516"/>
                      <a:gd name="T7" fmla="*/ 1 h 1261"/>
                      <a:gd name="T8" fmla="*/ 1 w 516"/>
                      <a:gd name="T9" fmla="*/ 1 h 1261"/>
                      <a:gd name="T10" fmla="*/ 1 w 516"/>
                      <a:gd name="T11" fmla="*/ 1 h 1261"/>
                      <a:gd name="T12" fmla="*/ 1 w 516"/>
                      <a:gd name="T13" fmla="*/ 1 h 1261"/>
                      <a:gd name="T14" fmla="*/ 1 w 516"/>
                      <a:gd name="T15" fmla="*/ 1 h 1261"/>
                      <a:gd name="T16" fmla="*/ 1 w 516"/>
                      <a:gd name="T17" fmla="*/ 2 h 1261"/>
                      <a:gd name="T18" fmla="*/ 1 w 516"/>
                      <a:gd name="T19" fmla="*/ 2 h 1261"/>
                      <a:gd name="T20" fmla="*/ 1 w 516"/>
                      <a:gd name="T21" fmla="*/ 2 h 1261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16"/>
                      <a:gd name="T34" fmla="*/ 0 h 1261"/>
                      <a:gd name="T35" fmla="*/ 516 w 516"/>
                      <a:gd name="T36" fmla="*/ 1261 h 1261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16" h="1261">
                        <a:moveTo>
                          <a:pt x="0" y="0"/>
                        </a:moveTo>
                        <a:lnTo>
                          <a:pt x="98" y="94"/>
                        </a:lnTo>
                        <a:lnTo>
                          <a:pt x="179" y="187"/>
                        </a:lnTo>
                        <a:lnTo>
                          <a:pt x="258" y="277"/>
                        </a:lnTo>
                        <a:lnTo>
                          <a:pt x="339" y="386"/>
                        </a:lnTo>
                        <a:lnTo>
                          <a:pt x="401" y="508"/>
                        </a:lnTo>
                        <a:lnTo>
                          <a:pt x="454" y="638"/>
                        </a:lnTo>
                        <a:lnTo>
                          <a:pt x="498" y="807"/>
                        </a:lnTo>
                        <a:lnTo>
                          <a:pt x="516" y="940"/>
                        </a:lnTo>
                        <a:lnTo>
                          <a:pt x="512" y="1066"/>
                        </a:lnTo>
                        <a:lnTo>
                          <a:pt x="490" y="126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4" name="Freeform 90"/>
                  <p:cNvSpPr>
                    <a:spLocks/>
                  </p:cNvSpPr>
                  <p:nvPr/>
                </p:nvSpPr>
                <p:spPr bwMode="auto">
                  <a:xfrm>
                    <a:off x="4381" y="834"/>
                    <a:ext cx="279" cy="583"/>
                  </a:xfrm>
                  <a:custGeom>
                    <a:avLst/>
                    <a:gdLst>
                      <a:gd name="T0" fmla="*/ 0 w 1064"/>
                      <a:gd name="T1" fmla="*/ 0 h 2091"/>
                      <a:gd name="T2" fmla="*/ 0 w 1064"/>
                      <a:gd name="T3" fmla="*/ 0 h 2091"/>
                      <a:gd name="T4" fmla="*/ 0 w 1064"/>
                      <a:gd name="T5" fmla="*/ 0 h 2091"/>
                      <a:gd name="T6" fmla="*/ 1 w 1064"/>
                      <a:gd name="T7" fmla="*/ 1 h 2091"/>
                      <a:gd name="T8" fmla="*/ 1 w 1064"/>
                      <a:gd name="T9" fmla="*/ 1 h 2091"/>
                      <a:gd name="T10" fmla="*/ 1 w 1064"/>
                      <a:gd name="T11" fmla="*/ 1 h 2091"/>
                      <a:gd name="T12" fmla="*/ 1 w 1064"/>
                      <a:gd name="T13" fmla="*/ 1 h 2091"/>
                      <a:gd name="T14" fmla="*/ 1 w 1064"/>
                      <a:gd name="T15" fmla="*/ 1 h 2091"/>
                      <a:gd name="T16" fmla="*/ 1 w 1064"/>
                      <a:gd name="T17" fmla="*/ 2 h 2091"/>
                      <a:gd name="T18" fmla="*/ 1 w 1064"/>
                      <a:gd name="T19" fmla="*/ 2 h 2091"/>
                      <a:gd name="T20" fmla="*/ 1 w 1064"/>
                      <a:gd name="T21" fmla="*/ 2 h 2091"/>
                      <a:gd name="T22" fmla="*/ 1 w 1064"/>
                      <a:gd name="T23" fmla="*/ 2 h 2091"/>
                      <a:gd name="T24" fmla="*/ 1 w 1064"/>
                      <a:gd name="T25" fmla="*/ 3 h 2091"/>
                      <a:gd name="T26" fmla="*/ 1 w 1064"/>
                      <a:gd name="T27" fmla="*/ 3 h 2091"/>
                      <a:gd name="T28" fmla="*/ 1 w 1064"/>
                      <a:gd name="T29" fmla="*/ 3 h 2091"/>
                      <a:gd name="T30" fmla="*/ 1 w 1064"/>
                      <a:gd name="T31" fmla="*/ 3 h 2091"/>
                      <a:gd name="T32" fmla="*/ 1 w 1064"/>
                      <a:gd name="T33" fmla="*/ 3 h 2091"/>
                      <a:gd name="T34" fmla="*/ 1 w 1064"/>
                      <a:gd name="T35" fmla="*/ 4 h 209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64"/>
                      <a:gd name="T55" fmla="*/ 0 h 2091"/>
                      <a:gd name="T56" fmla="*/ 1064 w 1064"/>
                      <a:gd name="T57" fmla="*/ 2091 h 209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64" h="2091">
                        <a:moveTo>
                          <a:pt x="0" y="0"/>
                        </a:moveTo>
                        <a:lnTo>
                          <a:pt x="97" y="69"/>
                        </a:lnTo>
                        <a:lnTo>
                          <a:pt x="182" y="145"/>
                        </a:lnTo>
                        <a:lnTo>
                          <a:pt x="301" y="277"/>
                        </a:lnTo>
                        <a:lnTo>
                          <a:pt x="386" y="394"/>
                        </a:lnTo>
                        <a:lnTo>
                          <a:pt x="466" y="522"/>
                        </a:lnTo>
                        <a:lnTo>
                          <a:pt x="523" y="660"/>
                        </a:lnTo>
                        <a:lnTo>
                          <a:pt x="569" y="797"/>
                        </a:lnTo>
                        <a:lnTo>
                          <a:pt x="595" y="935"/>
                        </a:lnTo>
                        <a:lnTo>
                          <a:pt x="599" y="1052"/>
                        </a:lnTo>
                        <a:lnTo>
                          <a:pt x="610" y="1184"/>
                        </a:lnTo>
                        <a:lnTo>
                          <a:pt x="636" y="1317"/>
                        </a:lnTo>
                        <a:lnTo>
                          <a:pt x="681" y="1457"/>
                        </a:lnTo>
                        <a:lnTo>
                          <a:pt x="747" y="1598"/>
                        </a:lnTo>
                        <a:lnTo>
                          <a:pt x="806" y="1729"/>
                        </a:lnTo>
                        <a:lnTo>
                          <a:pt x="876" y="1844"/>
                        </a:lnTo>
                        <a:lnTo>
                          <a:pt x="965" y="1976"/>
                        </a:lnTo>
                        <a:lnTo>
                          <a:pt x="1064" y="209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5" name="Freeform 91"/>
                  <p:cNvSpPr>
                    <a:spLocks/>
                  </p:cNvSpPr>
                  <p:nvPr/>
                </p:nvSpPr>
                <p:spPr bwMode="auto">
                  <a:xfrm>
                    <a:off x="4399" y="835"/>
                    <a:ext cx="278" cy="585"/>
                  </a:xfrm>
                  <a:custGeom>
                    <a:avLst/>
                    <a:gdLst>
                      <a:gd name="T0" fmla="*/ 0 w 1064"/>
                      <a:gd name="T1" fmla="*/ 0 h 2097"/>
                      <a:gd name="T2" fmla="*/ 0 w 1064"/>
                      <a:gd name="T3" fmla="*/ 0 h 2097"/>
                      <a:gd name="T4" fmla="*/ 0 w 1064"/>
                      <a:gd name="T5" fmla="*/ 0 h 2097"/>
                      <a:gd name="T6" fmla="*/ 1 w 1064"/>
                      <a:gd name="T7" fmla="*/ 1 h 2097"/>
                      <a:gd name="T8" fmla="*/ 1 w 1064"/>
                      <a:gd name="T9" fmla="*/ 1 h 2097"/>
                      <a:gd name="T10" fmla="*/ 1 w 1064"/>
                      <a:gd name="T11" fmla="*/ 1 h 2097"/>
                      <a:gd name="T12" fmla="*/ 1 w 1064"/>
                      <a:gd name="T13" fmla="*/ 1 h 2097"/>
                      <a:gd name="T14" fmla="*/ 1 w 1064"/>
                      <a:gd name="T15" fmla="*/ 1 h 2097"/>
                      <a:gd name="T16" fmla="*/ 1 w 1064"/>
                      <a:gd name="T17" fmla="*/ 2 h 2097"/>
                      <a:gd name="T18" fmla="*/ 1 w 1064"/>
                      <a:gd name="T19" fmla="*/ 2 h 2097"/>
                      <a:gd name="T20" fmla="*/ 1 w 1064"/>
                      <a:gd name="T21" fmla="*/ 2 h 2097"/>
                      <a:gd name="T22" fmla="*/ 1 w 1064"/>
                      <a:gd name="T23" fmla="*/ 2 h 2097"/>
                      <a:gd name="T24" fmla="*/ 1 w 1064"/>
                      <a:gd name="T25" fmla="*/ 3 h 2097"/>
                      <a:gd name="T26" fmla="*/ 1 w 1064"/>
                      <a:gd name="T27" fmla="*/ 3 h 2097"/>
                      <a:gd name="T28" fmla="*/ 1 w 1064"/>
                      <a:gd name="T29" fmla="*/ 3 h 2097"/>
                      <a:gd name="T30" fmla="*/ 1 w 1064"/>
                      <a:gd name="T31" fmla="*/ 3 h 2097"/>
                      <a:gd name="T32" fmla="*/ 1 w 1064"/>
                      <a:gd name="T33" fmla="*/ 3 h 2097"/>
                      <a:gd name="T34" fmla="*/ 1 w 1064"/>
                      <a:gd name="T35" fmla="*/ 4 h 209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64"/>
                      <a:gd name="T55" fmla="*/ 0 h 2097"/>
                      <a:gd name="T56" fmla="*/ 1064 w 1064"/>
                      <a:gd name="T57" fmla="*/ 2097 h 209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64" h="2097">
                        <a:moveTo>
                          <a:pt x="0" y="0"/>
                        </a:moveTo>
                        <a:lnTo>
                          <a:pt x="139" y="90"/>
                        </a:lnTo>
                        <a:lnTo>
                          <a:pt x="240" y="183"/>
                        </a:lnTo>
                        <a:lnTo>
                          <a:pt x="361" y="311"/>
                        </a:lnTo>
                        <a:lnTo>
                          <a:pt x="444" y="420"/>
                        </a:lnTo>
                        <a:lnTo>
                          <a:pt x="529" y="554"/>
                        </a:lnTo>
                        <a:lnTo>
                          <a:pt x="588" y="686"/>
                        </a:lnTo>
                        <a:lnTo>
                          <a:pt x="634" y="822"/>
                        </a:lnTo>
                        <a:lnTo>
                          <a:pt x="660" y="959"/>
                        </a:lnTo>
                        <a:lnTo>
                          <a:pt x="664" y="1076"/>
                        </a:lnTo>
                        <a:lnTo>
                          <a:pt x="673" y="1209"/>
                        </a:lnTo>
                        <a:lnTo>
                          <a:pt x="699" y="1341"/>
                        </a:lnTo>
                        <a:lnTo>
                          <a:pt x="745" y="1482"/>
                        </a:lnTo>
                        <a:lnTo>
                          <a:pt x="784" y="1601"/>
                        </a:lnTo>
                        <a:lnTo>
                          <a:pt x="838" y="1730"/>
                        </a:lnTo>
                        <a:lnTo>
                          <a:pt x="886" y="1850"/>
                        </a:lnTo>
                        <a:lnTo>
                          <a:pt x="953" y="1958"/>
                        </a:lnTo>
                        <a:lnTo>
                          <a:pt x="1064" y="209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6" name="Freeform 92"/>
                  <p:cNvSpPr>
                    <a:spLocks/>
                  </p:cNvSpPr>
                  <p:nvPr/>
                </p:nvSpPr>
                <p:spPr bwMode="auto">
                  <a:xfrm>
                    <a:off x="4059" y="844"/>
                    <a:ext cx="219" cy="582"/>
                  </a:xfrm>
                  <a:custGeom>
                    <a:avLst/>
                    <a:gdLst>
                      <a:gd name="T0" fmla="*/ 1 w 836"/>
                      <a:gd name="T1" fmla="*/ 0 h 2087"/>
                      <a:gd name="T2" fmla="*/ 1 w 836"/>
                      <a:gd name="T3" fmla="*/ 0 h 2087"/>
                      <a:gd name="T4" fmla="*/ 1 w 836"/>
                      <a:gd name="T5" fmla="*/ 0 h 2087"/>
                      <a:gd name="T6" fmla="*/ 1 w 836"/>
                      <a:gd name="T7" fmla="*/ 1 h 2087"/>
                      <a:gd name="T8" fmla="*/ 1 w 836"/>
                      <a:gd name="T9" fmla="*/ 1 h 2087"/>
                      <a:gd name="T10" fmla="*/ 1 w 836"/>
                      <a:gd name="T11" fmla="*/ 1 h 2087"/>
                      <a:gd name="T12" fmla="*/ 1 w 836"/>
                      <a:gd name="T13" fmla="*/ 1 h 2087"/>
                      <a:gd name="T14" fmla="*/ 1 w 836"/>
                      <a:gd name="T15" fmla="*/ 2 h 2087"/>
                      <a:gd name="T16" fmla="*/ 1 w 836"/>
                      <a:gd name="T17" fmla="*/ 2 h 2087"/>
                      <a:gd name="T18" fmla="*/ 0 w 836"/>
                      <a:gd name="T19" fmla="*/ 2 h 2087"/>
                      <a:gd name="T20" fmla="*/ 0 w 836"/>
                      <a:gd name="T21" fmla="*/ 2 h 2087"/>
                      <a:gd name="T22" fmla="*/ 0 w 836"/>
                      <a:gd name="T23" fmla="*/ 3 h 2087"/>
                      <a:gd name="T24" fmla="*/ 0 w 836"/>
                      <a:gd name="T25" fmla="*/ 3 h 2087"/>
                      <a:gd name="T26" fmla="*/ 0 w 836"/>
                      <a:gd name="T27" fmla="*/ 3 h 2087"/>
                      <a:gd name="T28" fmla="*/ 0 w 836"/>
                      <a:gd name="T29" fmla="*/ 3 h 2087"/>
                      <a:gd name="T30" fmla="*/ 0 w 836"/>
                      <a:gd name="T31" fmla="*/ 3 h 2087"/>
                      <a:gd name="T32" fmla="*/ 0 w 836"/>
                      <a:gd name="T33" fmla="*/ 3 h 2087"/>
                      <a:gd name="T34" fmla="*/ 0 w 836"/>
                      <a:gd name="T35" fmla="*/ 4 h 208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836"/>
                      <a:gd name="T55" fmla="*/ 0 h 2087"/>
                      <a:gd name="T56" fmla="*/ 836 w 836"/>
                      <a:gd name="T57" fmla="*/ 2087 h 208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836" h="2087">
                        <a:moveTo>
                          <a:pt x="836" y="0"/>
                        </a:moveTo>
                        <a:lnTo>
                          <a:pt x="743" y="103"/>
                        </a:lnTo>
                        <a:lnTo>
                          <a:pt x="640" y="239"/>
                        </a:lnTo>
                        <a:lnTo>
                          <a:pt x="565" y="357"/>
                        </a:lnTo>
                        <a:lnTo>
                          <a:pt x="489" y="495"/>
                        </a:lnTo>
                        <a:lnTo>
                          <a:pt x="432" y="618"/>
                        </a:lnTo>
                        <a:lnTo>
                          <a:pt x="364" y="759"/>
                        </a:lnTo>
                        <a:lnTo>
                          <a:pt x="325" y="896"/>
                        </a:lnTo>
                        <a:lnTo>
                          <a:pt x="311" y="1015"/>
                        </a:lnTo>
                        <a:lnTo>
                          <a:pt x="289" y="1151"/>
                        </a:lnTo>
                        <a:lnTo>
                          <a:pt x="271" y="1288"/>
                        </a:lnTo>
                        <a:lnTo>
                          <a:pt x="235" y="1429"/>
                        </a:lnTo>
                        <a:lnTo>
                          <a:pt x="205" y="1561"/>
                        </a:lnTo>
                        <a:lnTo>
                          <a:pt x="170" y="1699"/>
                        </a:lnTo>
                        <a:lnTo>
                          <a:pt x="138" y="1819"/>
                        </a:lnTo>
                        <a:lnTo>
                          <a:pt x="94" y="1915"/>
                        </a:lnTo>
                        <a:lnTo>
                          <a:pt x="49" y="1995"/>
                        </a:lnTo>
                        <a:lnTo>
                          <a:pt x="0" y="208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7" name="Freeform 93"/>
                  <p:cNvSpPr>
                    <a:spLocks/>
                  </p:cNvSpPr>
                  <p:nvPr/>
                </p:nvSpPr>
                <p:spPr bwMode="auto">
                  <a:xfrm>
                    <a:off x="4173" y="837"/>
                    <a:ext cx="126" cy="339"/>
                  </a:xfrm>
                  <a:custGeom>
                    <a:avLst/>
                    <a:gdLst>
                      <a:gd name="T0" fmla="*/ 1 w 480"/>
                      <a:gd name="T1" fmla="*/ 0 h 1214"/>
                      <a:gd name="T2" fmla="*/ 1 w 480"/>
                      <a:gd name="T3" fmla="*/ 0 h 1214"/>
                      <a:gd name="T4" fmla="*/ 0 w 480"/>
                      <a:gd name="T5" fmla="*/ 1 h 1214"/>
                      <a:gd name="T6" fmla="*/ 0 w 480"/>
                      <a:gd name="T7" fmla="*/ 1 h 1214"/>
                      <a:gd name="T8" fmla="*/ 0 w 480"/>
                      <a:gd name="T9" fmla="*/ 1 h 1214"/>
                      <a:gd name="T10" fmla="*/ 0 w 480"/>
                      <a:gd name="T11" fmla="*/ 1 h 1214"/>
                      <a:gd name="T12" fmla="*/ 0 w 480"/>
                      <a:gd name="T13" fmla="*/ 1 h 1214"/>
                      <a:gd name="T14" fmla="*/ 0 w 480"/>
                      <a:gd name="T15" fmla="*/ 2 h 1214"/>
                      <a:gd name="T16" fmla="*/ 0 w 480"/>
                      <a:gd name="T17" fmla="*/ 2 h 1214"/>
                      <a:gd name="T18" fmla="*/ 0 w 480"/>
                      <a:gd name="T19" fmla="*/ 2 h 121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480"/>
                      <a:gd name="T31" fmla="*/ 0 h 1214"/>
                      <a:gd name="T32" fmla="*/ 480 w 480"/>
                      <a:gd name="T33" fmla="*/ 1214 h 121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480" h="1214">
                        <a:moveTo>
                          <a:pt x="480" y="0"/>
                        </a:moveTo>
                        <a:lnTo>
                          <a:pt x="356" y="156"/>
                        </a:lnTo>
                        <a:lnTo>
                          <a:pt x="276" y="273"/>
                        </a:lnTo>
                        <a:lnTo>
                          <a:pt x="222" y="382"/>
                        </a:lnTo>
                        <a:lnTo>
                          <a:pt x="156" y="514"/>
                        </a:lnTo>
                        <a:lnTo>
                          <a:pt x="97" y="657"/>
                        </a:lnTo>
                        <a:lnTo>
                          <a:pt x="49" y="789"/>
                        </a:lnTo>
                        <a:lnTo>
                          <a:pt x="14" y="927"/>
                        </a:lnTo>
                        <a:lnTo>
                          <a:pt x="4" y="1030"/>
                        </a:lnTo>
                        <a:lnTo>
                          <a:pt x="0" y="121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8" name="Freeform 94"/>
                  <p:cNvSpPr>
                    <a:spLocks/>
                  </p:cNvSpPr>
                  <p:nvPr/>
                </p:nvSpPr>
                <p:spPr bwMode="auto">
                  <a:xfrm>
                    <a:off x="4208" y="836"/>
                    <a:ext cx="102" cy="587"/>
                  </a:xfrm>
                  <a:custGeom>
                    <a:avLst/>
                    <a:gdLst>
                      <a:gd name="T0" fmla="*/ 1 w 392"/>
                      <a:gd name="T1" fmla="*/ 0 h 2102"/>
                      <a:gd name="T2" fmla="*/ 1 w 392"/>
                      <a:gd name="T3" fmla="*/ 0 h 2102"/>
                      <a:gd name="T4" fmla="*/ 0 w 392"/>
                      <a:gd name="T5" fmla="*/ 0 h 2102"/>
                      <a:gd name="T6" fmla="*/ 0 w 392"/>
                      <a:gd name="T7" fmla="*/ 1 h 2102"/>
                      <a:gd name="T8" fmla="*/ 0 w 392"/>
                      <a:gd name="T9" fmla="*/ 1 h 2102"/>
                      <a:gd name="T10" fmla="*/ 0 w 392"/>
                      <a:gd name="T11" fmla="*/ 1 h 2102"/>
                      <a:gd name="T12" fmla="*/ 0 w 392"/>
                      <a:gd name="T13" fmla="*/ 1 h 2102"/>
                      <a:gd name="T14" fmla="*/ 0 w 392"/>
                      <a:gd name="T15" fmla="*/ 1 h 2102"/>
                      <a:gd name="T16" fmla="*/ 0 w 392"/>
                      <a:gd name="T17" fmla="*/ 2 h 2102"/>
                      <a:gd name="T18" fmla="*/ 0 w 392"/>
                      <a:gd name="T19" fmla="*/ 2 h 2102"/>
                      <a:gd name="T20" fmla="*/ 0 w 392"/>
                      <a:gd name="T21" fmla="*/ 2 h 2102"/>
                      <a:gd name="T22" fmla="*/ 0 w 392"/>
                      <a:gd name="T23" fmla="*/ 2 h 2102"/>
                      <a:gd name="T24" fmla="*/ 0 w 392"/>
                      <a:gd name="T25" fmla="*/ 3 h 2102"/>
                      <a:gd name="T26" fmla="*/ 0 w 392"/>
                      <a:gd name="T27" fmla="*/ 3 h 2102"/>
                      <a:gd name="T28" fmla="*/ 0 w 392"/>
                      <a:gd name="T29" fmla="*/ 3 h 2102"/>
                      <a:gd name="T30" fmla="*/ 0 w 392"/>
                      <a:gd name="T31" fmla="*/ 3 h 2102"/>
                      <a:gd name="T32" fmla="*/ 0 w 392"/>
                      <a:gd name="T33" fmla="*/ 3 h 2102"/>
                      <a:gd name="T34" fmla="*/ 0 w 392"/>
                      <a:gd name="T35" fmla="*/ 4 h 210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92"/>
                      <a:gd name="T55" fmla="*/ 0 h 2102"/>
                      <a:gd name="T56" fmla="*/ 392 w 392"/>
                      <a:gd name="T57" fmla="*/ 2102 h 210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92" h="2102">
                        <a:moveTo>
                          <a:pt x="392" y="0"/>
                        </a:moveTo>
                        <a:lnTo>
                          <a:pt x="351" y="57"/>
                        </a:lnTo>
                        <a:lnTo>
                          <a:pt x="285" y="156"/>
                        </a:lnTo>
                        <a:lnTo>
                          <a:pt x="218" y="269"/>
                        </a:lnTo>
                        <a:lnTo>
                          <a:pt x="160" y="391"/>
                        </a:lnTo>
                        <a:lnTo>
                          <a:pt x="111" y="525"/>
                        </a:lnTo>
                        <a:lnTo>
                          <a:pt x="67" y="662"/>
                        </a:lnTo>
                        <a:lnTo>
                          <a:pt x="27" y="789"/>
                        </a:lnTo>
                        <a:lnTo>
                          <a:pt x="9" y="912"/>
                        </a:lnTo>
                        <a:lnTo>
                          <a:pt x="0" y="1049"/>
                        </a:lnTo>
                        <a:lnTo>
                          <a:pt x="5" y="1181"/>
                        </a:lnTo>
                        <a:lnTo>
                          <a:pt x="17" y="1307"/>
                        </a:lnTo>
                        <a:lnTo>
                          <a:pt x="49" y="1458"/>
                        </a:lnTo>
                        <a:lnTo>
                          <a:pt x="80" y="1590"/>
                        </a:lnTo>
                        <a:lnTo>
                          <a:pt x="111" y="1740"/>
                        </a:lnTo>
                        <a:lnTo>
                          <a:pt x="160" y="1859"/>
                        </a:lnTo>
                        <a:lnTo>
                          <a:pt x="196" y="1953"/>
                        </a:lnTo>
                        <a:lnTo>
                          <a:pt x="267" y="210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9" name="Freeform 95"/>
                  <p:cNvSpPr>
                    <a:spLocks/>
                  </p:cNvSpPr>
                  <p:nvPr/>
                </p:nvSpPr>
                <p:spPr bwMode="auto">
                  <a:xfrm>
                    <a:off x="4240" y="836"/>
                    <a:ext cx="82" cy="587"/>
                  </a:xfrm>
                  <a:custGeom>
                    <a:avLst/>
                    <a:gdLst>
                      <a:gd name="T0" fmla="*/ 1 w 311"/>
                      <a:gd name="T1" fmla="*/ 0 h 2102"/>
                      <a:gd name="T2" fmla="*/ 0 w 311"/>
                      <a:gd name="T3" fmla="*/ 0 h 2102"/>
                      <a:gd name="T4" fmla="*/ 0 w 311"/>
                      <a:gd name="T5" fmla="*/ 0 h 2102"/>
                      <a:gd name="T6" fmla="*/ 0 w 311"/>
                      <a:gd name="T7" fmla="*/ 1 h 2102"/>
                      <a:gd name="T8" fmla="*/ 0 w 311"/>
                      <a:gd name="T9" fmla="*/ 1 h 2102"/>
                      <a:gd name="T10" fmla="*/ 0 w 311"/>
                      <a:gd name="T11" fmla="*/ 1 h 2102"/>
                      <a:gd name="T12" fmla="*/ 0 w 311"/>
                      <a:gd name="T13" fmla="*/ 1 h 2102"/>
                      <a:gd name="T14" fmla="*/ 0 w 311"/>
                      <a:gd name="T15" fmla="*/ 1 h 2102"/>
                      <a:gd name="T16" fmla="*/ 0 w 311"/>
                      <a:gd name="T17" fmla="*/ 2 h 2102"/>
                      <a:gd name="T18" fmla="*/ 0 w 311"/>
                      <a:gd name="T19" fmla="*/ 2 h 2102"/>
                      <a:gd name="T20" fmla="*/ 0 w 311"/>
                      <a:gd name="T21" fmla="*/ 2 h 2102"/>
                      <a:gd name="T22" fmla="*/ 0 w 311"/>
                      <a:gd name="T23" fmla="*/ 2 h 2102"/>
                      <a:gd name="T24" fmla="*/ 0 w 311"/>
                      <a:gd name="T25" fmla="*/ 3 h 2102"/>
                      <a:gd name="T26" fmla="*/ 0 w 311"/>
                      <a:gd name="T27" fmla="*/ 3 h 2102"/>
                      <a:gd name="T28" fmla="*/ 0 w 311"/>
                      <a:gd name="T29" fmla="*/ 3 h 2102"/>
                      <a:gd name="T30" fmla="*/ 0 w 311"/>
                      <a:gd name="T31" fmla="*/ 3 h 2102"/>
                      <a:gd name="T32" fmla="*/ 0 w 311"/>
                      <a:gd name="T33" fmla="*/ 3 h 2102"/>
                      <a:gd name="T34" fmla="*/ 0 w 311"/>
                      <a:gd name="T35" fmla="*/ 4 h 210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1"/>
                      <a:gd name="T55" fmla="*/ 0 h 2102"/>
                      <a:gd name="T56" fmla="*/ 311 w 311"/>
                      <a:gd name="T57" fmla="*/ 2102 h 210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1" h="2102">
                        <a:moveTo>
                          <a:pt x="311" y="0"/>
                        </a:moveTo>
                        <a:lnTo>
                          <a:pt x="275" y="57"/>
                        </a:lnTo>
                        <a:lnTo>
                          <a:pt x="222" y="156"/>
                        </a:lnTo>
                        <a:lnTo>
                          <a:pt x="156" y="283"/>
                        </a:lnTo>
                        <a:lnTo>
                          <a:pt x="120" y="397"/>
                        </a:lnTo>
                        <a:lnTo>
                          <a:pt x="85" y="530"/>
                        </a:lnTo>
                        <a:lnTo>
                          <a:pt x="49" y="648"/>
                        </a:lnTo>
                        <a:lnTo>
                          <a:pt x="27" y="776"/>
                        </a:lnTo>
                        <a:lnTo>
                          <a:pt x="9" y="906"/>
                        </a:lnTo>
                        <a:lnTo>
                          <a:pt x="0" y="1049"/>
                        </a:lnTo>
                        <a:lnTo>
                          <a:pt x="0" y="1171"/>
                        </a:lnTo>
                        <a:lnTo>
                          <a:pt x="13" y="1313"/>
                        </a:lnTo>
                        <a:lnTo>
                          <a:pt x="35" y="1458"/>
                        </a:lnTo>
                        <a:lnTo>
                          <a:pt x="57" y="1590"/>
                        </a:lnTo>
                        <a:lnTo>
                          <a:pt x="71" y="1730"/>
                        </a:lnTo>
                        <a:lnTo>
                          <a:pt x="103" y="1846"/>
                        </a:lnTo>
                        <a:lnTo>
                          <a:pt x="133" y="1953"/>
                        </a:lnTo>
                        <a:lnTo>
                          <a:pt x="174" y="210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0" name="Freeform 96"/>
                  <p:cNvSpPr>
                    <a:spLocks/>
                  </p:cNvSpPr>
                  <p:nvPr/>
                </p:nvSpPr>
                <p:spPr bwMode="auto">
                  <a:xfrm>
                    <a:off x="4274" y="837"/>
                    <a:ext cx="53" cy="586"/>
                  </a:xfrm>
                  <a:custGeom>
                    <a:avLst/>
                    <a:gdLst>
                      <a:gd name="T0" fmla="*/ 0 w 204"/>
                      <a:gd name="T1" fmla="*/ 0 h 2097"/>
                      <a:gd name="T2" fmla="*/ 0 w 204"/>
                      <a:gd name="T3" fmla="*/ 0 h 2097"/>
                      <a:gd name="T4" fmla="*/ 0 w 204"/>
                      <a:gd name="T5" fmla="*/ 0 h 2097"/>
                      <a:gd name="T6" fmla="*/ 0 w 204"/>
                      <a:gd name="T7" fmla="*/ 1 h 2097"/>
                      <a:gd name="T8" fmla="*/ 0 w 204"/>
                      <a:gd name="T9" fmla="*/ 1 h 2097"/>
                      <a:gd name="T10" fmla="*/ 0 w 204"/>
                      <a:gd name="T11" fmla="*/ 1 h 2097"/>
                      <a:gd name="T12" fmla="*/ 0 w 204"/>
                      <a:gd name="T13" fmla="*/ 1 h 2097"/>
                      <a:gd name="T14" fmla="*/ 0 w 204"/>
                      <a:gd name="T15" fmla="*/ 1 h 2097"/>
                      <a:gd name="T16" fmla="*/ 0 w 204"/>
                      <a:gd name="T17" fmla="*/ 2 h 2097"/>
                      <a:gd name="T18" fmla="*/ 0 w 204"/>
                      <a:gd name="T19" fmla="*/ 2 h 2097"/>
                      <a:gd name="T20" fmla="*/ 0 w 204"/>
                      <a:gd name="T21" fmla="*/ 2 h 2097"/>
                      <a:gd name="T22" fmla="*/ 0 w 204"/>
                      <a:gd name="T23" fmla="*/ 2 h 2097"/>
                      <a:gd name="T24" fmla="*/ 0 w 204"/>
                      <a:gd name="T25" fmla="*/ 3 h 2097"/>
                      <a:gd name="T26" fmla="*/ 0 w 204"/>
                      <a:gd name="T27" fmla="*/ 3 h 2097"/>
                      <a:gd name="T28" fmla="*/ 0 w 204"/>
                      <a:gd name="T29" fmla="*/ 3 h 2097"/>
                      <a:gd name="T30" fmla="*/ 0 w 204"/>
                      <a:gd name="T31" fmla="*/ 3 h 2097"/>
                      <a:gd name="T32" fmla="*/ 0 w 204"/>
                      <a:gd name="T33" fmla="*/ 3 h 2097"/>
                      <a:gd name="T34" fmla="*/ 0 w 204"/>
                      <a:gd name="T35" fmla="*/ 4 h 209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04"/>
                      <a:gd name="T55" fmla="*/ 0 h 2097"/>
                      <a:gd name="T56" fmla="*/ 204 w 204"/>
                      <a:gd name="T57" fmla="*/ 2097 h 209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04" h="2097">
                        <a:moveTo>
                          <a:pt x="204" y="0"/>
                        </a:moveTo>
                        <a:lnTo>
                          <a:pt x="174" y="57"/>
                        </a:lnTo>
                        <a:lnTo>
                          <a:pt x="138" y="161"/>
                        </a:lnTo>
                        <a:lnTo>
                          <a:pt x="102" y="275"/>
                        </a:lnTo>
                        <a:lnTo>
                          <a:pt x="81" y="382"/>
                        </a:lnTo>
                        <a:lnTo>
                          <a:pt x="57" y="526"/>
                        </a:lnTo>
                        <a:lnTo>
                          <a:pt x="39" y="667"/>
                        </a:lnTo>
                        <a:lnTo>
                          <a:pt x="27" y="771"/>
                        </a:lnTo>
                        <a:lnTo>
                          <a:pt x="13" y="903"/>
                        </a:lnTo>
                        <a:lnTo>
                          <a:pt x="0" y="1044"/>
                        </a:lnTo>
                        <a:lnTo>
                          <a:pt x="0" y="1181"/>
                        </a:lnTo>
                        <a:lnTo>
                          <a:pt x="0" y="1304"/>
                        </a:lnTo>
                        <a:lnTo>
                          <a:pt x="9" y="1435"/>
                        </a:lnTo>
                        <a:lnTo>
                          <a:pt x="17" y="1581"/>
                        </a:lnTo>
                        <a:lnTo>
                          <a:pt x="31" y="1712"/>
                        </a:lnTo>
                        <a:lnTo>
                          <a:pt x="53" y="1850"/>
                        </a:lnTo>
                        <a:lnTo>
                          <a:pt x="63" y="1949"/>
                        </a:lnTo>
                        <a:lnTo>
                          <a:pt x="75" y="209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1" name="Freeform 97"/>
                  <p:cNvSpPr>
                    <a:spLocks/>
                  </p:cNvSpPr>
                  <p:nvPr/>
                </p:nvSpPr>
                <p:spPr bwMode="auto">
                  <a:xfrm>
                    <a:off x="4302" y="837"/>
                    <a:ext cx="32" cy="589"/>
                  </a:xfrm>
                  <a:custGeom>
                    <a:avLst/>
                    <a:gdLst>
                      <a:gd name="T0" fmla="*/ 0 w 120"/>
                      <a:gd name="T1" fmla="*/ 0 h 2111"/>
                      <a:gd name="T2" fmla="*/ 0 w 120"/>
                      <a:gd name="T3" fmla="*/ 0 h 2111"/>
                      <a:gd name="T4" fmla="*/ 0 w 120"/>
                      <a:gd name="T5" fmla="*/ 0 h 2111"/>
                      <a:gd name="T6" fmla="*/ 0 w 120"/>
                      <a:gd name="T7" fmla="*/ 1 h 2111"/>
                      <a:gd name="T8" fmla="*/ 0 w 120"/>
                      <a:gd name="T9" fmla="*/ 1 h 2111"/>
                      <a:gd name="T10" fmla="*/ 0 w 120"/>
                      <a:gd name="T11" fmla="*/ 1 h 2111"/>
                      <a:gd name="T12" fmla="*/ 0 w 120"/>
                      <a:gd name="T13" fmla="*/ 1 h 2111"/>
                      <a:gd name="T14" fmla="*/ 0 w 120"/>
                      <a:gd name="T15" fmla="*/ 1 h 2111"/>
                      <a:gd name="T16" fmla="*/ 0 w 120"/>
                      <a:gd name="T17" fmla="*/ 1 h 2111"/>
                      <a:gd name="T18" fmla="*/ 0 w 120"/>
                      <a:gd name="T19" fmla="*/ 2 h 2111"/>
                      <a:gd name="T20" fmla="*/ 0 w 120"/>
                      <a:gd name="T21" fmla="*/ 2 h 2111"/>
                      <a:gd name="T22" fmla="*/ 0 w 120"/>
                      <a:gd name="T23" fmla="*/ 2 h 2111"/>
                      <a:gd name="T24" fmla="*/ 0 w 120"/>
                      <a:gd name="T25" fmla="*/ 3 h 2111"/>
                      <a:gd name="T26" fmla="*/ 0 w 120"/>
                      <a:gd name="T27" fmla="*/ 3 h 2111"/>
                      <a:gd name="T28" fmla="*/ 0 w 120"/>
                      <a:gd name="T29" fmla="*/ 3 h 2111"/>
                      <a:gd name="T30" fmla="*/ 0 w 120"/>
                      <a:gd name="T31" fmla="*/ 3 h 2111"/>
                      <a:gd name="T32" fmla="*/ 0 w 120"/>
                      <a:gd name="T33" fmla="*/ 3 h 2111"/>
                      <a:gd name="T34" fmla="*/ 0 w 120"/>
                      <a:gd name="T35" fmla="*/ 4 h 211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20"/>
                      <a:gd name="T55" fmla="*/ 0 h 2111"/>
                      <a:gd name="T56" fmla="*/ 120 w 120"/>
                      <a:gd name="T57" fmla="*/ 2111 h 211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20" h="2111">
                        <a:moveTo>
                          <a:pt x="120" y="0"/>
                        </a:moveTo>
                        <a:lnTo>
                          <a:pt x="98" y="66"/>
                        </a:lnTo>
                        <a:lnTo>
                          <a:pt x="71" y="165"/>
                        </a:lnTo>
                        <a:lnTo>
                          <a:pt x="53" y="278"/>
                        </a:lnTo>
                        <a:lnTo>
                          <a:pt x="45" y="382"/>
                        </a:lnTo>
                        <a:lnTo>
                          <a:pt x="45" y="509"/>
                        </a:lnTo>
                        <a:lnTo>
                          <a:pt x="35" y="639"/>
                        </a:lnTo>
                        <a:lnTo>
                          <a:pt x="35" y="771"/>
                        </a:lnTo>
                        <a:lnTo>
                          <a:pt x="31" y="893"/>
                        </a:lnTo>
                        <a:lnTo>
                          <a:pt x="27" y="1029"/>
                        </a:lnTo>
                        <a:lnTo>
                          <a:pt x="23" y="1176"/>
                        </a:lnTo>
                        <a:lnTo>
                          <a:pt x="13" y="1308"/>
                        </a:lnTo>
                        <a:lnTo>
                          <a:pt x="13" y="1445"/>
                        </a:lnTo>
                        <a:lnTo>
                          <a:pt x="13" y="1585"/>
                        </a:lnTo>
                        <a:lnTo>
                          <a:pt x="9" y="1720"/>
                        </a:lnTo>
                        <a:lnTo>
                          <a:pt x="13" y="1841"/>
                        </a:lnTo>
                        <a:lnTo>
                          <a:pt x="9" y="1959"/>
                        </a:lnTo>
                        <a:lnTo>
                          <a:pt x="0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2" name="Freeform 98"/>
                  <p:cNvSpPr>
                    <a:spLocks/>
                  </p:cNvSpPr>
                  <p:nvPr/>
                </p:nvSpPr>
                <p:spPr bwMode="auto">
                  <a:xfrm>
                    <a:off x="3910" y="837"/>
                    <a:ext cx="100" cy="584"/>
                  </a:xfrm>
                  <a:custGeom>
                    <a:avLst/>
                    <a:gdLst>
                      <a:gd name="T0" fmla="*/ 0 w 383"/>
                      <a:gd name="T1" fmla="*/ 0 h 2088"/>
                      <a:gd name="T2" fmla="*/ 0 w 383"/>
                      <a:gd name="T3" fmla="*/ 0 h 2088"/>
                      <a:gd name="T4" fmla="*/ 0 w 383"/>
                      <a:gd name="T5" fmla="*/ 0 h 2088"/>
                      <a:gd name="T6" fmla="*/ 0 w 383"/>
                      <a:gd name="T7" fmla="*/ 1 h 2088"/>
                      <a:gd name="T8" fmla="*/ 0 w 383"/>
                      <a:gd name="T9" fmla="*/ 1 h 2088"/>
                      <a:gd name="T10" fmla="*/ 0 w 383"/>
                      <a:gd name="T11" fmla="*/ 1 h 2088"/>
                      <a:gd name="T12" fmla="*/ 0 w 383"/>
                      <a:gd name="T13" fmla="*/ 1 h 2088"/>
                      <a:gd name="T14" fmla="*/ 0 w 383"/>
                      <a:gd name="T15" fmla="*/ 2 h 2088"/>
                      <a:gd name="T16" fmla="*/ 0 w 383"/>
                      <a:gd name="T17" fmla="*/ 2 h 2088"/>
                      <a:gd name="T18" fmla="*/ 0 w 383"/>
                      <a:gd name="T19" fmla="*/ 2 h 2088"/>
                      <a:gd name="T20" fmla="*/ 0 w 383"/>
                      <a:gd name="T21" fmla="*/ 2 h 2088"/>
                      <a:gd name="T22" fmla="*/ 0 w 383"/>
                      <a:gd name="T23" fmla="*/ 3 h 2088"/>
                      <a:gd name="T24" fmla="*/ 0 w 383"/>
                      <a:gd name="T25" fmla="*/ 3 h 2088"/>
                      <a:gd name="T26" fmla="*/ 0 w 383"/>
                      <a:gd name="T27" fmla="*/ 3 h 2088"/>
                      <a:gd name="T28" fmla="*/ 0 w 383"/>
                      <a:gd name="T29" fmla="*/ 3 h 2088"/>
                      <a:gd name="T30" fmla="*/ 0 w 383"/>
                      <a:gd name="T31" fmla="*/ 3 h 2088"/>
                      <a:gd name="T32" fmla="*/ 1 w 383"/>
                      <a:gd name="T33" fmla="*/ 4 h 2088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383"/>
                      <a:gd name="T52" fmla="*/ 0 h 2088"/>
                      <a:gd name="T53" fmla="*/ 383 w 383"/>
                      <a:gd name="T54" fmla="*/ 2088 h 2088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383" h="2088">
                        <a:moveTo>
                          <a:pt x="0" y="0"/>
                        </a:moveTo>
                        <a:lnTo>
                          <a:pt x="14" y="52"/>
                        </a:lnTo>
                        <a:lnTo>
                          <a:pt x="32" y="161"/>
                        </a:lnTo>
                        <a:lnTo>
                          <a:pt x="45" y="274"/>
                        </a:lnTo>
                        <a:lnTo>
                          <a:pt x="71" y="425"/>
                        </a:lnTo>
                        <a:lnTo>
                          <a:pt x="85" y="643"/>
                        </a:lnTo>
                        <a:lnTo>
                          <a:pt x="95" y="775"/>
                        </a:lnTo>
                        <a:lnTo>
                          <a:pt x="100" y="903"/>
                        </a:lnTo>
                        <a:lnTo>
                          <a:pt x="104" y="1029"/>
                        </a:lnTo>
                        <a:lnTo>
                          <a:pt x="113" y="1166"/>
                        </a:lnTo>
                        <a:lnTo>
                          <a:pt x="128" y="1299"/>
                        </a:lnTo>
                        <a:lnTo>
                          <a:pt x="150" y="1437"/>
                        </a:lnTo>
                        <a:lnTo>
                          <a:pt x="185" y="1582"/>
                        </a:lnTo>
                        <a:lnTo>
                          <a:pt x="217" y="1726"/>
                        </a:lnTo>
                        <a:lnTo>
                          <a:pt x="252" y="1839"/>
                        </a:lnTo>
                        <a:lnTo>
                          <a:pt x="303" y="1947"/>
                        </a:lnTo>
                        <a:lnTo>
                          <a:pt x="383" y="2088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3" name="Freeform 99"/>
                  <p:cNvSpPr>
                    <a:spLocks/>
                  </p:cNvSpPr>
                  <p:nvPr/>
                </p:nvSpPr>
                <p:spPr bwMode="auto">
                  <a:xfrm>
                    <a:off x="3914" y="839"/>
                    <a:ext cx="111" cy="589"/>
                  </a:xfrm>
                  <a:custGeom>
                    <a:avLst/>
                    <a:gdLst>
                      <a:gd name="T0" fmla="*/ 0 w 423"/>
                      <a:gd name="T1" fmla="*/ 0 h 2111"/>
                      <a:gd name="T2" fmla="*/ 0 w 423"/>
                      <a:gd name="T3" fmla="*/ 0 h 2111"/>
                      <a:gd name="T4" fmla="*/ 0 w 423"/>
                      <a:gd name="T5" fmla="*/ 0 h 2111"/>
                      <a:gd name="T6" fmla="*/ 0 w 423"/>
                      <a:gd name="T7" fmla="*/ 1 h 2111"/>
                      <a:gd name="T8" fmla="*/ 0 w 423"/>
                      <a:gd name="T9" fmla="*/ 1 h 2111"/>
                      <a:gd name="T10" fmla="*/ 0 w 423"/>
                      <a:gd name="T11" fmla="*/ 1 h 2111"/>
                      <a:gd name="T12" fmla="*/ 0 w 423"/>
                      <a:gd name="T13" fmla="*/ 1 h 2111"/>
                      <a:gd name="T14" fmla="*/ 0 w 423"/>
                      <a:gd name="T15" fmla="*/ 2 h 2111"/>
                      <a:gd name="T16" fmla="*/ 0 w 423"/>
                      <a:gd name="T17" fmla="*/ 2 h 2111"/>
                      <a:gd name="T18" fmla="*/ 0 w 423"/>
                      <a:gd name="T19" fmla="*/ 2 h 2111"/>
                      <a:gd name="T20" fmla="*/ 0 w 423"/>
                      <a:gd name="T21" fmla="*/ 2 h 2111"/>
                      <a:gd name="T22" fmla="*/ 0 w 423"/>
                      <a:gd name="T23" fmla="*/ 3 h 2111"/>
                      <a:gd name="T24" fmla="*/ 0 w 423"/>
                      <a:gd name="T25" fmla="*/ 3 h 2111"/>
                      <a:gd name="T26" fmla="*/ 0 w 423"/>
                      <a:gd name="T27" fmla="*/ 3 h 2111"/>
                      <a:gd name="T28" fmla="*/ 1 w 423"/>
                      <a:gd name="T29" fmla="*/ 3 h 2111"/>
                      <a:gd name="T30" fmla="*/ 1 w 423"/>
                      <a:gd name="T31" fmla="*/ 3 h 2111"/>
                      <a:gd name="T32" fmla="*/ 1 w 423"/>
                      <a:gd name="T33" fmla="*/ 4 h 2111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423"/>
                      <a:gd name="T52" fmla="*/ 0 h 2111"/>
                      <a:gd name="T53" fmla="*/ 423 w 423"/>
                      <a:gd name="T54" fmla="*/ 2111 h 2111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423" h="2111">
                        <a:moveTo>
                          <a:pt x="0" y="0"/>
                        </a:moveTo>
                        <a:lnTo>
                          <a:pt x="45" y="76"/>
                        </a:lnTo>
                        <a:lnTo>
                          <a:pt x="82" y="147"/>
                        </a:lnTo>
                        <a:lnTo>
                          <a:pt x="117" y="260"/>
                        </a:lnTo>
                        <a:lnTo>
                          <a:pt x="175" y="510"/>
                        </a:lnTo>
                        <a:lnTo>
                          <a:pt x="187" y="635"/>
                        </a:lnTo>
                        <a:lnTo>
                          <a:pt x="201" y="771"/>
                        </a:lnTo>
                        <a:lnTo>
                          <a:pt x="215" y="912"/>
                        </a:lnTo>
                        <a:lnTo>
                          <a:pt x="223" y="1044"/>
                        </a:lnTo>
                        <a:lnTo>
                          <a:pt x="223" y="1162"/>
                        </a:lnTo>
                        <a:lnTo>
                          <a:pt x="237" y="1301"/>
                        </a:lnTo>
                        <a:lnTo>
                          <a:pt x="251" y="1446"/>
                        </a:lnTo>
                        <a:lnTo>
                          <a:pt x="272" y="1583"/>
                        </a:lnTo>
                        <a:lnTo>
                          <a:pt x="290" y="1708"/>
                        </a:lnTo>
                        <a:lnTo>
                          <a:pt x="316" y="1844"/>
                        </a:lnTo>
                        <a:lnTo>
                          <a:pt x="352" y="1943"/>
                        </a:lnTo>
                        <a:lnTo>
                          <a:pt x="423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4" name="Freeform 100"/>
                  <p:cNvSpPr>
                    <a:spLocks/>
                  </p:cNvSpPr>
                  <p:nvPr/>
                </p:nvSpPr>
                <p:spPr bwMode="auto">
                  <a:xfrm>
                    <a:off x="3924" y="840"/>
                    <a:ext cx="110" cy="586"/>
                  </a:xfrm>
                  <a:custGeom>
                    <a:avLst/>
                    <a:gdLst>
                      <a:gd name="T0" fmla="*/ 0 w 419"/>
                      <a:gd name="T1" fmla="*/ 0 h 2101"/>
                      <a:gd name="T2" fmla="*/ 0 w 419"/>
                      <a:gd name="T3" fmla="*/ 0 h 2101"/>
                      <a:gd name="T4" fmla="*/ 0 w 419"/>
                      <a:gd name="T5" fmla="*/ 0 h 2101"/>
                      <a:gd name="T6" fmla="*/ 0 w 419"/>
                      <a:gd name="T7" fmla="*/ 1 h 2101"/>
                      <a:gd name="T8" fmla="*/ 0 w 419"/>
                      <a:gd name="T9" fmla="*/ 1 h 2101"/>
                      <a:gd name="T10" fmla="*/ 0 w 419"/>
                      <a:gd name="T11" fmla="*/ 1 h 2101"/>
                      <a:gd name="T12" fmla="*/ 0 w 419"/>
                      <a:gd name="T13" fmla="*/ 1 h 2101"/>
                      <a:gd name="T14" fmla="*/ 0 w 419"/>
                      <a:gd name="T15" fmla="*/ 1 h 2101"/>
                      <a:gd name="T16" fmla="*/ 1 w 419"/>
                      <a:gd name="T17" fmla="*/ 1 h 2101"/>
                      <a:gd name="T18" fmla="*/ 1 w 419"/>
                      <a:gd name="T19" fmla="*/ 2 h 2101"/>
                      <a:gd name="T20" fmla="*/ 1 w 419"/>
                      <a:gd name="T21" fmla="*/ 2 h 2101"/>
                      <a:gd name="T22" fmla="*/ 1 w 419"/>
                      <a:gd name="T23" fmla="*/ 2 h 2101"/>
                      <a:gd name="T24" fmla="*/ 1 w 419"/>
                      <a:gd name="T25" fmla="*/ 3 h 2101"/>
                      <a:gd name="T26" fmla="*/ 1 w 419"/>
                      <a:gd name="T27" fmla="*/ 3 h 2101"/>
                      <a:gd name="T28" fmla="*/ 1 w 419"/>
                      <a:gd name="T29" fmla="*/ 3 h 2101"/>
                      <a:gd name="T30" fmla="*/ 1 w 419"/>
                      <a:gd name="T31" fmla="*/ 3 h 2101"/>
                      <a:gd name="T32" fmla="*/ 1 w 419"/>
                      <a:gd name="T33" fmla="*/ 3 h 2101"/>
                      <a:gd name="T34" fmla="*/ 1 w 419"/>
                      <a:gd name="T35" fmla="*/ 3 h 2101"/>
                      <a:gd name="T36" fmla="*/ 1 w 419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19"/>
                      <a:gd name="T58" fmla="*/ 0 h 2101"/>
                      <a:gd name="T59" fmla="*/ 419 w 419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19" h="2101">
                        <a:moveTo>
                          <a:pt x="0" y="0"/>
                        </a:moveTo>
                        <a:lnTo>
                          <a:pt x="55" y="84"/>
                        </a:lnTo>
                        <a:lnTo>
                          <a:pt x="108" y="174"/>
                        </a:lnTo>
                        <a:lnTo>
                          <a:pt x="153" y="277"/>
                        </a:lnTo>
                        <a:lnTo>
                          <a:pt x="193" y="372"/>
                        </a:lnTo>
                        <a:lnTo>
                          <a:pt x="225" y="489"/>
                        </a:lnTo>
                        <a:lnTo>
                          <a:pt x="260" y="656"/>
                        </a:lnTo>
                        <a:lnTo>
                          <a:pt x="282" y="788"/>
                        </a:lnTo>
                        <a:lnTo>
                          <a:pt x="300" y="887"/>
                        </a:lnTo>
                        <a:lnTo>
                          <a:pt x="318" y="1038"/>
                        </a:lnTo>
                        <a:lnTo>
                          <a:pt x="318" y="1162"/>
                        </a:lnTo>
                        <a:lnTo>
                          <a:pt x="312" y="1313"/>
                        </a:lnTo>
                        <a:lnTo>
                          <a:pt x="322" y="1440"/>
                        </a:lnTo>
                        <a:lnTo>
                          <a:pt x="322" y="1572"/>
                        </a:lnTo>
                        <a:lnTo>
                          <a:pt x="330" y="1706"/>
                        </a:lnTo>
                        <a:lnTo>
                          <a:pt x="344" y="1828"/>
                        </a:lnTo>
                        <a:lnTo>
                          <a:pt x="366" y="1937"/>
                        </a:lnTo>
                        <a:lnTo>
                          <a:pt x="389" y="2024"/>
                        </a:lnTo>
                        <a:lnTo>
                          <a:pt x="419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5" name="Freeform 101"/>
                  <p:cNvSpPr>
                    <a:spLocks/>
                  </p:cNvSpPr>
                  <p:nvPr/>
                </p:nvSpPr>
                <p:spPr bwMode="auto">
                  <a:xfrm>
                    <a:off x="3933" y="841"/>
                    <a:ext cx="108" cy="585"/>
                  </a:xfrm>
                  <a:custGeom>
                    <a:avLst/>
                    <a:gdLst>
                      <a:gd name="T0" fmla="*/ 0 w 410"/>
                      <a:gd name="T1" fmla="*/ 0 h 2101"/>
                      <a:gd name="T2" fmla="*/ 0 w 410"/>
                      <a:gd name="T3" fmla="*/ 0 h 2101"/>
                      <a:gd name="T4" fmla="*/ 0 w 410"/>
                      <a:gd name="T5" fmla="*/ 0 h 2101"/>
                      <a:gd name="T6" fmla="*/ 0 w 410"/>
                      <a:gd name="T7" fmla="*/ 0 h 2101"/>
                      <a:gd name="T8" fmla="*/ 0 w 410"/>
                      <a:gd name="T9" fmla="*/ 1 h 2101"/>
                      <a:gd name="T10" fmla="*/ 0 w 410"/>
                      <a:gd name="T11" fmla="*/ 1 h 2101"/>
                      <a:gd name="T12" fmla="*/ 1 w 410"/>
                      <a:gd name="T13" fmla="*/ 1 h 2101"/>
                      <a:gd name="T14" fmla="*/ 1 w 410"/>
                      <a:gd name="T15" fmla="*/ 1 h 2101"/>
                      <a:gd name="T16" fmla="*/ 1 w 410"/>
                      <a:gd name="T17" fmla="*/ 1 h 2101"/>
                      <a:gd name="T18" fmla="*/ 1 w 410"/>
                      <a:gd name="T19" fmla="*/ 2 h 2101"/>
                      <a:gd name="T20" fmla="*/ 1 w 410"/>
                      <a:gd name="T21" fmla="*/ 2 h 2101"/>
                      <a:gd name="T22" fmla="*/ 1 w 410"/>
                      <a:gd name="T23" fmla="*/ 2 h 2101"/>
                      <a:gd name="T24" fmla="*/ 1 w 410"/>
                      <a:gd name="T25" fmla="*/ 3 h 2101"/>
                      <a:gd name="T26" fmla="*/ 1 w 410"/>
                      <a:gd name="T27" fmla="*/ 3 h 2101"/>
                      <a:gd name="T28" fmla="*/ 1 w 410"/>
                      <a:gd name="T29" fmla="*/ 3 h 2101"/>
                      <a:gd name="T30" fmla="*/ 1 w 410"/>
                      <a:gd name="T31" fmla="*/ 3 h 2101"/>
                      <a:gd name="T32" fmla="*/ 1 w 410"/>
                      <a:gd name="T33" fmla="*/ 3 h 2101"/>
                      <a:gd name="T34" fmla="*/ 1 w 410"/>
                      <a:gd name="T35" fmla="*/ 3 h 2101"/>
                      <a:gd name="T36" fmla="*/ 1 w 410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10"/>
                      <a:gd name="T58" fmla="*/ 0 h 2101"/>
                      <a:gd name="T59" fmla="*/ 410 w 410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10" h="2101">
                        <a:moveTo>
                          <a:pt x="0" y="0"/>
                        </a:moveTo>
                        <a:lnTo>
                          <a:pt x="63" y="65"/>
                        </a:lnTo>
                        <a:lnTo>
                          <a:pt x="116" y="136"/>
                        </a:lnTo>
                        <a:lnTo>
                          <a:pt x="186" y="250"/>
                        </a:lnTo>
                        <a:lnTo>
                          <a:pt x="235" y="367"/>
                        </a:lnTo>
                        <a:lnTo>
                          <a:pt x="289" y="499"/>
                        </a:lnTo>
                        <a:lnTo>
                          <a:pt x="333" y="633"/>
                        </a:lnTo>
                        <a:lnTo>
                          <a:pt x="364" y="774"/>
                        </a:lnTo>
                        <a:lnTo>
                          <a:pt x="386" y="902"/>
                        </a:lnTo>
                        <a:lnTo>
                          <a:pt x="396" y="1029"/>
                        </a:lnTo>
                        <a:lnTo>
                          <a:pt x="396" y="1151"/>
                        </a:lnTo>
                        <a:lnTo>
                          <a:pt x="396" y="1304"/>
                        </a:lnTo>
                        <a:lnTo>
                          <a:pt x="396" y="1432"/>
                        </a:lnTo>
                        <a:lnTo>
                          <a:pt x="392" y="1572"/>
                        </a:lnTo>
                        <a:lnTo>
                          <a:pt x="386" y="1710"/>
                        </a:lnTo>
                        <a:lnTo>
                          <a:pt x="392" y="1819"/>
                        </a:lnTo>
                        <a:lnTo>
                          <a:pt x="392" y="1928"/>
                        </a:lnTo>
                        <a:lnTo>
                          <a:pt x="396" y="2014"/>
                        </a:lnTo>
                        <a:lnTo>
                          <a:pt x="41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6" name="Freeform 102"/>
                  <p:cNvSpPr>
                    <a:spLocks/>
                  </p:cNvSpPr>
                  <p:nvPr/>
                </p:nvSpPr>
                <p:spPr bwMode="auto">
                  <a:xfrm>
                    <a:off x="3947" y="843"/>
                    <a:ext cx="125" cy="586"/>
                  </a:xfrm>
                  <a:custGeom>
                    <a:avLst/>
                    <a:gdLst>
                      <a:gd name="T0" fmla="*/ 0 w 475"/>
                      <a:gd name="T1" fmla="*/ 0 h 2101"/>
                      <a:gd name="T2" fmla="*/ 0 w 475"/>
                      <a:gd name="T3" fmla="*/ 0 h 2101"/>
                      <a:gd name="T4" fmla="*/ 0 w 475"/>
                      <a:gd name="T5" fmla="*/ 0 h 2101"/>
                      <a:gd name="T6" fmla="*/ 0 w 475"/>
                      <a:gd name="T7" fmla="*/ 1 h 2101"/>
                      <a:gd name="T8" fmla="*/ 0 w 475"/>
                      <a:gd name="T9" fmla="*/ 1 h 2101"/>
                      <a:gd name="T10" fmla="*/ 1 w 475"/>
                      <a:gd name="T11" fmla="*/ 1 h 2101"/>
                      <a:gd name="T12" fmla="*/ 1 w 475"/>
                      <a:gd name="T13" fmla="*/ 1 h 2101"/>
                      <a:gd name="T14" fmla="*/ 1 w 475"/>
                      <a:gd name="T15" fmla="*/ 1 h 2101"/>
                      <a:gd name="T16" fmla="*/ 1 w 475"/>
                      <a:gd name="T17" fmla="*/ 2 h 2101"/>
                      <a:gd name="T18" fmla="*/ 1 w 475"/>
                      <a:gd name="T19" fmla="*/ 2 h 2101"/>
                      <a:gd name="T20" fmla="*/ 1 w 475"/>
                      <a:gd name="T21" fmla="*/ 2 h 2101"/>
                      <a:gd name="T22" fmla="*/ 1 w 475"/>
                      <a:gd name="T23" fmla="*/ 2 h 2101"/>
                      <a:gd name="T24" fmla="*/ 1 w 475"/>
                      <a:gd name="T25" fmla="*/ 3 h 2101"/>
                      <a:gd name="T26" fmla="*/ 1 w 475"/>
                      <a:gd name="T27" fmla="*/ 3 h 2101"/>
                      <a:gd name="T28" fmla="*/ 1 w 475"/>
                      <a:gd name="T29" fmla="*/ 3 h 2101"/>
                      <a:gd name="T30" fmla="*/ 1 w 475"/>
                      <a:gd name="T31" fmla="*/ 3 h 2101"/>
                      <a:gd name="T32" fmla="*/ 1 w 475"/>
                      <a:gd name="T33" fmla="*/ 3 h 2101"/>
                      <a:gd name="T34" fmla="*/ 1 w 475"/>
                      <a:gd name="T35" fmla="*/ 3 h 2101"/>
                      <a:gd name="T36" fmla="*/ 1 w 475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75"/>
                      <a:gd name="T58" fmla="*/ 0 h 2101"/>
                      <a:gd name="T59" fmla="*/ 475 w 475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75" h="2101">
                        <a:moveTo>
                          <a:pt x="0" y="0"/>
                        </a:moveTo>
                        <a:lnTo>
                          <a:pt x="66" y="61"/>
                        </a:lnTo>
                        <a:lnTo>
                          <a:pt x="114" y="123"/>
                        </a:lnTo>
                        <a:lnTo>
                          <a:pt x="211" y="259"/>
                        </a:lnTo>
                        <a:lnTo>
                          <a:pt x="269" y="354"/>
                        </a:lnTo>
                        <a:lnTo>
                          <a:pt x="333" y="490"/>
                        </a:lnTo>
                        <a:lnTo>
                          <a:pt x="391" y="633"/>
                        </a:lnTo>
                        <a:lnTo>
                          <a:pt x="440" y="775"/>
                        </a:lnTo>
                        <a:lnTo>
                          <a:pt x="468" y="907"/>
                        </a:lnTo>
                        <a:lnTo>
                          <a:pt x="475" y="1020"/>
                        </a:lnTo>
                        <a:lnTo>
                          <a:pt x="475" y="1153"/>
                        </a:lnTo>
                        <a:lnTo>
                          <a:pt x="472" y="1276"/>
                        </a:lnTo>
                        <a:lnTo>
                          <a:pt x="454" y="1427"/>
                        </a:lnTo>
                        <a:lnTo>
                          <a:pt x="440" y="1549"/>
                        </a:lnTo>
                        <a:lnTo>
                          <a:pt x="427" y="1697"/>
                        </a:lnTo>
                        <a:lnTo>
                          <a:pt x="414" y="1825"/>
                        </a:lnTo>
                        <a:lnTo>
                          <a:pt x="405" y="1924"/>
                        </a:lnTo>
                        <a:lnTo>
                          <a:pt x="391" y="2019"/>
                        </a:lnTo>
                        <a:lnTo>
                          <a:pt x="379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7" name="Freeform 103"/>
                  <p:cNvSpPr>
                    <a:spLocks/>
                  </p:cNvSpPr>
                  <p:nvPr/>
                </p:nvSpPr>
                <p:spPr bwMode="auto">
                  <a:xfrm>
                    <a:off x="3633" y="834"/>
                    <a:ext cx="1208" cy="596"/>
                  </a:xfrm>
                  <a:custGeom>
                    <a:avLst/>
                    <a:gdLst>
                      <a:gd name="T0" fmla="*/ 2 w 4613"/>
                      <a:gd name="T1" fmla="*/ 0 h 2136"/>
                      <a:gd name="T2" fmla="*/ 2 w 4613"/>
                      <a:gd name="T3" fmla="*/ 0 h 2136"/>
                      <a:gd name="T4" fmla="*/ 1 w 4613"/>
                      <a:gd name="T5" fmla="*/ 0 h 2136"/>
                      <a:gd name="T6" fmla="*/ 1 w 4613"/>
                      <a:gd name="T7" fmla="*/ 0 h 2136"/>
                      <a:gd name="T8" fmla="*/ 0 w 4613"/>
                      <a:gd name="T9" fmla="*/ 1 h 2136"/>
                      <a:gd name="T10" fmla="*/ 0 w 4613"/>
                      <a:gd name="T11" fmla="*/ 1 h 2136"/>
                      <a:gd name="T12" fmla="*/ 0 w 4613"/>
                      <a:gd name="T13" fmla="*/ 2 h 2136"/>
                      <a:gd name="T14" fmla="*/ 0 w 4613"/>
                      <a:gd name="T15" fmla="*/ 2 h 2136"/>
                      <a:gd name="T16" fmla="*/ 0 w 4613"/>
                      <a:gd name="T17" fmla="*/ 3 h 2136"/>
                      <a:gd name="T18" fmla="*/ 0 w 4613"/>
                      <a:gd name="T19" fmla="*/ 3 h 2136"/>
                      <a:gd name="T20" fmla="*/ 0 w 4613"/>
                      <a:gd name="T21" fmla="*/ 4 h 2136"/>
                      <a:gd name="T22" fmla="*/ 1 w 4613"/>
                      <a:gd name="T23" fmla="*/ 3 h 2136"/>
                      <a:gd name="T24" fmla="*/ 1 w 4613"/>
                      <a:gd name="T25" fmla="*/ 3 h 2136"/>
                      <a:gd name="T26" fmla="*/ 1 w 4613"/>
                      <a:gd name="T27" fmla="*/ 3 h 2136"/>
                      <a:gd name="T28" fmla="*/ 1 w 4613"/>
                      <a:gd name="T29" fmla="*/ 2 h 2136"/>
                      <a:gd name="T30" fmla="*/ 1 w 4613"/>
                      <a:gd name="T31" fmla="*/ 3 h 2136"/>
                      <a:gd name="T32" fmla="*/ 2 w 4613"/>
                      <a:gd name="T33" fmla="*/ 4 h 2136"/>
                      <a:gd name="T34" fmla="*/ 2 w 4613"/>
                      <a:gd name="T35" fmla="*/ 4 h 2136"/>
                      <a:gd name="T36" fmla="*/ 2 w 4613"/>
                      <a:gd name="T37" fmla="*/ 3 h 2136"/>
                      <a:gd name="T38" fmla="*/ 3 w 4613"/>
                      <a:gd name="T39" fmla="*/ 2 h 2136"/>
                      <a:gd name="T40" fmla="*/ 3 w 4613"/>
                      <a:gd name="T41" fmla="*/ 3 h 2136"/>
                      <a:gd name="T42" fmla="*/ 3 w 4613"/>
                      <a:gd name="T43" fmla="*/ 4 h 2136"/>
                      <a:gd name="T44" fmla="*/ 3 w 4613"/>
                      <a:gd name="T45" fmla="*/ 4 h 2136"/>
                      <a:gd name="T46" fmla="*/ 4 w 4613"/>
                      <a:gd name="T47" fmla="*/ 3 h 2136"/>
                      <a:gd name="T48" fmla="*/ 4 w 4613"/>
                      <a:gd name="T49" fmla="*/ 3 h 2136"/>
                      <a:gd name="T50" fmla="*/ 4 w 4613"/>
                      <a:gd name="T51" fmla="*/ 2 h 2136"/>
                      <a:gd name="T52" fmla="*/ 4 w 4613"/>
                      <a:gd name="T53" fmla="*/ 3 h 2136"/>
                      <a:gd name="T54" fmla="*/ 5 w 4613"/>
                      <a:gd name="T55" fmla="*/ 3 h 2136"/>
                      <a:gd name="T56" fmla="*/ 5 w 4613"/>
                      <a:gd name="T57" fmla="*/ 4 h 2136"/>
                      <a:gd name="T58" fmla="*/ 5 w 4613"/>
                      <a:gd name="T59" fmla="*/ 3 h 2136"/>
                      <a:gd name="T60" fmla="*/ 5 w 4613"/>
                      <a:gd name="T61" fmla="*/ 3 h 2136"/>
                      <a:gd name="T62" fmla="*/ 6 w 4613"/>
                      <a:gd name="T63" fmla="*/ 2 h 2136"/>
                      <a:gd name="T64" fmla="*/ 5 w 4613"/>
                      <a:gd name="T65" fmla="*/ 1 h 2136"/>
                      <a:gd name="T66" fmla="*/ 5 w 4613"/>
                      <a:gd name="T67" fmla="*/ 1 h 2136"/>
                      <a:gd name="T68" fmla="*/ 5 w 4613"/>
                      <a:gd name="T69" fmla="*/ 0 h 2136"/>
                      <a:gd name="T70" fmla="*/ 4 w 4613"/>
                      <a:gd name="T71" fmla="*/ 0 h 2136"/>
                      <a:gd name="T72" fmla="*/ 3 w 4613"/>
                      <a:gd name="T73" fmla="*/ 0 h 2136"/>
                      <a:gd name="T74" fmla="*/ 3 w 4613"/>
                      <a:gd name="T75" fmla="*/ 0 h 2136"/>
                      <a:gd name="T76" fmla="*/ 3 w 4613"/>
                      <a:gd name="T77" fmla="*/ 1 h 2136"/>
                      <a:gd name="T78" fmla="*/ 3 w 4613"/>
                      <a:gd name="T79" fmla="*/ 1 h 2136"/>
                      <a:gd name="T80" fmla="*/ 2 w 4613"/>
                      <a:gd name="T81" fmla="*/ 1 h 2136"/>
                      <a:gd name="T82" fmla="*/ 2 w 4613"/>
                      <a:gd name="T83" fmla="*/ 1 h 2136"/>
                      <a:gd name="T84" fmla="*/ 2 w 4613"/>
                      <a:gd name="T85" fmla="*/ 1 h 21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4613"/>
                      <a:gd name="T130" fmla="*/ 0 h 2136"/>
                      <a:gd name="T131" fmla="*/ 4613 w 4613"/>
                      <a:gd name="T132" fmla="*/ 2136 h 21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4613" h="2136">
                        <a:moveTo>
                          <a:pt x="1744" y="315"/>
                        </a:moveTo>
                        <a:lnTo>
                          <a:pt x="1659" y="226"/>
                        </a:lnTo>
                        <a:lnTo>
                          <a:pt x="1570" y="155"/>
                        </a:lnTo>
                        <a:lnTo>
                          <a:pt x="1455" y="94"/>
                        </a:lnTo>
                        <a:lnTo>
                          <a:pt x="1330" y="50"/>
                        </a:lnTo>
                        <a:lnTo>
                          <a:pt x="1215" y="27"/>
                        </a:lnTo>
                        <a:lnTo>
                          <a:pt x="1089" y="13"/>
                        </a:lnTo>
                        <a:lnTo>
                          <a:pt x="982" y="13"/>
                        </a:lnTo>
                        <a:lnTo>
                          <a:pt x="866" y="23"/>
                        </a:lnTo>
                        <a:lnTo>
                          <a:pt x="728" y="65"/>
                        </a:lnTo>
                        <a:lnTo>
                          <a:pt x="617" y="136"/>
                        </a:lnTo>
                        <a:lnTo>
                          <a:pt x="520" y="212"/>
                        </a:lnTo>
                        <a:lnTo>
                          <a:pt x="435" y="287"/>
                        </a:lnTo>
                        <a:lnTo>
                          <a:pt x="345" y="376"/>
                        </a:lnTo>
                        <a:lnTo>
                          <a:pt x="262" y="476"/>
                        </a:lnTo>
                        <a:lnTo>
                          <a:pt x="193" y="572"/>
                        </a:lnTo>
                        <a:lnTo>
                          <a:pt x="130" y="662"/>
                        </a:lnTo>
                        <a:lnTo>
                          <a:pt x="78" y="747"/>
                        </a:lnTo>
                        <a:lnTo>
                          <a:pt x="40" y="826"/>
                        </a:lnTo>
                        <a:lnTo>
                          <a:pt x="12" y="910"/>
                        </a:lnTo>
                        <a:lnTo>
                          <a:pt x="0" y="1023"/>
                        </a:lnTo>
                        <a:lnTo>
                          <a:pt x="0" y="1139"/>
                        </a:lnTo>
                        <a:lnTo>
                          <a:pt x="7" y="1251"/>
                        </a:lnTo>
                        <a:lnTo>
                          <a:pt x="20" y="1354"/>
                        </a:lnTo>
                        <a:lnTo>
                          <a:pt x="34" y="1471"/>
                        </a:lnTo>
                        <a:lnTo>
                          <a:pt x="52" y="1610"/>
                        </a:lnTo>
                        <a:lnTo>
                          <a:pt x="77" y="1748"/>
                        </a:lnTo>
                        <a:lnTo>
                          <a:pt x="105" y="1871"/>
                        </a:lnTo>
                        <a:lnTo>
                          <a:pt x="137" y="1958"/>
                        </a:lnTo>
                        <a:lnTo>
                          <a:pt x="175" y="2025"/>
                        </a:lnTo>
                        <a:lnTo>
                          <a:pt x="221" y="2086"/>
                        </a:lnTo>
                        <a:lnTo>
                          <a:pt x="270" y="2125"/>
                        </a:lnTo>
                        <a:lnTo>
                          <a:pt x="314" y="2128"/>
                        </a:lnTo>
                        <a:lnTo>
                          <a:pt x="399" y="2114"/>
                        </a:lnTo>
                        <a:lnTo>
                          <a:pt x="491" y="2080"/>
                        </a:lnTo>
                        <a:lnTo>
                          <a:pt x="576" y="2038"/>
                        </a:lnTo>
                        <a:lnTo>
                          <a:pt x="637" y="1987"/>
                        </a:lnTo>
                        <a:lnTo>
                          <a:pt x="714" y="1910"/>
                        </a:lnTo>
                        <a:lnTo>
                          <a:pt x="783" y="1818"/>
                        </a:lnTo>
                        <a:lnTo>
                          <a:pt x="849" y="1693"/>
                        </a:lnTo>
                        <a:lnTo>
                          <a:pt x="916" y="1561"/>
                        </a:lnTo>
                        <a:lnTo>
                          <a:pt x="971" y="1441"/>
                        </a:lnTo>
                        <a:lnTo>
                          <a:pt x="1009" y="1338"/>
                        </a:lnTo>
                        <a:lnTo>
                          <a:pt x="1034" y="1256"/>
                        </a:lnTo>
                        <a:lnTo>
                          <a:pt x="1045" y="1184"/>
                        </a:lnTo>
                        <a:lnTo>
                          <a:pt x="1067" y="1366"/>
                        </a:lnTo>
                        <a:lnTo>
                          <a:pt x="1124" y="1571"/>
                        </a:lnTo>
                        <a:lnTo>
                          <a:pt x="1197" y="1799"/>
                        </a:lnTo>
                        <a:lnTo>
                          <a:pt x="1250" y="1905"/>
                        </a:lnTo>
                        <a:lnTo>
                          <a:pt x="1308" y="1996"/>
                        </a:lnTo>
                        <a:lnTo>
                          <a:pt x="1397" y="2082"/>
                        </a:lnTo>
                        <a:lnTo>
                          <a:pt x="1499" y="2128"/>
                        </a:lnTo>
                        <a:lnTo>
                          <a:pt x="1584" y="2136"/>
                        </a:lnTo>
                        <a:lnTo>
                          <a:pt x="1669" y="2120"/>
                        </a:lnTo>
                        <a:lnTo>
                          <a:pt x="1735" y="2072"/>
                        </a:lnTo>
                        <a:lnTo>
                          <a:pt x="1810" y="1977"/>
                        </a:lnTo>
                        <a:lnTo>
                          <a:pt x="1873" y="1845"/>
                        </a:lnTo>
                        <a:lnTo>
                          <a:pt x="1953" y="1633"/>
                        </a:lnTo>
                        <a:lnTo>
                          <a:pt x="2024" y="1424"/>
                        </a:lnTo>
                        <a:lnTo>
                          <a:pt x="2064" y="1216"/>
                        </a:lnTo>
                        <a:lnTo>
                          <a:pt x="2086" y="1408"/>
                        </a:lnTo>
                        <a:lnTo>
                          <a:pt x="2139" y="1594"/>
                        </a:lnTo>
                        <a:lnTo>
                          <a:pt x="2188" y="1738"/>
                        </a:lnTo>
                        <a:lnTo>
                          <a:pt x="2242" y="1863"/>
                        </a:lnTo>
                        <a:lnTo>
                          <a:pt x="2309" y="1969"/>
                        </a:lnTo>
                        <a:lnTo>
                          <a:pt x="2367" y="2051"/>
                        </a:lnTo>
                        <a:lnTo>
                          <a:pt x="2450" y="2105"/>
                        </a:lnTo>
                        <a:lnTo>
                          <a:pt x="2561" y="2124"/>
                        </a:lnTo>
                        <a:lnTo>
                          <a:pt x="2674" y="2114"/>
                        </a:lnTo>
                        <a:lnTo>
                          <a:pt x="2771" y="2080"/>
                        </a:lnTo>
                        <a:lnTo>
                          <a:pt x="2855" y="2025"/>
                        </a:lnTo>
                        <a:lnTo>
                          <a:pt x="2940" y="1944"/>
                        </a:lnTo>
                        <a:lnTo>
                          <a:pt x="3025" y="1829"/>
                        </a:lnTo>
                        <a:lnTo>
                          <a:pt x="3104" y="1709"/>
                        </a:lnTo>
                        <a:lnTo>
                          <a:pt x="3172" y="1592"/>
                        </a:lnTo>
                        <a:lnTo>
                          <a:pt x="3229" y="1485"/>
                        </a:lnTo>
                        <a:lnTo>
                          <a:pt x="3269" y="1382"/>
                        </a:lnTo>
                        <a:lnTo>
                          <a:pt x="3305" y="1250"/>
                        </a:lnTo>
                        <a:lnTo>
                          <a:pt x="3362" y="1386"/>
                        </a:lnTo>
                        <a:lnTo>
                          <a:pt x="3420" y="1527"/>
                        </a:lnTo>
                        <a:lnTo>
                          <a:pt x="3493" y="1662"/>
                        </a:lnTo>
                        <a:lnTo>
                          <a:pt x="3546" y="1764"/>
                        </a:lnTo>
                        <a:lnTo>
                          <a:pt x="3627" y="1874"/>
                        </a:lnTo>
                        <a:lnTo>
                          <a:pt x="3724" y="1976"/>
                        </a:lnTo>
                        <a:lnTo>
                          <a:pt x="3831" y="2057"/>
                        </a:lnTo>
                        <a:lnTo>
                          <a:pt x="3956" y="2104"/>
                        </a:lnTo>
                        <a:lnTo>
                          <a:pt x="4093" y="2128"/>
                        </a:lnTo>
                        <a:lnTo>
                          <a:pt x="4196" y="2095"/>
                        </a:lnTo>
                        <a:lnTo>
                          <a:pt x="4280" y="2034"/>
                        </a:lnTo>
                        <a:lnTo>
                          <a:pt x="4362" y="1915"/>
                        </a:lnTo>
                        <a:lnTo>
                          <a:pt x="4436" y="1789"/>
                        </a:lnTo>
                        <a:lnTo>
                          <a:pt x="4489" y="1648"/>
                        </a:lnTo>
                        <a:lnTo>
                          <a:pt x="4543" y="1481"/>
                        </a:lnTo>
                        <a:lnTo>
                          <a:pt x="4584" y="1333"/>
                        </a:lnTo>
                        <a:lnTo>
                          <a:pt x="4605" y="1203"/>
                        </a:lnTo>
                        <a:lnTo>
                          <a:pt x="4613" y="1052"/>
                        </a:lnTo>
                        <a:lnTo>
                          <a:pt x="4595" y="939"/>
                        </a:lnTo>
                        <a:lnTo>
                          <a:pt x="4502" y="792"/>
                        </a:lnTo>
                        <a:lnTo>
                          <a:pt x="4369" y="656"/>
                        </a:lnTo>
                        <a:lnTo>
                          <a:pt x="4196" y="518"/>
                        </a:lnTo>
                        <a:lnTo>
                          <a:pt x="4071" y="428"/>
                        </a:lnTo>
                        <a:lnTo>
                          <a:pt x="4204" y="428"/>
                        </a:lnTo>
                        <a:lnTo>
                          <a:pt x="4121" y="344"/>
                        </a:lnTo>
                        <a:lnTo>
                          <a:pt x="3986" y="262"/>
                        </a:lnTo>
                        <a:lnTo>
                          <a:pt x="3815" y="188"/>
                        </a:lnTo>
                        <a:lnTo>
                          <a:pt x="3639" y="126"/>
                        </a:lnTo>
                        <a:lnTo>
                          <a:pt x="3472" y="79"/>
                        </a:lnTo>
                        <a:lnTo>
                          <a:pt x="3296" y="42"/>
                        </a:lnTo>
                        <a:lnTo>
                          <a:pt x="3124" y="13"/>
                        </a:lnTo>
                        <a:lnTo>
                          <a:pt x="2908" y="0"/>
                        </a:lnTo>
                        <a:lnTo>
                          <a:pt x="2718" y="0"/>
                        </a:lnTo>
                        <a:lnTo>
                          <a:pt x="2544" y="8"/>
                        </a:lnTo>
                        <a:lnTo>
                          <a:pt x="2424" y="42"/>
                        </a:lnTo>
                        <a:lnTo>
                          <a:pt x="2317" y="94"/>
                        </a:lnTo>
                        <a:lnTo>
                          <a:pt x="2224" y="164"/>
                        </a:lnTo>
                        <a:lnTo>
                          <a:pt x="2131" y="249"/>
                        </a:lnTo>
                        <a:lnTo>
                          <a:pt x="2077" y="325"/>
                        </a:lnTo>
                        <a:lnTo>
                          <a:pt x="2157" y="325"/>
                        </a:lnTo>
                        <a:lnTo>
                          <a:pt x="2099" y="386"/>
                        </a:lnTo>
                        <a:lnTo>
                          <a:pt x="2042" y="466"/>
                        </a:lnTo>
                        <a:lnTo>
                          <a:pt x="1980" y="561"/>
                        </a:lnTo>
                        <a:lnTo>
                          <a:pt x="1917" y="665"/>
                        </a:lnTo>
                        <a:lnTo>
                          <a:pt x="1863" y="788"/>
                        </a:lnTo>
                        <a:lnTo>
                          <a:pt x="1820" y="948"/>
                        </a:lnTo>
                        <a:lnTo>
                          <a:pt x="1774" y="784"/>
                        </a:lnTo>
                        <a:lnTo>
                          <a:pt x="1726" y="665"/>
                        </a:lnTo>
                        <a:lnTo>
                          <a:pt x="1663" y="534"/>
                        </a:lnTo>
                        <a:lnTo>
                          <a:pt x="1602" y="424"/>
                        </a:lnTo>
                        <a:lnTo>
                          <a:pt x="1516" y="315"/>
                        </a:lnTo>
                        <a:lnTo>
                          <a:pt x="1744" y="31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8" name="Line 104"/>
                  <p:cNvSpPr>
                    <a:spLocks noChangeShapeType="1"/>
                  </p:cNvSpPr>
                  <p:nvPr/>
                </p:nvSpPr>
                <p:spPr bwMode="auto">
                  <a:xfrm>
                    <a:off x="3684" y="1406"/>
                    <a:ext cx="9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58519" name="Group 105"/>
                  <p:cNvGrpSpPr>
                    <a:grpSpLocks/>
                  </p:cNvGrpSpPr>
                  <p:nvPr/>
                </p:nvGrpSpPr>
                <p:grpSpPr bwMode="auto">
                  <a:xfrm>
                    <a:off x="3659" y="1352"/>
                    <a:ext cx="464" cy="29"/>
                    <a:chOff x="1741" y="2997"/>
                    <a:chExt cx="885" cy="52"/>
                  </a:xfrm>
                </p:grpSpPr>
                <p:sp>
                  <p:nvSpPr>
                    <p:cNvPr id="58618" name="Line 10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41" y="2997"/>
                      <a:ext cx="331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19" name="Line 10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60" y="3048"/>
                      <a:ext cx="265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20" name="Line 10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2997"/>
                      <a:ext cx="322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21" name="Line 10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37" y="3048"/>
                      <a:ext cx="267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58520" name="Line 110"/>
                  <p:cNvSpPr>
                    <a:spLocks noChangeShapeType="1"/>
                  </p:cNvSpPr>
                  <p:nvPr/>
                </p:nvSpPr>
                <p:spPr bwMode="auto">
                  <a:xfrm>
                    <a:off x="4179" y="1203"/>
                    <a:ext cx="31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21" name="Line 111"/>
                  <p:cNvSpPr>
                    <a:spLocks noChangeShapeType="1"/>
                  </p:cNvSpPr>
                  <p:nvPr/>
                </p:nvSpPr>
                <p:spPr bwMode="auto">
                  <a:xfrm>
                    <a:off x="4183" y="1240"/>
                    <a:ext cx="296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22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4196" y="1283"/>
                    <a:ext cx="26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23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4210" y="1319"/>
                    <a:ext cx="233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58524" name="Group 114"/>
                  <p:cNvGrpSpPr>
                    <a:grpSpLocks/>
                  </p:cNvGrpSpPr>
                  <p:nvPr/>
                </p:nvGrpSpPr>
                <p:grpSpPr bwMode="auto">
                  <a:xfrm>
                    <a:off x="3668" y="835"/>
                    <a:ext cx="1167" cy="594"/>
                    <a:chOff x="1758" y="2070"/>
                    <a:chExt cx="2229" cy="1063"/>
                  </a:xfrm>
                </p:grpSpPr>
                <p:sp>
                  <p:nvSpPr>
                    <p:cNvPr id="58604" name="Freeform 115"/>
                    <p:cNvSpPr>
                      <a:spLocks/>
                    </p:cNvSpPr>
                    <p:nvPr/>
                  </p:nvSpPr>
                  <p:spPr bwMode="auto">
                    <a:xfrm>
                      <a:off x="1758" y="2081"/>
                      <a:ext cx="356" cy="1036"/>
                    </a:xfrm>
                    <a:custGeom>
                      <a:avLst/>
                      <a:gdLst>
                        <a:gd name="T0" fmla="*/ 23 w 712"/>
                        <a:gd name="T1" fmla="*/ 0 h 2072"/>
                        <a:gd name="T2" fmla="*/ 20 w 712"/>
                        <a:gd name="T3" fmla="*/ 2 h 2072"/>
                        <a:gd name="T4" fmla="*/ 16 w 712"/>
                        <a:gd name="T5" fmla="*/ 5 h 2072"/>
                        <a:gd name="T6" fmla="*/ 12 w 712"/>
                        <a:gd name="T7" fmla="*/ 8 h 2072"/>
                        <a:gd name="T8" fmla="*/ 10 w 712"/>
                        <a:gd name="T9" fmla="*/ 11 h 2072"/>
                        <a:gd name="T10" fmla="*/ 7 w 712"/>
                        <a:gd name="T11" fmla="*/ 16 h 2072"/>
                        <a:gd name="T12" fmla="*/ 4 w 712"/>
                        <a:gd name="T13" fmla="*/ 20 h 2072"/>
                        <a:gd name="T14" fmla="*/ 3 w 712"/>
                        <a:gd name="T15" fmla="*/ 24 h 2072"/>
                        <a:gd name="T16" fmla="*/ 1 w 712"/>
                        <a:gd name="T17" fmla="*/ 28 h 2072"/>
                        <a:gd name="T18" fmla="*/ 0 w 712"/>
                        <a:gd name="T19" fmla="*/ 32 h 2072"/>
                        <a:gd name="T20" fmla="*/ 0 w 712"/>
                        <a:gd name="T21" fmla="*/ 36 h 2072"/>
                        <a:gd name="T22" fmla="*/ 1 w 712"/>
                        <a:gd name="T23" fmla="*/ 40 h 2072"/>
                        <a:gd name="T24" fmla="*/ 1 w 712"/>
                        <a:gd name="T25" fmla="*/ 45 h 2072"/>
                        <a:gd name="T26" fmla="*/ 1 w 712"/>
                        <a:gd name="T27" fmla="*/ 50 h 2072"/>
                        <a:gd name="T28" fmla="*/ 2 w 712"/>
                        <a:gd name="T29" fmla="*/ 54 h 2072"/>
                        <a:gd name="T30" fmla="*/ 2 w 712"/>
                        <a:gd name="T31" fmla="*/ 57 h 2072"/>
                        <a:gd name="T32" fmla="*/ 3 w 712"/>
                        <a:gd name="T33" fmla="*/ 61 h 2072"/>
                        <a:gd name="T34" fmla="*/ 4 w 712"/>
                        <a:gd name="T35" fmla="*/ 65 h 2072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w 712"/>
                        <a:gd name="T55" fmla="*/ 0 h 2072"/>
                        <a:gd name="T56" fmla="*/ 712 w 712"/>
                        <a:gd name="T57" fmla="*/ 2072 h 2072"/>
                      </a:gdLst>
                      <a:ahLst/>
                      <a:cxnLst>
                        <a:cxn ang="T36">
                          <a:pos x="T0" y="T1"/>
                        </a:cxn>
                        <a:cxn ang="T37">
                          <a:pos x="T2" y="T3"/>
                        </a:cxn>
                        <a:cxn ang="T38">
                          <a:pos x="T4" y="T5"/>
                        </a:cxn>
                        <a:cxn ang="T39">
                          <a:pos x="T6" y="T7"/>
                        </a:cxn>
                        <a:cxn ang="T40">
                          <a:pos x="T8" y="T9"/>
                        </a:cxn>
                        <a:cxn ang="T41">
                          <a:pos x="T10" y="T11"/>
                        </a:cxn>
                        <a:cxn ang="T42">
                          <a:pos x="T12" y="T13"/>
                        </a:cxn>
                        <a:cxn ang="T43">
                          <a:pos x="T14" y="T15"/>
                        </a:cxn>
                        <a:cxn ang="T44">
                          <a:pos x="T16" y="T17"/>
                        </a:cxn>
                        <a:cxn ang="T45">
                          <a:pos x="T18" y="T19"/>
                        </a:cxn>
                        <a:cxn ang="T46">
                          <a:pos x="T20" y="T21"/>
                        </a:cxn>
                        <a:cxn ang="T47">
                          <a:pos x="T22" y="T23"/>
                        </a:cxn>
                        <a:cxn ang="T48">
                          <a:pos x="T24" y="T25"/>
                        </a:cxn>
                        <a:cxn ang="T49">
                          <a:pos x="T26" y="T27"/>
                        </a:cxn>
                        <a:cxn ang="T50">
                          <a:pos x="T28" y="T29"/>
                        </a:cxn>
                        <a:cxn ang="T51">
                          <a:pos x="T30" y="T31"/>
                        </a:cxn>
                        <a:cxn ang="T52">
                          <a:pos x="T32" y="T33"/>
                        </a:cxn>
                        <a:cxn ang="T53">
                          <a:pos x="T34" y="T35"/>
                        </a:cxn>
                      </a:cxnLst>
                      <a:rect l="T54" t="T55" r="T56" b="T57"/>
                      <a:pathLst>
                        <a:path w="712" h="2072">
                          <a:moveTo>
                            <a:pt x="712" y="0"/>
                          </a:moveTo>
                          <a:lnTo>
                            <a:pt x="622" y="52"/>
                          </a:lnTo>
                          <a:lnTo>
                            <a:pt x="494" y="141"/>
                          </a:lnTo>
                          <a:lnTo>
                            <a:pt x="387" y="241"/>
                          </a:lnTo>
                          <a:lnTo>
                            <a:pt x="297" y="355"/>
                          </a:lnTo>
                          <a:lnTo>
                            <a:pt x="212" y="485"/>
                          </a:lnTo>
                          <a:lnTo>
                            <a:pt x="125" y="629"/>
                          </a:lnTo>
                          <a:lnTo>
                            <a:pt x="66" y="757"/>
                          </a:lnTo>
                          <a:lnTo>
                            <a:pt x="14" y="893"/>
                          </a:lnTo>
                          <a:lnTo>
                            <a:pt x="0" y="1015"/>
                          </a:lnTo>
                          <a:lnTo>
                            <a:pt x="0" y="1152"/>
                          </a:lnTo>
                          <a:lnTo>
                            <a:pt x="4" y="1280"/>
                          </a:lnTo>
                          <a:lnTo>
                            <a:pt x="14" y="1426"/>
                          </a:lnTo>
                          <a:lnTo>
                            <a:pt x="26" y="1576"/>
                          </a:lnTo>
                          <a:lnTo>
                            <a:pt x="40" y="1711"/>
                          </a:lnTo>
                          <a:lnTo>
                            <a:pt x="48" y="1827"/>
                          </a:lnTo>
                          <a:lnTo>
                            <a:pt x="66" y="1926"/>
                          </a:lnTo>
                          <a:lnTo>
                            <a:pt x="111" y="2072"/>
                          </a:lnTo>
                        </a:path>
                      </a:pathLst>
                    </a:custGeom>
                    <a:noFill/>
                    <a:ln w="7938">
                      <a:solidFill>
                        <a:schemeClr val="folHlink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05" name="Freeform 116"/>
                    <p:cNvSpPr>
                      <a:spLocks/>
                    </p:cNvSpPr>
                    <p:nvPr/>
                  </p:nvSpPr>
                  <p:spPr bwMode="auto">
                    <a:xfrm>
                      <a:off x="3263" y="2077"/>
                      <a:ext cx="482" cy="1051"/>
                    </a:xfrm>
                    <a:custGeom>
                      <a:avLst/>
                      <a:gdLst>
                        <a:gd name="T0" fmla="*/ 0 w 963"/>
                        <a:gd name="T1" fmla="*/ 0 h 2101"/>
                        <a:gd name="T2" fmla="*/ 5 w 963"/>
                        <a:gd name="T3" fmla="*/ 3 h 2101"/>
                        <a:gd name="T4" fmla="*/ 9 w 963"/>
                        <a:gd name="T5" fmla="*/ 6 h 2101"/>
                        <a:gd name="T6" fmla="*/ 12 w 963"/>
                        <a:gd name="T7" fmla="*/ 9 h 2101"/>
                        <a:gd name="T8" fmla="*/ 14 w 963"/>
                        <a:gd name="T9" fmla="*/ 12 h 2101"/>
                        <a:gd name="T10" fmla="*/ 18 w 963"/>
                        <a:gd name="T11" fmla="*/ 16 h 2101"/>
                        <a:gd name="T12" fmla="*/ 22 w 963"/>
                        <a:gd name="T13" fmla="*/ 21 h 2101"/>
                        <a:gd name="T14" fmla="*/ 24 w 963"/>
                        <a:gd name="T15" fmla="*/ 25 h 2101"/>
                        <a:gd name="T16" fmla="*/ 26 w 963"/>
                        <a:gd name="T17" fmla="*/ 29 h 2101"/>
                        <a:gd name="T18" fmla="*/ 26 w 963"/>
                        <a:gd name="T19" fmla="*/ 33 h 2101"/>
                        <a:gd name="T20" fmla="*/ 26 w 963"/>
                        <a:gd name="T21" fmla="*/ 37 h 2101"/>
                        <a:gd name="T22" fmla="*/ 27 w 963"/>
                        <a:gd name="T23" fmla="*/ 41 h 2101"/>
                        <a:gd name="T24" fmla="*/ 27 w 963"/>
                        <a:gd name="T25" fmla="*/ 46 h 2101"/>
                        <a:gd name="T26" fmla="*/ 27 w 963"/>
                        <a:gd name="T27" fmla="*/ 50 h 2101"/>
                        <a:gd name="T28" fmla="*/ 28 w 963"/>
                        <a:gd name="T29" fmla="*/ 54 h 2101"/>
                        <a:gd name="T30" fmla="*/ 28 w 963"/>
                        <a:gd name="T31" fmla="*/ 58 h 2101"/>
                        <a:gd name="T32" fmla="*/ 29 w 963"/>
                        <a:gd name="T33" fmla="*/ 63 h 2101"/>
                        <a:gd name="T34" fmla="*/ 31 w 963"/>
                        <a:gd name="T35" fmla="*/ 66 h 2101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w 963"/>
                        <a:gd name="T55" fmla="*/ 0 h 2101"/>
                        <a:gd name="T56" fmla="*/ 963 w 963"/>
                        <a:gd name="T57" fmla="*/ 2101 h 2101"/>
                      </a:gdLst>
                      <a:ahLst/>
                      <a:cxnLst>
                        <a:cxn ang="T36">
                          <a:pos x="T0" y="T1"/>
                        </a:cxn>
                        <a:cxn ang="T37">
                          <a:pos x="T2" y="T3"/>
                        </a:cxn>
                        <a:cxn ang="T38">
                          <a:pos x="T4" y="T5"/>
                        </a:cxn>
                        <a:cxn ang="T39">
                          <a:pos x="T6" y="T7"/>
                        </a:cxn>
                        <a:cxn ang="T40">
                          <a:pos x="T8" y="T9"/>
                        </a:cxn>
                        <a:cxn ang="T41">
                          <a:pos x="T10" y="T11"/>
                        </a:cxn>
                        <a:cxn ang="T42">
                          <a:pos x="T12" y="T13"/>
                        </a:cxn>
                        <a:cxn ang="T43">
                          <a:pos x="T14" y="T15"/>
                        </a:cxn>
                        <a:cxn ang="T44">
                          <a:pos x="T16" y="T17"/>
                        </a:cxn>
                        <a:cxn ang="T45">
                          <a:pos x="T18" y="T19"/>
                        </a:cxn>
                        <a:cxn ang="T46">
                          <a:pos x="T20" y="T21"/>
                        </a:cxn>
                        <a:cxn ang="T47">
                          <a:pos x="T22" y="T23"/>
                        </a:cxn>
                        <a:cxn ang="T48">
                          <a:pos x="T24" y="T25"/>
                        </a:cxn>
                        <a:cxn ang="T49">
                          <a:pos x="T26" y="T27"/>
                        </a:cxn>
                        <a:cxn ang="T50">
                          <a:pos x="T28" y="T29"/>
                        </a:cxn>
                        <a:cxn ang="T51">
                          <a:pos x="T30" y="T31"/>
                        </a:cxn>
                        <a:cxn ang="T52">
                          <a:pos x="T32" y="T33"/>
                        </a:cxn>
                        <a:cxn ang="T53">
                          <a:pos x="T34" y="T35"/>
                        </a:cxn>
                      </a:cxnLst>
                      <a:rect l="T54" t="T55" r="T56" b="T57"/>
                      <a:pathLst>
                        <a:path w="963" h="2101">
                          <a:moveTo>
                            <a:pt x="0" y="0"/>
                          </a:moveTo>
                          <a:lnTo>
                            <a:pt x="156" y="89"/>
                          </a:lnTo>
                          <a:lnTo>
                            <a:pt x="263" y="174"/>
                          </a:lnTo>
                          <a:lnTo>
                            <a:pt x="362" y="258"/>
                          </a:lnTo>
                          <a:lnTo>
                            <a:pt x="447" y="367"/>
                          </a:lnTo>
                          <a:lnTo>
                            <a:pt x="553" y="489"/>
                          </a:lnTo>
                          <a:lnTo>
                            <a:pt x="673" y="642"/>
                          </a:lnTo>
                          <a:lnTo>
                            <a:pt x="766" y="784"/>
                          </a:lnTo>
                          <a:lnTo>
                            <a:pt x="816" y="910"/>
                          </a:lnTo>
                          <a:lnTo>
                            <a:pt x="828" y="1034"/>
                          </a:lnTo>
                          <a:lnTo>
                            <a:pt x="824" y="1166"/>
                          </a:lnTo>
                          <a:lnTo>
                            <a:pt x="834" y="1311"/>
                          </a:lnTo>
                          <a:lnTo>
                            <a:pt x="846" y="1448"/>
                          </a:lnTo>
                          <a:lnTo>
                            <a:pt x="856" y="1571"/>
                          </a:lnTo>
                          <a:lnTo>
                            <a:pt x="873" y="1721"/>
                          </a:lnTo>
                          <a:lnTo>
                            <a:pt x="887" y="1848"/>
                          </a:lnTo>
                          <a:lnTo>
                            <a:pt x="917" y="1985"/>
                          </a:lnTo>
                          <a:lnTo>
                            <a:pt x="963" y="2101"/>
                          </a:lnTo>
                        </a:path>
                      </a:pathLst>
                    </a:custGeom>
                    <a:noFill/>
                    <a:ln w="7938">
                      <a:solidFill>
                        <a:schemeClr val="folHlink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06" name="Line 1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68" y="2105"/>
                      <a:ext cx="501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grpSp>
                  <p:nvGrpSpPr>
                    <p:cNvPr id="58607" name="Group 11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189" y="2070"/>
                      <a:ext cx="798" cy="1063"/>
                      <a:chOff x="3189" y="2070"/>
                      <a:chExt cx="798" cy="1063"/>
                    </a:xfrm>
                  </p:grpSpPr>
                  <p:sp>
                    <p:nvSpPr>
                      <p:cNvPr id="58608" name="Freeform 11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89" y="2070"/>
                        <a:ext cx="539" cy="1063"/>
                      </a:xfrm>
                      <a:custGeom>
                        <a:avLst/>
                        <a:gdLst>
                          <a:gd name="T0" fmla="*/ 0 w 1078"/>
                          <a:gd name="T1" fmla="*/ 0 h 2124"/>
                          <a:gd name="T2" fmla="*/ 5 w 1078"/>
                          <a:gd name="T3" fmla="*/ 3 h 2124"/>
                          <a:gd name="T4" fmla="*/ 8 w 1078"/>
                          <a:gd name="T5" fmla="*/ 6 h 2124"/>
                          <a:gd name="T6" fmla="*/ 11 w 1078"/>
                          <a:gd name="T7" fmla="*/ 9 h 2124"/>
                          <a:gd name="T8" fmla="*/ 14 w 1078"/>
                          <a:gd name="T9" fmla="*/ 13 h 2124"/>
                          <a:gd name="T10" fmla="*/ 17 w 1078"/>
                          <a:gd name="T11" fmla="*/ 17 h 2124"/>
                          <a:gd name="T12" fmla="*/ 20 w 1078"/>
                          <a:gd name="T13" fmla="*/ 21 h 2124"/>
                          <a:gd name="T14" fmla="*/ 21 w 1078"/>
                          <a:gd name="T15" fmla="*/ 25 h 2124"/>
                          <a:gd name="T16" fmla="*/ 23 w 1078"/>
                          <a:gd name="T17" fmla="*/ 29 h 2124"/>
                          <a:gd name="T18" fmla="*/ 23 w 1078"/>
                          <a:gd name="T19" fmla="*/ 33 h 2124"/>
                          <a:gd name="T20" fmla="*/ 23 w 1078"/>
                          <a:gd name="T21" fmla="*/ 37 h 2124"/>
                          <a:gd name="T22" fmla="*/ 24 w 1078"/>
                          <a:gd name="T23" fmla="*/ 42 h 2124"/>
                          <a:gd name="T24" fmla="*/ 24 w 1078"/>
                          <a:gd name="T25" fmla="*/ 46 h 2124"/>
                          <a:gd name="T26" fmla="*/ 25 w 1078"/>
                          <a:gd name="T27" fmla="*/ 50 h 2124"/>
                          <a:gd name="T28" fmla="*/ 27 w 1078"/>
                          <a:gd name="T29" fmla="*/ 55 h 2124"/>
                          <a:gd name="T30" fmla="*/ 28 w 1078"/>
                          <a:gd name="T31" fmla="*/ 58 h 2124"/>
                          <a:gd name="T32" fmla="*/ 31 w 1078"/>
                          <a:gd name="T33" fmla="*/ 62 h 2124"/>
                          <a:gd name="T34" fmla="*/ 34 w 1078"/>
                          <a:gd name="T35" fmla="*/ 67 h 2124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1078"/>
                          <a:gd name="T55" fmla="*/ 0 h 2124"/>
                          <a:gd name="T56" fmla="*/ 1078 w 1078"/>
                          <a:gd name="T57" fmla="*/ 2124 h 2124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1078" h="2124">
                            <a:moveTo>
                              <a:pt x="0" y="0"/>
                            </a:moveTo>
                            <a:lnTo>
                              <a:pt x="133" y="90"/>
                            </a:lnTo>
                            <a:lnTo>
                              <a:pt x="253" y="189"/>
                            </a:lnTo>
                            <a:lnTo>
                              <a:pt x="347" y="273"/>
                            </a:lnTo>
                            <a:lnTo>
                              <a:pt x="444" y="390"/>
                            </a:lnTo>
                            <a:lnTo>
                              <a:pt x="535" y="518"/>
                            </a:lnTo>
                            <a:lnTo>
                              <a:pt x="615" y="648"/>
                            </a:lnTo>
                            <a:lnTo>
                              <a:pt x="673" y="788"/>
                            </a:lnTo>
                            <a:lnTo>
                              <a:pt x="709" y="921"/>
                            </a:lnTo>
                            <a:lnTo>
                              <a:pt x="721" y="1044"/>
                            </a:lnTo>
                            <a:lnTo>
                              <a:pt x="727" y="1180"/>
                            </a:lnTo>
                            <a:lnTo>
                              <a:pt x="749" y="1317"/>
                            </a:lnTo>
                            <a:lnTo>
                              <a:pt x="770" y="1449"/>
                            </a:lnTo>
                            <a:lnTo>
                              <a:pt x="802" y="1581"/>
                            </a:lnTo>
                            <a:lnTo>
                              <a:pt x="842" y="1735"/>
                            </a:lnTo>
                            <a:lnTo>
                              <a:pt x="891" y="1850"/>
                            </a:lnTo>
                            <a:lnTo>
                              <a:pt x="971" y="1982"/>
                            </a:lnTo>
                            <a:lnTo>
                              <a:pt x="1078" y="2124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09" name="Freeform 12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27" y="2077"/>
                        <a:ext cx="514" cy="1055"/>
                      </a:xfrm>
                      <a:custGeom>
                        <a:avLst/>
                        <a:gdLst>
                          <a:gd name="T0" fmla="*/ 0 w 1029"/>
                          <a:gd name="T1" fmla="*/ 0 h 2110"/>
                          <a:gd name="T2" fmla="*/ 4 w 1029"/>
                          <a:gd name="T3" fmla="*/ 3 h 2110"/>
                          <a:gd name="T4" fmla="*/ 8 w 1029"/>
                          <a:gd name="T5" fmla="*/ 6 h 2110"/>
                          <a:gd name="T6" fmla="*/ 11 w 1029"/>
                          <a:gd name="T7" fmla="*/ 9 h 2110"/>
                          <a:gd name="T8" fmla="*/ 13 w 1029"/>
                          <a:gd name="T9" fmla="*/ 12 h 2110"/>
                          <a:gd name="T10" fmla="*/ 16 w 1029"/>
                          <a:gd name="T11" fmla="*/ 16 h 2110"/>
                          <a:gd name="T12" fmla="*/ 20 w 1029"/>
                          <a:gd name="T13" fmla="*/ 20 h 2110"/>
                          <a:gd name="T14" fmla="*/ 22 w 1029"/>
                          <a:gd name="T15" fmla="*/ 25 h 2110"/>
                          <a:gd name="T16" fmla="*/ 23 w 1029"/>
                          <a:gd name="T17" fmla="*/ 29 h 2110"/>
                          <a:gd name="T18" fmla="*/ 24 w 1029"/>
                          <a:gd name="T19" fmla="*/ 33 h 2110"/>
                          <a:gd name="T20" fmla="*/ 24 w 1029"/>
                          <a:gd name="T21" fmla="*/ 37 h 2110"/>
                          <a:gd name="T22" fmla="*/ 24 w 1029"/>
                          <a:gd name="T23" fmla="*/ 41 h 2110"/>
                          <a:gd name="T24" fmla="*/ 25 w 1029"/>
                          <a:gd name="T25" fmla="*/ 45 h 2110"/>
                          <a:gd name="T26" fmla="*/ 25 w 1029"/>
                          <a:gd name="T27" fmla="*/ 50 h 2110"/>
                          <a:gd name="T28" fmla="*/ 26 w 1029"/>
                          <a:gd name="T29" fmla="*/ 54 h 2110"/>
                          <a:gd name="T30" fmla="*/ 27 w 1029"/>
                          <a:gd name="T31" fmla="*/ 57 h 2110"/>
                          <a:gd name="T32" fmla="*/ 28 w 1029"/>
                          <a:gd name="T33" fmla="*/ 61 h 2110"/>
                          <a:gd name="T34" fmla="*/ 32 w 1029"/>
                          <a:gd name="T35" fmla="*/ 66 h 2110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1029"/>
                          <a:gd name="T55" fmla="*/ 0 h 2110"/>
                          <a:gd name="T56" fmla="*/ 1029 w 1029"/>
                          <a:gd name="T57" fmla="*/ 2110 h 2110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1029" h="2110">
                            <a:moveTo>
                              <a:pt x="0" y="0"/>
                            </a:moveTo>
                            <a:lnTo>
                              <a:pt x="157" y="99"/>
                            </a:lnTo>
                            <a:lnTo>
                              <a:pt x="276" y="187"/>
                            </a:lnTo>
                            <a:lnTo>
                              <a:pt x="365" y="273"/>
                            </a:lnTo>
                            <a:lnTo>
                              <a:pt x="447" y="372"/>
                            </a:lnTo>
                            <a:lnTo>
                              <a:pt x="535" y="489"/>
                            </a:lnTo>
                            <a:lnTo>
                              <a:pt x="642" y="642"/>
                            </a:lnTo>
                            <a:lnTo>
                              <a:pt x="717" y="778"/>
                            </a:lnTo>
                            <a:lnTo>
                              <a:pt x="767" y="921"/>
                            </a:lnTo>
                            <a:lnTo>
                              <a:pt x="771" y="1047"/>
                            </a:lnTo>
                            <a:lnTo>
                              <a:pt x="776" y="1166"/>
                            </a:lnTo>
                            <a:lnTo>
                              <a:pt x="789" y="1284"/>
                            </a:lnTo>
                            <a:lnTo>
                              <a:pt x="802" y="1420"/>
                            </a:lnTo>
                            <a:lnTo>
                              <a:pt x="828" y="1575"/>
                            </a:lnTo>
                            <a:lnTo>
                              <a:pt x="856" y="1711"/>
                            </a:lnTo>
                            <a:lnTo>
                              <a:pt x="882" y="1825"/>
                            </a:lnTo>
                            <a:lnTo>
                              <a:pt x="927" y="1943"/>
                            </a:lnTo>
                            <a:lnTo>
                              <a:pt x="1029" y="2110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0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07" y="2083"/>
                        <a:ext cx="443" cy="1046"/>
                      </a:xfrm>
                      <a:custGeom>
                        <a:avLst/>
                        <a:gdLst>
                          <a:gd name="T0" fmla="*/ 0 w 886"/>
                          <a:gd name="T1" fmla="*/ 0 h 2092"/>
                          <a:gd name="T2" fmla="*/ 4 w 886"/>
                          <a:gd name="T3" fmla="*/ 3 h 2092"/>
                          <a:gd name="T4" fmla="*/ 7 w 886"/>
                          <a:gd name="T5" fmla="*/ 5 h 2092"/>
                          <a:gd name="T6" fmla="*/ 10 w 886"/>
                          <a:gd name="T7" fmla="*/ 7 h 2092"/>
                          <a:gd name="T8" fmla="*/ 14 w 886"/>
                          <a:gd name="T9" fmla="*/ 11 h 2092"/>
                          <a:gd name="T10" fmla="*/ 18 w 886"/>
                          <a:gd name="T11" fmla="*/ 16 h 2092"/>
                          <a:gd name="T12" fmla="*/ 22 w 886"/>
                          <a:gd name="T13" fmla="*/ 20 h 2092"/>
                          <a:gd name="T14" fmla="*/ 25 w 886"/>
                          <a:gd name="T15" fmla="*/ 24 h 2092"/>
                          <a:gd name="T16" fmla="*/ 27 w 886"/>
                          <a:gd name="T17" fmla="*/ 29 h 2092"/>
                          <a:gd name="T18" fmla="*/ 27 w 886"/>
                          <a:gd name="T19" fmla="*/ 33 h 2092"/>
                          <a:gd name="T20" fmla="*/ 28 w 886"/>
                          <a:gd name="T21" fmla="*/ 37 h 2092"/>
                          <a:gd name="T22" fmla="*/ 28 w 886"/>
                          <a:gd name="T23" fmla="*/ 40 h 2092"/>
                          <a:gd name="T24" fmla="*/ 28 w 886"/>
                          <a:gd name="T25" fmla="*/ 45 h 2092"/>
                          <a:gd name="T26" fmla="*/ 28 w 886"/>
                          <a:gd name="T27" fmla="*/ 49 h 2092"/>
                          <a:gd name="T28" fmla="*/ 28 w 886"/>
                          <a:gd name="T29" fmla="*/ 54 h 2092"/>
                          <a:gd name="T30" fmla="*/ 28 w 886"/>
                          <a:gd name="T31" fmla="*/ 57 h 2092"/>
                          <a:gd name="T32" fmla="*/ 28 w 886"/>
                          <a:gd name="T33" fmla="*/ 62 h 2092"/>
                          <a:gd name="T34" fmla="*/ 28 w 886"/>
                          <a:gd name="T35" fmla="*/ 66 h 2092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886"/>
                          <a:gd name="T55" fmla="*/ 0 h 2092"/>
                          <a:gd name="T56" fmla="*/ 886 w 886"/>
                          <a:gd name="T57" fmla="*/ 2092 h 2092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886" h="2092">
                            <a:moveTo>
                              <a:pt x="0" y="0"/>
                            </a:moveTo>
                            <a:lnTo>
                              <a:pt x="125" y="71"/>
                            </a:lnTo>
                            <a:lnTo>
                              <a:pt x="218" y="136"/>
                            </a:lnTo>
                            <a:lnTo>
                              <a:pt x="317" y="226"/>
                            </a:lnTo>
                            <a:lnTo>
                              <a:pt x="432" y="339"/>
                            </a:lnTo>
                            <a:lnTo>
                              <a:pt x="567" y="486"/>
                            </a:lnTo>
                            <a:lnTo>
                              <a:pt x="696" y="624"/>
                            </a:lnTo>
                            <a:lnTo>
                              <a:pt x="793" y="760"/>
                            </a:lnTo>
                            <a:lnTo>
                              <a:pt x="856" y="901"/>
                            </a:lnTo>
                            <a:lnTo>
                              <a:pt x="864" y="1025"/>
                            </a:lnTo>
                            <a:lnTo>
                              <a:pt x="874" y="1157"/>
                            </a:lnTo>
                            <a:lnTo>
                              <a:pt x="874" y="1283"/>
                            </a:lnTo>
                            <a:lnTo>
                              <a:pt x="874" y="1430"/>
                            </a:lnTo>
                            <a:lnTo>
                              <a:pt x="874" y="1566"/>
                            </a:lnTo>
                            <a:lnTo>
                              <a:pt x="868" y="1706"/>
                            </a:lnTo>
                            <a:lnTo>
                              <a:pt x="868" y="1826"/>
                            </a:lnTo>
                            <a:lnTo>
                              <a:pt x="882" y="1972"/>
                            </a:lnTo>
                            <a:lnTo>
                              <a:pt x="886" y="2092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1" name="Line 12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64" y="2728"/>
                        <a:ext cx="623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2" name="Line 12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87" y="2796"/>
                        <a:ext cx="57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3" name="Line 12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23" y="2869"/>
                        <a:ext cx="516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4" name="Line 12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58" y="2935"/>
                        <a:ext cx="45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5" name="Line 12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02" y="2998"/>
                        <a:ext cx="387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6" name="Line 12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48" y="3050"/>
                        <a:ext cx="30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7" name="Line 12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06" y="3095"/>
                        <a:ext cx="214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</p:grpSp>
              </p:grpSp>
              <p:grpSp>
                <p:nvGrpSpPr>
                  <p:cNvPr id="58525" name="Group 129"/>
                  <p:cNvGrpSpPr>
                    <a:grpSpLocks/>
                  </p:cNvGrpSpPr>
                  <p:nvPr/>
                </p:nvGrpSpPr>
                <p:grpSpPr bwMode="auto">
                  <a:xfrm>
                    <a:off x="3691" y="853"/>
                    <a:ext cx="1114" cy="577"/>
                    <a:chOff x="1803" y="2102"/>
                    <a:chExt cx="2127" cy="1033"/>
                  </a:xfrm>
                </p:grpSpPr>
                <p:sp>
                  <p:nvSpPr>
                    <p:cNvPr id="58560" name="Freeform 130"/>
                    <p:cNvSpPr>
                      <a:spLocks/>
                    </p:cNvSpPr>
                    <p:nvPr/>
                  </p:nvSpPr>
                  <p:spPr bwMode="auto">
                    <a:xfrm>
                      <a:off x="2953" y="2346"/>
                      <a:ext cx="10" cy="11"/>
                    </a:xfrm>
                    <a:custGeom>
                      <a:avLst/>
                      <a:gdLst>
                        <a:gd name="T0" fmla="*/ 1 w 20"/>
                        <a:gd name="T1" fmla="*/ 1 h 21"/>
                        <a:gd name="T2" fmla="*/ 1 w 20"/>
                        <a:gd name="T3" fmla="*/ 1 h 21"/>
                        <a:gd name="T4" fmla="*/ 1 w 20"/>
                        <a:gd name="T5" fmla="*/ 1 h 21"/>
                        <a:gd name="T6" fmla="*/ 0 w 20"/>
                        <a:gd name="T7" fmla="*/ 1 h 21"/>
                        <a:gd name="T8" fmla="*/ 1 w 20"/>
                        <a:gd name="T9" fmla="*/ 0 h 21"/>
                        <a:gd name="T10" fmla="*/ 1 w 20"/>
                        <a:gd name="T11" fmla="*/ 1 h 21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20"/>
                        <a:gd name="T19" fmla="*/ 0 h 21"/>
                        <a:gd name="T20" fmla="*/ 20 w 20"/>
                        <a:gd name="T21" fmla="*/ 21 h 21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20" h="21">
                          <a:moveTo>
                            <a:pt x="20" y="1"/>
                          </a:moveTo>
                          <a:lnTo>
                            <a:pt x="20" y="20"/>
                          </a:lnTo>
                          <a:lnTo>
                            <a:pt x="13" y="21"/>
                          </a:lnTo>
                          <a:lnTo>
                            <a:pt x="0" y="4"/>
                          </a:lnTo>
                          <a:lnTo>
                            <a:pt x="8" y="0"/>
                          </a:lnTo>
                          <a:lnTo>
                            <a:pt x="20" y="1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561" name="Freeform 131"/>
                    <p:cNvSpPr>
                      <a:spLocks/>
                    </p:cNvSpPr>
                    <p:nvPr/>
                  </p:nvSpPr>
                  <p:spPr bwMode="auto">
                    <a:xfrm>
                      <a:off x="2934" y="2327"/>
                      <a:ext cx="9" cy="16"/>
                    </a:xfrm>
                    <a:custGeom>
                      <a:avLst/>
                      <a:gdLst>
                        <a:gd name="T0" fmla="*/ 1 w 18"/>
                        <a:gd name="T1" fmla="*/ 0 h 32"/>
                        <a:gd name="T2" fmla="*/ 0 w 18"/>
                        <a:gd name="T3" fmla="*/ 1 h 32"/>
                        <a:gd name="T4" fmla="*/ 1 w 18"/>
                        <a:gd name="T5" fmla="*/ 1 h 32"/>
                        <a:gd name="T6" fmla="*/ 1 w 18"/>
                        <a:gd name="T7" fmla="*/ 1 h 32"/>
                        <a:gd name="T8" fmla="*/ 1 w 18"/>
                        <a:gd name="T9" fmla="*/ 0 h 3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8"/>
                        <a:gd name="T16" fmla="*/ 0 h 32"/>
                        <a:gd name="T17" fmla="*/ 18 w 18"/>
                        <a:gd name="T18" fmla="*/ 32 h 3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8" h="32">
                          <a:moveTo>
                            <a:pt x="18" y="0"/>
                          </a:moveTo>
                          <a:lnTo>
                            <a:pt x="0" y="6"/>
                          </a:lnTo>
                          <a:lnTo>
                            <a:pt x="3" y="32"/>
                          </a:lnTo>
                          <a:lnTo>
                            <a:pt x="15" y="29"/>
                          </a:lnTo>
                          <a:lnTo>
                            <a:pt x="18" y="0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grpSp>
                  <p:nvGrpSpPr>
                    <p:cNvPr id="58562" name="Group 13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03" y="2102"/>
                      <a:ext cx="2127" cy="1033"/>
                      <a:chOff x="1803" y="2102"/>
                      <a:chExt cx="2127" cy="1033"/>
                    </a:xfrm>
                  </p:grpSpPr>
                  <p:grpSp>
                    <p:nvGrpSpPr>
                      <p:cNvPr id="58563" name="Group 13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748" y="2104"/>
                        <a:ext cx="1182" cy="1027"/>
                        <a:chOff x="2748" y="2104"/>
                        <a:chExt cx="1182" cy="1027"/>
                      </a:xfrm>
                    </p:grpSpPr>
                    <p:grpSp>
                      <p:nvGrpSpPr>
                        <p:cNvPr id="58573" name="Group 13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561" y="2616"/>
                          <a:ext cx="369" cy="515"/>
                          <a:chOff x="3561" y="2616"/>
                          <a:chExt cx="369" cy="515"/>
                        </a:xfrm>
                      </p:grpSpPr>
                      <p:sp>
                        <p:nvSpPr>
                          <p:cNvPr id="58598" name="Freeform 135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61" y="3034"/>
                            <a:ext cx="263" cy="97"/>
                          </a:xfrm>
                          <a:custGeom>
                            <a:avLst/>
                            <a:gdLst>
                              <a:gd name="T0" fmla="*/ 4 w 525"/>
                              <a:gd name="T1" fmla="*/ 1 h 194"/>
                              <a:gd name="T2" fmla="*/ 5 w 525"/>
                              <a:gd name="T3" fmla="*/ 1 h 194"/>
                              <a:gd name="T4" fmla="*/ 5 w 525"/>
                              <a:gd name="T5" fmla="*/ 1 h 194"/>
                              <a:gd name="T6" fmla="*/ 6 w 525"/>
                              <a:gd name="T7" fmla="*/ 1 h 194"/>
                              <a:gd name="T8" fmla="*/ 7 w 525"/>
                              <a:gd name="T9" fmla="*/ 1 h 194"/>
                              <a:gd name="T10" fmla="*/ 7 w 525"/>
                              <a:gd name="T11" fmla="*/ 0 h 194"/>
                              <a:gd name="T12" fmla="*/ 8 w 525"/>
                              <a:gd name="T13" fmla="*/ 1 h 194"/>
                              <a:gd name="T14" fmla="*/ 8 w 525"/>
                              <a:gd name="T15" fmla="*/ 1 h 194"/>
                              <a:gd name="T16" fmla="*/ 8 w 525"/>
                              <a:gd name="T17" fmla="*/ 1 h 194"/>
                              <a:gd name="T18" fmla="*/ 9 w 525"/>
                              <a:gd name="T19" fmla="*/ 1 h 194"/>
                              <a:gd name="T20" fmla="*/ 9 w 525"/>
                              <a:gd name="T21" fmla="*/ 1 h 194"/>
                              <a:gd name="T22" fmla="*/ 10 w 525"/>
                              <a:gd name="T23" fmla="*/ 1 h 194"/>
                              <a:gd name="T24" fmla="*/ 10 w 525"/>
                              <a:gd name="T25" fmla="*/ 1 h 194"/>
                              <a:gd name="T26" fmla="*/ 11 w 525"/>
                              <a:gd name="T27" fmla="*/ 1 h 194"/>
                              <a:gd name="T28" fmla="*/ 12 w 525"/>
                              <a:gd name="T29" fmla="*/ 1 h 194"/>
                              <a:gd name="T30" fmla="*/ 13 w 525"/>
                              <a:gd name="T31" fmla="*/ 1 h 194"/>
                              <a:gd name="T32" fmla="*/ 13 w 525"/>
                              <a:gd name="T33" fmla="*/ 1 h 194"/>
                              <a:gd name="T34" fmla="*/ 14 w 525"/>
                              <a:gd name="T35" fmla="*/ 1 h 194"/>
                              <a:gd name="T36" fmla="*/ 14 w 525"/>
                              <a:gd name="T37" fmla="*/ 1 h 194"/>
                              <a:gd name="T38" fmla="*/ 15 w 525"/>
                              <a:gd name="T39" fmla="*/ 1 h 194"/>
                              <a:gd name="T40" fmla="*/ 15 w 525"/>
                              <a:gd name="T41" fmla="*/ 1 h 194"/>
                              <a:gd name="T42" fmla="*/ 16 w 525"/>
                              <a:gd name="T43" fmla="*/ 2 h 194"/>
                              <a:gd name="T44" fmla="*/ 16 w 525"/>
                              <a:gd name="T45" fmla="*/ 2 h 194"/>
                              <a:gd name="T46" fmla="*/ 17 w 525"/>
                              <a:gd name="T47" fmla="*/ 2 h 194"/>
                              <a:gd name="T48" fmla="*/ 17 w 525"/>
                              <a:gd name="T49" fmla="*/ 2 h 194"/>
                              <a:gd name="T50" fmla="*/ 17 w 525"/>
                              <a:gd name="T51" fmla="*/ 3 h 194"/>
                              <a:gd name="T52" fmla="*/ 16 w 525"/>
                              <a:gd name="T53" fmla="*/ 3 h 194"/>
                              <a:gd name="T54" fmla="*/ 16 w 525"/>
                              <a:gd name="T55" fmla="*/ 3 h 194"/>
                              <a:gd name="T56" fmla="*/ 15 w 525"/>
                              <a:gd name="T57" fmla="*/ 4 h 194"/>
                              <a:gd name="T58" fmla="*/ 15 w 525"/>
                              <a:gd name="T59" fmla="*/ 4 h 194"/>
                              <a:gd name="T60" fmla="*/ 15 w 525"/>
                              <a:gd name="T61" fmla="*/ 4 h 194"/>
                              <a:gd name="T62" fmla="*/ 15 w 525"/>
                              <a:gd name="T63" fmla="*/ 5 h 194"/>
                              <a:gd name="T64" fmla="*/ 14 w 525"/>
                              <a:gd name="T65" fmla="*/ 5 h 194"/>
                              <a:gd name="T66" fmla="*/ 14 w 525"/>
                              <a:gd name="T67" fmla="*/ 5 h 194"/>
                              <a:gd name="T68" fmla="*/ 15 w 525"/>
                              <a:gd name="T69" fmla="*/ 5 h 194"/>
                              <a:gd name="T70" fmla="*/ 14 w 525"/>
                              <a:gd name="T71" fmla="*/ 6 h 194"/>
                              <a:gd name="T72" fmla="*/ 13 w 525"/>
                              <a:gd name="T73" fmla="*/ 6 h 194"/>
                              <a:gd name="T74" fmla="*/ 12 w 525"/>
                              <a:gd name="T75" fmla="*/ 6 h 194"/>
                              <a:gd name="T76" fmla="*/ 11 w 525"/>
                              <a:gd name="T77" fmla="*/ 7 h 194"/>
                              <a:gd name="T78" fmla="*/ 10 w 525"/>
                              <a:gd name="T79" fmla="*/ 6 h 194"/>
                              <a:gd name="T80" fmla="*/ 9 w 525"/>
                              <a:gd name="T81" fmla="*/ 6 h 194"/>
                              <a:gd name="T82" fmla="*/ 8 w 525"/>
                              <a:gd name="T83" fmla="*/ 6 h 194"/>
                              <a:gd name="T84" fmla="*/ 7 w 525"/>
                              <a:gd name="T85" fmla="*/ 6 h 194"/>
                              <a:gd name="T86" fmla="*/ 6 w 525"/>
                              <a:gd name="T87" fmla="*/ 5 h 194"/>
                              <a:gd name="T88" fmla="*/ 5 w 525"/>
                              <a:gd name="T89" fmla="*/ 5 h 194"/>
                              <a:gd name="T90" fmla="*/ 4 w 525"/>
                              <a:gd name="T91" fmla="*/ 5 h 194"/>
                              <a:gd name="T92" fmla="*/ 3 w 525"/>
                              <a:gd name="T93" fmla="*/ 4 h 194"/>
                              <a:gd name="T94" fmla="*/ 3 w 525"/>
                              <a:gd name="T95" fmla="*/ 4 h 194"/>
                              <a:gd name="T96" fmla="*/ 2 w 525"/>
                              <a:gd name="T97" fmla="*/ 3 h 194"/>
                              <a:gd name="T98" fmla="*/ 1 w 525"/>
                              <a:gd name="T99" fmla="*/ 3 h 194"/>
                              <a:gd name="T100" fmla="*/ 1 w 525"/>
                              <a:gd name="T101" fmla="*/ 2 h 194"/>
                              <a:gd name="T102" fmla="*/ 1 w 525"/>
                              <a:gd name="T103" fmla="*/ 2 h 194"/>
                              <a:gd name="T104" fmla="*/ 1 w 525"/>
                              <a:gd name="T105" fmla="*/ 1 h 194"/>
                              <a:gd name="T106" fmla="*/ 2 w 525"/>
                              <a:gd name="T107" fmla="*/ 1 h 194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w 525"/>
                              <a:gd name="T163" fmla="*/ 0 h 194"/>
                              <a:gd name="T164" fmla="*/ 525 w 525"/>
                              <a:gd name="T165" fmla="*/ 194 h 194"/>
                            </a:gdLst>
                            <a:ahLst/>
                            <a:cxnLst>
                              <a:cxn ang="T108">
                                <a:pos x="T0" y="T1"/>
                              </a:cxn>
                              <a:cxn ang="T109">
                                <a:pos x="T2" y="T3"/>
                              </a:cxn>
                              <a:cxn ang="T110">
                                <a:pos x="T4" y="T5"/>
                              </a:cxn>
                              <a:cxn ang="T111">
                                <a:pos x="T6" y="T7"/>
                              </a:cxn>
                              <a:cxn ang="T112">
                                <a:pos x="T8" y="T9"/>
                              </a:cxn>
                              <a:cxn ang="T113">
                                <a:pos x="T10" y="T11"/>
                              </a:cxn>
                              <a:cxn ang="T114">
                                <a:pos x="T12" y="T13"/>
                              </a:cxn>
                              <a:cxn ang="T115">
                                <a:pos x="T14" y="T15"/>
                              </a:cxn>
                              <a:cxn ang="T116">
                                <a:pos x="T16" y="T17"/>
                              </a:cxn>
                              <a:cxn ang="T117">
                                <a:pos x="T18" y="T19"/>
                              </a:cxn>
                              <a:cxn ang="T118">
                                <a:pos x="T20" y="T21"/>
                              </a:cxn>
                              <a:cxn ang="T119">
                                <a:pos x="T22" y="T23"/>
                              </a:cxn>
                              <a:cxn ang="T120">
                                <a:pos x="T24" y="T25"/>
                              </a:cxn>
                              <a:cxn ang="T121">
                                <a:pos x="T26" y="T27"/>
                              </a:cxn>
                              <a:cxn ang="T122">
                                <a:pos x="T28" y="T29"/>
                              </a:cxn>
                              <a:cxn ang="T123">
                                <a:pos x="T30" y="T31"/>
                              </a:cxn>
                              <a:cxn ang="T124">
                                <a:pos x="T32" y="T33"/>
                              </a:cxn>
                              <a:cxn ang="T125">
                                <a:pos x="T34" y="T35"/>
                              </a:cxn>
                              <a:cxn ang="T126">
                                <a:pos x="T36" y="T37"/>
                              </a:cxn>
                              <a:cxn ang="T127">
                                <a:pos x="T38" y="T39"/>
                              </a:cxn>
                              <a:cxn ang="T128">
                                <a:pos x="T40" y="T41"/>
                              </a:cxn>
                              <a:cxn ang="T129">
                                <a:pos x="T42" y="T43"/>
                              </a:cxn>
                              <a:cxn ang="T130">
                                <a:pos x="T44" y="T45"/>
                              </a:cxn>
                              <a:cxn ang="T131">
                                <a:pos x="T46" y="T47"/>
                              </a:cxn>
                              <a:cxn ang="T132">
                                <a:pos x="T48" y="T49"/>
                              </a:cxn>
                              <a:cxn ang="T133">
                                <a:pos x="T50" y="T51"/>
                              </a:cxn>
                              <a:cxn ang="T134">
                                <a:pos x="T52" y="T53"/>
                              </a:cxn>
                              <a:cxn ang="T135">
                                <a:pos x="T54" y="T55"/>
                              </a:cxn>
                              <a:cxn ang="T136">
                                <a:pos x="T56" y="T57"/>
                              </a:cxn>
                              <a:cxn ang="T137">
                                <a:pos x="T58" y="T59"/>
                              </a:cxn>
                              <a:cxn ang="T138">
                                <a:pos x="T60" y="T61"/>
                              </a:cxn>
                              <a:cxn ang="T139">
                                <a:pos x="T62" y="T63"/>
                              </a:cxn>
                              <a:cxn ang="T140">
                                <a:pos x="T64" y="T65"/>
                              </a:cxn>
                              <a:cxn ang="T141">
                                <a:pos x="T66" y="T67"/>
                              </a:cxn>
                              <a:cxn ang="T142">
                                <a:pos x="T68" y="T69"/>
                              </a:cxn>
                              <a:cxn ang="T143">
                                <a:pos x="T70" y="T71"/>
                              </a:cxn>
                              <a:cxn ang="T144">
                                <a:pos x="T72" y="T73"/>
                              </a:cxn>
                              <a:cxn ang="T145">
                                <a:pos x="T74" y="T75"/>
                              </a:cxn>
                              <a:cxn ang="T146">
                                <a:pos x="T76" y="T77"/>
                              </a:cxn>
                              <a:cxn ang="T147">
                                <a:pos x="T78" y="T79"/>
                              </a:cxn>
                              <a:cxn ang="T148">
                                <a:pos x="T80" y="T81"/>
                              </a:cxn>
                              <a:cxn ang="T149">
                                <a:pos x="T82" y="T83"/>
                              </a:cxn>
                              <a:cxn ang="T150">
                                <a:pos x="T84" y="T85"/>
                              </a:cxn>
                              <a:cxn ang="T151">
                                <a:pos x="T86" y="T87"/>
                              </a:cxn>
                              <a:cxn ang="T152">
                                <a:pos x="T88" y="T89"/>
                              </a:cxn>
                              <a:cxn ang="T153">
                                <a:pos x="T90" y="T91"/>
                              </a:cxn>
                              <a:cxn ang="T154">
                                <a:pos x="T92" y="T93"/>
                              </a:cxn>
                              <a:cxn ang="T155">
                                <a:pos x="T94" y="T95"/>
                              </a:cxn>
                              <a:cxn ang="T156">
                                <a:pos x="T96" y="T97"/>
                              </a:cxn>
                              <a:cxn ang="T157">
                                <a:pos x="T98" y="T99"/>
                              </a:cxn>
                              <a:cxn ang="T158">
                                <a:pos x="T100" y="T101"/>
                              </a:cxn>
                              <a:cxn ang="T159">
                                <a:pos x="T102" y="T103"/>
                              </a:cxn>
                              <a:cxn ang="T160">
                                <a:pos x="T104" y="T105"/>
                              </a:cxn>
                              <a:cxn ang="T161">
                                <a:pos x="T106" y="T107"/>
                              </a:cxn>
                            </a:cxnLst>
                            <a:rect l="T162" t="T163" r="T164" b="T165"/>
                            <a:pathLst>
                              <a:path w="525" h="194">
                                <a:moveTo>
                                  <a:pt x="49" y="7"/>
                                </a:moveTo>
                                <a:lnTo>
                                  <a:pt x="103" y="7"/>
                                </a:lnTo>
                                <a:lnTo>
                                  <a:pt x="121" y="9"/>
                                </a:lnTo>
                                <a:lnTo>
                                  <a:pt x="141" y="11"/>
                                </a:lnTo>
                                <a:lnTo>
                                  <a:pt x="149" y="16"/>
                                </a:lnTo>
                                <a:lnTo>
                                  <a:pt x="158" y="10"/>
                                </a:lnTo>
                                <a:lnTo>
                                  <a:pt x="169" y="6"/>
                                </a:lnTo>
                                <a:lnTo>
                                  <a:pt x="177" y="3"/>
                                </a:lnTo>
                                <a:lnTo>
                                  <a:pt x="189" y="1"/>
                                </a:lnTo>
                                <a:lnTo>
                                  <a:pt x="196" y="1"/>
                                </a:lnTo>
                                <a:lnTo>
                                  <a:pt x="202" y="1"/>
                                </a:lnTo>
                                <a:lnTo>
                                  <a:pt x="208" y="0"/>
                                </a:lnTo>
                                <a:lnTo>
                                  <a:pt x="221" y="10"/>
                                </a:lnTo>
                                <a:lnTo>
                                  <a:pt x="225" y="10"/>
                                </a:lnTo>
                                <a:lnTo>
                                  <a:pt x="229" y="16"/>
                                </a:lnTo>
                                <a:lnTo>
                                  <a:pt x="232" y="17"/>
                                </a:lnTo>
                                <a:lnTo>
                                  <a:pt x="243" y="16"/>
                                </a:lnTo>
                                <a:lnTo>
                                  <a:pt x="251" y="16"/>
                                </a:lnTo>
                                <a:lnTo>
                                  <a:pt x="261" y="16"/>
                                </a:lnTo>
                                <a:lnTo>
                                  <a:pt x="266" y="16"/>
                                </a:lnTo>
                                <a:lnTo>
                                  <a:pt x="274" y="16"/>
                                </a:lnTo>
                                <a:lnTo>
                                  <a:pt x="280" y="10"/>
                                </a:lnTo>
                                <a:lnTo>
                                  <a:pt x="285" y="7"/>
                                </a:lnTo>
                                <a:lnTo>
                                  <a:pt x="293" y="6"/>
                                </a:lnTo>
                                <a:lnTo>
                                  <a:pt x="296" y="6"/>
                                </a:lnTo>
                                <a:lnTo>
                                  <a:pt x="303" y="4"/>
                                </a:lnTo>
                                <a:lnTo>
                                  <a:pt x="314" y="7"/>
                                </a:lnTo>
                                <a:lnTo>
                                  <a:pt x="324" y="9"/>
                                </a:lnTo>
                                <a:lnTo>
                                  <a:pt x="335" y="10"/>
                                </a:lnTo>
                                <a:lnTo>
                                  <a:pt x="354" y="13"/>
                                </a:lnTo>
                                <a:lnTo>
                                  <a:pt x="377" y="20"/>
                                </a:lnTo>
                                <a:lnTo>
                                  <a:pt x="385" y="22"/>
                                </a:lnTo>
                                <a:lnTo>
                                  <a:pt x="396" y="25"/>
                                </a:lnTo>
                                <a:lnTo>
                                  <a:pt x="407" y="26"/>
                                </a:lnTo>
                                <a:lnTo>
                                  <a:pt x="416" y="30"/>
                                </a:lnTo>
                                <a:lnTo>
                                  <a:pt x="421" y="32"/>
                                </a:lnTo>
                                <a:lnTo>
                                  <a:pt x="433" y="29"/>
                                </a:lnTo>
                                <a:lnTo>
                                  <a:pt x="439" y="25"/>
                                </a:lnTo>
                                <a:lnTo>
                                  <a:pt x="448" y="25"/>
                                </a:lnTo>
                                <a:lnTo>
                                  <a:pt x="459" y="29"/>
                                </a:lnTo>
                                <a:lnTo>
                                  <a:pt x="464" y="30"/>
                                </a:lnTo>
                                <a:lnTo>
                                  <a:pt x="474" y="32"/>
                                </a:lnTo>
                                <a:lnTo>
                                  <a:pt x="479" y="35"/>
                                </a:lnTo>
                                <a:lnTo>
                                  <a:pt x="485" y="38"/>
                                </a:lnTo>
                                <a:lnTo>
                                  <a:pt x="495" y="43"/>
                                </a:lnTo>
                                <a:lnTo>
                                  <a:pt x="502" y="45"/>
                                </a:lnTo>
                                <a:lnTo>
                                  <a:pt x="507" y="49"/>
                                </a:lnTo>
                                <a:lnTo>
                                  <a:pt x="514" y="54"/>
                                </a:lnTo>
                                <a:lnTo>
                                  <a:pt x="518" y="56"/>
                                </a:lnTo>
                                <a:lnTo>
                                  <a:pt x="522" y="62"/>
                                </a:lnTo>
                                <a:lnTo>
                                  <a:pt x="522" y="67"/>
                                </a:lnTo>
                                <a:lnTo>
                                  <a:pt x="525" y="71"/>
                                </a:lnTo>
                                <a:lnTo>
                                  <a:pt x="518" y="77"/>
                                </a:lnTo>
                                <a:lnTo>
                                  <a:pt x="509" y="80"/>
                                </a:lnTo>
                                <a:lnTo>
                                  <a:pt x="499" y="88"/>
                                </a:lnTo>
                                <a:lnTo>
                                  <a:pt x="487" y="90"/>
                                </a:lnTo>
                                <a:lnTo>
                                  <a:pt x="479" y="97"/>
                                </a:lnTo>
                                <a:lnTo>
                                  <a:pt x="474" y="103"/>
                                </a:lnTo>
                                <a:lnTo>
                                  <a:pt x="470" y="107"/>
                                </a:lnTo>
                                <a:lnTo>
                                  <a:pt x="479" y="112"/>
                                </a:lnTo>
                                <a:lnTo>
                                  <a:pt x="479" y="116"/>
                                </a:lnTo>
                                <a:lnTo>
                                  <a:pt x="469" y="122"/>
                                </a:lnTo>
                                <a:lnTo>
                                  <a:pt x="462" y="128"/>
                                </a:lnTo>
                                <a:lnTo>
                                  <a:pt x="457" y="133"/>
                                </a:lnTo>
                                <a:lnTo>
                                  <a:pt x="451" y="135"/>
                                </a:lnTo>
                                <a:lnTo>
                                  <a:pt x="447" y="135"/>
                                </a:lnTo>
                                <a:lnTo>
                                  <a:pt x="436" y="138"/>
                                </a:lnTo>
                                <a:lnTo>
                                  <a:pt x="432" y="146"/>
                                </a:lnTo>
                                <a:lnTo>
                                  <a:pt x="425" y="152"/>
                                </a:lnTo>
                                <a:lnTo>
                                  <a:pt x="461" y="158"/>
                                </a:lnTo>
                                <a:lnTo>
                                  <a:pt x="457" y="164"/>
                                </a:lnTo>
                                <a:lnTo>
                                  <a:pt x="440" y="168"/>
                                </a:lnTo>
                                <a:lnTo>
                                  <a:pt x="417" y="165"/>
                                </a:lnTo>
                                <a:lnTo>
                                  <a:pt x="398" y="168"/>
                                </a:lnTo>
                                <a:lnTo>
                                  <a:pt x="380" y="174"/>
                                </a:lnTo>
                                <a:lnTo>
                                  <a:pt x="372" y="181"/>
                                </a:lnTo>
                                <a:lnTo>
                                  <a:pt x="369" y="193"/>
                                </a:lnTo>
                                <a:lnTo>
                                  <a:pt x="351" y="194"/>
                                </a:lnTo>
                                <a:lnTo>
                                  <a:pt x="333" y="192"/>
                                </a:lnTo>
                                <a:lnTo>
                                  <a:pt x="306" y="189"/>
                                </a:lnTo>
                                <a:lnTo>
                                  <a:pt x="293" y="184"/>
                                </a:lnTo>
                                <a:lnTo>
                                  <a:pt x="273" y="180"/>
                                </a:lnTo>
                                <a:lnTo>
                                  <a:pt x="258" y="177"/>
                                </a:lnTo>
                                <a:lnTo>
                                  <a:pt x="241" y="174"/>
                                </a:lnTo>
                                <a:lnTo>
                                  <a:pt x="221" y="171"/>
                                </a:lnTo>
                                <a:lnTo>
                                  <a:pt x="207" y="164"/>
                                </a:lnTo>
                                <a:lnTo>
                                  <a:pt x="195" y="161"/>
                                </a:lnTo>
                                <a:lnTo>
                                  <a:pt x="191" y="160"/>
                                </a:lnTo>
                                <a:lnTo>
                                  <a:pt x="169" y="154"/>
                                </a:lnTo>
                                <a:lnTo>
                                  <a:pt x="147" y="144"/>
                                </a:lnTo>
                                <a:lnTo>
                                  <a:pt x="128" y="136"/>
                                </a:lnTo>
                                <a:lnTo>
                                  <a:pt x="118" y="131"/>
                                </a:lnTo>
                                <a:lnTo>
                                  <a:pt x="104" y="125"/>
                                </a:lnTo>
                                <a:lnTo>
                                  <a:pt x="93" y="119"/>
                                </a:lnTo>
                                <a:lnTo>
                                  <a:pt x="81" y="113"/>
                                </a:lnTo>
                                <a:lnTo>
                                  <a:pt x="70" y="106"/>
                                </a:lnTo>
                                <a:lnTo>
                                  <a:pt x="60" y="97"/>
                                </a:lnTo>
                                <a:lnTo>
                                  <a:pt x="49" y="88"/>
                                </a:lnTo>
                                <a:lnTo>
                                  <a:pt x="38" y="81"/>
                                </a:lnTo>
                                <a:lnTo>
                                  <a:pt x="25" y="70"/>
                                </a:lnTo>
                                <a:lnTo>
                                  <a:pt x="14" y="62"/>
                                </a:lnTo>
                                <a:lnTo>
                                  <a:pt x="4" y="55"/>
                                </a:lnTo>
                                <a:lnTo>
                                  <a:pt x="0" y="48"/>
                                </a:lnTo>
                                <a:lnTo>
                                  <a:pt x="15" y="43"/>
                                </a:lnTo>
                                <a:lnTo>
                                  <a:pt x="7" y="27"/>
                                </a:lnTo>
                                <a:lnTo>
                                  <a:pt x="27" y="22"/>
                                </a:lnTo>
                                <a:lnTo>
                                  <a:pt x="19" y="16"/>
                                </a:lnTo>
                                <a:lnTo>
                                  <a:pt x="41" y="13"/>
                                </a:lnTo>
                                <a:lnTo>
                                  <a:pt x="49" y="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grpSp>
                        <p:nvGrpSpPr>
                          <p:cNvPr id="58599" name="Group 136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756" y="2823"/>
                            <a:ext cx="174" cy="87"/>
                            <a:chOff x="3756" y="2823"/>
                            <a:chExt cx="174" cy="87"/>
                          </a:xfrm>
                        </p:grpSpPr>
                        <p:sp>
                          <p:nvSpPr>
                            <p:cNvPr id="58601" name="Freeform 137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902" y="2823"/>
                              <a:ext cx="28" cy="53"/>
                            </a:xfrm>
                            <a:custGeom>
                              <a:avLst/>
                              <a:gdLst>
                                <a:gd name="T0" fmla="*/ 1 w 55"/>
                                <a:gd name="T1" fmla="*/ 0 h 108"/>
                                <a:gd name="T2" fmla="*/ 1 w 55"/>
                                <a:gd name="T3" fmla="*/ 0 h 108"/>
                                <a:gd name="T4" fmla="*/ 2 w 55"/>
                                <a:gd name="T5" fmla="*/ 0 h 108"/>
                                <a:gd name="T6" fmla="*/ 1 w 55"/>
                                <a:gd name="T7" fmla="*/ 1 h 108"/>
                                <a:gd name="T8" fmla="*/ 2 w 55"/>
                                <a:gd name="T9" fmla="*/ 1 h 108"/>
                                <a:gd name="T10" fmla="*/ 2 w 55"/>
                                <a:gd name="T11" fmla="*/ 1 h 108"/>
                                <a:gd name="T12" fmla="*/ 2 w 55"/>
                                <a:gd name="T13" fmla="*/ 1 h 108"/>
                                <a:gd name="T14" fmla="*/ 2 w 55"/>
                                <a:gd name="T15" fmla="*/ 1 h 108"/>
                                <a:gd name="T16" fmla="*/ 2 w 55"/>
                                <a:gd name="T17" fmla="*/ 1 h 108"/>
                                <a:gd name="T18" fmla="*/ 2 w 55"/>
                                <a:gd name="T19" fmla="*/ 1 h 108"/>
                                <a:gd name="T20" fmla="*/ 2 w 55"/>
                                <a:gd name="T21" fmla="*/ 1 h 108"/>
                                <a:gd name="T22" fmla="*/ 2 w 55"/>
                                <a:gd name="T23" fmla="*/ 1 h 108"/>
                                <a:gd name="T24" fmla="*/ 2 w 55"/>
                                <a:gd name="T25" fmla="*/ 2 h 108"/>
                                <a:gd name="T26" fmla="*/ 2 w 55"/>
                                <a:gd name="T27" fmla="*/ 2 h 108"/>
                                <a:gd name="T28" fmla="*/ 2 w 55"/>
                                <a:gd name="T29" fmla="*/ 2 h 108"/>
                                <a:gd name="T30" fmla="*/ 2 w 55"/>
                                <a:gd name="T31" fmla="*/ 2 h 108"/>
                                <a:gd name="T32" fmla="*/ 1 w 55"/>
                                <a:gd name="T33" fmla="*/ 2 h 108"/>
                                <a:gd name="T34" fmla="*/ 1 w 55"/>
                                <a:gd name="T35" fmla="*/ 2 h 108"/>
                                <a:gd name="T36" fmla="*/ 1 w 55"/>
                                <a:gd name="T37" fmla="*/ 2 h 108"/>
                                <a:gd name="T38" fmla="*/ 2 w 55"/>
                                <a:gd name="T39" fmla="*/ 3 h 108"/>
                                <a:gd name="T40" fmla="*/ 1 w 55"/>
                                <a:gd name="T41" fmla="*/ 3 h 108"/>
                                <a:gd name="T42" fmla="*/ 1 w 55"/>
                                <a:gd name="T43" fmla="*/ 3 h 108"/>
                                <a:gd name="T44" fmla="*/ 1 w 55"/>
                                <a:gd name="T45" fmla="*/ 3 h 108"/>
                                <a:gd name="T46" fmla="*/ 1 w 55"/>
                                <a:gd name="T47" fmla="*/ 3 h 108"/>
                                <a:gd name="T48" fmla="*/ 1 w 55"/>
                                <a:gd name="T49" fmla="*/ 3 h 108"/>
                                <a:gd name="T50" fmla="*/ 1 w 55"/>
                                <a:gd name="T51" fmla="*/ 3 h 108"/>
                                <a:gd name="T52" fmla="*/ 1 w 55"/>
                                <a:gd name="T53" fmla="*/ 2 h 108"/>
                                <a:gd name="T54" fmla="*/ 1 w 55"/>
                                <a:gd name="T55" fmla="*/ 2 h 108"/>
                                <a:gd name="T56" fmla="*/ 1 w 55"/>
                                <a:gd name="T57" fmla="*/ 2 h 108"/>
                                <a:gd name="T58" fmla="*/ 1 w 55"/>
                                <a:gd name="T59" fmla="*/ 2 h 108"/>
                                <a:gd name="T60" fmla="*/ 1 w 55"/>
                                <a:gd name="T61" fmla="*/ 2 h 108"/>
                                <a:gd name="T62" fmla="*/ 1 w 55"/>
                                <a:gd name="T63" fmla="*/ 2 h 108"/>
                                <a:gd name="T64" fmla="*/ 1 w 55"/>
                                <a:gd name="T65" fmla="*/ 2 h 108"/>
                                <a:gd name="T66" fmla="*/ 1 w 55"/>
                                <a:gd name="T67" fmla="*/ 2 h 108"/>
                                <a:gd name="T68" fmla="*/ 0 w 55"/>
                                <a:gd name="T69" fmla="*/ 2 h 108"/>
                                <a:gd name="T70" fmla="*/ 1 w 55"/>
                                <a:gd name="T71" fmla="*/ 2 h 108"/>
                                <a:gd name="T72" fmla="*/ 1 w 55"/>
                                <a:gd name="T73" fmla="*/ 2 h 108"/>
                                <a:gd name="T74" fmla="*/ 1 w 55"/>
                                <a:gd name="T75" fmla="*/ 2 h 108"/>
                                <a:gd name="T76" fmla="*/ 1 w 55"/>
                                <a:gd name="T77" fmla="*/ 1 h 108"/>
                                <a:gd name="T78" fmla="*/ 1 w 55"/>
                                <a:gd name="T79" fmla="*/ 1 h 108"/>
                                <a:gd name="T80" fmla="*/ 1 w 55"/>
                                <a:gd name="T81" fmla="*/ 1 h 108"/>
                                <a:gd name="T82" fmla="*/ 1 w 55"/>
                                <a:gd name="T83" fmla="*/ 1 h 108"/>
                                <a:gd name="T84" fmla="*/ 1 w 55"/>
                                <a:gd name="T85" fmla="*/ 1 h 108"/>
                                <a:gd name="T86" fmla="*/ 1 w 55"/>
                                <a:gd name="T87" fmla="*/ 0 h 108"/>
                                <a:gd name="T88" fmla="*/ 1 w 55"/>
                                <a:gd name="T89" fmla="*/ 0 h 108"/>
                                <a:gd name="T90" fmla="*/ 1 w 55"/>
                                <a:gd name="T91" fmla="*/ 0 h 108"/>
                                <a:gd name="T92" fmla="*/ 1 w 55"/>
                                <a:gd name="T93" fmla="*/ 0 h 108"/>
                                <a:gd name="T94" fmla="*/ 0 60000 65536"/>
                                <a:gd name="T95" fmla="*/ 0 60000 65536"/>
                                <a:gd name="T96" fmla="*/ 0 60000 65536"/>
                                <a:gd name="T97" fmla="*/ 0 60000 65536"/>
                                <a:gd name="T98" fmla="*/ 0 60000 65536"/>
                                <a:gd name="T99" fmla="*/ 0 60000 65536"/>
                                <a:gd name="T100" fmla="*/ 0 60000 65536"/>
                                <a:gd name="T101" fmla="*/ 0 60000 65536"/>
                                <a:gd name="T102" fmla="*/ 0 60000 65536"/>
                                <a:gd name="T103" fmla="*/ 0 60000 65536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60000 65536"/>
                                <a:gd name="T133" fmla="*/ 0 60000 65536"/>
                                <a:gd name="T134" fmla="*/ 0 60000 65536"/>
                                <a:gd name="T135" fmla="*/ 0 60000 65536"/>
                                <a:gd name="T136" fmla="*/ 0 60000 65536"/>
                                <a:gd name="T137" fmla="*/ 0 60000 65536"/>
                                <a:gd name="T138" fmla="*/ 0 60000 65536"/>
                                <a:gd name="T139" fmla="*/ 0 60000 65536"/>
                                <a:gd name="T140" fmla="*/ 0 60000 65536"/>
                                <a:gd name="T141" fmla="*/ 0 w 55"/>
                                <a:gd name="T142" fmla="*/ 0 h 108"/>
                                <a:gd name="T143" fmla="*/ 55 w 55"/>
                                <a:gd name="T144" fmla="*/ 108 h 108"/>
                              </a:gdLst>
                              <a:ahLst/>
                              <a:cxnLst>
                                <a:cxn ang="T94">
                                  <a:pos x="T0" y="T1"/>
                                </a:cxn>
                                <a:cxn ang="T95">
                                  <a:pos x="T2" y="T3"/>
                                </a:cxn>
                                <a:cxn ang="T96">
                                  <a:pos x="T4" y="T5"/>
                                </a:cxn>
                                <a:cxn ang="T97">
                                  <a:pos x="T6" y="T7"/>
                                </a:cxn>
                                <a:cxn ang="T98">
                                  <a:pos x="T8" y="T9"/>
                                </a:cxn>
                                <a:cxn ang="T99">
                                  <a:pos x="T10" y="T11"/>
                                </a:cxn>
                                <a:cxn ang="T100">
                                  <a:pos x="T12" y="T13"/>
                                </a:cxn>
                                <a:cxn ang="T101">
                                  <a:pos x="T14" y="T15"/>
                                </a:cxn>
                                <a:cxn ang="T102">
                                  <a:pos x="T16" y="T17"/>
                                </a:cxn>
                                <a:cxn ang="T103">
                                  <a:pos x="T18" y="T19"/>
                                </a:cxn>
                                <a:cxn ang="T104">
                                  <a:pos x="T20" y="T21"/>
                                </a:cxn>
                                <a:cxn ang="T105">
                                  <a:pos x="T22" y="T23"/>
                                </a:cxn>
                                <a:cxn ang="T106">
                                  <a:pos x="T24" y="T25"/>
                                </a:cxn>
                                <a:cxn ang="T107">
                                  <a:pos x="T26" y="T27"/>
                                </a:cxn>
                                <a:cxn ang="T108">
                                  <a:pos x="T28" y="T29"/>
                                </a:cxn>
                                <a:cxn ang="T109">
                                  <a:pos x="T30" y="T31"/>
                                </a:cxn>
                                <a:cxn ang="T110">
                                  <a:pos x="T32" y="T33"/>
                                </a:cxn>
                                <a:cxn ang="T111">
                                  <a:pos x="T34" y="T35"/>
                                </a:cxn>
                                <a:cxn ang="T112">
                                  <a:pos x="T36" y="T37"/>
                                </a:cxn>
                                <a:cxn ang="T113">
                                  <a:pos x="T38" y="T39"/>
                                </a:cxn>
                                <a:cxn ang="T114">
                                  <a:pos x="T40" y="T41"/>
                                </a:cxn>
                                <a:cxn ang="T115">
                                  <a:pos x="T42" y="T43"/>
                                </a:cxn>
                                <a:cxn ang="T116">
                                  <a:pos x="T44" y="T45"/>
                                </a:cxn>
                                <a:cxn ang="T117">
                                  <a:pos x="T46" y="T47"/>
                                </a:cxn>
                                <a:cxn ang="T118">
                                  <a:pos x="T48" y="T49"/>
                                </a:cxn>
                                <a:cxn ang="T119">
                                  <a:pos x="T50" y="T51"/>
                                </a:cxn>
                                <a:cxn ang="T120">
                                  <a:pos x="T52" y="T53"/>
                                </a:cxn>
                                <a:cxn ang="T121">
                                  <a:pos x="T54" y="T55"/>
                                </a:cxn>
                                <a:cxn ang="T122">
                                  <a:pos x="T56" y="T57"/>
                                </a:cxn>
                                <a:cxn ang="T123">
                                  <a:pos x="T58" y="T59"/>
                                </a:cxn>
                                <a:cxn ang="T124">
                                  <a:pos x="T60" y="T61"/>
                                </a:cxn>
                                <a:cxn ang="T125">
                                  <a:pos x="T62" y="T63"/>
                                </a:cxn>
                                <a:cxn ang="T126">
                                  <a:pos x="T64" y="T65"/>
                                </a:cxn>
                                <a:cxn ang="T127">
                                  <a:pos x="T66" y="T67"/>
                                </a:cxn>
                                <a:cxn ang="T128">
                                  <a:pos x="T68" y="T69"/>
                                </a:cxn>
                                <a:cxn ang="T129">
                                  <a:pos x="T70" y="T71"/>
                                </a:cxn>
                                <a:cxn ang="T130">
                                  <a:pos x="T72" y="T73"/>
                                </a:cxn>
                                <a:cxn ang="T131">
                                  <a:pos x="T74" y="T75"/>
                                </a:cxn>
                                <a:cxn ang="T132">
                                  <a:pos x="T76" y="T77"/>
                                </a:cxn>
                                <a:cxn ang="T133">
                                  <a:pos x="T78" y="T79"/>
                                </a:cxn>
                                <a:cxn ang="T134">
                                  <a:pos x="T80" y="T81"/>
                                </a:cxn>
                                <a:cxn ang="T135">
                                  <a:pos x="T82" y="T83"/>
                                </a:cxn>
                                <a:cxn ang="T136">
                                  <a:pos x="T84" y="T85"/>
                                </a:cxn>
                                <a:cxn ang="T137">
                                  <a:pos x="T86" y="T87"/>
                                </a:cxn>
                                <a:cxn ang="T138">
                                  <a:pos x="T88" y="T89"/>
                                </a:cxn>
                                <a:cxn ang="T139">
                                  <a:pos x="T90" y="T91"/>
                                </a:cxn>
                                <a:cxn ang="T140">
                                  <a:pos x="T92" y="T93"/>
                                </a:cxn>
                              </a:cxnLst>
                              <a:rect l="T141" t="T142" r="T143" b="T144"/>
                              <a:pathLst>
                                <a:path w="55" h="108">
                                  <a:moveTo>
                                    <a:pt x="18" y="2"/>
                                  </a:moveTo>
                                  <a:lnTo>
                                    <a:pt x="23" y="0"/>
                                  </a:lnTo>
                                  <a:lnTo>
                                    <a:pt x="33" y="12"/>
                                  </a:lnTo>
                                  <a:lnTo>
                                    <a:pt x="31" y="45"/>
                                  </a:lnTo>
                                  <a:lnTo>
                                    <a:pt x="38" y="45"/>
                                  </a:lnTo>
                                  <a:lnTo>
                                    <a:pt x="40" y="50"/>
                                  </a:lnTo>
                                  <a:lnTo>
                                    <a:pt x="42" y="57"/>
                                  </a:lnTo>
                                  <a:lnTo>
                                    <a:pt x="44" y="61"/>
                                  </a:lnTo>
                                  <a:lnTo>
                                    <a:pt x="49" y="60"/>
                                  </a:lnTo>
                                  <a:lnTo>
                                    <a:pt x="53" y="53"/>
                                  </a:lnTo>
                                  <a:lnTo>
                                    <a:pt x="55" y="57"/>
                                  </a:lnTo>
                                  <a:lnTo>
                                    <a:pt x="52" y="63"/>
                                  </a:lnTo>
                                  <a:lnTo>
                                    <a:pt x="49" y="67"/>
                                  </a:lnTo>
                                  <a:lnTo>
                                    <a:pt x="48" y="76"/>
                                  </a:lnTo>
                                  <a:lnTo>
                                    <a:pt x="41" y="80"/>
                                  </a:lnTo>
                                  <a:lnTo>
                                    <a:pt x="37" y="82"/>
                                  </a:lnTo>
                                  <a:lnTo>
                                    <a:pt x="31" y="86"/>
                                  </a:lnTo>
                                  <a:lnTo>
                                    <a:pt x="30" y="90"/>
                                  </a:lnTo>
                                  <a:lnTo>
                                    <a:pt x="31" y="95"/>
                                  </a:lnTo>
                                  <a:lnTo>
                                    <a:pt x="33" y="102"/>
                                  </a:lnTo>
                                  <a:lnTo>
                                    <a:pt x="26" y="105"/>
                                  </a:lnTo>
                                  <a:lnTo>
                                    <a:pt x="22" y="106"/>
                                  </a:lnTo>
                                  <a:lnTo>
                                    <a:pt x="18" y="108"/>
                                  </a:lnTo>
                                  <a:lnTo>
                                    <a:pt x="15" y="106"/>
                                  </a:lnTo>
                                  <a:lnTo>
                                    <a:pt x="8" y="105"/>
                                  </a:lnTo>
                                  <a:lnTo>
                                    <a:pt x="5" y="102"/>
                                  </a:lnTo>
                                  <a:lnTo>
                                    <a:pt x="8" y="96"/>
                                  </a:lnTo>
                                  <a:lnTo>
                                    <a:pt x="14" y="95"/>
                                  </a:lnTo>
                                  <a:lnTo>
                                    <a:pt x="18" y="87"/>
                                  </a:lnTo>
                                  <a:lnTo>
                                    <a:pt x="18" y="84"/>
                                  </a:lnTo>
                                  <a:lnTo>
                                    <a:pt x="14" y="82"/>
                                  </a:lnTo>
                                  <a:lnTo>
                                    <a:pt x="8" y="77"/>
                                  </a:lnTo>
                                  <a:lnTo>
                                    <a:pt x="4" y="77"/>
                                  </a:lnTo>
                                  <a:lnTo>
                                    <a:pt x="1" y="76"/>
                                  </a:lnTo>
                                  <a:lnTo>
                                    <a:pt x="0" y="71"/>
                                  </a:lnTo>
                                  <a:lnTo>
                                    <a:pt x="1" y="69"/>
                                  </a:lnTo>
                                  <a:lnTo>
                                    <a:pt x="4" y="69"/>
                                  </a:lnTo>
                                  <a:lnTo>
                                    <a:pt x="8" y="67"/>
                                  </a:lnTo>
                                  <a:lnTo>
                                    <a:pt x="14" y="63"/>
                                  </a:lnTo>
                                  <a:lnTo>
                                    <a:pt x="16" y="61"/>
                                  </a:lnTo>
                                  <a:lnTo>
                                    <a:pt x="19" y="45"/>
                                  </a:lnTo>
                                  <a:lnTo>
                                    <a:pt x="16" y="41"/>
                                  </a:lnTo>
                                  <a:lnTo>
                                    <a:pt x="12" y="38"/>
                                  </a:lnTo>
                                  <a:lnTo>
                                    <a:pt x="11" y="29"/>
                                  </a:lnTo>
                                  <a:lnTo>
                                    <a:pt x="12" y="21"/>
                                  </a:lnTo>
                                  <a:lnTo>
                                    <a:pt x="14" y="15"/>
                                  </a:lnTo>
                                  <a:lnTo>
                                    <a:pt x="18" y="2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58602" name="Freeform 138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850" y="2865"/>
                              <a:ext cx="50" cy="45"/>
                            </a:xfrm>
                            <a:custGeom>
                              <a:avLst/>
                              <a:gdLst>
                                <a:gd name="T0" fmla="*/ 2 w 102"/>
                                <a:gd name="T1" fmla="*/ 0 h 92"/>
                                <a:gd name="T2" fmla="*/ 2 w 102"/>
                                <a:gd name="T3" fmla="*/ 0 h 92"/>
                                <a:gd name="T4" fmla="*/ 3 w 102"/>
                                <a:gd name="T5" fmla="*/ 0 h 92"/>
                                <a:gd name="T6" fmla="*/ 2 w 102"/>
                                <a:gd name="T7" fmla="*/ 1 h 92"/>
                                <a:gd name="T8" fmla="*/ 2 w 102"/>
                                <a:gd name="T9" fmla="*/ 1 h 92"/>
                                <a:gd name="T10" fmla="*/ 2 w 102"/>
                                <a:gd name="T11" fmla="*/ 1 h 92"/>
                                <a:gd name="T12" fmla="*/ 2 w 102"/>
                                <a:gd name="T13" fmla="*/ 1 h 92"/>
                                <a:gd name="T14" fmla="*/ 1 w 102"/>
                                <a:gd name="T15" fmla="*/ 2 h 92"/>
                                <a:gd name="T16" fmla="*/ 1 w 102"/>
                                <a:gd name="T17" fmla="*/ 2 h 92"/>
                                <a:gd name="T18" fmla="*/ 1 w 102"/>
                                <a:gd name="T19" fmla="*/ 2 h 92"/>
                                <a:gd name="T20" fmla="*/ 1 w 102"/>
                                <a:gd name="T21" fmla="*/ 2 h 92"/>
                                <a:gd name="T22" fmla="*/ 0 w 102"/>
                                <a:gd name="T23" fmla="*/ 2 h 92"/>
                                <a:gd name="T24" fmla="*/ 0 w 102"/>
                                <a:gd name="T25" fmla="*/ 2 h 92"/>
                                <a:gd name="T26" fmla="*/ 0 w 102"/>
                                <a:gd name="T27" fmla="*/ 2 h 92"/>
                                <a:gd name="T28" fmla="*/ 0 w 102"/>
                                <a:gd name="T29" fmla="*/ 2 h 92"/>
                                <a:gd name="T30" fmla="*/ 0 w 102"/>
                                <a:gd name="T31" fmla="*/ 1 h 92"/>
                                <a:gd name="T32" fmla="*/ 0 w 102"/>
                                <a:gd name="T33" fmla="*/ 1 h 92"/>
                                <a:gd name="T34" fmla="*/ 1 w 102"/>
                                <a:gd name="T35" fmla="*/ 1 h 92"/>
                                <a:gd name="T36" fmla="*/ 1 w 102"/>
                                <a:gd name="T37" fmla="*/ 1 h 92"/>
                                <a:gd name="T38" fmla="*/ 1 w 102"/>
                                <a:gd name="T39" fmla="*/ 1 h 92"/>
                                <a:gd name="T40" fmla="*/ 1 w 102"/>
                                <a:gd name="T41" fmla="*/ 1 h 92"/>
                                <a:gd name="T42" fmla="*/ 1 w 102"/>
                                <a:gd name="T43" fmla="*/ 1 h 92"/>
                                <a:gd name="T44" fmla="*/ 1 w 102"/>
                                <a:gd name="T45" fmla="*/ 1 h 92"/>
                                <a:gd name="T46" fmla="*/ 1 w 102"/>
                                <a:gd name="T47" fmla="*/ 1 h 92"/>
                                <a:gd name="T48" fmla="*/ 1 w 102"/>
                                <a:gd name="T49" fmla="*/ 0 h 92"/>
                                <a:gd name="T50" fmla="*/ 1 w 102"/>
                                <a:gd name="T51" fmla="*/ 0 h 92"/>
                                <a:gd name="T52" fmla="*/ 2 w 102"/>
                                <a:gd name="T53" fmla="*/ 0 h 92"/>
                                <a:gd name="T54" fmla="*/ 2 w 102"/>
                                <a:gd name="T55" fmla="*/ 0 h 92"/>
                                <a:gd name="T56" fmla="*/ 0 60000 65536"/>
                                <a:gd name="T57" fmla="*/ 0 60000 65536"/>
                                <a:gd name="T58" fmla="*/ 0 60000 65536"/>
                                <a:gd name="T59" fmla="*/ 0 60000 65536"/>
                                <a:gd name="T60" fmla="*/ 0 60000 65536"/>
                                <a:gd name="T61" fmla="*/ 0 60000 65536"/>
                                <a:gd name="T62" fmla="*/ 0 60000 65536"/>
                                <a:gd name="T63" fmla="*/ 0 60000 65536"/>
                                <a:gd name="T64" fmla="*/ 0 60000 65536"/>
                                <a:gd name="T65" fmla="*/ 0 60000 65536"/>
                                <a:gd name="T66" fmla="*/ 0 60000 65536"/>
                                <a:gd name="T67" fmla="*/ 0 60000 65536"/>
                                <a:gd name="T68" fmla="*/ 0 60000 65536"/>
                                <a:gd name="T69" fmla="*/ 0 60000 65536"/>
                                <a:gd name="T70" fmla="*/ 0 60000 65536"/>
                                <a:gd name="T71" fmla="*/ 0 60000 65536"/>
                                <a:gd name="T72" fmla="*/ 0 60000 65536"/>
                                <a:gd name="T73" fmla="*/ 0 60000 65536"/>
                                <a:gd name="T74" fmla="*/ 0 60000 65536"/>
                                <a:gd name="T75" fmla="*/ 0 60000 65536"/>
                                <a:gd name="T76" fmla="*/ 0 60000 65536"/>
                                <a:gd name="T77" fmla="*/ 0 60000 65536"/>
                                <a:gd name="T78" fmla="*/ 0 60000 65536"/>
                                <a:gd name="T79" fmla="*/ 0 60000 65536"/>
                                <a:gd name="T80" fmla="*/ 0 60000 65536"/>
                                <a:gd name="T81" fmla="*/ 0 60000 65536"/>
                                <a:gd name="T82" fmla="*/ 0 60000 65536"/>
                                <a:gd name="T83" fmla="*/ 0 60000 65536"/>
                                <a:gd name="T84" fmla="*/ 0 w 102"/>
                                <a:gd name="T85" fmla="*/ 0 h 92"/>
                                <a:gd name="T86" fmla="*/ 102 w 102"/>
                                <a:gd name="T87" fmla="*/ 92 h 92"/>
                              </a:gdLst>
                              <a:ahLst/>
                              <a:cxnLst>
                                <a:cxn ang="T56">
                                  <a:pos x="T0" y="T1"/>
                                </a:cxn>
                                <a:cxn ang="T57">
                                  <a:pos x="T2" y="T3"/>
                                </a:cxn>
                                <a:cxn ang="T58">
                                  <a:pos x="T4" y="T5"/>
                                </a:cxn>
                                <a:cxn ang="T59">
                                  <a:pos x="T6" y="T7"/>
                                </a:cxn>
                                <a:cxn ang="T60">
                                  <a:pos x="T8" y="T9"/>
                                </a:cxn>
                                <a:cxn ang="T61">
                                  <a:pos x="T10" y="T11"/>
                                </a:cxn>
                                <a:cxn ang="T62">
                                  <a:pos x="T12" y="T13"/>
                                </a:cxn>
                                <a:cxn ang="T63">
                                  <a:pos x="T14" y="T15"/>
                                </a:cxn>
                                <a:cxn ang="T64">
                                  <a:pos x="T16" y="T17"/>
                                </a:cxn>
                                <a:cxn ang="T65">
                                  <a:pos x="T18" y="T19"/>
                                </a:cxn>
                                <a:cxn ang="T66">
                                  <a:pos x="T20" y="T21"/>
                                </a:cxn>
                                <a:cxn ang="T67">
                                  <a:pos x="T22" y="T23"/>
                                </a:cxn>
                                <a:cxn ang="T68">
                                  <a:pos x="T24" y="T25"/>
                                </a:cxn>
                                <a:cxn ang="T69">
                                  <a:pos x="T26" y="T27"/>
                                </a:cxn>
                                <a:cxn ang="T70">
                                  <a:pos x="T28" y="T29"/>
                                </a:cxn>
                                <a:cxn ang="T71">
                                  <a:pos x="T30" y="T31"/>
                                </a:cxn>
                                <a:cxn ang="T72">
                                  <a:pos x="T32" y="T33"/>
                                </a:cxn>
                                <a:cxn ang="T73">
                                  <a:pos x="T34" y="T35"/>
                                </a:cxn>
                                <a:cxn ang="T74">
                                  <a:pos x="T36" y="T37"/>
                                </a:cxn>
                                <a:cxn ang="T75">
                                  <a:pos x="T38" y="T39"/>
                                </a:cxn>
                                <a:cxn ang="T76">
                                  <a:pos x="T40" y="T41"/>
                                </a:cxn>
                                <a:cxn ang="T77">
                                  <a:pos x="T42" y="T43"/>
                                </a:cxn>
                                <a:cxn ang="T78">
                                  <a:pos x="T44" y="T45"/>
                                </a:cxn>
                                <a:cxn ang="T79">
                                  <a:pos x="T46" y="T47"/>
                                </a:cxn>
                                <a:cxn ang="T80">
                                  <a:pos x="T48" y="T49"/>
                                </a:cxn>
                                <a:cxn ang="T81">
                                  <a:pos x="T50" y="T51"/>
                                </a:cxn>
                                <a:cxn ang="T82">
                                  <a:pos x="T52" y="T53"/>
                                </a:cxn>
                                <a:cxn ang="T83">
                                  <a:pos x="T54" y="T55"/>
                                </a:cxn>
                              </a:cxnLst>
                              <a:rect l="T84" t="T85" r="T86" b="T87"/>
                              <a:pathLst>
                                <a:path w="102" h="92">
                                  <a:moveTo>
                                    <a:pt x="72" y="0"/>
                                  </a:moveTo>
                                  <a:lnTo>
                                    <a:pt x="84" y="0"/>
                                  </a:lnTo>
                                  <a:lnTo>
                                    <a:pt x="102" y="27"/>
                                  </a:lnTo>
                                  <a:lnTo>
                                    <a:pt x="83" y="47"/>
                                  </a:lnTo>
                                  <a:lnTo>
                                    <a:pt x="83" y="56"/>
                                  </a:lnTo>
                                  <a:lnTo>
                                    <a:pt x="79" y="59"/>
                                  </a:lnTo>
                                  <a:lnTo>
                                    <a:pt x="68" y="59"/>
                                  </a:lnTo>
                                  <a:lnTo>
                                    <a:pt x="54" y="70"/>
                                  </a:lnTo>
                                  <a:lnTo>
                                    <a:pt x="41" y="82"/>
                                  </a:lnTo>
                                  <a:lnTo>
                                    <a:pt x="33" y="92"/>
                                  </a:lnTo>
                                  <a:lnTo>
                                    <a:pt x="33" y="83"/>
                                  </a:lnTo>
                                  <a:lnTo>
                                    <a:pt x="18" y="85"/>
                                  </a:lnTo>
                                  <a:lnTo>
                                    <a:pt x="11" y="85"/>
                                  </a:lnTo>
                                  <a:lnTo>
                                    <a:pt x="0" y="85"/>
                                  </a:lnTo>
                                  <a:lnTo>
                                    <a:pt x="15" y="70"/>
                                  </a:lnTo>
                                  <a:lnTo>
                                    <a:pt x="21" y="63"/>
                                  </a:lnTo>
                                  <a:lnTo>
                                    <a:pt x="26" y="63"/>
                                  </a:lnTo>
                                  <a:lnTo>
                                    <a:pt x="37" y="51"/>
                                  </a:lnTo>
                                  <a:lnTo>
                                    <a:pt x="41" y="51"/>
                                  </a:lnTo>
                                  <a:lnTo>
                                    <a:pt x="41" y="50"/>
                                  </a:lnTo>
                                  <a:lnTo>
                                    <a:pt x="47" y="46"/>
                                  </a:lnTo>
                                  <a:lnTo>
                                    <a:pt x="54" y="46"/>
                                  </a:lnTo>
                                  <a:lnTo>
                                    <a:pt x="51" y="32"/>
                                  </a:lnTo>
                                  <a:lnTo>
                                    <a:pt x="52" y="32"/>
                                  </a:lnTo>
                                  <a:lnTo>
                                    <a:pt x="59" y="25"/>
                                  </a:lnTo>
                                  <a:lnTo>
                                    <a:pt x="62" y="31"/>
                                  </a:lnTo>
                                  <a:lnTo>
                                    <a:pt x="73" y="21"/>
                                  </a:lnTo>
                                  <a:lnTo>
                                    <a:pt x="72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58603" name="Freeform 139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756" y="2868"/>
                              <a:ext cx="20" cy="24"/>
                            </a:xfrm>
                            <a:custGeom>
                              <a:avLst/>
                              <a:gdLst>
                                <a:gd name="T0" fmla="*/ 0 w 38"/>
                                <a:gd name="T1" fmla="*/ 0 h 50"/>
                                <a:gd name="T2" fmla="*/ 1 w 38"/>
                                <a:gd name="T3" fmla="*/ 0 h 50"/>
                                <a:gd name="T4" fmla="*/ 1 w 38"/>
                                <a:gd name="T5" fmla="*/ 0 h 50"/>
                                <a:gd name="T6" fmla="*/ 2 w 38"/>
                                <a:gd name="T7" fmla="*/ 0 h 50"/>
                                <a:gd name="T8" fmla="*/ 2 w 38"/>
                                <a:gd name="T9" fmla="*/ 0 h 50"/>
                                <a:gd name="T10" fmla="*/ 2 w 38"/>
                                <a:gd name="T11" fmla="*/ 0 h 50"/>
                                <a:gd name="T12" fmla="*/ 1 w 38"/>
                                <a:gd name="T13" fmla="*/ 0 h 50"/>
                                <a:gd name="T14" fmla="*/ 1 w 38"/>
                                <a:gd name="T15" fmla="*/ 0 h 50"/>
                                <a:gd name="T16" fmla="*/ 1 w 38"/>
                                <a:gd name="T17" fmla="*/ 0 h 50"/>
                                <a:gd name="T18" fmla="*/ 1 w 38"/>
                                <a:gd name="T19" fmla="*/ 1 h 50"/>
                                <a:gd name="T20" fmla="*/ 1 w 38"/>
                                <a:gd name="T21" fmla="*/ 1 h 50"/>
                                <a:gd name="T22" fmla="*/ 1 w 38"/>
                                <a:gd name="T23" fmla="*/ 1 h 50"/>
                                <a:gd name="T24" fmla="*/ 1 w 38"/>
                                <a:gd name="T25" fmla="*/ 0 h 50"/>
                                <a:gd name="T26" fmla="*/ 1 w 38"/>
                                <a:gd name="T27" fmla="*/ 0 h 50"/>
                                <a:gd name="T28" fmla="*/ 0 w 38"/>
                                <a:gd name="T29" fmla="*/ 0 h 50"/>
                                <a:gd name="T30" fmla="*/ 0 w 38"/>
                                <a:gd name="T31" fmla="*/ 0 h 50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60000 65536"/>
                                <a:gd name="T40" fmla="*/ 0 60000 65536"/>
                                <a:gd name="T41" fmla="*/ 0 60000 65536"/>
                                <a:gd name="T42" fmla="*/ 0 60000 65536"/>
                                <a:gd name="T43" fmla="*/ 0 60000 65536"/>
                                <a:gd name="T44" fmla="*/ 0 60000 65536"/>
                                <a:gd name="T45" fmla="*/ 0 60000 65536"/>
                                <a:gd name="T46" fmla="*/ 0 60000 65536"/>
                                <a:gd name="T47" fmla="*/ 0 60000 65536"/>
                                <a:gd name="T48" fmla="*/ 0 w 38"/>
                                <a:gd name="T49" fmla="*/ 0 h 50"/>
                                <a:gd name="T50" fmla="*/ 38 w 38"/>
                                <a:gd name="T51" fmla="*/ 50 h 50"/>
                              </a:gdLst>
                              <a:ahLst/>
                              <a:cxnLst>
                                <a:cxn ang="T32">
                                  <a:pos x="T0" y="T1"/>
                                </a:cxn>
                                <a:cxn ang="T33">
                                  <a:pos x="T2" y="T3"/>
                                </a:cxn>
                                <a:cxn ang="T34">
                                  <a:pos x="T4" y="T5"/>
                                </a:cxn>
                                <a:cxn ang="T35">
                                  <a:pos x="T6" y="T7"/>
                                </a:cxn>
                                <a:cxn ang="T36">
                                  <a:pos x="T8" y="T9"/>
                                </a:cxn>
                                <a:cxn ang="T37">
                                  <a:pos x="T10" y="T11"/>
                                </a:cxn>
                                <a:cxn ang="T38">
                                  <a:pos x="T12" y="T13"/>
                                </a:cxn>
                                <a:cxn ang="T39">
                                  <a:pos x="T14" y="T15"/>
                                </a:cxn>
                                <a:cxn ang="T40">
                                  <a:pos x="T16" y="T17"/>
                                </a:cxn>
                                <a:cxn ang="T41">
                                  <a:pos x="T18" y="T19"/>
                                </a:cxn>
                                <a:cxn ang="T42">
                                  <a:pos x="T20" y="T21"/>
                                </a:cxn>
                                <a:cxn ang="T43">
                                  <a:pos x="T22" y="T23"/>
                                </a:cxn>
                                <a:cxn ang="T44">
                                  <a:pos x="T24" y="T25"/>
                                </a:cxn>
                                <a:cxn ang="T45">
                                  <a:pos x="T26" y="T27"/>
                                </a:cxn>
                                <a:cxn ang="T46">
                                  <a:pos x="T28" y="T29"/>
                                </a:cxn>
                                <a:cxn ang="T47">
                                  <a:pos x="T30" y="T31"/>
                                </a:cxn>
                              </a:cxnLst>
                              <a:rect l="T48" t="T49" r="T50" b="T51"/>
                              <a:pathLst>
                                <a:path w="38" h="50">
                                  <a:moveTo>
                                    <a:pt x="0" y="0"/>
                                  </a:moveTo>
                                  <a:lnTo>
                                    <a:pt x="8" y="0"/>
                                  </a:lnTo>
                                  <a:lnTo>
                                    <a:pt x="18" y="6"/>
                                  </a:lnTo>
                                  <a:lnTo>
                                    <a:pt x="38" y="6"/>
                                  </a:lnTo>
                                  <a:lnTo>
                                    <a:pt x="35" y="16"/>
                                  </a:lnTo>
                                  <a:lnTo>
                                    <a:pt x="38" y="25"/>
                                  </a:lnTo>
                                  <a:lnTo>
                                    <a:pt x="31" y="25"/>
                                  </a:lnTo>
                                  <a:lnTo>
                                    <a:pt x="30" y="26"/>
                                  </a:lnTo>
                                  <a:lnTo>
                                    <a:pt x="26" y="28"/>
                                  </a:lnTo>
                                  <a:lnTo>
                                    <a:pt x="30" y="50"/>
                                  </a:lnTo>
                                  <a:lnTo>
                                    <a:pt x="18" y="48"/>
                                  </a:lnTo>
                                  <a:lnTo>
                                    <a:pt x="7" y="41"/>
                                  </a:lnTo>
                                  <a:lnTo>
                                    <a:pt x="7" y="26"/>
                                  </a:lnTo>
                                  <a:lnTo>
                                    <a:pt x="7" y="21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58600" name="Freeform 14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791" y="2616"/>
                            <a:ext cx="32" cy="26"/>
                          </a:xfrm>
                          <a:custGeom>
                            <a:avLst/>
                            <a:gdLst>
                              <a:gd name="T0" fmla="*/ 1 w 63"/>
                              <a:gd name="T1" fmla="*/ 1 h 51"/>
                              <a:gd name="T2" fmla="*/ 0 w 63"/>
                              <a:gd name="T3" fmla="*/ 2 h 51"/>
                              <a:gd name="T4" fmla="*/ 1 w 63"/>
                              <a:gd name="T5" fmla="*/ 2 h 51"/>
                              <a:gd name="T6" fmla="*/ 1 w 63"/>
                              <a:gd name="T7" fmla="*/ 2 h 51"/>
                              <a:gd name="T8" fmla="*/ 2 w 63"/>
                              <a:gd name="T9" fmla="*/ 2 h 51"/>
                              <a:gd name="T10" fmla="*/ 2 w 63"/>
                              <a:gd name="T11" fmla="*/ 2 h 51"/>
                              <a:gd name="T12" fmla="*/ 2 w 63"/>
                              <a:gd name="T13" fmla="*/ 2 h 51"/>
                              <a:gd name="T14" fmla="*/ 2 w 63"/>
                              <a:gd name="T15" fmla="*/ 2 h 51"/>
                              <a:gd name="T16" fmla="*/ 2 w 63"/>
                              <a:gd name="T17" fmla="*/ 1 h 51"/>
                              <a:gd name="T18" fmla="*/ 2 w 63"/>
                              <a:gd name="T19" fmla="*/ 1 h 51"/>
                              <a:gd name="T20" fmla="*/ 2 w 63"/>
                              <a:gd name="T21" fmla="*/ 0 h 51"/>
                              <a:gd name="T22" fmla="*/ 2 w 63"/>
                              <a:gd name="T23" fmla="*/ 1 h 51"/>
                              <a:gd name="T24" fmla="*/ 2 w 63"/>
                              <a:gd name="T25" fmla="*/ 1 h 51"/>
                              <a:gd name="T26" fmla="*/ 2 w 63"/>
                              <a:gd name="T27" fmla="*/ 1 h 51"/>
                              <a:gd name="T28" fmla="*/ 1 w 63"/>
                              <a:gd name="T29" fmla="*/ 1 h 51"/>
                              <a:gd name="T30" fmla="*/ 1 w 63"/>
                              <a:gd name="T31" fmla="*/ 1 h 51"/>
                              <a:gd name="T32" fmla="*/ 0 60000 65536"/>
                              <a:gd name="T33" fmla="*/ 0 60000 65536"/>
                              <a:gd name="T34" fmla="*/ 0 60000 65536"/>
                              <a:gd name="T35" fmla="*/ 0 60000 65536"/>
                              <a:gd name="T36" fmla="*/ 0 60000 65536"/>
                              <a:gd name="T37" fmla="*/ 0 60000 65536"/>
                              <a:gd name="T38" fmla="*/ 0 60000 65536"/>
                              <a:gd name="T39" fmla="*/ 0 60000 65536"/>
                              <a:gd name="T40" fmla="*/ 0 60000 65536"/>
                              <a:gd name="T41" fmla="*/ 0 60000 65536"/>
                              <a:gd name="T42" fmla="*/ 0 60000 65536"/>
                              <a:gd name="T43" fmla="*/ 0 60000 65536"/>
                              <a:gd name="T44" fmla="*/ 0 60000 65536"/>
                              <a:gd name="T45" fmla="*/ 0 60000 65536"/>
                              <a:gd name="T46" fmla="*/ 0 60000 65536"/>
                              <a:gd name="T47" fmla="*/ 0 60000 65536"/>
                              <a:gd name="T48" fmla="*/ 0 w 63"/>
                              <a:gd name="T49" fmla="*/ 0 h 51"/>
                              <a:gd name="T50" fmla="*/ 63 w 63"/>
                              <a:gd name="T51" fmla="*/ 51 h 51"/>
                            </a:gdLst>
                            <a:ahLst/>
                            <a:cxnLst>
                              <a:cxn ang="T32">
                                <a:pos x="T0" y="T1"/>
                              </a:cxn>
                              <a:cxn ang="T33">
                                <a:pos x="T2" y="T3"/>
                              </a:cxn>
                              <a:cxn ang="T34">
                                <a:pos x="T4" y="T5"/>
                              </a:cxn>
                              <a:cxn ang="T35">
                                <a:pos x="T6" y="T7"/>
                              </a:cxn>
                              <a:cxn ang="T36">
                                <a:pos x="T8" y="T9"/>
                              </a:cxn>
                              <a:cxn ang="T37">
                                <a:pos x="T10" y="T11"/>
                              </a:cxn>
                              <a:cxn ang="T38">
                                <a:pos x="T12" y="T13"/>
                              </a:cxn>
                              <a:cxn ang="T39">
                                <a:pos x="T14" y="T15"/>
                              </a:cxn>
                              <a:cxn ang="T40">
                                <a:pos x="T16" y="T17"/>
                              </a:cxn>
                              <a:cxn ang="T41">
                                <a:pos x="T18" y="T19"/>
                              </a:cxn>
                              <a:cxn ang="T42">
                                <a:pos x="T20" y="T21"/>
                              </a:cxn>
                              <a:cxn ang="T43">
                                <a:pos x="T22" y="T23"/>
                              </a:cxn>
                              <a:cxn ang="T44">
                                <a:pos x="T24" y="T25"/>
                              </a:cxn>
                              <a:cxn ang="T45">
                                <a:pos x="T26" y="T27"/>
                              </a:cxn>
                              <a:cxn ang="T46">
                                <a:pos x="T28" y="T29"/>
                              </a:cxn>
                              <a:cxn ang="T47">
                                <a:pos x="T30" y="T31"/>
                              </a:cxn>
                            </a:cxnLst>
                            <a:rect l="T48" t="T49" r="T50" b="T51"/>
                            <a:pathLst>
                              <a:path w="63" h="51">
                                <a:moveTo>
                                  <a:pt x="11" y="19"/>
                                </a:moveTo>
                                <a:lnTo>
                                  <a:pt x="0" y="41"/>
                                </a:lnTo>
                                <a:lnTo>
                                  <a:pt x="4" y="49"/>
                                </a:lnTo>
                                <a:lnTo>
                                  <a:pt x="22" y="51"/>
                                </a:lnTo>
                                <a:lnTo>
                                  <a:pt x="37" y="51"/>
                                </a:lnTo>
                                <a:lnTo>
                                  <a:pt x="42" y="42"/>
                                </a:lnTo>
                                <a:lnTo>
                                  <a:pt x="46" y="33"/>
                                </a:lnTo>
                                <a:lnTo>
                                  <a:pt x="63" y="33"/>
                                </a:lnTo>
                                <a:lnTo>
                                  <a:pt x="60" y="20"/>
                                </a:lnTo>
                                <a:lnTo>
                                  <a:pt x="60" y="7"/>
                                </a:lnTo>
                                <a:lnTo>
                                  <a:pt x="44" y="0"/>
                                </a:lnTo>
                                <a:lnTo>
                                  <a:pt x="41" y="14"/>
                                </a:lnTo>
                                <a:lnTo>
                                  <a:pt x="52" y="23"/>
                                </a:lnTo>
                                <a:lnTo>
                                  <a:pt x="35" y="23"/>
                                </a:lnTo>
                                <a:lnTo>
                                  <a:pt x="30" y="29"/>
                                </a:lnTo>
                                <a:lnTo>
                                  <a:pt x="11" y="19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  <p:grpSp>
                      <p:nvGrpSpPr>
                        <p:cNvPr id="58574" name="Group 14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448" y="2231"/>
                          <a:ext cx="367" cy="626"/>
                          <a:chOff x="3448" y="2231"/>
                          <a:chExt cx="367" cy="626"/>
                        </a:xfrm>
                      </p:grpSpPr>
                      <p:grpSp>
                        <p:nvGrpSpPr>
                          <p:cNvPr id="58585" name="Group 142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507" y="2295"/>
                            <a:ext cx="81" cy="188"/>
                            <a:chOff x="3507" y="2295"/>
                            <a:chExt cx="81" cy="188"/>
                          </a:xfrm>
                        </p:grpSpPr>
                        <p:sp>
                          <p:nvSpPr>
                            <p:cNvPr id="58595" name="Freeform 143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07" y="2464"/>
                              <a:ext cx="19" cy="19"/>
                            </a:xfrm>
                            <a:custGeom>
                              <a:avLst/>
                              <a:gdLst>
                                <a:gd name="T0" fmla="*/ 0 w 38"/>
                                <a:gd name="T1" fmla="*/ 1 h 38"/>
                                <a:gd name="T2" fmla="*/ 1 w 38"/>
                                <a:gd name="T3" fmla="*/ 2 h 38"/>
                                <a:gd name="T4" fmla="*/ 1 w 38"/>
                                <a:gd name="T5" fmla="*/ 2 h 38"/>
                                <a:gd name="T6" fmla="*/ 1 w 38"/>
                                <a:gd name="T7" fmla="*/ 2 h 38"/>
                                <a:gd name="T8" fmla="*/ 2 w 38"/>
                                <a:gd name="T9" fmla="*/ 2 h 38"/>
                                <a:gd name="T10" fmla="*/ 2 w 38"/>
                                <a:gd name="T11" fmla="*/ 1 h 38"/>
                                <a:gd name="T12" fmla="*/ 2 w 38"/>
                                <a:gd name="T13" fmla="*/ 1 h 38"/>
                                <a:gd name="T14" fmla="*/ 1 w 38"/>
                                <a:gd name="T15" fmla="*/ 1 h 38"/>
                                <a:gd name="T16" fmla="*/ 1 w 38"/>
                                <a:gd name="T17" fmla="*/ 1 h 38"/>
                                <a:gd name="T18" fmla="*/ 1 w 38"/>
                                <a:gd name="T19" fmla="*/ 0 h 38"/>
                                <a:gd name="T20" fmla="*/ 1 w 38"/>
                                <a:gd name="T21" fmla="*/ 0 h 38"/>
                                <a:gd name="T22" fmla="*/ 1 w 38"/>
                                <a:gd name="T23" fmla="*/ 1 h 38"/>
                                <a:gd name="T24" fmla="*/ 0 w 38"/>
                                <a:gd name="T25" fmla="*/ 1 h 38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w 38"/>
                                <a:gd name="T40" fmla="*/ 0 h 38"/>
                                <a:gd name="T41" fmla="*/ 38 w 38"/>
                                <a:gd name="T42" fmla="*/ 38 h 38"/>
                              </a:gdLst>
                              <a:ahLst/>
                              <a:cxnLst>
                                <a:cxn ang="T26">
                                  <a:pos x="T0" y="T1"/>
                                </a:cxn>
                                <a:cxn ang="T27">
                                  <a:pos x="T2" y="T3"/>
                                </a:cxn>
                                <a:cxn ang="T28">
                                  <a:pos x="T4" y="T5"/>
                                </a:cxn>
                                <a:cxn ang="T29">
                                  <a:pos x="T6" y="T7"/>
                                </a:cxn>
                                <a:cxn ang="T30">
                                  <a:pos x="T8" y="T9"/>
                                </a:cxn>
                                <a:cxn ang="T31">
                                  <a:pos x="T10" y="T11"/>
                                </a:cxn>
                                <a:cxn ang="T32">
                                  <a:pos x="T12" y="T13"/>
                                </a:cxn>
                                <a:cxn ang="T33">
                                  <a:pos x="T14" y="T15"/>
                                </a:cxn>
                                <a:cxn ang="T34">
                                  <a:pos x="T16" y="T17"/>
                                </a:cxn>
                                <a:cxn ang="T35">
                                  <a:pos x="T18" y="T19"/>
                                </a:cxn>
                                <a:cxn ang="T36">
                                  <a:pos x="T20" y="T21"/>
                                </a:cxn>
                                <a:cxn ang="T37">
                                  <a:pos x="T22" y="T23"/>
                                </a:cxn>
                                <a:cxn ang="T38">
                                  <a:pos x="T24" y="T25"/>
                                </a:cxn>
                              </a:cxnLst>
                              <a:rect l="T39" t="T40" r="T41" b="T42"/>
                              <a:pathLst>
                                <a:path w="38" h="38">
                                  <a:moveTo>
                                    <a:pt x="0" y="29"/>
                                  </a:moveTo>
                                  <a:lnTo>
                                    <a:pt x="7" y="36"/>
                                  </a:lnTo>
                                  <a:lnTo>
                                    <a:pt x="15" y="35"/>
                                  </a:lnTo>
                                  <a:lnTo>
                                    <a:pt x="27" y="38"/>
                                  </a:lnTo>
                                  <a:lnTo>
                                    <a:pt x="37" y="38"/>
                                  </a:lnTo>
                                  <a:lnTo>
                                    <a:pt x="38" y="25"/>
                                  </a:lnTo>
                                  <a:lnTo>
                                    <a:pt x="35" y="16"/>
                                  </a:lnTo>
                                  <a:lnTo>
                                    <a:pt x="28" y="6"/>
                                  </a:lnTo>
                                  <a:lnTo>
                                    <a:pt x="22" y="6"/>
                                  </a:lnTo>
                                  <a:lnTo>
                                    <a:pt x="19" y="0"/>
                                  </a:lnTo>
                                  <a:lnTo>
                                    <a:pt x="9" y="0"/>
                                  </a:lnTo>
                                  <a:lnTo>
                                    <a:pt x="9" y="12"/>
                                  </a:lnTo>
                                  <a:lnTo>
                                    <a:pt x="0" y="2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58596" name="Freeform 144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59" y="2431"/>
                              <a:ext cx="18" cy="24"/>
                            </a:xfrm>
                            <a:custGeom>
                              <a:avLst/>
                              <a:gdLst>
                                <a:gd name="T0" fmla="*/ 0 w 37"/>
                                <a:gd name="T1" fmla="*/ 0 h 48"/>
                                <a:gd name="T2" fmla="*/ 0 w 37"/>
                                <a:gd name="T3" fmla="*/ 1 h 48"/>
                                <a:gd name="T4" fmla="*/ 0 w 37"/>
                                <a:gd name="T5" fmla="*/ 1 h 48"/>
                                <a:gd name="T6" fmla="*/ 1 w 37"/>
                                <a:gd name="T7" fmla="*/ 1 h 48"/>
                                <a:gd name="T8" fmla="*/ 0 w 37"/>
                                <a:gd name="T9" fmla="*/ 1 h 48"/>
                                <a:gd name="T10" fmla="*/ 1 w 37"/>
                                <a:gd name="T11" fmla="*/ 2 h 48"/>
                                <a:gd name="T12" fmla="*/ 1 w 37"/>
                                <a:gd name="T13" fmla="*/ 2 h 48"/>
                                <a:gd name="T14" fmla="*/ 0 w 37"/>
                                <a:gd name="T15" fmla="*/ 2 h 48"/>
                                <a:gd name="T16" fmla="*/ 0 w 37"/>
                                <a:gd name="T17" fmla="*/ 2 h 48"/>
                                <a:gd name="T18" fmla="*/ 0 w 37"/>
                                <a:gd name="T19" fmla="*/ 2 h 48"/>
                                <a:gd name="T20" fmla="*/ 0 w 37"/>
                                <a:gd name="T21" fmla="*/ 2 h 48"/>
                                <a:gd name="T22" fmla="*/ 0 w 37"/>
                                <a:gd name="T23" fmla="*/ 2 h 48"/>
                                <a:gd name="T24" fmla="*/ 0 w 37"/>
                                <a:gd name="T25" fmla="*/ 1 h 48"/>
                                <a:gd name="T26" fmla="*/ 0 w 37"/>
                                <a:gd name="T27" fmla="*/ 1 h 48"/>
                                <a:gd name="T28" fmla="*/ 0 w 37"/>
                                <a:gd name="T29" fmla="*/ 0 h 48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60000 65536"/>
                                <a:gd name="T40" fmla="*/ 0 60000 65536"/>
                                <a:gd name="T41" fmla="*/ 0 60000 65536"/>
                                <a:gd name="T42" fmla="*/ 0 60000 65536"/>
                                <a:gd name="T43" fmla="*/ 0 60000 65536"/>
                                <a:gd name="T44" fmla="*/ 0 60000 65536"/>
                                <a:gd name="T45" fmla="*/ 0 w 37"/>
                                <a:gd name="T46" fmla="*/ 0 h 48"/>
                                <a:gd name="T47" fmla="*/ 37 w 37"/>
                                <a:gd name="T48" fmla="*/ 48 h 48"/>
                              </a:gdLst>
                              <a:ahLst/>
                              <a:cxnLst>
                                <a:cxn ang="T30">
                                  <a:pos x="T0" y="T1"/>
                                </a:cxn>
                                <a:cxn ang="T31">
                                  <a:pos x="T2" y="T3"/>
                                </a:cxn>
                                <a:cxn ang="T32">
                                  <a:pos x="T4" y="T5"/>
                                </a:cxn>
                                <a:cxn ang="T33">
                                  <a:pos x="T6" y="T7"/>
                                </a:cxn>
                                <a:cxn ang="T34">
                                  <a:pos x="T8" y="T9"/>
                                </a:cxn>
                                <a:cxn ang="T35">
                                  <a:pos x="T10" y="T11"/>
                                </a:cxn>
                                <a:cxn ang="T36">
                                  <a:pos x="T12" y="T13"/>
                                </a:cxn>
                                <a:cxn ang="T37">
                                  <a:pos x="T14" y="T15"/>
                                </a:cxn>
                                <a:cxn ang="T38">
                                  <a:pos x="T16" y="T17"/>
                                </a:cxn>
                                <a:cxn ang="T39">
                                  <a:pos x="T18" y="T19"/>
                                </a:cxn>
                                <a:cxn ang="T40">
                                  <a:pos x="T20" y="T21"/>
                                </a:cxn>
                                <a:cxn ang="T41">
                                  <a:pos x="T22" y="T23"/>
                                </a:cxn>
                                <a:cxn ang="T42">
                                  <a:pos x="T24" y="T25"/>
                                </a:cxn>
                                <a:cxn ang="T43">
                                  <a:pos x="T26" y="T27"/>
                                </a:cxn>
                                <a:cxn ang="T44">
                                  <a:pos x="T28" y="T29"/>
                                </a:cxn>
                              </a:cxnLst>
                              <a:rect l="T45" t="T46" r="T47" b="T48"/>
                              <a:pathLst>
                                <a:path w="37" h="48">
                                  <a:moveTo>
                                    <a:pt x="8" y="0"/>
                                  </a:moveTo>
                                  <a:lnTo>
                                    <a:pt x="25" y="2"/>
                                  </a:lnTo>
                                  <a:lnTo>
                                    <a:pt x="30" y="15"/>
                                  </a:lnTo>
                                  <a:lnTo>
                                    <a:pt x="37" y="22"/>
                                  </a:lnTo>
                                  <a:lnTo>
                                    <a:pt x="31" y="28"/>
                                  </a:lnTo>
                                  <a:lnTo>
                                    <a:pt x="37" y="35"/>
                                  </a:lnTo>
                                  <a:lnTo>
                                    <a:pt x="34" y="44"/>
                                  </a:lnTo>
                                  <a:lnTo>
                                    <a:pt x="29" y="48"/>
                                  </a:lnTo>
                                  <a:lnTo>
                                    <a:pt x="18" y="47"/>
                                  </a:lnTo>
                                  <a:lnTo>
                                    <a:pt x="11" y="47"/>
                                  </a:lnTo>
                                  <a:lnTo>
                                    <a:pt x="7" y="41"/>
                                  </a:lnTo>
                                  <a:lnTo>
                                    <a:pt x="3" y="34"/>
                                  </a:lnTo>
                                  <a:lnTo>
                                    <a:pt x="3" y="26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58597" name="Freeform 145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56" y="2295"/>
                              <a:ext cx="32" cy="22"/>
                            </a:xfrm>
                            <a:custGeom>
                              <a:avLst/>
                              <a:gdLst>
                                <a:gd name="T0" fmla="*/ 0 w 66"/>
                                <a:gd name="T1" fmla="*/ 0 h 45"/>
                                <a:gd name="T2" fmla="*/ 0 w 66"/>
                                <a:gd name="T3" fmla="*/ 0 h 45"/>
                                <a:gd name="T4" fmla="*/ 0 w 66"/>
                                <a:gd name="T5" fmla="*/ 0 h 45"/>
                                <a:gd name="T6" fmla="*/ 1 w 66"/>
                                <a:gd name="T7" fmla="*/ 0 h 45"/>
                                <a:gd name="T8" fmla="*/ 1 w 66"/>
                                <a:gd name="T9" fmla="*/ 0 h 45"/>
                                <a:gd name="T10" fmla="*/ 1 w 66"/>
                                <a:gd name="T11" fmla="*/ 0 h 45"/>
                                <a:gd name="T12" fmla="*/ 1 w 66"/>
                                <a:gd name="T13" fmla="*/ 0 h 45"/>
                                <a:gd name="T14" fmla="*/ 2 w 66"/>
                                <a:gd name="T15" fmla="*/ 0 h 45"/>
                                <a:gd name="T16" fmla="*/ 1 w 66"/>
                                <a:gd name="T17" fmla="*/ 0 h 45"/>
                                <a:gd name="T18" fmla="*/ 1 w 66"/>
                                <a:gd name="T19" fmla="*/ 1 h 45"/>
                                <a:gd name="T20" fmla="*/ 1 w 66"/>
                                <a:gd name="T21" fmla="*/ 1 h 45"/>
                                <a:gd name="T22" fmla="*/ 1 w 66"/>
                                <a:gd name="T23" fmla="*/ 1 h 45"/>
                                <a:gd name="T24" fmla="*/ 1 w 66"/>
                                <a:gd name="T25" fmla="*/ 1 h 45"/>
                                <a:gd name="T26" fmla="*/ 0 w 66"/>
                                <a:gd name="T27" fmla="*/ 1 h 45"/>
                                <a:gd name="T28" fmla="*/ 0 w 66"/>
                                <a:gd name="T29" fmla="*/ 1 h 45"/>
                                <a:gd name="T30" fmla="*/ 0 w 66"/>
                                <a:gd name="T31" fmla="*/ 1 h 45"/>
                                <a:gd name="T32" fmla="*/ 0 w 66"/>
                                <a:gd name="T33" fmla="*/ 1 h 45"/>
                                <a:gd name="T34" fmla="*/ 0 w 66"/>
                                <a:gd name="T35" fmla="*/ 1 h 45"/>
                                <a:gd name="T36" fmla="*/ 0 w 66"/>
                                <a:gd name="T37" fmla="*/ 0 h 45"/>
                                <a:gd name="T38" fmla="*/ 0 w 66"/>
                                <a:gd name="T39" fmla="*/ 0 h 45"/>
                                <a:gd name="T40" fmla="*/ 0 w 66"/>
                                <a:gd name="T41" fmla="*/ 0 h 45"/>
                                <a:gd name="T42" fmla="*/ 0 w 66"/>
                                <a:gd name="T43" fmla="*/ 0 h 45"/>
                                <a:gd name="T44" fmla="*/ 0 w 66"/>
                                <a:gd name="T45" fmla="*/ 0 h 45"/>
                                <a:gd name="T46" fmla="*/ 0 60000 65536"/>
                                <a:gd name="T47" fmla="*/ 0 60000 65536"/>
                                <a:gd name="T48" fmla="*/ 0 60000 65536"/>
                                <a:gd name="T49" fmla="*/ 0 60000 65536"/>
                                <a:gd name="T50" fmla="*/ 0 60000 65536"/>
                                <a:gd name="T51" fmla="*/ 0 60000 65536"/>
                                <a:gd name="T52" fmla="*/ 0 60000 65536"/>
                                <a:gd name="T53" fmla="*/ 0 60000 65536"/>
                                <a:gd name="T54" fmla="*/ 0 60000 65536"/>
                                <a:gd name="T55" fmla="*/ 0 60000 65536"/>
                                <a:gd name="T56" fmla="*/ 0 60000 65536"/>
                                <a:gd name="T57" fmla="*/ 0 60000 65536"/>
                                <a:gd name="T58" fmla="*/ 0 60000 65536"/>
                                <a:gd name="T59" fmla="*/ 0 60000 65536"/>
                                <a:gd name="T60" fmla="*/ 0 60000 65536"/>
                                <a:gd name="T61" fmla="*/ 0 60000 65536"/>
                                <a:gd name="T62" fmla="*/ 0 60000 65536"/>
                                <a:gd name="T63" fmla="*/ 0 60000 65536"/>
                                <a:gd name="T64" fmla="*/ 0 60000 65536"/>
                                <a:gd name="T65" fmla="*/ 0 60000 65536"/>
                                <a:gd name="T66" fmla="*/ 0 60000 65536"/>
                                <a:gd name="T67" fmla="*/ 0 60000 65536"/>
                                <a:gd name="T68" fmla="*/ 0 60000 65536"/>
                                <a:gd name="T69" fmla="*/ 0 w 66"/>
                                <a:gd name="T70" fmla="*/ 0 h 45"/>
                                <a:gd name="T71" fmla="*/ 66 w 66"/>
                                <a:gd name="T72" fmla="*/ 45 h 45"/>
                              </a:gdLst>
                              <a:ahLst/>
                              <a:cxnLst>
                                <a:cxn ang="T46">
                                  <a:pos x="T0" y="T1"/>
                                </a:cxn>
                                <a:cxn ang="T47">
                                  <a:pos x="T2" y="T3"/>
                                </a:cxn>
                                <a:cxn ang="T48">
                                  <a:pos x="T4" y="T5"/>
                                </a:cxn>
                                <a:cxn ang="T49">
                                  <a:pos x="T6" y="T7"/>
                                </a:cxn>
                                <a:cxn ang="T50">
                                  <a:pos x="T8" y="T9"/>
                                </a:cxn>
                                <a:cxn ang="T51">
                                  <a:pos x="T10" y="T11"/>
                                </a:cxn>
                                <a:cxn ang="T52">
                                  <a:pos x="T12" y="T13"/>
                                </a:cxn>
                                <a:cxn ang="T53">
                                  <a:pos x="T14" y="T15"/>
                                </a:cxn>
                                <a:cxn ang="T54">
                                  <a:pos x="T16" y="T17"/>
                                </a:cxn>
                                <a:cxn ang="T55">
                                  <a:pos x="T18" y="T19"/>
                                </a:cxn>
                                <a:cxn ang="T56">
                                  <a:pos x="T20" y="T21"/>
                                </a:cxn>
                                <a:cxn ang="T57">
                                  <a:pos x="T22" y="T23"/>
                                </a:cxn>
                                <a:cxn ang="T58">
                                  <a:pos x="T24" y="T25"/>
                                </a:cxn>
                                <a:cxn ang="T59">
                                  <a:pos x="T26" y="T27"/>
                                </a:cxn>
                                <a:cxn ang="T60">
                                  <a:pos x="T28" y="T29"/>
                                </a:cxn>
                                <a:cxn ang="T61">
                                  <a:pos x="T30" y="T31"/>
                                </a:cxn>
                                <a:cxn ang="T62">
                                  <a:pos x="T32" y="T33"/>
                                </a:cxn>
                                <a:cxn ang="T63">
                                  <a:pos x="T34" y="T35"/>
                                </a:cxn>
                                <a:cxn ang="T64">
                                  <a:pos x="T36" y="T37"/>
                                </a:cxn>
                                <a:cxn ang="T65">
                                  <a:pos x="T38" y="T39"/>
                                </a:cxn>
                                <a:cxn ang="T66">
                                  <a:pos x="T40" y="T41"/>
                                </a:cxn>
                                <a:cxn ang="T67">
                                  <a:pos x="T42" y="T43"/>
                                </a:cxn>
                                <a:cxn ang="T68">
                                  <a:pos x="T44" y="T45"/>
                                </a:cxn>
                              </a:cxnLst>
                              <a:rect l="T69" t="T70" r="T71" b="T72"/>
                              <a:pathLst>
                                <a:path w="66" h="45">
                                  <a:moveTo>
                                    <a:pt x="10" y="0"/>
                                  </a:moveTo>
                                  <a:lnTo>
                                    <a:pt x="18" y="7"/>
                                  </a:lnTo>
                                  <a:lnTo>
                                    <a:pt x="26" y="5"/>
                                  </a:lnTo>
                                  <a:lnTo>
                                    <a:pt x="38" y="7"/>
                                  </a:lnTo>
                                  <a:lnTo>
                                    <a:pt x="49" y="7"/>
                                  </a:lnTo>
                                  <a:lnTo>
                                    <a:pt x="55" y="11"/>
                                  </a:lnTo>
                                  <a:lnTo>
                                    <a:pt x="62" y="21"/>
                                  </a:lnTo>
                                  <a:lnTo>
                                    <a:pt x="66" y="26"/>
                                  </a:lnTo>
                                  <a:lnTo>
                                    <a:pt x="51" y="29"/>
                                  </a:lnTo>
                                  <a:lnTo>
                                    <a:pt x="47" y="32"/>
                                  </a:lnTo>
                                  <a:lnTo>
                                    <a:pt x="51" y="37"/>
                                  </a:lnTo>
                                  <a:lnTo>
                                    <a:pt x="51" y="43"/>
                                  </a:lnTo>
                                  <a:lnTo>
                                    <a:pt x="36" y="37"/>
                                  </a:lnTo>
                                  <a:lnTo>
                                    <a:pt x="23" y="33"/>
                                  </a:lnTo>
                                  <a:lnTo>
                                    <a:pt x="18" y="34"/>
                                  </a:lnTo>
                                  <a:lnTo>
                                    <a:pt x="18" y="43"/>
                                  </a:lnTo>
                                  <a:lnTo>
                                    <a:pt x="10" y="45"/>
                                  </a:lnTo>
                                  <a:lnTo>
                                    <a:pt x="6" y="37"/>
                                  </a:lnTo>
                                  <a:lnTo>
                                    <a:pt x="4" y="29"/>
                                  </a:lnTo>
                                  <a:lnTo>
                                    <a:pt x="0" y="27"/>
                                  </a:lnTo>
                                  <a:lnTo>
                                    <a:pt x="4" y="18"/>
                                  </a:lnTo>
                                  <a:lnTo>
                                    <a:pt x="11" y="16"/>
                                  </a:lnTo>
                                  <a:lnTo>
                                    <a:pt x="1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58586" name="Freeform 14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84" y="2675"/>
                            <a:ext cx="231" cy="182"/>
                          </a:xfrm>
                          <a:custGeom>
                            <a:avLst/>
                            <a:gdLst>
                              <a:gd name="T0" fmla="*/ 12 w 462"/>
                              <a:gd name="T1" fmla="*/ 1 h 364"/>
                              <a:gd name="T2" fmla="*/ 12 w 462"/>
                              <a:gd name="T3" fmla="*/ 2 h 364"/>
                              <a:gd name="T4" fmla="*/ 13 w 462"/>
                              <a:gd name="T5" fmla="*/ 3 h 364"/>
                              <a:gd name="T6" fmla="*/ 14 w 462"/>
                              <a:gd name="T7" fmla="*/ 5 h 364"/>
                              <a:gd name="T8" fmla="*/ 15 w 462"/>
                              <a:gd name="T9" fmla="*/ 7 h 364"/>
                              <a:gd name="T10" fmla="*/ 14 w 462"/>
                              <a:gd name="T11" fmla="*/ 9 h 364"/>
                              <a:gd name="T12" fmla="*/ 14 w 462"/>
                              <a:gd name="T13" fmla="*/ 10 h 364"/>
                              <a:gd name="T14" fmla="*/ 13 w 462"/>
                              <a:gd name="T15" fmla="*/ 11 h 364"/>
                              <a:gd name="T16" fmla="*/ 13 w 462"/>
                              <a:gd name="T17" fmla="*/ 11 h 364"/>
                              <a:gd name="T18" fmla="*/ 12 w 462"/>
                              <a:gd name="T19" fmla="*/ 12 h 364"/>
                              <a:gd name="T20" fmla="*/ 11 w 462"/>
                              <a:gd name="T21" fmla="*/ 12 h 364"/>
                              <a:gd name="T22" fmla="*/ 10 w 462"/>
                              <a:gd name="T23" fmla="*/ 11 h 364"/>
                              <a:gd name="T24" fmla="*/ 10 w 462"/>
                              <a:gd name="T25" fmla="*/ 11 h 364"/>
                              <a:gd name="T26" fmla="*/ 9 w 462"/>
                              <a:gd name="T27" fmla="*/ 10 h 364"/>
                              <a:gd name="T28" fmla="*/ 9 w 462"/>
                              <a:gd name="T29" fmla="*/ 9 h 364"/>
                              <a:gd name="T30" fmla="*/ 8 w 462"/>
                              <a:gd name="T31" fmla="*/ 9 h 364"/>
                              <a:gd name="T32" fmla="*/ 8 w 462"/>
                              <a:gd name="T33" fmla="*/ 9 h 364"/>
                              <a:gd name="T34" fmla="*/ 7 w 462"/>
                              <a:gd name="T35" fmla="*/ 9 h 364"/>
                              <a:gd name="T36" fmla="*/ 7 w 462"/>
                              <a:gd name="T37" fmla="*/ 9 h 364"/>
                              <a:gd name="T38" fmla="*/ 6 w 462"/>
                              <a:gd name="T39" fmla="*/ 9 h 364"/>
                              <a:gd name="T40" fmla="*/ 5 w 462"/>
                              <a:gd name="T41" fmla="*/ 9 h 364"/>
                              <a:gd name="T42" fmla="*/ 5 w 462"/>
                              <a:gd name="T43" fmla="*/ 10 h 364"/>
                              <a:gd name="T44" fmla="*/ 4 w 462"/>
                              <a:gd name="T45" fmla="*/ 10 h 364"/>
                              <a:gd name="T46" fmla="*/ 3 w 462"/>
                              <a:gd name="T47" fmla="*/ 10 h 364"/>
                              <a:gd name="T48" fmla="*/ 2 w 462"/>
                              <a:gd name="T49" fmla="*/ 10 h 364"/>
                              <a:gd name="T50" fmla="*/ 2 w 462"/>
                              <a:gd name="T51" fmla="*/ 10 h 364"/>
                              <a:gd name="T52" fmla="*/ 2 w 462"/>
                              <a:gd name="T53" fmla="*/ 9 h 364"/>
                              <a:gd name="T54" fmla="*/ 2 w 462"/>
                              <a:gd name="T55" fmla="*/ 8 h 364"/>
                              <a:gd name="T56" fmla="*/ 1 w 462"/>
                              <a:gd name="T57" fmla="*/ 7 h 364"/>
                              <a:gd name="T58" fmla="*/ 1 w 462"/>
                              <a:gd name="T59" fmla="*/ 5 h 364"/>
                              <a:gd name="T60" fmla="*/ 1 w 462"/>
                              <a:gd name="T61" fmla="*/ 5 h 364"/>
                              <a:gd name="T62" fmla="*/ 2 w 462"/>
                              <a:gd name="T63" fmla="*/ 4 h 364"/>
                              <a:gd name="T64" fmla="*/ 2 w 462"/>
                              <a:gd name="T65" fmla="*/ 4 h 364"/>
                              <a:gd name="T66" fmla="*/ 3 w 462"/>
                              <a:gd name="T67" fmla="*/ 4 h 364"/>
                              <a:gd name="T68" fmla="*/ 3 w 462"/>
                              <a:gd name="T69" fmla="*/ 3 h 364"/>
                              <a:gd name="T70" fmla="*/ 3 w 462"/>
                              <a:gd name="T71" fmla="*/ 3 h 364"/>
                              <a:gd name="T72" fmla="*/ 4 w 462"/>
                              <a:gd name="T73" fmla="*/ 2 h 364"/>
                              <a:gd name="T74" fmla="*/ 5 w 462"/>
                              <a:gd name="T75" fmla="*/ 2 h 364"/>
                              <a:gd name="T76" fmla="*/ 6 w 462"/>
                              <a:gd name="T77" fmla="*/ 2 h 364"/>
                              <a:gd name="T78" fmla="*/ 6 w 462"/>
                              <a:gd name="T79" fmla="*/ 1 h 364"/>
                              <a:gd name="T80" fmla="*/ 7 w 462"/>
                              <a:gd name="T81" fmla="*/ 1 h 364"/>
                              <a:gd name="T82" fmla="*/ 7 w 462"/>
                              <a:gd name="T83" fmla="*/ 1 h 364"/>
                              <a:gd name="T84" fmla="*/ 8 w 462"/>
                              <a:gd name="T85" fmla="*/ 1 h 364"/>
                              <a:gd name="T86" fmla="*/ 9 w 462"/>
                              <a:gd name="T87" fmla="*/ 1 h 364"/>
                              <a:gd name="T88" fmla="*/ 9 w 462"/>
                              <a:gd name="T89" fmla="*/ 2 h 364"/>
                              <a:gd name="T90" fmla="*/ 9 w 462"/>
                              <a:gd name="T91" fmla="*/ 3 h 364"/>
                              <a:gd name="T92" fmla="*/ 10 w 462"/>
                              <a:gd name="T93" fmla="*/ 3 h 364"/>
                              <a:gd name="T94" fmla="*/ 11 w 462"/>
                              <a:gd name="T95" fmla="*/ 2 h 364"/>
                              <a:gd name="T96" fmla="*/ 11 w 462"/>
                              <a:gd name="T97" fmla="*/ 0 h 364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w 462"/>
                              <a:gd name="T148" fmla="*/ 0 h 364"/>
                              <a:gd name="T149" fmla="*/ 462 w 462"/>
                              <a:gd name="T150" fmla="*/ 364 h 364"/>
                            </a:gdLst>
                            <a:ahLst/>
                            <a:cxnLst>
                              <a:cxn ang="T98">
                                <a:pos x="T0" y="T1"/>
                              </a:cxn>
                              <a:cxn ang="T99">
                                <a:pos x="T2" y="T3"/>
                              </a:cxn>
                              <a:cxn ang="T100">
                                <a:pos x="T4" y="T5"/>
                              </a:cxn>
                              <a:cxn ang="T101">
                                <a:pos x="T6" y="T7"/>
                              </a:cxn>
                              <a:cxn ang="T102">
                                <a:pos x="T8" y="T9"/>
                              </a:cxn>
                              <a:cxn ang="T103">
                                <a:pos x="T10" y="T11"/>
                              </a:cxn>
                              <a:cxn ang="T104">
                                <a:pos x="T12" y="T13"/>
                              </a:cxn>
                              <a:cxn ang="T105">
                                <a:pos x="T14" y="T15"/>
                              </a:cxn>
                              <a:cxn ang="T106">
                                <a:pos x="T16" y="T17"/>
                              </a:cxn>
                              <a:cxn ang="T107">
                                <a:pos x="T18" y="T19"/>
                              </a:cxn>
                              <a:cxn ang="T108">
                                <a:pos x="T20" y="T21"/>
                              </a:cxn>
                              <a:cxn ang="T109">
                                <a:pos x="T22" y="T23"/>
                              </a:cxn>
                              <a:cxn ang="T110">
                                <a:pos x="T24" y="T25"/>
                              </a:cxn>
                              <a:cxn ang="T111">
                                <a:pos x="T26" y="T27"/>
                              </a:cxn>
                              <a:cxn ang="T112">
                                <a:pos x="T28" y="T29"/>
                              </a:cxn>
                              <a:cxn ang="T113">
                                <a:pos x="T30" y="T31"/>
                              </a:cxn>
                              <a:cxn ang="T114">
                                <a:pos x="T32" y="T33"/>
                              </a:cxn>
                              <a:cxn ang="T115">
                                <a:pos x="T34" y="T35"/>
                              </a:cxn>
                              <a:cxn ang="T116">
                                <a:pos x="T36" y="T37"/>
                              </a:cxn>
                              <a:cxn ang="T117">
                                <a:pos x="T38" y="T39"/>
                              </a:cxn>
                              <a:cxn ang="T118">
                                <a:pos x="T40" y="T41"/>
                              </a:cxn>
                              <a:cxn ang="T119">
                                <a:pos x="T42" y="T43"/>
                              </a:cxn>
                              <a:cxn ang="T120">
                                <a:pos x="T44" y="T45"/>
                              </a:cxn>
                              <a:cxn ang="T121">
                                <a:pos x="T46" y="T47"/>
                              </a:cxn>
                              <a:cxn ang="T122">
                                <a:pos x="T48" y="T49"/>
                              </a:cxn>
                              <a:cxn ang="T123">
                                <a:pos x="T50" y="T51"/>
                              </a:cxn>
                              <a:cxn ang="T124">
                                <a:pos x="T52" y="T53"/>
                              </a:cxn>
                              <a:cxn ang="T125">
                                <a:pos x="T54" y="T55"/>
                              </a:cxn>
                              <a:cxn ang="T126">
                                <a:pos x="T56" y="T57"/>
                              </a:cxn>
                              <a:cxn ang="T127">
                                <a:pos x="T58" y="T59"/>
                              </a:cxn>
                              <a:cxn ang="T128">
                                <a:pos x="T60" y="T61"/>
                              </a:cxn>
                              <a:cxn ang="T129">
                                <a:pos x="T62" y="T63"/>
                              </a:cxn>
                              <a:cxn ang="T130">
                                <a:pos x="T64" y="T65"/>
                              </a:cxn>
                              <a:cxn ang="T131">
                                <a:pos x="T66" y="T67"/>
                              </a:cxn>
                              <a:cxn ang="T132">
                                <a:pos x="T68" y="T69"/>
                              </a:cxn>
                              <a:cxn ang="T133">
                                <a:pos x="T70" y="T71"/>
                              </a:cxn>
                              <a:cxn ang="T134">
                                <a:pos x="T72" y="T73"/>
                              </a:cxn>
                              <a:cxn ang="T135">
                                <a:pos x="T74" y="T75"/>
                              </a:cxn>
                              <a:cxn ang="T136">
                                <a:pos x="T76" y="T77"/>
                              </a:cxn>
                              <a:cxn ang="T137">
                                <a:pos x="T78" y="T79"/>
                              </a:cxn>
                              <a:cxn ang="T138">
                                <a:pos x="T80" y="T81"/>
                              </a:cxn>
                              <a:cxn ang="T139">
                                <a:pos x="T82" y="T83"/>
                              </a:cxn>
                              <a:cxn ang="T140">
                                <a:pos x="T84" y="T85"/>
                              </a:cxn>
                              <a:cxn ang="T141">
                                <a:pos x="T86" y="T87"/>
                              </a:cxn>
                              <a:cxn ang="T142">
                                <a:pos x="T88" y="T89"/>
                              </a:cxn>
                              <a:cxn ang="T143">
                                <a:pos x="T90" y="T91"/>
                              </a:cxn>
                              <a:cxn ang="T144">
                                <a:pos x="T92" y="T93"/>
                              </a:cxn>
                              <a:cxn ang="T145">
                                <a:pos x="T94" y="T95"/>
                              </a:cxn>
                              <a:cxn ang="T146">
                                <a:pos x="T96" y="T97"/>
                              </a:cxn>
                            </a:cxnLst>
                            <a:rect l="T147" t="T148" r="T149" b="T150"/>
                            <a:pathLst>
                              <a:path w="462" h="364">
                                <a:moveTo>
                                  <a:pt x="332" y="0"/>
                                </a:moveTo>
                                <a:lnTo>
                                  <a:pt x="357" y="0"/>
                                </a:lnTo>
                                <a:lnTo>
                                  <a:pt x="357" y="30"/>
                                </a:lnTo>
                                <a:lnTo>
                                  <a:pt x="366" y="38"/>
                                </a:lnTo>
                                <a:lnTo>
                                  <a:pt x="369" y="43"/>
                                </a:lnTo>
                                <a:lnTo>
                                  <a:pt x="375" y="43"/>
                                </a:lnTo>
                                <a:lnTo>
                                  <a:pt x="377" y="48"/>
                                </a:lnTo>
                                <a:lnTo>
                                  <a:pt x="380" y="77"/>
                                </a:lnTo>
                                <a:lnTo>
                                  <a:pt x="394" y="96"/>
                                </a:lnTo>
                                <a:lnTo>
                                  <a:pt x="414" y="124"/>
                                </a:lnTo>
                                <a:lnTo>
                                  <a:pt x="414" y="128"/>
                                </a:lnTo>
                                <a:lnTo>
                                  <a:pt x="436" y="152"/>
                                </a:lnTo>
                                <a:lnTo>
                                  <a:pt x="436" y="156"/>
                                </a:lnTo>
                                <a:lnTo>
                                  <a:pt x="458" y="175"/>
                                </a:lnTo>
                                <a:lnTo>
                                  <a:pt x="462" y="208"/>
                                </a:lnTo>
                                <a:lnTo>
                                  <a:pt x="458" y="239"/>
                                </a:lnTo>
                                <a:lnTo>
                                  <a:pt x="451" y="253"/>
                                </a:lnTo>
                                <a:lnTo>
                                  <a:pt x="443" y="260"/>
                                </a:lnTo>
                                <a:lnTo>
                                  <a:pt x="440" y="275"/>
                                </a:lnTo>
                                <a:lnTo>
                                  <a:pt x="432" y="288"/>
                                </a:lnTo>
                                <a:lnTo>
                                  <a:pt x="425" y="294"/>
                                </a:lnTo>
                                <a:lnTo>
                                  <a:pt x="427" y="298"/>
                                </a:lnTo>
                                <a:lnTo>
                                  <a:pt x="419" y="307"/>
                                </a:lnTo>
                                <a:lnTo>
                                  <a:pt x="414" y="326"/>
                                </a:lnTo>
                                <a:lnTo>
                                  <a:pt x="413" y="336"/>
                                </a:lnTo>
                                <a:lnTo>
                                  <a:pt x="405" y="340"/>
                                </a:lnTo>
                                <a:lnTo>
                                  <a:pt x="403" y="345"/>
                                </a:lnTo>
                                <a:lnTo>
                                  <a:pt x="398" y="353"/>
                                </a:lnTo>
                                <a:lnTo>
                                  <a:pt x="388" y="355"/>
                                </a:lnTo>
                                <a:lnTo>
                                  <a:pt x="381" y="358"/>
                                </a:lnTo>
                                <a:lnTo>
                                  <a:pt x="372" y="364"/>
                                </a:lnTo>
                                <a:lnTo>
                                  <a:pt x="360" y="352"/>
                                </a:lnTo>
                                <a:lnTo>
                                  <a:pt x="346" y="353"/>
                                </a:lnTo>
                                <a:lnTo>
                                  <a:pt x="342" y="353"/>
                                </a:lnTo>
                                <a:lnTo>
                                  <a:pt x="323" y="356"/>
                                </a:lnTo>
                                <a:lnTo>
                                  <a:pt x="310" y="345"/>
                                </a:lnTo>
                                <a:lnTo>
                                  <a:pt x="302" y="333"/>
                                </a:lnTo>
                                <a:lnTo>
                                  <a:pt x="296" y="334"/>
                                </a:lnTo>
                                <a:lnTo>
                                  <a:pt x="291" y="324"/>
                                </a:lnTo>
                                <a:lnTo>
                                  <a:pt x="288" y="316"/>
                                </a:lnTo>
                                <a:lnTo>
                                  <a:pt x="286" y="313"/>
                                </a:lnTo>
                                <a:lnTo>
                                  <a:pt x="286" y="298"/>
                                </a:lnTo>
                                <a:lnTo>
                                  <a:pt x="287" y="289"/>
                                </a:lnTo>
                                <a:lnTo>
                                  <a:pt x="284" y="284"/>
                                </a:lnTo>
                                <a:lnTo>
                                  <a:pt x="273" y="287"/>
                                </a:lnTo>
                                <a:lnTo>
                                  <a:pt x="268" y="288"/>
                                </a:lnTo>
                                <a:lnTo>
                                  <a:pt x="258" y="288"/>
                                </a:lnTo>
                                <a:lnTo>
                                  <a:pt x="254" y="288"/>
                                </a:lnTo>
                                <a:lnTo>
                                  <a:pt x="250" y="288"/>
                                </a:lnTo>
                                <a:lnTo>
                                  <a:pt x="243" y="279"/>
                                </a:lnTo>
                                <a:lnTo>
                                  <a:pt x="236" y="268"/>
                                </a:lnTo>
                                <a:lnTo>
                                  <a:pt x="235" y="269"/>
                                </a:lnTo>
                                <a:lnTo>
                                  <a:pt x="222" y="269"/>
                                </a:lnTo>
                                <a:lnTo>
                                  <a:pt x="221" y="265"/>
                                </a:lnTo>
                                <a:lnTo>
                                  <a:pt x="214" y="269"/>
                                </a:lnTo>
                                <a:lnTo>
                                  <a:pt x="207" y="268"/>
                                </a:lnTo>
                                <a:lnTo>
                                  <a:pt x="196" y="268"/>
                                </a:lnTo>
                                <a:lnTo>
                                  <a:pt x="190" y="265"/>
                                </a:lnTo>
                                <a:lnTo>
                                  <a:pt x="187" y="269"/>
                                </a:lnTo>
                                <a:lnTo>
                                  <a:pt x="176" y="271"/>
                                </a:lnTo>
                                <a:lnTo>
                                  <a:pt x="173" y="268"/>
                                </a:lnTo>
                                <a:lnTo>
                                  <a:pt x="166" y="275"/>
                                </a:lnTo>
                                <a:lnTo>
                                  <a:pt x="158" y="282"/>
                                </a:lnTo>
                                <a:lnTo>
                                  <a:pt x="152" y="282"/>
                                </a:lnTo>
                                <a:lnTo>
                                  <a:pt x="144" y="291"/>
                                </a:lnTo>
                                <a:lnTo>
                                  <a:pt x="132" y="291"/>
                                </a:lnTo>
                                <a:lnTo>
                                  <a:pt x="122" y="294"/>
                                </a:lnTo>
                                <a:lnTo>
                                  <a:pt x="111" y="298"/>
                                </a:lnTo>
                                <a:lnTo>
                                  <a:pt x="106" y="304"/>
                                </a:lnTo>
                                <a:lnTo>
                                  <a:pt x="102" y="303"/>
                                </a:lnTo>
                                <a:lnTo>
                                  <a:pt x="98" y="308"/>
                                </a:lnTo>
                                <a:lnTo>
                                  <a:pt x="92" y="310"/>
                                </a:lnTo>
                                <a:lnTo>
                                  <a:pt x="85" y="317"/>
                                </a:lnTo>
                                <a:lnTo>
                                  <a:pt x="63" y="317"/>
                                </a:lnTo>
                                <a:lnTo>
                                  <a:pt x="54" y="307"/>
                                </a:lnTo>
                                <a:lnTo>
                                  <a:pt x="52" y="303"/>
                                </a:lnTo>
                                <a:lnTo>
                                  <a:pt x="50" y="307"/>
                                </a:lnTo>
                                <a:lnTo>
                                  <a:pt x="46" y="300"/>
                                </a:lnTo>
                                <a:lnTo>
                                  <a:pt x="47" y="281"/>
                                </a:lnTo>
                                <a:lnTo>
                                  <a:pt x="50" y="269"/>
                                </a:lnTo>
                                <a:lnTo>
                                  <a:pt x="46" y="260"/>
                                </a:lnTo>
                                <a:lnTo>
                                  <a:pt x="41" y="252"/>
                                </a:lnTo>
                                <a:lnTo>
                                  <a:pt x="40" y="242"/>
                                </a:lnTo>
                                <a:lnTo>
                                  <a:pt x="33" y="237"/>
                                </a:lnTo>
                                <a:lnTo>
                                  <a:pt x="32" y="236"/>
                                </a:lnTo>
                                <a:lnTo>
                                  <a:pt x="30" y="231"/>
                                </a:lnTo>
                                <a:lnTo>
                                  <a:pt x="21" y="218"/>
                                </a:lnTo>
                                <a:lnTo>
                                  <a:pt x="9" y="186"/>
                                </a:lnTo>
                                <a:lnTo>
                                  <a:pt x="4" y="165"/>
                                </a:lnTo>
                                <a:lnTo>
                                  <a:pt x="4" y="152"/>
                                </a:lnTo>
                                <a:lnTo>
                                  <a:pt x="0" y="147"/>
                                </a:lnTo>
                                <a:lnTo>
                                  <a:pt x="2" y="136"/>
                                </a:lnTo>
                                <a:lnTo>
                                  <a:pt x="6" y="130"/>
                                </a:lnTo>
                                <a:lnTo>
                                  <a:pt x="21" y="114"/>
                                </a:lnTo>
                                <a:lnTo>
                                  <a:pt x="36" y="115"/>
                                </a:lnTo>
                                <a:lnTo>
                                  <a:pt x="39" y="118"/>
                                </a:lnTo>
                                <a:lnTo>
                                  <a:pt x="58" y="118"/>
                                </a:lnTo>
                                <a:lnTo>
                                  <a:pt x="59" y="114"/>
                                </a:lnTo>
                                <a:lnTo>
                                  <a:pt x="63" y="115"/>
                                </a:lnTo>
                                <a:lnTo>
                                  <a:pt x="69" y="111"/>
                                </a:lnTo>
                                <a:lnTo>
                                  <a:pt x="73" y="112"/>
                                </a:lnTo>
                                <a:lnTo>
                                  <a:pt x="77" y="109"/>
                                </a:lnTo>
                                <a:lnTo>
                                  <a:pt x="76" y="105"/>
                                </a:lnTo>
                                <a:lnTo>
                                  <a:pt x="80" y="95"/>
                                </a:lnTo>
                                <a:lnTo>
                                  <a:pt x="85" y="91"/>
                                </a:lnTo>
                                <a:lnTo>
                                  <a:pt x="83" y="88"/>
                                </a:lnTo>
                                <a:lnTo>
                                  <a:pt x="85" y="85"/>
                                </a:lnTo>
                                <a:lnTo>
                                  <a:pt x="83" y="80"/>
                                </a:lnTo>
                                <a:lnTo>
                                  <a:pt x="91" y="73"/>
                                </a:lnTo>
                                <a:lnTo>
                                  <a:pt x="103" y="72"/>
                                </a:lnTo>
                                <a:lnTo>
                                  <a:pt x="115" y="54"/>
                                </a:lnTo>
                                <a:lnTo>
                                  <a:pt x="131" y="40"/>
                                </a:lnTo>
                                <a:lnTo>
                                  <a:pt x="137" y="38"/>
                                </a:lnTo>
                                <a:lnTo>
                                  <a:pt x="142" y="34"/>
                                </a:lnTo>
                                <a:lnTo>
                                  <a:pt x="148" y="34"/>
                                </a:lnTo>
                                <a:lnTo>
                                  <a:pt x="161" y="47"/>
                                </a:lnTo>
                                <a:lnTo>
                                  <a:pt x="165" y="48"/>
                                </a:lnTo>
                                <a:lnTo>
                                  <a:pt x="169" y="43"/>
                                </a:lnTo>
                                <a:lnTo>
                                  <a:pt x="177" y="34"/>
                                </a:lnTo>
                                <a:lnTo>
                                  <a:pt x="183" y="32"/>
                                </a:lnTo>
                                <a:lnTo>
                                  <a:pt x="188" y="21"/>
                                </a:lnTo>
                                <a:lnTo>
                                  <a:pt x="194" y="19"/>
                                </a:lnTo>
                                <a:lnTo>
                                  <a:pt x="200" y="15"/>
                                </a:lnTo>
                                <a:lnTo>
                                  <a:pt x="207" y="11"/>
                                </a:lnTo>
                                <a:lnTo>
                                  <a:pt x="214" y="11"/>
                                </a:lnTo>
                                <a:lnTo>
                                  <a:pt x="220" y="5"/>
                                </a:lnTo>
                                <a:lnTo>
                                  <a:pt x="228" y="5"/>
                                </a:lnTo>
                                <a:lnTo>
                                  <a:pt x="238" y="5"/>
                                </a:lnTo>
                                <a:lnTo>
                                  <a:pt x="250" y="8"/>
                                </a:lnTo>
                                <a:lnTo>
                                  <a:pt x="258" y="14"/>
                                </a:lnTo>
                                <a:lnTo>
                                  <a:pt x="259" y="18"/>
                                </a:lnTo>
                                <a:lnTo>
                                  <a:pt x="261" y="21"/>
                                </a:lnTo>
                                <a:lnTo>
                                  <a:pt x="262" y="28"/>
                                </a:lnTo>
                                <a:lnTo>
                                  <a:pt x="261" y="31"/>
                                </a:lnTo>
                                <a:lnTo>
                                  <a:pt x="261" y="38"/>
                                </a:lnTo>
                                <a:lnTo>
                                  <a:pt x="259" y="43"/>
                                </a:lnTo>
                                <a:lnTo>
                                  <a:pt x="280" y="59"/>
                                </a:lnTo>
                                <a:lnTo>
                                  <a:pt x="287" y="67"/>
                                </a:lnTo>
                                <a:lnTo>
                                  <a:pt x="295" y="70"/>
                                </a:lnTo>
                                <a:lnTo>
                                  <a:pt x="303" y="75"/>
                                </a:lnTo>
                                <a:lnTo>
                                  <a:pt x="309" y="76"/>
                                </a:lnTo>
                                <a:lnTo>
                                  <a:pt x="317" y="72"/>
                                </a:lnTo>
                                <a:lnTo>
                                  <a:pt x="324" y="59"/>
                                </a:lnTo>
                                <a:lnTo>
                                  <a:pt x="327" y="48"/>
                                </a:lnTo>
                                <a:lnTo>
                                  <a:pt x="329" y="28"/>
                                </a:lnTo>
                                <a:lnTo>
                                  <a:pt x="332" y="19"/>
                                </a:lnTo>
                                <a:lnTo>
                                  <a:pt x="332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87" name="Freeform 14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29" y="2637"/>
                            <a:ext cx="128" cy="24"/>
                          </a:xfrm>
                          <a:custGeom>
                            <a:avLst/>
                            <a:gdLst>
                              <a:gd name="T0" fmla="*/ 1 w 255"/>
                              <a:gd name="T1" fmla="*/ 0 h 49"/>
                              <a:gd name="T2" fmla="*/ 2 w 255"/>
                              <a:gd name="T3" fmla="*/ 0 h 49"/>
                              <a:gd name="T4" fmla="*/ 3 w 255"/>
                              <a:gd name="T5" fmla="*/ 0 h 49"/>
                              <a:gd name="T6" fmla="*/ 3 w 255"/>
                              <a:gd name="T7" fmla="*/ 0 h 49"/>
                              <a:gd name="T8" fmla="*/ 4 w 255"/>
                              <a:gd name="T9" fmla="*/ 0 h 49"/>
                              <a:gd name="T10" fmla="*/ 4 w 255"/>
                              <a:gd name="T11" fmla="*/ 0 h 49"/>
                              <a:gd name="T12" fmla="*/ 5 w 255"/>
                              <a:gd name="T13" fmla="*/ 1 h 49"/>
                              <a:gd name="T14" fmla="*/ 5 w 255"/>
                              <a:gd name="T15" fmla="*/ 0 h 49"/>
                              <a:gd name="T16" fmla="*/ 6 w 255"/>
                              <a:gd name="T17" fmla="*/ 0 h 49"/>
                              <a:gd name="T18" fmla="*/ 7 w 255"/>
                              <a:gd name="T19" fmla="*/ 0 h 49"/>
                              <a:gd name="T20" fmla="*/ 7 w 255"/>
                              <a:gd name="T21" fmla="*/ 0 h 49"/>
                              <a:gd name="T22" fmla="*/ 7 w 255"/>
                              <a:gd name="T23" fmla="*/ 0 h 49"/>
                              <a:gd name="T24" fmla="*/ 8 w 255"/>
                              <a:gd name="T25" fmla="*/ 0 h 49"/>
                              <a:gd name="T26" fmla="*/ 8 w 255"/>
                              <a:gd name="T27" fmla="*/ 0 h 49"/>
                              <a:gd name="T28" fmla="*/ 8 w 255"/>
                              <a:gd name="T29" fmla="*/ 1 h 49"/>
                              <a:gd name="T30" fmla="*/ 8 w 255"/>
                              <a:gd name="T31" fmla="*/ 1 h 49"/>
                              <a:gd name="T32" fmla="*/ 8 w 255"/>
                              <a:gd name="T33" fmla="*/ 1 h 49"/>
                              <a:gd name="T34" fmla="*/ 7 w 255"/>
                              <a:gd name="T35" fmla="*/ 1 h 49"/>
                              <a:gd name="T36" fmla="*/ 7 w 255"/>
                              <a:gd name="T37" fmla="*/ 1 h 49"/>
                              <a:gd name="T38" fmla="*/ 7 w 255"/>
                              <a:gd name="T39" fmla="*/ 1 h 49"/>
                              <a:gd name="T40" fmla="*/ 6 w 255"/>
                              <a:gd name="T41" fmla="*/ 1 h 49"/>
                              <a:gd name="T42" fmla="*/ 6 w 255"/>
                              <a:gd name="T43" fmla="*/ 1 h 49"/>
                              <a:gd name="T44" fmla="*/ 6 w 255"/>
                              <a:gd name="T45" fmla="*/ 1 h 49"/>
                              <a:gd name="T46" fmla="*/ 5 w 255"/>
                              <a:gd name="T47" fmla="*/ 1 h 49"/>
                              <a:gd name="T48" fmla="*/ 5 w 255"/>
                              <a:gd name="T49" fmla="*/ 1 h 49"/>
                              <a:gd name="T50" fmla="*/ 5 w 255"/>
                              <a:gd name="T51" fmla="*/ 1 h 49"/>
                              <a:gd name="T52" fmla="*/ 4 w 255"/>
                              <a:gd name="T53" fmla="*/ 1 h 49"/>
                              <a:gd name="T54" fmla="*/ 4 w 255"/>
                              <a:gd name="T55" fmla="*/ 1 h 49"/>
                              <a:gd name="T56" fmla="*/ 3 w 255"/>
                              <a:gd name="T57" fmla="*/ 1 h 49"/>
                              <a:gd name="T58" fmla="*/ 3 w 255"/>
                              <a:gd name="T59" fmla="*/ 1 h 49"/>
                              <a:gd name="T60" fmla="*/ 2 w 255"/>
                              <a:gd name="T61" fmla="*/ 1 h 49"/>
                              <a:gd name="T62" fmla="*/ 1 w 255"/>
                              <a:gd name="T63" fmla="*/ 0 h 49"/>
                              <a:gd name="T64" fmla="*/ 1 w 255"/>
                              <a:gd name="T65" fmla="*/ 0 h 49"/>
                              <a:gd name="T66" fmla="*/ 1 w 255"/>
                              <a:gd name="T67" fmla="*/ 0 h 49"/>
                              <a:gd name="T68" fmla="*/ 0 w 255"/>
                              <a:gd name="T69" fmla="*/ 0 h 49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w 255"/>
                              <a:gd name="T106" fmla="*/ 0 h 49"/>
                              <a:gd name="T107" fmla="*/ 255 w 255"/>
                              <a:gd name="T108" fmla="*/ 49 h 49"/>
                            </a:gdLst>
                            <a:ahLst/>
                            <a:cxnLst>
                              <a:cxn ang="T70">
                                <a:pos x="T0" y="T1"/>
                              </a:cxn>
                              <a:cxn ang="T71">
                                <a:pos x="T2" y="T3"/>
                              </a:cxn>
                              <a:cxn ang="T72">
                                <a:pos x="T4" y="T5"/>
                              </a:cxn>
                              <a:cxn ang="T73">
                                <a:pos x="T6" y="T7"/>
                              </a:cxn>
                              <a:cxn ang="T74">
                                <a:pos x="T8" y="T9"/>
                              </a:cxn>
                              <a:cxn ang="T75">
                                <a:pos x="T10" y="T11"/>
                              </a:cxn>
                              <a:cxn ang="T76">
                                <a:pos x="T12" y="T13"/>
                              </a:cxn>
                              <a:cxn ang="T77">
                                <a:pos x="T14" y="T15"/>
                              </a:cxn>
                              <a:cxn ang="T78">
                                <a:pos x="T16" y="T17"/>
                              </a:cxn>
                              <a:cxn ang="T79">
                                <a:pos x="T18" y="T19"/>
                              </a:cxn>
                              <a:cxn ang="T80">
                                <a:pos x="T20" y="T21"/>
                              </a:cxn>
                              <a:cxn ang="T81">
                                <a:pos x="T22" y="T23"/>
                              </a:cxn>
                              <a:cxn ang="T82">
                                <a:pos x="T24" y="T25"/>
                              </a:cxn>
                              <a:cxn ang="T83">
                                <a:pos x="T26" y="T27"/>
                              </a:cxn>
                              <a:cxn ang="T84">
                                <a:pos x="T28" y="T29"/>
                              </a:cxn>
                              <a:cxn ang="T85">
                                <a:pos x="T30" y="T31"/>
                              </a:cxn>
                              <a:cxn ang="T86">
                                <a:pos x="T32" y="T33"/>
                              </a:cxn>
                              <a:cxn ang="T87">
                                <a:pos x="T34" y="T35"/>
                              </a:cxn>
                              <a:cxn ang="T88">
                                <a:pos x="T36" y="T37"/>
                              </a:cxn>
                              <a:cxn ang="T89">
                                <a:pos x="T38" y="T39"/>
                              </a:cxn>
                              <a:cxn ang="T90">
                                <a:pos x="T40" y="T41"/>
                              </a:cxn>
                              <a:cxn ang="T91">
                                <a:pos x="T42" y="T43"/>
                              </a:cxn>
                              <a:cxn ang="T92">
                                <a:pos x="T44" y="T45"/>
                              </a:cxn>
                              <a:cxn ang="T93">
                                <a:pos x="T46" y="T47"/>
                              </a:cxn>
                              <a:cxn ang="T94">
                                <a:pos x="T48" y="T49"/>
                              </a:cxn>
                              <a:cxn ang="T95">
                                <a:pos x="T50" y="T51"/>
                              </a:cxn>
                              <a:cxn ang="T96">
                                <a:pos x="T52" y="T53"/>
                              </a:cxn>
                              <a:cxn ang="T97">
                                <a:pos x="T54" y="T55"/>
                              </a:cxn>
                              <a:cxn ang="T98">
                                <a:pos x="T56" y="T57"/>
                              </a:cxn>
                              <a:cxn ang="T99">
                                <a:pos x="T58" y="T59"/>
                              </a:cxn>
                              <a:cxn ang="T100">
                                <a:pos x="T60" y="T61"/>
                              </a:cxn>
                              <a:cxn ang="T101">
                                <a:pos x="T62" y="T63"/>
                              </a:cxn>
                              <a:cxn ang="T102">
                                <a:pos x="T64" y="T65"/>
                              </a:cxn>
                              <a:cxn ang="T103">
                                <a:pos x="T66" y="T67"/>
                              </a:cxn>
                              <a:cxn ang="T104">
                                <a:pos x="T68" y="T69"/>
                              </a:cxn>
                            </a:cxnLst>
                            <a:rect l="T105" t="T106" r="T107" b="T108"/>
                            <a:pathLst>
                              <a:path w="255" h="49">
                                <a:moveTo>
                                  <a:pt x="0" y="0"/>
                                </a:moveTo>
                                <a:lnTo>
                                  <a:pt x="19" y="7"/>
                                </a:lnTo>
                                <a:lnTo>
                                  <a:pt x="36" y="7"/>
                                </a:lnTo>
                                <a:lnTo>
                                  <a:pt x="51" y="7"/>
                                </a:lnTo>
                                <a:lnTo>
                                  <a:pt x="62" y="7"/>
                                </a:lnTo>
                                <a:lnTo>
                                  <a:pt x="70" y="8"/>
                                </a:lnTo>
                                <a:lnTo>
                                  <a:pt x="81" y="13"/>
                                </a:lnTo>
                                <a:lnTo>
                                  <a:pt x="86" y="23"/>
                                </a:lnTo>
                                <a:lnTo>
                                  <a:pt x="92" y="27"/>
                                </a:lnTo>
                                <a:lnTo>
                                  <a:pt x="101" y="26"/>
                                </a:lnTo>
                                <a:lnTo>
                                  <a:pt x="112" y="26"/>
                                </a:lnTo>
                                <a:lnTo>
                                  <a:pt x="125" y="31"/>
                                </a:lnTo>
                                <a:lnTo>
                                  <a:pt x="133" y="34"/>
                                </a:lnTo>
                                <a:lnTo>
                                  <a:pt x="138" y="34"/>
                                </a:lnTo>
                                <a:lnTo>
                                  <a:pt x="140" y="27"/>
                                </a:lnTo>
                                <a:lnTo>
                                  <a:pt x="144" y="23"/>
                                </a:lnTo>
                                <a:lnTo>
                                  <a:pt x="160" y="26"/>
                                </a:lnTo>
                                <a:lnTo>
                                  <a:pt x="174" y="26"/>
                                </a:lnTo>
                                <a:lnTo>
                                  <a:pt x="186" y="26"/>
                                </a:lnTo>
                                <a:lnTo>
                                  <a:pt x="196" y="30"/>
                                </a:lnTo>
                                <a:lnTo>
                                  <a:pt x="202" y="33"/>
                                </a:lnTo>
                                <a:lnTo>
                                  <a:pt x="211" y="31"/>
                                </a:lnTo>
                                <a:lnTo>
                                  <a:pt x="218" y="29"/>
                                </a:lnTo>
                                <a:lnTo>
                                  <a:pt x="222" y="26"/>
                                </a:lnTo>
                                <a:lnTo>
                                  <a:pt x="233" y="26"/>
                                </a:lnTo>
                                <a:lnTo>
                                  <a:pt x="240" y="23"/>
                                </a:lnTo>
                                <a:lnTo>
                                  <a:pt x="250" y="20"/>
                                </a:lnTo>
                                <a:lnTo>
                                  <a:pt x="255" y="20"/>
                                </a:lnTo>
                                <a:lnTo>
                                  <a:pt x="254" y="30"/>
                                </a:lnTo>
                                <a:lnTo>
                                  <a:pt x="251" y="34"/>
                                </a:lnTo>
                                <a:lnTo>
                                  <a:pt x="245" y="39"/>
                                </a:lnTo>
                                <a:lnTo>
                                  <a:pt x="240" y="39"/>
                                </a:lnTo>
                                <a:lnTo>
                                  <a:pt x="239" y="39"/>
                                </a:lnTo>
                                <a:lnTo>
                                  <a:pt x="232" y="40"/>
                                </a:lnTo>
                                <a:lnTo>
                                  <a:pt x="226" y="46"/>
                                </a:lnTo>
                                <a:lnTo>
                                  <a:pt x="221" y="45"/>
                                </a:lnTo>
                                <a:lnTo>
                                  <a:pt x="215" y="42"/>
                                </a:lnTo>
                                <a:lnTo>
                                  <a:pt x="210" y="45"/>
                                </a:lnTo>
                                <a:lnTo>
                                  <a:pt x="204" y="46"/>
                                </a:lnTo>
                                <a:lnTo>
                                  <a:pt x="200" y="46"/>
                                </a:lnTo>
                                <a:lnTo>
                                  <a:pt x="196" y="49"/>
                                </a:lnTo>
                                <a:lnTo>
                                  <a:pt x="185" y="49"/>
                                </a:lnTo>
                                <a:lnTo>
                                  <a:pt x="181" y="45"/>
                                </a:lnTo>
                                <a:lnTo>
                                  <a:pt x="175" y="39"/>
                                </a:lnTo>
                                <a:lnTo>
                                  <a:pt x="169" y="45"/>
                                </a:lnTo>
                                <a:lnTo>
                                  <a:pt x="164" y="49"/>
                                </a:lnTo>
                                <a:lnTo>
                                  <a:pt x="159" y="49"/>
                                </a:lnTo>
                                <a:lnTo>
                                  <a:pt x="149" y="39"/>
                                </a:lnTo>
                                <a:lnTo>
                                  <a:pt x="147" y="40"/>
                                </a:lnTo>
                                <a:lnTo>
                                  <a:pt x="141" y="40"/>
                                </a:lnTo>
                                <a:lnTo>
                                  <a:pt x="137" y="46"/>
                                </a:lnTo>
                                <a:lnTo>
                                  <a:pt x="129" y="45"/>
                                </a:lnTo>
                                <a:lnTo>
                                  <a:pt x="121" y="45"/>
                                </a:lnTo>
                                <a:lnTo>
                                  <a:pt x="117" y="42"/>
                                </a:lnTo>
                                <a:lnTo>
                                  <a:pt x="111" y="39"/>
                                </a:lnTo>
                                <a:lnTo>
                                  <a:pt x="103" y="40"/>
                                </a:lnTo>
                                <a:lnTo>
                                  <a:pt x="95" y="46"/>
                                </a:lnTo>
                                <a:lnTo>
                                  <a:pt x="89" y="45"/>
                                </a:lnTo>
                                <a:lnTo>
                                  <a:pt x="81" y="42"/>
                                </a:lnTo>
                                <a:lnTo>
                                  <a:pt x="71" y="37"/>
                                </a:lnTo>
                                <a:lnTo>
                                  <a:pt x="63" y="37"/>
                                </a:lnTo>
                                <a:lnTo>
                                  <a:pt x="47" y="33"/>
                                </a:lnTo>
                                <a:lnTo>
                                  <a:pt x="36" y="30"/>
                                </a:lnTo>
                                <a:lnTo>
                                  <a:pt x="29" y="29"/>
                                </a:lnTo>
                                <a:lnTo>
                                  <a:pt x="18" y="27"/>
                                </a:lnTo>
                                <a:lnTo>
                                  <a:pt x="11" y="21"/>
                                </a:lnTo>
                                <a:lnTo>
                                  <a:pt x="4" y="20"/>
                                </a:lnTo>
                                <a:lnTo>
                                  <a:pt x="1" y="18"/>
                                </a:lnTo>
                                <a:lnTo>
                                  <a:pt x="0" y="15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88" name="Freeform 148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99" y="2588"/>
                            <a:ext cx="58" cy="47"/>
                          </a:xfrm>
                          <a:custGeom>
                            <a:avLst/>
                            <a:gdLst>
                              <a:gd name="T0" fmla="*/ 2 w 115"/>
                              <a:gd name="T1" fmla="*/ 0 h 95"/>
                              <a:gd name="T2" fmla="*/ 3 w 115"/>
                              <a:gd name="T3" fmla="*/ 0 h 95"/>
                              <a:gd name="T4" fmla="*/ 4 w 115"/>
                              <a:gd name="T5" fmla="*/ 0 h 95"/>
                              <a:gd name="T6" fmla="*/ 3 w 115"/>
                              <a:gd name="T7" fmla="*/ 0 h 95"/>
                              <a:gd name="T8" fmla="*/ 3 w 115"/>
                              <a:gd name="T9" fmla="*/ 0 h 95"/>
                              <a:gd name="T10" fmla="*/ 3 w 115"/>
                              <a:gd name="T11" fmla="*/ 1 h 95"/>
                              <a:gd name="T12" fmla="*/ 3 w 115"/>
                              <a:gd name="T13" fmla="*/ 1 h 95"/>
                              <a:gd name="T14" fmla="*/ 2 w 115"/>
                              <a:gd name="T15" fmla="*/ 0 h 95"/>
                              <a:gd name="T16" fmla="*/ 2 w 115"/>
                              <a:gd name="T17" fmla="*/ 0 h 95"/>
                              <a:gd name="T18" fmla="*/ 2 w 115"/>
                              <a:gd name="T19" fmla="*/ 0 h 95"/>
                              <a:gd name="T20" fmla="*/ 2 w 115"/>
                              <a:gd name="T21" fmla="*/ 1 h 95"/>
                              <a:gd name="T22" fmla="*/ 2 w 115"/>
                              <a:gd name="T23" fmla="*/ 1 h 95"/>
                              <a:gd name="T24" fmla="*/ 2 w 115"/>
                              <a:gd name="T25" fmla="*/ 1 h 95"/>
                              <a:gd name="T26" fmla="*/ 2 w 115"/>
                              <a:gd name="T27" fmla="*/ 1 h 95"/>
                              <a:gd name="T28" fmla="*/ 2 w 115"/>
                              <a:gd name="T29" fmla="*/ 1 h 95"/>
                              <a:gd name="T30" fmla="*/ 2 w 115"/>
                              <a:gd name="T31" fmla="*/ 1 h 95"/>
                              <a:gd name="T32" fmla="*/ 2 w 115"/>
                              <a:gd name="T33" fmla="*/ 1 h 95"/>
                              <a:gd name="T34" fmla="*/ 2 w 115"/>
                              <a:gd name="T35" fmla="*/ 2 h 95"/>
                              <a:gd name="T36" fmla="*/ 2 w 115"/>
                              <a:gd name="T37" fmla="*/ 2 h 95"/>
                              <a:gd name="T38" fmla="*/ 2 w 115"/>
                              <a:gd name="T39" fmla="*/ 2 h 95"/>
                              <a:gd name="T40" fmla="*/ 2 w 115"/>
                              <a:gd name="T41" fmla="*/ 2 h 95"/>
                              <a:gd name="T42" fmla="*/ 2 w 115"/>
                              <a:gd name="T43" fmla="*/ 2 h 95"/>
                              <a:gd name="T44" fmla="*/ 2 w 115"/>
                              <a:gd name="T45" fmla="*/ 2 h 95"/>
                              <a:gd name="T46" fmla="*/ 2 w 115"/>
                              <a:gd name="T47" fmla="*/ 1 h 95"/>
                              <a:gd name="T48" fmla="*/ 1 w 115"/>
                              <a:gd name="T49" fmla="*/ 1 h 95"/>
                              <a:gd name="T50" fmla="*/ 1 w 115"/>
                              <a:gd name="T51" fmla="*/ 1 h 95"/>
                              <a:gd name="T52" fmla="*/ 1 w 115"/>
                              <a:gd name="T53" fmla="*/ 2 h 95"/>
                              <a:gd name="T54" fmla="*/ 2 w 115"/>
                              <a:gd name="T55" fmla="*/ 2 h 95"/>
                              <a:gd name="T56" fmla="*/ 1 w 115"/>
                              <a:gd name="T57" fmla="*/ 2 h 95"/>
                              <a:gd name="T58" fmla="*/ 1 w 115"/>
                              <a:gd name="T59" fmla="*/ 2 h 95"/>
                              <a:gd name="T60" fmla="*/ 1 w 115"/>
                              <a:gd name="T61" fmla="*/ 2 h 95"/>
                              <a:gd name="T62" fmla="*/ 1 w 115"/>
                              <a:gd name="T63" fmla="*/ 2 h 95"/>
                              <a:gd name="T64" fmla="*/ 1 w 115"/>
                              <a:gd name="T65" fmla="*/ 2 h 95"/>
                              <a:gd name="T66" fmla="*/ 1 w 115"/>
                              <a:gd name="T67" fmla="*/ 1 h 95"/>
                              <a:gd name="T68" fmla="*/ 1 w 115"/>
                              <a:gd name="T69" fmla="*/ 1 h 95"/>
                              <a:gd name="T70" fmla="*/ 1 w 115"/>
                              <a:gd name="T71" fmla="*/ 0 h 95"/>
                              <a:gd name="T72" fmla="*/ 1 w 115"/>
                              <a:gd name="T73" fmla="*/ 0 h 95"/>
                              <a:gd name="T74" fmla="*/ 1 w 115"/>
                              <a:gd name="T75" fmla="*/ 0 h 95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w 115"/>
                              <a:gd name="T115" fmla="*/ 0 h 95"/>
                              <a:gd name="T116" fmla="*/ 115 w 115"/>
                              <a:gd name="T117" fmla="*/ 95 h 95"/>
                            </a:gdLst>
                            <a:ahLst/>
                            <a:cxnLst>
                              <a:cxn ang="T76">
                                <a:pos x="T0" y="T1"/>
                              </a:cxn>
                              <a:cxn ang="T77">
                                <a:pos x="T2" y="T3"/>
                              </a:cxn>
                              <a:cxn ang="T78">
                                <a:pos x="T4" y="T5"/>
                              </a:cxn>
                              <a:cxn ang="T79">
                                <a:pos x="T6" y="T7"/>
                              </a:cxn>
                              <a:cxn ang="T80">
                                <a:pos x="T8" y="T9"/>
                              </a:cxn>
                              <a:cxn ang="T81">
                                <a:pos x="T10" y="T11"/>
                              </a:cxn>
                              <a:cxn ang="T82">
                                <a:pos x="T12" y="T13"/>
                              </a:cxn>
                              <a:cxn ang="T83">
                                <a:pos x="T14" y="T15"/>
                              </a:cxn>
                              <a:cxn ang="T84">
                                <a:pos x="T16" y="T17"/>
                              </a:cxn>
                              <a:cxn ang="T85">
                                <a:pos x="T18" y="T19"/>
                              </a:cxn>
                              <a:cxn ang="T86">
                                <a:pos x="T20" y="T21"/>
                              </a:cxn>
                              <a:cxn ang="T87">
                                <a:pos x="T22" y="T23"/>
                              </a:cxn>
                              <a:cxn ang="T88">
                                <a:pos x="T24" y="T25"/>
                              </a:cxn>
                              <a:cxn ang="T89">
                                <a:pos x="T26" y="T27"/>
                              </a:cxn>
                              <a:cxn ang="T90">
                                <a:pos x="T28" y="T29"/>
                              </a:cxn>
                              <a:cxn ang="T91">
                                <a:pos x="T30" y="T31"/>
                              </a:cxn>
                              <a:cxn ang="T92">
                                <a:pos x="T32" y="T33"/>
                              </a:cxn>
                              <a:cxn ang="T93">
                                <a:pos x="T34" y="T35"/>
                              </a:cxn>
                              <a:cxn ang="T94">
                                <a:pos x="T36" y="T37"/>
                              </a:cxn>
                              <a:cxn ang="T95">
                                <a:pos x="T38" y="T39"/>
                              </a:cxn>
                              <a:cxn ang="T96">
                                <a:pos x="T40" y="T41"/>
                              </a:cxn>
                              <a:cxn ang="T97">
                                <a:pos x="T42" y="T43"/>
                              </a:cxn>
                              <a:cxn ang="T98">
                                <a:pos x="T44" y="T45"/>
                              </a:cxn>
                              <a:cxn ang="T99">
                                <a:pos x="T46" y="T47"/>
                              </a:cxn>
                              <a:cxn ang="T100">
                                <a:pos x="T48" y="T49"/>
                              </a:cxn>
                              <a:cxn ang="T101">
                                <a:pos x="T50" y="T51"/>
                              </a:cxn>
                              <a:cxn ang="T102">
                                <a:pos x="T52" y="T53"/>
                              </a:cxn>
                              <a:cxn ang="T103">
                                <a:pos x="T54" y="T55"/>
                              </a:cxn>
                              <a:cxn ang="T104">
                                <a:pos x="T56" y="T57"/>
                              </a:cxn>
                              <a:cxn ang="T105">
                                <a:pos x="T58" y="T59"/>
                              </a:cxn>
                              <a:cxn ang="T106">
                                <a:pos x="T60" y="T61"/>
                              </a:cxn>
                              <a:cxn ang="T107">
                                <a:pos x="T62" y="T63"/>
                              </a:cxn>
                              <a:cxn ang="T108">
                                <a:pos x="T64" y="T65"/>
                              </a:cxn>
                              <a:cxn ang="T109">
                                <a:pos x="T66" y="T67"/>
                              </a:cxn>
                              <a:cxn ang="T110">
                                <a:pos x="T68" y="T69"/>
                              </a:cxn>
                              <a:cxn ang="T111">
                                <a:pos x="T70" y="T71"/>
                              </a:cxn>
                              <a:cxn ang="T112">
                                <a:pos x="T72" y="T73"/>
                              </a:cxn>
                              <a:cxn ang="T113">
                                <a:pos x="T74" y="T75"/>
                              </a:cxn>
                            </a:cxnLst>
                            <a:rect l="T114" t="T115" r="T116" b="T117"/>
                            <a:pathLst>
                              <a:path w="115" h="95">
                                <a:moveTo>
                                  <a:pt x="29" y="0"/>
                                </a:moveTo>
                                <a:lnTo>
                                  <a:pt x="56" y="2"/>
                                </a:lnTo>
                                <a:lnTo>
                                  <a:pt x="82" y="2"/>
                                </a:lnTo>
                                <a:lnTo>
                                  <a:pt x="96" y="0"/>
                                </a:lnTo>
                                <a:lnTo>
                                  <a:pt x="115" y="9"/>
                                </a:lnTo>
                                <a:lnTo>
                                  <a:pt x="103" y="12"/>
                                </a:lnTo>
                                <a:lnTo>
                                  <a:pt x="96" y="16"/>
                                </a:lnTo>
                                <a:lnTo>
                                  <a:pt x="92" y="19"/>
                                </a:lnTo>
                                <a:lnTo>
                                  <a:pt x="89" y="22"/>
                                </a:lnTo>
                                <a:lnTo>
                                  <a:pt x="89" y="25"/>
                                </a:lnTo>
                                <a:lnTo>
                                  <a:pt x="89" y="29"/>
                                </a:lnTo>
                                <a:lnTo>
                                  <a:pt x="81" y="32"/>
                                </a:lnTo>
                                <a:lnTo>
                                  <a:pt x="74" y="32"/>
                                </a:lnTo>
                                <a:lnTo>
                                  <a:pt x="71" y="34"/>
                                </a:lnTo>
                                <a:lnTo>
                                  <a:pt x="64" y="34"/>
                                </a:lnTo>
                                <a:lnTo>
                                  <a:pt x="62" y="29"/>
                                </a:lnTo>
                                <a:lnTo>
                                  <a:pt x="56" y="23"/>
                                </a:lnTo>
                                <a:lnTo>
                                  <a:pt x="51" y="19"/>
                                </a:lnTo>
                                <a:lnTo>
                                  <a:pt x="40" y="19"/>
                                </a:lnTo>
                                <a:lnTo>
                                  <a:pt x="37" y="19"/>
                                </a:lnTo>
                                <a:lnTo>
                                  <a:pt x="34" y="26"/>
                                </a:lnTo>
                                <a:lnTo>
                                  <a:pt x="35" y="34"/>
                                </a:lnTo>
                                <a:lnTo>
                                  <a:pt x="35" y="38"/>
                                </a:lnTo>
                                <a:lnTo>
                                  <a:pt x="37" y="42"/>
                                </a:lnTo>
                                <a:lnTo>
                                  <a:pt x="42" y="41"/>
                                </a:lnTo>
                                <a:lnTo>
                                  <a:pt x="51" y="37"/>
                                </a:lnTo>
                                <a:lnTo>
                                  <a:pt x="56" y="37"/>
                                </a:lnTo>
                                <a:lnTo>
                                  <a:pt x="60" y="39"/>
                                </a:lnTo>
                                <a:lnTo>
                                  <a:pt x="60" y="42"/>
                                </a:lnTo>
                                <a:lnTo>
                                  <a:pt x="57" y="48"/>
                                </a:lnTo>
                                <a:lnTo>
                                  <a:pt x="56" y="51"/>
                                </a:lnTo>
                                <a:lnTo>
                                  <a:pt x="56" y="54"/>
                                </a:lnTo>
                                <a:lnTo>
                                  <a:pt x="55" y="58"/>
                                </a:lnTo>
                                <a:lnTo>
                                  <a:pt x="57" y="63"/>
                                </a:lnTo>
                                <a:lnTo>
                                  <a:pt x="63" y="68"/>
                                </a:lnTo>
                                <a:lnTo>
                                  <a:pt x="64" y="67"/>
                                </a:lnTo>
                                <a:lnTo>
                                  <a:pt x="64" y="73"/>
                                </a:lnTo>
                                <a:lnTo>
                                  <a:pt x="62" y="77"/>
                                </a:lnTo>
                                <a:lnTo>
                                  <a:pt x="59" y="82"/>
                                </a:lnTo>
                                <a:lnTo>
                                  <a:pt x="57" y="89"/>
                                </a:lnTo>
                                <a:lnTo>
                                  <a:pt x="52" y="92"/>
                                </a:lnTo>
                                <a:lnTo>
                                  <a:pt x="48" y="92"/>
                                </a:lnTo>
                                <a:lnTo>
                                  <a:pt x="44" y="92"/>
                                </a:lnTo>
                                <a:lnTo>
                                  <a:pt x="44" y="86"/>
                                </a:lnTo>
                                <a:lnTo>
                                  <a:pt x="42" y="76"/>
                                </a:lnTo>
                                <a:lnTo>
                                  <a:pt x="38" y="73"/>
                                </a:lnTo>
                                <a:lnTo>
                                  <a:pt x="37" y="68"/>
                                </a:lnTo>
                                <a:lnTo>
                                  <a:pt x="38" y="60"/>
                                </a:lnTo>
                                <a:lnTo>
                                  <a:pt x="34" y="57"/>
                                </a:lnTo>
                                <a:lnTo>
                                  <a:pt x="24" y="60"/>
                                </a:lnTo>
                                <a:lnTo>
                                  <a:pt x="20" y="57"/>
                                </a:lnTo>
                                <a:lnTo>
                                  <a:pt x="16" y="61"/>
                                </a:lnTo>
                                <a:lnTo>
                                  <a:pt x="20" y="64"/>
                                </a:lnTo>
                                <a:lnTo>
                                  <a:pt x="27" y="67"/>
                                </a:lnTo>
                                <a:lnTo>
                                  <a:pt x="29" y="70"/>
                                </a:lnTo>
                                <a:lnTo>
                                  <a:pt x="33" y="76"/>
                                </a:lnTo>
                                <a:lnTo>
                                  <a:pt x="33" y="80"/>
                                </a:lnTo>
                                <a:lnTo>
                                  <a:pt x="29" y="87"/>
                                </a:lnTo>
                                <a:lnTo>
                                  <a:pt x="23" y="93"/>
                                </a:lnTo>
                                <a:lnTo>
                                  <a:pt x="20" y="95"/>
                                </a:lnTo>
                                <a:lnTo>
                                  <a:pt x="20" y="90"/>
                                </a:lnTo>
                                <a:lnTo>
                                  <a:pt x="20" y="86"/>
                                </a:lnTo>
                                <a:lnTo>
                                  <a:pt x="22" y="80"/>
                                </a:lnTo>
                                <a:lnTo>
                                  <a:pt x="15" y="76"/>
                                </a:lnTo>
                                <a:lnTo>
                                  <a:pt x="8" y="71"/>
                                </a:lnTo>
                                <a:lnTo>
                                  <a:pt x="7" y="67"/>
                                </a:lnTo>
                                <a:lnTo>
                                  <a:pt x="0" y="64"/>
                                </a:lnTo>
                                <a:lnTo>
                                  <a:pt x="1" y="57"/>
                                </a:lnTo>
                                <a:lnTo>
                                  <a:pt x="7" y="53"/>
                                </a:lnTo>
                                <a:lnTo>
                                  <a:pt x="11" y="45"/>
                                </a:lnTo>
                                <a:lnTo>
                                  <a:pt x="15" y="38"/>
                                </a:lnTo>
                                <a:lnTo>
                                  <a:pt x="16" y="31"/>
                                </a:lnTo>
                                <a:lnTo>
                                  <a:pt x="15" y="23"/>
                                </a:lnTo>
                                <a:lnTo>
                                  <a:pt x="18" y="21"/>
                                </a:lnTo>
                                <a:lnTo>
                                  <a:pt x="20" y="18"/>
                                </a:lnTo>
                                <a:lnTo>
                                  <a:pt x="16" y="12"/>
                                </a:lnTo>
                                <a:lnTo>
                                  <a:pt x="2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89" name="Freeform 149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38" y="2567"/>
                            <a:ext cx="64" cy="65"/>
                          </a:xfrm>
                          <a:custGeom>
                            <a:avLst/>
                            <a:gdLst>
                              <a:gd name="T0" fmla="*/ 0 w 127"/>
                              <a:gd name="T1" fmla="*/ 1 h 131"/>
                              <a:gd name="T2" fmla="*/ 1 w 127"/>
                              <a:gd name="T3" fmla="*/ 0 h 131"/>
                              <a:gd name="T4" fmla="*/ 2 w 127"/>
                              <a:gd name="T5" fmla="*/ 0 h 131"/>
                              <a:gd name="T6" fmla="*/ 2 w 127"/>
                              <a:gd name="T7" fmla="*/ 0 h 131"/>
                              <a:gd name="T8" fmla="*/ 3 w 127"/>
                              <a:gd name="T9" fmla="*/ 0 h 131"/>
                              <a:gd name="T10" fmla="*/ 3 w 127"/>
                              <a:gd name="T11" fmla="*/ 0 h 131"/>
                              <a:gd name="T12" fmla="*/ 3 w 127"/>
                              <a:gd name="T13" fmla="*/ 0 h 131"/>
                              <a:gd name="T14" fmla="*/ 3 w 127"/>
                              <a:gd name="T15" fmla="*/ 0 h 131"/>
                              <a:gd name="T16" fmla="*/ 4 w 127"/>
                              <a:gd name="T17" fmla="*/ 0 h 131"/>
                              <a:gd name="T18" fmla="*/ 4 w 127"/>
                              <a:gd name="T19" fmla="*/ 0 h 131"/>
                              <a:gd name="T20" fmla="*/ 4 w 127"/>
                              <a:gd name="T21" fmla="*/ 0 h 131"/>
                              <a:gd name="T22" fmla="*/ 4 w 127"/>
                              <a:gd name="T23" fmla="*/ 0 h 131"/>
                              <a:gd name="T24" fmla="*/ 4 w 127"/>
                              <a:gd name="T25" fmla="*/ 0 h 131"/>
                              <a:gd name="T26" fmla="*/ 4 w 127"/>
                              <a:gd name="T27" fmla="*/ 0 h 131"/>
                              <a:gd name="T28" fmla="*/ 4 w 127"/>
                              <a:gd name="T29" fmla="*/ 1 h 131"/>
                              <a:gd name="T30" fmla="*/ 4 w 127"/>
                              <a:gd name="T31" fmla="*/ 1 h 131"/>
                              <a:gd name="T32" fmla="*/ 4 w 127"/>
                              <a:gd name="T33" fmla="*/ 1 h 131"/>
                              <a:gd name="T34" fmla="*/ 4 w 127"/>
                              <a:gd name="T35" fmla="*/ 1 h 131"/>
                              <a:gd name="T36" fmla="*/ 4 w 127"/>
                              <a:gd name="T37" fmla="*/ 2 h 131"/>
                              <a:gd name="T38" fmla="*/ 4 w 127"/>
                              <a:gd name="T39" fmla="*/ 1 h 131"/>
                              <a:gd name="T40" fmla="*/ 4 w 127"/>
                              <a:gd name="T41" fmla="*/ 2 h 131"/>
                              <a:gd name="T42" fmla="*/ 4 w 127"/>
                              <a:gd name="T43" fmla="*/ 2 h 131"/>
                              <a:gd name="T44" fmla="*/ 4 w 127"/>
                              <a:gd name="T45" fmla="*/ 2 h 131"/>
                              <a:gd name="T46" fmla="*/ 4 w 127"/>
                              <a:gd name="T47" fmla="*/ 3 h 131"/>
                              <a:gd name="T48" fmla="*/ 4 w 127"/>
                              <a:gd name="T49" fmla="*/ 3 h 131"/>
                              <a:gd name="T50" fmla="*/ 3 w 127"/>
                              <a:gd name="T51" fmla="*/ 3 h 131"/>
                              <a:gd name="T52" fmla="*/ 3 w 127"/>
                              <a:gd name="T53" fmla="*/ 4 h 131"/>
                              <a:gd name="T54" fmla="*/ 3 w 127"/>
                              <a:gd name="T55" fmla="*/ 4 h 131"/>
                              <a:gd name="T56" fmla="*/ 3 w 127"/>
                              <a:gd name="T57" fmla="*/ 3 h 131"/>
                              <a:gd name="T58" fmla="*/ 3 w 127"/>
                              <a:gd name="T59" fmla="*/ 3 h 131"/>
                              <a:gd name="T60" fmla="*/ 2 w 127"/>
                              <a:gd name="T61" fmla="*/ 3 h 131"/>
                              <a:gd name="T62" fmla="*/ 2 w 127"/>
                              <a:gd name="T63" fmla="*/ 3 h 131"/>
                              <a:gd name="T64" fmla="*/ 1 w 127"/>
                              <a:gd name="T65" fmla="*/ 3 h 131"/>
                              <a:gd name="T66" fmla="*/ 1 w 127"/>
                              <a:gd name="T67" fmla="*/ 3 h 131"/>
                              <a:gd name="T68" fmla="*/ 1 w 127"/>
                              <a:gd name="T69" fmla="*/ 2 h 131"/>
                              <a:gd name="T70" fmla="*/ 1 w 127"/>
                              <a:gd name="T71" fmla="*/ 2 h 131"/>
                              <a:gd name="T72" fmla="*/ 1 w 127"/>
                              <a:gd name="T73" fmla="*/ 2 h 131"/>
                              <a:gd name="T74" fmla="*/ 0 w 127"/>
                              <a:gd name="T75" fmla="*/ 1 h 131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w 127"/>
                              <a:gd name="T115" fmla="*/ 0 h 131"/>
                              <a:gd name="T116" fmla="*/ 127 w 127"/>
                              <a:gd name="T117" fmla="*/ 131 h 131"/>
                            </a:gdLst>
                            <a:ahLst/>
                            <a:cxnLst>
                              <a:cxn ang="T76">
                                <a:pos x="T0" y="T1"/>
                              </a:cxn>
                              <a:cxn ang="T77">
                                <a:pos x="T2" y="T3"/>
                              </a:cxn>
                              <a:cxn ang="T78">
                                <a:pos x="T4" y="T5"/>
                              </a:cxn>
                              <a:cxn ang="T79">
                                <a:pos x="T6" y="T7"/>
                              </a:cxn>
                              <a:cxn ang="T80">
                                <a:pos x="T8" y="T9"/>
                              </a:cxn>
                              <a:cxn ang="T81">
                                <a:pos x="T10" y="T11"/>
                              </a:cxn>
                              <a:cxn ang="T82">
                                <a:pos x="T12" y="T13"/>
                              </a:cxn>
                              <a:cxn ang="T83">
                                <a:pos x="T14" y="T15"/>
                              </a:cxn>
                              <a:cxn ang="T84">
                                <a:pos x="T16" y="T17"/>
                              </a:cxn>
                              <a:cxn ang="T85">
                                <a:pos x="T18" y="T19"/>
                              </a:cxn>
                              <a:cxn ang="T86">
                                <a:pos x="T20" y="T21"/>
                              </a:cxn>
                              <a:cxn ang="T87">
                                <a:pos x="T22" y="T23"/>
                              </a:cxn>
                              <a:cxn ang="T88">
                                <a:pos x="T24" y="T25"/>
                              </a:cxn>
                              <a:cxn ang="T89">
                                <a:pos x="T26" y="T27"/>
                              </a:cxn>
                              <a:cxn ang="T90">
                                <a:pos x="T28" y="T29"/>
                              </a:cxn>
                              <a:cxn ang="T91">
                                <a:pos x="T30" y="T31"/>
                              </a:cxn>
                              <a:cxn ang="T92">
                                <a:pos x="T32" y="T33"/>
                              </a:cxn>
                              <a:cxn ang="T93">
                                <a:pos x="T34" y="T35"/>
                              </a:cxn>
                              <a:cxn ang="T94">
                                <a:pos x="T36" y="T37"/>
                              </a:cxn>
                              <a:cxn ang="T95">
                                <a:pos x="T38" y="T39"/>
                              </a:cxn>
                              <a:cxn ang="T96">
                                <a:pos x="T40" y="T41"/>
                              </a:cxn>
                              <a:cxn ang="T97">
                                <a:pos x="T42" y="T43"/>
                              </a:cxn>
                              <a:cxn ang="T98">
                                <a:pos x="T44" y="T45"/>
                              </a:cxn>
                              <a:cxn ang="T99">
                                <a:pos x="T46" y="T47"/>
                              </a:cxn>
                              <a:cxn ang="T100">
                                <a:pos x="T48" y="T49"/>
                              </a:cxn>
                              <a:cxn ang="T101">
                                <a:pos x="T50" y="T51"/>
                              </a:cxn>
                              <a:cxn ang="T102">
                                <a:pos x="T52" y="T53"/>
                              </a:cxn>
                              <a:cxn ang="T103">
                                <a:pos x="T54" y="T55"/>
                              </a:cxn>
                              <a:cxn ang="T104">
                                <a:pos x="T56" y="T57"/>
                              </a:cxn>
                              <a:cxn ang="T105">
                                <a:pos x="T58" y="T59"/>
                              </a:cxn>
                              <a:cxn ang="T106">
                                <a:pos x="T60" y="T61"/>
                              </a:cxn>
                              <a:cxn ang="T107">
                                <a:pos x="T62" y="T63"/>
                              </a:cxn>
                              <a:cxn ang="T108">
                                <a:pos x="T64" y="T65"/>
                              </a:cxn>
                              <a:cxn ang="T109">
                                <a:pos x="T66" y="T67"/>
                              </a:cxn>
                              <a:cxn ang="T110">
                                <a:pos x="T68" y="T69"/>
                              </a:cxn>
                              <a:cxn ang="T111">
                                <a:pos x="T70" y="T71"/>
                              </a:cxn>
                              <a:cxn ang="T112">
                                <a:pos x="T72" y="T73"/>
                              </a:cxn>
                              <a:cxn ang="T113">
                                <a:pos x="T74" y="T75"/>
                              </a:cxn>
                            </a:cxnLst>
                            <a:rect l="T114" t="T115" r="T116" b="T117"/>
                            <a:pathLst>
                              <a:path w="127" h="131">
                                <a:moveTo>
                                  <a:pt x="0" y="44"/>
                                </a:moveTo>
                                <a:lnTo>
                                  <a:pt x="26" y="23"/>
                                </a:lnTo>
                                <a:lnTo>
                                  <a:pt x="40" y="15"/>
                                </a:lnTo>
                                <a:lnTo>
                                  <a:pt x="46" y="7"/>
                                </a:lnTo>
                                <a:lnTo>
                                  <a:pt x="67" y="0"/>
                                </a:lnTo>
                                <a:lnTo>
                                  <a:pt x="78" y="16"/>
                                </a:lnTo>
                                <a:lnTo>
                                  <a:pt x="89" y="9"/>
                                </a:lnTo>
                                <a:lnTo>
                                  <a:pt x="93" y="4"/>
                                </a:lnTo>
                                <a:lnTo>
                                  <a:pt x="103" y="0"/>
                                </a:lnTo>
                                <a:lnTo>
                                  <a:pt x="108" y="0"/>
                                </a:lnTo>
                                <a:lnTo>
                                  <a:pt x="109" y="6"/>
                                </a:lnTo>
                                <a:lnTo>
                                  <a:pt x="109" y="10"/>
                                </a:lnTo>
                                <a:lnTo>
                                  <a:pt x="104" y="18"/>
                                </a:lnTo>
                                <a:lnTo>
                                  <a:pt x="104" y="22"/>
                                </a:lnTo>
                                <a:lnTo>
                                  <a:pt x="119" y="41"/>
                                </a:lnTo>
                                <a:lnTo>
                                  <a:pt x="122" y="52"/>
                                </a:lnTo>
                                <a:lnTo>
                                  <a:pt x="126" y="52"/>
                                </a:lnTo>
                                <a:lnTo>
                                  <a:pt x="127" y="58"/>
                                </a:lnTo>
                                <a:lnTo>
                                  <a:pt x="122" y="64"/>
                                </a:lnTo>
                                <a:lnTo>
                                  <a:pt x="118" y="61"/>
                                </a:lnTo>
                                <a:lnTo>
                                  <a:pt x="108" y="65"/>
                                </a:lnTo>
                                <a:lnTo>
                                  <a:pt x="109" y="77"/>
                                </a:lnTo>
                                <a:lnTo>
                                  <a:pt x="99" y="84"/>
                                </a:lnTo>
                                <a:lnTo>
                                  <a:pt x="99" y="103"/>
                                </a:lnTo>
                                <a:lnTo>
                                  <a:pt x="99" y="116"/>
                                </a:lnTo>
                                <a:lnTo>
                                  <a:pt x="93" y="122"/>
                                </a:lnTo>
                                <a:lnTo>
                                  <a:pt x="89" y="131"/>
                                </a:lnTo>
                                <a:lnTo>
                                  <a:pt x="83" y="129"/>
                                </a:lnTo>
                                <a:lnTo>
                                  <a:pt x="75" y="125"/>
                                </a:lnTo>
                                <a:lnTo>
                                  <a:pt x="68" y="121"/>
                                </a:lnTo>
                                <a:lnTo>
                                  <a:pt x="63" y="113"/>
                                </a:lnTo>
                                <a:lnTo>
                                  <a:pt x="44" y="115"/>
                                </a:lnTo>
                                <a:lnTo>
                                  <a:pt x="27" y="110"/>
                                </a:lnTo>
                                <a:lnTo>
                                  <a:pt x="16" y="99"/>
                                </a:lnTo>
                                <a:lnTo>
                                  <a:pt x="9" y="90"/>
                                </a:lnTo>
                                <a:lnTo>
                                  <a:pt x="4" y="83"/>
                                </a:lnTo>
                                <a:lnTo>
                                  <a:pt x="4" y="68"/>
                                </a:lnTo>
                                <a:lnTo>
                                  <a:pt x="0" y="4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0" name="Freeform 15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674" y="2604"/>
                            <a:ext cx="122" cy="61"/>
                          </a:xfrm>
                          <a:custGeom>
                            <a:avLst/>
                            <a:gdLst>
                              <a:gd name="T0" fmla="*/ 1 w 244"/>
                              <a:gd name="T1" fmla="*/ 1 h 122"/>
                              <a:gd name="T2" fmla="*/ 2 w 244"/>
                              <a:gd name="T3" fmla="*/ 1 h 122"/>
                              <a:gd name="T4" fmla="*/ 2 w 244"/>
                              <a:gd name="T5" fmla="*/ 1 h 122"/>
                              <a:gd name="T6" fmla="*/ 3 w 244"/>
                              <a:gd name="T7" fmla="*/ 1 h 122"/>
                              <a:gd name="T8" fmla="*/ 3 w 244"/>
                              <a:gd name="T9" fmla="*/ 1 h 122"/>
                              <a:gd name="T10" fmla="*/ 3 w 244"/>
                              <a:gd name="T11" fmla="*/ 1 h 122"/>
                              <a:gd name="T12" fmla="*/ 4 w 244"/>
                              <a:gd name="T13" fmla="*/ 1 h 122"/>
                              <a:gd name="T14" fmla="*/ 5 w 244"/>
                              <a:gd name="T15" fmla="*/ 1 h 122"/>
                              <a:gd name="T16" fmla="*/ 5 w 244"/>
                              <a:gd name="T17" fmla="*/ 2 h 122"/>
                              <a:gd name="T18" fmla="*/ 6 w 244"/>
                              <a:gd name="T19" fmla="*/ 2 h 122"/>
                              <a:gd name="T20" fmla="*/ 6 w 244"/>
                              <a:gd name="T21" fmla="*/ 2 h 122"/>
                              <a:gd name="T22" fmla="*/ 7 w 244"/>
                              <a:gd name="T23" fmla="*/ 3 h 122"/>
                              <a:gd name="T24" fmla="*/ 7 w 244"/>
                              <a:gd name="T25" fmla="*/ 3 h 122"/>
                              <a:gd name="T26" fmla="*/ 7 w 244"/>
                              <a:gd name="T27" fmla="*/ 3 h 122"/>
                              <a:gd name="T28" fmla="*/ 8 w 244"/>
                              <a:gd name="T29" fmla="*/ 3 h 122"/>
                              <a:gd name="T30" fmla="*/ 8 w 244"/>
                              <a:gd name="T31" fmla="*/ 4 h 122"/>
                              <a:gd name="T32" fmla="*/ 8 w 244"/>
                              <a:gd name="T33" fmla="*/ 4 h 122"/>
                              <a:gd name="T34" fmla="*/ 8 w 244"/>
                              <a:gd name="T35" fmla="*/ 4 h 122"/>
                              <a:gd name="T36" fmla="*/ 7 w 244"/>
                              <a:gd name="T37" fmla="*/ 4 h 122"/>
                              <a:gd name="T38" fmla="*/ 7 w 244"/>
                              <a:gd name="T39" fmla="*/ 3 h 122"/>
                              <a:gd name="T40" fmla="*/ 6 w 244"/>
                              <a:gd name="T41" fmla="*/ 3 h 122"/>
                              <a:gd name="T42" fmla="*/ 6 w 244"/>
                              <a:gd name="T43" fmla="*/ 4 h 122"/>
                              <a:gd name="T44" fmla="*/ 5 w 244"/>
                              <a:gd name="T45" fmla="*/ 4 h 122"/>
                              <a:gd name="T46" fmla="*/ 5 w 244"/>
                              <a:gd name="T47" fmla="*/ 4 h 122"/>
                              <a:gd name="T48" fmla="*/ 4 w 244"/>
                              <a:gd name="T49" fmla="*/ 4 h 122"/>
                              <a:gd name="T50" fmla="*/ 4 w 244"/>
                              <a:gd name="T51" fmla="*/ 4 h 122"/>
                              <a:gd name="T52" fmla="*/ 4 w 244"/>
                              <a:gd name="T53" fmla="*/ 3 h 122"/>
                              <a:gd name="T54" fmla="*/ 3 w 244"/>
                              <a:gd name="T55" fmla="*/ 2 h 122"/>
                              <a:gd name="T56" fmla="*/ 2 w 244"/>
                              <a:gd name="T57" fmla="*/ 2 h 122"/>
                              <a:gd name="T58" fmla="*/ 2 w 244"/>
                              <a:gd name="T59" fmla="*/ 2 h 122"/>
                              <a:gd name="T60" fmla="*/ 1 w 244"/>
                              <a:gd name="T61" fmla="*/ 2 h 122"/>
                              <a:gd name="T62" fmla="*/ 1 w 244"/>
                              <a:gd name="T63" fmla="*/ 1 h 122"/>
                              <a:gd name="T64" fmla="*/ 0 60000 65536"/>
                              <a:gd name="T65" fmla="*/ 0 60000 65536"/>
                              <a:gd name="T66" fmla="*/ 0 60000 65536"/>
                              <a:gd name="T67" fmla="*/ 0 60000 65536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w 244"/>
                              <a:gd name="T97" fmla="*/ 0 h 122"/>
                              <a:gd name="T98" fmla="*/ 244 w 244"/>
                              <a:gd name="T99" fmla="*/ 122 h 122"/>
                            </a:gdLst>
                            <a:ahLst/>
                            <a:cxnLst>
                              <a:cxn ang="T64">
                                <a:pos x="T0" y="T1"/>
                              </a:cxn>
                              <a:cxn ang="T65">
                                <a:pos x="T2" y="T3"/>
                              </a:cxn>
                              <a:cxn ang="T66">
                                <a:pos x="T4" y="T5"/>
                              </a:cxn>
                              <a:cxn ang="T67">
                                <a:pos x="T6" y="T7"/>
                              </a:cxn>
                              <a:cxn ang="T68">
                                <a:pos x="T8" y="T9"/>
                              </a:cxn>
                              <a:cxn ang="T69">
                                <a:pos x="T10" y="T11"/>
                              </a:cxn>
                              <a:cxn ang="T70">
                                <a:pos x="T12" y="T13"/>
                              </a:cxn>
                              <a:cxn ang="T71">
                                <a:pos x="T14" y="T15"/>
                              </a:cxn>
                              <a:cxn ang="T72">
                                <a:pos x="T16" y="T17"/>
                              </a:cxn>
                              <a:cxn ang="T73">
                                <a:pos x="T18" y="T19"/>
                              </a:cxn>
                              <a:cxn ang="T74">
                                <a:pos x="T20" y="T21"/>
                              </a:cxn>
                              <a:cxn ang="T75">
                                <a:pos x="T22" y="T23"/>
                              </a:cxn>
                              <a:cxn ang="T76">
                                <a:pos x="T24" y="T25"/>
                              </a:cxn>
                              <a:cxn ang="T77">
                                <a:pos x="T26" y="T27"/>
                              </a:cxn>
                              <a:cxn ang="T78">
                                <a:pos x="T28" y="T29"/>
                              </a:cxn>
                              <a:cxn ang="T79">
                                <a:pos x="T30" y="T31"/>
                              </a:cxn>
                              <a:cxn ang="T80">
                                <a:pos x="T32" y="T33"/>
                              </a:cxn>
                              <a:cxn ang="T81">
                                <a:pos x="T34" y="T35"/>
                              </a:cxn>
                              <a:cxn ang="T82">
                                <a:pos x="T36" y="T37"/>
                              </a:cxn>
                              <a:cxn ang="T83">
                                <a:pos x="T38" y="T39"/>
                              </a:cxn>
                              <a:cxn ang="T84">
                                <a:pos x="T40" y="T41"/>
                              </a:cxn>
                              <a:cxn ang="T85">
                                <a:pos x="T42" y="T43"/>
                              </a:cxn>
                              <a:cxn ang="T86">
                                <a:pos x="T44" y="T45"/>
                              </a:cxn>
                              <a:cxn ang="T87">
                                <a:pos x="T46" y="T47"/>
                              </a:cxn>
                              <a:cxn ang="T88">
                                <a:pos x="T48" y="T49"/>
                              </a:cxn>
                              <a:cxn ang="T89">
                                <a:pos x="T50" y="T51"/>
                              </a:cxn>
                              <a:cxn ang="T90">
                                <a:pos x="T52" y="T53"/>
                              </a:cxn>
                              <a:cxn ang="T91">
                                <a:pos x="T54" y="T55"/>
                              </a:cxn>
                              <a:cxn ang="T92">
                                <a:pos x="T56" y="T57"/>
                              </a:cxn>
                              <a:cxn ang="T93">
                                <a:pos x="T58" y="T59"/>
                              </a:cxn>
                              <a:cxn ang="T94">
                                <a:pos x="T60" y="T61"/>
                              </a:cxn>
                              <a:cxn ang="T95">
                                <a:pos x="T62" y="T63"/>
                              </a:cxn>
                            </a:cxnLst>
                            <a:rect l="T96" t="T97" r="T98" b="T99"/>
                            <a:pathLst>
                              <a:path w="244" h="122">
                                <a:moveTo>
                                  <a:pt x="0" y="0"/>
                                </a:moveTo>
                                <a:lnTo>
                                  <a:pt x="22" y="2"/>
                                </a:lnTo>
                                <a:lnTo>
                                  <a:pt x="40" y="3"/>
                                </a:lnTo>
                                <a:lnTo>
                                  <a:pt x="48" y="21"/>
                                </a:lnTo>
                                <a:lnTo>
                                  <a:pt x="50" y="26"/>
                                </a:lnTo>
                                <a:lnTo>
                                  <a:pt x="52" y="29"/>
                                </a:lnTo>
                                <a:lnTo>
                                  <a:pt x="58" y="25"/>
                                </a:lnTo>
                                <a:lnTo>
                                  <a:pt x="67" y="25"/>
                                </a:lnTo>
                                <a:lnTo>
                                  <a:pt x="73" y="29"/>
                                </a:lnTo>
                                <a:lnTo>
                                  <a:pt x="76" y="28"/>
                                </a:lnTo>
                                <a:lnTo>
                                  <a:pt x="84" y="21"/>
                                </a:lnTo>
                                <a:lnTo>
                                  <a:pt x="85" y="21"/>
                                </a:lnTo>
                                <a:lnTo>
                                  <a:pt x="92" y="16"/>
                                </a:lnTo>
                                <a:lnTo>
                                  <a:pt x="99" y="16"/>
                                </a:lnTo>
                                <a:lnTo>
                                  <a:pt x="121" y="25"/>
                                </a:lnTo>
                                <a:lnTo>
                                  <a:pt x="131" y="25"/>
                                </a:lnTo>
                                <a:lnTo>
                                  <a:pt x="140" y="32"/>
                                </a:lnTo>
                                <a:lnTo>
                                  <a:pt x="150" y="35"/>
                                </a:lnTo>
                                <a:lnTo>
                                  <a:pt x="158" y="41"/>
                                </a:lnTo>
                                <a:lnTo>
                                  <a:pt x="165" y="42"/>
                                </a:lnTo>
                                <a:lnTo>
                                  <a:pt x="183" y="48"/>
                                </a:lnTo>
                                <a:lnTo>
                                  <a:pt x="191" y="58"/>
                                </a:lnTo>
                                <a:lnTo>
                                  <a:pt x="195" y="64"/>
                                </a:lnTo>
                                <a:lnTo>
                                  <a:pt x="194" y="67"/>
                                </a:lnTo>
                                <a:lnTo>
                                  <a:pt x="200" y="73"/>
                                </a:lnTo>
                                <a:lnTo>
                                  <a:pt x="206" y="74"/>
                                </a:lnTo>
                                <a:lnTo>
                                  <a:pt x="209" y="76"/>
                                </a:lnTo>
                                <a:lnTo>
                                  <a:pt x="216" y="77"/>
                                </a:lnTo>
                                <a:lnTo>
                                  <a:pt x="227" y="86"/>
                                </a:lnTo>
                                <a:lnTo>
                                  <a:pt x="227" y="92"/>
                                </a:lnTo>
                                <a:lnTo>
                                  <a:pt x="233" y="97"/>
                                </a:lnTo>
                                <a:lnTo>
                                  <a:pt x="235" y="100"/>
                                </a:lnTo>
                                <a:lnTo>
                                  <a:pt x="244" y="112"/>
                                </a:lnTo>
                                <a:lnTo>
                                  <a:pt x="236" y="122"/>
                                </a:lnTo>
                                <a:lnTo>
                                  <a:pt x="233" y="122"/>
                                </a:lnTo>
                                <a:lnTo>
                                  <a:pt x="225" y="122"/>
                                </a:lnTo>
                                <a:lnTo>
                                  <a:pt x="222" y="118"/>
                                </a:lnTo>
                                <a:lnTo>
                                  <a:pt x="218" y="118"/>
                                </a:lnTo>
                                <a:lnTo>
                                  <a:pt x="214" y="119"/>
                                </a:lnTo>
                                <a:lnTo>
                                  <a:pt x="194" y="96"/>
                                </a:lnTo>
                                <a:lnTo>
                                  <a:pt x="181" y="97"/>
                                </a:lnTo>
                                <a:lnTo>
                                  <a:pt x="169" y="96"/>
                                </a:lnTo>
                                <a:lnTo>
                                  <a:pt x="165" y="99"/>
                                </a:lnTo>
                                <a:lnTo>
                                  <a:pt x="161" y="103"/>
                                </a:lnTo>
                                <a:lnTo>
                                  <a:pt x="159" y="100"/>
                                </a:lnTo>
                                <a:lnTo>
                                  <a:pt x="154" y="108"/>
                                </a:lnTo>
                                <a:lnTo>
                                  <a:pt x="146" y="118"/>
                                </a:lnTo>
                                <a:lnTo>
                                  <a:pt x="139" y="113"/>
                                </a:lnTo>
                                <a:lnTo>
                                  <a:pt x="131" y="111"/>
                                </a:lnTo>
                                <a:lnTo>
                                  <a:pt x="125" y="111"/>
                                </a:lnTo>
                                <a:lnTo>
                                  <a:pt x="117" y="108"/>
                                </a:lnTo>
                                <a:lnTo>
                                  <a:pt x="113" y="111"/>
                                </a:lnTo>
                                <a:lnTo>
                                  <a:pt x="107" y="96"/>
                                </a:lnTo>
                                <a:lnTo>
                                  <a:pt x="98" y="83"/>
                                </a:lnTo>
                                <a:lnTo>
                                  <a:pt x="88" y="67"/>
                                </a:lnTo>
                                <a:lnTo>
                                  <a:pt x="80" y="58"/>
                                </a:lnTo>
                                <a:lnTo>
                                  <a:pt x="73" y="50"/>
                                </a:lnTo>
                                <a:lnTo>
                                  <a:pt x="58" y="50"/>
                                </a:lnTo>
                                <a:lnTo>
                                  <a:pt x="44" y="54"/>
                                </a:lnTo>
                                <a:lnTo>
                                  <a:pt x="37" y="48"/>
                                </a:lnTo>
                                <a:lnTo>
                                  <a:pt x="24" y="44"/>
                                </a:lnTo>
                                <a:lnTo>
                                  <a:pt x="17" y="39"/>
                                </a:lnTo>
                                <a:lnTo>
                                  <a:pt x="17" y="22"/>
                                </a:lnTo>
                                <a:lnTo>
                                  <a:pt x="18" y="13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1" name="Freeform 15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448" y="2561"/>
                            <a:ext cx="74" cy="80"/>
                          </a:xfrm>
                          <a:custGeom>
                            <a:avLst/>
                            <a:gdLst>
                              <a:gd name="T0" fmla="*/ 0 w 148"/>
                              <a:gd name="T1" fmla="*/ 0 h 161"/>
                              <a:gd name="T2" fmla="*/ 1 w 148"/>
                              <a:gd name="T3" fmla="*/ 0 h 161"/>
                              <a:gd name="T4" fmla="*/ 2 w 148"/>
                              <a:gd name="T5" fmla="*/ 0 h 161"/>
                              <a:gd name="T6" fmla="*/ 2 w 148"/>
                              <a:gd name="T7" fmla="*/ 0 h 161"/>
                              <a:gd name="T8" fmla="*/ 2 w 148"/>
                              <a:gd name="T9" fmla="*/ 0 h 161"/>
                              <a:gd name="T10" fmla="*/ 2 w 148"/>
                              <a:gd name="T11" fmla="*/ 0 h 161"/>
                              <a:gd name="T12" fmla="*/ 2 w 148"/>
                              <a:gd name="T13" fmla="*/ 0 h 161"/>
                              <a:gd name="T14" fmla="*/ 2 w 148"/>
                              <a:gd name="T15" fmla="*/ 0 h 161"/>
                              <a:gd name="T16" fmla="*/ 2 w 148"/>
                              <a:gd name="T17" fmla="*/ 0 h 161"/>
                              <a:gd name="T18" fmla="*/ 2 w 148"/>
                              <a:gd name="T19" fmla="*/ 1 h 161"/>
                              <a:gd name="T20" fmla="*/ 3 w 148"/>
                              <a:gd name="T21" fmla="*/ 1 h 161"/>
                              <a:gd name="T22" fmla="*/ 3 w 148"/>
                              <a:gd name="T23" fmla="*/ 1 h 161"/>
                              <a:gd name="T24" fmla="*/ 3 w 148"/>
                              <a:gd name="T25" fmla="*/ 1 h 161"/>
                              <a:gd name="T26" fmla="*/ 3 w 148"/>
                              <a:gd name="T27" fmla="*/ 1 h 161"/>
                              <a:gd name="T28" fmla="*/ 3 w 148"/>
                              <a:gd name="T29" fmla="*/ 1 h 161"/>
                              <a:gd name="T30" fmla="*/ 4 w 148"/>
                              <a:gd name="T31" fmla="*/ 2 h 161"/>
                              <a:gd name="T32" fmla="*/ 4 w 148"/>
                              <a:gd name="T33" fmla="*/ 2 h 161"/>
                              <a:gd name="T34" fmla="*/ 4 w 148"/>
                              <a:gd name="T35" fmla="*/ 2 h 161"/>
                              <a:gd name="T36" fmla="*/ 4 w 148"/>
                              <a:gd name="T37" fmla="*/ 2 h 161"/>
                              <a:gd name="T38" fmla="*/ 5 w 148"/>
                              <a:gd name="T39" fmla="*/ 3 h 161"/>
                              <a:gd name="T40" fmla="*/ 5 w 148"/>
                              <a:gd name="T41" fmla="*/ 3 h 161"/>
                              <a:gd name="T42" fmla="*/ 5 w 148"/>
                              <a:gd name="T43" fmla="*/ 4 h 161"/>
                              <a:gd name="T44" fmla="*/ 5 w 148"/>
                              <a:gd name="T45" fmla="*/ 4 h 161"/>
                              <a:gd name="T46" fmla="*/ 5 w 148"/>
                              <a:gd name="T47" fmla="*/ 5 h 161"/>
                              <a:gd name="T48" fmla="*/ 5 w 148"/>
                              <a:gd name="T49" fmla="*/ 5 h 161"/>
                              <a:gd name="T50" fmla="*/ 5 w 148"/>
                              <a:gd name="T51" fmla="*/ 4 h 161"/>
                              <a:gd name="T52" fmla="*/ 4 w 148"/>
                              <a:gd name="T53" fmla="*/ 5 h 161"/>
                              <a:gd name="T54" fmla="*/ 4 w 148"/>
                              <a:gd name="T55" fmla="*/ 4 h 161"/>
                              <a:gd name="T56" fmla="*/ 4 w 148"/>
                              <a:gd name="T57" fmla="*/ 4 h 161"/>
                              <a:gd name="T58" fmla="*/ 3 w 148"/>
                              <a:gd name="T59" fmla="*/ 3 h 161"/>
                              <a:gd name="T60" fmla="*/ 3 w 148"/>
                              <a:gd name="T61" fmla="*/ 3 h 161"/>
                              <a:gd name="T62" fmla="*/ 3 w 148"/>
                              <a:gd name="T63" fmla="*/ 3 h 161"/>
                              <a:gd name="T64" fmla="*/ 3 w 148"/>
                              <a:gd name="T65" fmla="*/ 3 h 161"/>
                              <a:gd name="T66" fmla="*/ 3 w 148"/>
                              <a:gd name="T67" fmla="*/ 2 h 161"/>
                              <a:gd name="T68" fmla="*/ 2 w 148"/>
                              <a:gd name="T69" fmla="*/ 2 h 161"/>
                              <a:gd name="T70" fmla="*/ 2 w 148"/>
                              <a:gd name="T71" fmla="*/ 1 h 161"/>
                              <a:gd name="T72" fmla="*/ 2 w 148"/>
                              <a:gd name="T73" fmla="*/ 1 h 161"/>
                              <a:gd name="T74" fmla="*/ 1 w 148"/>
                              <a:gd name="T75" fmla="*/ 0 h 161"/>
                              <a:gd name="T76" fmla="*/ 0 w 148"/>
                              <a:gd name="T77" fmla="*/ 0 h 161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w 148"/>
                              <a:gd name="T118" fmla="*/ 0 h 161"/>
                              <a:gd name="T119" fmla="*/ 148 w 148"/>
                              <a:gd name="T120" fmla="*/ 161 h 161"/>
                            </a:gdLst>
                            <a:ahLst/>
                            <a:cxnLst>
                              <a:cxn ang="T78">
                                <a:pos x="T0" y="T1"/>
                              </a:cxn>
                              <a:cxn ang="T79">
                                <a:pos x="T2" y="T3"/>
                              </a:cxn>
                              <a:cxn ang="T80">
                                <a:pos x="T4" y="T5"/>
                              </a:cxn>
                              <a:cxn ang="T81">
                                <a:pos x="T6" y="T7"/>
                              </a:cxn>
                              <a:cxn ang="T82">
                                <a:pos x="T8" y="T9"/>
                              </a:cxn>
                              <a:cxn ang="T83">
                                <a:pos x="T10" y="T11"/>
                              </a:cxn>
                              <a:cxn ang="T84">
                                <a:pos x="T12" y="T13"/>
                              </a:cxn>
                              <a:cxn ang="T85">
                                <a:pos x="T14" y="T15"/>
                              </a:cxn>
                              <a:cxn ang="T86">
                                <a:pos x="T16" y="T17"/>
                              </a:cxn>
                              <a:cxn ang="T87">
                                <a:pos x="T18" y="T19"/>
                              </a:cxn>
                              <a:cxn ang="T88">
                                <a:pos x="T20" y="T21"/>
                              </a:cxn>
                              <a:cxn ang="T89">
                                <a:pos x="T22" y="T23"/>
                              </a:cxn>
                              <a:cxn ang="T90">
                                <a:pos x="T24" y="T25"/>
                              </a:cxn>
                              <a:cxn ang="T91">
                                <a:pos x="T26" y="T27"/>
                              </a:cxn>
                              <a:cxn ang="T92">
                                <a:pos x="T28" y="T29"/>
                              </a:cxn>
                              <a:cxn ang="T93">
                                <a:pos x="T30" y="T31"/>
                              </a:cxn>
                              <a:cxn ang="T94">
                                <a:pos x="T32" y="T33"/>
                              </a:cxn>
                              <a:cxn ang="T95">
                                <a:pos x="T34" y="T35"/>
                              </a:cxn>
                              <a:cxn ang="T96">
                                <a:pos x="T36" y="T37"/>
                              </a:cxn>
                              <a:cxn ang="T97">
                                <a:pos x="T38" y="T39"/>
                              </a:cxn>
                              <a:cxn ang="T98">
                                <a:pos x="T40" y="T41"/>
                              </a:cxn>
                              <a:cxn ang="T99">
                                <a:pos x="T42" y="T43"/>
                              </a:cxn>
                              <a:cxn ang="T100">
                                <a:pos x="T44" y="T45"/>
                              </a:cxn>
                              <a:cxn ang="T101">
                                <a:pos x="T46" y="T47"/>
                              </a:cxn>
                              <a:cxn ang="T102">
                                <a:pos x="T48" y="T49"/>
                              </a:cxn>
                              <a:cxn ang="T103">
                                <a:pos x="T50" y="T51"/>
                              </a:cxn>
                              <a:cxn ang="T104">
                                <a:pos x="T52" y="T53"/>
                              </a:cxn>
                              <a:cxn ang="T105">
                                <a:pos x="T54" y="T55"/>
                              </a:cxn>
                              <a:cxn ang="T106">
                                <a:pos x="T56" y="T57"/>
                              </a:cxn>
                              <a:cxn ang="T107">
                                <a:pos x="T58" y="T59"/>
                              </a:cxn>
                              <a:cxn ang="T108">
                                <a:pos x="T60" y="T61"/>
                              </a:cxn>
                              <a:cxn ang="T109">
                                <a:pos x="T62" y="T63"/>
                              </a:cxn>
                              <a:cxn ang="T110">
                                <a:pos x="T64" y="T65"/>
                              </a:cxn>
                              <a:cxn ang="T111">
                                <a:pos x="T66" y="T67"/>
                              </a:cxn>
                              <a:cxn ang="T112">
                                <a:pos x="T68" y="T69"/>
                              </a:cxn>
                              <a:cxn ang="T113">
                                <a:pos x="T70" y="T71"/>
                              </a:cxn>
                              <a:cxn ang="T114">
                                <a:pos x="T72" y="T73"/>
                              </a:cxn>
                              <a:cxn ang="T115">
                                <a:pos x="T74" y="T75"/>
                              </a:cxn>
                              <a:cxn ang="T116">
                                <a:pos x="T76" y="T77"/>
                              </a:cxn>
                            </a:cxnLst>
                            <a:rect l="T117" t="T118" r="T119" b="T120"/>
                            <a:pathLst>
                              <a:path w="148" h="161">
                                <a:moveTo>
                                  <a:pt x="0" y="4"/>
                                </a:moveTo>
                                <a:lnTo>
                                  <a:pt x="15" y="0"/>
                                </a:lnTo>
                                <a:lnTo>
                                  <a:pt x="33" y="7"/>
                                </a:lnTo>
                                <a:lnTo>
                                  <a:pt x="35" y="15"/>
                                </a:lnTo>
                                <a:lnTo>
                                  <a:pt x="35" y="17"/>
                                </a:lnTo>
                                <a:lnTo>
                                  <a:pt x="40" y="19"/>
                                </a:lnTo>
                                <a:lnTo>
                                  <a:pt x="40" y="22"/>
                                </a:lnTo>
                                <a:lnTo>
                                  <a:pt x="45" y="23"/>
                                </a:lnTo>
                                <a:lnTo>
                                  <a:pt x="45" y="29"/>
                                </a:lnTo>
                                <a:lnTo>
                                  <a:pt x="63" y="47"/>
                                </a:lnTo>
                                <a:lnTo>
                                  <a:pt x="66" y="47"/>
                                </a:lnTo>
                                <a:lnTo>
                                  <a:pt x="68" y="51"/>
                                </a:lnTo>
                                <a:lnTo>
                                  <a:pt x="71" y="55"/>
                                </a:lnTo>
                                <a:lnTo>
                                  <a:pt x="74" y="55"/>
                                </a:lnTo>
                                <a:lnTo>
                                  <a:pt x="86" y="61"/>
                                </a:lnTo>
                                <a:lnTo>
                                  <a:pt x="109" y="64"/>
                                </a:lnTo>
                                <a:lnTo>
                                  <a:pt x="111" y="84"/>
                                </a:lnTo>
                                <a:lnTo>
                                  <a:pt x="116" y="87"/>
                                </a:lnTo>
                                <a:lnTo>
                                  <a:pt x="115" y="94"/>
                                </a:lnTo>
                                <a:lnTo>
                                  <a:pt x="129" y="105"/>
                                </a:lnTo>
                                <a:lnTo>
                                  <a:pt x="141" y="109"/>
                                </a:lnTo>
                                <a:lnTo>
                                  <a:pt x="141" y="142"/>
                                </a:lnTo>
                                <a:lnTo>
                                  <a:pt x="148" y="155"/>
                                </a:lnTo>
                                <a:lnTo>
                                  <a:pt x="144" y="160"/>
                                </a:lnTo>
                                <a:lnTo>
                                  <a:pt x="136" y="161"/>
                                </a:lnTo>
                                <a:lnTo>
                                  <a:pt x="134" y="150"/>
                                </a:lnTo>
                                <a:lnTo>
                                  <a:pt x="120" y="161"/>
                                </a:lnTo>
                                <a:lnTo>
                                  <a:pt x="111" y="144"/>
                                </a:lnTo>
                                <a:lnTo>
                                  <a:pt x="105" y="132"/>
                                </a:lnTo>
                                <a:lnTo>
                                  <a:pt x="89" y="116"/>
                                </a:lnTo>
                                <a:lnTo>
                                  <a:pt x="85" y="116"/>
                                </a:lnTo>
                                <a:lnTo>
                                  <a:pt x="70" y="108"/>
                                </a:lnTo>
                                <a:lnTo>
                                  <a:pt x="67" y="99"/>
                                </a:lnTo>
                                <a:lnTo>
                                  <a:pt x="67" y="93"/>
                                </a:lnTo>
                                <a:lnTo>
                                  <a:pt x="55" y="70"/>
                                </a:lnTo>
                                <a:lnTo>
                                  <a:pt x="49" y="55"/>
                                </a:lnTo>
                                <a:lnTo>
                                  <a:pt x="34" y="42"/>
                                </a:lnTo>
                                <a:lnTo>
                                  <a:pt x="13" y="22"/>
                                </a:lnTo>
                                <a:lnTo>
                                  <a:pt x="0" y="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2" name="Freeform 15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80" y="2473"/>
                            <a:ext cx="71" cy="90"/>
                          </a:xfrm>
                          <a:custGeom>
                            <a:avLst/>
                            <a:gdLst>
                              <a:gd name="T0" fmla="*/ 0 w 143"/>
                              <a:gd name="T1" fmla="*/ 0 h 178"/>
                              <a:gd name="T2" fmla="*/ 0 w 143"/>
                              <a:gd name="T3" fmla="*/ 0 h 178"/>
                              <a:gd name="T4" fmla="*/ 1 w 143"/>
                              <a:gd name="T5" fmla="*/ 1 h 178"/>
                              <a:gd name="T6" fmla="*/ 1 w 143"/>
                              <a:gd name="T7" fmla="*/ 2 h 178"/>
                              <a:gd name="T8" fmla="*/ 1 w 143"/>
                              <a:gd name="T9" fmla="*/ 2 h 178"/>
                              <a:gd name="T10" fmla="*/ 1 w 143"/>
                              <a:gd name="T11" fmla="*/ 2 h 178"/>
                              <a:gd name="T12" fmla="*/ 1 w 143"/>
                              <a:gd name="T13" fmla="*/ 2 h 178"/>
                              <a:gd name="T14" fmla="*/ 2 w 143"/>
                              <a:gd name="T15" fmla="*/ 2 h 178"/>
                              <a:gd name="T16" fmla="*/ 2 w 143"/>
                              <a:gd name="T17" fmla="*/ 3 h 178"/>
                              <a:gd name="T18" fmla="*/ 2 w 143"/>
                              <a:gd name="T19" fmla="*/ 3 h 178"/>
                              <a:gd name="T20" fmla="*/ 3 w 143"/>
                              <a:gd name="T21" fmla="*/ 3 h 178"/>
                              <a:gd name="T22" fmla="*/ 3 w 143"/>
                              <a:gd name="T23" fmla="*/ 3 h 178"/>
                              <a:gd name="T24" fmla="*/ 3 w 143"/>
                              <a:gd name="T25" fmla="*/ 4 h 178"/>
                              <a:gd name="T26" fmla="*/ 3 w 143"/>
                              <a:gd name="T27" fmla="*/ 4 h 178"/>
                              <a:gd name="T28" fmla="*/ 3 w 143"/>
                              <a:gd name="T29" fmla="*/ 5 h 178"/>
                              <a:gd name="T30" fmla="*/ 3 w 143"/>
                              <a:gd name="T31" fmla="*/ 5 h 178"/>
                              <a:gd name="T32" fmla="*/ 4 w 143"/>
                              <a:gd name="T33" fmla="*/ 5 h 178"/>
                              <a:gd name="T34" fmla="*/ 4 w 143"/>
                              <a:gd name="T35" fmla="*/ 5 h 178"/>
                              <a:gd name="T36" fmla="*/ 4 w 143"/>
                              <a:gd name="T37" fmla="*/ 5 h 178"/>
                              <a:gd name="T38" fmla="*/ 4 w 143"/>
                              <a:gd name="T39" fmla="*/ 6 h 178"/>
                              <a:gd name="T40" fmla="*/ 4 w 143"/>
                              <a:gd name="T41" fmla="*/ 6 h 178"/>
                              <a:gd name="T42" fmla="*/ 3 w 143"/>
                              <a:gd name="T43" fmla="*/ 6 h 178"/>
                              <a:gd name="T44" fmla="*/ 3 w 143"/>
                              <a:gd name="T45" fmla="*/ 6 h 178"/>
                              <a:gd name="T46" fmla="*/ 3 w 143"/>
                              <a:gd name="T47" fmla="*/ 6 h 178"/>
                              <a:gd name="T48" fmla="*/ 3 w 143"/>
                              <a:gd name="T49" fmla="*/ 6 h 178"/>
                              <a:gd name="T50" fmla="*/ 3 w 143"/>
                              <a:gd name="T51" fmla="*/ 6 h 178"/>
                              <a:gd name="T52" fmla="*/ 3 w 143"/>
                              <a:gd name="T53" fmla="*/ 6 h 178"/>
                              <a:gd name="T54" fmla="*/ 3 w 143"/>
                              <a:gd name="T55" fmla="*/ 5 h 178"/>
                              <a:gd name="T56" fmla="*/ 2 w 143"/>
                              <a:gd name="T57" fmla="*/ 5 h 178"/>
                              <a:gd name="T58" fmla="*/ 2 w 143"/>
                              <a:gd name="T59" fmla="*/ 6 h 178"/>
                              <a:gd name="T60" fmla="*/ 2 w 143"/>
                              <a:gd name="T61" fmla="*/ 5 h 178"/>
                              <a:gd name="T62" fmla="*/ 2 w 143"/>
                              <a:gd name="T63" fmla="*/ 5 h 178"/>
                              <a:gd name="T64" fmla="*/ 2 w 143"/>
                              <a:gd name="T65" fmla="*/ 5 h 178"/>
                              <a:gd name="T66" fmla="*/ 3 w 143"/>
                              <a:gd name="T67" fmla="*/ 5 h 178"/>
                              <a:gd name="T68" fmla="*/ 3 w 143"/>
                              <a:gd name="T69" fmla="*/ 4 h 178"/>
                              <a:gd name="T70" fmla="*/ 2 w 143"/>
                              <a:gd name="T71" fmla="*/ 4 h 178"/>
                              <a:gd name="T72" fmla="*/ 2 w 143"/>
                              <a:gd name="T73" fmla="*/ 4 h 178"/>
                              <a:gd name="T74" fmla="*/ 2 w 143"/>
                              <a:gd name="T75" fmla="*/ 3 h 178"/>
                              <a:gd name="T76" fmla="*/ 2 w 143"/>
                              <a:gd name="T77" fmla="*/ 3 h 178"/>
                              <a:gd name="T78" fmla="*/ 1 w 143"/>
                              <a:gd name="T79" fmla="*/ 3 h 178"/>
                              <a:gd name="T80" fmla="*/ 1 w 143"/>
                              <a:gd name="T81" fmla="*/ 3 h 178"/>
                              <a:gd name="T82" fmla="*/ 1 w 143"/>
                              <a:gd name="T83" fmla="*/ 3 h 178"/>
                              <a:gd name="T84" fmla="*/ 1 w 143"/>
                              <a:gd name="T85" fmla="*/ 3 h 178"/>
                              <a:gd name="T86" fmla="*/ 1 w 143"/>
                              <a:gd name="T87" fmla="*/ 3 h 178"/>
                              <a:gd name="T88" fmla="*/ 0 w 143"/>
                              <a:gd name="T89" fmla="*/ 3 h 178"/>
                              <a:gd name="T90" fmla="*/ 0 w 143"/>
                              <a:gd name="T91" fmla="*/ 2 h 178"/>
                              <a:gd name="T92" fmla="*/ 0 w 143"/>
                              <a:gd name="T93" fmla="*/ 2 h 178"/>
                              <a:gd name="T94" fmla="*/ 0 w 143"/>
                              <a:gd name="T95" fmla="*/ 2 h 178"/>
                              <a:gd name="T96" fmla="*/ 0 w 143"/>
                              <a:gd name="T97" fmla="*/ 2 h 178"/>
                              <a:gd name="T98" fmla="*/ 0 w 143"/>
                              <a:gd name="T99" fmla="*/ 1 h 178"/>
                              <a:gd name="T100" fmla="*/ 0 w 143"/>
                              <a:gd name="T101" fmla="*/ 1 h 178"/>
                              <a:gd name="T102" fmla="*/ 0 w 143"/>
                              <a:gd name="T103" fmla="*/ 1 h 178"/>
                              <a:gd name="T104" fmla="*/ 0 w 143"/>
                              <a:gd name="T105" fmla="*/ 1 h 178"/>
                              <a:gd name="T106" fmla="*/ 0 w 143"/>
                              <a:gd name="T107" fmla="*/ 0 h 178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w 143"/>
                              <a:gd name="T163" fmla="*/ 0 h 178"/>
                              <a:gd name="T164" fmla="*/ 143 w 143"/>
                              <a:gd name="T165" fmla="*/ 178 h 178"/>
                            </a:gdLst>
                            <a:ahLst/>
                            <a:cxnLst>
                              <a:cxn ang="T108">
                                <a:pos x="T0" y="T1"/>
                              </a:cxn>
                              <a:cxn ang="T109">
                                <a:pos x="T2" y="T3"/>
                              </a:cxn>
                              <a:cxn ang="T110">
                                <a:pos x="T4" y="T5"/>
                              </a:cxn>
                              <a:cxn ang="T111">
                                <a:pos x="T6" y="T7"/>
                              </a:cxn>
                              <a:cxn ang="T112">
                                <a:pos x="T8" y="T9"/>
                              </a:cxn>
                              <a:cxn ang="T113">
                                <a:pos x="T10" y="T11"/>
                              </a:cxn>
                              <a:cxn ang="T114">
                                <a:pos x="T12" y="T13"/>
                              </a:cxn>
                              <a:cxn ang="T115">
                                <a:pos x="T14" y="T15"/>
                              </a:cxn>
                              <a:cxn ang="T116">
                                <a:pos x="T16" y="T17"/>
                              </a:cxn>
                              <a:cxn ang="T117">
                                <a:pos x="T18" y="T19"/>
                              </a:cxn>
                              <a:cxn ang="T118">
                                <a:pos x="T20" y="T21"/>
                              </a:cxn>
                              <a:cxn ang="T119">
                                <a:pos x="T22" y="T23"/>
                              </a:cxn>
                              <a:cxn ang="T120">
                                <a:pos x="T24" y="T25"/>
                              </a:cxn>
                              <a:cxn ang="T121">
                                <a:pos x="T26" y="T27"/>
                              </a:cxn>
                              <a:cxn ang="T122">
                                <a:pos x="T28" y="T29"/>
                              </a:cxn>
                              <a:cxn ang="T123">
                                <a:pos x="T30" y="T31"/>
                              </a:cxn>
                              <a:cxn ang="T124">
                                <a:pos x="T32" y="T33"/>
                              </a:cxn>
                              <a:cxn ang="T125">
                                <a:pos x="T34" y="T35"/>
                              </a:cxn>
                              <a:cxn ang="T126">
                                <a:pos x="T36" y="T37"/>
                              </a:cxn>
                              <a:cxn ang="T127">
                                <a:pos x="T38" y="T39"/>
                              </a:cxn>
                              <a:cxn ang="T128">
                                <a:pos x="T40" y="T41"/>
                              </a:cxn>
                              <a:cxn ang="T129">
                                <a:pos x="T42" y="T43"/>
                              </a:cxn>
                              <a:cxn ang="T130">
                                <a:pos x="T44" y="T45"/>
                              </a:cxn>
                              <a:cxn ang="T131">
                                <a:pos x="T46" y="T47"/>
                              </a:cxn>
                              <a:cxn ang="T132">
                                <a:pos x="T48" y="T49"/>
                              </a:cxn>
                              <a:cxn ang="T133">
                                <a:pos x="T50" y="T51"/>
                              </a:cxn>
                              <a:cxn ang="T134">
                                <a:pos x="T52" y="T53"/>
                              </a:cxn>
                              <a:cxn ang="T135">
                                <a:pos x="T54" y="T55"/>
                              </a:cxn>
                              <a:cxn ang="T136">
                                <a:pos x="T56" y="T57"/>
                              </a:cxn>
                              <a:cxn ang="T137">
                                <a:pos x="T58" y="T59"/>
                              </a:cxn>
                              <a:cxn ang="T138">
                                <a:pos x="T60" y="T61"/>
                              </a:cxn>
                              <a:cxn ang="T139">
                                <a:pos x="T62" y="T63"/>
                              </a:cxn>
                              <a:cxn ang="T140">
                                <a:pos x="T64" y="T65"/>
                              </a:cxn>
                              <a:cxn ang="T141">
                                <a:pos x="T66" y="T67"/>
                              </a:cxn>
                              <a:cxn ang="T142">
                                <a:pos x="T68" y="T69"/>
                              </a:cxn>
                              <a:cxn ang="T143">
                                <a:pos x="T70" y="T71"/>
                              </a:cxn>
                              <a:cxn ang="T144">
                                <a:pos x="T72" y="T73"/>
                              </a:cxn>
                              <a:cxn ang="T145">
                                <a:pos x="T74" y="T75"/>
                              </a:cxn>
                              <a:cxn ang="T146">
                                <a:pos x="T76" y="T77"/>
                              </a:cxn>
                              <a:cxn ang="T147">
                                <a:pos x="T78" y="T79"/>
                              </a:cxn>
                              <a:cxn ang="T148">
                                <a:pos x="T80" y="T81"/>
                              </a:cxn>
                              <a:cxn ang="T149">
                                <a:pos x="T82" y="T83"/>
                              </a:cxn>
                              <a:cxn ang="T150">
                                <a:pos x="T84" y="T85"/>
                              </a:cxn>
                              <a:cxn ang="T151">
                                <a:pos x="T86" y="T87"/>
                              </a:cxn>
                              <a:cxn ang="T152">
                                <a:pos x="T88" y="T89"/>
                              </a:cxn>
                              <a:cxn ang="T153">
                                <a:pos x="T90" y="T91"/>
                              </a:cxn>
                              <a:cxn ang="T154">
                                <a:pos x="T92" y="T93"/>
                              </a:cxn>
                              <a:cxn ang="T155">
                                <a:pos x="T94" y="T95"/>
                              </a:cxn>
                              <a:cxn ang="T156">
                                <a:pos x="T96" y="T97"/>
                              </a:cxn>
                              <a:cxn ang="T157">
                                <a:pos x="T98" y="T99"/>
                              </a:cxn>
                              <a:cxn ang="T158">
                                <a:pos x="T100" y="T101"/>
                              </a:cxn>
                              <a:cxn ang="T159">
                                <a:pos x="T102" y="T103"/>
                              </a:cxn>
                              <a:cxn ang="T160">
                                <a:pos x="T104" y="T105"/>
                              </a:cxn>
                              <a:cxn ang="T161">
                                <a:pos x="T106" y="T107"/>
                              </a:cxn>
                            </a:cxnLst>
                            <a:rect l="T162" t="T163" r="T164" b="T165"/>
                            <a:pathLst>
                              <a:path w="143" h="178">
                                <a:moveTo>
                                  <a:pt x="10" y="0"/>
                                </a:moveTo>
                                <a:lnTo>
                                  <a:pt x="22" y="0"/>
                                </a:lnTo>
                                <a:lnTo>
                                  <a:pt x="36" y="19"/>
                                </a:lnTo>
                                <a:lnTo>
                                  <a:pt x="33" y="36"/>
                                </a:lnTo>
                                <a:lnTo>
                                  <a:pt x="41" y="42"/>
                                </a:lnTo>
                                <a:lnTo>
                                  <a:pt x="45" y="54"/>
                                </a:lnTo>
                                <a:lnTo>
                                  <a:pt x="55" y="59"/>
                                </a:lnTo>
                                <a:lnTo>
                                  <a:pt x="66" y="61"/>
                                </a:lnTo>
                                <a:lnTo>
                                  <a:pt x="82" y="69"/>
                                </a:lnTo>
                                <a:lnTo>
                                  <a:pt x="93" y="81"/>
                                </a:lnTo>
                                <a:lnTo>
                                  <a:pt x="96" y="81"/>
                                </a:lnTo>
                                <a:lnTo>
                                  <a:pt x="110" y="90"/>
                                </a:lnTo>
                                <a:lnTo>
                                  <a:pt x="110" y="112"/>
                                </a:lnTo>
                                <a:lnTo>
                                  <a:pt x="114" y="122"/>
                                </a:lnTo>
                                <a:lnTo>
                                  <a:pt x="118" y="128"/>
                                </a:lnTo>
                                <a:lnTo>
                                  <a:pt x="123" y="133"/>
                                </a:lnTo>
                                <a:lnTo>
                                  <a:pt x="129" y="141"/>
                                </a:lnTo>
                                <a:lnTo>
                                  <a:pt x="132" y="149"/>
                                </a:lnTo>
                                <a:lnTo>
                                  <a:pt x="143" y="157"/>
                                </a:lnTo>
                                <a:lnTo>
                                  <a:pt x="141" y="165"/>
                                </a:lnTo>
                                <a:lnTo>
                                  <a:pt x="130" y="167"/>
                                </a:lnTo>
                                <a:lnTo>
                                  <a:pt x="126" y="160"/>
                                </a:lnTo>
                                <a:lnTo>
                                  <a:pt x="118" y="160"/>
                                </a:lnTo>
                                <a:lnTo>
                                  <a:pt x="118" y="178"/>
                                </a:lnTo>
                                <a:lnTo>
                                  <a:pt x="111" y="178"/>
                                </a:lnTo>
                                <a:lnTo>
                                  <a:pt x="103" y="170"/>
                                </a:lnTo>
                                <a:lnTo>
                                  <a:pt x="97" y="165"/>
                                </a:lnTo>
                                <a:lnTo>
                                  <a:pt x="97" y="155"/>
                                </a:lnTo>
                                <a:lnTo>
                                  <a:pt x="85" y="155"/>
                                </a:lnTo>
                                <a:lnTo>
                                  <a:pt x="81" y="165"/>
                                </a:lnTo>
                                <a:lnTo>
                                  <a:pt x="77" y="155"/>
                                </a:lnTo>
                                <a:lnTo>
                                  <a:pt x="75" y="145"/>
                                </a:lnTo>
                                <a:lnTo>
                                  <a:pt x="91" y="141"/>
                                </a:lnTo>
                                <a:lnTo>
                                  <a:pt x="99" y="144"/>
                                </a:lnTo>
                                <a:lnTo>
                                  <a:pt x="100" y="126"/>
                                </a:lnTo>
                                <a:lnTo>
                                  <a:pt x="92" y="120"/>
                                </a:lnTo>
                                <a:lnTo>
                                  <a:pt x="86" y="106"/>
                                </a:lnTo>
                                <a:lnTo>
                                  <a:pt x="82" y="88"/>
                                </a:lnTo>
                                <a:lnTo>
                                  <a:pt x="67" y="83"/>
                                </a:lnTo>
                                <a:lnTo>
                                  <a:pt x="60" y="74"/>
                                </a:lnTo>
                                <a:lnTo>
                                  <a:pt x="48" y="69"/>
                                </a:lnTo>
                                <a:lnTo>
                                  <a:pt x="55" y="87"/>
                                </a:lnTo>
                                <a:lnTo>
                                  <a:pt x="41" y="94"/>
                                </a:lnTo>
                                <a:lnTo>
                                  <a:pt x="33" y="75"/>
                                </a:lnTo>
                                <a:lnTo>
                                  <a:pt x="26" y="71"/>
                                </a:lnTo>
                                <a:lnTo>
                                  <a:pt x="26" y="61"/>
                                </a:lnTo>
                                <a:lnTo>
                                  <a:pt x="17" y="49"/>
                                </a:lnTo>
                                <a:lnTo>
                                  <a:pt x="6" y="42"/>
                                </a:lnTo>
                                <a:lnTo>
                                  <a:pt x="0" y="35"/>
                                </a:lnTo>
                                <a:lnTo>
                                  <a:pt x="3" y="29"/>
                                </a:lnTo>
                                <a:lnTo>
                                  <a:pt x="11" y="32"/>
                                </a:lnTo>
                                <a:lnTo>
                                  <a:pt x="14" y="24"/>
                                </a:lnTo>
                                <a:lnTo>
                                  <a:pt x="11" y="14"/>
                                </a:lnTo>
                                <a:lnTo>
                                  <a:pt x="1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3" name="Freeform 15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63" y="2322"/>
                            <a:ext cx="53" cy="76"/>
                          </a:xfrm>
                          <a:custGeom>
                            <a:avLst/>
                            <a:gdLst>
                              <a:gd name="T0" fmla="*/ 1 w 106"/>
                              <a:gd name="T1" fmla="*/ 0 h 153"/>
                              <a:gd name="T2" fmla="*/ 2 w 106"/>
                              <a:gd name="T3" fmla="*/ 0 h 153"/>
                              <a:gd name="T4" fmla="*/ 2 w 106"/>
                              <a:gd name="T5" fmla="*/ 0 h 153"/>
                              <a:gd name="T6" fmla="*/ 2 w 106"/>
                              <a:gd name="T7" fmla="*/ 1 h 153"/>
                              <a:gd name="T8" fmla="*/ 3 w 106"/>
                              <a:gd name="T9" fmla="*/ 1 h 153"/>
                              <a:gd name="T10" fmla="*/ 3 w 106"/>
                              <a:gd name="T11" fmla="*/ 1 h 153"/>
                              <a:gd name="T12" fmla="*/ 3 w 106"/>
                              <a:gd name="T13" fmla="*/ 1 h 153"/>
                              <a:gd name="T14" fmla="*/ 3 w 106"/>
                              <a:gd name="T15" fmla="*/ 1 h 153"/>
                              <a:gd name="T16" fmla="*/ 3 w 106"/>
                              <a:gd name="T17" fmla="*/ 2 h 153"/>
                              <a:gd name="T18" fmla="*/ 4 w 106"/>
                              <a:gd name="T19" fmla="*/ 3 h 153"/>
                              <a:gd name="T20" fmla="*/ 3 w 106"/>
                              <a:gd name="T21" fmla="*/ 2 h 153"/>
                              <a:gd name="T22" fmla="*/ 3 w 106"/>
                              <a:gd name="T23" fmla="*/ 2 h 153"/>
                              <a:gd name="T24" fmla="*/ 3 w 106"/>
                              <a:gd name="T25" fmla="*/ 3 h 153"/>
                              <a:gd name="T26" fmla="*/ 3 w 106"/>
                              <a:gd name="T27" fmla="*/ 3 h 153"/>
                              <a:gd name="T28" fmla="*/ 3 w 106"/>
                              <a:gd name="T29" fmla="*/ 3 h 153"/>
                              <a:gd name="T30" fmla="*/ 3 w 106"/>
                              <a:gd name="T31" fmla="*/ 3 h 153"/>
                              <a:gd name="T32" fmla="*/ 3 w 106"/>
                              <a:gd name="T33" fmla="*/ 3 h 153"/>
                              <a:gd name="T34" fmla="*/ 2 w 106"/>
                              <a:gd name="T35" fmla="*/ 3 h 153"/>
                              <a:gd name="T36" fmla="*/ 2 w 106"/>
                              <a:gd name="T37" fmla="*/ 3 h 153"/>
                              <a:gd name="T38" fmla="*/ 2 w 106"/>
                              <a:gd name="T39" fmla="*/ 3 h 153"/>
                              <a:gd name="T40" fmla="*/ 2 w 106"/>
                              <a:gd name="T41" fmla="*/ 3 h 153"/>
                              <a:gd name="T42" fmla="*/ 2 w 106"/>
                              <a:gd name="T43" fmla="*/ 3 h 153"/>
                              <a:gd name="T44" fmla="*/ 2 w 106"/>
                              <a:gd name="T45" fmla="*/ 3 h 153"/>
                              <a:gd name="T46" fmla="*/ 2 w 106"/>
                              <a:gd name="T47" fmla="*/ 3 h 153"/>
                              <a:gd name="T48" fmla="*/ 3 w 106"/>
                              <a:gd name="T49" fmla="*/ 4 h 153"/>
                              <a:gd name="T50" fmla="*/ 2 w 106"/>
                              <a:gd name="T51" fmla="*/ 4 h 153"/>
                              <a:gd name="T52" fmla="*/ 2 w 106"/>
                              <a:gd name="T53" fmla="*/ 4 h 153"/>
                              <a:gd name="T54" fmla="*/ 2 w 106"/>
                              <a:gd name="T55" fmla="*/ 4 h 153"/>
                              <a:gd name="T56" fmla="*/ 2 w 106"/>
                              <a:gd name="T57" fmla="*/ 4 h 153"/>
                              <a:gd name="T58" fmla="*/ 2 w 106"/>
                              <a:gd name="T59" fmla="*/ 4 h 153"/>
                              <a:gd name="T60" fmla="*/ 2 w 106"/>
                              <a:gd name="T61" fmla="*/ 4 h 153"/>
                              <a:gd name="T62" fmla="*/ 2 w 106"/>
                              <a:gd name="T63" fmla="*/ 4 h 153"/>
                              <a:gd name="T64" fmla="*/ 2 w 106"/>
                              <a:gd name="T65" fmla="*/ 4 h 153"/>
                              <a:gd name="T66" fmla="*/ 1 w 106"/>
                              <a:gd name="T67" fmla="*/ 4 h 153"/>
                              <a:gd name="T68" fmla="*/ 1 w 106"/>
                              <a:gd name="T69" fmla="*/ 4 h 153"/>
                              <a:gd name="T70" fmla="*/ 1 w 106"/>
                              <a:gd name="T71" fmla="*/ 3 h 153"/>
                              <a:gd name="T72" fmla="*/ 1 w 106"/>
                              <a:gd name="T73" fmla="*/ 3 h 153"/>
                              <a:gd name="T74" fmla="*/ 1 w 106"/>
                              <a:gd name="T75" fmla="*/ 4 h 153"/>
                              <a:gd name="T76" fmla="*/ 1 w 106"/>
                              <a:gd name="T77" fmla="*/ 4 h 153"/>
                              <a:gd name="T78" fmla="*/ 0 w 106"/>
                              <a:gd name="T79" fmla="*/ 3 h 153"/>
                              <a:gd name="T80" fmla="*/ 1 w 106"/>
                              <a:gd name="T81" fmla="*/ 3 h 153"/>
                              <a:gd name="T82" fmla="*/ 1 w 106"/>
                              <a:gd name="T83" fmla="*/ 3 h 153"/>
                              <a:gd name="T84" fmla="*/ 1 w 106"/>
                              <a:gd name="T85" fmla="*/ 2 h 153"/>
                              <a:gd name="T86" fmla="*/ 1 w 106"/>
                              <a:gd name="T87" fmla="*/ 2 h 153"/>
                              <a:gd name="T88" fmla="*/ 1 w 106"/>
                              <a:gd name="T89" fmla="*/ 2 h 153"/>
                              <a:gd name="T90" fmla="*/ 1 w 106"/>
                              <a:gd name="T91" fmla="*/ 2 h 153"/>
                              <a:gd name="T92" fmla="*/ 2 w 106"/>
                              <a:gd name="T93" fmla="*/ 2 h 153"/>
                              <a:gd name="T94" fmla="*/ 2 w 106"/>
                              <a:gd name="T95" fmla="*/ 2 h 153"/>
                              <a:gd name="T96" fmla="*/ 1 w 106"/>
                              <a:gd name="T97" fmla="*/ 1 h 153"/>
                              <a:gd name="T98" fmla="*/ 1 w 106"/>
                              <a:gd name="T99" fmla="*/ 1 h 153"/>
                              <a:gd name="T100" fmla="*/ 2 w 106"/>
                              <a:gd name="T101" fmla="*/ 1 h 153"/>
                              <a:gd name="T102" fmla="*/ 2 w 106"/>
                              <a:gd name="T103" fmla="*/ 1 h 153"/>
                              <a:gd name="T104" fmla="*/ 2 w 106"/>
                              <a:gd name="T105" fmla="*/ 1 h 153"/>
                              <a:gd name="T106" fmla="*/ 2 w 106"/>
                              <a:gd name="T107" fmla="*/ 1 h 153"/>
                              <a:gd name="T108" fmla="*/ 2 w 106"/>
                              <a:gd name="T109" fmla="*/ 1 h 153"/>
                              <a:gd name="T110" fmla="*/ 2 w 106"/>
                              <a:gd name="T111" fmla="*/ 1 h 153"/>
                              <a:gd name="T112" fmla="*/ 2 w 106"/>
                              <a:gd name="T113" fmla="*/ 1 h 153"/>
                              <a:gd name="T114" fmla="*/ 1 w 106"/>
                              <a:gd name="T115" fmla="*/ 0 h 153"/>
                              <a:gd name="T116" fmla="*/ 1 w 106"/>
                              <a:gd name="T117" fmla="*/ 0 h 153"/>
                              <a:gd name="T118" fmla="*/ 1 w 106"/>
                              <a:gd name="T119" fmla="*/ 0 h 153"/>
                              <a:gd name="T120" fmla="*/ 1 w 106"/>
                              <a:gd name="T121" fmla="*/ 0 h 153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60000 65536"/>
                              <a:gd name="T163" fmla="*/ 0 60000 65536"/>
                              <a:gd name="T164" fmla="*/ 0 60000 65536"/>
                              <a:gd name="T165" fmla="*/ 0 60000 65536"/>
                              <a:gd name="T166" fmla="*/ 0 60000 65536"/>
                              <a:gd name="T167" fmla="*/ 0 60000 65536"/>
                              <a:gd name="T168" fmla="*/ 0 60000 65536"/>
                              <a:gd name="T169" fmla="*/ 0 60000 65536"/>
                              <a:gd name="T170" fmla="*/ 0 60000 65536"/>
                              <a:gd name="T171" fmla="*/ 0 60000 65536"/>
                              <a:gd name="T172" fmla="*/ 0 60000 65536"/>
                              <a:gd name="T173" fmla="*/ 0 60000 65536"/>
                              <a:gd name="T174" fmla="*/ 0 60000 65536"/>
                              <a:gd name="T175" fmla="*/ 0 60000 65536"/>
                              <a:gd name="T176" fmla="*/ 0 60000 65536"/>
                              <a:gd name="T177" fmla="*/ 0 60000 65536"/>
                              <a:gd name="T178" fmla="*/ 0 60000 65536"/>
                              <a:gd name="T179" fmla="*/ 0 60000 65536"/>
                              <a:gd name="T180" fmla="*/ 0 60000 65536"/>
                              <a:gd name="T181" fmla="*/ 0 60000 65536"/>
                              <a:gd name="T182" fmla="*/ 0 60000 65536"/>
                              <a:gd name="T183" fmla="*/ 0 w 106"/>
                              <a:gd name="T184" fmla="*/ 0 h 153"/>
                              <a:gd name="T185" fmla="*/ 106 w 106"/>
                              <a:gd name="T186" fmla="*/ 153 h 153"/>
                            </a:gdLst>
                            <a:ahLst/>
                            <a:cxnLst>
                              <a:cxn ang="T122">
                                <a:pos x="T0" y="T1"/>
                              </a:cxn>
                              <a:cxn ang="T123">
                                <a:pos x="T2" y="T3"/>
                              </a:cxn>
                              <a:cxn ang="T124">
                                <a:pos x="T4" y="T5"/>
                              </a:cxn>
                              <a:cxn ang="T125">
                                <a:pos x="T6" y="T7"/>
                              </a:cxn>
                              <a:cxn ang="T126">
                                <a:pos x="T8" y="T9"/>
                              </a:cxn>
                              <a:cxn ang="T127">
                                <a:pos x="T10" y="T11"/>
                              </a:cxn>
                              <a:cxn ang="T128">
                                <a:pos x="T12" y="T13"/>
                              </a:cxn>
                              <a:cxn ang="T129">
                                <a:pos x="T14" y="T15"/>
                              </a:cxn>
                              <a:cxn ang="T130">
                                <a:pos x="T16" y="T17"/>
                              </a:cxn>
                              <a:cxn ang="T131">
                                <a:pos x="T18" y="T19"/>
                              </a:cxn>
                              <a:cxn ang="T132">
                                <a:pos x="T20" y="T21"/>
                              </a:cxn>
                              <a:cxn ang="T133">
                                <a:pos x="T22" y="T23"/>
                              </a:cxn>
                              <a:cxn ang="T134">
                                <a:pos x="T24" y="T25"/>
                              </a:cxn>
                              <a:cxn ang="T135">
                                <a:pos x="T26" y="T27"/>
                              </a:cxn>
                              <a:cxn ang="T136">
                                <a:pos x="T28" y="T29"/>
                              </a:cxn>
                              <a:cxn ang="T137">
                                <a:pos x="T30" y="T31"/>
                              </a:cxn>
                              <a:cxn ang="T138">
                                <a:pos x="T32" y="T33"/>
                              </a:cxn>
                              <a:cxn ang="T139">
                                <a:pos x="T34" y="T35"/>
                              </a:cxn>
                              <a:cxn ang="T140">
                                <a:pos x="T36" y="T37"/>
                              </a:cxn>
                              <a:cxn ang="T141">
                                <a:pos x="T38" y="T39"/>
                              </a:cxn>
                              <a:cxn ang="T142">
                                <a:pos x="T40" y="T41"/>
                              </a:cxn>
                              <a:cxn ang="T143">
                                <a:pos x="T42" y="T43"/>
                              </a:cxn>
                              <a:cxn ang="T144">
                                <a:pos x="T44" y="T45"/>
                              </a:cxn>
                              <a:cxn ang="T145">
                                <a:pos x="T46" y="T47"/>
                              </a:cxn>
                              <a:cxn ang="T146">
                                <a:pos x="T48" y="T49"/>
                              </a:cxn>
                              <a:cxn ang="T147">
                                <a:pos x="T50" y="T51"/>
                              </a:cxn>
                              <a:cxn ang="T148">
                                <a:pos x="T52" y="T53"/>
                              </a:cxn>
                              <a:cxn ang="T149">
                                <a:pos x="T54" y="T55"/>
                              </a:cxn>
                              <a:cxn ang="T150">
                                <a:pos x="T56" y="T57"/>
                              </a:cxn>
                              <a:cxn ang="T151">
                                <a:pos x="T58" y="T59"/>
                              </a:cxn>
                              <a:cxn ang="T152">
                                <a:pos x="T60" y="T61"/>
                              </a:cxn>
                              <a:cxn ang="T153">
                                <a:pos x="T62" y="T63"/>
                              </a:cxn>
                              <a:cxn ang="T154">
                                <a:pos x="T64" y="T65"/>
                              </a:cxn>
                              <a:cxn ang="T155">
                                <a:pos x="T66" y="T67"/>
                              </a:cxn>
                              <a:cxn ang="T156">
                                <a:pos x="T68" y="T69"/>
                              </a:cxn>
                              <a:cxn ang="T157">
                                <a:pos x="T70" y="T71"/>
                              </a:cxn>
                              <a:cxn ang="T158">
                                <a:pos x="T72" y="T73"/>
                              </a:cxn>
                              <a:cxn ang="T159">
                                <a:pos x="T74" y="T75"/>
                              </a:cxn>
                              <a:cxn ang="T160">
                                <a:pos x="T76" y="T77"/>
                              </a:cxn>
                              <a:cxn ang="T161">
                                <a:pos x="T78" y="T79"/>
                              </a:cxn>
                              <a:cxn ang="T162">
                                <a:pos x="T80" y="T81"/>
                              </a:cxn>
                              <a:cxn ang="T163">
                                <a:pos x="T82" y="T83"/>
                              </a:cxn>
                              <a:cxn ang="T164">
                                <a:pos x="T84" y="T85"/>
                              </a:cxn>
                              <a:cxn ang="T165">
                                <a:pos x="T86" y="T87"/>
                              </a:cxn>
                              <a:cxn ang="T166">
                                <a:pos x="T88" y="T89"/>
                              </a:cxn>
                              <a:cxn ang="T167">
                                <a:pos x="T90" y="T91"/>
                              </a:cxn>
                              <a:cxn ang="T168">
                                <a:pos x="T92" y="T93"/>
                              </a:cxn>
                              <a:cxn ang="T169">
                                <a:pos x="T94" y="T95"/>
                              </a:cxn>
                              <a:cxn ang="T170">
                                <a:pos x="T96" y="T97"/>
                              </a:cxn>
                              <a:cxn ang="T171">
                                <a:pos x="T98" y="T99"/>
                              </a:cxn>
                              <a:cxn ang="T172">
                                <a:pos x="T100" y="T101"/>
                              </a:cxn>
                              <a:cxn ang="T173">
                                <a:pos x="T102" y="T103"/>
                              </a:cxn>
                              <a:cxn ang="T174">
                                <a:pos x="T104" y="T105"/>
                              </a:cxn>
                              <a:cxn ang="T175">
                                <a:pos x="T106" y="T107"/>
                              </a:cxn>
                              <a:cxn ang="T176">
                                <a:pos x="T108" y="T109"/>
                              </a:cxn>
                              <a:cxn ang="T177">
                                <a:pos x="T110" y="T111"/>
                              </a:cxn>
                              <a:cxn ang="T178">
                                <a:pos x="T112" y="T113"/>
                              </a:cxn>
                              <a:cxn ang="T179">
                                <a:pos x="T114" y="T115"/>
                              </a:cxn>
                              <a:cxn ang="T180">
                                <a:pos x="T116" y="T117"/>
                              </a:cxn>
                              <a:cxn ang="T181">
                                <a:pos x="T118" y="T119"/>
                              </a:cxn>
                              <a:cxn ang="T182">
                                <a:pos x="T120" y="T121"/>
                              </a:cxn>
                            </a:cxnLst>
                            <a:rect l="T183" t="T184" r="T185" b="T186"/>
                            <a:pathLst>
                              <a:path w="106" h="153">
                                <a:moveTo>
                                  <a:pt x="22" y="0"/>
                                </a:moveTo>
                                <a:lnTo>
                                  <a:pt x="43" y="10"/>
                                </a:lnTo>
                                <a:lnTo>
                                  <a:pt x="55" y="22"/>
                                </a:lnTo>
                                <a:lnTo>
                                  <a:pt x="63" y="35"/>
                                </a:lnTo>
                                <a:lnTo>
                                  <a:pt x="70" y="35"/>
                                </a:lnTo>
                                <a:lnTo>
                                  <a:pt x="69" y="44"/>
                                </a:lnTo>
                                <a:lnTo>
                                  <a:pt x="77" y="50"/>
                                </a:lnTo>
                                <a:lnTo>
                                  <a:pt x="82" y="58"/>
                                </a:lnTo>
                                <a:lnTo>
                                  <a:pt x="96" y="76"/>
                                </a:lnTo>
                                <a:lnTo>
                                  <a:pt x="106" y="96"/>
                                </a:lnTo>
                                <a:lnTo>
                                  <a:pt x="88" y="95"/>
                                </a:lnTo>
                                <a:lnTo>
                                  <a:pt x="74" y="92"/>
                                </a:lnTo>
                                <a:lnTo>
                                  <a:pt x="84" y="106"/>
                                </a:lnTo>
                                <a:lnTo>
                                  <a:pt x="84" y="115"/>
                                </a:lnTo>
                                <a:lnTo>
                                  <a:pt x="84" y="124"/>
                                </a:lnTo>
                                <a:lnTo>
                                  <a:pt x="78" y="119"/>
                                </a:lnTo>
                                <a:lnTo>
                                  <a:pt x="71" y="112"/>
                                </a:lnTo>
                                <a:lnTo>
                                  <a:pt x="59" y="103"/>
                                </a:lnTo>
                                <a:lnTo>
                                  <a:pt x="52" y="99"/>
                                </a:lnTo>
                                <a:lnTo>
                                  <a:pt x="41" y="103"/>
                                </a:lnTo>
                                <a:lnTo>
                                  <a:pt x="34" y="106"/>
                                </a:lnTo>
                                <a:lnTo>
                                  <a:pt x="39" y="114"/>
                                </a:lnTo>
                                <a:lnTo>
                                  <a:pt x="50" y="119"/>
                                </a:lnTo>
                                <a:lnTo>
                                  <a:pt x="60" y="125"/>
                                </a:lnTo>
                                <a:lnTo>
                                  <a:pt x="65" y="135"/>
                                </a:lnTo>
                                <a:lnTo>
                                  <a:pt x="63" y="148"/>
                                </a:lnTo>
                                <a:lnTo>
                                  <a:pt x="63" y="153"/>
                                </a:lnTo>
                                <a:lnTo>
                                  <a:pt x="59" y="153"/>
                                </a:lnTo>
                                <a:lnTo>
                                  <a:pt x="52" y="148"/>
                                </a:lnTo>
                                <a:lnTo>
                                  <a:pt x="50" y="147"/>
                                </a:lnTo>
                                <a:lnTo>
                                  <a:pt x="45" y="144"/>
                                </a:lnTo>
                                <a:lnTo>
                                  <a:pt x="41" y="151"/>
                                </a:lnTo>
                                <a:lnTo>
                                  <a:pt x="34" y="153"/>
                                </a:lnTo>
                                <a:lnTo>
                                  <a:pt x="29" y="147"/>
                                </a:lnTo>
                                <a:lnTo>
                                  <a:pt x="29" y="134"/>
                                </a:lnTo>
                                <a:lnTo>
                                  <a:pt x="28" y="127"/>
                                </a:lnTo>
                                <a:lnTo>
                                  <a:pt x="21" y="122"/>
                                </a:lnTo>
                                <a:lnTo>
                                  <a:pt x="14" y="130"/>
                                </a:lnTo>
                                <a:lnTo>
                                  <a:pt x="3" y="130"/>
                                </a:lnTo>
                                <a:lnTo>
                                  <a:pt x="0" y="124"/>
                                </a:lnTo>
                                <a:lnTo>
                                  <a:pt x="3" y="109"/>
                                </a:lnTo>
                                <a:lnTo>
                                  <a:pt x="11" y="101"/>
                                </a:lnTo>
                                <a:lnTo>
                                  <a:pt x="10" y="77"/>
                                </a:lnTo>
                                <a:lnTo>
                                  <a:pt x="10" y="71"/>
                                </a:lnTo>
                                <a:lnTo>
                                  <a:pt x="18" y="70"/>
                                </a:lnTo>
                                <a:lnTo>
                                  <a:pt x="25" y="76"/>
                                </a:lnTo>
                                <a:lnTo>
                                  <a:pt x="37" y="79"/>
                                </a:lnTo>
                                <a:lnTo>
                                  <a:pt x="37" y="69"/>
                                </a:lnTo>
                                <a:lnTo>
                                  <a:pt x="32" y="63"/>
                                </a:lnTo>
                                <a:lnTo>
                                  <a:pt x="29" y="58"/>
                                </a:lnTo>
                                <a:lnTo>
                                  <a:pt x="33" y="58"/>
                                </a:lnTo>
                                <a:lnTo>
                                  <a:pt x="36" y="58"/>
                                </a:lnTo>
                                <a:lnTo>
                                  <a:pt x="39" y="58"/>
                                </a:lnTo>
                                <a:lnTo>
                                  <a:pt x="41" y="58"/>
                                </a:lnTo>
                                <a:lnTo>
                                  <a:pt x="45" y="54"/>
                                </a:lnTo>
                                <a:lnTo>
                                  <a:pt x="44" y="50"/>
                                </a:lnTo>
                                <a:lnTo>
                                  <a:pt x="40" y="40"/>
                                </a:lnTo>
                                <a:lnTo>
                                  <a:pt x="32" y="29"/>
                                </a:lnTo>
                                <a:lnTo>
                                  <a:pt x="21" y="24"/>
                                </a:lnTo>
                                <a:lnTo>
                                  <a:pt x="17" y="15"/>
                                </a:lnTo>
                                <a:lnTo>
                                  <a:pt x="22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4" name="Freeform 15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03" y="2231"/>
                            <a:ext cx="57" cy="62"/>
                          </a:xfrm>
                          <a:custGeom>
                            <a:avLst/>
                            <a:gdLst>
                              <a:gd name="T0" fmla="*/ 0 w 116"/>
                              <a:gd name="T1" fmla="*/ 0 h 123"/>
                              <a:gd name="T2" fmla="*/ 0 w 116"/>
                              <a:gd name="T3" fmla="*/ 0 h 123"/>
                              <a:gd name="T4" fmla="*/ 0 w 116"/>
                              <a:gd name="T5" fmla="*/ 1 h 123"/>
                              <a:gd name="T6" fmla="*/ 0 w 116"/>
                              <a:gd name="T7" fmla="*/ 1 h 123"/>
                              <a:gd name="T8" fmla="*/ 1 w 116"/>
                              <a:gd name="T9" fmla="*/ 2 h 123"/>
                              <a:gd name="T10" fmla="*/ 1 w 116"/>
                              <a:gd name="T11" fmla="*/ 2 h 123"/>
                              <a:gd name="T12" fmla="*/ 1 w 116"/>
                              <a:gd name="T13" fmla="*/ 2 h 123"/>
                              <a:gd name="T14" fmla="*/ 1 w 116"/>
                              <a:gd name="T15" fmla="*/ 2 h 123"/>
                              <a:gd name="T16" fmla="*/ 2 w 116"/>
                              <a:gd name="T17" fmla="*/ 2 h 123"/>
                              <a:gd name="T18" fmla="*/ 2 w 116"/>
                              <a:gd name="T19" fmla="*/ 2 h 123"/>
                              <a:gd name="T20" fmla="*/ 2 w 116"/>
                              <a:gd name="T21" fmla="*/ 2 h 123"/>
                              <a:gd name="T22" fmla="*/ 3 w 116"/>
                              <a:gd name="T23" fmla="*/ 3 h 123"/>
                              <a:gd name="T24" fmla="*/ 3 w 116"/>
                              <a:gd name="T25" fmla="*/ 3 h 123"/>
                              <a:gd name="T26" fmla="*/ 2 w 116"/>
                              <a:gd name="T27" fmla="*/ 3 h 123"/>
                              <a:gd name="T28" fmla="*/ 2 w 116"/>
                              <a:gd name="T29" fmla="*/ 3 h 123"/>
                              <a:gd name="T30" fmla="*/ 2 w 116"/>
                              <a:gd name="T31" fmla="*/ 3 h 123"/>
                              <a:gd name="T32" fmla="*/ 2 w 116"/>
                              <a:gd name="T33" fmla="*/ 3 h 123"/>
                              <a:gd name="T34" fmla="*/ 3 w 116"/>
                              <a:gd name="T35" fmla="*/ 3 h 123"/>
                              <a:gd name="T36" fmla="*/ 3 w 116"/>
                              <a:gd name="T37" fmla="*/ 4 h 123"/>
                              <a:gd name="T38" fmla="*/ 3 w 116"/>
                              <a:gd name="T39" fmla="*/ 4 h 123"/>
                              <a:gd name="T40" fmla="*/ 3 w 116"/>
                              <a:gd name="T41" fmla="*/ 4 h 123"/>
                              <a:gd name="T42" fmla="*/ 3 w 116"/>
                              <a:gd name="T43" fmla="*/ 4 h 123"/>
                              <a:gd name="T44" fmla="*/ 2 w 116"/>
                              <a:gd name="T45" fmla="*/ 4 h 123"/>
                              <a:gd name="T46" fmla="*/ 2 w 116"/>
                              <a:gd name="T47" fmla="*/ 4 h 123"/>
                              <a:gd name="T48" fmla="*/ 2 w 116"/>
                              <a:gd name="T49" fmla="*/ 4 h 123"/>
                              <a:gd name="T50" fmla="*/ 2 w 116"/>
                              <a:gd name="T51" fmla="*/ 4 h 123"/>
                              <a:gd name="T52" fmla="*/ 1 w 116"/>
                              <a:gd name="T53" fmla="*/ 3 h 123"/>
                              <a:gd name="T54" fmla="*/ 1 w 116"/>
                              <a:gd name="T55" fmla="*/ 3 h 123"/>
                              <a:gd name="T56" fmla="*/ 1 w 116"/>
                              <a:gd name="T57" fmla="*/ 2 h 123"/>
                              <a:gd name="T58" fmla="*/ 0 w 116"/>
                              <a:gd name="T59" fmla="*/ 2 h 123"/>
                              <a:gd name="T60" fmla="*/ 0 w 116"/>
                              <a:gd name="T61" fmla="*/ 2 h 123"/>
                              <a:gd name="T62" fmla="*/ 0 w 116"/>
                              <a:gd name="T63" fmla="*/ 1 h 123"/>
                              <a:gd name="T64" fmla="*/ 0 w 116"/>
                              <a:gd name="T65" fmla="*/ 1 h 123"/>
                              <a:gd name="T66" fmla="*/ 0 w 116"/>
                              <a:gd name="T67" fmla="*/ 1 h 123"/>
                              <a:gd name="T68" fmla="*/ 0 w 116"/>
                              <a:gd name="T69" fmla="*/ 0 h 123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w 116"/>
                              <a:gd name="T106" fmla="*/ 0 h 123"/>
                              <a:gd name="T107" fmla="*/ 116 w 116"/>
                              <a:gd name="T108" fmla="*/ 123 h 123"/>
                            </a:gdLst>
                            <a:ahLst/>
                            <a:cxnLst>
                              <a:cxn ang="T70">
                                <a:pos x="T0" y="T1"/>
                              </a:cxn>
                              <a:cxn ang="T71">
                                <a:pos x="T2" y="T3"/>
                              </a:cxn>
                              <a:cxn ang="T72">
                                <a:pos x="T4" y="T5"/>
                              </a:cxn>
                              <a:cxn ang="T73">
                                <a:pos x="T6" y="T7"/>
                              </a:cxn>
                              <a:cxn ang="T74">
                                <a:pos x="T8" y="T9"/>
                              </a:cxn>
                              <a:cxn ang="T75">
                                <a:pos x="T10" y="T11"/>
                              </a:cxn>
                              <a:cxn ang="T76">
                                <a:pos x="T12" y="T13"/>
                              </a:cxn>
                              <a:cxn ang="T77">
                                <a:pos x="T14" y="T15"/>
                              </a:cxn>
                              <a:cxn ang="T78">
                                <a:pos x="T16" y="T17"/>
                              </a:cxn>
                              <a:cxn ang="T79">
                                <a:pos x="T18" y="T19"/>
                              </a:cxn>
                              <a:cxn ang="T80">
                                <a:pos x="T20" y="T21"/>
                              </a:cxn>
                              <a:cxn ang="T81">
                                <a:pos x="T22" y="T23"/>
                              </a:cxn>
                              <a:cxn ang="T82">
                                <a:pos x="T24" y="T25"/>
                              </a:cxn>
                              <a:cxn ang="T83">
                                <a:pos x="T26" y="T27"/>
                              </a:cxn>
                              <a:cxn ang="T84">
                                <a:pos x="T28" y="T29"/>
                              </a:cxn>
                              <a:cxn ang="T85">
                                <a:pos x="T30" y="T31"/>
                              </a:cxn>
                              <a:cxn ang="T86">
                                <a:pos x="T32" y="T33"/>
                              </a:cxn>
                              <a:cxn ang="T87">
                                <a:pos x="T34" y="T35"/>
                              </a:cxn>
                              <a:cxn ang="T88">
                                <a:pos x="T36" y="T37"/>
                              </a:cxn>
                              <a:cxn ang="T89">
                                <a:pos x="T38" y="T39"/>
                              </a:cxn>
                              <a:cxn ang="T90">
                                <a:pos x="T40" y="T41"/>
                              </a:cxn>
                              <a:cxn ang="T91">
                                <a:pos x="T42" y="T43"/>
                              </a:cxn>
                              <a:cxn ang="T92">
                                <a:pos x="T44" y="T45"/>
                              </a:cxn>
                              <a:cxn ang="T93">
                                <a:pos x="T46" y="T47"/>
                              </a:cxn>
                              <a:cxn ang="T94">
                                <a:pos x="T48" y="T49"/>
                              </a:cxn>
                              <a:cxn ang="T95">
                                <a:pos x="T50" y="T51"/>
                              </a:cxn>
                              <a:cxn ang="T96">
                                <a:pos x="T52" y="T53"/>
                              </a:cxn>
                              <a:cxn ang="T97">
                                <a:pos x="T54" y="T55"/>
                              </a:cxn>
                              <a:cxn ang="T98">
                                <a:pos x="T56" y="T57"/>
                              </a:cxn>
                              <a:cxn ang="T99">
                                <a:pos x="T58" y="T59"/>
                              </a:cxn>
                              <a:cxn ang="T100">
                                <a:pos x="T60" y="T61"/>
                              </a:cxn>
                              <a:cxn ang="T101">
                                <a:pos x="T62" y="T63"/>
                              </a:cxn>
                              <a:cxn ang="T102">
                                <a:pos x="T64" y="T65"/>
                              </a:cxn>
                              <a:cxn ang="T103">
                                <a:pos x="T66" y="T67"/>
                              </a:cxn>
                              <a:cxn ang="T104">
                                <a:pos x="T68" y="T69"/>
                              </a:cxn>
                            </a:cxnLst>
                            <a:rect l="T105" t="T106" r="T107" b="T108"/>
                            <a:pathLst>
                              <a:path w="116" h="123">
                                <a:moveTo>
                                  <a:pt x="0" y="0"/>
                                </a:moveTo>
                                <a:lnTo>
                                  <a:pt x="11" y="0"/>
                                </a:lnTo>
                                <a:lnTo>
                                  <a:pt x="16" y="9"/>
                                </a:lnTo>
                                <a:lnTo>
                                  <a:pt x="31" y="22"/>
                                </a:lnTo>
                                <a:lnTo>
                                  <a:pt x="37" y="36"/>
                                </a:lnTo>
                                <a:lnTo>
                                  <a:pt x="48" y="38"/>
                                </a:lnTo>
                                <a:lnTo>
                                  <a:pt x="57" y="40"/>
                                </a:lnTo>
                                <a:lnTo>
                                  <a:pt x="64" y="46"/>
                                </a:lnTo>
                                <a:lnTo>
                                  <a:pt x="72" y="46"/>
                                </a:lnTo>
                                <a:lnTo>
                                  <a:pt x="81" y="55"/>
                                </a:lnTo>
                                <a:lnTo>
                                  <a:pt x="90" y="62"/>
                                </a:lnTo>
                                <a:lnTo>
                                  <a:pt x="99" y="67"/>
                                </a:lnTo>
                                <a:lnTo>
                                  <a:pt x="98" y="71"/>
                                </a:lnTo>
                                <a:lnTo>
                                  <a:pt x="92" y="74"/>
                                </a:lnTo>
                                <a:lnTo>
                                  <a:pt x="87" y="74"/>
                                </a:lnTo>
                                <a:lnTo>
                                  <a:pt x="84" y="78"/>
                                </a:lnTo>
                                <a:lnTo>
                                  <a:pt x="95" y="87"/>
                                </a:lnTo>
                                <a:lnTo>
                                  <a:pt x="103" y="96"/>
                                </a:lnTo>
                                <a:lnTo>
                                  <a:pt x="116" y="104"/>
                                </a:lnTo>
                                <a:lnTo>
                                  <a:pt x="107" y="115"/>
                                </a:lnTo>
                                <a:lnTo>
                                  <a:pt x="101" y="117"/>
                                </a:lnTo>
                                <a:lnTo>
                                  <a:pt x="102" y="123"/>
                                </a:lnTo>
                                <a:lnTo>
                                  <a:pt x="90" y="123"/>
                                </a:lnTo>
                                <a:lnTo>
                                  <a:pt x="85" y="119"/>
                                </a:lnTo>
                                <a:lnTo>
                                  <a:pt x="76" y="107"/>
                                </a:lnTo>
                                <a:lnTo>
                                  <a:pt x="69" y="97"/>
                                </a:lnTo>
                                <a:lnTo>
                                  <a:pt x="58" y="80"/>
                                </a:lnTo>
                                <a:lnTo>
                                  <a:pt x="46" y="67"/>
                                </a:lnTo>
                                <a:lnTo>
                                  <a:pt x="32" y="48"/>
                                </a:lnTo>
                                <a:lnTo>
                                  <a:pt x="24" y="42"/>
                                </a:lnTo>
                                <a:lnTo>
                                  <a:pt x="17" y="38"/>
                                </a:lnTo>
                                <a:lnTo>
                                  <a:pt x="14" y="27"/>
                                </a:lnTo>
                                <a:lnTo>
                                  <a:pt x="2" y="19"/>
                                </a:lnTo>
                                <a:lnTo>
                                  <a:pt x="2" y="13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  <p:grpSp>
                      <p:nvGrpSpPr>
                        <p:cNvPr id="58575" name="Group 15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748" y="2104"/>
                          <a:ext cx="843" cy="1024"/>
                          <a:chOff x="2748" y="2104"/>
                          <a:chExt cx="843" cy="1024"/>
                        </a:xfrm>
                      </p:grpSpPr>
                      <p:sp>
                        <p:nvSpPr>
                          <p:cNvPr id="58576" name="Freeform 15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748" y="2358"/>
                            <a:ext cx="419" cy="469"/>
                          </a:xfrm>
                          <a:custGeom>
                            <a:avLst/>
                            <a:gdLst>
                              <a:gd name="T0" fmla="*/ 20 w 838"/>
                              <a:gd name="T1" fmla="*/ 5 h 938"/>
                              <a:gd name="T2" fmla="*/ 23 w 838"/>
                              <a:gd name="T3" fmla="*/ 10 h 938"/>
                              <a:gd name="T4" fmla="*/ 24 w 838"/>
                              <a:gd name="T5" fmla="*/ 11 h 938"/>
                              <a:gd name="T6" fmla="*/ 26 w 838"/>
                              <a:gd name="T7" fmla="*/ 11 h 938"/>
                              <a:gd name="T8" fmla="*/ 27 w 838"/>
                              <a:gd name="T9" fmla="*/ 12 h 938"/>
                              <a:gd name="T10" fmla="*/ 24 w 838"/>
                              <a:gd name="T11" fmla="*/ 15 h 938"/>
                              <a:gd name="T12" fmla="*/ 22 w 838"/>
                              <a:gd name="T13" fmla="*/ 19 h 938"/>
                              <a:gd name="T14" fmla="*/ 22 w 838"/>
                              <a:gd name="T15" fmla="*/ 21 h 938"/>
                              <a:gd name="T16" fmla="*/ 22 w 838"/>
                              <a:gd name="T17" fmla="*/ 22 h 938"/>
                              <a:gd name="T18" fmla="*/ 21 w 838"/>
                              <a:gd name="T19" fmla="*/ 22 h 938"/>
                              <a:gd name="T20" fmla="*/ 20 w 838"/>
                              <a:gd name="T21" fmla="*/ 24 h 938"/>
                              <a:gd name="T22" fmla="*/ 19 w 838"/>
                              <a:gd name="T23" fmla="*/ 26 h 938"/>
                              <a:gd name="T24" fmla="*/ 18 w 838"/>
                              <a:gd name="T25" fmla="*/ 28 h 938"/>
                              <a:gd name="T26" fmla="*/ 17 w 838"/>
                              <a:gd name="T27" fmla="*/ 29 h 938"/>
                              <a:gd name="T28" fmla="*/ 16 w 838"/>
                              <a:gd name="T29" fmla="*/ 30 h 938"/>
                              <a:gd name="T30" fmla="*/ 14 w 838"/>
                              <a:gd name="T31" fmla="*/ 29 h 938"/>
                              <a:gd name="T32" fmla="*/ 14 w 838"/>
                              <a:gd name="T33" fmla="*/ 28 h 938"/>
                              <a:gd name="T34" fmla="*/ 13 w 838"/>
                              <a:gd name="T35" fmla="*/ 27 h 938"/>
                              <a:gd name="T36" fmla="*/ 13 w 838"/>
                              <a:gd name="T37" fmla="*/ 26 h 938"/>
                              <a:gd name="T38" fmla="*/ 12 w 838"/>
                              <a:gd name="T39" fmla="*/ 25 h 938"/>
                              <a:gd name="T40" fmla="*/ 12 w 838"/>
                              <a:gd name="T41" fmla="*/ 24 h 938"/>
                              <a:gd name="T42" fmla="*/ 11 w 838"/>
                              <a:gd name="T43" fmla="*/ 23 h 938"/>
                              <a:gd name="T44" fmla="*/ 12 w 838"/>
                              <a:gd name="T45" fmla="*/ 21 h 938"/>
                              <a:gd name="T46" fmla="*/ 11 w 838"/>
                              <a:gd name="T47" fmla="*/ 18 h 938"/>
                              <a:gd name="T48" fmla="*/ 10 w 838"/>
                              <a:gd name="T49" fmla="*/ 16 h 938"/>
                              <a:gd name="T50" fmla="*/ 10 w 838"/>
                              <a:gd name="T51" fmla="*/ 14 h 938"/>
                              <a:gd name="T52" fmla="*/ 8 w 838"/>
                              <a:gd name="T53" fmla="*/ 13 h 938"/>
                              <a:gd name="T54" fmla="*/ 6 w 838"/>
                              <a:gd name="T55" fmla="*/ 14 h 938"/>
                              <a:gd name="T56" fmla="*/ 2 w 838"/>
                              <a:gd name="T57" fmla="*/ 12 h 938"/>
                              <a:gd name="T58" fmla="*/ 1 w 838"/>
                              <a:gd name="T59" fmla="*/ 9 h 938"/>
                              <a:gd name="T60" fmla="*/ 2 w 838"/>
                              <a:gd name="T61" fmla="*/ 7 h 938"/>
                              <a:gd name="T62" fmla="*/ 3 w 838"/>
                              <a:gd name="T63" fmla="*/ 5 h 938"/>
                              <a:gd name="T64" fmla="*/ 5 w 838"/>
                              <a:gd name="T65" fmla="*/ 3 h 938"/>
                              <a:gd name="T66" fmla="*/ 7 w 838"/>
                              <a:gd name="T67" fmla="*/ 1 h 938"/>
                              <a:gd name="T68" fmla="*/ 8 w 838"/>
                              <a:gd name="T69" fmla="*/ 2 h 938"/>
                              <a:gd name="T70" fmla="*/ 10 w 838"/>
                              <a:gd name="T71" fmla="*/ 1 h 938"/>
                              <a:gd name="T72" fmla="*/ 11 w 838"/>
                              <a:gd name="T73" fmla="*/ 1 h 938"/>
                              <a:gd name="T74" fmla="*/ 12 w 838"/>
                              <a:gd name="T75" fmla="*/ 1 h 938"/>
                              <a:gd name="T76" fmla="*/ 14 w 838"/>
                              <a:gd name="T77" fmla="*/ 3 h 938"/>
                              <a:gd name="T78" fmla="*/ 15 w 838"/>
                              <a:gd name="T79" fmla="*/ 2 h 938"/>
                              <a:gd name="T80" fmla="*/ 17 w 838"/>
                              <a:gd name="T81" fmla="*/ 3 h 938"/>
                              <a:gd name="T82" fmla="*/ 19 w 838"/>
                              <a:gd name="T83" fmla="*/ 3 h 938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w 838"/>
                              <a:gd name="T127" fmla="*/ 0 h 938"/>
                              <a:gd name="T128" fmla="*/ 838 w 838"/>
                              <a:gd name="T129" fmla="*/ 938 h 938"/>
                            </a:gdLst>
                            <a:ahLst/>
                            <a:cxnLst>
                              <a:cxn ang="T84">
                                <a:pos x="T0" y="T1"/>
                              </a:cxn>
                              <a:cxn ang="T85">
                                <a:pos x="T2" y="T3"/>
                              </a:cxn>
                              <a:cxn ang="T86">
                                <a:pos x="T4" y="T5"/>
                              </a:cxn>
                              <a:cxn ang="T87">
                                <a:pos x="T6" y="T7"/>
                              </a:cxn>
                              <a:cxn ang="T88">
                                <a:pos x="T8" y="T9"/>
                              </a:cxn>
                              <a:cxn ang="T89">
                                <a:pos x="T10" y="T11"/>
                              </a:cxn>
                              <a:cxn ang="T90">
                                <a:pos x="T12" y="T13"/>
                              </a:cxn>
                              <a:cxn ang="T91">
                                <a:pos x="T14" y="T15"/>
                              </a:cxn>
                              <a:cxn ang="T92">
                                <a:pos x="T16" y="T17"/>
                              </a:cxn>
                              <a:cxn ang="T93">
                                <a:pos x="T18" y="T19"/>
                              </a:cxn>
                              <a:cxn ang="T94">
                                <a:pos x="T20" y="T21"/>
                              </a:cxn>
                              <a:cxn ang="T95">
                                <a:pos x="T22" y="T23"/>
                              </a:cxn>
                              <a:cxn ang="T96">
                                <a:pos x="T24" y="T25"/>
                              </a:cxn>
                              <a:cxn ang="T97">
                                <a:pos x="T26" y="T27"/>
                              </a:cxn>
                              <a:cxn ang="T98">
                                <a:pos x="T28" y="T29"/>
                              </a:cxn>
                              <a:cxn ang="T99">
                                <a:pos x="T30" y="T31"/>
                              </a:cxn>
                              <a:cxn ang="T100">
                                <a:pos x="T32" y="T33"/>
                              </a:cxn>
                              <a:cxn ang="T101">
                                <a:pos x="T34" y="T35"/>
                              </a:cxn>
                              <a:cxn ang="T102">
                                <a:pos x="T36" y="T37"/>
                              </a:cxn>
                              <a:cxn ang="T103">
                                <a:pos x="T38" y="T39"/>
                              </a:cxn>
                              <a:cxn ang="T104">
                                <a:pos x="T40" y="T41"/>
                              </a:cxn>
                              <a:cxn ang="T105">
                                <a:pos x="T42" y="T43"/>
                              </a:cxn>
                              <a:cxn ang="T106">
                                <a:pos x="T44" y="T45"/>
                              </a:cxn>
                              <a:cxn ang="T107">
                                <a:pos x="T46" y="T47"/>
                              </a:cxn>
                              <a:cxn ang="T108">
                                <a:pos x="T48" y="T49"/>
                              </a:cxn>
                              <a:cxn ang="T109">
                                <a:pos x="T50" y="T51"/>
                              </a:cxn>
                              <a:cxn ang="T110">
                                <a:pos x="T52" y="T53"/>
                              </a:cxn>
                              <a:cxn ang="T111">
                                <a:pos x="T54" y="T55"/>
                              </a:cxn>
                              <a:cxn ang="T112">
                                <a:pos x="T56" y="T57"/>
                              </a:cxn>
                              <a:cxn ang="T113">
                                <a:pos x="T58" y="T59"/>
                              </a:cxn>
                              <a:cxn ang="T114">
                                <a:pos x="T60" y="T61"/>
                              </a:cxn>
                              <a:cxn ang="T115">
                                <a:pos x="T62" y="T63"/>
                              </a:cxn>
                              <a:cxn ang="T116">
                                <a:pos x="T64" y="T65"/>
                              </a:cxn>
                              <a:cxn ang="T117">
                                <a:pos x="T66" y="T67"/>
                              </a:cxn>
                              <a:cxn ang="T118">
                                <a:pos x="T68" y="T69"/>
                              </a:cxn>
                              <a:cxn ang="T119">
                                <a:pos x="T70" y="T71"/>
                              </a:cxn>
                              <a:cxn ang="T120">
                                <a:pos x="T72" y="T73"/>
                              </a:cxn>
                              <a:cxn ang="T121">
                                <a:pos x="T74" y="T75"/>
                              </a:cxn>
                              <a:cxn ang="T122">
                                <a:pos x="T76" y="T77"/>
                              </a:cxn>
                              <a:cxn ang="T123">
                                <a:pos x="T78" y="T79"/>
                              </a:cxn>
                              <a:cxn ang="T124">
                                <a:pos x="T80" y="T81"/>
                              </a:cxn>
                              <a:cxn ang="T125">
                                <a:pos x="T82" y="T83"/>
                              </a:cxn>
                            </a:cxnLst>
                            <a:rect l="T126" t="T127" r="T128" b="T129"/>
                            <a:pathLst>
                              <a:path w="838" h="938">
                                <a:moveTo>
                                  <a:pt x="626" y="112"/>
                                </a:moveTo>
                                <a:lnTo>
                                  <a:pt x="640" y="151"/>
                                </a:lnTo>
                                <a:lnTo>
                                  <a:pt x="666" y="210"/>
                                </a:lnTo>
                                <a:lnTo>
                                  <a:pt x="718" y="306"/>
                                </a:lnTo>
                                <a:lnTo>
                                  <a:pt x="737" y="319"/>
                                </a:lnTo>
                                <a:lnTo>
                                  <a:pt x="750" y="347"/>
                                </a:lnTo>
                                <a:lnTo>
                                  <a:pt x="791" y="346"/>
                                </a:lnTo>
                                <a:lnTo>
                                  <a:pt x="818" y="337"/>
                                </a:lnTo>
                                <a:lnTo>
                                  <a:pt x="838" y="337"/>
                                </a:lnTo>
                                <a:lnTo>
                                  <a:pt x="836" y="375"/>
                                </a:lnTo>
                                <a:lnTo>
                                  <a:pt x="829" y="395"/>
                                </a:lnTo>
                                <a:lnTo>
                                  <a:pt x="754" y="479"/>
                                </a:lnTo>
                                <a:lnTo>
                                  <a:pt x="685" y="566"/>
                                </a:lnTo>
                                <a:lnTo>
                                  <a:pt x="687" y="600"/>
                                </a:lnTo>
                                <a:lnTo>
                                  <a:pt x="706" y="624"/>
                                </a:lnTo>
                                <a:lnTo>
                                  <a:pt x="696" y="643"/>
                                </a:lnTo>
                                <a:lnTo>
                                  <a:pt x="702" y="669"/>
                                </a:lnTo>
                                <a:lnTo>
                                  <a:pt x="696" y="688"/>
                                </a:lnTo>
                                <a:lnTo>
                                  <a:pt x="680" y="704"/>
                                </a:lnTo>
                                <a:lnTo>
                                  <a:pt x="666" y="704"/>
                                </a:lnTo>
                                <a:lnTo>
                                  <a:pt x="643" y="732"/>
                                </a:lnTo>
                                <a:lnTo>
                                  <a:pt x="622" y="764"/>
                                </a:lnTo>
                                <a:lnTo>
                                  <a:pt x="626" y="799"/>
                                </a:lnTo>
                                <a:lnTo>
                                  <a:pt x="606" y="815"/>
                                </a:lnTo>
                                <a:lnTo>
                                  <a:pt x="587" y="851"/>
                                </a:lnTo>
                                <a:lnTo>
                                  <a:pt x="563" y="884"/>
                                </a:lnTo>
                                <a:lnTo>
                                  <a:pt x="551" y="897"/>
                                </a:lnTo>
                                <a:lnTo>
                                  <a:pt x="540" y="900"/>
                                </a:lnTo>
                                <a:lnTo>
                                  <a:pt x="521" y="922"/>
                                </a:lnTo>
                                <a:lnTo>
                                  <a:pt x="489" y="935"/>
                                </a:lnTo>
                                <a:lnTo>
                                  <a:pt x="449" y="938"/>
                                </a:lnTo>
                                <a:lnTo>
                                  <a:pt x="427" y="923"/>
                                </a:lnTo>
                                <a:lnTo>
                                  <a:pt x="425" y="909"/>
                                </a:lnTo>
                                <a:lnTo>
                                  <a:pt x="421" y="890"/>
                                </a:lnTo>
                                <a:lnTo>
                                  <a:pt x="406" y="880"/>
                                </a:lnTo>
                                <a:lnTo>
                                  <a:pt x="393" y="844"/>
                                </a:lnTo>
                                <a:lnTo>
                                  <a:pt x="389" y="826"/>
                                </a:lnTo>
                                <a:lnTo>
                                  <a:pt x="388" y="804"/>
                                </a:lnTo>
                                <a:lnTo>
                                  <a:pt x="381" y="788"/>
                                </a:lnTo>
                                <a:lnTo>
                                  <a:pt x="379" y="778"/>
                                </a:lnTo>
                                <a:lnTo>
                                  <a:pt x="367" y="762"/>
                                </a:lnTo>
                                <a:lnTo>
                                  <a:pt x="353" y="749"/>
                                </a:lnTo>
                                <a:lnTo>
                                  <a:pt x="344" y="727"/>
                                </a:lnTo>
                                <a:lnTo>
                                  <a:pt x="337" y="711"/>
                                </a:lnTo>
                                <a:lnTo>
                                  <a:pt x="340" y="685"/>
                                </a:lnTo>
                                <a:lnTo>
                                  <a:pt x="360" y="646"/>
                                </a:lnTo>
                                <a:lnTo>
                                  <a:pt x="364" y="604"/>
                                </a:lnTo>
                                <a:lnTo>
                                  <a:pt x="349" y="556"/>
                                </a:lnTo>
                                <a:lnTo>
                                  <a:pt x="327" y="537"/>
                                </a:lnTo>
                                <a:lnTo>
                                  <a:pt x="312" y="511"/>
                                </a:lnTo>
                                <a:lnTo>
                                  <a:pt x="318" y="470"/>
                                </a:lnTo>
                                <a:lnTo>
                                  <a:pt x="307" y="440"/>
                                </a:lnTo>
                                <a:lnTo>
                                  <a:pt x="281" y="437"/>
                                </a:lnTo>
                                <a:lnTo>
                                  <a:pt x="253" y="414"/>
                                </a:lnTo>
                                <a:lnTo>
                                  <a:pt x="219" y="401"/>
                                </a:lnTo>
                                <a:lnTo>
                                  <a:pt x="183" y="421"/>
                                </a:lnTo>
                                <a:lnTo>
                                  <a:pt x="90" y="415"/>
                                </a:lnTo>
                                <a:lnTo>
                                  <a:pt x="39" y="364"/>
                                </a:lnTo>
                                <a:lnTo>
                                  <a:pt x="0" y="295"/>
                                </a:lnTo>
                                <a:lnTo>
                                  <a:pt x="7" y="271"/>
                                </a:lnTo>
                                <a:lnTo>
                                  <a:pt x="24" y="254"/>
                                </a:lnTo>
                                <a:lnTo>
                                  <a:pt x="33" y="206"/>
                                </a:lnTo>
                                <a:lnTo>
                                  <a:pt x="45" y="171"/>
                                </a:lnTo>
                                <a:lnTo>
                                  <a:pt x="81" y="135"/>
                                </a:lnTo>
                                <a:lnTo>
                                  <a:pt x="118" y="119"/>
                                </a:lnTo>
                                <a:lnTo>
                                  <a:pt x="152" y="81"/>
                                </a:lnTo>
                                <a:lnTo>
                                  <a:pt x="160" y="65"/>
                                </a:lnTo>
                                <a:lnTo>
                                  <a:pt x="205" y="25"/>
                                </a:lnTo>
                                <a:lnTo>
                                  <a:pt x="234" y="41"/>
                                </a:lnTo>
                                <a:lnTo>
                                  <a:pt x="255" y="39"/>
                                </a:lnTo>
                                <a:lnTo>
                                  <a:pt x="279" y="17"/>
                                </a:lnTo>
                                <a:lnTo>
                                  <a:pt x="308" y="14"/>
                                </a:lnTo>
                                <a:lnTo>
                                  <a:pt x="327" y="20"/>
                                </a:lnTo>
                                <a:lnTo>
                                  <a:pt x="345" y="3"/>
                                </a:lnTo>
                                <a:lnTo>
                                  <a:pt x="369" y="0"/>
                                </a:lnTo>
                                <a:lnTo>
                                  <a:pt x="374" y="32"/>
                                </a:lnTo>
                                <a:lnTo>
                                  <a:pt x="389" y="55"/>
                                </a:lnTo>
                                <a:lnTo>
                                  <a:pt x="432" y="78"/>
                                </a:lnTo>
                                <a:lnTo>
                                  <a:pt x="467" y="83"/>
                                </a:lnTo>
                                <a:lnTo>
                                  <a:pt x="471" y="57"/>
                                </a:lnTo>
                                <a:lnTo>
                                  <a:pt x="499" y="57"/>
                                </a:lnTo>
                                <a:lnTo>
                                  <a:pt x="532" y="73"/>
                                </a:lnTo>
                                <a:lnTo>
                                  <a:pt x="567" y="81"/>
                                </a:lnTo>
                                <a:lnTo>
                                  <a:pt x="599" y="71"/>
                                </a:lnTo>
                                <a:lnTo>
                                  <a:pt x="626" y="112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grpSp>
                        <p:nvGrpSpPr>
                          <p:cNvPr id="58577" name="Group 157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776" y="2104"/>
                            <a:ext cx="185" cy="161"/>
                            <a:chOff x="2776" y="2104"/>
                            <a:chExt cx="185" cy="161"/>
                          </a:xfrm>
                        </p:grpSpPr>
                        <p:grpSp>
                          <p:nvGrpSpPr>
                            <p:cNvPr id="58581" name="Group 158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2850" y="2205"/>
                              <a:ext cx="57" cy="60"/>
                              <a:chOff x="2850" y="2205"/>
                              <a:chExt cx="57" cy="60"/>
                            </a:xfrm>
                          </p:grpSpPr>
                          <p:sp>
                            <p:nvSpPr>
                              <p:cNvPr id="58583" name="Freeform 159"/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2850" y="2227"/>
                                <a:ext cx="27" cy="34"/>
                              </a:xfrm>
                              <a:custGeom>
                                <a:avLst/>
                                <a:gdLst>
                                  <a:gd name="T0" fmla="*/ 1 w 53"/>
                                  <a:gd name="T1" fmla="*/ 1 h 66"/>
                                  <a:gd name="T2" fmla="*/ 1 w 53"/>
                                  <a:gd name="T3" fmla="*/ 1 h 66"/>
                                  <a:gd name="T4" fmla="*/ 1 w 53"/>
                                  <a:gd name="T5" fmla="*/ 1 h 66"/>
                                  <a:gd name="T6" fmla="*/ 2 w 53"/>
                                  <a:gd name="T7" fmla="*/ 0 h 66"/>
                                  <a:gd name="T8" fmla="*/ 2 w 53"/>
                                  <a:gd name="T9" fmla="*/ 1 h 66"/>
                                  <a:gd name="T10" fmla="*/ 2 w 53"/>
                                  <a:gd name="T11" fmla="*/ 1 h 66"/>
                                  <a:gd name="T12" fmla="*/ 2 w 53"/>
                                  <a:gd name="T13" fmla="*/ 1 h 66"/>
                                  <a:gd name="T14" fmla="*/ 2 w 53"/>
                                  <a:gd name="T15" fmla="*/ 1 h 66"/>
                                  <a:gd name="T16" fmla="*/ 2 w 53"/>
                                  <a:gd name="T17" fmla="*/ 1 h 66"/>
                                  <a:gd name="T18" fmla="*/ 2 w 53"/>
                                  <a:gd name="T19" fmla="*/ 1 h 66"/>
                                  <a:gd name="T20" fmla="*/ 2 w 53"/>
                                  <a:gd name="T21" fmla="*/ 1 h 66"/>
                                  <a:gd name="T22" fmla="*/ 2 w 53"/>
                                  <a:gd name="T23" fmla="*/ 2 h 66"/>
                                  <a:gd name="T24" fmla="*/ 2 w 53"/>
                                  <a:gd name="T25" fmla="*/ 2 h 66"/>
                                  <a:gd name="T26" fmla="*/ 2 w 53"/>
                                  <a:gd name="T27" fmla="*/ 2 h 66"/>
                                  <a:gd name="T28" fmla="*/ 2 w 53"/>
                                  <a:gd name="T29" fmla="*/ 2 h 66"/>
                                  <a:gd name="T30" fmla="*/ 1 w 53"/>
                                  <a:gd name="T31" fmla="*/ 2 h 66"/>
                                  <a:gd name="T32" fmla="*/ 1 w 53"/>
                                  <a:gd name="T33" fmla="*/ 2 h 66"/>
                                  <a:gd name="T34" fmla="*/ 1 w 53"/>
                                  <a:gd name="T35" fmla="*/ 2 h 66"/>
                                  <a:gd name="T36" fmla="*/ 1 w 53"/>
                                  <a:gd name="T37" fmla="*/ 2 h 66"/>
                                  <a:gd name="T38" fmla="*/ 1 w 53"/>
                                  <a:gd name="T39" fmla="*/ 2 h 66"/>
                                  <a:gd name="T40" fmla="*/ 1 w 53"/>
                                  <a:gd name="T41" fmla="*/ 2 h 66"/>
                                  <a:gd name="T42" fmla="*/ 1 w 53"/>
                                  <a:gd name="T43" fmla="*/ 2 h 66"/>
                                  <a:gd name="T44" fmla="*/ 1 w 53"/>
                                  <a:gd name="T45" fmla="*/ 3 h 66"/>
                                  <a:gd name="T46" fmla="*/ 1 w 53"/>
                                  <a:gd name="T47" fmla="*/ 3 h 66"/>
                                  <a:gd name="T48" fmla="*/ 1 w 53"/>
                                  <a:gd name="T49" fmla="*/ 2 h 66"/>
                                  <a:gd name="T50" fmla="*/ 1 w 53"/>
                                  <a:gd name="T51" fmla="*/ 2 h 66"/>
                                  <a:gd name="T52" fmla="*/ 0 w 53"/>
                                  <a:gd name="T53" fmla="*/ 2 h 66"/>
                                  <a:gd name="T54" fmla="*/ 0 w 53"/>
                                  <a:gd name="T55" fmla="*/ 2 h 66"/>
                                  <a:gd name="T56" fmla="*/ 1 w 53"/>
                                  <a:gd name="T57" fmla="*/ 2 h 66"/>
                                  <a:gd name="T58" fmla="*/ 1 w 53"/>
                                  <a:gd name="T59" fmla="*/ 2 h 66"/>
                                  <a:gd name="T60" fmla="*/ 1 w 53"/>
                                  <a:gd name="T61" fmla="*/ 2 h 66"/>
                                  <a:gd name="T62" fmla="*/ 1 w 53"/>
                                  <a:gd name="T63" fmla="*/ 2 h 66"/>
                                  <a:gd name="T64" fmla="*/ 1 w 53"/>
                                  <a:gd name="T65" fmla="*/ 2 h 66"/>
                                  <a:gd name="T66" fmla="*/ 1 w 53"/>
                                  <a:gd name="T67" fmla="*/ 2 h 66"/>
                                  <a:gd name="T68" fmla="*/ 1 w 53"/>
                                  <a:gd name="T69" fmla="*/ 2 h 66"/>
                                  <a:gd name="T70" fmla="*/ 1 w 53"/>
                                  <a:gd name="T71" fmla="*/ 1 h 66"/>
                                  <a:gd name="T72" fmla="*/ 0 60000 65536"/>
                                  <a:gd name="T73" fmla="*/ 0 60000 65536"/>
                                  <a:gd name="T74" fmla="*/ 0 60000 65536"/>
                                  <a:gd name="T75" fmla="*/ 0 60000 65536"/>
                                  <a:gd name="T76" fmla="*/ 0 60000 65536"/>
                                  <a:gd name="T77" fmla="*/ 0 60000 65536"/>
                                  <a:gd name="T78" fmla="*/ 0 60000 65536"/>
                                  <a:gd name="T79" fmla="*/ 0 60000 65536"/>
                                  <a:gd name="T80" fmla="*/ 0 60000 65536"/>
                                  <a:gd name="T81" fmla="*/ 0 60000 65536"/>
                                  <a:gd name="T82" fmla="*/ 0 60000 65536"/>
                                  <a:gd name="T83" fmla="*/ 0 60000 65536"/>
                                  <a:gd name="T84" fmla="*/ 0 60000 65536"/>
                                  <a:gd name="T85" fmla="*/ 0 60000 65536"/>
                                  <a:gd name="T86" fmla="*/ 0 60000 65536"/>
                                  <a:gd name="T87" fmla="*/ 0 60000 65536"/>
                                  <a:gd name="T88" fmla="*/ 0 60000 65536"/>
                                  <a:gd name="T89" fmla="*/ 0 60000 65536"/>
                                  <a:gd name="T90" fmla="*/ 0 60000 65536"/>
                                  <a:gd name="T91" fmla="*/ 0 60000 65536"/>
                                  <a:gd name="T92" fmla="*/ 0 60000 65536"/>
                                  <a:gd name="T93" fmla="*/ 0 60000 65536"/>
                                  <a:gd name="T94" fmla="*/ 0 60000 65536"/>
                                  <a:gd name="T95" fmla="*/ 0 60000 65536"/>
                                  <a:gd name="T96" fmla="*/ 0 60000 65536"/>
                                  <a:gd name="T97" fmla="*/ 0 60000 65536"/>
                                  <a:gd name="T98" fmla="*/ 0 60000 65536"/>
                                  <a:gd name="T99" fmla="*/ 0 60000 65536"/>
                                  <a:gd name="T100" fmla="*/ 0 60000 65536"/>
                                  <a:gd name="T101" fmla="*/ 0 60000 65536"/>
                                  <a:gd name="T102" fmla="*/ 0 60000 65536"/>
                                  <a:gd name="T103" fmla="*/ 0 60000 65536"/>
                                  <a:gd name="T104" fmla="*/ 0 60000 65536"/>
                                  <a:gd name="T105" fmla="*/ 0 60000 65536"/>
                                  <a:gd name="T106" fmla="*/ 0 60000 65536"/>
                                  <a:gd name="T107" fmla="*/ 0 60000 65536"/>
                                  <a:gd name="T108" fmla="*/ 0 w 53"/>
                                  <a:gd name="T109" fmla="*/ 0 h 66"/>
                                  <a:gd name="T110" fmla="*/ 53 w 53"/>
                                  <a:gd name="T111" fmla="*/ 66 h 66"/>
                                </a:gdLst>
                                <a:ahLst/>
                                <a:cxnLst>
                                  <a:cxn ang="T72">
                                    <a:pos x="T0" y="T1"/>
                                  </a:cxn>
                                  <a:cxn ang="T73">
                                    <a:pos x="T2" y="T3"/>
                                  </a:cxn>
                                  <a:cxn ang="T74">
                                    <a:pos x="T4" y="T5"/>
                                  </a:cxn>
                                  <a:cxn ang="T75">
                                    <a:pos x="T6" y="T7"/>
                                  </a:cxn>
                                  <a:cxn ang="T76">
                                    <a:pos x="T8" y="T9"/>
                                  </a:cxn>
                                  <a:cxn ang="T77">
                                    <a:pos x="T10" y="T11"/>
                                  </a:cxn>
                                  <a:cxn ang="T78">
                                    <a:pos x="T12" y="T13"/>
                                  </a:cxn>
                                  <a:cxn ang="T79">
                                    <a:pos x="T14" y="T15"/>
                                  </a:cxn>
                                  <a:cxn ang="T80">
                                    <a:pos x="T16" y="T17"/>
                                  </a:cxn>
                                  <a:cxn ang="T81">
                                    <a:pos x="T18" y="T19"/>
                                  </a:cxn>
                                  <a:cxn ang="T82">
                                    <a:pos x="T20" y="T21"/>
                                  </a:cxn>
                                  <a:cxn ang="T83">
                                    <a:pos x="T22" y="T23"/>
                                  </a:cxn>
                                  <a:cxn ang="T84">
                                    <a:pos x="T24" y="T25"/>
                                  </a:cxn>
                                  <a:cxn ang="T85">
                                    <a:pos x="T26" y="T27"/>
                                  </a:cxn>
                                  <a:cxn ang="T86">
                                    <a:pos x="T28" y="T29"/>
                                  </a:cxn>
                                  <a:cxn ang="T87">
                                    <a:pos x="T30" y="T31"/>
                                  </a:cxn>
                                  <a:cxn ang="T88">
                                    <a:pos x="T32" y="T33"/>
                                  </a:cxn>
                                  <a:cxn ang="T89">
                                    <a:pos x="T34" y="T35"/>
                                  </a:cxn>
                                  <a:cxn ang="T90">
                                    <a:pos x="T36" y="T37"/>
                                  </a:cxn>
                                  <a:cxn ang="T91">
                                    <a:pos x="T38" y="T39"/>
                                  </a:cxn>
                                  <a:cxn ang="T92">
                                    <a:pos x="T40" y="T41"/>
                                  </a:cxn>
                                  <a:cxn ang="T93">
                                    <a:pos x="T42" y="T43"/>
                                  </a:cxn>
                                  <a:cxn ang="T94">
                                    <a:pos x="T44" y="T45"/>
                                  </a:cxn>
                                  <a:cxn ang="T95">
                                    <a:pos x="T46" y="T47"/>
                                  </a:cxn>
                                  <a:cxn ang="T96">
                                    <a:pos x="T48" y="T49"/>
                                  </a:cxn>
                                  <a:cxn ang="T97">
                                    <a:pos x="T50" y="T51"/>
                                  </a:cxn>
                                  <a:cxn ang="T98">
                                    <a:pos x="T52" y="T53"/>
                                  </a:cxn>
                                  <a:cxn ang="T99">
                                    <a:pos x="T54" y="T55"/>
                                  </a:cxn>
                                  <a:cxn ang="T100">
                                    <a:pos x="T56" y="T57"/>
                                  </a:cxn>
                                  <a:cxn ang="T101">
                                    <a:pos x="T58" y="T59"/>
                                  </a:cxn>
                                  <a:cxn ang="T102">
                                    <a:pos x="T60" y="T61"/>
                                  </a:cxn>
                                  <a:cxn ang="T103">
                                    <a:pos x="T62" y="T63"/>
                                  </a:cxn>
                                  <a:cxn ang="T104">
                                    <a:pos x="T64" y="T65"/>
                                  </a:cxn>
                                  <a:cxn ang="T105">
                                    <a:pos x="T66" y="T67"/>
                                  </a:cxn>
                                  <a:cxn ang="T106">
                                    <a:pos x="T68" y="T69"/>
                                  </a:cxn>
                                  <a:cxn ang="T107">
                                    <a:pos x="T70" y="T71"/>
                                  </a:cxn>
                                </a:cxnLst>
                                <a:rect l="T108" t="T109" r="T110" b="T111"/>
                                <a:pathLst>
                                  <a:path w="53" h="66">
                                    <a:moveTo>
                                      <a:pt x="12" y="20"/>
                                    </a:moveTo>
                                    <a:lnTo>
                                      <a:pt x="16" y="13"/>
                                    </a:lnTo>
                                    <a:lnTo>
                                      <a:pt x="26" y="13"/>
                                    </a:lnTo>
                                    <a:lnTo>
                                      <a:pt x="40" y="0"/>
                                    </a:lnTo>
                                    <a:lnTo>
                                      <a:pt x="44" y="8"/>
                                    </a:lnTo>
                                    <a:lnTo>
                                      <a:pt x="51" y="8"/>
                                    </a:lnTo>
                                    <a:lnTo>
                                      <a:pt x="53" y="13"/>
                                    </a:lnTo>
                                    <a:lnTo>
                                      <a:pt x="49" y="20"/>
                                    </a:lnTo>
                                    <a:lnTo>
                                      <a:pt x="44" y="23"/>
                                    </a:lnTo>
                                    <a:lnTo>
                                      <a:pt x="44" y="29"/>
                                    </a:lnTo>
                                    <a:lnTo>
                                      <a:pt x="42" y="31"/>
                                    </a:lnTo>
                                    <a:lnTo>
                                      <a:pt x="41" y="36"/>
                                    </a:lnTo>
                                    <a:lnTo>
                                      <a:pt x="44" y="42"/>
                                    </a:lnTo>
                                    <a:lnTo>
                                      <a:pt x="40" y="47"/>
                                    </a:lnTo>
                                    <a:lnTo>
                                      <a:pt x="36" y="50"/>
                                    </a:lnTo>
                                    <a:lnTo>
                                      <a:pt x="32" y="50"/>
                                    </a:lnTo>
                                    <a:lnTo>
                                      <a:pt x="30" y="52"/>
                                    </a:lnTo>
                                    <a:lnTo>
                                      <a:pt x="29" y="56"/>
                                    </a:lnTo>
                                    <a:lnTo>
                                      <a:pt x="22" y="58"/>
                                    </a:lnTo>
                                    <a:lnTo>
                                      <a:pt x="21" y="56"/>
                                    </a:lnTo>
                                    <a:lnTo>
                                      <a:pt x="15" y="61"/>
                                    </a:lnTo>
                                    <a:lnTo>
                                      <a:pt x="14" y="62"/>
                                    </a:lnTo>
                                    <a:lnTo>
                                      <a:pt x="7" y="66"/>
                                    </a:lnTo>
                                    <a:lnTo>
                                      <a:pt x="4" y="66"/>
                                    </a:lnTo>
                                    <a:lnTo>
                                      <a:pt x="3" y="63"/>
                                    </a:lnTo>
                                    <a:lnTo>
                                      <a:pt x="1" y="56"/>
                                    </a:lnTo>
                                    <a:lnTo>
                                      <a:pt x="0" y="55"/>
                                    </a:lnTo>
                                    <a:lnTo>
                                      <a:pt x="0" y="49"/>
                                    </a:lnTo>
                                    <a:lnTo>
                                      <a:pt x="4" y="46"/>
                                    </a:lnTo>
                                    <a:lnTo>
                                      <a:pt x="8" y="43"/>
                                    </a:lnTo>
                                    <a:lnTo>
                                      <a:pt x="11" y="37"/>
                                    </a:lnTo>
                                    <a:lnTo>
                                      <a:pt x="15" y="37"/>
                                    </a:lnTo>
                                    <a:lnTo>
                                      <a:pt x="18" y="39"/>
                                    </a:lnTo>
                                    <a:lnTo>
                                      <a:pt x="22" y="37"/>
                                    </a:lnTo>
                                    <a:lnTo>
                                      <a:pt x="18" y="36"/>
                                    </a:lnTo>
                                    <a:lnTo>
                                      <a:pt x="12" y="20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CFFCC"/>
                              </a:solidFill>
                              <a:ln w="7938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pt-BR"/>
                              </a:p>
                            </p:txBody>
                          </p:sp>
                          <p:sp>
                            <p:nvSpPr>
                              <p:cNvPr id="58584" name="Freeform 160"/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2875" y="2205"/>
                                <a:ext cx="32" cy="60"/>
                              </a:xfrm>
                              <a:custGeom>
                                <a:avLst/>
                                <a:gdLst>
                                  <a:gd name="T0" fmla="*/ 0 w 65"/>
                                  <a:gd name="T1" fmla="*/ 1 h 120"/>
                                  <a:gd name="T2" fmla="*/ 1 w 65"/>
                                  <a:gd name="T3" fmla="*/ 1 h 120"/>
                                  <a:gd name="T4" fmla="*/ 1 w 65"/>
                                  <a:gd name="T5" fmla="*/ 1 h 120"/>
                                  <a:gd name="T6" fmla="*/ 1 w 65"/>
                                  <a:gd name="T7" fmla="*/ 1 h 120"/>
                                  <a:gd name="T8" fmla="*/ 2 w 65"/>
                                  <a:gd name="T9" fmla="*/ 1 h 120"/>
                                  <a:gd name="T10" fmla="*/ 1 w 65"/>
                                  <a:gd name="T11" fmla="*/ 1 h 120"/>
                                  <a:gd name="T12" fmla="*/ 1 w 65"/>
                                  <a:gd name="T13" fmla="*/ 1 h 120"/>
                                  <a:gd name="T14" fmla="*/ 1 w 65"/>
                                  <a:gd name="T15" fmla="*/ 1 h 120"/>
                                  <a:gd name="T16" fmla="*/ 1 w 65"/>
                                  <a:gd name="T17" fmla="*/ 1 h 120"/>
                                  <a:gd name="T18" fmla="*/ 2 w 65"/>
                                  <a:gd name="T19" fmla="*/ 1 h 120"/>
                                  <a:gd name="T20" fmla="*/ 1 w 65"/>
                                  <a:gd name="T21" fmla="*/ 2 h 120"/>
                                  <a:gd name="T22" fmla="*/ 1 w 65"/>
                                  <a:gd name="T23" fmla="*/ 2 h 120"/>
                                  <a:gd name="T24" fmla="*/ 1 w 65"/>
                                  <a:gd name="T25" fmla="*/ 2 h 120"/>
                                  <a:gd name="T26" fmla="*/ 1 w 65"/>
                                  <a:gd name="T27" fmla="*/ 2 h 120"/>
                                  <a:gd name="T28" fmla="*/ 1 w 65"/>
                                  <a:gd name="T29" fmla="*/ 3 h 120"/>
                                  <a:gd name="T30" fmla="*/ 2 w 65"/>
                                  <a:gd name="T31" fmla="*/ 3 h 120"/>
                                  <a:gd name="T32" fmla="*/ 1 w 65"/>
                                  <a:gd name="T33" fmla="*/ 3 h 120"/>
                                  <a:gd name="T34" fmla="*/ 1 w 65"/>
                                  <a:gd name="T35" fmla="*/ 4 h 120"/>
                                  <a:gd name="T36" fmla="*/ 1 w 65"/>
                                  <a:gd name="T37" fmla="*/ 4 h 120"/>
                                  <a:gd name="T38" fmla="*/ 1 w 65"/>
                                  <a:gd name="T39" fmla="*/ 4 h 120"/>
                                  <a:gd name="T40" fmla="*/ 1 w 65"/>
                                  <a:gd name="T41" fmla="*/ 4 h 120"/>
                                  <a:gd name="T42" fmla="*/ 0 w 65"/>
                                  <a:gd name="T43" fmla="*/ 4 h 120"/>
                                  <a:gd name="T44" fmla="*/ 0 w 65"/>
                                  <a:gd name="T45" fmla="*/ 4 h 120"/>
                                  <a:gd name="T46" fmla="*/ 0 w 65"/>
                                  <a:gd name="T47" fmla="*/ 4 h 120"/>
                                  <a:gd name="T48" fmla="*/ 0 w 65"/>
                                  <a:gd name="T49" fmla="*/ 4 h 120"/>
                                  <a:gd name="T50" fmla="*/ 0 w 65"/>
                                  <a:gd name="T51" fmla="*/ 4 h 120"/>
                                  <a:gd name="T52" fmla="*/ 0 w 65"/>
                                  <a:gd name="T53" fmla="*/ 4 h 120"/>
                                  <a:gd name="T54" fmla="*/ 0 w 65"/>
                                  <a:gd name="T55" fmla="*/ 4 h 120"/>
                                  <a:gd name="T56" fmla="*/ 0 w 65"/>
                                  <a:gd name="T57" fmla="*/ 3 h 120"/>
                                  <a:gd name="T58" fmla="*/ 0 w 65"/>
                                  <a:gd name="T59" fmla="*/ 3 h 120"/>
                                  <a:gd name="T60" fmla="*/ 0 w 65"/>
                                  <a:gd name="T61" fmla="*/ 3 h 120"/>
                                  <a:gd name="T62" fmla="*/ 0 w 65"/>
                                  <a:gd name="T63" fmla="*/ 3 h 120"/>
                                  <a:gd name="T64" fmla="*/ 0 w 65"/>
                                  <a:gd name="T65" fmla="*/ 3 h 120"/>
                                  <a:gd name="T66" fmla="*/ 1 w 65"/>
                                  <a:gd name="T67" fmla="*/ 2 h 120"/>
                                  <a:gd name="T68" fmla="*/ 0 w 65"/>
                                  <a:gd name="T69" fmla="*/ 2 h 120"/>
                                  <a:gd name="T70" fmla="*/ 0 w 65"/>
                                  <a:gd name="T71" fmla="*/ 2 h 120"/>
                                  <a:gd name="T72" fmla="*/ 0 w 65"/>
                                  <a:gd name="T73" fmla="*/ 1 h 120"/>
                                  <a:gd name="T74" fmla="*/ 0 60000 65536"/>
                                  <a:gd name="T75" fmla="*/ 0 60000 65536"/>
                                  <a:gd name="T76" fmla="*/ 0 60000 65536"/>
                                  <a:gd name="T77" fmla="*/ 0 60000 65536"/>
                                  <a:gd name="T78" fmla="*/ 0 60000 65536"/>
                                  <a:gd name="T79" fmla="*/ 0 60000 65536"/>
                                  <a:gd name="T80" fmla="*/ 0 60000 65536"/>
                                  <a:gd name="T81" fmla="*/ 0 60000 65536"/>
                                  <a:gd name="T82" fmla="*/ 0 60000 65536"/>
                                  <a:gd name="T83" fmla="*/ 0 60000 65536"/>
                                  <a:gd name="T84" fmla="*/ 0 60000 65536"/>
                                  <a:gd name="T85" fmla="*/ 0 60000 65536"/>
                                  <a:gd name="T86" fmla="*/ 0 60000 65536"/>
                                  <a:gd name="T87" fmla="*/ 0 60000 65536"/>
                                  <a:gd name="T88" fmla="*/ 0 60000 65536"/>
                                  <a:gd name="T89" fmla="*/ 0 60000 65536"/>
                                  <a:gd name="T90" fmla="*/ 0 60000 65536"/>
                                  <a:gd name="T91" fmla="*/ 0 60000 65536"/>
                                  <a:gd name="T92" fmla="*/ 0 60000 65536"/>
                                  <a:gd name="T93" fmla="*/ 0 60000 65536"/>
                                  <a:gd name="T94" fmla="*/ 0 60000 65536"/>
                                  <a:gd name="T95" fmla="*/ 0 60000 65536"/>
                                  <a:gd name="T96" fmla="*/ 0 60000 65536"/>
                                  <a:gd name="T97" fmla="*/ 0 60000 65536"/>
                                  <a:gd name="T98" fmla="*/ 0 60000 65536"/>
                                  <a:gd name="T99" fmla="*/ 0 60000 65536"/>
                                  <a:gd name="T100" fmla="*/ 0 60000 65536"/>
                                  <a:gd name="T101" fmla="*/ 0 60000 65536"/>
                                  <a:gd name="T102" fmla="*/ 0 60000 65536"/>
                                  <a:gd name="T103" fmla="*/ 0 60000 65536"/>
                                  <a:gd name="T104" fmla="*/ 0 60000 65536"/>
                                  <a:gd name="T105" fmla="*/ 0 60000 65536"/>
                                  <a:gd name="T106" fmla="*/ 0 60000 65536"/>
                                  <a:gd name="T107" fmla="*/ 0 60000 65536"/>
                                  <a:gd name="T108" fmla="*/ 0 60000 65536"/>
                                  <a:gd name="T109" fmla="*/ 0 60000 65536"/>
                                  <a:gd name="T110" fmla="*/ 0 60000 65536"/>
                                  <a:gd name="T111" fmla="*/ 0 w 65"/>
                                  <a:gd name="T112" fmla="*/ 0 h 120"/>
                                  <a:gd name="T113" fmla="*/ 65 w 65"/>
                                  <a:gd name="T114" fmla="*/ 120 h 120"/>
                                </a:gdLst>
                                <a:ahLst/>
                                <a:cxnLst>
                                  <a:cxn ang="T74">
                                    <a:pos x="T0" y="T1"/>
                                  </a:cxn>
                                  <a:cxn ang="T75">
                                    <a:pos x="T2" y="T3"/>
                                  </a:cxn>
                                  <a:cxn ang="T76">
                                    <a:pos x="T4" y="T5"/>
                                  </a:cxn>
                                  <a:cxn ang="T77">
                                    <a:pos x="T6" y="T7"/>
                                  </a:cxn>
                                  <a:cxn ang="T78">
                                    <a:pos x="T8" y="T9"/>
                                  </a:cxn>
                                  <a:cxn ang="T79">
                                    <a:pos x="T10" y="T11"/>
                                  </a:cxn>
                                  <a:cxn ang="T80">
                                    <a:pos x="T12" y="T13"/>
                                  </a:cxn>
                                  <a:cxn ang="T81">
                                    <a:pos x="T14" y="T15"/>
                                  </a:cxn>
                                  <a:cxn ang="T82">
                                    <a:pos x="T16" y="T17"/>
                                  </a:cxn>
                                  <a:cxn ang="T83">
                                    <a:pos x="T18" y="T19"/>
                                  </a:cxn>
                                  <a:cxn ang="T84">
                                    <a:pos x="T20" y="T21"/>
                                  </a:cxn>
                                  <a:cxn ang="T85">
                                    <a:pos x="T22" y="T23"/>
                                  </a:cxn>
                                  <a:cxn ang="T86">
                                    <a:pos x="T24" y="T25"/>
                                  </a:cxn>
                                  <a:cxn ang="T87">
                                    <a:pos x="T26" y="T27"/>
                                  </a:cxn>
                                  <a:cxn ang="T88">
                                    <a:pos x="T28" y="T29"/>
                                  </a:cxn>
                                  <a:cxn ang="T89">
                                    <a:pos x="T30" y="T31"/>
                                  </a:cxn>
                                  <a:cxn ang="T90">
                                    <a:pos x="T32" y="T33"/>
                                  </a:cxn>
                                  <a:cxn ang="T91">
                                    <a:pos x="T34" y="T35"/>
                                  </a:cxn>
                                  <a:cxn ang="T92">
                                    <a:pos x="T36" y="T37"/>
                                  </a:cxn>
                                  <a:cxn ang="T93">
                                    <a:pos x="T38" y="T39"/>
                                  </a:cxn>
                                  <a:cxn ang="T94">
                                    <a:pos x="T40" y="T41"/>
                                  </a:cxn>
                                  <a:cxn ang="T95">
                                    <a:pos x="T42" y="T43"/>
                                  </a:cxn>
                                  <a:cxn ang="T96">
                                    <a:pos x="T44" y="T45"/>
                                  </a:cxn>
                                  <a:cxn ang="T97">
                                    <a:pos x="T46" y="T47"/>
                                  </a:cxn>
                                  <a:cxn ang="T98">
                                    <a:pos x="T48" y="T49"/>
                                  </a:cxn>
                                  <a:cxn ang="T99">
                                    <a:pos x="T50" y="T51"/>
                                  </a:cxn>
                                  <a:cxn ang="T100">
                                    <a:pos x="T52" y="T53"/>
                                  </a:cxn>
                                  <a:cxn ang="T101">
                                    <a:pos x="T54" y="T55"/>
                                  </a:cxn>
                                  <a:cxn ang="T102">
                                    <a:pos x="T56" y="T57"/>
                                  </a:cxn>
                                  <a:cxn ang="T103">
                                    <a:pos x="T58" y="T59"/>
                                  </a:cxn>
                                  <a:cxn ang="T104">
                                    <a:pos x="T60" y="T61"/>
                                  </a:cxn>
                                  <a:cxn ang="T105">
                                    <a:pos x="T62" y="T63"/>
                                  </a:cxn>
                                  <a:cxn ang="T106">
                                    <a:pos x="T64" y="T65"/>
                                  </a:cxn>
                                  <a:cxn ang="T107">
                                    <a:pos x="T66" y="T67"/>
                                  </a:cxn>
                                  <a:cxn ang="T108">
                                    <a:pos x="T68" y="T69"/>
                                  </a:cxn>
                                  <a:cxn ang="T109">
                                    <a:pos x="T70" y="T71"/>
                                  </a:cxn>
                                  <a:cxn ang="T110">
                                    <a:pos x="T72" y="T73"/>
                                  </a:cxn>
                                </a:cxnLst>
                                <a:rect l="T111" t="T112" r="T113" b="T114"/>
                                <a:pathLst>
                                  <a:path w="65" h="120">
                                    <a:moveTo>
                                      <a:pt x="21" y="17"/>
                                    </a:moveTo>
                                    <a:lnTo>
                                      <a:pt x="25" y="13"/>
                                    </a:lnTo>
                                    <a:lnTo>
                                      <a:pt x="37" y="14"/>
                                    </a:lnTo>
                                    <a:lnTo>
                                      <a:pt x="40" y="11"/>
                                    </a:lnTo>
                                    <a:lnTo>
                                      <a:pt x="43" y="7"/>
                                    </a:lnTo>
                                    <a:lnTo>
                                      <a:pt x="46" y="7"/>
                                    </a:lnTo>
                                    <a:lnTo>
                                      <a:pt x="48" y="5"/>
                                    </a:lnTo>
                                    <a:lnTo>
                                      <a:pt x="52" y="2"/>
                                    </a:lnTo>
                                    <a:lnTo>
                                      <a:pt x="58" y="0"/>
                                    </a:lnTo>
                                    <a:lnTo>
                                      <a:pt x="65" y="1"/>
                                    </a:lnTo>
                                    <a:lnTo>
                                      <a:pt x="63" y="7"/>
                                    </a:lnTo>
                                    <a:lnTo>
                                      <a:pt x="61" y="11"/>
                                    </a:lnTo>
                                    <a:lnTo>
                                      <a:pt x="58" y="13"/>
                                    </a:lnTo>
                                    <a:lnTo>
                                      <a:pt x="55" y="14"/>
                                    </a:lnTo>
                                    <a:lnTo>
                                      <a:pt x="47" y="17"/>
                                    </a:lnTo>
                                    <a:lnTo>
                                      <a:pt x="47" y="23"/>
                                    </a:lnTo>
                                    <a:lnTo>
                                      <a:pt x="48" y="26"/>
                                    </a:lnTo>
                                    <a:lnTo>
                                      <a:pt x="57" y="23"/>
                                    </a:lnTo>
                                    <a:lnTo>
                                      <a:pt x="63" y="20"/>
                                    </a:lnTo>
                                    <a:lnTo>
                                      <a:pt x="65" y="23"/>
                                    </a:lnTo>
                                    <a:lnTo>
                                      <a:pt x="65" y="31"/>
                                    </a:lnTo>
                                    <a:lnTo>
                                      <a:pt x="59" y="33"/>
                                    </a:lnTo>
                                    <a:lnTo>
                                      <a:pt x="54" y="33"/>
                                    </a:lnTo>
                                    <a:lnTo>
                                      <a:pt x="50" y="37"/>
                                    </a:lnTo>
                                    <a:lnTo>
                                      <a:pt x="48" y="40"/>
                                    </a:lnTo>
                                    <a:lnTo>
                                      <a:pt x="48" y="45"/>
                                    </a:lnTo>
                                    <a:lnTo>
                                      <a:pt x="52" y="50"/>
                                    </a:lnTo>
                                    <a:lnTo>
                                      <a:pt x="57" y="55"/>
                                    </a:lnTo>
                                    <a:lnTo>
                                      <a:pt x="59" y="59"/>
                                    </a:lnTo>
                                    <a:lnTo>
                                      <a:pt x="61" y="65"/>
                                    </a:lnTo>
                                    <a:lnTo>
                                      <a:pt x="62" y="71"/>
                                    </a:lnTo>
                                    <a:lnTo>
                                      <a:pt x="65" y="78"/>
                                    </a:lnTo>
                                    <a:lnTo>
                                      <a:pt x="65" y="88"/>
                                    </a:lnTo>
                                    <a:lnTo>
                                      <a:pt x="62" y="94"/>
                                    </a:lnTo>
                                    <a:lnTo>
                                      <a:pt x="57" y="98"/>
                                    </a:lnTo>
                                    <a:lnTo>
                                      <a:pt x="55" y="101"/>
                                    </a:lnTo>
                                    <a:lnTo>
                                      <a:pt x="58" y="107"/>
                                    </a:lnTo>
                                    <a:lnTo>
                                      <a:pt x="61" y="113"/>
                                    </a:lnTo>
                                    <a:lnTo>
                                      <a:pt x="52" y="113"/>
                                    </a:lnTo>
                                    <a:lnTo>
                                      <a:pt x="46" y="113"/>
                                    </a:lnTo>
                                    <a:lnTo>
                                      <a:pt x="43" y="111"/>
                                    </a:lnTo>
                                    <a:lnTo>
                                      <a:pt x="37" y="111"/>
                                    </a:lnTo>
                                    <a:lnTo>
                                      <a:pt x="31" y="113"/>
                                    </a:lnTo>
                                    <a:lnTo>
                                      <a:pt x="25" y="116"/>
                                    </a:lnTo>
                                    <a:lnTo>
                                      <a:pt x="21" y="116"/>
                                    </a:lnTo>
                                    <a:lnTo>
                                      <a:pt x="18" y="117"/>
                                    </a:lnTo>
                                    <a:lnTo>
                                      <a:pt x="11" y="120"/>
                                    </a:lnTo>
                                    <a:lnTo>
                                      <a:pt x="10" y="119"/>
                                    </a:lnTo>
                                    <a:lnTo>
                                      <a:pt x="7" y="116"/>
                                    </a:lnTo>
                                    <a:lnTo>
                                      <a:pt x="3" y="114"/>
                                    </a:lnTo>
                                    <a:lnTo>
                                      <a:pt x="0" y="113"/>
                                    </a:lnTo>
                                    <a:lnTo>
                                      <a:pt x="0" y="107"/>
                                    </a:lnTo>
                                    <a:lnTo>
                                      <a:pt x="3" y="100"/>
                                    </a:lnTo>
                                    <a:lnTo>
                                      <a:pt x="7" y="100"/>
                                    </a:lnTo>
                                    <a:lnTo>
                                      <a:pt x="11" y="98"/>
                                    </a:lnTo>
                                    <a:lnTo>
                                      <a:pt x="17" y="98"/>
                                    </a:lnTo>
                                    <a:lnTo>
                                      <a:pt x="17" y="97"/>
                                    </a:lnTo>
                                    <a:lnTo>
                                      <a:pt x="11" y="94"/>
                                    </a:lnTo>
                                    <a:lnTo>
                                      <a:pt x="11" y="90"/>
                                    </a:lnTo>
                                    <a:lnTo>
                                      <a:pt x="11" y="87"/>
                                    </a:lnTo>
                                    <a:lnTo>
                                      <a:pt x="17" y="84"/>
                                    </a:lnTo>
                                    <a:lnTo>
                                      <a:pt x="20" y="82"/>
                                    </a:lnTo>
                                    <a:lnTo>
                                      <a:pt x="22" y="81"/>
                                    </a:lnTo>
                                    <a:lnTo>
                                      <a:pt x="26" y="81"/>
                                    </a:lnTo>
                                    <a:lnTo>
                                      <a:pt x="29" y="79"/>
                                    </a:lnTo>
                                    <a:lnTo>
                                      <a:pt x="31" y="68"/>
                                    </a:lnTo>
                                    <a:lnTo>
                                      <a:pt x="35" y="59"/>
                                    </a:lnTo>
                                    <a:lnTo>
                                      <a:pt x="35" y="55"/>
                                    </a:lnTo>
                                    <a:lnTo>
                                      <a:pt x="25" y="53"/>
                                    </a:lnTo>
                                    <a:lnTo>
                                      <a:pt x="28" y="46"/>
                                    </a:lnTo>
                                    <a:lnTo>
                                      <a:pt x="21" y="42"/>
                                    </a:lnTo>
                                    <a:lnTo>
                                      <a:pt x="14" y="43"/>
                                    </a:lnTo>
                                    <a:lnTo>
                                      <a:pt x="22" y="33"/>
                                    </a:lnTo>
                                    <a:lnTo>
                                      <a:pt x="21" y="17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CFFCC"/>
                              </a:solidFill>
                              <a:ln w="7938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pt-BR"/>
                              </a:p>
                            </p:txBody>
                          </p:sp>
                        </p:grpSp>
                        <p:sp>
                          <p:nvSpPr>
                            <p:cNvPr id="58582" name="Freeform 161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776" y="2104"/>
                              <a:ext cx="185" cy="101"/>
                            </a:xfrm>
                            <a:custGeom>
                              <a:avLst/>
                              <a:gdLst>
                                <a:gd name="T0" fmla="*/ 1 w 370"/>
                                <a:gd name="T1" fmla="*/ 6 h 203"/>
                                <a:gd name="T2" fmla="*/ 2 w 370"/>
                                <a:gd name="T3" fmla="*/ 5 h 203"/>
                                <a:gd name="T4" fmla="*/ 2 w 370"/>
                                <a:gd name="T5" fmla="*/ 5 h 203"/>
                                <a:gd name="T6" fmla="*/ 2 w 370"/>
                                <a:gd name="T7" fmla="*/ 5 h 203"/>
                                <a:gd name="T8" fmla="*/ 3 w 370"/>
                                <a:gd name="T9" fmla="*/ 5 h 203"/>
                                <a:gd name="T10" fmla="*/ 3 w 370"/>
                                <a:gd name="T11" fmla="*/ 5 h 203"/>
                                <a:gd name="T12" fmla="*/ 3 w 370"/>
                                <a:gd name="T13" fmla="*/ 5 h 203"/>
                                <a:gd name="T14" fmla="*/ 3 w 370"/>
                                <a:gd name="T15" fmla="*/ 4 h 203"/>
                                <a:gd name="T16" fmla="*/ 4 w 370"/>
                                <a:gd name="T17" fmla="*/ 4 h 203"/>
                                <a:gd name="T18" fmla="*/ 4 w 370"/>
                                <a:gd name="T19" fmla="*/ 4 h 203"/>
                                <a:gd name="T20" fmla="*/ 5 w 370"/>
                                <a:gd name="T21" fmla="*/ 4 h 203"/>
                                <a:gd name="T22" fmla="*/ 5 w 370"/>
                                <a:gd name="T23" fmla="*/ 4 h 203"/>
                                <a:gd name="T24" fmla="*/ 6 w 370"/>
                                <a:gd name="T25" fmla="*/ 4 h 203"/>
                                <a:gd name="T26" fmla="*/ 6 w 370"/>
                                <a:gd name="T27" fmla="*/ 3 h 203"/>
                                <a:gd name="T28" fmla="*/ 6 w 370"/>
                                <a:gd name="T29" fmla="*/ 3 h 203"/>
                                <a:gd name="T30" fmla="*/ 7 w 370"/>
                                <a:gd name="T31" fmla="*/ 3 h 203"/>
                                <a:gd name="T32" fmla="*/ 7 w 370"/>
                                <a:gd name="T33" fmla="*/ 3 h 203"/>
                                <a:gd name="T34" fmla="*/ 7 w 370"/>
                                <a:gd name="T35" fmla="*/ 2 h 203"/>
                                <a:gd name="T36" fmla="*/ 7 w 370"/>
                                <a:gd name="T37" fmla="*/ 3 h 203"/>
                                <a:gd name="T38" fmla="*/ 8 w 370"/>
                                <a:gd name="T39" fmla="*/ 3 h 203"/>
                                <a:gd name="T40" fmla="*/ 8 w 370"/>
                                <a:gd name="T41" fmla="*/ 3 h 203"/>
                                <a:gd name="T42" fmla="*/ 8 w 370"/>
                                <a:gd name="T43" fmla="*/ 2 h 203"/>
                                <a:gd name="T44" fmla="*/ 8 w 370"/>
                                <a:gd name="T45" fmla="*/ 2 h 203"/>
                                <a:gd name="T46" fmla="*/ 9 w 370"/>
                                <a:gd name="T47" fmla="*/ 2 h 203"/>
                                <a:gd name="T48" fmla="*/ 9 w 370"/>
                                <a:gd name="T49" fmla="*/ 2 h 203"/>
                                <a:gd name="T50" fmla="*/ 10 w 370"/>
                                <a:gd name="T51" fmla="*/ 1 h 203"/>
                                <a:gd name="T52" fmla="*/ 10 w 370"/>
                                <a:gd name="T53" fmla="*/ 1 h 203"/>
                                <a:gd name="T54" fmla="*/ 11 w 370"/>
                                <a:gd name="T55" fmla="*/ 0 h 203"/>
                                <a:gd name="T56" fmla="*/ 12 w 370"/>
                                <a:gd name="T57" fmla="*/ 0 h 203"/>
                                <a:gd name="T58" fmla="*/ 12 w 370"/>
                                <a:gd name="T59" fmla="*/ 0 h 203"/>
                                <a:gd name="T60" fmla="*/ 11 w 370"/>
                                <a:gd name="T61" fmla="*/ 0 h 203"/>
                                <a:gd name="T62" fmla="*/ 10 w 370"/>
                                <a:gd name="T63" fmla="*/ 0 h 203"/>
                                <a:gd name="T64" fmla="*/ 9 w 370"/>
                                <a:gd name="T65" fmla="*/ 0 h 203"/>
                                <a:gd name="T66" fmla="*/ 8 w 370"/>
                                <a:gd name="T67" fmla="*/ 0 h 203"/>
                                <a:gd name="T68" fmla="*/ 7 w 370"/>
                                <a:gd name="T69" fmla="*/ 1 h 203"/>
                                <a:gd name="T70" fmla="*/ 7 w 370"/>
                                <a:gd name="T71" fmla="*/ 1 h 203"/>
                                <a:gd name="T72" fmla="*/ 6 w 370"/>
                                <a:gd name="T73" fmla="*/ 1 h 203"/>
                                <a:gd name="T74" fmla="*/ 6 w 370"/>
                                <a:gd name="T75" fmla="*/ 2 h 203"/>
                                <a:gd name="T76" fmla="*/ 5 w 370"/>
                                <a:gd name="T77" fmla="*/ 2 h 203"/>
                                <a:gd name="T78" fmla="*/ 4 w 370"/>
                                <a:gd name="T79" fmla="*/ 3 h 203"/>
                                <a:gd name="T80" fmla="*/ 3 w 370"/>
                                <a:gd name="T81" fmla="*/ 4 h 203"/>
                                <a:gd name="T82" fmla="*/ 2 w 370"/>
                                <a:gd name="T83" fmla="*/ 4 h 203"/>
                                <a:gd name="T84" fmla="*/ 2 w 370"/>
                                <a:gd name="T85" fmla="*/ 5 h 203"/>
                                <a:gd name="T86" fmla="*/ 0 w 370"/>
                                <a:gd name="T87" fmla="*/ 6 h 203"/>
                                <a:gd name="T88" fmla="*/ 0 60000 65536"/>
                                <a:gd name="T89" fmla="*/ 0 60000 65536"/>
                                <a:gd name="T90" fmla="*/ 0 60000 65536"/>
                                <a:gd name="T91" fmla="*/ 0 60000 65536"/>
                                <a:gd name="T92" fmla="*/ 0 60000 65536"/>
                                <a:gd name="T93" fmla="*/ 0 60000 65536"/>
                                <a:gd name="T94" fmla="*/ 0 60000 65536"/>
                                <a:gd name="T95" fmla="*/ 0 60000 65536"/>
                                <a:gd name="T96" fmla="*/ 0 60000 65536"/>
                                <a:gd name="T97" fmla="*/ 0 60000 65536"/>
                                <a:gd name="T98" fmla="*/ 0 60000 65536"/>
                                <a:gd name="T99" fmla="*/ 0 60000 65536"/>
                                <a:gd name="T100" fmla="*/ 0 60000 65536"/>
                                <a:gd name="T101" fmla="*/ 0 60000 65536"/>
                                <a:gd name="T102" fmla="*/ 0 60000 65536"/>
                                <a:gd name="T103" fmla="*/ 0 60000 65536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w 370"/>
                                <a:gd name="T133" fmla="*/ 0 h 203"/>
                                <a:gd name="T134" fmla="*/ 370 w 370"/>
                                <a:gd name="T135" fmla="*/ 203 h 203"/>
                              </a:gdLst>
                              <a:ahLst/>
                              <a:cxnLst>
                                <a:cxn ang="T88">
                                  <a:pos x="T0" y="T1"/>
                                </a:cxn>
                                <a:cxn ang="T89">
                                  <a:pos x="T2" y="T3"/>
                                </a:cxn>
                                <a:cxn ang="T90">
                                  <a:pos x="T4" y="T5"/>
                                </a:cxn>
                                <a:cxn ang="T91">
                                  <a:pos x="T6" y="T7"/>
                                </a:cxn>
                                <a:cxn ang="T92">
                                  <a:pos x="T8" y="T9"/>
                                </a:cxn>
                                <a:cxn ang="T93">
                                  <a:pos x="T10" y="T11"/>
                                </a:cxn>
                                <a:cxn ang="T94">
                                  <a:pos x="T12" y="T13"/>
                                </a:cxn>
                                <a:cxn ang="T95">
                                  <a:pos x="T14" y="T15"/>
                                </a:cxn>
                                <a:cxn ang="T96">
                                  <a:pos x="T16" y="T17"/>
                                </a:cxn>
                                <a:cxn ang="T97">
                                  <a:pos x="T18" y="T19"/>
                                </a:cxn>
                                <a:cxn ang="T98">
                                  <a:pos x="T20" y="T21"/>
                                </a:cxn>
                                <a:cxn ang="T99">
                                  <a:pos x="T22" y="T23"/>
                                </a:cxn>
                                <a:cxn ang="T100">
                                  <a:pos x="T24" y="T25"/>
                                </a:cxn>
                                <a:cxn ang="T101">
                                  <a:pos x="T26" y="T27"/>
                                </a:cxn>
                                <a:cxn ang="T102">
                                  <a:pos x="T28" y="T29"/>
                                </a:cxn>
                                <a:cxn ang="T103">
                                  <a:pos x="T30" y="T31"/>
                                </a:cxn>
                                <a:cxn ang="T104">
                                  <a:pos x="T32" y="T33"/>
                                </a:cxn>
                                <a:cxn ang="T105">
                                  <a:pos x="T34" y="T35"/>
                                </a:cxn>
                                <a:cxn ang="T106">
                                  <a:pos x="T36" y="T37"/>
                                </a:cxn>
                                <a:cxn ang="T107">
                                  <a:pos x="T38" y="T39"/>
                                </a:cxn>
                                <a:cxn ang="T108">
                                  <a:pos x="T40" y="T41"/>
                                </a:cxn>
                                <a:cxn ang="T109">
                                  <a:pos x="T42" y="T43"/>
                                </a:cxn>
                                <a:cxn ang="T110">
                                  <a:pos x="T44" y="T45"/>
                                </a:cxn>
                                <a:cxn ang="T111">
                                  <a:pos x="T46" y="T47"/>
                                </a:cxn>
                                <a:cxn ang="T112">
                                  <a:pos x="T48" y="T49"/>
                                </a:cxn>
                                <a:cxn ang="T113">
                                  <a:pos x="T50" y="T51"/>
                                </a:cxn>
                                <a:cxn ang="T114">
                                  <a:pos x="T52" y="T53"/>
                                </a:cxn>
                                <a:cxn ang="T115">
                                  <a:pos x="T54" y="T55"/>
                                </a:cxn>
                                <a:cxn ang="T116">
                                  <a:pos x="T56" y="T57"/>
                                </a:cxn>
                                <a:cxn ang="T117">
                                  <a:pos x="T58" y="T59"/>
                                </a:cxn>
                                <a:cxn ang="T118">
                                  <a:pos x="T60" y="T61"/>
                                </a:cxn>
                                <a:cxn ang="T119">
                                  <a:pos x="T62" y="T63"/>
                                </a:cxn>
                                <a:cxn ang="T120">
                                  <a:pos x="T64" y="T65"/>
                                </a:cxn>
                                <a:cxn ang="T121">
                                  <a:pos x="T66" y="T67"/>
                                </a:cxn>
                                <a:cxn ang="T122">
                                  <a:pos x="T68" y="T69"/>
                                </a:cxn>
                                <a:cxn ang="T123">
                                  <a:pos x="T70" y="T71"/>
                                </a:cxn>
                                <a:cxn ang="T124">
                                  <a:pos x="T72" y="T73"/>
                                </a:cxn>
                                <a:cxn ang="T125">
                                  <a:pos x="T74" y="T75"/>
                                </a:cxn>
                                <a:cxn ang="T126">
                                  <a:pos x="T76" y="T77"/>
                                </a:cxn>
                                <a:cxn ang="T127">
                                  <a:pos x="T78" y="T79"/>
                                </a:cxn>
                                <a:cxn ang="T128">
                                  <a:pos x="T80" y="T81"/>
                                </a:cxn>
                                <a:cxn ang="T129">
                                  <a:pos x="T82" y="T83"/>
                                </a:cxn>
                                <a:cxn ang="T130">
                                  <a:pos x="T84" y="T85"/>
                                </a:cxn>
                                <a:cxn ang="T131">
                                  <a:pos x="T86" y="T87"/>
                                </a:cxn>
                              </a:cxnLst>
                              <a:rect l="T132" t="T133" r="T134" b="T135"/>
                              <a:pathLst>
                                <a:path w="370" h="203">
                                  <a:moveTo>
                                    <a:pt x="0" y="203"/>
                                  </a:moveTo>
                                  <a:lnTo>
                                    <a:pt x="23" y="199"/>
                                  </a:lnTo>
                                  <a:lnTo>
                                    <a:pt x="31" y="190"/>
                                  </a:lnTo>
                                  <a:lnTo>
                                    <a:pt x="37" y="184"/>
                                  </a:lnTo>
                                  <a:lnTo>
                                    <a:pt x="40" y="180"/>
                                  </a:lnTo>
                                  <a:lnTo>
                                    <a:pt x="45" y="180"/>
                                  </a:lnTo>
                                  <a:lnTo>
                                    <a:pt x="51" y="175"/>
                                  </a:lnTo>
                                  <a:lnTo>
                                    <a:pt x="57" y="175"/>
                                  </a:lnTo>
                                  <a:lnTo>
                                    <a:pt x="62" y="175"/>
                                  </a:lnTo>
                                  <a:lnTo>
                                    <a:pt x="67" y="175"/>
                                  </a:lnTo>
                                  <a:lnTo>
                                    <a:pt x="70" y="175"/>
                                  </a:lnTo>
                                  <a:lnTo>
                                    <a:pt x="75" y="170"/>
                                  </a:lnTo>
                                  <a:lnTo>
                                    <a:pt x="78" y="165"/>
                                  </a:lnTo>
                                  <a:lnTo>
                                    <a:pt x="85" y="161"/>
                                  </a:lnTo>
                                  <a:lnTo>
                                    <a:pt x="90" y="159"/>
                                  </a:lnTo>
                                  <a:lnTo>
                                    <a:pt x="94" y="157"/>
                                  </a:lnTo>
                                  <a:lnTo>
                                    <a:pt x="100" y="155"/>
                                  </a:lnTo>
                                  <a:lnTo>
                                    <a:pt x="104" y="152"/>
                                  </a:lnTo>
                                  <a:lnTo>
                                    <a:pt x="110" y="149"/>
                                  </a:lnTo>
                                  <a:lnTo>
                                    <a:pt x="115" y="146"/>
                                  </a:lnTo>
                                  <a:lnTo>
                                    <a:pt x="122" y="142"/>
                                  </a:lnTo>
                                  <a:lnTo>
                                    <a:pt x="129" y="143"/>
                                  </a:lnTo>
                                  <a:lnTo>
                                    <a:pt x="140" y="146"/>
                                  </a:lnTo>
                                  <a:lnTo>
                                    <a:pt x="151" y="146"/>
                                  </a:lnTo>
                                  <a:lnTo>
                                    <a:pt x="163" y="142"/>
                                  </a:lnTo>
                                  <a:lnTo>
                                    <a:pt x="169" y="141"/>
                                  </a:lnTo>
                                  <a:lnTo>
                                    <a:pt x="173" y="132"/>
                                  </a:lnTo>
                                  <a:lnTo>
                                    <a:pt x="178" y="126"/>
                                  </a:lnTo>
                                  <a:lnTo>
                                    <a:pt x="188" y="119"/>
                                  </a:lnTo>
                                  <a:lnTo>
                                    <a:pt x="190" y="114"/>
                                  </a:lnTo>
                                  <a:lnTo>
                                    <a:pt x="190" y="109"/>
                                  </a:lnTo>
                                  <a:lnTo>
                                    <a:pt x="199" y="104"/>
                                  </a:lnTo>
                                  <a:lnTo>
                                    <a:pt x="203" y="100"/>
                                  </a:lnTo>
                                  <a:lnTo>
                                    <a:pt x="206" y="96"/>
                                  </a:lnTo>
                                  <a:lnTo>
                                    <a:pt x="208" y="94"/>
                                  </a:lnTo>
                                  <a:lnTo>
                                    <a:pt x="222" y="85"/>
                                  </a:lnTo>
                                  <a:lnTo>
                                    <a:pt x="222" y="94"/>
                                  </a:lnTo>
                                  <a:lnTo>
                                    <a:pt x="219" y="98"/>
                                  </a:lnTo>
                                  <a:lnTo>
                                    <a:pt x="222" y="103"/>
                                  </a:lnTo>
                                  <a:lnTo>
                                    <a:pt x="232" y="104"/>
                                  </a:lnTo>
                                  <a:lnTo>
                                    <a:pt x="237" y="104"/>
                                  </a:lnTo>
                                  <a:lnTo>
                                    <a:pt x="243" y="100"/>
                                  </a:lnTo>
                                  <a:lnTo>
                                    <a:pt x="247" y="94"/>
                                  </a:lnTo>
                                  <a:lnTo>
                                    <a:pt x="247" y="90"/>
                                  </a:lnTo>
                                  <a:lnTo>
                                    <a:pt x="251" y="85"/>
                                  </a:lnTo>
                                  <a:lnTo>
                                    <a:pt x="251" y="81"/>
                                  </a:lnTo>
                                  <a:lnTo>
                                    <a:pt x="255" y="75"/>
                                  </a:lnTo>
                                  <a:lnTo>
                                    <a:pt x="258" y="72"/>
                                  </a:lnTo>
                                  <a:lnTo>
                                    <a:pt x="265" y="72"/>
                                  </a:lnTo>
                                  <a:lnTo>
                                    <a:pt x="278" y="72"/>
                                  </a:lnTo>
                                  <a:lnTo>
                                    <a:pt x="289" y="66"/>
                                  </a:lnTo>
                                  <a:lnTo>
                                    <a:pt x="299" y="58"/>
                                  </a:lnTo>
                                  <a:lnTo>
                                    <a:pt x="310" y="55"/>
                                  </a:lnTo>
                                  <a:lnTo>
                                    <a:pt x="319" y="48"/>
                                  </a:lnTo>
                                  <a:lnTo>
                                    <a:pt x="326" y="36"/>
                                  </a:lnTo>
                                  <a:lnTo>
                                    <a:pt x="341" y="23"/>
                                  </a:lnTo>
                                  <a:lnTo>
                                    <a:pt x="351" y="17"/>
                                  </a:lnTo>
                                  <a:lnTo>
                                    <a:pt x="361" y="11"/>
                                  </a:lnTo>
                                  <a:lnTo>
                                    <a:pt x="370" y="4"/>
                                  </a:lnTo>
                                  <a:lnTo>
                                    <a:pt x="354" y="0"/>
                                  </a:lnTo>
                                  <a:lnTo>
                                    <a:pt x="337" y="0"/>
                                  </a:lnTo>
                                  <a:lnTo>
                                    <a:pt x="321" y="7"/>
                                  </a:lnTo>
                                  <a:lnTo>
                                    <a:pt x="313" y="11"/>
                                  </a:lnTo>
                                  <a:lnTo>
                                    <a:pt x="299" y="14"/>
                                  </a:lnTo>
                                  <a:lnTo>
                                    <a:pt x="284" y="16"/>
                                  </a:lnTo>
                                  <a:lnTo>
                                    <a:pt x="276" y="19"/>
                                  </a:lnTo>
                                  <a:lnTo>
                                    <a:pt x="258" y="26"/>
                                  </a:lnTo>
                                  <a:lnTo>
                                    <a:pt x="247" y="30"/>
                                  </a:lnTo>
                                  <a:lnTo>
                                    <a:pt x="236" y="35"/>
                                  </a:lnTo>
                                  <a:lnTo>
                                    <a:pt x="222" y="37"/>
                                  </a:lnTo>
                                  <a:lnTo>
                                    <a:pt x="208" y="42"/>
                                  </a:lnTo>
                                  <a:lnTo>
                                    <a:pt x="196" y="48"/>
                                  </a:lnTo>
                                  <a:lnTo>
                                    <a:pt x="186" y="55"/>
                                  </a:lnTo>
                                  <a:lnTo>
                                    <a:pt x="178" y="62"/>
                                  </a:lnTo>
                                  <a:lnTo>
                                    <a:pt x="170" y="68"/>
                                  </a:lnTo>
                                  <a:lnTo>
                                    <a:pt x="163" y="72"/>
                                  </a:lnTo>
                                  <a:lnTo>
                                    <a:pt x="148" y="81"/>
                                  </a:lnTo>
                                  <a:lnTo>
                                    <a:pt x="133" y="90"/>
                                  </a:lnTo>
                                  <a:lnTo>
                                    <a:pt x="115" y="100"/>
                                  </a:lnTo>
                                  <a:lnTo>
                                    <a:pt x="103" y="113"/>
                                  </a:lnTo>
                                  <a:lnTo>
                                    <a:pt x="89" y="123"/>
                                  </a:lnTo>
                                  <a:lnTo>
                                    <a:pt x="77" y="129"/>
                                  </a:lnTo>
                                  <a:lnTo>
                                    <a:pt x="64" y="142"/>
                                  </a:lnTo>
                                  <a:lnTo>
                                    <a:pt x="56" y="151"/>
                                  </a:lnTo>
                                  <a:lnTo>
                                    <a:pt x="45" y="159"/>
                                  </a:lnTo>
                                  <a:lnTo>
                                    <a:pt x="34" y="165"/>
                                  </a:lnTo>
                                  <a:lnTo>
                                    <a:pt x="23" y="171"/>
                                  </a:lnTo>
                                  <a:lnTo>
                                    <a:pt x="0" y="2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58578" name="Freeform 16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862" y="3033"/>
                            <a:ext cx="275" cy="95"/>
                          </a:xfrm>
                          <a:custGeom>
                            <a:avLst/>
                            <a:gdLst>
                              <a:gd name="T0" fmla="*/ 1 w 552"/>
                              <a:gd name="T1" fmla="*/ 2 h 189"/>
                              <a:gd name="T2" fmla="*/ 2 w 552"/>
                              <a:gd name="T3" fmla="*/ 2 h 189"/>
                              <a:gd name="T4" fmla="*/ 4 w 552"/>
                              <a:gd name="T5" fmla="*/ 2 h 189"/>
                              <a:gd name="T6" fmla="*/ 4 w 552"/>
                              <a:gd name="T7" fmla="*/ 2 h 189"/>
                              <a:gd name="T8" fmla="*/ 5 w 552"/>
                              <a:gd name="T9" fmla="*/ 2 h 189"/>
                              <a:gd name="T10" fmla="*/ 5 w 552"/>
                              <a:gd name="T11" fmla="*/ 2 h 189"/>
                              <a:gd name="T12" fmla="*/ 6 w 552"/>
                              <a:gd name="T13" fmla="*/ 2 h 189"/>
                              <a:gd name="T14" fmla="*/ 6 w 552"/>
                              <a:gd name="T15" fmla="*/ 2 h 189"/>
                              <a:gd name="T16" fmla="*/ 7 w 552"/>
                              <a:gd name="T17" fmla="*/ 2 h 189"/>
                              <a:gd name="T18" fmla="*/ 7 w 552"/>
                              <a:gd name="T19" fmla="*/ 2 h 189"/>
                              <a:gd name="T20" fmla="*/ 8 w 552"/>
                              <a:gd name="T21" fmla="*/ 2 h 189"/>
                              <a:gd name="T22" fmla="*/ 9 w 552"/>
                              <a:gd name="T23" fmla="*/ 2 h 189"/>
                              <a:gd name="T24" fmla="*/ 9 w 552"/>
                              <a:gd name="T25" fmla="*/ 2 h 189"/>
                              <a:gd name="T26" fmla="*/ 10 w 552"/>
                              <a:gd name="T27" fmla="*/ 2 h 189"/>
                              <a:gd name="T28" fmla="*/ 11 w 552"/>
                              <a:gd name="T29" fmla="*/ 2 h 189"/>
                              <a:gd name="T30" fmla="*/ 11 w 552"/>
                              <a:gd name="T31" fmla="*/ 2 h 189"/>
                              <a:gd name="T32" fmla="*/ 12 w 552"/>
                              <a:gd name="T33" fmla="*/ 1 h 189"/>
                              <a:gd name="T34" fmla="*/ 13 w 552"/>
                              <a:gd name="T35" fmla="*/ 1 h 189"/>
                              <a:gd name="T36" fmla="*/ 13 w 552"/>
                              <a:gd name="T37" fmla="*/ 1 h 189"/>
                              <a:gd name="T38" fmla="*/ 13 w 552"/>
                              <a:gd name="T39" fmla="*/ 1 h 189"/>
                              <a:gd name="T40" fmla="*/ 14 w 552"/>
                              <a:gd name="T41" fmla="*/ 0 h 189"/>
                              <a:gd name="T42" fmla="*/ 14 w 552"/>
                              <a:gd name="T43" fmla="*/ 1 h 189"/>
                              <a:gd name="T44" fmla="*/ 14 w 552"/>
                              <a:gd name="T45" fmla="*/ 1 h 189"/>
                              <a:gd name="T46" fmla="*/ 14 w 552"/>
                              <a:gd name="T47" fmla="*/ 1 h 189"/>
                              <a:gd name="T48" fmla="*/ 15 w 552"/>
                              <a:gd name="T49" fmla="*/ 1 h 189"/>
                              <a:gd name="T50" fmla="*/ 16 w 552"/>
                              <a:gd name="T51" fmla="*/ 2 h 189"/>
                              <a:gd name="T52" fmla="*/ 16 w 552"/>
                              <a:gd name="T53" fmla="*/ 2 h 189"/>
                              <a:gd name="T54" fmla="*/ 17 w 552"/>
                              <a:gd name="T55" fmla="*/ 2 h 189"/>
                              <a:gd name="T56" fmla="*/ 17 w 552"/>
                              <a:gd name="T57" fmla="*/ 2 h 189"/>
                              <a:gd name="T58" fmla="*/ 16 w 552"/>
                              <a:gd name="T59" fmla="*/ 3 h 189"/>
                              <a:gd name="T60" fmla="*/ 14 w 552"/>
                              <a:gd name="T61" fmla="*/ 5 h 189"/>
                              <a:gd name="T62" fmla="*/ 12 w 552"/>
                              <a:gd name="T63" fmla="*/ 6 h 189"/>
                              <a:gd name="T64" fmla="*/ 11 w 552"/>
                              <a:gd name="T65" fmla="*/ 6 h 189"/>
                              <a:gd name="T66" fmla="*/ 10 w 552"/>
                              <a:gd name="T67" fmla="*/ 6 h 189"/>
                              <a:gd name="T68" fmla="*/ 9 w 552"/>
                              <a:gd name="T69" fmla="*/ 6 h 189"/>
                              <a:gd name="T70" fmla="*/ 8 w 552"/>
                              <a:gd name="T71" fmla="*/ 6 h 189"/>
                              <a:gd name="T72" fmla="*/ 7 w 552"/>
                              <a:gd name="T73" fmla="*/ 6 h 189"/>
                              <a:gd name="T74" fmla="*/ 6 w 552"/>
                              <a:gd name="T75" fmla="*/ 6 h 189"/>
                              <a:gd name="T76" fmla="*/ 5 w 552"/>
                              <a:gd name="T77" fmla="*/ 6 h 189"/>
                              <a:gd name="T78" fmla="*/ 4 w 552"/>
                              <a:gd name="T79" fmla="*/ 6 h 189"/>
                              <a:gd name="T80" fmla="*/ 3 w 552"/>
                              <a:gd name="T81" fmla="*/ 6 h 189"/>
                              <a:gd name="T82" fmla="*/ 2 w 552"/>
                              <a:gd name="T83" fmla="*/ 5 h 189"/>
                              <a:gd name="T84" fmla="*/ 1 w 552"/>
                              <a:gd name="T85" fmla="*/ 5 h 189"/>
                              <a:gd name="T86" fmla="*/ 0 w 552"/>
                              <a:gd name="T87" fmla="*/ 4 h 189"/>
                              <a:gd name="T88" fmla="*/ 0 w 552"/>
                              <a:gd name="T89" fmla="*/ 3 h 189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w 552"/>
                              <a:gd name="T136" fmla="*/ 0 h 189"/>
                              <a:gd name="T137" fmla="*/ 552 w 552"/>
                              <a:gd name="T138" fmla="*/ 189 h 189"/>
                            </a:gdLst>
                            <a:ahLst/>
                            <a:cxnLst>
                              <a:cxn ang="T90">
                                <a:pos x="T0" y="T1"/>
                              </a:cxn>
                              <a:cxn ang="T91">
                                <a:pos x="T2" y="T3"/>
                              </a:cxn>
                              <a:cxn ang="T92">
                                <a:pos x="T4" y="T5"/>
                              </a:cxn>
                              <a:cxn ang="T93">
                                <a:pos x="T6" y="T7"/>
                              </a:cxn>
                              <a:cxn ang="T94">
                                <a:pos x="T8" y="T9"/>
                              </a:cxn>
                              <a:cxn ang="T95">
                                <a:pos x="T10" y="T11"/>
                              </a:cxn>
                              <a:cxn ang="T96">
                                <a:pos x="T12" y="T13"/>
                              </a:cxn>
                              <a:cxn ang="T97">
                                <a:pos x="T14" y="T15"/>
                              </a:cxn>
                              <a:cxn ang="T98">
                                <a:pos x="T16" y="T17"/>
                              </a:cxn>
                              <a:cxn ang="T99">
                                <a:pos x="T18" y="T19"/>
                              </a:cxn>
                              <a:cxn ang="T100">
                                <a:pos x="T20" y="T21"/>
                              </a:cxn>
                              <a:cxn ang="T101">
                                <a:pos x="T22" y="T23"/>
                              </a:cxn>
                              <a:cxn ang="T102">
                                <a:pos x="T24" y="T25"/>
                              </a:cxn>
                              <a:cxn ang="T103">
                                <a:pos x="T26" y="T27"/>
                              </a:cxn>
                              <a:cxn ang="T104">
                                <a:pos x="T28" y="T29"/>
                              </a:cxn>
                              <a:cxn ang="T105">
                                <a:pos x="T30" y="T31"/>
                              </a:cxn>
                              <a:cxn ang="T106">
                                <a:pos x="T32" y="T33"/>
                              </a:cxn>
                              <a:cxn ang="T107">
                                <a:pos x="T34" y="T35"/>
                              </a:cxn>
                              <a:cxn ang="T108">
                                <a:pos x="T36" y="T37"/>
                              </a:cxn>
                              <a:cxn ang="T109">
                                <a:pos x="T38" y="T39"/>
                              </a:cxn>
                              <a:cxn ang="T110">
                                <a:pos x="T40" y="T41"/>
                              </a:cxn>
                              <a:cxn ang="T111">
                                <a:pos x="T42" y="T43"/>
                              </a:cxn>
                              <a:cxn ang="T112">
                                <a:pos x="T44" y="T45"/>
                              </a:cxn>
                              <a:cxn ang="T113">
                                <a:pos x="T46" y="T47"/>
                              </a:cxn>
                              <a:cxn ang="T114">
                                <a:pos x="T48" y="T49"/>
                              </a:cxn>
                              <a:cxn ang="T115">
                                <a:pos x="T50" y="T51"/>
                              </a:cxn>
                              <a:cxn ang="T116">
                                <a:pos x="T52" y="T53"/>
                              </a:cxn>
                              <a:cxn ang="T117">
                                <a:pos x="T54" y="T55"/>
                              </a:cxn>
                              <a:cxn ang="T118">
                                <a:pos x="T56" y="T57"/>
                              </a:cxn>
                              <a:cxn ang="T119">
                                <a:pos x="T58" y="T59"/>
                              </a:cxn>
                              <a:cxn ang="T120">
                                <a:pos x="T60" y="T61"/>
                              </a:cxn>
                              <a:cxn ang="T121">
                                <a:pos x="T62" y="T63"/>
                              </a:cxn>
                              <a:cxn ang="T122">
                                <a:pos x="T64" y="T65"/>
                              </a:cxn>
                              <a:cxn ang="T123">
                                <a:pos x="T66" y="T67"/>
                              </a:cxn>
                              <a:cxn ang="T124">
                                <a:pos x="T68" y="T69"/>
                              </a:cxn>
                              <a:cxn ang="T125">
                                <a:pos x="T70" y="T71"/>
                              </a:cxn>
                              <a:cxn ang="T126">
                                <a:pos x="T72" y="T73"/>
                              </a:cxn>
                              <a:cxn ang="T127">
                                <a:pos x="T74" y="T75"/>
                              </a:cxn>
                              <a:cxn ang="T128">
                                <a:pos x="T76" y="T77"/>
                              </a:cxn>
                              <a:cxn ang="T129">
                                <a:pos x="T78" y="T79"/>
                              </a:cxn>
                              <a:cxn ang="T130">
                                <a:pos x="T80" y="T81"/>
                              </a:cxn>
                              <a:cxn ang="T131">
                                <a:pos x="T82" y="T83"/>
                              </a:cxn>
                              <a:cxn ang="T132">
                                <a:pos x="T84" y="T85"/>
                              </a:cxn>
                              <a:cxn ang="T133">
                                <a:pos x="T86" y="T87"/>
                              </a:cxn>
                              <a:cxn ang="T134">
                                <a:pos x="T88" y="T89"/>
                              </a:cxn>
                            </a:cxnLst>
                            <a:rect l="T135" t="T136" r="T137" b="T138"/>
                            <a:pathLst>
                              <a:path w="552" h="189">
                                <a:moveTo>
                                  <a:pt x="0" y="83"/>
                                </a:moveTo>
                                <a:lnTo>
                                  <a:pt x="54" y="58"/>
                                </a:lnTo>
                                <a:lnTo>
                                  <a:pt x="67" y="57"/>
                                </a:lnTo>
                                <a:lnTo>
                                  <a:pt x="76" y="53"/>
                                </a:lnTo>
                                <a:lnTo>
                                  <a:pt x="136" y="56"/>
                                </a:lnTo>
                                <a:lnTo>
                                  <a:pt x="140" y="50"/>
                                </a:lnTo>
                                <a:lnTo>
                                  <a:pt x="147" y="47"/>
                                </a:lnTo>
                                <a:lnTo>
                                  <a:pt x="159" y="42"/>
                                </a:lnTo>
                                <a:lnTo>
                                  <a:pt x="168" y="37"/>
                                </a:lnTo>
                                <a:lnTo>
                                  <a:pt x="176" y="37"/>
                                </a:lnTo>
                                <a:lnTo>
                                  <a:pt x="179" y="37"/>
                                </a:lnTo>
                                <a:lnTo>
                                  <a:pt x="181" y="37"/>
                                </a:lnTo>
                                <a:lnTo>
                                  <a:pt x="192" y="38"/>
                                </a:lnTo>
                                <a:lnTo>
                                  <a:pt x="203" y="42"/>
                                </a:lnTo>
                                <a:lnTo>
                                  <a:pt x="210" y="51"/>
                                </a:lnTo>
                                <a:lnTo>
                                  <a:pt x="214" y="50"/>
                                </a:lnTo>
                                <a:lnTo>
                                  <a:pt x="217" y="57"/>
                                </a:lnTo>
                                <a:lnTo>
                                  <a:pt x="232" y="56"/>
                                </a:lnTo>
                                <a:lnTo>
                                  <a:pt x="246" y="51"/>
                                </a:lnTo>
                                <a:lnTo>
                                  <a:pt x="254" y="50"/>
                                </a:lnTo>
                                <a:lnTo>
                                  <a:pt x="264" y="45"/>
                                </a:lnTo>
                                <a:lnTo>
                                  <a:pt x="275" y="41"/>
                                </a:lnTo>
                                <a:lnTo>
                                  <a:pt x="284" y="41"/>
                                </a:lnTo>
                                <a:lnTo>
                                  <a:pt x="291" y="38"/>
                                </a:lnTo>
                                <a:lnTo>
                                  <a:pt x="299" y="34"/>
                                </a:lnTo>
                                <a:lnTo>
                                  <a:pt x="305" y="38"/>
                                </a:lnTo>
                                <a:lnTo>
                                  <a:pt x="321" y="42"/>
                                </a:lnTo>
                                <a:lnTo>
                                  <a:pt x="338" y="45"/>
                                </a:lnTo>
                                <a:lnTo>
                                  <a:pt x="354" y="45"/>
                                </a:lnTo>
                                <a:lnTo>
                                  <a:pt x="361" y="38"/>
                                </a:lnTo>
                                <a:lnTo>
                                  <a:pt x="365" y="38"/>
                                </a:lnTo>
                                <a:lnTo>
                                  <a:pt x="369" y="34"/>
                                </a:lnTo>
                                <a:lnTo>
                                  <a:pt x="382" y="27"/>
                                </a:lnTo>
                                <a:lnTo>
                                  <a:pt x="397" y="24"/>
                                </a:lnTo>
                                <a:lnTo>
                                  <a:pt x="405" y="24"/>
                                </a:lnTo>
                                <a:lnTo>
                                  <a:pt x="417" y="19"/>
                                </a:lnTo>
                                <a:lnTo>
                                  <a:pt x="423" y="19"/>
                                </a:lnTo>
                                <a:lnTo>
                                  <a:pt x="436" y="9"/>
                                </a:lnTo>
                                <a:lnTo>
                                  <a:pt x="440" y="11"/>
                                </a:lnTo>
                                <a:lnTo>
                                  <a:pt x="445" y="5"/>
                                </a:lnTo>
                                <a:lnTo>
                                  <a:pt x="449" y="3"/>
                                </a:lnTo>
                                <a:lnTo>
                                  <a:pt x="454" y="0"/>
                                </a:lnTo>
                                <a:lnTo>
                                  <a:pt x="454" y="8"/>
                                </a:lnTo>
                                <a:lnTo>
                                  <a:pt x="460" y="13"/>
                                </a:lnTo>
                                <a:lnTo>
                                  <a:pt x="464" y="21"/>
                                </a:lnTo>
                                <a:lnTo>
                                  <a:pt x="468" y="25"/>
                                </a:lnTo>
                                <a:lnTo>
                                  <a:pt x="472" y="25"/>
                                </a:lnTo>
                                <a:lnTo>
                                  <a:pt x="476" y="28"/>
                                </a:lnTo>
                                <a:lnTo>
                                  <a:pt x="482" y="28"/>
                                </a:lnTo>
                                <a:lnTo>
                                  <a:pt x="482" y="31"/>
                                </a:lnTo>
                                <a:lnTo>
                                  <a:pt x="509" y="31"/>
                                </a:lnTo>
                                <a:lnTo>
                                  <a:pt x="520" y="40"/>
                                </a:lnTo>
                                <a:lnTo>
                                  <a:pt x="523" y="40"/>
                                </a:lnTo>
                                <a:lnTo>
                                  <a:pt x="525" y="45"/>
                                </a:lnTo>
                                <a:lnTo>
                                  <a:pt x="532" y="42"/>
                                </a:lnTo>
                                <a:lnTo>
                                  <a:pt x="550" y="47"/>
                                </a:lnTo>
                                <a:lnTo>
                                  <a:pt x="546" y="56"/>
                                </a:lnTo>
                                <a:lnTo>
                                  <a:pt x="552" y="63"/>
                                </a:lnTo>
                                <a:lnTo>
                                  <a:pt x="531" y="79"/>
                                </a:lnTo>
                                <a:lnTo>
                                  <a:pt x="515" y="92"/>
                                </a:lnTo>
                                <a:lnTo>
                                  <a:pt x="494" y="111"/>
                                </a:lnTo>
                                <a:lnTo>
                                  <a:pt x="458" y="135"/>
                                </a:lnTo>
                                <a:lnTo>
                                  <a:pt x="424" y="151"/>
                                </a:lnTo>
                                <a:lnTo>
                                  <a:pt x="397" y="166"/>
                                </a:lnTo>
                                <a:lnTo>
                                  <a:pt x="379" y="170"/>
                                </a:lnTo>
                                <a:lnTo>
                                  <a:pt x="357" y="176"/>
                                </a:lnTo>
                                <a:lnTo>
                                  <a:pt x="339" y="180"/>
                                </a:lnTo>
                                <a:lnTo>
                                  <a:pt x="328" y="180"/>
                                </a:lnTo>
                                <a:lnTo>
                                  <a:pt x="310" y="185"/>
                                </a:lnTo>
                                <a:lnTo>
                                  <a:pt x="301" y="183"/>
                                </a:lnTo>
                                <a:lnTo>
                                  <a:pt x="284" y="186"/>
                                </a:lnTo>
                                <a:lnTo>
                                  <a:pt x="266" y="185"/>
                                </a:lnTo>
                                <a:lnTo>
                                  <a:pt x="244" y="186"/>
                                </a:lnTo>
                                <a:lnTo>
                                  <a:pt x="232" y="189"/>
                                </a:lnTo>
                                <a:lnTo>
                                  <a:pt x="218" y="185"/>
                                </a:lnTo>
                                <a:lnTo>
                                  <a:pt x="202" y="182"/>
                                </a:lnTo>
                                <a:lnTo>
                                  <a:pt x="185" y="183"/>
                                </a:lnTo>
                                <a:lnTo>
                                  <a:pt x="168" y="182"/>
                                </a:lnTo>
                                <a:lnTo>
                                  <a:pt x="152" y="179"/>
                                </a:lnTo>
                                <a:lnTo>
                                  <a:pt x="139" y="178"/>
                                </a:lnTo>
                                <a:lnTo>
                                  <a:pt x="128" y="178"/>
                                </a:lnTo>
                                <a:lnTo>
                                  <a:pt x="115" y="170"/>
                                </a:lnTo>
                                <a:lnTo>
                                  <a:pt x="98" y="163"/>
                                </a:lnTo>
                                <a:lnTo>
                                  <a:pt x="83" y="153"/>
                                </a:lnTo>
                                <a:lnTo>
                                  <a:pt x="67" y="144"/>
                                </a:lnTo>
                                <a:lnTo>
                                  <a:pt x="50" y="133"/>
                                </a:lnTo>
                                <a:lnTo>
                                  <a:pt x="35" y="121"/>
                                </a:lnTo>
                                <a:lnTo>
                                  <a:pt x="24" y="109"/>
                                </a:lnTo>
                                <a:lnTo>
                                  <a:pt x="13" y="99"/>
                                </a:lnTo>
                                <a:lnTo>
                                  <a:pt x="0" y="8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79" name="Freeform 16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105" y="2679"/>
                            <a:ext cx="55" cy="99"/>
                          </a:xfrm>
                          <a:custGeom>
                            <a:avLst/>
                            <a:gdLst>
                              <a:gd name="T0" fmla="*/ 1 w 110"/>
                              <a:gd name="T1" fmla="*/ 2 h 197"/>
                              <a:gd name="T2" fmla="*/ 1 w 110"/>
                              <a:gd name="T3" fmla="*/ 4 h 197"/>
                              <a:gd name="T4" fmla="*/ 1 w 110"/>
                              <a:gd name="T5" fmla="*/ 4 h 197"/>
                              <a:gd name="T6" fmla="*/ 0 w 110"/>
                              <a:gd name="T7" fmla="*/ 5 h 197"/>
                              <a:gd name="T8" fmla="*/ 0 w 110"/>
                              <a:gd name="T9" fmla="*/ 6 h 197"/>
                              <a:gd name="T10" fmla="*/ 1 w 110"/>
                              <a:gd name="T11" fmla="*/ 6 h 197"/>
                              <a:gd name="T12" fmla="*/ 1 w 110"/>
                              <a:gd name="T13" fmla="*/ 7 h 197"/>
                              <a:gd name="T14" fmla="*/ 1 w 110"/>
                              <a:gd name="T15" fmla="*/ 7 h 197"/>
                              <a:gd name="T16" fmla="*/ 1 w 110"/>
                              <a:gd name="T17" fmla="*/ 7 h 197"/>
                              <a:gd name="T18" fmla="*/ 2 w 110"/>
                              <a:gd name="T19" fmla="*/ 7 h 197"/>
                              <a:gd name="T20" fmla="*/ 2 w 110"/>
                              <a:gd name="T21" fmla="*/ 6 h 197"/>
                              <a:gd name="T22" fmla="*/ 2 w 110"/>
                              <a:gd name="T23" fmla="*/ 6 h 197"/>
                              <a:gd name="T24" fmla="*/ 2 w 110"/>
                              <a:gd name="T25" fmla="*/ 5 h 197"/>
                              <a:gd name="T26" fmla="*/ 2 w 110"/>
                              <a:gd name="T27" fmla="*/ 4 h 197"/>
                              <a:gd name="T28" fmla="*/ 3 w 110"/>
                              <a:gd name="T29" fmla="*/ 4 h 197"/>
                              <a:gd name="T30" fmla="*/ 3 w 110"/>
                              <a:gd name="T31" fmla="*/ 4 h 197"/>
                              <a:gd name="T32" fmla="*/ 3 w 110"/>
                              <a:gd name="T33" fmla="*/ 3 h 197"/>
                              <a:gd name="T34" fmla="*/ 3 w 110"/>
                              <a:gd name="T35" fmla="*/ 3 h 197"/>
                              <a:gd name="T36" fmla="*/ 3 w 110"/>
                              <a:gd name="T37" fmla="*/ 2 h 197"/>
                              <a:gd name="T38" fmla="*/ 3 w 110"/>
                              <a:gd name="T39" fmla="*/ 2 h 197"/>
                              <a:gd name="T40" fmla="*/ 3 w 110"/>
                              <a:gd name="T41" fmla="*/ 2 h 197"/>
                              <a:gd name="T42" fmla="*/ 4 w 110"/>
                              <a:gd name="T43" fmla="*/ 2 h 197"/>
                              <a:gd name="T44" fmla="*/ 4 w 110"/>
                              <a:gd name="T45" fmla="*/ 1 h 197"/>
                              <a:gd name="T46" fmla="*/ 4 w 110"/>
                              <a:gd name="T47" fmla="*/ 1 h 197"/>
                              <a:gd name="T48" fmla="*/ 4 w 110"/>
                              <a:gd name="T49" fmla="*/ 1 h 197"/>
                              <a:gd name="T50" fmla="*/ 3 w 110"/>
                              <a:gd name="T51" fmla="*/ 0 h 197"/>
                              <a:gd name="T52" fmla="*/ 3 w 110"/>
                              <a:gd name="T53" fmla="*/ 1 h 197"/>
                              <a:gd name="T54" fmla="*/ 3 w 110"/>
                              <a:gd name="T55" fmla="*/ 1 h 197"/>
                              <a:gd name="T56" fmla="*/ 3 w 110"/>
                              <a:gd name="T57" fmla="*/ 2 h 197"/>
                              <a:gd name="T58" fmla="*/ 2 w 110"/>
                              <a:gd name="T59" fmla="*/ 2 h 197"/>
                              <a:gd name="T60" fmla="*/ 2 w 110"/>
                              <a:gd name="T61" fmla="*/ 2 h 197"/>
                              <a:gd name="T62" fmla="*/ 2 w 110"/>
                              <a:gd name="T63" fmla="*/ 2 h 197"/>
                              <a:gd name="T64" fmla="*/ 2 w 110"/>
                              <a:gd name="T65" fmla="*/ 2 h 197"/>
                              <a:gd name="T66" fmla="*/ 1 w 110"/>
                              <a:gd name="T67" fmla="*/ 2 h 197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w 110"/>
                              <a:gd name="T103" fmla="*/ 0 h 197"/>
                              <a:gd name="T104" fmla="*/ 110 w 110"/>
                              <a:gd name="T105" fmla="*/ 197 h 197"/>
                            </a:gdLst>
                            <a:ahLst/>
                            <a:cxnLst>
                              <a:cxn ang="T68">
                                <a:pos x="T0" y="T1"/>
                              </a:cxn>
                              <a:cxn ang="T69">
                                <a:pos x="T2" y="T3"/>
                              </a:cxn>
                              <a:cxn ang="T70">
                                <a:pos x="T4" y="T5"/>
                              </a:cxn>
                              <a:cxn ang="T71">
                                <a:pos x="T6" y="T7"/>
                              </a:cxn>
                              <a:cxn ang="T72">
                                <a:pos x="T8" y="T9"/>
                              </a:cxn>
                              <a:cxn ang="T73">
                                <a:pos x="T10" y="T11"/>
                              </a:cxn>
                              <a:cxn ang="T74">
                                <a:pos x="T12" y="T13"/>
                              </a:cxn>
                              <a:cxn ang="T75">
                                <a:pos x="T14" y="T15"/>
                              </a:cxn>
                              <a:cxn ang="T76">
                                <a:pos x="T16" y="T17"/>
                              </a:cxn>
                              <a:cxn ang="T77">
                                <a:pos x="T18" y="T19"/>
                              </a:cxn>
                              <a:cxn ang="T78">
                                <a:pos x="T20" y="T21"/>
                              </a:cxn>
                              <a:cxn ang="T79">
                                <a:pos x="T22" y="T23"/>
                              </a:cxn>
                              <a:cxn ang="T80">
                                <a:pos x="T24" y="T25"/>
                              </a:cxn>
                              <a:cxn ang="T81">
                                <a:pos x="T26" y="T27"/>
                              </a:cxn>
                              <a:cxn ang="T82">
                                <a:pos x="T28" y="T29"/>
                              </a:cxn>
                              <a:cxn ang="T83">
                                <a:pos x="T30" y="T31"/>
                              </a:cxn>
                              <a:cxn ang="T84">
                                <a:pos x="T32" y="T33"/>
                              </a:cxn>
                              <a:cxn ang="T85">
                                <a:pos x="T34" y="T35"/>
                              </a:cxn>
                              <a:cxn ang="T86">
                                <a:pos x="T36" y="T37"/>
                              </a:cxn>
                              <a:cxn ang="T87">
                                <a:pos x="T38" y="T39"/>
                              </a:cxn>
                              <a:cxn ang="T88">
                                <a:pos x="T40" y="T41"/>
                              </a:cxn>
                              <a:cxn ang="T89">
                                <a:pos x="T42" y="T43"/>
                              </a:cxn>
                              <a:cxn ang="T90">
                                <a:pos x="T44" y="T45"/>
                              </a:cxn>
                              <a:cxn ang="T91">
                                <a:pos x="T46" y="T47"/>
                              </a:cxn>
                              <a:cxn ang="T92">
                                <a:pos x="T48" y="T49"/>
                              </a:cxn>
                              <a:cxn ang="T93">
                                <a:pos x="T50" y="T51"/>
                              </a:cxn>
                              <a:cxn ang="T94">
                                <a:pos x="T52" y="T53"/>
                              </a:cxn>
                              <a:cxn ang="T95">
                                <a:pos x="T54" y="T55"/>
                              </a:cxn>
                              <a:cxn ang="T96">
                                <a:pos x="T56" y="T57"/>
                              </a:cxn>
                              <a:cxn ang="T97">
                                <a:pos x="T58" y="T59"/>
                              </a:cxn>
                              <a:cxn ang="T98">
                                <a:pos x="T60" y="T61"/>
                              </a:cxn>
                              <a:cxn ang="T99">
                                <a:pos x="T62" y="T63"/>
                              </a:cxn>
                              <a:cxn ang="T100">
                                <a:pos x="T64" y="T65"/>
                              </a:cxn>
                              <a:cxn ang="T101">
                                <a:pos x="T66" y="T67"/>
                              </a:cxn>
                            </a:cxnLst>
                            <a:rect l="T102" t="T103" r="T104" b="T105"/>
                            <a:pathLst>
                              <a:path w="110" h="197">
                                <a:moveTo>
                                  <a:pt x="21" y="62"/>
                                </a:moveTo>
                                <a:lnTo>
                                  <a:pt x="18" y="101"/>
                                </a:lnTo>
                                <a:lnTo>
                                  <a:pt x="8" y="126"/>
                                </a:lnTo>
                                <a:lnTo>
                                  <a:pt x="0" y="149"/>
                                </a:lnTo>
                                <a:lnTo>
                                  <a:pt x="0" y="167"/>
                                </a:lnTo>
                                <a:lnTo>
                                  <a:pt x="3" y="181"/>
                                </a:lnTo>
                                <a:lnTo>
                                  <a:pt x="12" y="194"/>
                                </a:lnTo>
                                <a:lnTo>
                                  <a:pt x="21" y="196"/>
                                </a:lnTo>
                                <a:lnTo>
                                  <a:pt x="28" y="196"/>
                                </a:lnTo>
                                <a:lnTo>
                                  <a:pt x="36" y="197"/>
                                </a:lnTo>
                                <a:lnTo>
                                  <a:pt x="40" y="187"/>
                                </a:lnTo>
                                <a:lnTo>
                                  <a:pt x="44" y="161"/>
                                </a:lnTo>
                                <a:lnTo>
                                  <a:pt x="56" y="144"/>
                                </a:lnTo>
                                <a:lnTo>
                                  <a:pt x="59" y="117"/>
                                </a:lnTo>
                                <a:lnTo>
                                  <a:pt x="65" y="107"/>
                                </a:lnTo>
                                <a:lnTo>
                                  <a:pt x="70" y="100"/>
                                </a:lnTo>
                                <a:lnTo>
                                  <a:pt x="74" y="81"/>
                                </a:lnTo>
                                <a:lnTo>
                                  <a:pt x="82" y="69"/>
                                </a:lnTo>
                                <a:lnTo>
                                  <a:pt x="88" y="61"/>
                                </a:lnTo>
                                <a:lnTo>
                                  <a:pt x="93" y="53"/>
                                </a:lnTo>
                                <a:lnTo>
                                  <a:pt x="93" y="49"/>
                                </a:lnTo>
                                <a:lnTo>
                                  <a:pt x="106" y="39"/>
                                </a:lnTo>
                                <a:lnTo>
                                  <a:pt x="107" y="22"/>
                                </a:lnTo>
                                <a:lnTo>
                                  <a:pt x="110" y="11"/>
                                </a:lnTo>
                                <a:lnTo>
                                  <a:pt x="99" y="7"/>
                                </a:lnTo>
                                <a:lnTo>
                                  <a:pt x="92" y="0"/>
                                </a:lnTo>
                                <a:lnTo>
                                  <a:pt x="82" y="7"/>
                                </a:lnTo>
                                <a:lnTo>
                                  <a:pt x="74" y="24"/>
                                </a:lnTo>
                                <a:lnTo>
                                  <a:pt x="65" y="38"/>
                                </a:lnTo>
                                <a:lnTo>
                                  <a:pt x="56" y="48"/>
                                </a:lnTo>
                                <a:lnTo>
                                  <a:pt x="52" y="48"/>
                                </a:lnTo>
                                <a:lnTo>
                                  <a:pt x="44" y="53"/>
                                </a:lnTo>
                                <a:lnTo>
                                  <a:pt x="40" y="59"/>
                                </a:lnTo>
                                <a:lnTo>
                                  <a:pt x="21" y="62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80" name="Freeform 16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840" y="2113"/>
                            <a:ext cx="751" cy="469"/>
                          </a:xfrm>
                          <a:custGeom>
                            <a:avLst/>
                            <a:gdLst>
                              <a:gd name="T0" fmla="*/ 2 w 1503"/>
                              <a:gd name="T1" fmla="*/ 13 h 936"/>
                              <a:gd name="T2" fmla="*/ 3 w 1503"/>
                              <a:gd name="T3" fmla="*/ 11 h 936"/>
                              <a:gd name="T4" fmla="*/ 4 w 1503"/>
                              <a:gd name="T5" fmla="*/ 9 h 936"/>
                              <a:gd name="T6" fmla="*/ 6 w 1503"/>
                              <a:gd name="T7" fmla="*/ 9 h 936"/>
                              <a:gd name="T8" fmla="*/ 7 w 1503"/>
                              <a:gd name="T9" fmla="*/ 8 h 936"/>
                              <a:gd name="T10" fmla="*/ 9 w 1503"/>
                              <a:gd name="T11" fmla="*/ 6 h 936"/>
                              <a:gd name="T12" fmla="*/ 10 w 1503"/>
                              <a:gd name="T13" fmla="*/ 5 h 936"/>
                              <a:gd name="T14" fmla="*/ 10 w 1503"/>
                              <a:gd name="T15" fmla="*/ 4 h 936"/>
                              <a:gd name="T16" fmla="*/ 10 w 1503"/>
                              <a:gd name="T17" fmla="*/ 3 h 936"/>
                              <a:gd name="T18" fmla="*/ 8 w 1503"/>
                              <a:gd name="T19" fmla="*/ 4 h 936"/>
                              <a:gd name="T20" fmla="*/ 8 w 1503"/>
                              <a:gd name="T21" fmla="*/ 7 h 936"/>
                              <a:gd name="T22" fmla="*/ 7 w 1503"/>
                              <a:gd name="T23" fmla="*/ 7 h 936"/>
                              <a:gd name="T24" fmla="*/ 6 w 1503"/>
                              <a:gd name="T25" fmla="*/ 6 h 936"/>
                              <a:gd name="T26" fmla="*/ 5 w 1503"/>
                              <a:gd name="T27" fmla="*/ 7 h 936"/>
                              <a:gd name="T28" fmla="*/ 4 w 1503"/>
                              <a:gd name="T29" fmla="*/ 6 h 936"/>
                              <a:gd name="T30" fmla="*/ 5 w 1503"/>
                              <a:gd name="T31" fmla="*/ 5 h 936"/>
                              <a:gd name="T32" fmla="*/ 6 w 1503"/>
                              <a:gd name="T33" fmla="*/ 4 h 936"/>
                              <a:gd name="T34" fmla="*/ 7 w 1503"/>
                              <a:gd name="T35" fmla="*/ 3 h 936"/>
                              <a:gd name="T36" fmla="*/ 9 w 1503"/>
                              <a:gd name="T37" fmla="*/ 1 h 936"/>
                              <a:gd name="T38" fmla="*/ 11 w 1503"/>
                              <a:gd name="T39" fmla="*/ 1 h 936"/>
                              <a:gd name="T40" fmla="*/ 14 w 1503"/>
                              <a:gd name="T41" fmla="*/ 2 h 936"/>
                              <a:gd name="T42" fmla="*/ 13 w 1503"/>
                              <a:gd name="T43" fmla="*/ 4 h 936"/>
                              <a:gd name="T44" fmla="*/ 14 w 1503"/>
                              <a:gd name="T45" fmla="*/ 5 h 936"/>
                              <a:gd name="T46" fmla="*/ 15 w 1503"/>
                              <a:gd name="T47" fmla="*/ 4 h 936"/>
                              <a:gd name="T48" fmla="*/ 19 w 1503"/>
                              <a:gd name="T49" fmla="*/ 4 h 936"/>
                              <a:gd name="T50" fmla="*/ 23 w 1503"/>
                              <a:gd name="T51" fmla="*/ 1 h 936"/>
                              <a:gd name="T52" fmla="*/ 31 w 1503"/>
                              <a:gd name="T53" fmla="*/ 2 h 936"/>
                              <a:gd name="T54" fmla="*/ 44 w 1503"/>
                              <a:gd name="T55" fmla="*/ 4 h 936"/>
                              <a:gd name="T56" fmla="*/ 45 w 1503"/>
                              <a:gd name="T57" fmla="*/ 5 h 936"/>
                              <a:gd name="T58" fmla="*/ 45 w 1503"/>
                              <a:gd name="T59" fmla="*/ 9 h 936"/>
                              <a:gd name="T60" fmla="*/ 42 w 1503"/>
                              <a:gd name="T61" fmla="*/ 6 h 936"/>
                              <a:gd name="T62" fmla="*/ 39 w 1503"/>
                              <a:gd name="T63" fmla="*/ 8 h 936"/>
                              <a:gd name="T64" fmla="*/ 43 w 1503"/>
                              <a:gd name="T65" fmla="*/ 13 h 936"/>
                              <a:gd name="T66" fmla="*/ 41 w 1503"/>
                              <a:gd name="T67" fmla="*/ 16 h 936"/>
                              <a:gd name="T68" fmla="*/ 44 w 1503"/>
                              <a:gd name="T69" fmla="*/ 21 h 936"/>
                              <a:gd name="T70" fmla="*/ 41 w 1503"/>
                              <a:gd name="T71" fmla="*/ 24 h 936"/>
                              <a:gd name="T72" fmla="*/ 40 w 1503"/>
                              <a:gd name="T73" fmla="*/ 26 h 936"/>
                              <a:gd name="T74" fmla="*/ 40 w 1503"/>
                              <a:gd name="T75" fmla="*/ 28 h 936"/>
                              <a:gd name="T76" fmla="*/ 39 w 1503"/>
                              <a:gd name="T77" fmla="*/ 28 h 936"/>
                              <a:gd name="T78" fmla="*/ 36 w 1503"/>
                              <a:gd name="T79" fmla="*/ 24 h 936"/>
                              <a:gd name="T80" fmla="*/ 32 w 1503"/>
                              <a:gd name="T81" fmla="*/ 23 h 936"/>
                              <a:gd name="T82" fmla="*/ 30 w 1503"/>
                              <a:gd name="T83" fmla="*/ 26 h 936"/>
                              <a:gd name="T84" fmla="*/ 24 w 1503"/>
                              <a:gd name="T85" fmla="*/ 20 h 936"/>
                              <a:gd name="T86" fmla="*/ 18 w 1503"/>
                              <a:gd name="T87" fmla="*/ 18 h 936"/>
                              <a:gd name="T88" fmla="*/ 23 w 1503"/>
                              <a:gd name="T89" fmla="*/ 22 h 936"/>
                              <a:gd name="T90" fmla="*/ 17 w 1503"/>
                              <a:gd name="T91" fmla="*/ 25 h 936"/>
                              <a:gd name="T92" fmla="*/ 15 w 1503"/>
                              <a:gd name="T93" fmla="*/ 22 h 936"/>
                              <a:gd name="T94" fmla="*/ 13 w 1503"/>
                              <a:gd name="T95" fmla="*/ 19 h 936"/>
                              <a:gd name="T96" fmla="*/ 11 w 1503"/>
                              <a:gd name="T97" fmla="*/ 16 h 936"/>
                              <a:gd name="T98" fmla="*/ 11 w 1503"/>
                              <a:gd name="T99" fmla="*/ 15 h 936"/>
                              <a:gd name="T100" fmla="*/ 10 w 1503"/>
                              <a:gd name="T101" fmla="*/ 14 h 936"/>
                              <a:gd name="T102" fmla="*/ 9 w 1503"/>
                              <a:gd name="T103" fmla="*/ 15 h 936"/>
                              <a:gd name="T104" fmla="*/ 8 w 1503"/>
                              <a:gd name="T105" fmla="*/ 13 h 936"/>
                              <a:gd name="T106" fmla="*/ 7 w 1503"/>
                              <a:gd name="T107" fmla="*/ 13 h 936"/>
                              <a:gd name="T108" fmla="*/ 8 w 1503"/>
                              <a:gd name="T109" fmla="*/ 14 h 936"/>
                              <a:gd name="T110" fmla="*/ 8 w 1503"/>
                              <a:gd name="T111" fmla="*/ 15 h 936"/>
                              <a:gd name="T112" fmla="*/ 6 w 1503"/>
                              <a:gd name="T113" fmla="*/ 14 h 936"/>
                              <a:gd name="T114" fmla="*/ 5 w 1503"/>
                              <a:gd name="T115" fmla="*/ 13 h 936"/>
                              <a:gd name="T116" fmla="*/ 3 w 1503"/>
                              <a:gd name="T117" fmla="*/ 14 h 936"/>
                              <a:gd name="T118" fmla="*/ 3 w 1503"/>
                              <a:gd name="T119" fmla="*/ 15 h 936"/>
                              <a:gd name="T120" fmla="*/ 2 w 1503"/>
                              <a:gd name="T121" fmla="*/ 16 h 936"/>
                              <a:gd name="T122" fmla="*/ 0 w 1503"/>
                              <a:gd name="T123" fmla="*/ 15 h 9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60000 65536"/>
                              <a:gd name="T163" fmla="*/ 0 60000 65536"/>
                              <a:gd name="T164" fmla="*/ 0 60000 65536"/>
                              <a:gd name="T165" fmla="*/ 0 60000 65536"/>
                              <a:gd name="T166" fmla="*/ 0 60000 65536"/>
                              <a:gd name="T167" fmla="*/ 0 60000 65536"/>
                              <a:gd name="T168" fmla="*/ 0 60000 65536"/>
                              <a:gd name="T169" fmla="*/ 0 60000 65536"/>
                              <a:gd name="T170" fmla="*/ 0 60000 65536"/>
                              <a:gd name="T171" fmla="*/ 0 60000 65536"/>
                              <a:gd name="T172" fmla="*/ 0 60000 65536"/>
                              <a:gd name="T173" fmla="*/ 0 60000 65536"/>
                              <a:gd name="T174" fmla="*/ 0 60000 65536"/>
                              <a:gd name="T175" fmla="*/ 0 60000 65536"/>
                              <a:gd name="T176" fmla="*/ 0 60000 65536"/>
                              <a:gd name="T177" fmla="*/ 0 60000 65536"/>
                              <a:gd name="T178" fmla="*/ 0 60000 65536"/>
                              <a:gd name="T179" fmla="*/ 0 60000 65536"/>
                              <a:gd name="T180" fmla="*/ 0 60000 65536"/>
                              <a:gd name="T181" fmla="*/ 0 60000 65536"/>
                              <a:gd name="T182" fmla="*/ 0 60000 65536"/>
                              <a:gd name="T183" fmla="*/ 0 60000 65536"/>
                              <a:gd name="T184" fmla="*/ 0 60000 65536"/>
                              <a:gd name="T185" fmla="*/ 0 60000 65536"/>
                              <a:gd name="T186" fmla="*/ 0 w 1503"/>
                              <a:gd name="T187" fmla="*/ 0 h 936"/>
                              <a:gd name="T188" fmla="*/ 1503 w 1503"/>
                              <a:gd name="T189" fmla="*/ 936 h 936"/>
                            </a:gdLst>
                            <a:ahLst/>
                            <a:cxnLst>
                              <a:cxn ang="T124">
                                <a:pos x="T0" y="T1"/>
                              </a:cxn>
                              <a:cxn ang="T125">
                                <a:pos x="T2" y="T3"/>
                              </a:cxn>
                              <a:cxn ang="T126">
                                <a:pos x="T4" y="T5"/>
                              </a:cxn>
                              <a:cxn ang="T127">
                                <a:pos x="T6" y="T7"/>
                              </a:cxn>
                              <a:cxn ang="T128">
                                <a:pos x="T8" y="T9"/>
                              </a:cxn>
                              <a:cxn ang="T129">
                                <a:pos x="T10" y="T11"/>
                              </a:cxn>
                              <a:cxn ang="T130">
                                <a:pos x="T12" y="T13"/>
                              </a:cxn>
                              <a:cxn ang="T131">
                                <a:pos x="T14" y="T15"/>
                              </a:cxn>
                              <a:cxn ang="T132">
                                <a:pos x="T16" y="T17"/>
                              </a:cxn>
                              <a:cxn ang="T133">
                                <a:pos x="T18" y="T19"/>
                              </a:cxn>
                              <a:cxn ang="T134">
                                <a:pos x="T20" y="T21"/>
                              </a:cxn>
                              <a:cxn ang="T135">
                                <a:pos x="T22" y="T23"/>
                              </a:cxn>
                              <a:cxn ang="T136">
                                <a:pos x="T24" y="T25"/>
                              </a:cxn>
                              <a:cxn ang="T137">
                                <a:pos x="T26" y="T27"/>
                              </a:cxn>
                              <a:cxn ang="T138">
                                <a:pos x="T28" y="T29"/>
                              </a:cxn>
                              <a:cxn ang="T139">
                                <a:pos x="T30" y="T31"/>
                              </a:cxn>
                              <a:cxn ang="T140">
                                <a:pos x="T32" y="T33"/>
                              </a:cxn>
                              <a:cxn ang="T141">
                                <a:pos x="T34" y="T35"/>
                              </a:cxn>
                              <a:cxn ang="T142">
                                <a:pos x="T36" y="T37"/>
                              </a:cxn>
                              <a:cxn ang="T143">
                                <a:pos x="T38" y="T39"/>
                              </a:cxn>
                              <a:cxn ang="T144">
                                <a:pos x="T40" y="T41"/>
                              </a:cxn>
                              <a:cxn ang="T145">
                                <a:pos x="T42" y="T43"/>
                              </a:cxn>
                              <a:cxn ang="T146">
                                <a:pos x="T44" y="T45"/>
                              </a:cxn>
                              <a:cxn ang="T147">
                                <a:pos x="T46" y="T47"/>
                              </a:cxn>
                              <a:cxn ang="T148">
                                <a:pos x="T48" y="T49"/>
                              </a:cxn>
                              <a:cxn ang="T149">
                                <a:pos x="T50" y="T51"/>
                              </a:cxn>
                              <a:cxn ang="T150">
                                <a:pos x="T52" y="T53"/>
                              </a:cxn>
                              <a:cxn ang="T151">
                                <a:pos x="T54" y="T55"/>
                              </a:cxn>
                              <a:cxn ang="T152">
                                <a:pos x="T56" y="T57"/>
                              </a:cxn>
                              <a:cxn ang="T153">
                                <a:pos x="T58" y="T59"/>
                              </a:cxn>
                              <a:cxn ang="T154">
                                <a:pos x="T60" y="T61"/>
                              </a:cxn>
                              <a:cxn ang="T155">
                                <a:pos x="T62" y="T63"/>
                              </a:cxn>
                              <a:cxn ang="T156">
                                <a:pos x="T64" y="T65"/>
                              </a:cxn>
                              <a:cxn ang="T157">
                                <a:pos x="T66" y="T67"/>
                              </a:cxn>
                              <a:cxn ang="T158">
                                <a:pos x="T68" y="T69"/>
                              </a:cxn>
                              <a:cxn ang="T159">
                                <a:pos x="T70" y="T71"/>
                              </a:cxn>
                              <a:cxn ang="T160">
                                <a:pos x="T72" y="T73"/>
                              </a:cxn>
                              <a:cxn ang="T161">
                                <a:pos x="T74" y="T75"/>
                              </a:cxn>
                              <a:cxn ang="T162">
                                <a:pos x="T76" y="T77"/>
                              </a:cxn>
                              <a:cxn ang="T163">
                                <a:pos x="T78" y="T79"/>
                              </a:cxn>
                              <a:cxn ang="T164">
                                <a:pos x="T80" y="T81"/>
                              </a:cxn>
                              <a:cxn ang="T165">
                                <a:pos x="T82" y="T83"/>
                              </a:cxn>
                              <a:cxn ang="T166">
                                <a:pos x="T84" y="T85"/>
                              </a:cxn>
                              <a:cxn ang="T167">
                                <a:pos x="T86" y="T87"/>
                              </a:cxn>
                              <a:cxn ang="T168">
                                <a:pos x="T88" y="T89"/>
                              </a:cxn>
                              <a:cxn ang="T169">
                                <a:pos x="T90" y="T91"/>
                              </a:cxn>
                              <a:cxn ang="T170">
                                <a:pos x="T92" y="T93"/>
                              </a:cxn>
                              <a:cxn ang="T171">
                                <a:pos x="T94" y="T95"/>
                              </a:cxn>
                              <a:cxn ang="T172">
                                <a:pos x="T96" y="T97"/>
                              </a:cxn>
                              <a:cxn ang="T173">
                                <a:pos x="T98" y="T99"/>
                              </a:cxn>
                              <a:cxn ang="T174">
                                <a:pos x="T100" y="T101"/>
                              </a:cxn>
                              <a:cxn ang="T175">
                                <a:pos x="T102" y="T103"/>
                              </a:cxn>
                              <a:cxn ang="T176">
                                <a:pos x="T104" y="T105"/>
                              </a:cxn>
                              <a:cxn ang="T177">
                                <a:pos x="T106" y="T107"/>
                              </a:cxn>
                              <a:cxn ang="T178">
                                <a:pos x="T108" y="T109"/>
                              </a:cxn>
                              <a:cxn ang="T179">
                                <a:pos x="T110" y="T111"/>
                              </a:cxn>
                              <a:cxn ang="T180">
                                <a:pos x="T112" y="T113"/>
                              </a:cxn>
                              <a:cxn ang="T181">
                                <a:pos x="T114" y="T115"/>
                              </a:cxn>
                              <a:cxn ang="T182">
                                <a:pos x="T116" y="T117"/>
                              </a:cxn>
                              <a:cxn ang="T183">
                                <a:pos x="T118" y="T119"/>
                              </a:cxn>
                              <a:cxn ang="T184">
                                <a:pos x="T120" y="T121"/>
                              </a:cxn>
                              <a:cxn ang="T185">
                                <a:pos x="T122" y="T123"/>
                              </a:cxn>
                            </a:cxnLst>
                            <a:rect l="T186" t="T187" r="T188" b="T189"/>
                            <a:pathLst>
                              <a:path w="1503" h="936">
                                <a:moveTo>
                                  <a:pt x="0" y="419"/>
                                </a:moveTo>
                                <a:lnTo>
                                  <a:pt x="14" y="406"/>
                                </a:lnTo>
                                <a:lnTo>
                                  <a:pt x="22" y="396"/>
                                </a:lnTo>
                                <a:lnTo>
                                  <a:pt x="40" y="396"/>
                                </a:lnTo>
                                <a:lnTo>
                                  <a:pt x="59" y="399"/>
                                </a:lnTo>
                                <a:lnTo>
                                  <a:pt x="73" y="393"/>
                                </a:lnTo>
                                <a:lnTo>
                                  <a:pt x="88" y="392"/>
                                </a:lnTo>
                                <a:lnTo>
                                  <a:pt x="90" y="374"/>
                                </a:lnTo>
                                <a:lnTo>
                                  <a:pt x="98" y="363"/>
                                </a:lnTo>
                                <a:lnTo>
                                  <a:pt x="77" y="350"/>
                                </a:lnTo>
                                <a:lnTo>
                                  <a:pt x="74" y="339"/>
                                </a:lnTo>
                                <a:lnTo>
                                  <a:pt x="76" y="325"/>
                                </a:lnTo>
                                <a:lnTo>
                                  <a:pt x="91" y="325"/>
                                </a:lnTo>
                                <a:lnTo>
                                  <a:pt x="101" y="323"/>
                                </a:lnTo>
                                <a:lnTo>
                                  <a:pt x="102" y="325"/>
                                </a:lnTo>
                                <a:lnTo>
                                  <a:pt x="113" y="316"/>
                                </a:lnTo>
                                <a:lnTo>
                                  <a:pt x="124" y="312"/>
                                </a:lnTo>
                                <a:lnTo>
                                  <a:pt x="128" y="312"/>
                                </a:lnTo>
                                <a:lnTo>
                                  <a:pt x="135" y="303"/>
                                </a:lnTo>
                                <a:lnTo>
                                  <a:pt x="143" y="300"/>
                                </a:lnTo>
                                <a:lnTo>
                                  <a:pt x="151" y="284"/>
                                </a:lnTo>
                                <a:lnTo>
                                  <a:pt x="157" y="289"/>
                                </a:lnTo>
                                <a:lnTo>
                                  <a:pt x="168" y="278"/>
                                </a:lnTo>
                                <a:lnTo>
                                  <a:pt x="169" y="278"/>
                                </a:lnTo>
                                <a:lnTo>
                                  <a:pt x="183" y="267"/>
                                </a:lnTo>
                                <a:lnTo>
                                  <a:pt x="191" y="265"/>
                                </a:lnTo>
                                <a:lnTo>
                                  <a:pt x="202" y="265"/>
                                </a:lnTo>
                                <a:lnTo>
                                  <a:pt x="209" y="265"/>
                                </a:lnTo>
                                <a:lnTo>
                                  <a:pt x="203" y="251"/>
                                </a:lnTo>
                                <a:lnTo>
                                  <a:pt x="201" y="239"/>
                                </a:lnTo>
                                <a:lnTo>
                                  <a:pt x="198" y="214"/>
                                </a:lnTo>
                                <a:lnTo>
                                  <a:pt x="214" y="213"/>
                                </a:lnTo>
                                <a:lnTo>
                                  <a:pt x="223" y="209"/>
                                </a:lnTo>
                                <a:lnTo>
                                  <a:pt x="218" y="219"/>
                                </a:lnTo>
                                <a:lnTo>
                                  <a:pt x="225" y="226"/>
                                </a:lnTo>
                                <a:lnTo>
                                  <a:pt x="232" y="235"/>
                                </a:lnTo>
                                <a:lnTo>
                                  <a:pt x="236" y="241"/>
                                </a:lnTo>
                                <a:lnTo>
                                  <a:pt x="255" y="239"/>
                                </a:lnTo>
                                <a:lnTo>
                                  <a:pt x="272" y="217"/>
                                </a:lnTo>
                                <a:lnTo>
                                  <a:pt x="284" y="207"/>
                                </a:lnTo>
                                <a:lnTo>
                                  <a:pt x="291" y="200"/>
                                </a:lnTo>
                                <a:lnTo>
                                  <a:pt x="299" y="191"/>
                                </a:lnTo>
                                <a:lnTo>
                                  <a:pt x="308" y="180"/>
                                </a:lnTo>
                                <a:lnTo>
                                  <a:pt x="314" y="184"/>
                                </a:lnTo>
                                <a:lnTo>
                                  <a:pt x="314" y="177"/>
                                </a:lnTo>
                                <a:lnTo>
                                  <a:pt x="319" y="172"/>
                                </a:lnTo>
                                <a:lnTo>
                                  <a:pt x="331" y="175"/>
                                </a:lnTo>
                                <a:lnTo>
                                  <a:pt x="351" y="194"/>
                                </a:lnTo>
                                <a:lnTo>
                                  <a:pt x="347" y="142"/>
                                </a:lnTo>
                                <a:lnTo>
                                  <a:pt x="330" y="165"/>
                                </a:lnTo>
                                <a:lnTo>
                                  <a:pt x="316" y="164"/>
                                </a:lnTo>
                                <a:lnTo>
                                  <a:pt x="312" y="149"/>
                                </a:lnTo>
                                <a:lnTo>
                                  <a:pt x="312" y="142"/>
                                </a:lnTo>
                                <a:lnTo>
                                  <a:pt x="308" y="138"/>
                                </a:lnTo>
                                <a:lnTo>
                                  <a:pt x="319" y="126"/>
                                </a:lnTo>
                                <a:lnTo>
                                  <a:pt x="325" y="117"/>
                                </a:lnTo>
                                <a:lnTo>
                                  <a:pt x="332" y="114"/>
                                </a:lnTo>
                                <a:lnTo>
                                  <a:pt x="338" y="113"/>
                                </a:lnTo>
                                <a:lnTo>
                                  <a:pt x="342" y="106"/>
                                </a:lnTo>
                                <a:lnTo>
                                  <a:pt x="347" y="104"/>
                                </a:lnTo>
                                <a:lnTo>
                                  <a:pt x="354" y="104"/>
                                </a:lnTo>
                                <a:lnTo>
                                  <a:pt x="342" y="91"/>
                                </a:lnTo>
                                <a:lnTo>
                                  <a:pt x="330" y="94"/>
                                </a:lnTo>
                                <a:lnTo>
                                  <a:pt x="321" y="94"/>
                                </a:lnTo>
                                <a:lnTo>
                                  <a:pt x="314" y="90"/>
                                </a:lnTo>
                                <a:lnTo>
                                  <a:pt x="314" y="98"/>
                                </a:lnTo>
                                <a:lnTo>
                                  <a:pt x="308" y="107"/>
                                </a:lnTo>
                                <a:lnTo>
                                  <a:pt x="298" y="122"/>
                                </a:lnTo>
                                <a:lnTo>
                                  <a:pt x="288" y="127"/>
                                </a:lnTo>
                                <a:lnTo>
                                  <a:pt x="282" y="127"/>
                                </a:lnTo>
                                <a:lnTo>
                                  <a:pt x="279" y="138"/>
                                </a:lnTo>
                                <a:lnTo>
                                  <a:pt x="279" y="142"/>
                                </a:lnTo>
                                <a:lnTo>
                                  <a:pt x="273" y="146"/>
                                </a:lnTo>
                                <a:lnTo>
                                  <a:pt x="280" y="164"/>
                                </a:lnTo>
                                <a:lnTo>
                                  <a:pt x="284" y="172"/>
                                </a:lnTo>
                                <a:lnTo>
                                  <a:pt x="276" y="185"/>
                                </a:lnTo>
                                <a:lnTo>
                                  <a:pt x="266" y="194"/>
                                </a:lnTo>
                                <a:lnTo>
                                  <a:pt x="264" y="207"/>
                                </a:lnTo>
                                <a:lnTo>
                                  <a:pt x="258" y="217"/>
                                </a:lnTo>
                                <a:lnTo>
                                  <a:pt x="253" y="217"/>
                                </a:lnTo>
                                <a:lnTo>
                                  <a:pt x="244" y="219"/>
                                </a:lnTo>
                                <a:lnTo>
                                  <a:pt x="236" y="223"/>
                                </a:lnTo>
                                <a:lnTo>
                                  <a:pt x="234" y="222"/>
                                </a:lnTo>
                                <a:lnTo>
                                  <a:pt x="234" y="214"/>
                                </a:lnTo>
                                <a:lnTo>
                                  <a:pt x="232" y="203"/>
                                </a:lnTo>
                                <a:lnTo>
                                  <a:pt x="225" y="203"/>
                                </a:lnTo>
                                <a:lnTo>
                                  <a:pt x="221" y="196"/>
                                </a:lnTo>
                                <a:lnTo>
                                  <a:pt x="223" y="185"/>
                                </a:lnTo>
                                <a:lnTo>
                                  <a:pt x="224" y="180"/>
                                </a:lnTo>
                                <a:lnTo>
                                  <a:pt x="223" y="177"/>
                                </a:lnTo>
                                <a:lnTo>
                                  <a:pt x="217" y="180"/>
                                </a:lnTo>
                                <a:lnTo>
                                  <a:pt x="214" y="180"/>
                                </a:lnTo>
                                <a:lnTo>
                                  <a:pt x="210" y="178"/>
                                </a:lnTo>
                                <a:lnTo>
                                  <a:pt x="207" y="177"/>
                                </a:lnTo>
                                <a:lnTo>
                                  <a:pt x="201" y="183"/>
                                </a:lnTo>
                                <a:lnTo>
                                  <a:pt x="194" y="190"/>
                                </a:lnTo>
                                <a:lnTo>
                                  <a:pt x="187" y="197"/>
                                </a:lnTo>
                                <a:lnTo>
                                  <a:pt x="172" y="196"/>
                                </a:lnTo>
                                <a:lnTo>
                                  <a:pt x="162" y="194"/>
                                </a:lnTo>
                                <a:lnTo>
                                  <a:pt x="155" y="187"/>
                                </a:lnTo>
                                <a:lnTo>
                                  <a:pt x="155" y="183"/>
                                </a:lnTo>
                                <a:lnTo>
                                  <a:pt x="159" y="177"/>
                                </a:lnTo>
                                <a:lnTo>
                                  <a:pt x="165" y="172"/>
                                </a:lnTo>
                                <a:lnTo>
                                  <a:pt x="169" y="167"/>
                                </a:lnTo>
                                <a:lnTo>
                                  <a:pt x="159" y="169"/>
                                </a:lnTo>
                                <a:lnTo>
                                  <a:pt x="155" y="162"/>
                                </a:lnTo>
                                <a:lnTo>
                                  <a:pt x="155" y="158"/>
                                </a:lnTo>
                                <a:lnTo>
                                  <a:pt x="169" y="156"/>
                                </a:lnTo>
                                <a:lnTo>
                                  <a:pt x="181" y="155"/>
                                </a:lnTo>
                                <a:lnTo>
                                  <a:pt x="173" y="151"/>
                                </a:lnTo>
                                <a:lnTo>
                                  <a:pt x="161" y="152"/>
                                </a:lnTo>
                                <a:lnTo>
                                  <a:pt x="161" y="143"/>
                                </a:lnTo>
                                <a:lnTo>
                                  <a:pt x="166" y="138"/>
                                </a:lnTo>
                                <a:lnTo>
                                  <a:pt x="179" y="132"/>
                                </a:lnTo>
                                <a:lnTo>
                                  <a:pt x="183" y="126"/>
                                </a:lnTo>
                                <a:lnTo>
                                  <a:pt x="187" y="123"/>
                                </a:lnTo>
                                <a:lnTo>
                                  <a:pt x="196" y="122"/>
                                </a:lnTo>
                                <a:lnTo>
                                  <a:pt x="205" y="123"/>
                                </a:lnTo>
                                <a:lnTo>
                                  <a:pt x="209" y="126"/>
                                </a:lnTo>
                                <a:lnTo>
                                  <a:pt x="216" y="122"/>
                                </a:lnTo>
                                <a:lnTo>
                                  <a:pt x="209" y="120"/>
                                </a:lnTo>
                                <a:lnTo>
                                  <a:pt x="209" y="108"/>
                                </a:lnTo>
                                <a:lnTo>
                                  <a:pt x="227" y="95"/>
                                </a:lnTo>
                                <a:lnTo>
                                  <a:pt x="236" y="87"/>
                                </a:lnTo>
                                <a:lnTo>
                                  <a:pt x="242" y="85"/>
                                </a:lnTo>
                                <a:lnTo>
                                  <a:pt x="240" y="81"/>
                                </a:lnTo>
                                <a:lnTo>
                                  <a:pt x="249" y="71"/>
                                </a:lnTo>
                                <a:lnTo>
                                  <a:pt x="258" y="58"/>
                                </a:lnTo>
                                <a:lnTo>
                                  <a:pt x="269" y="52"/>
                                </a:lnTo>
                                <a:lnTo>
                                  <a:pt x="261" y="46"/>
                                </a:lnTo>
                                <a:lnTo>
                                  <a:pt x="283" y="33"/>
                                </a:lnTo>
                                <a:lnTo>
                                  <a:pt x="292" y="34"/>
                                </a:lnTo>
                                <a:lnTo>
                                  <a:pt x="291" y="27"/>
                                </a:lnTo>
                                <a:lnTo>
                                  <a:pt x="310" y="26"/>
                                </a:lnTo>
                                <a:lnTo>
                                  <a:pt x="346" y="2"/>
                                </a:lnTo>
                                <a:lnTo>
                                  <a:pt x="351" y="0"/>
                                </a:lnTo>
                                <a:lnTo>
                                  <a:pt x="345" y="17"/>
                                </a:lnTo>
                                <a:lnTo>
                                  <a:pt x="353" y="8"/>
                                </a:lnTo>
                                <a:lnTo>
                                  <a:pt x="362" y="5"/>
                                </a:lnTo>
                                <a:lnTo>
                                  <a:pt x="361" y="13"/>
                                </a:lnTo>
                                <a:lnTo>
                                  <a:pt x="388" y="4"/>
                                </a:lnTo>
                                <a:lnTo>
                                  <a:pt x="402" y="11"/>
                                </a:lnTo>
                                <a:lnTo>
                                  <a:pt x="383" y="18"/>
                                </a:lnTo>
                                <a:lnTo>
                                  <a:pt x="390" y="27"/>
                                </a:lnTo>
                                <a:lnTo>
                                  <a:pt x="417" y="26"/>
                                </a:lnTo>
                                <a:lnTo>
                                  <a:pt x="457" y="39"/>
                                </a:lnTo>
                                <a:lnTo>
                                  <a:pt x="454" y="53"/>
                                </a:lnTo>
                                <a:lnTo>
                                  <a:pt x="438" y="66"/>
                                </a:lnTo>
                                <a:lnTo>
                                  <a:pt x="413" y="74"/>
                                </a:lnTo>
                                <a:lnTo>
                                  <a:pt x="409" y="90"/>
                                </a:lnTo>
                                <a:lnTo>
                                  <a:pt x="410" y="104"/>
                                </a:lnTo>
                                <a:lnTo>
                                  <a:pt x="417" y="107"/>
                                </a:lnTo>
                                <a:lnTo>
                                  <a:pt x="419" y="114"/>
                                </a:lnTo>
                                <a:lnTo>
                                  <a:pt x="421" y="117"/>
                                </a:lnTo>
                                <a:lnTo>
                                  <a:pt x="427" y="120"/>
                                </a:lnTo>
                                <a:lnTo>
                                  <a:pt x="428" y="129"/>
                                </a:lnTo>
                                <a:lnTo>
                                  <a:pt x="436" y="139"/>
                                </a:lnTo>
                                <a:lnTo>
                                  <a:pt x="436" y="143"/>
                                </a:lnTo>
                                <a:lnTo>
                                  <a:pt x="445" y="143"/>
                                </a:lnTo>
                                <a:lnTo>
                                  <a:pt x="447" y="146"/>
                                </a:lnTo>
                                <a:lnTo>
                                  <a:pt x="454" y="149"/>
                                </a:lnTo>
                                <a:lnTo>
                                  <a:pt x="458" y="145"/>
                                </a:lnTo>
                                <a:lnTo>
                                  <a:pt x="463" y="138"/>
                                </a:lnTo>
                                <a:lnTo>
                                  <a:pt x="465" y="133"/>
                                </a:lnTo>
                                <a:lnTo>
                                  <a:pt x="472" y="136"/>
                                </a:lnTo>
                                <a:lnTo>
                                  <a:pt x="480" y="126"/>
                                </a:lnTo>
                                <a:lnTo>
                                  <a:pt x="480" y="119"/>
                                </a:lnTo>
                                <a:lnTo>
                                  <a:pt x="483" y="113"/>
                                </a:lnTo>
                                <a:lnTo>
                                  <a:pt x="484" y="108"/>
                                </a:lnTo>
                                <a:lnTo>
                                  <a:pt x="501" y="104"/>
                                </a:lnTo>
                                <a:lnTo>
                                  <a:pt x="515" y="100"/>
                                </a:lnTo>
                                <a:lnTo>
                                  <a:pt x="532" y="94"/>
                                </a:lnTo>
                                <a:lnTo>
                                  <a:pt x="553" y="98"/>
                                </a:lnTo>
                                <a:lnTo>
                                  <a:pt x="574" y="98"/>
                                </a:lnTo>
                                <a:lnTo>
                                  <a:pt x="608" y="98"/>
                                </a:lnTo>
                                <a:lnTo>
                                  <a:pt x="613" y="62"/>
                                </a:lnTo>
                                <a:lnTo>
                                  <a:pt x="633" y="63"/>
                                </a:lnTo>
                                <a:lnTo>
                                  <a:pt x="646" y="91"/>
                                </a:lnTo>
                                <a:lnTo>
                                  <a:pt x="649" y="68"/>
                                </a:lnTo>
                                <a:lnTo>
                                  <a:pt x="712" y="4"/>
                                </a:lnTo>
                                <a:lnTo>
                                  <a:pt x="737" y="4"/>
                                </a:lnTo>
                                <a:lnTo>
                                  <a:pt x="759" y="17"/>
                                </a:lnTo>
                                <a:lnTo>
                                  <a:pt x="788" y="16"/>
                                </a:lnTo>
                                <a:lnTo>
                                  <a:pt x="826" y="39"/>
                                </a:lnTo>
                                <a:lnTo>
                                  <a:pt x="870" y="52"/>
                                </a:lnTo>
                                <a:lnTo>
                                  <a:pt x="901" y="49"/>
                                </a:lnTo>
                                <a:lnTo>
                                  <a:pt x="942" y="63"/>
                                </a:lnTo>
                                <a:lnTo>
                                  <a:pt x="977" y="63"/>
                                </a:lnTo>
                                <a:lnTo>
                                  <a:pt x="993" y="53"/>
                                </a:lnTo>
                                <a:lnTo>
                                  <a:pt x="1032" y="53"/>
                                </a:lnTo>
                                <a:lnTo>
                                  <a:pt x="1052" y="65"/>
                                </a:lnTo>
                                <a:lnTo>
                                  <a:pt x="1104" y="65"/>
                                </a:lnTo>
                                <a:lnTo>
                                  <a:pt x="1148" y="85"/>
                                </a:lnTo>
                                <a:lnTo>
                                  <a:pt x="1229" y="82"/>
                                </a:lnTo>
                                <a:lnTo>
                                  <a:pt x="1357" y="91"/>
                                </a:lnTo>
                                <a:lnTo>
                                  <a:pt x="1418" y="119"/>
                                </a:lnTo>
                                <a:lnTo>
                                  <a:pt x="1470" y="136"/>
                                </a:lnTo>
                                <a:lnTo>
                                  <a:pt x="1503" y="151"/>
                                </a:lnTo>
                                <a:lnTo>
                                  <a:pt x="1494" y="155"/>
                                </a:lnTo>
                                <a:lnTo>
                                  <a:pt x="1470" y="143"/>
                                </a:lnTo>
                                <a:lnTo>
                                  <a:pt x="1417" y="139"/>
                                </a:lnTo>
                                <a:lnTo>
                                  <a:pt x="1432" y="151"/>
                                </a:lnTo>
                                <a:lnTo>
                                  <a:pt x="1455" y="156"/>
                                </a:lnTo>
                                <a:lnTo>
                                  <a:pt x="1449" y="175"/>
                                </a:lnTo>
                                <a:lnTo>
                                  <a:pt x="1424" y="187"/>
                                </a:lnTo>
                                <a:lnTo>
                                  <a:pt x="1416" y="206"/>
                                </a:lnTo>
                                <a:lnTo>
                                  <a:pt x="1449" y="223"/>
                                </a:lnTo>
                                <a:lnTo>
                                  <a:pt x="1472" y="246"/>
                                </a:lnTo>
                                <a:lnTo>
                                  <a:pt x="1484" y="280"/>
                                </a:lnTo>
                                <a:lnTo>
                                  <a:pt x="1469" y="283"/>
                                </a:lnTo>
                                <a:lnTo>
                                  <a:pt x="1436" y="273"/>
                                </a:lnTo>
                                <a:lnTo>
                                  <a:pt x="1402" y="248"/>
                                </a:lnTo>
                                <a:lnTo>
                                  <a:pt x="1388" y="235"/>
                                </a:lnTo>
                                <a:lnTo>
                                  <a:pt x="1380" y="217"/>
                                </a:lnTo>
                                <a:lnTo>
                                  <a:pt x="1372" y="191"/>
                                </a:lnTo>
                                <a:lnTo>
                                  <a:pt x="1358" y="183"/>
                                </a:lnTo>
                                <a:lnTo>
                                  <a:pt x="1346" y="181"/>
                                </a:lnTo>
                                <a:lnTo>
                                  <a:pt x="1335" y="184"/>
                                </a:lnTo>
                                <a:lnTo>
                                  <a:pt x="1347" y="204"/>
                                </a:lnTo>
                                <a:lnTo>
                                  <a:pt x="1314" y="207"/>
                                </a:lnTo>
                                <a:lnTo>
                                  <a:pt x="1299" y="197"/>
                                </a:lnTo>
                                <a:lnTo>
                                  <a:pt x="1270" y="203"/>
                                </a:lnTo>
                                <a:lnTo>
                                  <a:pt x="1248" y="219"/>
                                </a:lnTo>
                                <a:lnTo>
                                  <a:pt x="1248" y="228"/>
                                </a:lnTo>
                                <a:lnTo>
                                  <a:pt x="1257" y="242"/>
                                </a:lnTo>
                                <a:lnTo>
                                  <a:pt x="1291" y="246"/>
                                </a:lnTo>
                                <a:lnTo>
                                  <a:pt x="1318" y="264"/>
                                </a:lnTo>
                                <a:lnTo>
                                  <a:pt x="1365" y="312"/>
                                </a:lnTo>
                                <a:lnTo>
                                  <a:pt x="1384" y="344"/>
                                </a:lnTo>
                                <a:lnTo>
                                  <a:pt x="1387" y="377"/>
                                </a:lnTo>
                                <a:lnTo>
                                  <a:pt x="1383" y="405"/>
                                </a:lnTo>
                                <a:lnTo>
                                  <a:pt x="1372" y="405"/>
                                </a:lnTo>
                                <a:lnTo>
                                  <a:pt x="1359" y="395"/>
                                </a:lnTo>
                                <a:lnTo>
                                  <a:pt x="1342" y="408"/>
                                </a:lnTo>
                                <a:lnTo>
                                  <a:pt x="1324" y="419"/>
                                </a:lnTo>
                                <a:lnTo>
                                  <a:pt x="1321" y="441"/>
                                </a:lnTo>
                                <a:lnTo>
                                  <a:pt x="1340" y="464"/>
                                </a:lnTo>
                                <a:lnTo>
                                  <a:pt x="1328" y="483"/>
                                </a:lnTo>
                                <a:lnTo>
                                  <a:pt x="1324" y="515"/>
                                </a:lnTo>
                                <a:lnTo>
                                  <a:pt x="1347" y="535"/>
                                </a:lnTo>
                                <a:lnTo>
                                  <a:pt x="1373" y="541"/>
                                </a:lnTo>
                                <a:lnTo>
                                  <a:pt x="1401" y="563"/>
                                </a:lnTo>
                                <a:lnTo>
                                  <a:pt x="1424" y="592"/>
                                </a:lnTo>
                                <a:lnTo>
                                  <a:pt x="1425" y="636"/>
                                </a:lnTo>
                                <a:lnTo>
                                  <a:pt x="1417" y="656"/>
                                </a:lnTo>
                                <a:lnTo>
                                  <a:pt x="1392" y="673"/>
                                </a:lnTo>
                                <a:lnTo>
                                  <a:pt x="1362" y="682"/>
                                </a:lnTo>
                                <a:lnTo>
                                  <a:pt x="1343" y="695"/>
                                </a:lnTo>
                                <a:lnTo>
                                  <a:pt x="1332" y="688"/>
                                </a:lnTo>
                                <a:lnTo>
                                  <a:pt x="1322" y="695"/>
                                </a:lnTo>
                                <a:lnTo>
                                  <a:pt x="1320" y="727"/>
                                </a:lnTo>
                                <a:lnTo>
                                  <a:pt x="1326" y="746"/>
                                </a:lnTo>
                                <a:lnTo>
                                  <a:pt x="1357" y="768"/>
                                </a:lnTo>
                                <a:lnTo>
                                  <a:pt x="1369" y="789"/>
                                </a:lnTo>
                                <a:lnTo>
                                  <a:pt x="1379" y="803"/>
                                </a:lnTo>
                                <a:lnTo>
                                  <a:pt x="1376" y="826"/>
                                </a:lnTo>
                                <a:lnTo>
                                  <a:pt x="1357" y="845"/>
                                </a:lnTo>
                                <a:lnTo>
                                  <a:pt x="1336" y="845"/>
                                </a:lnTo>
                                <a:lnTo>
                                  <a:pt x="1303" y="817"/>
                                </a:lnTo>
                                <a:lnTo>
                                  <a:pt x="1280" y="807"/>
                                </a:lnTo>
                                <a:lnTo>
                                  <a:pt x="1270" y="801"/>
                                </a:lnTo>
                                <a:lnTo>
                                  <a:pt x="1261" y="816"/>
                                </a:lnTo>
                                <a:lnTo>
                                  <a:pt x="1263" y="836"/>
                                </a:lnTo>
                                <a:lnTo>
                                  <a:pt x="1272" y="852"/>
                                </a:lnTo>
                                <a:lnTo>
                                  <a:pt x="1277" y="877"/>
                                </a:lnTo>
                                <a:lnTo>
                                  <a:pt x="1298" y="885"/>
                                </a:lnTo>
                                <a:lnTo>
                                  <a:pt x="1291" y="898"/>
                                </a:lnTo>
                                <a:lnTo>
                                  <a:pt x="1292" y="917"/>
                                </a:lnTo>
                                <a:lnTo>
                                  <a:pt x="1299" y="936"/>
                                </a:lnTo>
                                <a:lnTo>
                                  <a:pt x="1285" y="935"/>
                                </a:lnTo>
                                <a:lnTo>
                                  <a:pt x="1270" y="913"/>
                                </a:lnTo>
                                <a:lnTo>
                                  <a:pt x="1272" y="890"/>
                                </a:lnTo>
                                <a:lnTo>
                                  <a:pt x="1266" y="882"/>
                                </a:lnTo>
                                <a:lnTo>
                                  <a:pt x="1261" y="856"/>
                                </a:lnTo>
                                <a:lnTo>
                                  <a:pt x="1254" y="849"/>
                                </a:lnTo>
                                <a:lnTo>
                                  <a:pt x="1251" y="813"/>
                                </a:lnTo>
                                <a:lnTo>
                                  <a:pt x="1241" y="789"/>
                                </a:lnTo>
                                <a:lnTo>
                                  <a:pt x="1225" y="769"/>
                                </a:lnTo>
                                <a:lnTo>
                                  <a:pt x="1195" y="758"/>
                                </a:lnTo>
                                <a:lnTo>
                                  <a:pt x="1173" y="739"/>
                                </a:lnTo>
                                <a:lnTo>
                                  <a:pt x="1163" y="724"/>
                                </a:lnTo>
                                <a:lnTo>
                                  <a:pt x="1148" y="708"/>
                                </a:lnTo>
                                <a:lnTo>
                                  <a:pt x="1125" y="672"/>
                                </a:lnTo>
                                <a:lnTo>
                                  <a:pt x="1104" y="675"/>
                                </a:lnTo>
                                <a:lnTo>
                                  <a:pt x="1077" y="692"/>
                                </a:lnTo>
                                <a:lnTo>
                                  <a:pt x="1065" y="707"/>
                                </a:lnTo>
                                <a:lnTo>
                                  <a:pt x="1040" y="734"/>
                                </a:lnTo>
                                <a:lnTo>
                                  <a:pt x="1022" y="763"/>
                                </a:lnTo>
                                <a:lnTo>
                                  <a:pt x="1015" y="774"/>
                                </a:lnTo>
                                <a:lnTo>
                                  <a:pt x="1022" y="808"/>
                                </a:lnTo>
                                <a:lnTo>
                                  <a:pt x="1021" y="842"/>
                                </a:lnTo>
                                <a:lnTo>
                                  <a:pt x="999" y="865"/>
                                </a:lnTo>
                                <a:lnTo>
                                  <a:pt x="986" y="866"/>
                                </a:lnTo>
                                <a:lnTo>
                                  <a:pt x="960" y="819"/>
                                </a:lnTo>
                                <a:lnTo>
                                  <a:pt x="940" y="784"/>
                                </a:lnTo>
                                <a:lnTo>
                                  <a:pt x="899" y="720"/>
                                </a:lnTo>
                                <a:lnTo>
                                  <a:pt x="897" y="695"/>
                                </a:lnTo>
                                <a:lnTo>
                                  <a:pt x="888" y="683"/>
                                </a:lnTo>
                                <a:lnTo>
                                  <a:pt x="881" y="699"/>
                                </a:lnTo>
                                <a:lnTo>
                                  <a:pt x="845" y="663"/>
                                </a:lnTo>
                                <a:lnTo>
                                  <a:pt x="797" y="636"/>
                                </a:lnTo>
                                <a:lnTo>
                                  <a:pt x="767" y="641"/>
                                </a:lnTo>
                                <a:lnTo>
                                  <a:pt x="723" y="638"/>
                                </a:lnTo>
                                <a:lnTo>
                                  <a:pt x="703" y="618"/>
                                </a:lnTo>
                                <a:lnTo>
                                  <a:pt x="679" y="621"/>
                                </a:lnTo>
                                <a:lnTo>
                                  <a:pt x="646" y="612"/>
                                </a:lnTo>
                                <a:lnTo>
                                  <a:pt x="578" y="544"/>
                                </a:lnTo>
                                <a:lnTo>
                                  <a:pt x="582" y="572"/>
                                </a:lnTo>
                                <a:lnTo>
                                  <a:pt x="602" y="611"/>
                                </a:lnTo>
                                <a:lnTo>
                                  <a:pt x="626" y="638"/>
                                </a:lnTo>
                                <a:lnTo>
                                  <a:pt x="650" y="653"/>
                                </a:lnTo>
                                <a:lnTo>
                                  <a:pt x="678" y="641"/>
                                </a:lnTo>
                                <a:lnTo>
                                  <a:pt x="700" y="641"/>
                                </a:lnTo>
                                <a:lnTo>
                                  <a:pt x="729" y="666"/>
                                </a:lnTo>
                                <a:lnTo>
                                  <a:pt x="745" y="685"/>
                                </a:lnTo>
                                <a:lnTo>
                                  <a:pt x="742" y="697"/>
                                </a:lnTo>
                                <a:lnTo>
                                  <a:pt x="693" y="750"/>
                                </a:lnTo>
                                <a:lnTo>
                                  <a:pt x="660" y="771"/>
                                </a:lnTo>
                                <a:lnTo>
                                  <a:pt x="591" y="798"/>
                                </a:lnTo>
                                <a:lnTo>
                                  <a:pt x="571" y="807"/>
                                </a:lnTo>
                                <a:lnTo>
                                  <a:pt x="559" y="798"/>
                                </a:lnTo>
                                <a:lnTo>
                                  <a:pt x="554" y="787"/>
                                </a:lnTo>
                                <a:lnTo>
                                  <a:pt x="553" y="771"/>
                                </a:lnTo>
                                <a:lnTo>
                                  <a:pt x="548" y="755"/>
                                </a:lnTo>
                                <a:lnTo>
                                  <a:pt x="538" y="742"/>
                                </a:lnTo>
                                <a:lnTo>
                                  <a:pt x="530" y="730"/>
                                </a:lnTo>
                                <a:lnTo>
                                  <a:pt x="517" y="714"/>
                                </a:lnTo>
                                <a:lnTo>
                                  <a:pt x="511" y="704"/>
                                </a:lnTo>
                                <a:lnTo>
                                  <a:pt x="505" y="691"/>
                                </a:lnTo>
                                <a:lnTo>
                                  <a:pt x="495" y="679"/>
                                </a:lnTo>
                                <a:lnTo>
                                  <a:pt x="480" y="650"/>
                                </a:lnTo>
                                <a:lnTo>
                                  <a:pt x="472" y="638"/>
                                </a:lnTo>
                                <a:lnTo>
                                  <a:pt x="461" y="623"/>
                                </a:lnTo>
                                <a:lnTo>
                                  <a:pt x="443" y="601"/>
                                </a:lnTo>
                                <a:lnTo>
                                  <a:pt x="434" y="588"/>
                                </a:lnTo>
                                <a:lnTo>
                                  <a:pt x="426" y="579"/>
                                </a:lnTo>
                                <a:lnTo>
                                  <a:pt x="416" y="560"/>
                                </a:lnTo>
                                <a:lnTo>
                                  <a:pt x="445" y="543"/>
                                </a:lnTo>
                                <a:lnTo>
                                  <a:pt x="457" y="505"/>
                                </a:lnTo>
                                <a:lnTo>
                                  <a:pt x="430" y="495"/>
                                </a:lnTo>
                                <a:lnTo>
                                  <a:pt x="391" y="501"/>
                                </a:lnTo>
                                <a:lnTo>
                                  <a:pt x="383" y="496"/>
                                </a:lnTo>
                                <a:lnTo>
                                  <a:pt x="379" y="496"/>
                                </a:lnTo>
                                <a:lnTo>
                                  <a:pt x="373" y="496"/>
                                </a:lnTo>
                                <a:lnTo>
                                  <a:pt x="369" y="496"/>
                                </a:lnTo>
                                <a:lnTo>
                                  <a:pt x="368" y="489"/>
                                </a:lnTo>
                                <a:lnTo>
                                  <a:pt x="365" y="483"/>
                                </a:lnTo>
                                <a:lnTo>
                                  <a:pt x="365" y="471"/>
                                </a:lnTo>
                                <a:lnTo>
                                  <a:pt x="358" y="466"/>
                                </a:lnTo>
                                <a:lnTo>
                                  <a:pt x="357" y="458"/>
                                </a:lnTo>
                                <a:lnTo>
                                  <a:pt x="353" y="457"/>
                                </a:lnTo>
                                <a:lnTo>
                                  <a:pt x="349" y="451"/>
                                </a:lnTo>
                                <a:lnTo>
                                  <a:pt x="347" y="445"/>
                                </a:lnTo>
                                <a:lnTo>
                                  <a:pt x="345" y="440"/>
                                </a:lnTo>
                                <a:lnTo>
                                  <a:pt x="342" y="434"/>
                                </a:lnTo>
                                <a:lnTo>
                                  <a:pt x="334" y="434"/>
                                </a:lnTo>
                                <a:lnTo>
                                  <a:pt x="328" y="434"/>
                                </a:lnTo>
                                <a:lnTo>
                                  <a:pt x="325" y="434"/>
                                </a:lnTo>
                                <a:lnTo>
                                  <a:pt x="324" y="444"/>
                                </a:lnTo>
                                <a:lnTo>
                                  <a:pt x="324" y="451"/>
                                </a:lnTo>
                                <a:lnTo>
                                  <a:pt x="324" y="460"/>
                                </a:lnTo>
                                <a:lnTo>
                                  <a:pt x="324" y="469"/>
                                </a:lnTo>
                                <a:lnTo>
                                  <a:pt x="324" y="474"/>
                                </a:lnTo>
                                <a:lnTo>
                                  <a:pt x="317" y="477"/>
                                </a:lnTo>
                                <a:lnTo>
                                  <a:pt x="312" y="483"/>
                                </a:lnTo>
                                <a:lnTo>
                                  <a:pt x="303" y="474"/>
                                </a:lnTo>
                                <a:lnTo>
                                  <a:pt x="298" y="463"/>
                                </a:lnTo>
                                <a:lnTo>
                                  <a:pt x="299" y="450"/>
                                </a:lnTo>
                                <a:lnTo>
                                  <a:pt x="291" y="429"/>
                                </a:lnTo>
                                <a:lnTo>
                                  <a:pt x="287" y="418"/>
                                </a:lnTo>
                                <a:lnTo>
                                  <a:pt x="277" y="410"/>
                                </a:lnTo>
                                <a:lnTo>
                                  <a:pt x="266" y="403"/>
                                </a:lnTo>
                                <a:lnTo>
                                  <a:pt x="261" y="393"/>
                                </a:lnTo>
                                <a:lnTo>
                                  <a:pt x="257" y="386"/>
                                </a:lnTo>
                                <a:lnTo>
                                  <a:pt x="247" y="384"/>
                                </a:lnTo>
                                <a:lnTo>
                                  <a:pt x="244" y="380"/>
                                </a:lnTo>
                                <a:lnTo>
                                  <a:pt x="238" y="380"/>
                                </a:lnTo>
                                <a:lnTo>
                                  <a:pt x="232" y="387"/>
                                </a:lnTo>
                                <a:lnTo>
                                  <a:pt x="227" y="393"/>
                                </a:lnTo>
                                <a:lnTo>
                                  <a:pt x="239" y="400"/>
                                </a:lnTo>
                                <a:lnTo>
                                  <a:pt x="246" y="410"/>
                                </a:lnTo>
                                <a:lnTo>
                                  <a:pt x="258" y="424"/>
                                </a:lnTo>
                                <a:lnTo>
                                  <a:pt x="264" y="429"/>
                                </a:lnTo>
                                <a:lnTo>
                                  <a:pt x="273" y="434"/>
                                </a:lnTo>
                                <a:lnTo>
                                  <a:pt x="280" y="445"/>
                                </a:lnTo>
                                <a:lnTo>
                                  <a:pt x="272" y="456"/>
                                </a:lnTo>
                                <a:lnTo>
                                  <a:pt x="271" y="451"/>
                                </a:lnTo>
                                <a:lnTo>
                                  <a:pt x="271" y="445"/>
                                </a:lnTo>
                                <a:lnTo>
                                  <a:pt x="266" y="458"/>
                                </a:lnTo>
                                <a:lnTo>
                                  <a:pt x="265" y="470"/>
                                </a:lnTo>
                                <a:lnTo>
                                  <a:pt x="257" y="473"/>
                                </a:lnTo>
                                <a:lnTo>
                                  <a:pt x="260" y="458"/>
                                </a:lnTo>
                                <a:lnTo>
                                  <a:pt x="258" y="451"/>
                                </a:lnTo>
                                <a:lnTo>
                                  <a:pt x="249" y="447"/>
                                </a:lnTo>
                                <a:lnTo>
                                  <a:pt x="244" y="444"/>
                                </a:lnTo>
                                <a:lnTo>
                                  <a:pt x="240" y="438"/>
                                </a:lnTo>
                                <a:lnTo>
                                  <a:pt x="232" y="432"/>
                                </a:lnTo>
                                <a:lnTo>
                                  <a:pt x="227" y="428"/>
                                </a:lnTo>
                                <a:lnTo>
                                  <a:pt x="221" y="419"/>
                                </a:lnTo>
                                <a:lnTo>
                                  <a:pt x="214" y="415"/>
                                </a:lnTo>
                                <a:lnTo>
                                  <a:pt x="210" y="406"/>
                                </a:lnTo>
                                <a:lnTo>
                                  <a:pt x="209" y="399"/>
                                </a:lnTo>
                                <a:lnTo>
                                  <a:pt x="203" y="396"/>
                                </a:lnTo>
                                <a:lnTo>
                                  <a:pt x="198" y="392"/>
                                </a:lnTo>
                                <a:lnTo>
                                  <a:pt x="187" y="392"/>
                                </a:lnTo>
                                <a:lnTo>
                                  <a:pt x="177" y="393"/>
                                </a:lnTo>
                                <a:lnTo>
                                  <a:pt x="166" y="392"/>
                                </a:lnTo>
                                <a:lnTo>
                                  <a:pt x="147" y="393"/>
                                </a:lnTo>
                                <a:lnTo>
                                  <a:pt x="133" y="395"/>
                                </a:lnTo>
                                <a:lnTo>
                                  <a:pt x="129" y="397"/>
                                </a:lnTo>
                                <a:lnTo>
                                  <a:pt x="128" y="406"/>
                                </a:lnTo>
                                <a:lnTo>
                                  <a:pt x="128" y="416"/>
                                </a:lnTo>
                                <a:lnTo>
                                  <a:pt x="120" y="426"/>
                                </a:lnTo>
                                <a:lnTo>
                                  <a:pt x="114" y="431"/>
                                </a:lnTo>
                                <a:lnTo>
                                  <a:pt x="111" y="434"/>
                                </a:lnTo>
                                <a:lnTo>
                                  <a:pt x="107" y="444"/>
                                </a:lnTo>
                                <a:lnTo>
                                  <a:pt x="105" y="450"/>
                                </a:lnTo>
                                <a:lnTo>
                                  <a:pt x="109" y="454"/>
                                </a:lnTo>
                                <a:lnTo>
                                  <a:pt x="109" y="463"/>
                                </a:lnTo>
                                <a:lnTo>
                                  <a:pt x="107" y="467"/>
                                </a:lnTo>
                                <a:lnTo>
                                  <a:pt x="105" y="473"/>
                                </a:lnTo>
                                <a:lnTo>
                                  <a:pt x="98" y="483"/>
                                </a:lnTo>
                                <a:lnTo>
                                  <a:pt x="94" y="479"/>
                                </a:lnTo>
                                <a:lnTo>
                                  <a:pt x="90" y="482"/>
                                </a:lnTo>
                                <a:lnTo>
                                  <a:pt x="84" y="486"/>
                                </a:lnTo>
                                <a:lnTo>
                                  <a:pt x="76" y="487"/>
                                </a:lnTo>
                                <a:lnTo>
                                  <a:pt x="68" y="495"/>
                                </a:lnTo>
                                <a:lnTo>
                                  <a:pt x="59" y="496"/>
                                </a:lnTo>
                                <a:lnTo>
                                  <a:pt x="51" y="496"/>
                                </a:lnTo>
                                <a:lnTo>
                                  <a:pt x="43" y="496"/>
                                </a:lnTo>
                                <a:lnTo>
                                  <a:pt x="25" y="501"/>
                                </a:lnTo>
                                <a:lnTo>
                                  <a:pt x="17" y="501"/>
                                </a:lnTo>
                                <a:lnTo>
                                  <a:pt x="13" y="490"/>
                                </a:lnTo>
                                <a:lnTo>
                                  <a:pt x="9" y="477"/>
                                </a:lnTo>
                                <a:lnTo>
                                  <a:pt x="6" y="466"/>
                                </a:lnTo>
                                <a:lnTo>
                                  <a:pt x="5" y="454"/>
                                </a:lnTo>
                                <a:lnTo>
                                  <a:pt x="5" y="440"/>
                                </a:lnTo>
                                <a:lnTo>
                                  <a:pt x="0" y="419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</p:grpSp>
                  <p:grpSp>
                    <p:nvGrpSpPr>
                      <p:cNvPr id="58564" name="Group 16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03" y="2102"/>
                        <a:ext cx="817" cy="1033"/>
                        <a:chOff x="1803" y="2102"/>
                        <a:chExt cx="817" cy="1033"/>
                      </a:xfrm>
                    </p:grpSpPr>
                    <p:sp>
                      <p:nvSpPr>
                        <p:cNvPr id="58565" name="Freeform 166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803" y="3062"/>
                          <a:ext cx="205" cy="68"/>
                        </a:xfrm>
                        <a:custGeom>
                          <a:avLst/>
                          <a:gdLst>
                            <a:gd name="T0" fmla="*/ 3 w 410"/>
                            <a:gd name="T1" fmla="*/ 1 h 137"/>
                            <a:gd name="T2" fmla="*/ 4 w 410"/>
                            <a:gd name="T3" fmla="*/ 1 h 137"/>
                            <a:gd name="T4" fmla="*/ 5 w 410"/>
                            <a:gd name="T5" fmla="*/ 1 h 137"/>
                            <a:gd name="T6" fmla="*/ 5 w 410"/>
                            <a:gd name="T7" fmla="*/ 1 h 137"/>
                            <a:gd name="T8" fmla="*/ 6 w 410"/>
                            <a:gd name="T9" fmla="*/ 1 h 137"/>
                            <a:gd name="T10" fmla="*/ 7 w 410"/>
                            <a:gd name="T11" fmla="*/ 0 h 137"/>
                            <a:gd name="T12" fmla="*/ 8 w 410"/>
                            <a:gd name="T13" fmla="*/ 0 h 137"/>
                            <a:gd name="T14" fmla="*/ 9 w 410"/>
                            <a:gd name="T15" fmla="*/ 0 h 137"/>
                            <a:gd name="T16" fmla="*/ 10 w 410"/>
                            <a:gd name="T17" fmla="*/ 0 h 137"/>
                            <a:gd name="T18" fmla="*/ 11 w 410"/>
                            <a:gd name="T19" fmla="*/ 1 h 137"/>
                            <a:gd name="T20" fmla="*/ 12 w 410"/>
                            <a:gd name="T21" fmla="*/ 0 h 137"/>
                            <a:gd name="T22" fmla="*/ 13 w 410"/>
                            <a:gd name="T23" fmla="*/ 0 h 137"/>
                            <a:gd name="T24" fmla="*/ 13 w 410"/>
                            <a:gd name="T25" fmla="*/ 0 h 137"/>
                            <a:gd name="T26" fmla="*/ 13 w 410"/>
                            <a:gd name="T27" fmla="*/ 0 h 137"/>
                            <a:gd name="T28" fmla="*/ 12 w 410"/>
                            <a:gd name="T29" fmla="*/ 1 h 137"/>
                            <a:gd name="T30" fmla="*/ 11 w 410"/>
                            <a:gd name="T31" fmla="*/ 1 h 137"/>
                            <a:gd name="T32" fmla="*/ 11 w 410"/>
                            <a:gd name="T33" fmla="*/ 2 h 137"/>
                            <a:gd name="T34" fmla="*/ 10 w 410"/>
                            <a:gd name="T35" fmla="*/ 2 h 137"/>
                            <a:gd name="T36" fmla="*/ 9 w 410"/>
                            <a:gd name="T37" fmla="*/ 2 h 137"/>
                            <a:gd name="T38" fmla="*/ 9 w 410"/>
                            <a:gd name="T39" fmla="*/ 2 h 137"/>
                            <a:gd name="T40" fmla="*/ 8 w 410"/>
                            <a:gd name="T41" fmla="*/ 3 h 137"/>
                            <a:gd name="T42" fmla="*/ 7 w 410"/>
                            <a:gd name="T43" fmla="*/ 3 h 137"/>
                            <a:gd name="T44" fmla="*/ 6 w 410"/>
                            <a:gd name="T45" fmla="*/ 3 h 137"/>
                            <a:gd name="T46" fmla="*/ 5 w 410"/>
                            <a:gd name="T47" fmla="*/ 4 h 137"/>
                            <a:gd name="T48" fmla="*/ 4 w 410"/>
                            <a:gd name="T49" fmla="*/ 4 h 137"/>
                            <a:gd name="T50" fmla="*/ 3 w 410"/>
                            <a:gd name="T51" fmla="*/ 4 h 137"/>
                            <a:gd name="T52" fmla="*/ 2 w 410"/>
                            <a:gd name="T53" fmla="*/ 4 h 137"/>
                            <a:gd name="T54" fmla="*/ 2 w 410"/>
                            <a:gd name="T55" fmla="*/ 3 h 137"/>
                            <a:gd name="T56" fmla="*/ 1 w 410"/>
                            <a:gd name="T57" fmla="*/ 3 h 137"/>
                            <a:gd name="T58" fmla="*/ 2 w 410"/>
                            <a:gd name="T59" fmla="*/ 2 h 137"/>
                            <a:gd name="T60" fmla="*/ 2 w 410"/>
                            <a:gd name="T61" fmla="*/ 2 h 137"/>
                            <a:gd name="T62" fmla="*/ 3 w 410"/>
                            <a:gd name="T63" fmla="*/ 2 h 137"/>
                            <a:gd name="T64" fmla="*/ 3 w 410"/>
                            <a:gd name="T65" fmla="*/ 3 h 137"/>
                            <a:gd name="T66" fmla="*/ 3 w 410"/>
                            <a:gd name="T67" fmla="*/ 3 h 137"/>
                            <a:gd name="T68" fmla="*/ 4 w 410"/>
                            <a:gd name="T69" fmla="*/ 2 h 137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60000 65536"/>
                            <a:gd name="T82" fmla="*/ 0 60000 65536"/>
                            <a:gd name="T83" fmla="*/ 0 60000 65536"/>
                            <a:gd name="T84" fmla="*/ 0 60000 65536"/>
                            <a:gd name="T85" fmla="*/ 0 60000 65536"/>
                            <a:gd name="T86" fmla="*/ 0 60000 65536"/>
                            <a:gd name="T87" fmla="*/ 0 60000 65536"/>
                            <a:gd name="T88" fmla="*/ 0 60000 65536"/>
                            <a:gd name="T89" fmla="*/ 0 60000 65536"/>
                            <a:gd name="T90" fmla="*/ 0 60000 65536"/>
                            <a:gd name="T91" fmla="*/ 0 60000 65536"/>
                            <a:gd name="T92" fmla="*/ 0 60000 65536"/>
                            <a:gd name="T93" fmla="*/ 0 60000 65536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w 410"/>
                            <a:gd name="T106" fmla="*/ 0 h 137"/>
                            <a:gd name="T107" fmla="*/ 410 w 410"/>
                            <a:gd name="T108" fmla="*/ 137 h 137"/>
                          </a:gdLst>
                          <a:ahLst/>
                          <a:cxnLst>
                            <a:cxn ang="T70">
                              <a:pos x="T0" y="T1"/>
                            </a:cxn>
                            <a:cxn ang="T71">
                              <a:pos x="T2" y="T3"/>
                            </a:cxn>
                            <a:cxn ang="T72">
                              <a:pos x="T4" y="T5"/>
                            </a:cxn>
                            <a:cxn ang="T73">
                              <a:pos x="T6" y="T7"/>
                            </a:cxn>
                            <a:cxn ang="T74">
                              <a:pos x="T8" y="T9"/>
                            </a:cxn>
                            <a:cxn ang="T75">
                              <a:pos x="T10" y="T11"/>
                            </a:cxn>
                            <a:cxn ang="T76">
                              <a:pos x="T12" y="T13"/>
                            </a:cxn>
                            <a:cxn ang="T77">
                              <a:pos x="T14" y="T15"/>
                            </a:cxn>
                            <a:cxn ang="T78">
                              <a:pos x="T16" y="T17"/>
                            </a:cxn>
                            <a:cxn ang="T79">
                              <a:pos x="T18" y="T19"/>
                            </a:cxn>
                            <a:cxn ang="T80">
                              <a:pos x="T20" y="T21"/>
                            </a:cxn>
                            <a:cxn ang="T81">
                              <a:pos x="T22" y="T23"/>
                            </a:cxn>
                            <a:cxn ang="T82">
                              <a:pos x="T24" y="T25"/>
                            </a:cxn>
                            <a:cxn ang="T83">
                              <a:pos x="T26" y="T27"/>
                            </a:cxn>
                            <a:cxn ang="T84">
                              <a:pos x="T28" y="T29"/>
                            </a:cxn>
                            <a:cxn ang="T85">
                              <a:pos x="T30" y="T31"/>
                            </a:cxn>
                            <a:cxn ang="T86">
                              <a:pos x="T32" y="T33"/>
                            </a:cxn>
                            <a:cxn ang="T87">
                              <a:pos x="T34" y="T35"/>
                            </a:cxn>
                            <a:cxn ang="T88">
                              <a:pos x="T36" y="T37"/>
                            </a:cxn>
                            <a:cxn ang="T89">
                              <a:pos x="T38" y="T39"/>
                            </a:cxn>
                            <a:cxn ang="T90">
                              <a:pos x="T40" y="T41"/>
                            </a:cxn>
                            <a:cxn ang="T91">
                              <a:pos x="T42" y="T43"/>
                            </a:cxn>
                            <a:cxn ang="T92">
                              <a:pos x="T44" y="T45"/>
                            </a:cxn>
                            <a:cxn ang="T93">
                              <a:pos x="T46" y="T47"/>
                            </a:cxn>
                            <a:cxn ang="T94">
                              <a:pos x="T48" y="T49"/>
                            </a:cxn>
                            <a:cxn ang="T95">
                              <a:pos x="T50" y="T51"/>
                            </a:cxn>
                            <a:cxn ang="T96">
                              <a:pos x="T52" y="T53"/>
                            </a:cxn>
                            <a:cxn ang="T97">
                              <a:pos x="T54" y="T55"/>
                            </a:cxn>
                            <a:cxn ang="T98">
                              <a:pos x="T56" y="T57"/>
                            </a:cxn>
                            <a:cxn ang="T99">
                              <a:pos x="T58" y="T59"/>
                            </a:cxn>
                            <a:cxn ang="T100">
                              <a:pos x="T60" y="T61"/>
                            </a:cxn>
                            <a:cxn ang="T101">
                              <a:pos x="T62" y="T63"/>
                            </a:cxn>
                            <a:cxn ang="T102">
                              <a:pos x="T64" y="T65"/>
                            </a:cxn>
                            <a:cxn ang="T103">
                              <a:pos x="T66" y="T67"/>
                            </a:cxn>
                            <a:cxn ang="T104">
                              <a:pos x="T68" y="T69"/>
                            </a:cxn>
                          </a:cxnLst>
                          <a:rect l="T105" t="T106" r="T107" b="T108"/>
                          <a:pathLst>
                            <a:path w="410" h="137">
                              <a:moveTo>
                                <a:pt x="86" y="65"/>
                              </a:moveTo>
                              <a:lnTo>
                                <a:pt x="85" y="51"/>
                              </a:lnTo>
                              <a:lnTo>
                                <a:pt x="93" y="48"/>
                              </a:lnTo>
                              <a:lnTo>
                                <a:pt x="106" y="52"/>
                              </a:lnTo>
                              <a:lnTo>
                                <a:pt x="121" y="57"/>
                              </a:lnTo>
                              <a:lnTo>
                                <a:pt x="133" y="44"/>
                              </a:lnTo>
                              <a:lnTo>
                                <a:pt x="132" y="35"/>
                              </a:lnTo>
                              <a:lnTo>
                                <a:pt x="151" y="41"/>
                              </a:lnTo>
                              <a:lnTo>
                                <a:pt x="159" y="41"/>
                              </a:lnTo>
                              <a:lnTo>
                                <a:pt x="167" y="42"/>
                              </a:lnTo>
                              <a:lnTo>
                                <a:pt x="182" y="31"/>
                              </a:lnTo>
                              <a:lnTo>
                                <a:pt x="200" y="26"/>
                              </a:lnTo>
                              <a:lnTo>
                                <a:pt x="218" y="26"/>
                              </a:lnTo>
                              <a:lnTo>
                                <a:pt x="229" y="22"/>
                              </a:lnTo>
                              <a:lnTo>
                                <a:pt x="247" y="23"/>
                              </a:lnTo>
                              <a:lnTo>
                                <a:pt x="262" y="23"/>
                              </a:lnTo>
                              <a:lnTo>
                                <a:pt x="276" y="22"/>
                              </a:lnTo>
                              <a:lnTo>
                                <a:pt x="298" y="23"/>
                              </a:lnTo>
                              <a:lnTo>
                                <a:pt x="307" y="22"/>
                              </a:lnTo>
                              <a:lnTo>
                                <a:pt x="328" y="32"/>
                              </a:lnTo>
                              <a:lnTo>
                                <a:pt x="347" y="29"/>
                              </a:lnTo>
                              <a:lnTo>
                                <a:pt x="359" y="16"/>
                              </a:lnTo>
                              <a:lnTo>
                                <a:pt x="370" y="13"/>
                              </a:lnTo>
                              <a:lnTo>
                                <a:pt x="387" y="1"/>
                              </a:lnTo>
                              <a:lnTo>
                                <a:pt x="410" y="0"/>
                              </a:lnTo>
                              <a:lnTo>
                                <a:pt x="402" y="10"/>
                              </a:lnTo>
                              <a:lnTo>
                                <a:pt x="394" y="16"/>
                              </a:lnTo>
                              <a:lnTo>
                                <a:pt x="385" y="25"/>
                              </a:lnTo>
                              <a:lnTo>
                                <a:pt x="373" y="33"/>
                              </a:lnTo>
                              <a:lnTo>
                                <a:pt x="366" y="42"/>
                              </a:lnTo>
                              <a:lnTo>
                                <a:pt x="355" y="48"/>
                              </a:lnTo>
                              <a:lnTo>
                                <a:pt x="347" y="54"/>
                              </a:lnTo>
                              <a:lnTo>
                                <a:pt x="339" y="58"/>
                              </a:lnTo>
                              <a:lnTo>
                                <a:pt x="332" y="64"/>
                              </a:lnTo>
                              <a:lnTo>
                                <a:pt x="321" y="65"/>
                              </a:lnTo>
                              <a:lnTo>
                                <a:pt x="313" y="70"/>
                              </a:lnTo>
                              <a:lnTo>
                                <a:pt x="304" y="76"/>
                              </a:lnTo>
                              <a:lnTo>
                                <a:pt x="288" y="84"/>
                              </a:lnTo>
                              <a:lnTo>
                                <a:pt x="276" y="87"/>
                              </a:lnTo>
                              <a:lnTo>
                                <a:pt x="262" y="94"/>
                              </a:lnTo>
                              <a:lnTo>
                                <a:pt x="248" y="99"/>
                              </a:lnTo>
                              <a:lnTo>
                                <a:pt x="236" y="105"/>
                              </a:lnTo>
                              <a:lnTo>
                                <a:pt x="222" y="109"/>
                              </a:lnTo>
                              <a:lnTo>
                                <a:pt x="208" y="115"/>
                              </a:lnTo>
                              <a:lnTo>
                                <a:pt x="196" y="118"/>
                              </a:lnTo>
                              <a:lnTo>
                                <a:pt x="184" y="121"/>
                              </a:lnTo>
                              <a:lnTo>
                                <a:pt x="171" y="125"/>
                              </a:lnTo>
                              <a:lnTo>
                                <a:pt x="155" y="128"/>
                              </a:lnTo>
                              <a:lnTo>
                                <a:pt x="140" y="129"/>
                              </a:lnTo>
                              <a:lnTo>
                                <a:pt x="126" y="134"/>
                              </a:lnTo>
                              <a:lnTo>
                                <a:pt x="110" y="137"/>
                              </a:lnTo>
                              <a:lnTo>
                                <a:pt x="95" y="137"/>
                              </a:lnTo>
                              <a:lnTo>
                                <a:pt x="80" y="135"/>
                              </a:lnTo>
                              <a:lnTo>
                                <a:pt x="64" y="137"/>
                              </a:lnTo>
                              <a:lnTo>
                                <a:pt x="51" y="129"/>
                              </a:lnTo>
                              <a:lnTo>
                                <a:pt x="38" y="123"/>
                              </a:lnTo>
                              <a:lnTo>
                                <a:pt x="26" y="116"/>
                              </a:lnTo>
                              <a:lnTo>
                                <a:pt x="12" y="105"/>
                              </a:lnTo>
                              <a:lnTo>
                                <a:pt x="0" y="96"/>
                              </a:lnTo>
                              <a:lnTo>
                                <a:pt x="36" y="91"/>
                              </a:lnTo>
                              <a:lnTo>
                                <a:pt x="41" y="91"/>
                              </a:lnTo>
                              <a:lnTo>
                                <a:pt x="44" y="89"/>
                              </a:lnTo>
                              <a:lnTo>
                                <a:pt x="55" y="87"/>
                              </a:lnTo>
                              <a:lnTo>
                                <a:pt x="66" y="91"/>
                              </a:lnTo>
                              <a:lnTo>
                                <a:pt x="74" y="99"/>
                              </a:lnTo>
                              <a:lnTo>
                                <a:pt x="78" y="99"/>
                              </a:lnTo>
                              <a:lnTo>
                                <a:pt x="84" y="103"/>
                              </a:lnTo>
                              <a:lnTo>
                                <a:pt x="92" y="99"/>
                              </a:lnTo>
                              <a:lnTo>
                                <a:pt x="95" y="87"/>
                              </a:lnTo>
                              <a:lnTo>
                                <a:pt x="97" y="77"/>
                              </a:lnTo>
                              <a:lnTo>
                                <a:pt x="86" y="6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66" name="Freeform 167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69" y="3014"/>
                          <a:ext cx="209" cy="121"/>
                        </a:xfrm>
                        <a:custGeom>
                          <a:avLst/>
                          <a:gdLst>
                            <a:gd name="T0" fmla="*/ 6 w 419"/>
                            <a:gd name="T1" fmla="*/ 1 h 241"/>
                            <a:gd name="T2" fmla="*/ 5 w 419"/>
                            <a:gd name="T3" fmla="*/ 2 h 241"/>
                            <a:gd name="T4" fmla="*/ 5 w 419"/>
                            <a:gd name="T5" fmla="*/ 2 h 241"/>
                            <a:gd name="T6" fmla="*/ 6 w 419"/>
                            <a:gd name="T7" fmla="*/ 3 h 241"/>
                            <a:gd name="T8" fmla="*/ 6 w 419"/>
                            <a:gd name="T9" fmla="*/ 4 h 241"/>
                            <a:gd name="T10" fmla="*/ 6 w 419"/>
                            <a:gd name="T11" fmla="*/ 5 h 241"/>
                            <a:gd name="T12" fmla="*/ 5 w 419"/>
                            <a:gd name="T13" fmla="*/ 6 h 241"/>
                            <a:gd name="T14" fmla="*/ 4 w 419"/>
                            <a:gd name="T15" fmla="*/ 6 h 241"/>
                            <a:gd name="T16" fmla="*/ 4 w 419"/>
                            <a:gd name="T17" fmla="*/ 6 h 241"/>
                            <a:gd name="T18" fmla="*/ 4 w 419"/>
                            <a:gd name="T19" fmla="*/ 6 h 241"/>
                            <a:gd name="T20" fmla="*/ 4 w 419"/>
                            <a:gd name="T21" fmla="*/ 6 h 241"/>
                            <a:gd name="T22" fmla="*/ 6 w 419"/>
                            <a:gd name="T23" fmla="*/ 7 h 241"/>
                            <a:gd name="T24" fmla="*/ 8 w 419"/>
                            <a:gd name="T25" fmla="*/ 7 h 241"/>
                            <a:gd name="T26" fmla="*/ 9 w 419"/>
                            <a:gd name="T27" fmla="*/ 6 h 241"/>
                            <a:gd name="T28" fmla="*/ 10 w 419"/>
                            <a:gd name="T29" fmla="*/ 6 h 241"/>
                            <a:gd name="T30" fmla="*/ 10 w 419"/>
                            <a:gd name="T31" fmla="*/ 5 h 241"/>
                            <a:gd name="T32" fmla="*/ 11 w 419"/>
                            <a:gd name="T33" fmla="*/ 5 h 241"/>
                            <a:gd name="T34" fmla="*/ 12 w 419"/>
                            <a:gd name="T35" fmla="*/ 5 h 241"/>
                            <a:gd name="T36" fmla="*/ 12 w 419"/>
                            <a:gd name="T37" fmla="*/ 6 h 241"/>
                            <a:gd name="T38" fmla="*/ 11 w 419"/>
                            <a:gd name="T39" fmla="*/ 6 h 241"/>
                            <a:gd name="T40" fmla="*/ 11 w 419"/>
                            <a:gd name="T41" fmla="*/ 7 h 241"/>
                            <a:gd name="T42" fmla="*/ 10 w 419"/>
                            <a:gd name="T43" fmla="*/ 7 h 241"/>
                            <a:gd name="T44" fmla="*/ 8 w 419"/>
                            <a:gd name="T45" fmla="*/ 8 h 241"/>
                            <a:gd name="T46" fmla="*/ 7 w 419"/>
                            <a:gd name="T47" fmla="*/ 8 h 241"/>
                            <a:gd name="T48" fmla="*/ 5 w 419"/>
                            <a:gd name="T49" fmla="*/ 8 h 241"/>
                            <a:gd name="T50" fmla="*/ 4 w 419"/>
                            <a:gd name="T51" fmla="*/ 8 h 241"/>
                            <a:gd name="T52" fmla="*/ 3 w 419"/>
                            <a:gd name="T53" fmla="*/ 7 h 241"/>
                            <a:gd name="T54" fmla="*/ 2 w 419"/>
                            <a:gd name="T55" fmla="*/ 7 h 241"/>
                            <a:gd name="T56" fmla="*/ 1 w 419"/>
                            <a:gd name="T57" fmla="*/ 7 h 241"/>
                            <a:gd name="T58" fmla="*/ 1 w 419"/>
                            <a:gd name="T59" fmla="*/ 6 h 241"/>
                            <a:gd name="T60" fmla="*/ 0 w 419"/>
                            <a:gd name="T61" fmla="*/ 6 h 241"/>
                            <a:gd name="T62" fmla="*/ 0 w 419"/>
                            <a:gd name="T63" fmla="*/ 5 h 241"/>
                            <a:gd name="T64" fmla="*/ 0 w 419"/>
                            <a:gd name="T65" fmla="*/ 5 h 241"/>
                            <a:gd name="T66" fmla="*/ 0 w 419"/>
                            <a:gd name="T67" fmla="*/ 5 h 241"/>
                            <a:gd name="T68" fmla="*/ 1 w 419"/>
                            <a:gd name="T69" fmla="*/ 4 h 241"/>
                            <a:gd name="T70" fmla="*/ 2 w 419"/>
                            <a:gd name="T71" fmla="*/ 4 h 241"/>
                            <a:gd name="T72" fmla="*/ 2 w 419"/>
                            <a:gd name="T73" fmla="*/ 4 h 241"/>
                            <a:gd name="T74" fmla="*/ 3 w 419"/>
                            <a:gd name="T75" fmla="*/ 4 h 241"/>
                            <a:gd name="T76" fmla="*/ 3 w 419"/>
                            <a:gd name="T77" fmla="*/ 5 h 241"/>
                            <a:gd name="T78" fmla="*/ 4 w 419"/>
                            <a:gd name="T79" fmla="*/ 4 h 241"/>
                            <a:gd name="T80" fmla="*/ 5 w 419"/>
                            <a:gd name="T81" fmla="*/ 4 h 241"/>
                            <a:gd name="T82" fmla="*/ 4 w 419"/>
                            <a:gd name="T83" fmla="*/ 4 h 241"/>
                            <a:gd name="T84" fmla="*/ 4 w 419"/>
                            <a:gd name="T85" fmla="*/ 4 h 241"/>
                            <a:gd name="T86" fmla="*/ 4 w 419"/>
                            <a:gd name="T87" fmla="*/ 3 h 241"/>
                            <a:gd name="T88" fmla="*/ 5 w 419"/>
                            <a:gd name="T89" fmla="*/ 3 h 241"/>
                            <a:gd name="T90" fmla="*/ 5 w 419"/>
                            <a:gd name="T91" fmla="*/ 2 h 241"/>
                            <a:gd name="T92" fmla="*/ 5 w 419"/>
                            <a:gd name="T93" fmla="*/ 2 h 241"/>
                            <a:gd name="T94" fmla="*/ 5 w 419"/>
                            <a:gd name="T95" fmla="*/ 1 h 241"/>
                            <a:gd name="T96" fmla="*/ 5 w 419"/>
                            <a:gd name="T97" fmla="*/ 1 h 241"/>
                            <a:gd name="T98" fmla="*/ 6 w 419"/>
                            <a:gd name="T99" fmla="*/ 1 h 241"/>
                            <a:gd name="T100" fmla="*/ 6 w 419"/>
                            <a:gd name="T101" fmla="*/ 1 h 241"/>
                            <a:gd name="T102" fmla="*/ 7 w 419"/>
                            <a:gd name="T103" fmla="*/ 1 h 241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w 419"/>
                            <a:gd name="T157" fmla="*/ 0 h 241"/>
                            <a:gd name="T158" fmla="*/ 419 w 419"/>
                            <a:gd name="T159" fmla="*/ 241 h 241"/>
                          </a:gdLst>
                          <a:ahLst/>
                          <a:cxnLst>
                            <a:cxn ang="T104">
                              <a:pos x="T0" y="T1"/>
                            </a:cxn>
                            <a:cxn ang="T105">
                              <a:pos x="T2" y="T3"/>
                            </a:cxn>
                            <a:cxn ang="T106">
                              <a:pos x="T4" y="T5"/>
                            </a:cxn>
                            <a:cxn ang="T107">
                              <a:pos x="T6" y="T7"/>
                            </a:cxn>
                            <a:cxn ang="T108">
                              <a:pos x="T8" y="T9"/>
                            </a:cxn>
                            <a:cxn ang="T109">
                              <a:pos x="T10" y="T11"/>
                            </a:cxn>
                            <a:cxn ang="T110">
                              <a:pos x="T12" y="T13"/>
                            </a:cxn>
                            <a:cxn ang="T111">
                              <a:pos x="T14" y="T15"/>
                            </a:cxn>
                            <a:cxn ang="T112">
                              <a:pos x="T16" y="T17"/>
                            </a:cxn>
                            <a:cxn ang="T113">
                              <a:pos x="T18" y="T19"/>
                            </a:cxn>
                            <a:cxn ang="T114">
                              <a:pos x="T20" y="T21"/>
                            </a:cxn>
                            <a:cxn ang="T115">
                              <a:pos x="T22" y="T23"/>
                            </a:cxn>
                            <a:cxn ang="T116">
                              <a:pos x="T24" y="T25"/>
                            </a:cxn>
                            <a:cxn ang="T117">
                              <a:pos x="T26" y="T27"/>
                            </a:cxn>
                            <a:cxn ang="T118">
                              <a:pos x="T28" y="T29"/>
                            </a:cxn>
                            <a:cxn ang="T119">
                              <a:pos x="T30" y="T31"/>
                            </a:cxn>
                            <a:cxn ang="T120">
                              <a:pos x="T32" y="T33"/>
                            </a:cxn>
                            <a:cxn ang="T121">
                              <a:pos x="T34" y="T35"/>
                            </a:cxn>
                            <a:cxn ang="T122">
                              <a:pos x="T36" y="T37"/>
                            </a:cxn>
                            <a:cxn ang="T123">
                              <a:pos x="T38" y="T39"/>
                            </a:cxn>
                            <a:cxn ang="T124">
                              <a:pos x="T40" y="T41"/>
                            </a:cxn>
                            <a:cxn ang="T125">
                              <a:pos x="T42" y="T43"/>
                            </a:cxn>
                            <a:cxn ang="T126">
                              <a:pos x="T44" y="T45"/>
                            </a:cxn>
                            <a:cxn ang="T127">
                              <a:pos x="T46" y="T47"/>
                            </a:cxn>
                            <a:cxn ang="T128">
                              <a:pos x="T48" y="T49"/>
                            </a:cxn>
                            <a:cxn ang="T129">
                              <a:pos x="T50" y="T51"/>
                            </a:cxn>
                            <a:cxn ang="T130">
                              <a:pos x="T52" y="T53"/>
                            </a:cxn>
                            <a:cxn ang="T131">
                              <a:pos x="T54" y="T55"/>
                            </a:cxn>
                            <a:cxn ang="T132">
                              <a:pos x="T56" y="T57"/>
                            </a:cxn>
                            <a:cxn ang="T133">
                              <a:pos x="T58" y="T59"/>
                            </a:cxn>
                            <a:cxn ang="T134">
                              <a:pos x="T60" y="T61"/>
                            </a:cxn>
                            <a:cxn ang="T135">
                              <a:pos x="T62" y="T63"/>
                            </a:cxn>
                            <a:cxn ang="T136">
                              <a:pos x="T64" y="T65"/>
                            </a:cxn>
                            <a:cxn ang="T137">
                              <a:pos x="T66" y="T67"/>
                            </a:cxn>
                            <a:cxn ang="T138">
                              <a:pos x="T68" y="T69"/>
                            </a:cxn>
                            <a:cxn ang="T139">
                              <a:pos x="T70" y="T71"/>
                            </a:cxn>
                            <a:cxn ang="T140">
                              <a:pos x="T72" y="T73"/>
                            </a:cxn>
                            <a:cxn ang="T141">
                              <a:pos x="T74" y="T75"/>
                            </a:cxn>
                            <a:cxn ang="T142">
                              <a:pos x="T76" y="T77"/>
                            </a:cxn>
                            <a:cxn ang="T143">
                              <a:pos x="T78" y="T79"/>
                            </a:cxn>
                            <a:cxn ang="T144">
                              <a:pos x="T80" y="T81"/>
                            </a:cxn>
                            <a:cxn ang="T145">
                              <a:pos x="T82" y="T83"/>
                            </a:cxn>
                            <a:cxn ang="T146">
                              <a:pos x="T84" y="T85"/>
                            </a:cxn>
                            <a:cxn ang="T147">
                              <a:pos x="T86" y="T87"/>
                            </a:cxn>
                            <a:cxn ang="T148">
                              <a:pos x="T88" y="T89"/>
                            </a:cxn>
                            <a:cxn ang="T149">
                              <a:pos x="T90" y="T91"/>
                            </a:cxn>
                            <a:cxn ang="T150">
                              <a:pos x="T92" y="T93"/>
                            </a:cxn>
                            <a:cxn ang="T151">
                              <a:pos x="T94" y="T95"/>
                            </a:cxn>
                            <a:cxn ang="T152">
                              <a:pos x="T96" y="T97"/>
                            </a:cxn>
                            <a:cxn ang="T153">
                              <a:pos x="T98" y="T99"/>
                            </a:cxn>
                            <a:cxn ang="T154">
                              <a:pos x="T100" y="T101"/>
                            </a:cxn>
                            <a:cxn ang="T155">
                              <a:pos x="T102" y="T103"/>
                            </a:cxn>
                          </a:cxnLst>
                          <a:rect l="T156" t="T157" r="T158" b="T159"/>
                          <a:pathLst>
                            <a:path w="419" h="241">
                              <a:moveTo>
                                <a:pt x="229" y="18"/>
                              </a:moveTo>
                              <a:lnTo>
                                <a:pt x="205" y="32"/>
                              </a:lnTo>
                              <a:lnTo>
                                <a:pt x="201" y="40"/>
                              </a:lnTo>
                              <a:lnTo>
                                <a:pt x="191" y="46"/>
                              </a:lnTo>
                              <a:lnTo>
                                <a:pt x="187" y="48"/>
                              </a:lnTo>
                              <a:lnTo>
                                <a:pt x="179" y="52"/>
                              </a:lnTo>
                              <a:lnTo>
                                <a:pt x="188" y="65"/>
                              </a:lnTo>
                              <a:lnTo>
                                <a:pt x="192" y="71"/>
                              </a:lnTo>
                              <a:lnTo>
                                <a:pt x="192" y="81"/>
                              </a:lnTo>
                              <a:lnTo>
                                <a:pt x="211" y="107"/>
                              </a:lnTo>
                              <a:lnTo>
                                <a:pt x="211" y="123"/>
                              </a:lnTo>
                              <a:lnTo>
                                <a:pt x="209" y="138"/>
                              </a:lnTo>
                              <a:lnTo>
                                <a:pt x="184" y="161"/>
                              </a:lnTo>
                              <a:lnTo>
                                <a:pt x="176" y="170"/>
                              </a:lnTo>
                              <a:lnTo>
                                <a:pt x="165" y="174"/>
                              </a:lnTo>
                              <a:lnTo>
                                <a:pt x="147" y="171"/>
                              </a:lnTo>
                              <a:lnTo>
                                <a:pt x="143" y="167"/>
                              </a:lnTo>
                              <a:lnTo>
                                <a:pt x="128" y="170"/>
                              </a:lnTo>
                              <a:lnTo>
                                <a:pt x="133" y="174"/>
                              </a:lnTo>
                              <a:lnTo>
                                <a:pt x="133" y="183"/>
                              </a:lnTo>
                              <a:lnTo>
                                <a:pt x="142" y="191"/>
                              </a:lnTo>
                              <a:lnTo>
                                <a:pt x="147" y="190"/>
                              </a:lnTo>
                              <a:lnTo>
                                <a:pt x="165" y="196"/>
                              </a:lnTo>
                              <a:lnTo>
                                <a:pt x="201" y="196"/>
                              </a:lnTo>
                              <a:lnTo>
                                <a:pt x="206" y="200"/>
                              </a:lnTo>
                              <a:lnTo>
                                <a:pt x="265" y="196"/>
                              </a:lnTo>
                              <a:lnTo>
                                <a:pt x="292" y="185"/>
                              </a:lnTo>
                              <a:lnTo>
                                <a:pt x="307" y="180"/>
                              </a:lnTo>
                              <a:lnTo>
                                <a:pt x="324" y="171"/>
                              </a:lnTo>
                              <a:lnTo>
                                <a:pt x="329" y="165"/>
                              </a:lnTo>
                              <a:lnTo>
                                <a:pt x="335" y="161"/>
                              </a:lnTo>
                              <a:lnTo>
                                <a:pt x="347" y="155"/>
                              </a:lnTo>
                              <a:lnTo>
                                <a:pt x="360" y="146"/>
                              </a:lnTo>
                              <a:lnTo>
                                <a:pt x="377" y="142"/>
                              </a:lnTo>
                              <a:lnTo>
                                <a:pt x="419" y="119"/>
                              </a:lnTo>
                              <a:lnTo>
                                <a:pt x="414" y="138"/>
                              </a:lnTo>
                              <a:lnTo>
                                <a:pt x="406" y="151"/>
                              </a:lnTo>
                              <a:lnTo>
                                <a:pt x="398" y="162"/>
                              </a:lnTo>
                              <a:lnTo>
                                <a:pt x="390" y="172"/>
                              </a:lnTo>
                              <a:lnTo>
                                <a:pt x="376" y="183"/>
                              </a:lnTo>
                              <a:lnTo>
                                <a:pt x="365" y="191"/>
                              </a:lnTo>
                              <a:lnTo>
                                <a:pt x="354" y="200"/>
                              </a:lnTo>
                              <a:lnTo>
                                <a:pt x="339" y="210"/>
                              </a:lnTo>
                              <a:lnTo>
                                <a:pt x="320" y="222"/>
                              </a:lnTo>
                              <a:lnTo>
                                <a:pt x="303" y="229"/>
                              </a:lnTo>
                              <a:lnTo>
                                <a:pt x="287" y="233"/>
                              </a:lnTo>
                              <a:lnTo>
                                <a:pt x="262" y="238"/>
                              </a:lnTo>
                              <a:lnTo>
                                <a:pt x="235" y="241"/>
                              </a:lnTo>
                              <a:lnTo>
                                <a:pt x="210" y="241"/>
                              </a:lnTo>
                              <a:lnTo>
                                <a:pt x="181" y="239"/>
                              </a:lnTo>
                              <a:lnTo>
                                <a:pt x="163" y="236"/>
                              </a:lnTo>
                              <a:lnTo>
                                <a:pt x="139" y="232"/>
                              </a:lnTo>
                              <a:lnTo>
                                <a:pt x="124" y="226"/>
                              </a:lnTo>
                              <a:lnTo>
                                <a:pt x="107" y="216"/>
                              </a:lnTo>
                              <a:lnTo>
                                <a:pt x="91" y="210"/>
                              </a:lnTo>
                              <a:lnTo>
                                <a:pt x="80" y="204"/>
                              </a:lnTo>
                              <a:lnTo>
                                <a:pt x="69" y="199"/>
                              </a:lnTo>
                              <a:lnTo>
                                <a:pt x="61" y="196"/>
                              </a:lnTo>
                              <a:lnTo>
                                <a:pt x="47" y="188"/>
                              </a:lnTo>
                              <a:lnTo>
                                <a:pt x="37" y="181"/>
                              </a:lnTo>
                              <a:lnTo>
                                <a:pt x="29" y="175"/>
                              </a:lnTo>
                              <a:lnTo>
                                <a:pt x="22" y="167"/>
                              </a:lnTo>
                              <a:lnTo>
                                <a:pt x="14" y="159"/>
                              </a:lnTo>
                              <a:lnTo>
                                <a:pt x="7" y="154"/>
                              </a:lnTo>
                              <a:lnTo>
                                <a:pt x="0" y="148"/>
                              </a:lnTo>
                              <a:lnTo>
                                <a:pt x="14" y="135"/>
                              </a:lnTo>
                              <a:lnTo>
                                <a:pt x="22" y="133"/>
                              </a:lnTo>
                              <a:lnTo>
                                <a:pt x="28" y="133"/>
                              </a:lnTo>
                              <a:lnTo>
                                <a:pt x="36" y="132"/>
                              </a:lnTo>
                              <a:lnTo>
                                <a:pt x="47" y="127"/>
                              </a:lnTo>
                              <a:lnTo>
                                <a:pt x="55" y="129"/>
                              </a:lnTo>
                              <a:lnTo>
                                <a:pt x="66" y="126"/>
                              </a:lnTo>
                              <a:lnTo>
                                <a:pt x="80" y="125"/>
                              </a:lnTo>
                              <a:lnTo>
                                <a:pt x="89" y="126"/>
                              </a:lnTo>
                              <a:lnTo>
                                <a:pt x="98" y="127"/>
                              </a:lnTo>
                              <a:lnTo>
                                <a:pt x="105" y="127"/>
                              </a:lnTo>
                              <a:lnTo>
                                <a:pt x="109" y="129"/>
                              </a:lnTo>
                              <a:lnTo>
                                <a:pt x="117" y="129"/>
                              </a:lnTo>
                              <a:lnTo>
                                <a:pt x="121" y="127"/>
                              </a:lnTo>
                              <a:lnTo>
                                <a:pt x="139" y="125"/>
                              </a:lnTo>
                              <a:lnTo>
                                <a:pt x="153" y="123"/>
                              </a:lnTo>
                              <a:lnTo>
                                <a:pt x="161" y="125"/>
                              </a:lnTo>
                              <a:lnTo>
                                <a:pt x="162" y="120"/>
                              </a:lnTo>
                              <a:lnTo>
                                <a:pt x="159" y="114"/>
                              </a:lnTo>
                              <a:lnTo>
                                <a:pt x="157" y="107"/>
                              </a:lnTo>
                              <a:lnTo>
                                <a:pt x="155" y="103"/>
                              </a:lnTo>
                              <a:lnTo>
                                <a:pt x="153" y="97"/>
                              </a:lnTo>
                              <a:lnTo>
                                <a:pt x="159" y="90"/>
                              </a:lnTo>
                              <a:lnTo>
                                <a:pt x="165" y="82"/>
                              </a:lnTo>
                              <a:lnTo>
                                <a:pt x="172" y="71"/>
                              </a:lnTo>
                              <a:lnTo>
                                <a:pt x="165" y="66"/>
                              </a:lnTo>
                              <a:lnTo>
                                <a:pt x="163" y="62"/>
                              </a:lnTo>
                              <a:lnTo>
                                <a:pt x="159" y="58"/>
                              </a:lnTo>
                              <a:lnTo>
                                <a:pt x="165" y="48"/>
                              </a:lnTo>
                              <a:lnTo>
                                <a:pt x="170" y="39"/>
                              </a:lnTo>
                              <a:lnTo>
                                <a:pt x="174" y="29"/>
                              </a:lnTo>
                              <a:lnTo>
                                <a:pt x="180" y="21"/>
                              </a:lnTo>
                              <a:lnTo>
                                <a:pt x="184" y="20"/>
                              </a:lnTo>
                              <a:lnTo>
                                <a:pt x="191" y="10"/>
                              </a:lnTo>
                              <a:lnTo>
                                <a:pt x="196" y="7"/>
                              </a:lnTo>
                              <a:lnTo>
                                <a:pt x="201" y="7"/>
                              </a:lnTo>
                              <a:lnTo>
                                <a:pt x="210" y="1"/>
                              </a:lnTo>
                              <a:lnTo>
                                <a:pt x="216" y="0"/>
                              </a:lnTo>
                              <a:lnTo>
                                <a:pt x="224" y="1"/>
                              </a:lnTo>
                              <a:lnTo>
                                <a:pt x="229" y="1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67" name="Freeform 16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61" y="2141"/>
                          <a:ext cx="447" cy="406"/>
                        </a:xfrm>
                        <a:custGeom>
                          <a:avLst/>
                          <a:gdLst>
                            <a:gd name="T0" fmla="*/ 3 w 892"/>
                            <a:gd name="T1" fmla="*/ 4 h 813"/>
                            <a:gd name="T2" fmla="*/ 2 w 892"/>
                            <a:gd name="T3" fmla="*/ 3 h 813"/>
                            <a:gd name="T4" fmla="*/ 4 w 892"/>
                            <a:gd name="T5" fmla="*/ 2 h 813"/>
                            <a:gd name="T6" fmla="*/ 5 w 892"/>
                            <a:gd name="T7" fmla="*/ 1 h 813"/>
                            <a:gd name="T8" fmla="*/ 7 w 892"/>
                            <a:gd name="T9" fmla="*/ 1 h 813"/>
                            <a:gd name="T10" fmla="*/ 12 w 892"/>
                            <a:gd name="T11" fmla="*/ 1 h 813"/>
                            <a:gd name="T12" fmla="*/ 15 w 892"/>
                            <a:gd name="T13" fmla="*/ 1 h 813"/>
                            <a:gd name="T14" fmla="*/ 14 w 892"/>
                            <a:gd name="T15" fmla="*/ 1 h 813"/>
                            <a:gd name="T16" fmla="*/ 13 w 892"/>
                            <a:gd name="T17" fmla="*/ 0 h 813"/>
                            <a:gd name="T18" fmla="*/ 15 w 892"/>
                            <a:gd name="T19" fmla="*/ 0 h 813"/>
                            <a:gd name="T20" fmla="*/ 16 w 892"/>
                            <a:gd name="T21" fmla="*/ 0 h 813"/>
                            <a:gd name="T22" fmla="*/ 17 w 892"/>
                            <a:gd name="T23" fmla="*/ 1 h 813"/>
                            <a:gd name="T24" fmla="*/ 17 w 892"/>
                            <a:gd name="T25" fmla="*/ 0 h 813"/>
                            <a:gd name="T26" fmla="*/ 20 w 892"/>
                            <a:gd name="T27" fmla="*/ 1 h 813"/>
                            <a:gd name="T28" fmla="*/ 20 w 892"/>
                            <a:gd name="T29" fmla="*/ 2 h 813"/>
                            <a:gd name="T30" fmla="*/ 19 w 892"/>
                            <a:gd name="T31" fmla="*/ 3 h 813"/>
                            <a:gd name="T32" fmla="*/ 18 w 892"/>
                            <a:gd name="T33" fmla="*/ 5 h 813"/>
                            <a:gd name="T34" fmla="*/ 21 w 892"/>
                            <a:gd name="T35" fmla="*/ 6 h 813"/>
                            <a:gd name="T36" fmla="*/ 21 w 892"/>
                            <a:gd name="T37" fmla="*/ 7 h 813"/>
                            <a:gd name="T38" fmla="*/ 22 w 892"/>
                            <a:gd name="T39" fmla="*/ 6 h 813"/>
                            <a:gd name="T40" fmla="*/ 22 w 892"/>
                            <a:gd name="T41" fmla="*/ 4 h 813"/>
                            <a:gd name="T42" fmla="*/ 24 w 892"/>
                            <a:gd name="T43" fmla="*/ 4 h 813"/>
                            <a:gd name="T44" fmla="*/ 25 w 892"/>
                            <a:gd name="T45" fmla="*/ 4 h 813"/>
                            <a:gd name="T46" fmla="*/ 27 w 892"/>
                            <a:gd name="T47" fmla="*/ 5 h 813"/>
                            <a:gd name="T48" fmla="*/ 28 w 892"/>
                            <a:gd name="T49" fmla="*/ 7 h 813"/>
                            <a:gd name="T50" fmla="*/ 27 w 892"/>
                            <a:gd name="T51" fmla="*/ 7 h 813"/>
                            <a:gd name="T52" fmla="*/ 25 w 892"/>
                            <a:gd name="T53" fmla="*/ 8 h 813"/>
                            <a:gd name="T54" fmla="*/ 27 w 892"/>
                            <a:gd name="T55" fmla="*/ 8 h 813"/>
                            <a:gd name="T56" fmla="*/ 27 w 892"/>
                            <a:gd name="T57" fmla="*/ 10 h 813"/>
                            <a:gd name="T58" fmla="*/ 27 w 892"/>
                            <a:gd name="T59" fmla="*/ 10 h 813"/>
                            <a:gd name="T60" fmla="*/ 26 w 892"/>
                            <a:gd name="T61" fmla="*/ 10 h 813"/>
                            <a:gd name="T62" fmla="*/ 25 w 892"/>
                            <a:gd name="T63" fmla="*/ 12 h 813"/>
                            <a:gd name="T64" fmla="*/ 24 w 892"/>
                            <a:gd name="T65" fmla="*/ 13 h 813"/>
                            <a:gd name="T66" fmla="*/ 23 w 892"/>
                            <a:gd name="T67" fmla="*/ 16 h 813"/>
                            <a:gd name="T68" fmla="*/ 23 w 892"/>
                            <a:gd name="T69" fmla="*/ 18 h 813"/>
                            <a:gd name="T70" fmla="*/ 23 w 892"/>
                            <a:gd name="T71" fmla="*/ 17 h 813"/>
                            <a:gd name="T72" fmla="*/ 21 w 892"/>
                            <a:gd name="T73" fmla="*/ 16 h 813"/>
                            <a:gd name="T74" fmla="*/ 20 w 892"/>
                            <a:gd name="T75" fmla="*/ 16 h 813"/>
                            <a:gd name="T76" fmla="*/ 18 w 892"/>
                            <a:gd name="T77" fmla="*/ 17 h 813"/>
                            <a:gd name="T78" fmla="*/ 17 w 892"/>
                            <a:gd name="T79" fmla="*/ 18 h 813"/>
                            <a:gd name="T80" fmla="*/ 19 w 892"/>
                            <a:gd name="T81" fmla="*/ 21 h 813"/>
                            <a:gd name="T82" fmla="*/ 20 w 892"/>
                            <a:gd name="T83" fmla="*/ 19 h 813"/>
                            <a:gd name="T84" fmla="*/ 21 w 892"/>
                            <a:gd name="T85" fmla="*/ 20 h 813"/>
                            <a:gd name="T86" fmla="*/ 22 w 892"/>
                            <a:gd name="T87" fmla="*/ 22 h 813"/>
                            <a:gd name="T88" fmla="*/ 22 w 892"/>
                            <a:gd name="T89" fmla="*/ 23 h 813"/>
                            <a:gd name="T90" fmla="*/ 24 w 892"/>
                            <a:gd name="T91" fmla="*/ 24 h 813"/>
                            <a:gd name="T92" fmla="*/ 26 w 892"/>
                            <a:gd name="T93" fmla="*/ 24 h 813"/>
                            <a:gd name="T94" fmla="*/ 24 w 892"/>
                            <a:gd name="T95" fmla="*/ 25 h 813"/>
                            <a:gd name="T96" fmla="*/ 22 w 892"/>
                            <a:gd name="T97" fmla="*/ 24 h 813"/>
                            <a:gd name="T98" fmla="*/ 21 w 892"/>
                            <a:gd name="T99" fmla="*/ 23 h 813"/>
                            <a:gd name="T100" fmla="*/ 19 w 892"/>
                            <a:gd name="T101" fmla="*/ 22 h 813"/>
                            <a:gd name="T102" fmla="*/ 17 w 892"/>
                            <a:gd name="T103" fmla="*/ 21 h 813"/>
                            <a:gd name="T104" fmla="*/ 14 w 892"/>
                            <a:gd name="T105" fmla="*/ 19 h 813"/>
                            <a:gd name="T106" fmla="*/ 12 w 892"/>
                            <a:gd name="T107" fmla="*/ 15 h 813"/>
                            <a:gd name="T108" fmla="*/ 12 w 892"/>
                            <a:gd name="T109" fmla="*/ 19 h 813"/>
                            <a:gd name="T110" fmla="*/ 11 w 892"/>
                            <a:gd name="T111" fmla="*/ 16 h 813"/>
                            <a:gd name="T112" fmla="*/ 9 w 892"/>
                            <a:gd name="T113" fmla="*/ 12 h 813"/>
                            <a:gd name="T114" fmla="*/ 9 w 892"/>
                            <a:gd name="T115" fmla="*/ 9 h 813"/>
                            <a:gd name="T116" fmla="*/ 9 w 892"/>
                            <a:gd name="T117" fmla="*/ 6 h 813"/>
                            <a:gd name="T118" fmla="*/ 8 w 892"/>
                            <a:gd name="T119" fmla="*/ 5 h 813"/>
                            <a:gd name="T120" fmla="*/ 7 w 892"/>
                            <a:gd name="T121" fmla="*/ 4 h 813"/>
                            <a:gd name="T122" fmla="*/ 5 w 892"/>
                            <a:gd name="T123" fmla="*/ 4 h 813"/>
                            <a:gd name="T124" fmla="*/ 3 w 892"/>
                            <a:gd name="T125" fmla="*/ 5 h 813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60000 65536"/>
                            <a:gd name="T157" fmla="*/ 0 60000 65536"/>
                            <a:gd name="T158" fmla="*/ 0 60000 65536"/>
                            <a:gd name="T159" fmla="*/ 0 60000 65536"/>
                            <a:gd name="T160" fmla="*/ 0 60000 65536"/>
                            <a:gd name="T161" fmla="*/ 0 60000 65536"/>
                            <a:gd name="T162" fmla="*/ 0 60000 65536"/>
                            <a:gd name="T163" fmla="*/ 0 60000 65536"/>
                            <a:gd name="T164" fmla="*/ 0 60000 65536"/>
                            <a:gd name="T165" fmla="*/ 0 60000 65536"/>
                            <a:gd name="T166" fmla="*/ 0 60000 65536"/>
                            <a:gd name="T167" fmla="*/ 0 60000 65536"/>
                            <a:gd name="T168" fmla="*/ 0 60000 65536"/>
                            <a:gd name="T169" fmla="*/ 0 60000 65536"/>
                            <a:gd name="T170" fmla="*/ 0 60000 65536"/>
                            <a:gd name="T171" fmla="*/ 0 60000 65536"/>
                            <a:gd name="T172" fmla="*/ 0 60000 65536"/>
                            <a:gd name="T173" fmla="*/ 0 60000 65536"/>
                            <a:gd name="T174" fmla="*/ 0 60000 65536"/>
                            <a:gd name="T175" fmla="*/ 0 60000 65536"/>
                            <a:gd name="T176" fmla="*/ 0 60000 65536"/>
                            <a:gd name="T177" fmla="*/ 0 60000 65536"/>
                            <a:gd name="T178" fmla="*/ 0 60000 65536"/>
                            <a:gd name="T179" fmla="*/ 0 60000 65536"/>
                            <a:gd name="T180" fmla="*/ 0 60000 65536"/>
                            <a:gd name="T181" fmla="*/ 0 60000 65536"/>
                            <a:gd name="T182" fmla="*/ 0 60000 65536"/>
                            <a:gd name="T183" fmla="*/ 0 60000 65536"/>
                            <a:gd name="T184" fmla="*/ 0 60000 65536"/>
                            <a:gd name="T185" fmla="*/ 0 60000 65536"/>
                            <a:gd name="T186" fmla="*/ 0 60000 65536"/>
                            <a:gd name="T187" fmla="*/ 0 60000 65536"/>
                            <a:gd name="T188" fmla="*/ 0 60000 65536"/>
                            <a:gd name="T189" fmla="*/ 0 w 892"/>
                            <a:gd name="T190" fmla="*/ 0 h 813"/>
                            <a:gd name="T191" fmla="*/ 892 w 892"/>
                            <a:gd name="T192" fmla="*/ 813 h 813"/>
                          </a:gdLst>
                          <a:ahLst/>
                          <a:cxnLst>
                            <a:cxn ang="T126">
                              <a:pos x="T0" y="T1"/>
                            </a:cxn>
                            <a:cxn ang="T127">
                              <a:pos x="T2" y="T3"/>
                            </a:cxn>
                            <a:cxn ang="T128">
                              <a:pos x="T4" y="T5"/>
                            </a:cxn>
                            <a:cxn ang="T129">
                              <a:pos x="T6" y="T7"/>
                            </a:cxn>
                            <a:cxn ang="T130">
                              <a:pos x="T8" y="T9"/>
                            </a:cxn>
                            <a:cxn ang="T131">
                              <a:pos x="T10" y="T11"/>
                            </a:cxn>
                            <a:cxn ang="T132">
                              <a:pos x="T12" y="T13"/>
                            </a:cxn>
                            <a:cxn ang="T133">
                              <a:pos x="T14" y="T15"/>
                            </a:cxn>
                            <a:cxn ang="T134">
                              <a:pos x="T16" y="T17"/>
                            </a:cxn>
                            <a:cxn ang="T135">
                              <a:pos x="T18" y="T19"/>
                            </a:cxn>
                            <a:cxn ang="T136">
                              <a:pos x="T20" y="T21"/>
                            </a:cxn>
                            <a:cxn ang="T137">
                              <a:pos x="T22" y="T23"/>
                            </a:cxn>
                            <a:cxn ang="T138">
                              <a:pos x="T24" y="T25"/>
                            </a:cxn>
                            <a:cxn ang="T139">
                              <a:pos x="T26" y="T27"/>
                            </a:cxn>
                            <a:cxn ang="T140">
                              <a:pos x="T28" y="T29"/>
                            </a:cxn>
                            <a:cxn ang="T141">
                              <a:pos x="T30" y="T31"/>
                            </a:cxn>
                            <a:cxn ang="T142">
                              <a:pos x="T32" y="T33"/>
                            </a:cxn>
                            <a:cxn ang="T143">
                              <a:pos x="T34" y="T35"/>
                            </a:cxn>
                            <a:cxn ang="T144">
                              <a:pos x="T36" y="T37"/>
                            </a:cxn>
                            <a:cxn ang="T145">
                              <a:pos x="T38" y="T39"/>
                            </a:cxn>
                            <a:cxn ang="T146">
                              <a:pos x="T40" y="T41"/>
                            </a:cxn>
                            <a:cxn ang="T147">
                              <a:pos x="T42" y="T43"/>
                            </a:cxn>
                            <a:cxn ang="T148">
                              <a:pos x="T44" y="T45"/>
                            </a:cxn>
                            <a:cxn ang="T149">
                              <a:pos x="T46" y="T47"/>
                            </a:cxn>
                            <a:cxn ang="T150">
                              <a:pos x="T48" y="T49"/>
                            </a:cxn>
                            <a:cxn ang="T151">
                              <a:pos x="T50" y="T51"/>
                            </a:cxn>
                            <a:cxn ang="T152">
                              <a:pos x="T52" y="T53"/>
                            </a:cxn>
                            <a:cxn ang="T153">
                              <a:pos x="T54" y="T55"/>
                            </a:cxn>
                            <a:cxn ang="T154">
                              <a:pos x="T56" y="T57"/>
                            </a:cxn>
                            <a:cxn ang="T155">
                              <a:pos x="T58" y="T59"/>
                            </a:cxn>
                            <a:cxn ang="T156">
                              <a:pos x="T60" y="T61"/>
                            </a:cxn>
                            <a:cxn ang="T157">
                              <a:pos x="T62" y="T63"/>
                            </a:cxn>
                            <a:cxn ang="T158">
                              <a:pos x="T64" y="T65"/>
                            </a:cxn>
                            <a:cxn ang="T159">
                              <a:pos x="T66" y="T67"/>
                            </a:cxn>
                            <a:cxn ang="T160">
                              <a:pos x="T68" y="T69"/>
                            </a:cxn>
                            <a:cxn ang="T161">
                              <a:pos x="T70" y="T71"/>
                            </a:cxn>
                            <a:cxn ang="T162">
                              <a:pos x="T72" y="T73"/>
                            </a:cxn>
                            <a:cxn ang="T163">
                              <a:pos x="T74" y="T75"/>
                            </a:cxn>
                            <a:cxn ang="T164">
                              <a:pos x="T76" y="T77"/>
                            </a:cxn>
                            <a:cxn ang="T165">
                              <a:pos x="T78" y="T79"/>
                            </a:cxn>
                            <a:cxn ang="T166">
                              <a:pos x="T80" y="T81"/>
                            </a:cxn>
                            <a:cxn ang="T167">
                              <a:pos x="T82" y="T83"/>
                            </a:cxn>
                            <a:cxn ang="T168">
                              <a:pos x="T84" y="T85"/>
                            </a:cxn>
                            <a:cxn ang="T169">
                              <a:pos x="T86" y="T87"/>
                            </a:cxn>
                            <a:cxn ang="T170">
                              <a:pos x="T88" y="T89"/>
                            </a:cxn>
                            <a:cxn ang="T171">
                              <a:pos x="T90" y="T91"/>
                            </a:cxn>
                            <a:cxn ang="T172">
                              <a:pos x="T92" y="T93"/>
                            </a:cxn>
                            <a:cxn ang="T173">
                              <a:pos x="T94" y="T95"/>
                            </a:cxn>
                            <a:cxn ang="T174">
                              <a:pos x="T96" y="T97"/>
                            </a:cxn>
                            <a:cxn ang="T175">
                              <a:pos x="T98" y="T99"/>
                            </a:cxn>
                            <a:cxn ang="T176">
                              <a:pos x="T100" y="T101"/>
                            </a:cxn>
                            <a:cxn ang="T177">
                              <a:pos x="T102" y="T103"/>
                            </a:cxn>
                            <a:cxn ang="T178">
                              <a:pos x="T104" y="T105"/>
                            </a:cxn>
                            <a:cxn ang="T179">
                              <a:pos x="T106" y="T107"/>
                            </a:cxn>
                            <a:cxn ang="T180">
                              <a:pos x="T108" y="T109"/>
                            </a:cxn>
                            <a:cxn ang="T181">
                              <a:pos x="T110" y="T111"/>
                            </a:cxn>
                            <a:cxn ang="T182">
                              <a:pos x="T112" y="T113"/>
                            </a:cxn>
                            <a:cxn ang="T183">
                              <a:pos x="T114" y="T115"/>
                            </a:cxn>
                            <a:cxn ang="T184">
                              <a:pos x="T116" y="T117"/>
                            </a:cxn>
                            <a:cxn ang="T185">
                              <a:pos x="T118" y="T119"/>
                            </a:cxn>
                            <a:cxn ang="T186">
                              <a:pos x="T120" y="T121"/>
                            </a:cxn>
                            <a:cxn ang="T187">
                              <a:pos x="T122" y="T123"/>
                            </a:cxn>
                            <a:cxn ang="T188">
                              <a:pos x="T124" y="T125"/>
                            </a:cxn>
                          </a:cxnLst>
                          <a:rect l="T189" t="T190" r="T191" b="T192"/>
                          <a:pathLst>
                            <a:path w="892" h="813">
                              <a:moveTo>
                                <a:pt x="0" y="209"/>
                              </a:moveTo>
                              <a:lnTo>
                                <a:pt x="42" y="181"/>
                              </a:lnTo>
                              <a:lnTo>
                                <a:pt x="67" y="170"/>
                              </a:lnTo>
                              <a:lnTo>
                                <a:pt x="71" y="152"/>
                              </a:lnTo>
                              <a:lnTo>
                                <a:pt x="52" y="142"/>
                              </a:lnTo>
                              <a:lnTo>
                                <a:pt x="50" y="122"/>
                              </a:lnTo>
                              <a:lnTo>
                                <a:pt x="59" y="116"/>
                              </a:lnTo>
                              <a:lnTo>
                                <a:pt x="57" y="107"/>
                              </a:lnTo>
                              <a:lnTo>
                                <a:pt x="90" y="104"/>
                              </a:lnTo>
                              <a:lnTo>
                                <a:pt x="98" y="88"/>
                              </a:lnTo>
                              <a:lnTo>
                                <a:pt x="100" y="74"/>
                              </a:lnTo>
                              <a:lnTo>
                                <a:pt x="127" y="69"/>
                              </a:lnTo>
                              <a:lnTo>
                                <a:pt x="130" y="55"/>
                              </a:lnTo>
                              <a:lnTo>
                                <a:pt x="104" y="51"/>
                              </a:lnTo>
                              <a:lnTo>
                                <a:pt x="116" y="40"/>
                              </a:lnTo>
                              <a:lnTo>
                                <a:pt x="159" y="40"/>
                              </a:lnTo>
                              <a:lnTo>
                                <a:pt x="171" y="29"/>
                              </a:lnTo>
                              <a:lnTo>
                                <a:pt x="189" y="27"/>
                              </a:lnTo>
                              <a:lnTo>
                                <a:pt x="200" y="17"/>
                              </a:lnTo>
                              <a:lnTo>
                                <a:pt x="214" y="35"/>
                              </a:lnTo>
                              <a:lnTo>
                                <a:pt x="267" y="32"/>
                              </a:lnTo>
                              <a:lnTo>
                                <a:pt x="292" y="49"/>
                              </a:lnTo>
                              <a:lnTo>
                                <a:pt x="371" y="45"/>
                              </a:lnTo>
                              <a:lnTo>
                                <a:pt x="384" y="36"/>
                              </a:lnTo>
                              <a:lnTo>
                                <a:pt x="414" y="51"/>
                              </a:lnTo>
                              <a:lnTo>
                                <a:pt x="445" y="64"/>
                              </a:lnTo>
                              <a:lnTo>
                                <a:pt x="461" y="58"/>
                              </a:lnTo>
                              <a:lnTo>
                                <a:pt x="470" y="51"/>
                              </a:lnTo>
                              <a:lnTo>
                                <a:pt x="496" y="55"/>
                              </a:lnTo>
                              <a:lnTo>
                                <a:pt x="478" y="45"/>
                              </a:lnTo>
                              <a:lnTo>
                                <a:pt x="462" y="46"/>
                              </a:lnTo>
                              <a:lnTo>
                                <a:pt x="437" y="49"/>
                              </a:lnTo>
                              <a:lnTo>
                                <a:pt x="425" y="35"/>
                              </a:lnTo>
                              <a:lnTo>
                                <a:pt x="411" y="27"/>
                              </a:lnTo>
                              <a:lnTo>
                                <a:pt x="411" y="14"/>
                              </a:lnTo>
                              <a:lnTo>
                                <a:pt x="415" y="1"/>
                              </a:lnTo>
                              <a:lnTo>
                                <a:pt x="426" y="0"/>
                              </a:lnTo>
                              <a:lnTo>
                                <a:pt x="441" y="11"/>
                              </a:lnTo>
                              <a:lnTo>
                                <a:pt x="445" y="6"/>
                              </a:lnTo>
                              <a:lnTo>
                                <a:pt x="458" y="0"/>
                              </a:lnTo>
                              <a:lnTo>
                                <a:pt x="473" y="8"/>
                              </a:lnTo>
                              <a:lnTo>
                                <a:pt x="481" y="1"/>
                              </a:lnTo>
                              <a:lnTo>
                                <a:pt x="489" y="13"/>
                              </a:lnTo>
                              <a:lnTo>
                                <a:pt x="491" y="22"/>
                              </a:lnTo>
                              <a:lnTo>
                                <a:pt x="513" y="32"/>
                              </a:lnTo>
                              <a:lnTo>
                                <a:pt x="504" y="40"/>
                              </a:lnTo>
                              <a:lnTo>
                                <a:pt x="504" y="52"/>
                              </a:lnTo>
                              <a:lnTo>
                                <a:pt x="541" y="55"/>
                              </a:lnTo>
                              <a:lnTo>
                                <a:pt x="551" y="40"/>
                              </a:lnTo>
                              <a:lnTo>
                                <a:pt x="544" y="33"/>
                              </a:lnTo>
                              <a:lnTo>
                                <a:pt x="528" y="35"/>
                              </a:lnTo>
                              <a:lnTo>
                                <a:pt x="532" y="17"/>
                              </a:lnTo>
                              <a:lnTo>
                                <a:pt x="565" y="27"/>
                              </a:lnTo>
                              <a:lnTo>
                                <a:pt x="572" y="39"/>
                              </a:lnTo>
                              <a:lnTo>
                                <a:pt x="599" y="39"/>
                              </a:lnTo>
                              <a:lnTo>
                                <a:pt x="626" y="53"/>
                              </a:lnTo>
                              <a:lnTo>
                                <a:pt x="640" y="51"/>
                              </a:lnTo>
                              <a:lnTo>
                                <a:pt x="655" y="64"/>
                              </a:lnTo>
                              <a:lnTo>
                                <a:pt x="640" y="81"/>
                              </a:lnTo>
                              <a:lnTo>
                                <a:pt x="628" y="68"/>
                              </a:lnTo>
                              <a:lnTo>
                                <a:pt x="620" y="72"/>
                              </a:lnTo>
                              <a:lnTo>
                                <a:pt x="607" y="83"/>
                              </a:lnTo>
                              <a:lnTo>
                                <a:pt x="588" y="91"/>
                              </a:lnTo>
                              <a:lnTo>
                                <a:pt x="598" y="104"/>
                              </a:lnTo>
                              <a:lnTo>
                                <a:pt x="581" y="106"/>
                              </a:lnTo>
                              <a:lnTo>
                                <a:pt x="567" y="123"/>
                              </a:lnTo>
                              <a:lnTo>
                                <a:pt x="554" y="145"/>
                              </a:lnTo>
                              <a:lnTo>
                                <a:pt x="574" y="164"/>
                              </a:lnTo>
                              <a:lnTo>
                                <a:pt x="591" y="186"/>
                              </a:lnTo>
                              <a:lnTo>
                                <a:pt x="622" y="189"/>
                              </a:lnTo>
                              <a:lnTo>
                                <a:pt x="650" y="186"/>
                              </a:lnTo>
                              <a:lnTo>
                                <a:pt x="662" y="197"/>
                              </a:lnTo>
                              <a:lnTo>
                                <a:pt x="657" y="203"/>
                              </a:lnTo>
                              <a:lnTo>
                                <a:pt x="648" y="215"/>
                              </a:lnTo>
                              <a:lnTo>
                                <a:pt x="661" y="235"/>
                              </a:lnTo>
                              <a:lnTo>
                                <a:pt x="665" y="249"/>
                              </a:lnTo>
                              <a:lnTo>
                                <a:pt x="680" y="257"/>
                              </a:lnTo>
                              <a:lnTo>
                                <a:pt x="700" y="244"/>
                              </a:lnTo>
                              <a:lnTo>
                                <a:pt x="695" y="225"/>
                              </a:lnTo>
                              <a:lnTo>
                                <a:pt x="677" y="209"/>
                              </a:lnTo>
                              <a:lnTo>
                                <a:pt x="698" y="190"/>
                              </a:lnTo>
                              <a:lnTo>
                                <a:pt x="680" y="158"/>
                              </a:lnTo>
                              <a:lnTo>
                                <a:pt x="663" y="145"/>
                              </a:lnTo>
                              <a:lnTo>
                                <a:pt x="677" y="133"/>
                              </a:lnTo>
                              <a:lnTo>
                                <a:pt x="674" y="116"/>
                              </a:lnTo>
                              <a:lnTo>
                                <a:pt x="684" y="106"/>
                              </a:lnTo>
                              <a:lnTo>
                                <a:pt x="700" y="116"/>
                              </a:lnTo>
                              <a:lnTo>
                                <a:pt x="739" y="154"/>
                              </a:lnTo>
                              <a:lnTo>
                                <a:pt x="762" y="159"/>
                              </a:lnTo>
                              <a:lnTo>
                                <a:pt x="769" y="149"/>
                              </a:lnTo>
                              <a:lnTo>
                                <a:pt x="764" y="129"/>
                              </a:lnTo>
                              <a:lnTo>
                                <a:pt x="777" y="132"/>
                              </a:lnTo>
                              <a:lnTo>
                                <a:pt x="801" y="155"/>
                              </a:lnTo>
                              <a:lnTo>
                                <a:pt x="805" y="168"/>
                              </a:lnTo>
                              <a:lnTo>
                                <a:pt x="818" y="177"/>
                              </a:lnTo>
                              <a:lnTo>
                                <a:pt x="846" y="187"/>
                              </a:lnTo>
                              <a:lnTo>
                                <a:pt x="860" y="206"/>
                              </a:lnTo>
                              <a:lnTo>
                                <a:pt x="880" y="219"/>
                              </a:lnTo>
                              <a:lnTo>
                                <a:pt x="891" y="223"/>
                              </a:lnTo>
                              <a:lnTo>
                                <a:pt x="892" y="235"/>
                              </a:lnTo>
                              <a:lnTo>
                                <a:pt x="876" y="242"/>
                              </a:lnTo>
                              <a:lnTo>
                                <a:pt x="866" y="234"/>
                              </a:lnTo>
                              <a:lnTo>
                                <a:pt x="858" y="235"/>
                              </a:lnTo>
                              <a:lnTo>
                                <a:pt x="855" y="254"/>
                              </a:lnTo>
                              <a:lnTo>
                                <a:pt x="842" y="258"/>
                              </a:lnTo>
                              <a:lnTo>
                                <a:pt x="827" y="248"/>
                              </a:lnTo>
                              <a:lnTo>
                                <a:pt x="795" y="248"/>
                              </a:lnTo>
                              <a:lnTo>
                                <a:pt x="791" y="270"/>
                              </a:lnTo>
                              <a:lnTo>
                                <a:pt x="799" y="283"/>
                              </a:lnTo>
                              <a:lnTo>
                                <a:pt x="812" y="276"/>
                              </a:lnTo>
                              <a:lnTo>
                                <a:pt x="824" y="273"/>
                              </a:lnTo>
                              <a:lnTo>
                                <a:pt x="836" y="280"/>
                              </a:lnTo>
                              <a:lnTo>
                                <a:pt x="820" y="296"/>
                              </a:lnTo>
                              <a:lnTo>
                                <a:pt x="836" y="310"/>
                              </a:lnTo>
                              <a:lnTo>
                                <a:pt x="858" y="315"/>
                              </a:lnTo>
                              <a:lnTo>
                                <a:pt x="855" y="324"/>
                              </a:lnTo>
                              <a:lnTo>
                                <a:pt x="847" y="325"/>
                              </a:lnTo>
                              <a:lnTo>
                                <a:pt x="827" y="374"/>
                              </a:lnTo>
                              <a:lnTo>
                                <a:pt x="828" y="342"/>
                              </a:lnTo>
                              <a:lnTo>
                                <a:pt x="838" y="326"/>
                              </a:lnTo>
                              <a:lnTo>
                                <a:pt x="827" y="319"/>
                              </a:lnTo>
                              <a:lnTo>
                                <a:pt x="814" y="329"/>
                              </a:lnTo>
                              <a:lnTo>
                                <a:pt x="821" y="338"/>
                              </a:lnTo>
                              <a:lnTo>
                                <a:pt x="812" y="344"/>
                              </a:lnTo>
                              <a:lnTo>
                                <a:pt x="802" y="351"/>
                              </a:lnTo>
                              <a:lnTo>
                                <a:pt x="803" y="373"/>
                              </a:lnTo>
                              <a:lnTo>
                                <a:pt x="790" y="382"/>
                              </a:lnTo>
                              <a:lnTo>
                                <a:pt x="770" y="385"/>
                              </a:lnTo>
                              <a:lnTo>
                                <a:pt x="777" y="396"/>
                              </a:lnTo>
                              <a:lnTo>
                                <a:pt x="770" y="409"/>
                              </a:lnTo>
                              <a:lnTo>
                                <a:pt x="777" y="419"/>
                              </a:lnTo>
                              <a:lnTo>
                                <a:pt x="766" y="441"/>
                              </a:lnTo>
                              <a:lnTo>
                                <a:pt x="762" y="462"/>
                              </a:lnTo>
                              <a:lnTo>
                                <a:pt x="746" y="473"/>
                              </a:lnTo>
                              <a:lnTo>
                                <a:pt x="725" y="505"/>
                              </a:lnTo>
                              <a:lnTo>
                                <a:pt x="722" y="527"/>
                              </a:lnTo>
                              <a:lnTo>
                                <a:pt x="729" y="544"/>
                              </a:lnTo>
                              <a:lnTo>
                                <a:pt x="739" y="566"/>
                              </a:lnTo>
                              <a:lnTo>
                                <a:pt x="744" y="589"/>
                              </a:lnTo>
                              <a:lnTo>
                                <a:pt x="735" y="599"/>
                              </a:lnTo>
                              <a:lnTo>
                                <a:pt x="722" y="592"/>
                              </a:lnTo>
                              <a:lnTo>
                                <a:pt x="725" y="581"/>
                              </a:lnTo>
                              <a:lnTo>
                                <a:pt x="718" y="554"/>
                              </a:lnTo>
                              <a:lnTo>
                                <a:pt x="710" y="550"/>
                              </a:lnTo>
                              <a:lnTo>
                                <a:pt x="705" y="534"/>
                              </a:lnTo>
                              <a:lnTo>
                                <a:pt x="694" y="534"/>
                              </a:lnTo>
                              <a:lnTo>
                                <a:pt x="681" y="525"/>
                              </a:lnTo>
                              <a:lnTo>
                                <a:pt x="668" y="528"/>
                              </a:lnTo>
                              <a:lnTo>
                                <a:pt x="655" y="522"/>
                              </a:lnTo>
                              <a:lnTo>
                                <a:pt x="640" y="530"/>
                              </a:lnTo>
                              <a:lnTo>
                                <a:pt x="613" y="524"/>
                              </a:lnTo>
                              <a:lnTo>
                                <a:pt x="631" y="543"/>
                              </a:lnTo>
                              <a:lnTo>
                                <a:pt x="607" y="541"/>
                              </a:lnTo>
                              <a:lnTo>
                                <a:pt x="591" y="527"/>
                              </a:lnTo>
                              <a:lnTo>
                                <a:pt x="563" y="527"/>
                              </a:lnTo>
                              <a:lnTo>
                                <a:pt x="567" y="550"/>
                              </a:lnTo>
                              <a:lnTo>
                                <a:pt x="547" y="543"/>
                              </a:lnTo>
                              <a:lnTo>
                                <a:pt x="536" y="566"/>
                              </a:lnTo>
                              <a:lnTo>
                                <a:pt x="544" y="576"/>
                              </a:lnTo>
                              <a:lnTo>
                                <a:pt x="536" y="604"/>
                              </a:lnTo>
                              <a:lnTo>
                                <a:pt x="546" y="636"/>
                              </a:lnTo>
                              <a:lnTo>
                                <a:pt x="557" y="658"/>
                              </a:lnTo>
                              <a:lnTo>
                                <a:pt x="569" y="678"/>
                              </a:lnTo>
                              <a:lnTo>
                                <a:pt x="607" y="676"/>
                              </a:lnTo>
                              <a:lnTo>
                                <a:pt x="624" y="672"/>
                              </a:lnTo>
                              <a:lnTo>
                                <a:pt x="626" y="658"/>
                              </a:lnTo>
                              <a:lnTo>
                                <a:pt x="618" y="646"/>
                              </a:lnTo>
                              <a:lnTo>
                                <a:pt x="620" y="636"/>
                              </a:lnTo>
                              <a:lnTo>
                                <a:pt x="643" y="639"/>
                              </a:lnTo>
                              <a:lnTo>
                                <a:pt x="666" y="633"/>
                              </a:lnTo>
                              <a:lnTo>
                                <a:pt x="666" y="646"/>
                              </a:lnTo>
                              <a:lnTo>
                                <a:pt x="659" y="665"/>
                              </a:lnTo>
                              <a:lnTo>
                                <a:pt x="648" y="679"/>
                              </a:lnTo>
                              <a:lnTo>
                                <a:pt x="646" y="700"/>
                              </a:lnTo>
                              <a:lnTo>
                                <a:pt x="661" y="708"/>
                              </a:lnTo>
                              <a:lnTo>
                                <a:pt x="681" y="705"/>
                              </a:lnTo>
                              <a:lnTo>
                                <a:pt x="694" y="713"/>
                              </a:lnTo>
                              <a:lnTo>
                                <a:pt x="705" y="710"/>
                              </a:lnTo>
                              <a:lnTo>
                                <a:pt x="709" y="723"/>
                              </a:lnTo>
                              <a:lnTo>
                                <a:pt x="699" y="743"/>
                              </a:lnTo>
                              <a:lnTo>
                                <a:pt x="707" y="755"/>
                              </a:lnTo>
                              <a:lnTo>
                                <a:pt x="709" y="778"/>
                              </a:lnTo>
                              <a:lnTo>
                                <a:pt x="722" y="794"/>
                              </a:lnTo>
                              <a:lnTo>
                                <a:pt x="740" y="798"/>
                              </a:lnTo>
                              <a:lnTo>
                                <a:pt x="753" y="794"/>
                              </a:lnTo>
                              <a:lnTo>
                                <a:pt x="758" y="795"/>
                              </a:lnTo>
                              <a:lnTo>
                                <a:pt x="781" y="795"/>
                              </a:lnTo>
                              <a:lnTo>
                                <a:pt x="802" y="797"/>
                              </a:lnTo>
                              <a:lnTo>
                                <a:pt x="807" y="787"/>
                              </a:lnTo>
                              <a:lnTo>
                                <a:pt x="790" y="804"/>
                              </a:lnTo>
                              <a:lnTo>
                                <a:pt x="777" y="803"/>
                              </a:lnTo>
                              <a:lnTo>
                                <a:pt x="765" y="804"/>
                              </a:lnTo>
                              <a:lnTo>
                                <a:pt x="740" y="813"/>
                              </a:lnTo>
                              <a:lnTo>
                                <a:pt x="720" y="801"/>
                              </a:lnTo>
                              <a:lnTo>
                                <a:pt x="700" y="794"/>
                              </a:lnTo>
                              <a:lnTo>
                                <a:pt x="692" y="795"/>
                              </a:lnTo>
                              <a:lnTo>
                                <a:pt x="694" y="785"/>
                              </a:lnTo>
                              <a:lnTo>
                                <a:pt x="692" y="769"/>
                              </a:lnTo>
                              <a:lnTo>
                                <a:pt x="676" y="755"/>
                              </a:lnTo>
                              <a:lnTo>
                                <a:pt x="642" y="746"/>
                              </a:lnTo>
                              <a:lnTo>
                                <a:pt x="636" y="739"/>
                              </a:lnTo>
                              <a:lnTo>
                                <a:pt x="626" y="740"/>
                              </a:lnTo>
                              <a:lnTo>
                                <a:pt x="617" y="733"/>
                              </a:lnTo>
                              <a:lnTo>
                                <a:pt x="602" y="726"/>
                              </a:lnTo>
                              <a:lnTo>
                                <a:pt x="585" y="705"/>
                              </a:lnTo>
                              <a:lnTo>
                                <a:pt x="566" y="700"/>
                              </a:lnTo>
                              <a:lnTo>
                                <a:pt x="555" y="713"/>
                              </a:lnTo>
                              <a:lnTo>
                                <a:pt x="543" y="703"/>
                              </a:lnTo>
                              <a:lnTo>
                                <a:pt x="528" y="703"/>
                              </a:lnTo>
                              <a:lnTo>
                                <a:pt x="498" y="695"/>
                              </a:lnTo>
                              <a:lnTo>
                                <a:pt x="443" y="660"/>
                              </a:lnTo>
                              <a:lnTo>
                                <a:pt x="439" y="624"/>
                              </a:lnTo>
                              <a:lnTo>
                                <a:pt x="433" y="610"/>
                              </a:lnTo>
                              <a:lnTo>
                                <a:pt x="423" y="599"/>
                              </a:lnTo>
                              <a:lnTo>
                                <a:pt x="411" y="579"/>
                              </a:lnTo>
                              <a:lnTo>
                                <a:pt x="354" y="509"/>
                              </a:lnTo>
                              <a:lnTo>
                                <a:pt x="354" y="536"/>
                              </a:lnTo>
                              <a:lnTo>
                                <a:pt x="389" y="582"/>
                              </a:lnTo>
                              <a:lnTo>
                                <a:pt x="404" y="621"/>
                              </a:lnTo>
                              <a:lnTo>
                                <a:pt x="382" y="613"/>
                              </a:lnTo>
                              <a:lnTo>
                                <a:pt x="378" y="589"/>
                              </a:lnTo>
                              <a:lnTo>
                                <a:pt x="349" y="575"/>
                              </a:lnTo>
                              <a:lnTo>
                                <a:pt x="366" y="566"/>
                              </a:lnTo>
                              <a:lnTo>
                                <a:pt x="327" y="541"/>
                              </a:lnTo>
                              <a:lnTo>
                                <a:pt x="343" y="527"/>
                              </a:lnTo>
                              <a:lnTo>
                                <a:pt x="329" y="498"/>
                              </a:lnTo>
                              <a:lnTo>
                                <a:pt x="282" y="437"/>
                              </a:lnTo>
                              <a:lnTo>
                                <a:pt x="277" y="402"/>
                              </a:lnTo>
                              <a:lnTo>
                                <a:pt x="279" y="373"/>
                              </a:lnTo>
                              <a:lnTo>
                                <a:pt x="292" y="344"/>
                              </a:lnTo>
                              <a:lnTo>
                                <a:pt x="292" y="315"/>
                              </a:lnTo>
                              <a:lnTo>
                                <a:pt x="282" y="297"/>
                              </a:lnTo>
                              <a:lnTo>
                                <a:pt x="308" y="292"/>
                              </a:lnTo>
                              <a:lnTo>
                                <a:pt x="277" y="257"/>
                              </a:lnTo>
                              <a:lnTo>
                                <a:pt x="278" y="241"/>
                              </a:lnTo>
                              <a:lnTo>
                                <a:pt x="264" y="219"/>
                              </a:lnTo>
                              <a:lnTo>
                                <a:pt x="270" y="206"/>
                              </a:lnTo>
                              <a:lnTo>
                                <a:pt x="260" y="199"/>
                              </a:lnTo>
                              <a:lnTo>
                                <a:pt x="259" y="184"/>
                              </a:lnTo>
                              <a:lnTo>
                                <a:pt x="249" y="173"/>
                              </a:lnTo>
                              <a:lnTo>
                                <a:pt x="260" y="162"/>
                              </a:lnTo>
                              <a:lnTo>
                                <a:pt x="245" y="155"/>
                              </a:lnTo>
                              <a:lnTo>
                                <a:pt x="233" y="165"/>
                              </a:lnTo>
                              <a:lnTo>
                                <a:pt x="215" y="145"/>
                              </a:lnTo>
                              <a:lnTo>
                                <a:pt x="196" y="139"/>
                              </a:lnTo>
                              <a:lnTo>
                                <a:pt x="168" y="139"/>
                              </a:lnTo>
                              <a:lnTo>
                                <a:pt x="151" y="158"/>
                              </a:lnTo>
                              <a:lnTo>
                                <a:pt x="142" y="152"/>
                              </a:lnTo>
                              <a:lnTo>
                                <a:pt x="157" y="128"/>
                              </a:lnTo>
                              <a:lnTo>
                                <a:pt x="144" y="132"/>
                              </a:lnTo>
                              <a:lnTo>
                                <a:pt x="116" y="158"/>
                              </a:lnTo>
                              <a:lnTo>
                                <a:pt x="88" y="181"/>
                              </a:lnTo>
                              <a:lnTo>
                                <a:pt x="61" y="187"/>
                              </a:lnTo>
                              <a:lnTo>
                                <a:pt x="18" y="210"/>
                              </a:lnTo>
                              <a:lnTo>
                                <a:pt x="0" y="20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68" name="Freeform 16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81" y="2102"/>
                          <a:ext cx="151" cy="107"/>
                        </a:xfrm>
                        <a:custGeom>
                          <a:avLst/>
                          <a:gdLst>
                            <a:gd name="T0" fmla="*/ 0 w 303"/>
                            <a:gd name="T1" fmla="*/ 2 h 213"/>
                            <a:gd name="T2" fmla="*/ 0 w 303"/>
                            <a:gd name="T3" fmla="*/ 1 h 213"/>
                            <a:gd name="T4" fmla="*/ 0 w 303"/>
                            <a:gd name="T5" fmla="*/ 1 h 213"/>
                            <a:gd name="T6" fmla="*/ 0 w 303"/>
                            <a:gd name="T7" fmla="*/ 0 h 213"/>
                            <a:gd name="T8" fmla="*/ 2 w 303"/>
                            <a:gd name="T9" fmla="*/ 1 h 213"/>
                            <a:gd name="T10" fmla="*/ 5 w 303"/>
                            <a:gd name="T11" fmla="*/ 1 h 213"/>
                            <a:gd name="T12" fmla="*/ 6 w 303"/>
                            <a:gd name="T13" fmla="*/ 2 h 213"/>
                            <a:gd name="T14" fmla="*/ 7 w 303"/>
                            <a:gd name="T15" fmla="*/ 2 h 213"/>
                            <a:gd name="T16" fmla="*/ 8 w 303"/>
                            <a:gd name="T17" fmla="*/ 3 h 213"/>
                            <a:gd name="T18" fmla="*/ 9 w 303"/>
                            <a:gd name="T19" fmla="*/ 4 h 213"/>
                            <a:gd name="T20" fmla="*/ 9 w 303"/>
                            <a:gd name="T21" fmla="*/ 4 h 213"/>
                            <a:gd name="T22" fmla="*/ 9 w 303"/>
                            <a:gd name="T23" fmla="*/ 4 h 213"/>
                            <a:gd name="T24" fmla="*/ 8 w 303"/>
                            <a:gd name="T25" fmla="*/ 4 h 213"/>
                            <a:gd name="T26" fmla="*/ 8 w 303"/>
                            <a:gd name="T27" fmla="*/ 5 h 213"/>
                            <a:gd name="T28" fmla="*/ 8 w 303"/>
                            <a:gd name="T29" fmla="*/ 5 h 213"/>
                            <a:gd name="T30" fmla="*/ 8 w 303"/>
                            <a:gd name="T31" fmla="*/ 5 h 213"/>
                            <a:gd name="T32" fmla="*/ 8 w 303"/>
                            <a:gd name="T33" fmla="*/ 6 h 213"/>
                            <a:gd name="T34" fmla="*/ 8 w 303"/>
                            <a:gd name="T35" fmla="*/ 6 h 213"/>
                            <a:gd name="T36" fmla="*/ 9 w 303"/>
                            <a:gd name="T37" fmla="*/ 7 h 213"/>
                            <a:gd name="T38" fmla="*/ 9 w 303"/>
                            <a:gd name="T39" fmla="*/ 7 h 213"/>
                            <a:gd name="T40" fmla="*/ 9 w 303"/>
                            <a:gd name="T41" fmla="*/ 7 h 213"/>
                            <a:gd name="T42" fmla="*/ 8 w 303"/>
                            <a:gd name="T43" fmla="*/ 7 h 213"/>
                            <a:gd name="T44" fmla="*/ 8 w 303"/>
                            <a:gd name="T45" fmla="*/ 7 h 213"/>
                            <a:gd name="T46" fmla="*/ 7 w 303"/>
                            <a:gd name="T47" fmla="*/ 7 h 213"/>
                            <a:gd name="T48" fmla="*/ 7 w 303"/>
                            <a:gd name="T49" fmla="*/ 7 h 213"/>
                            <a:gd name="T50" fmla="*/ 7 w 303"/>
                            <a:gd name="T51" fmla="*/ 6 h 213"/>
                            <a:gd name="T52" fmla="*/ 7 w 303"/>
                            <a:gd name="T53" fmla="*/ 6 h 213"/>
                            <a:gd name="T54" fmla="*/ 6 w 303"/>
                            <a:gd name="T55" fmla="*/ 6 h 213"/>
                            <a:gd name="T56" fmla="*/ 6 w 303"/>
                            <a:gd name="T57" fmla="*/ 5 h 213"/>
                            <a:gd name="T58" fmla="*/ 5 w 303"/>
                            <a:gd name="T59" fmla="*/ 5 h 213"/>
                            <a:gd name="T60" fmla="*/ 5 w 303"/>
                            <a:gd name="T61" fmla="*/ 5 h 213"/>
                            <a:gd name="T62" fmla="*/ 4 w 303"/>
                            <a:gd name="T63" fmla="*/ 4 h 213"/>
                            <a:gd name="T64" fmla="*/ 4 w 303"/>
                            <a:gd name="T65" fmla="*/ 4 h 213"/>
                            <a:gd name="T66" fmla="*/ 5 w 303"/>
                            <a:gd name="T67" fmla="*/ 4 h 213"/>
                            <a:gd name="T68" fmla="*/ 4 w 303"/>
                            <a:gd name="T69" fmla="*/ 3 h 213"/>
                            <a:gd name="T70" fmla="*/ 4 w 303"/>
                            <a:gd name="T71" fmla="*/ 4 h 213"/>
                            <a:gd name="T72" fmla="*/ 4 w 303"/>
                            <a:gd name="T73" fmla="*/ 3 h 213"/>
                            <a:gd name="T74" fmla="*/ 4 w 303"/>
                            <a:gd name="T75" fmla="*/ 3 h 213"/>
                            <a:gd name="T76" fmla="*/ 3 w 303"/>
                            <a:gd name="T77" fmla="*/ 3 h 213"/>
                            <a:gd name="T78" fmla="*/ 3 w 303"/>
                            <a:gd name="T79" fmla="*/ 3 h 213"/>
                            <a:gd name="T80" fmla="*/ 3 w 303"/>
                            <a:gd name="T81" fmla="*/ 3 h 213"/>
                            <a:gd name="T82" fmla="*/ 3 w 303"/>
                            <a:gd name="T83" fmla="*/ 3 h 213"/>
                            <a:gd name="T84" fmla="*/ 3 w 303"/>
                            <a:gd name="T85" fmla="*/ 3 h 213"/>
                            <a:gd name="T86" fmla="*/ 2 w 303"/>
                            <a:gd name="T87" fmla="*/ 2 h 213"/>
                            <a:gd name="T88" fmla="*/ 2 w 303"/>
                            <a:gd name="T89" fmla="*/ 2 h 213"/>
                            <a:gd name="T90" fmla="*/ 2 w 303"/>
                            <a:gd name="T91" fmla="*/ 2 h 213"/>
                            <a:gd name="T92" fmla="*/ 1 w 303"/>
                            <a:gd name="T93" fmla="*/ 2 h 213"/>
                            <a:gd name="T94" fmla="*/ 0 w 303"/>
                            <a:gd name="T95" fmla="*/ 2 h 213"/>
                            <a:gd name="T96" fmla="*/ 0 w 303"/>
                            <a:gd name="T97" fmla="*/ 2 h 213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w 303"/>
                            <a:gd name="T148" fmla="*/ 0 h 213"/>
                            <a:gd name="T149" fmla="*/ 303 w 303"/>
                            <a:gd name="T150" fmla="*/ 213 h 213"/>
                          </a:gdLst>
                          <a:ahLst/>
                          <a:cxnLst>
                            <a:cxn ang="T98">
                              <a:pos x="T0" y="T1"/>
                            </a:cxn>
                            <a:cxn ang="T99">
                              <a:pos x="T2" y="T3"/>
                            </a:cxn>
                            <a:cxn ang="T100">
                              <a:pos x="T4" y="T5"/>
                            </a:cxn>
                            <a:cxn ang="T101">
                              <a:pos x="T6" y="T7"/>
                            </a:cxn>
                            <a:cxn ang="T102">
                              <a:pos x="T8" y="T9"/>
                            </a:cxn>
                            <a:cxn ang="T103">
                              <a:pos x="T10" y="T11"/>
                            </a:cxn>
                            <a:cxn ang="T104">
                              <a:pos x="T12" y="T13"/>
                            </a:cxn>
                            <a:cxn ang="T105">
                              <a:pos x="T14" y="T15"/>
                            </a:cxn>
                            <a:cxn ang="T106">
                              <a:pos x="T16" y="T17"/>
                            </a:cxn>
                            <a:cxn ang="T107">
                              <a:pos x="T18" y="T19"/>
                            </a:cxn>
                            <a:cxn ang="T108">
                              <a:pos x="T20" y="T21"/>
                            </a:cxn>
                            <a:cxn ang="T109">
                              <a:pos x="T22" y="T23"/>
                            </a:cxn>
                            <a:cxn ang="T110">
                              <a:pos x="T24" y="T25"/>
                            </a:cxn>
                            <a:cxn ang="T111">
                              <a:pos x="T26" y="T27"/>
                            </a:cxn>
                            <a:cxn ang="T112">
                              <a:pos x="T28" y="T29"/>
                            </a:cxn>
                            <a:cxn ang="T113">
                              <a:pos x="T30" y="T31"/>
                            </a:cxn>
                            <a:cxn ang="T114">
                              <a:pos x="T32" y="T33"/>
                            </a:cxn>
                            <a:cxn ang="T115">
                              <a:pos x="T34" y="T35"/>
                            </a:cxn>
                            <a:cxn ang="T116">
                              <a:pos x="T36" y="T37"/>
                            </a:cxn>
                            <a:cxn ang="T117">
                              <a:pos x="T38" y="T39"/>
                            </a:cxn>
                            <a:cxn ang="T118">
                              <a:pos x="T40" y="T41"/>
                            </a:cxn>
                            <a:cxn ang="T119">
                              <a:pos x="T42" y="T43"/>
                            </a:cxn>
                            <a:cxn ang="T120">
                              <a:pos x="T44" y="T45"/>
                            </a:cxn>
                            <a:cxn ang="T121">
                              <a:pos x="T46" y="T47"/>
                            </a:cxn>
                            <a:cxn ang="T122">
                              <a:pos x="T48" y="T49"/>
                            </a:cxn>
                            <a:cxn ang="T123">
                              <a:pos x="T50" y="T51"/>
                            </a:cxn>
                            <a:cxn ang="T124">
                              <a:pos x="T52" y="T53"/>
                            </a:cxn>
                            <a:cxn ang="T125">
                              <a:pos x="T54" y="T55"/>
                            </a:cxn>
                            <a:cxn ang="T126">
                              <a:pos x="T56" y="T57"/>
                            </a:cxn>
                            <a:cxn ang="T127">
                              <a:pos x="T58" y="T59"/>
                            </a:cxn>
                            <a:cxn ang="T128">
                              <a:pos x="T60" y="T61"/>
                            </a:cxn>
                            <a:cxn ang="T129">
                              <a:pos x="T62" y="T63"/>
                            </a:cxn>
                            <a:cxn ang="T130">
                              <a:pos x="T64" y="T65"/>
                            </a:cxn>
                            <a:cxn ang="T131">
                              <a:pos x="T66" y="T67"/>
                            </a:cxn>
                            <a:cxn ang="T132">
                              <a:pos x="T68" y="T69"/>
                            </a:cxn>
                            <a:cxn ang="T133">
                              <a:pos x="T70" y="T71"/>
                            </a:cxn>
                            <a:cxn ang="T134">
                              <a:pos x="T72" y="T73"/>
                            </a:cxn>
                            <a:cxn ang="T135">
                              <a:pos x="T74" y="T75"/>
                            </a:cxn>
                            <a:cxn ang="T136">
                              <a:pos x="T76" y="T77"/>
                            </a:cxn>
                            <a:cxn ang="T137">
                              <a:pos x="T78" y="T79"/>
                            </a:cxn>
                            <a:cxn ang="T138">
                              <a:pos x="T80" y="T81"/>
                            </a:cxn>
                            <a:cxn ang="T139">
                              <a:pos x="T82" y="T83"/>
                            </a:cxn>
                            <a:cxn ang="T140">
                              <a:pos x="T84" y="T85"/>
                            </a:cxn>
                            <a:cxn ang="T141">
                              <a:pos x="T86" y="T87"/>
                            </a:cxn>
                            <a:cxn ang="T142">
                              <a:pos x="T88" y="T89"/>
                            </a:cxn>
                            <a:cxn ang="T143">
                              <a:pos x="T90" y="T91"/>
                            </a:cxn>
                            <a:cxn ang="T144">
                              <a:pos x="T92" y="T93"/>
                            </a:cxn>
                            <a:cxn ang="T145">
                              <a:pos x="T94" y="T95"/>
                            </a:cxn>
                            <a:cxn ang="T146">
                              <a:pos x="T96" y="T97"/>
                            </a:cxn>
                          </a:cxnLst>
                          <a:rect l="T147" t="T148" r="T149" b="T150"/>
                          <a:pathLst>
                            <a:path w="303" h="213">
                              <a:moveTo>
                                <a:pt x="0" y="43"/>
                              </a:moveTo>
                              <a:lnTo>
                                <a:pt x="7" y="27"/>
                              </a:lnTo>
                              <a:lnTo>
                                <a:pt x="7" y="16"/>
                              </a:lnTo>
                              <a:lnTo>
                                <a:pt x="18" y="0"/>
                              </a:lnTo>
                              <a:lnTo>
                                <a:pt x="72" y="10"/>
                              </a:lnTo>
                              <a:lnTo>
                                <a:pt x="167" y="29"/>
                              </a:lnTo>
                              <a:lnTo>
                                <a:pt x="204" y="45"/>
                              </a:lnTo>
                              <a:lnTo>
                                <a:pt x="253" y="59"/>
                              </a:lnTo>
                              <a:lnTo>
                                <a:pt x="278" y="87"/>
                              </a:lnTo>
                              <a:lnTo>
                                <a:pt x="303" y="101"/>
                              </a:lnTo>
                              <a:lnTo>
                                <a:pt x="293" y="112"/>
                              </a:lnTo>
                              <a:lnTo>
                                <a:pt x="293" y="125"/>
                              </a:lnTo>
                              <a:lnTo>
                                <a:pt x="284" y="128"/>
                              </a:lnTo>
                              <a:lnTo>
                                <a:pt x="275" y="139"/>
                              </a:lnTo>
                              <a:lnTo>
                                <a:pt x="284" y="151"/>
                              </a:lnTo>
                              <a:lnTo>
                                <a:pt x="282" y="160"/>
                              </a:lnTo>
                              <a:lnTo>
                                <a:pt x="273" y="171"/>
                              </a:lnTo>
                              <a:lnTo>
                                <a:pt x="274" y="183"/>
                              </a:lnTo>
                              <a:lnTo>
                                <a:pt x="291" y="194"/>
                              </a:lnTo>
                              <a:lnTo>
                                <a:pt x="292" y="206"/>
                              </a:lnTo>
                              <a:lnTo>
                                <a:pt x="288" y="212"/>
                              </a:lnTo>
                              <a:lnTo>
                                <a:pt x="271" y="213"/>
                              </a:lnTo>
                              <a:lnTo>
                                <a:pt x="259" y="207"/>
                              </a:lnTo>
                              <a:lnTo>
                                <a:pt x="245" y="193"/>
                              </a:lnTo>
                              <a:lnTo>
                                <a:pt x="240" y="193"/>
                              </a:lnTo>
                              <a:lnTo>
                                <a:pt x="233" y="187"/>
                              </a:lnTo>
                              <a:lnTo>
                                <a:pt x="226" y="170"/>
                              </a:lnTo>
                              <a:lnTo>
                                <a:pt x="218" y="164"/>
                              </a:lnTo>
                              <a:lnTo>
                                <a:pt x="200" y="155"/>
                              </a:lnTo>
                              <a:lnTo>
                                <a:pt x="185" y="149"/>
                              </a:lnTo>
                              <a:lnTo>
                                <a:pt x="163" y="133"/>
                              </a:lnTo>
                              <a:lnTo>
                                <a:pt x="153" y="122"/>
                              </a:lnTo>
                              <a:lnTo>
                                <a:pt x="155" y="113"/>
                              </a:lnTo>
                              <a:lnTo>
                                <a:pt x="164" y="106"/>
                              </a:lnTo>
                              <a:lnTo>
                                <a:pt x="156" y="96"/>
                              </a:lnTo>
                              <a:lnTo>
                                <a:pt x="148" y="101"/>
                              </a:lnTo>
                              <a:lnTo>
                                <a:pt x="134" y="87"/>
                              </a:lnTo>
                              <a:lnTo>
                                <a:pt x="131" y="94"/>
                              </a:lnTo>
                              <a:lnTo>
                                <a:pt x="119" y="94"/>
                              </a:lnTo>
                              <a:lnTo>
                                <a:pt x="116" y="88"/>
                              </a:lnTo>
                              <a:lnTo>
                                <a:pt x="116" y="78"/>
                              </a:lnTo>
                              <a:lnTo>
                                <a:pt x="111" y="72"/>
                              </a:lnTo>
                              <a:lnTo>
                                <a:pt x="103" y="74"/>
                              </a:lnTo>
                              <a:lnTo>
                                <a:pt x="92" y="58"/>
                              </a:lnTo>
                              <a:lnTo>
                                <a:pt x="83" y="56"/>
                              </a:lnTo>
                              <a:lnTo>
                                <a:pt x="71" y="49"/>
                              </a:lnTo>
                              <a:lnTo>
                                <a:pt x="45" y="51"/>
                              </a:lnTo>
                              <a:lnTo>
                                <a:pt x="19" y="49"/>
                              </a:lnTo>
                              <a:lnTo>
                                <a:pt x="0" y="4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69" name="Freeform 17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49" y="2140"/>
                          <a:ext cx="98" cy="55"/>
                        </a:xfrm>
                        <a:custGeom>
                          <a:avLst/>
                          <a:gdLst>
                            <a:gd name="T0" fmla="*/ 0 w 198"/>
                            <a:gd name="T1" fmla="*/ 0 h 111"/>
                            <a:gd name="T2" fmla="*/ 0 w 198"/>
                            <a:gd name="T3" fmla="*/ 0 h 111"/>
                            <a:gd name="T4" fmla="*/ 0 w 198"/>
                            <a:gd name="T5" fmla="*/ 0 h 111"/>
                            <a:gd name="T6" fmla="*/ 0 w 198"/>
                            <a:gd name="T7" fmla="*/ 0 h 111"/>
                            <a:gd name="T8" fmla="*/ 0 w 198"/>
                            <a:gd name="T9" fmla="*/ 0 h 111"/>
                            <a:gd name="T10" fmla="*/ 0 w 198"/>
                            <a:gd name="T11" fmla="*/ 1 h 111"/>
                            <a:gd name="T12" fmla="*/ 1 w 198"/>
                            <a:gd name="T13" fmla="*/ 1 h 111"/>
                            <a:gd name="T14" fmla="*/ 1 w 198"/>
                            <a:gd name="T15" fmla="*/ 0 h 111"/>
                            <a:gd name="T16" fmla="*/ 1 w 198"/>
                            <a:gd name="T17" fmla="*/ 0 h 111"/>
                            <a:gd name="T18" fmla="*/ 1 w 198"/>
                            <a:gd name="T19" fmla="*/ 1 h 111"/>
                            <a:gd name="T20" fmla="*/ 2 w 198"/>
                            <a:gd name="T21" fmla="*/ 1 h 111"/>
                            <a:gd name="T22" fmla="*/ 2 w 198"/>
                            <a:gd name="T23" fmla="*/ 1 h 111"/>
                            <a:gd name="T24" fmla="*/ 2 w 198"/>
                            <a:gd name="T25" fmla="*/ 1 h 111"/>
                            <a:gd name="T26" fmla="*/ 3 w 198"/>
                            <a:gd name="T27" fmla="*/ 1 h 111"/>
                            <a:gd name="T28" fmla="*/ 3 w 198"/>
                            <a:gd name="T29" fmla="*/ 1 h 111"/>
                            <a:gd name="T30" fmla="*/ 3 w 198"/>
                            <a:gd name="T31" fmla="*/ 2 h 111"/>
                            <a:gd name="T32" fmla="*/ 3 w 198"/>
                            <a:gd name="T33" fmla="*/ 2 h 111"/>
                            <a:gd name="T34" fmla="*/ 3 w 198"/>
                            <a:gd name="T35" fmla="*/ 2 h 111"/>
                            <a:gd name="T36" fmla="*/ 3 w 198"/>
                            <a:gd name="T37" fmla="*/ 2 h 111"/>
                            <a:gd name="T38" fmla="*/ 3 w 198"/>
                            <a:gd name="T39" fmla="*/ 2 h 111"/>
                            <a:gd name="T40" fmla="*/ 3 w 198"/>
                            <a:gd name="T41" fmla="*/ 2 h 111"/>
                            <a:gd name="T42" fmla="*/ 3 w 198"/>
                            <a:gd name="T43" fmla="*/ 2 h 111"/>
                            <a:gd name="T44" fmla="*/ 3 w 198"/>
                            <a:gd name="T45" fmla="*/ 2 h 111"/>
                            <a:gd name="T46" fmla="*/ 3 w 198"/>
                            <a:gd name="T47" fmla="*/ 2 h 111"/>
                            <a:gd name="T48" fmla="*/ 4 w 198"/>
                            <a:gd name="T49" fmla="*/ 2 h 111"/>
                            <a:gd name="T50" fmla="*/ 4 w 198"/>
                            <a:gd name="T51" fmla="*/ 2 h 111"/>
                            <a:gd name="T52" fmla="*/ 4 w 198"/>
                            <a:gd name="T53" fmla="*/ 3 h 111"/>
                            <a:gd name="T54" fmla="*/ 4 w 198"/>
                            <a:gd name="T55" fmla="*/ 3 h 111"/>
                            <a:gd name="T56" fmla="*/ 4 w 198"/>
                            <a:gd name="T57" fmla="*/ 3 h 111"/>
                            <a:gd name="T58" fmla="*/ 5 w 198"/>
                            <a:gd name="T59" fmla="*/ 3 h 111"/>
                            <a:gd name="T60" fmla="*/ 5 w 198"/>
                            <a:gd name="T61" fmla="*/ 3 h 111"/>
                            <a:gd name="T62" fmla="*/ 5 w 198"/>
                            <a:gd name="T63" fmla="*/ 3 h 111"/>
                            <a:gd name="T64" fmla="*/ 5 w 198"/>
                            <a:gd name="T65" fmla="*/ 3 h 111"/>
                            <a:gd name="T66" fmla="*/ 5 w 198"/>
                            <a:gd name="T67" fmla="*/ 3 h 111"/>
                            <a:gd name="T68" fmla="*/ 5 w 198"/>
                            <a:gd name="T69" fmla="*/ 3 h 111"/>
                            <a:gd name="T70" fmla="*/ 6 w 198"/>
                            <a:gd name="T71" fmla="*/ 3 h 111"/>
                            <a:gd name="T72" fmla="*/ 5 w 198"/>
                            <a:gd name="T73" fmla="*/ 2 h 111"/>
                            <a:gd name="T74" fmla="*/ 5 w 198"/>
                            <a:gd name="T75" fmla="*/ 2 h 111"/>
                            <a:gd name="T76" fmla="*/ 5 w 198"/>
                            <a:gd name="T77" fmla="*/ 2 h 111"/>
                            <a:gd name="T78" fmla="*/ 5 w 198"/>
                            <a:gd name="T79" fmla="*/ 2 h 111"/>
                            <a:gd name="T80" fmla="*/ 5 w 198"/>
                            <a:gd name="T81" fmla="*/ 2 h 111"/>
                            <a:gd name="T82" fmla="*/ 6 w 198"/>
                            <a:gd name="T83" fmla="*/ 2 h 111"/>
                            <a:gd name="T84" fmla="*/ 6 w 198"/>
                            <a:gd name="T85" fmla="*/ 2 h 111"/>
                            <a:gd name="T86" fmla="*/ 5 w 198"/>
                            <a:gd name="T87" fmla="*/ 2 h 111"/>
                            <a:gd name="T88" fmla="*/ 5 w 198"/>
                            <a:gd name="T89" fmla="*/ 2 h 111"/>
                            <a:gd name="T90" fmla="*/ 5 w 198"/>
                            <a:gd name="T91" fmla="*/ 1 h 111"/>
                            <a:gd name="T92" fmla="*/ 4 w 198"/>
                            <a:gd name="T93" fmla="*/ 1 h 111"/>
                            <a:gd name="T94" fmla="*/ 4 w 198"/>
                            <a:gd name="T95" fmla="*/ 1 h 111"/>
                            <a:gd name="T96" fmla="*/ 3 w 198"/>
                            <a:gd name="T97" fmla="*/ 1 h 111"/>
                            <a:gd name="T98" fmla="*/ 3 w 198"/>
                            <a:gd name="T99" fmla="*/ 0 h 111"/>
                            <a:gd name="T100" fmla="*/ 3 w 198"/>
                            <a:gd name="T101" fmla="*/ 0 h 111"/>
                            <a:gd name="T102" fmla="*/ 3 w 198"/>
                            <a:gd name="T103" fmla="*/ 0 h 111"/>
                            <a:gd name="T104" fmla="*/ 3 w 198"/>
                            <a:gd name="T105" fmla="*/ 0 h 111"/>
                            <a:gd name="T106" fmla="*/ 2 w 198"/>
                            <a:gd name="T107" fmla="*/ 0 h 111"/>
                            <a:gd name="T108" fmla="*/ 2 w 198"/>
                            <a:gd name="T109" fmla="*/ 0 h 111"/>
                            <a:gd name="T110" fmla="*/ 2 w 198"/>
                            <a:gd name="T111" fmla="*/ 0 h 111"/>
                            <a:gd name="T112" fmla="*/ 1 w 198"/>
                            <a:gd name="T113" fmla="*/ 0 h 111"/>
                            <a:gd name="T114" fmla="*/ 1 w 198"/>
                            <a:gd name="T115" fmla="*/ 0 h 111"/>
                            <a:gd name="T116" fmla="*/ 1 w 198"/>
                            <a:gd name="T117" fmla="*/ 0 h 111"/>
                            <a:gd name="T118" fmla="*/ 1 w 198"/>
                            <a:gd name="T119" fmla="*/ 0 h 111"/>
                            <a:gd name="T120" fmla="*/ 0 w 198"/>
                            <a:gd name="T121" fmla="*/ 0 h 111"/>
                            <a:gd name="T122" fmla="*/ 0 w 198"/>
                            <a:gd name="T123" fmla="*/ 0 h 111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60000 65536"/>
                            <a:gd name="T157" fmla="*/ 0 60000 65536"/>
                            <a:gd name="T158" fmla="*/ 0 60000 65536"/>
                            <a:gd name="T159" fmla="*/ 0 60000 65536"/>
                            <a:gd name="T160" fmla="*/ 0 60000 65536"/>
                            <a:gd name="T161" fmla="*/ 0 60000 65536"/>
                            <a:gd name="T162" fmla="*/ 0 60000 65536"/>
                            <a:gd name="T163" fmla="*/ 0 60000 65536"/>
                            <a:gd name="T164" fmla="*/ 0 60000 65536"/>
                            <a:gd name="T165" fmla="*/ 0 60000 65536"/>
                            <a:gd name="T166" fmla="*/ 0 60000 65536"/>
                            <a:gd name="T167" fmla="*/ 0 60000 65536"/>
                            <a:gd name="T168" fmla="*/ 0 60000 65536"/>
                            <a:gd name="T169" fmla="*/ 0 60000 65536"/>
                            <a:gd name="T170" fmla="*/ 0 60000 65536"/>
                            <a:gd name="T171" fmla="*/ 0 60000 65536"/>
                            <a:gd name="T172" fmla="*/ 0 60000 65536"/>
                            <a:gd name="T173" fmla="*/ 0 60000 65536"/>
                            <a:gd name="T174" fmla="*/ 0 60000 65536"/>
                            <a:gd name="T175" fmla="*/ 0 60000 65536"/>
                            <a:gd name="T176" fmla="*/ 0 60000 65536"/>
                            <a:gd name="T177" fmla="*/ 0 60000 65536"/>
                            <a:gd name="T178" fmla="*/ 0 60000 65536"/>
                            <a:gd name="T179" fmla="*/ 0 60000 65536"/>
                            <a:gd name="T180" fmla="*/ 0 60000 65536"/>
                            <a:gd name="T181" fmla="*/ 0 60000 65536"/>
                            <a:gd name="T182" fmla="*/ 0 60000 65536"/>
                            <a:gd name="T183" fmla="*/ 0 60000 65536"/>
                            <a:gd name="T184" fmla="*/ 0 60000 65536"/>
                            <a:gd name="T185" fmla="*/ 0 60000 65536"/>
                            <a:gd name="T186" fmla="*/ 0 w 198"/>
                            <a:gd name="T187" fmla="*/ 0 h 111"/>
                            <a:gd name="T188" fmla="*/ 198 w 198"/>
                            <a:gd name="T189" fmla="*/ 111 h 111"/>
                          </a:gdLst>
                          <a:ahLst/>
                          <a:cxnLst>
                            <a:cxn ang="T124">
                              <a:pos x="T0" y="T1"/>
                            </a:cxn>
                            <a:cxn ang="T125">
                              <a:pos x="T2" y="T3"/>
                            </a:cxn>
                            <a:cxn ang="T126">
                              <a:pos x="T4" y="T5"/>
                            </a:cxn>
                            <a:cxn ang="T127">
                              <a:pos x="T6" y="T7"/>
                            </a:cxn>
                            <a:cxn ang="T128">
                              <a:pos x="T8" y="T9"/>
                            </a:cxn>
                            <a:cxn ang="T129">
                              <a:pos x="T10" y="T11"/>
                            </a:cxn>
                            <a:cxn ang="T130">
                              <a:pos x="T12" y="T13"/>
                            </a:cxn>
                            <a:cxn ang="T131">
                              <a:pos x="T14" y="T15"/>
                            </a:cxn>
                            <a:cxn ang="T132">
                              <a:pos x="T16" y="T17"/>
                            </a:cxn>
                            <a:cxn ang="T133">
                              <a:pos x="T18" y="T19"/>
                            </a:cxn>
                            <a:cxn ang="T134">
                              <a:pos x="T20" y="T21"/>
                            </a:cxn>
                            <a:cxn ang="T135">
                              <a:pos x="T22" y="T23"/>
                            </a:cxn>
                            <a:cxn ang="T136">
                              <a:pos x="T24" y="T25"/>
                            </a:cxn>
                            <a:cxn ang="T137">
                              <a:pos x="T26" y="T27"/>
                            </a:cxn>
                            <a:cxn ang="T138">
                              <a:pos x="T28" y="T29"/>
                            </a:cxn>
                            <a:cxn ang="T139">
                              <a:pos x="T30" y="T31"/>
                            </a:cxn>
                            <a:cxn ang="T140">
                              <a:pos x="T32" y="T33"/>
                            </a:cxn>
                            <a:cxn ang="T141">
                              <a:pos x="T34" y="T35"/>
                            </a:cxn>
                            <a:cxn ang="T142">
                              <a:pos x="T36" y="T37"/>
                            </a:cxn>
                            <a:cxn ang="T143">
                              <a:pos x="T38" y="T39"/>
                            </a:cxn>
                            <a:cxn ang="T144">
                              <a:pos x="T40" y="T41"/>
                            </a:cxn>
                            <a:cxn ang="T145">
                              <a:pos x="T42" y="T43"/>
                            </a:cxn>
                            <a:cxn ang="T146">
                              <a:pos x="T44" y="T45"/>
                            </a:cxn>
                            <a:cxn ang="T147">
                              <a:pos x="T46" y="T47"/>
                            </a:cxn>
                            <a:cxn ang="T148">
                              <a:pos x="T48" y="T49"/>
                            </a:cxn>
                            <a:cxn ang="T149">
                              <a:pos x="T50" y="T51"/>
                            </a:cxn>
                            <a:cxn ang="T150">
                              <a:pos x="T52" y="T53"/>
                            </a:cxn>
                            <a:cxn ang="T151">
                              <a:pos x="T54" y="T55"/>
                            </a:cxn>
                            <a:cxn ang="T152">
                              <a:pos x="T56" y="T57"/>
                            </a:cxn>
                            <a:cxn ang="T153">
                              <a:pos x="T58" y="T59"/>
                            </a:cxn>
                            <a:cxn ang="T154">
                              <a:pos x="T60" y="T61"/>
                            </a:cxn>
                            <a:cxn ang="T155">
                              <a:pos x="T62" y="T63"/>
                            </a:cxn>
                            <a:cxn ang="T156">
                              <a:pos x="T64" y="T65"/>
                            </a:cxn>
                            <a:cxn ang="T157">
                              <a:pos x="T66" y="T67"/>
                            </a:cxn>
                            <a:cxn ang="T158">
                              <a:pos x="T68" y="T69"/>
                            </a:cxn>
                            <a:cxn ang="T159">
                              <a:pos x="T70" y="T71"/>
                            </a:cxn>
                            <a:cxn ang="T160">
                              <a:pos x="T72" y="T73"/>
                            </a:cxn>
                            <a:cxn ang="T161">
                              <a:pos x="T74" y="T75"/>
                            </a:cxn>
                            <a:cxn ang="T162">
                              <a:pos x="T76" y="T77"/>
                            </a:cxn>
                            <a:cxn ang="T163">
                              <a:pos x="T78" y="T79"/>
                            </a:cxn>
                            <a:cxn ang="T164">
                              <a:pos x="T80" y="T81"/>
                            </a:cxn>
                            <a:cxn ang="T165">
                              <a:pos x="T82" y="T83"/>
                            </a:cxn>
                            <a:cxn ang="T166">
                              <a:pos x="T84" y="T85"/>
                            </a:cxn>
                            <a:cxn ang="T167">
                              <a:pos x="T86" y="T87"/>
                            </a:cxn>
                            <a:cxn ang="T168">
                              <a:pos x="T88" y="T89"/>
                            </a:cxn>
                            <a:cxn ang="T169">
                              <a:pos x="T90" y="T91"/>
                            </a:cxn>
                            <a:cxn ang="T170">
                              <a:pos x="T92" y="T93"/>
                            </a:cxn>
                            <a:cxn ang="T171">
                              <a:pos x="T94" y="T95"/>
                            </a:cxn>
                            <a:cxn ang="T172">
                              <a:pos x="T96" y="T97"/>
                            </a:cxn>
                            <a:cxn ang="T173">
                              <a:pos x="T98" y="T99"/>
                            </a:cxn>
                            <a:cxn ang="T174">
                              <a:pos x="T100" y="T101"/>
                            </a:cxn>
                            <a:cxn ang="T175">
                              <a:pos x="T102" y="T103"/>
                            </a:cxn>
                            <a:cxn ang="T176">
                              <a:pos x="T104" y="T105"/>
                            </a:cxn>
                            <a:cxn ang="T177">
                              <a:pos x="T106" y="T107"/>
                            </a:cxn>
                            <a:cxn ang="T178">
                              <a:pos x="T108" y="T109"/>
                            </a:cxn>
                            <a:cxn ang="T179">
                              <a:pos x="T110" y="T111"/>
                            </a:cxn>
                            <a:cxn ang="T180">
                              <a:pos x="T112" y="T113"/>
                            </a:cxn>
                            <a:cxn ang="T181">
                              <a:pos x="T114" y="T115"/>
                            </a:cxn>
                            <a:cxn ang="T182">
                              <a:pos x="T116" y="T117"/>
                            </a:cxn>
                            <a:cxn ang="T183">
                              <a:pos x="T118" y="T119"/>
                            </a:cxn>
                            <a:cxn ang="T184">
                              <a:pos x="T120" y="T121"/>
                            </a:cxn>
                            <a:cxn ang="T185">
                              <a:pos x="T122" y="T123"/>
                            </a:cxn>
                          </a:cxnLst>
                          <a:rect l="T186" t="T187" r="T188" b="T189"/>
                          <a:pathLst>
                            <a:path w="198" h="111">
                              <a:moveTo>
                                <a:pt x="7" y="0"/>
                              </a:moveTo>
                              <a:lnTo>
                                <a:pt x="0" y="9"/>
                              </a:lnTo>
                              <a:lnTo>
                                <a:pt x="0" y="19"/>
                              </a:lnTo>
                              <a:lnTo>
                                <a:pt x="14" y="31"/>
                              </a:lnTo>
                              <a:lnTo>
                                <a:pt x="22" y="28"/>
                              </a:lnTo>
                              <a:lnTo>
                                <a:pt x="25" y="32"/>
                              </a:lnTo>
                              <a:lnTo>
                                <a:pt x="36" y="34"/>
                              </a:lnTo>
                              <a:lnTo>
                                <a:pt x="41" y="26"/>
                              </a:lnTo>
                              <a:lnTo>
                                <a:pt x="61" y="28"/>
                              </a:lnTo>
                              <a:lnTo>
                                <a:pt x="63" y="35"/>
                              </a:lnTo>
                              <a:lnTo>
                                <a:pt x="70" y="38"/>
                              </a:lnTo>
                              <a:lnTo>
                                <a:pt x="87" y="37"/>
                              </a:lnTo>
                              <a:lnTo>
                                <a:pt x="92" y="41"/>
                              </a:lnTo>
                              <a:lnTo>
                                <a:pt x="100" y="45"/>
                              </a:lnTo>
                              <a:lnTo>
                                <a:pt x="107" y="54"/>
                              </a:lnTo>
                              <a:lnTo>
                                <a:pt x="107" y="66"/>
                              </a:lnTo>
                              <a:lnTo>
                                <a:pt x="102" y="69"/>
                              </a:lnTo>
                              <a:lnTo>
                                <a:pt x="105" y="73"/>
                              </a:lnTo>
                              <a:lnTo>
                                <a:pt x="96" y="80"/>
                              </a:lnTo>
                              <a:lnTo>
                                <a:pt x="96" y="90"/>
                              </a:lnTo>
                              <a:lnTo>
                                <a:pt x="109" y="92"/>
                              </a:lnTo>
                              <a:lnTo>
                                <a:pt x="116" y="89"/>
                              </a:lnTo>
                              <a:lnTo>
                                <a:pt x="118" y="85"/>
                              </a:lnTo>
                              <a:lnTo>
                                <a:pt x="122" y="89"/>
                              </a:lnTo>
                              <a:lnTo>
                                <a:pt x="129" y="86"/>
                              </a:lnTo>
                              <a:lnTo>
                                <a:pt x="144" y="92"/>
                              </a:lnTo>
                              <a:lnTo>
                                <a:pt x="154" y="102"/>
                              </a:lnTo>
                              <a:lnTo>
                                <a:pt x="157" y="102"/>
                              </a:lnTo>
                              <a:lnTo>
                                <a:pt x="158" y="108"/>
                              </a:lnTo>
                              <a:lnTo>
                                <a:pt x="168" y="111"/>
                              </a:lnTo>
                              <a:lnTo>
                                <a:pt x="179" y="111"/>
                              </a:lnTo>
                              <a:lnTo>
                                <a:pt x="172" y="105"/>
                              </a:lnTo>
                              <a:lnTo>
                                <a:pt x="174" y="99"/>
                              </a:lnTo>
                              <a:lnTo>
                                <a:pt x="183" y="105"/>
                              </a:lnTo>
                              <a:lnTo>
                                <a:pt x="192" y="106"/>
                              </a:lnTo>
                              <a:lnTo>
                                <a:pt x="194" y="98"/>
                              </a:lnTo>
                              <a:lnTo>
                                <a:pt x="184" y="90"/>
                              </a:lnTo>
                              <a:lnTo>
                                <a:pt x="177" y="90"/>
                              </a:lnTo>
                              <a:lnTo>
                                <a:pt x="168" y="83"/>
                              </a:lnTo>
                              <a:lnTo>
                                <a:pt x="177" y="83"/>
                              </a:lnTo>
                              <a:lnTo>
                                <a:pt x="184" y="87"/>
                              </a:lnTo>
                              <a:lnTo>
                                <a:pt x="198" y="87"/>
                              </a:lnTo>
                              <a:lnTo>
                                <a:pt x="195" y="79"/>
                              </a:lnTo>
                              <a:lnTo>
                                <a:pt x="183" y="70"/>
                              </a:lnTo>
                              <a:lnTo>
                                <a:pt x="174" y="69"/>
                              </a:lnTo>
                              <a:lnTo>
                                <a:pt x="162" y="58"/>
                              </a:lnTo>
                              <a:lnTo>
                                <a:pt x="147" y="55"/>
                              </a:lnTo>
                              <a:lnTo>
                                <a:pt x="135" y="51"/>
                              </a:lnTo>
                              <a:lnTo>
                                <a:pt x="125" y="38"/>
                              </a:lnTo>
                              <a:lnTo>
                                <a:pt x="118" y="21"/>
                              </a:lnTo>
                              <a:lnTo>
                                <a:pt x="109" y="21"/>
                              </a:lnTo>
                              <a:lnTo>
                                <a:pt x="106" y="16"/>
                              </a:lnTo>
                              <a:lnTo>
                                <a:pt x="100" y="18"/>
                              </a:lnTo>
                              <a:lnTo>
                                <a:pt x="91" y="10"/>
                              </a:lnTo>
                              <a:lnTo>
                                <a:pt x="74" y="8"/>
                              </a:lnTo>
                              <a:lnTo>
                                <a:pt x="68" y="12"/>
                              </a:lnTo>
                              <a:lnTo>
                                <a:pt x="52" y="8"/>
                              </a:lnTo>
                              <a:lnTo>
                                <a:pt x="43" y="8"/>
                              </a:lnTo>
                              <a:lnTo>
                                <a:pt x="39" y="2"/>
                              </a:lnTo>
                              <a:lnTo>
                                <a:pt x="33" y="0"/>
                              </a:lnTo>
                              <a:lnTo>
                                <a:pt x="25" y="2"/>
                              </a:lnTo>
                              <a:lnTo>
                                <a:pt x="7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70" name="Freeform 171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05" y="2447"/>
                          <a:ext cx="69" cy="24"/>
                        </a:xfrm>
                        <a:custGeom>
                          <a:avLst/>
                          <a:gdLst>
                            <a:gd name="T0" fmla="*/ 0 w 138"/>
                            <a:gd name="T1" fmla="*/ 0 h 49"/>
                            <a:gd name="T2" fmla="*/ 1 w 138"/>
                            <a:gd name="T3" fmla="*/ 0 h 49"/>
                            <a:gd name="T4" fmla="*/ 1 w 138"/>
                            <a:gd name="T5" fmla="*/ 0 h 49"/>
                            <a:gd name="T6" fmla="*/ 1 w 138"/>
                            <a:gd name="T7" fmla="*/ 0 h 49"/>
                            <a:gd name="T8" fmla="*/ 2 w 138"/>
                            <a:gd name="T9" fmla="*/ 0 h 49"/>
                            <a:gd name="T10" fmla="*/ 2 w 138"/>
                            <a:gd name="T11" fmla="*/ 0 h 49"/>
                            <a:gd name="T12" fmla="*/ 2 w 138"/>
                            <a:gd name="T13" fmla="*/ 0 h 49"/>
                            <a:gd name="T14" fmla="*/ 2 w 138"/>
                            <a:gd name="T15" fmla="*/ 0 h 49"/>
                            <a:gd name="T16" fmla="*/ 2 w 138"/>
                            <a:gd name="T17" fmla="*/ 0 h 49"/>
                            <a:gd name="T18" fmla="*/ 3 w 138"/>
                            <a:gd name="T19" fmla="*/ 0 h 49"/>
                            <a:gd name="T20" fmla="*/ 3 w 138"/>
                            <a:gd name="T21" fmla="*/ 0 h 49"/>
                            <a:gd name="T22" fmla="*/ 3 w 138"/>
                            <a:gd name="T23" fmla="*/ 0 h 49"/>
                            <a:gd name="T24" fmla="*/ 3 w 138"/>
                            <a:gd name="T25" fmla="*/ 0 h 49"/>
                            <a:gd name="T26" fmla="*/ 3 w 138"/>
                            <a:gd name="T27" fmla="*/ 0 h 49"/>
                            <a:gd name="T28" fmla="*/ 3 w 138"/>
                            <a:gd name="T29" fmla="*/ 1 h 49"/>
                            <a:gd name="T30" fmla="*/ 4 w 138"/>
                            <a:gd name="T31" fmla="*/ 1 h 49"/>
                            <a:gd name="T32" fmla="*/ 4 w 138"/>
                            <a:gd name="T33" fmla="*/ 1 h 49"/>
                            <a:gd name="T34" fmla="*/ 5 w 138"/>
                            <a:gd name="T35" fmla="*/ 1 h 49"/>
                            <a:gd name="T36" fmla="*/ 5 w 138"/>
                            <a:gd name="T37" fmla="*/ 1 h 49"/>
                            <a:gd name="T38" fmla="*/ 5 w 138"/>
                            <a:gd name="T39" fmla="*/ 1 h 49"/>
                            <a:gd name="T40" fmla="*/ 5 w 138"/>
                            <a:gd name="T41" fmla="*/ 1 h 49"/>
                            <a:gd name="T42" fmla="*/ 5 w 138"/>
                            <a:gd name="T43" fmla="*/ 1 h 49"/>
                            <a:gd name="T44" fmla="*/ 4 w 138"/>
                            <a:gd name="T45" fmla="*/ 1 h 49"/>
                            <a:gd name="T46" fmla="*/ 4 w 138"/>
                            <a:gd name="T47" fmla="*/ 1 h 49"/>
                            <a:gd name="T48" fmla="*/ 4 w 138"/>
                            <a:gd name="T49" fmla="*/ 1 h 49"/>
                            <a:gd name="T50" fmla="*/ 3 w 138"/>
                            <a:gd name="T51" fmla="*/ 1 h 49"/>
                            <a:gd name="T52" fmla="*/ 3 w 138"/>
                            <a:gd name="T53" fmla="*/ 1 h 49"/>
                            <a:gd name="T54" fmla="*/ 3 w 138"/>
                            <a:gd name="T55" fmla="*/ 1 h 49"/>
                            <a:gd name="T56" fmla="*/ 3 w 138"/>
                            <a:gd name="T57" fmla="*/ 1 h 49"/>
                            <a:gd name="T58" fmla="*/ 3 w 138"/>
                            <a:gd name="T59" fmla="*/ 0 h 49"/>
                            <a:gd name="T60" fmla="*/ 2 w 138"/>
                            <a:gd name="T61" fmla="*/ 0 h 49"/>
                            <a:gd name="T62" fmla="*/ 2 w 138"/>
                            <a:gd name="T63" fmla="*/ 0 h 49"/>
                            <a:gd name="T64" fmla="*/ 2 w 138"/>
                            <a:gd name="T65" fmla="*/ 0 h 49"/>
                            <a:gd name="T66" fmla="*/ 2 w 138"/>
                            <a:gd name="T67" fmla="*/ 0 h 49"/>
                            <a:gd name="T68" fmla="*/ 2 w 138"/>
                            <a:gd name="T69" fmla="*/ 0 h 49"/>
                            <a:gd name="T70" fmla="*/ 2 w 138"/>
                            <a:gd name="T71" fmla="*/ 0 h 49"/>
                            <a:gd name="T72" fmla="*/ 2 w 138"/>
                            <a:gd name="T73" fmla="*/ 0 h 49"/>
                            <a:gd name="T74" fmla="*/ 1 w 138"/>
                            <a:gd name="T75" fmla="*/ 0 h 49"/>
                            <a:gd name="T76" fmla="*/ 1 w 138"/>
                            <a:gd name="T77" fmla="*/ 0 h 49"/>
                            <a:gd name="T78" fmla="*/ 1 w 138"/>
                            <a:gd name="T79" fmla="*/ 0 h 49"/>
                            <a:gd name="T80" fmla="*/ 0 w 138"/>
                            <a:gd name="T81" fmla="*/ 0 h 49"/>
                            <a:gd name="T82" fmla="*/ 0 60000 65536"/>
                            <a:gd name="T83" fmla="*/ 0 60000 65536"/>
                            <a:gd name="T84" fmla="*/ 0 60000 65536"/>
                            <a:gd name="T85" fmla="*/ 0 60000 65536"/>
                            <a:gd name="T86" fmla="*/ 0 60000 65536"/>
                            <a:gd name="T87" fmla="*/ 0 60000 65536"/>
                            <a:gd name="T88" fmla="*/ 0 60000 65536"/>
                            <a:gd name="T89" fmla="*/ 0 60000 65536"/>
                            <a:gd name="T90" fmla="*/ 0 60000 65536"/>
                            <a:gd name="T91" fmla="*/ 0 60000 65536"/>
                            <a:gd name="T92" fmla="*/ 0 60000 65536"/>
                            <a:gd name="T93" fmla="*/ 0 60000 65536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w 138"/>
                            <a:gd name="T124" fmla="*/ 0 h 49"/>
                            <a:gd name="T125" fmla="*/ 138 w 138"/>
                            <a:gd name="T126" fmla="*/ 49 h 49"/>
                          </a:gdLst>
                          <a:ahLst/>
                          <a:cxnLst>
                            <a:cxn ang="T82">
                              <a:pos x="T0" y="T1"/>
                            </a:cxn>
                            <a:cxn ang="T83">
                              <a:pos x="T2" y="T3"/>
                            </a:cxn>
                            <a:cxn ang="T84">
                              <a:pos x="T4" y="T5"/>
                            </a:cxn>
                            <a:cxn ang="T85">
                              <a:pos x="T6" y="T7"/>
                            </a:cxn>
                            <a:cxn ang="T86">
                              <a:pos x="T8" y="T9"/>
                            </a:cxn>
                            <a:cxn ang="T87">
                              <a:pos x="T10" y="T11"/>
                            </a:cxn>
                            <a:cxn ang="T88">
                              <a:pos x="T12" y="T13"/>
                            </a:cxn>
                            <a:cxn ang="T89">
                              <a:pos x="T14" y="T15"/>
                            </a:cxn>
                            <a:cxn ang="T90">
                              <a:pos x="T16" y="T17"/>
                            </a:cxn>
                            <a:cxn ang="T91">
                              <a:pos x="T18" y="T19"/>
                            </a:cxn>
                            <a:cxn ang="T92">
                              <a:pos x="T20" y="T21"/>
                            </a:cxn>
                            <a:cxn ang="T93">
                              <a:pos x="T22" y="T23"/>
                            </a:cxn>
                            <a:cxn ang="T94">
                              <a:pos x="T24" y="T25"/>
                            </a:cxn>
                            <a:cxn ang="T95">
                              <a:pos x="T26" y="T27"/>
                            </a:cxn>
                            <a:cxn ang="T96">
                              <a:pos x="T28" y="T29"/>
                            </a:cxn>
                            <a:cxn ang="T97">
                              <a:pos x="T30" y="T31"/>
                            </a:cxn>
                            <a:cxn ang="T98">
                              <a:pos x="T32" y="T33"/>
                            </a:cxn>
                            <a:cxn ang="T99">
                              <a:pos x="T34" y="T35"/>
                            </a:cxn>
                            <a:cxn ang="T100">
                              <a:pos x="T36" y="T37"/>
                            </a:cxn>
                            <a:cxn ang="T101">
                              <a:pos x="T38" y="T39"/>
                            </a:cxn>
                            <a:cxn ang="T102">
                              <a:pos x="T40" y="T41"/>
                            </a:cxn>
                            <a:cxn ang="T103">
                              <a:pos x="T42" y="T43"/>
                            </a:cxn>
                            <a:cxn ang="T104">
                              <a:pos x="T44" y="T45"/>
                            </a:cxn>
                            <a:cxn ang="T105">
                              <a:pos x="T46" y="T47"/>
                            </a:cxn>
                            <a:cxn ang="T106">
                              <a:pos x="T48" y="T49"/>
                            </a:cxn>
                            <a:cxn ang="T107">
                              <a:pos x="T50" y="T51"/>
                            </a:cxn>
                            <a:cxn ang="T108">
                              <a:pos x="T52" y="T53"/>
                            </a:cxn>
                            <a:cxn ang="T109">
                              <a:pos x="T54" y="T55"/>
                            </a:cxn>
                            <a:cxn ang="T110">
                              <a:pos x="T56" y="T57"/>
                            </a:cxn>
                            <a:cxn ang="T111">
                              <a:pos x="T58" y="T59"/>
                            </a:cxn>
                            <a:cxn ang="T112">
                              <a:pos x="T60" y="T61"/>
                            </a:cxn>
                            <a:cxn ang="T113">
                              <a:pos x="T62" y="T63"/>
                            </a:cxn>
                            <a:cxn ang="T114">
                              <a:pos x="T64" y="T65"/>
                            </a:cxn>
                            <a:cxn ang="T115">
                              <a:pos x="T66" y="T67"/>
                            </a:cxn>
                            <a:cxn ang="T116">
                              <a:pos x="T68" y="T69"/>
                            </a:cxn>
                            <a:cxn ang="T117">
                              <a:pos x="T70" y="T71"/>
                            </a:cxn>
                            <a:cxn ang="T118">
                              <a:pos x="T72" y="T73"/>
                            </a:cxn>
                            <a:cxn ang="T119">
                              <a:pos x="T74" y="T75"/>
                            </a:cxn>
                            <a:cxn ang="T120">
                              <a:pos x="T76" y="T77"/>
                            </a:cxn>
                            <a:cxn ang="T121">
                              <a:pos x="T78" y="T79"/>
                            </a:cxn>
                            <a:cxn ang="T122">
                              <a:pos x="T80" y="T81"/>
                            </a:cxn>
                          </a:cxnLst>
                          <a:rect l="T123" t="T124" r="T125" b="T126"/>
                          <a:pathLst>
                            <a:path w="138" h="49">
                              <a:moveTo>
                                <a:pt x="0" y="25"/>
                              </a:moveTo>
                              <a:lnTo>
                                <a:pt x="12" y="10"/>
                              </a:lnTo>
                              <a:lnTo>
                                <a:pt x="18" y="10"/>
                              </a:lnTo>
                              <a:lnTo>
                                <a:pt x="27" y="3"/>
                              </a:lnTo>
                              <a:lnTo>
                                <a:pt x="38" y="3"/>
                              </a:lnTo>
                              <a:lnTo>
                                <a:pt x="41" y="2"/>
                              </a:lnTo>
                              <a:lnTo>
                                <a:pt x="45" y="0"/>
                              </a:lnTo>
                              <a:lnTo>
                                <a:pt x="59" y="9"/>
                              </a:lnTo>
                              <a:lnTo>
                                <a:pt x="63" y="15"/>
                              </a:lnTo>
                              <a:lnTo>
                                <a:pt x="66" y="12"/>
                              </a:lnTo>
                              <a:lnTo>
                                <a:pt x="77" y="17"/>
                              </a:lnTo>
                              <a:lnTo>
                                <a:pt x="83" y="17"/>
                              </a:lnTo>
                              <a:lnTo>
                                <a:pt x="89" y="22"/>
                              </a:lnTo>
                              <a:lnTo>
                                <a:pt x="99" y="25"/>
                              </a:lnTo>
                              <a:lnTo>
                                <a:pt x="99" y="32"/>
                              </a:lnTo>
                              <a:lnTo>
                                <a:pt x="116" y="32"/>
                              </a:lnTo>
                              <a:lnTo>
                                <a:pt x="120" y="39"/>
                              </a:lnTo>
                              <a:lnTo>
                                <a:pt x="131" y="39"/>
                              </a:lnTo>
                              <a:lnTo>
                                <a:pt x="138" y="48"/>
                              </a:lnTo>
                              <a:lnTo>
                                <a:pt x="134" y="49"/>
                              </a:lnTo>
                              <a:lnTo>
                                <a:pt x="131" y="47"/>
                              </a:lnTo>
                              <a:lnTo>
                                <a:pt x="130" y="45"/>
                              </a:lnTo>
                              <a:lnTo>
                                <a:pt x="120" y="47"/>
                              </a:lnTo>
                              <a:lnTo>
                                <a:pt x="118" y="48"/>
                              </a:lnTo>
                              <a:lnTo>
                                <a:pt x="109" y="49"/>
                              </a:lnTo>
                              <a:lnTo>
                                <a:pt x="97" y="49"/>
                              </a:lnTo>
                              <a:lnTo>
                                <a:pt x="89" y="49"/>
                              </a:lnTo>
                              <a:lnTo>
                                <a:pt x="89" y="45"/>
                              </a:lnTo>
                              <a:lnTo>
                                <a:pt x="77" y="33"/>
                              </a:lnTo>
                              <a:lnTo>
                                <a:pt x="77" y="26"/>
                              </a:lnTo>
                              <a:lnTo>
                                <a:pt x="63" y="26"/>
                              </a:lnTo>
                              <a:lnTo>
                                <a:pt x="57" y="22"/>
                              </a:lnTo>
                              <a:lnTo>
                                <a:pt x="53" y="26"/>
                              </a:lnTo>
                              <a:lnTo>
                                <a:pt x="49" y="20"/>
                              </a:lnTo>
                              <a:lnTo>
                                <a:pt x="45" y="20"/>
                              </a:lnTo>
                              <a:lnTo>
                                <a:pt x="45" y="13"/>
                              </a:lnTo>
                              <a:lnTo>
                                <a:pt x="41" y="10"/>
                              </a:lnTo>
                              <a:lnTo>
                                <a:pt x="29" y="12"/>
                              </a:lnTo>
                              <a:lnTo>
                                <a:pt x="20" y="20"/>
                              </a:lnTo>
                              <a:lnTo>
                                <a:pt x="11" y="22"/>
                              </a:lnTo>
                              <a:lnTo>
                                <a:pt x="0" y="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71" name="Freeform 172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66" y="2465"/>
                          <a:ext cx="44" cy="21"/>
                        </a:xfrm>
                        <a:custGeom>
                          <a:avLst/>
                          <a:gdLst>
                            <a:gd name="T0" fmla="*/ 0 w 88"/>
                            <a:gd name="T1" fmla="*/ 1 h 42"/>
                            <a:gd name="T2" fmla="*/ 1 w 88"/>
                            <a:gd name="T3" fmla="*/ 2 h 42"/>
                            <a:gd name="T4" fmla="*/ 1 w 88"/>
                            <a:gd name="T5" fmla="*/ 1 h 42"/>
                            <a:gd name="T6" fmla="*/ 2 w 88"/>
                            <a:gd name="T7" fmla="*/ 2 h 42"/>
                            <a:gd name="T8" fmla="*/ 2 w 88"/>
                            <a:gd name="T9" fmla="*/ 2 h 42"/>
                            <a:gd name="T10" fmla="*/ 2 w 88"/>
                            <a:gd name="T11" fmla="*/ 1 h 42"/>
                            <a:gd name="T12" fmla="*/ 2 w 88"/>
                            <a:gd name="T13" fmla="*/ 1 h 42"/>
                            <a:gd name="T14" fmla="*/ 2 w 88"/>
                            <a:gd name="T15" fmla="*/ 1 h 42"/>
                            <a:gd name="T16" fmla="*/ 3 w 88"/>
                            <a:gd name="T17" fmla="*/ 1 h 42"/>
                            <a:gd name="T18" fmla="*/ 3 w 88"/>
                            <a:gd name="T19" fmla="*/ 1 h 42"/>
                            <a:gd name="T20" fmla="*/ 3 w 88"/>
                            <a:gd name="T21" fmla="*/ 1 h 42"/>
                            <a:gd name="T22" fmla="*/ 3 w 88"/>
                            <a:gd name="T23" fmla="*/ 1 h 42"/>
                            <a:gd name="T24" fmla="*/ 3 w 88"/>
                            <a:gd name="T25" fmla="*/ 1 h 42"/>
                            <a:gd name="T26" fmla="*/ 3 w 88"/>
                            <a:gd name="T27" fmla="*/ 1 h 42"/>
                            <a:gd name="T28" fmla="*/ 3 w 88"/>
                            <a:gd name="T29" fmla="*/ 1 h 42"/>
                            <a:gd name="T30" fmla="*/ 3 w 88"/>
                            <a:gd name="T31" fmla="*/ 1 h 42"/>
                            <a:gd name="T32" fmla="*/ 3 w 88"/>
                            <a:gd name="T33" fmla="*/ 1 h 42"/>
                            <a:gd name="T34" fmla="*/ 2 w 88"/>
                            <a:gd name="T35" fmla="*/ 1 h 42"/>
                            <a:gd name="T36" fmla="*/ 2 w 88"/>
                            <a:gd name="T37" fmla="*/ 1 h 42"/>
                            <a:gd name="T38" fmla="*/ 2 w 88"/>
                            <a:gd name="T39" fmla="*/ 1 h 42"/>
                            <a:gd name="T40" fmla="*/ 1 w 88"/>
                            <a:gd name="T41" fmla="*/ 0 h 42"/>
                            <a:gd name="T42" fmla="*/ 1 w 88"/>
                            <a:gd name="T43" fmla="*/ 1 h 42"/>
                            <a:gd name="T44" fmla="*/ 1 w 88"/>
                            <a:gd name="T45" fmla="*/ 1 h 42"/>
                            <a:gd name="T46" fmla="*/ 1 w 88"/>
                            <a:gd name="T47" fmla="*/ 1 h 42"/>
                            <a:gd name="T48" fmla="*/ 1 w 88"/>
                            <a:gd name="T49" fmla="*/ 1 h 42"/>
                            <a:gd name="T50" fmla="*/ 1 w 88"/>
                            <a:gd name="T51" fmla="*/ 1 h 42"/>
                            <a:gd name="T52" fmla="*/ 0 w 88"/>
                            <a:gd name="T53" fmla="*/ 1 h 42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88"/>
                            <a:gd name="T82" fmla="*/ 0 h 42"/>
                            <a:gd name="T83" fmla="*/ 88 w 88"/>
                            <a:gd name="T84" fmla="*/ 42 h 42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88" h="42">
                              <a:moveTo>
                                <a:pt x="0" y="32"/>
                              </a:moveTo>
                              <a:lnTo>
                                <a:pt x="8" y="34"/>
                              </a:lnTo>
                              <a:lnTo>
                                <a:pt x="27" y="32"/>
                              </a:lnTo>
                              <a:lnTo>
                                <a:pt x="35" y="41"/>
                              </a:lnTo>
                              <a:lnTo>
                                <a:pt x="46" y="42"/>
                              </a:lnTo>
                              <a:lnTo>
                                <a:pt x="52" y="32"/>
                              </a:lnTo>
                              <a:lnTo>
                                <a:pt x="49" y="29"/>
                              </a:lnTo>
                              <a:lnTo>
                                <a:pt x="55" y="25"/>
                              </a:lnTo>
                              <a:lnTo>
                                <a:pt x="66" y="32"/>
                              </a:lnTo>
                              <a:lnTo>
                                <a:pt x="74" y="32"/>
                              </a:lnTo>
                              <a:lnTo>
                                <a:pt x="74" y="28"/>
                              </a:lnTo>
                              <a:lnTo>
                                <a:pt x="79" y="28"/>
                              </a:lnTo>
                              <a:lnTo>
                                <a:pt x="88" y="21"/>
                              </a:lnTo>
                              <a:lnTo>
                                <a:pt x="82" y="19"/>
                              </a:lnTo>
                              <a:lnTo>
                                <a:pt x="82" y="12"/>
                              </a:lnTo>
                              <a:lnTo>
                                <a:pt x="82" y="6"/>
                              </a:lnTo>
                              <a:lnTo>
                                <a:pt x="70" y="5"/>
                              </a:lnTo>
                              <a:lnTo>
                                <a:pt x="60" y="6"/>
                              </a:lnTo>
                              <a:lnTo>
                                <a:pt x="52" y="6"/>
                              </a:lnTo>
                              <a:lnTo>
                                <a:pt x="40" y="5"/>
                              </a:lnTo>
                              <a:lnTo>
                                <a:pt x="30" y="0"/>
                              </a:lnTo>
                              <a:lnTo>
                                <a:pt x="27" y="5"/>
                              </a:lnTo>
                              <a:lnTo>
                                <a:pt x="26" y="13"/>
                              </a:lnTo>
                              <a:lnTo>
                                <a:pt x="16" y="13"/>
                              </a:lnTo>
                              <a:lnTo>
                                <a:pt x="14" y="21"/>
                              </a:lnTo>
                              <a:lnTo>
                                <a:pt x="8" y="24"/>
                              </a:lnTo>
                              <a:lnTo>
                                <a:pt x="0" y="3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72" name="Freeform 17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38" y="2526"/>
                          <a:ext cx="282" cy="444"/>
                        </a:xfrm>
                        <a:custGeom>
                          <a:avLst/>
                          <a:gdLst>
                            <a:gd name="T0" fmla="*/ 2 w 563"/>
                            <a:gd name="T1" fmla="*/ 1 h 887"/>
                            <a:gd name="T2" fmla="*/ 4 w 563"/>
                            <a:gd name="T3" fmla="*/ 1 h 887"/>
                            <a:gd name="T4" fmla="*/ 3 w 563"/>
                            <a:gd name="T5" fmla="*/ 1 h 887"/>
                            <a:gd name="T6" fmla="*/ 4 w 563"/>
                            <a:gd name="T7" fmla="*/ 1 h 887"/>
                            <a:gd name="T8" fmla="*/ 4 w 563"/>
                            <a:gd name="T9" fmla="*/ 1 h 887"/>
                            <a:gd name="T10" fmla="*/ 5 w 563"/>
                            <a:gd name="T11" fmla="*/ 2 h 887"/>
                            <a:gd name="T12" fmla="*/ 8 w 563"/>
                            <a:gd name="T13" fmla="*/ 2 h 887"/>
                            <a:gd name="T14" fmla="*/ 9 w 563"/>
                            <a:gd name="T15" fmla="*/ 3 h 887"/>
                            <a:gd name="T16" fmla="*/ 10 w 563"/>
                            <a:gd name="T17" fmla="*/ 3 h 887"/>
                            <a:gd name="T18" fmla="*/ 12 w 563"/>
                            <a:gd name="T19" fmla="*/ 4 h 887"/>
                            <a:gd name="T20" fmla="*/ 13 w 563"/>
                            <a:gd name="T21" fmla="*/ 6 h 887"/>
                            <a:gd name="T22" fmla="*/ 18 w 563"/>
                            <a:gd name="T23" fmla="*/ 7 h 887"/>
                            <a:gd name="T24" fmla="*/ 18 w 563"/>
                            <a:gd name="T25" fmla="*/ 10 h 887"/>
                            <a:gd name="T26" fmla="*/ 17 w 563"/>
                            <a:gd name="T27" fmla="*/ 11 h 887"/>
                            <a:gd name="T28" fmla="*/ 16 w 563"/>
                            <a:gd name="T29" fmla="*/ 13 h 887"/>
                            <a:gd name="T30" fmla="*/ 16 w 563"/>
                            <a:gd name="T31" fmla="*/ 14 h 887"/>
                            <a:gd name="T32" fmla="*/ 15 w 563"/>
                            <a:gd name="T33" fmla="*/ 15 h 887"/>
                            <a:gd name="T34" fmla="*/ 13 w 563"/>
                            <a:gd name="T35" fmla="*/ 15 h 887"/>
                            <a:gd name="T36" fmla="*/ 12 w 563"/>
                            <a:gd name="T37" fmla="*/ 17 h 887"/>
                            <a:gd name="T38" fmla="*/ 12 w 563"/>
                            <a:gd name="T39" fmla="*/ 18 h 887"/>
                            <a:gd name="T40" fmla="*/ 11 w 563"/>
                            <a:gd name="T41" fmla="*/ 19 h 887"/>
                            <a:gd name="T42" fmla="*/ 10 w 563"/>
                            <a:gd name="T43" fmla="*/ 20 h 887"/>
                            <a:gd name="T44" fmla="*/ 10 w 563"/>
                            <a:gd name="T45" fmla="*/ 20 h 887"/>
                            <a:gd name="T46" fmla="*/ 10 w 563"/>
                            <a:gd name="T47" fmla="*/ 21 h 887"/>
                            <a:gd name="T48" fmla="*/ 8 w 563"/>
                            <a:gd name="T49" fmla="*/ 22 h 887"/>
                            <a:gd name="T50" fmla="*/ 7 w 563"/>
                            <a:gd name="T51" fmla="*/ 22 h 887"/>
                            <a:gd name="T52" fmla="*/ 7 w 563"/>
                            <a:gd name="T53" fmla="*/ 23 h 887"/>
                            <a:gd name="T54" fmla="*/ 7 w 563"/>
                            <a:gd name="T55" fmla="*/ 24 h 887"/>
                            <a:gd name="T56" fmla="*/ 7 w 563"/>
                            <a:gd name="T57" fmla="*/ 25 h 887"/>
                            <a:gd name="T58" fmla="*/ 6 w 563"/>
                            <a:gd name="T59" fmla="*/ 25 h 887"/>
                            <a:gd name="T60" fmla="*/ 6 w 563"/>
                            <a:gd name="T61" fmla="*/ 27 h 887"/>
                            <a:gd name="T62" fmla="*/ 7 w 563"/>
                            <a:gd name="T63" fmla="*/ 28 h 887"/>
                            <a:gd name="T64" fmla="*/ 5 w 563"/>
                            <a:gd name="T65" fmla="*/ 27 h 887"/>
                            <a:gd name="T66" fmla="*/ 5 w 563"/>
                            <a:gd name="T67" fmla="*/ 26 h 887"/>
                            <a:gd name="T68" fmla="*/ 5 w 563"/>
                            <a:gd name="T69" fmla="*/ 22 h 887"/>
                            <a:gd name="T70" fmla="*/ 4 w 563"/>
                            <a:gd name="T71" fmla="*/ 20 h 887"/>
                            <a:gd name="T72" fmla="*/ 4 w 563"/>
                            <a:gd name="T73" fmla="*/ 19 h 887"/>
                            <a:gd name="T74" fmla="*/ 5 w 563"/>
                            <a:gd name="T75" fmla="*/ 17 h 887"/>
                            <a:gd name="T76" fmla="*/ 5 w 563"/>
                            <a:gd name="T77" fmla="*/ 15 h 887"/>
                            <a:gd name="T78" fmla="*/ 5 w 563"/>
                            <a:gd name="T79" fmla="*/ 13 h 887"/>
                            <a:gd name="T80" fmla="*/ 4 w 563"/>
                            <a:gd name="T81" fmla="*/ 12 h 887"/>
                            <a:gd name="T82" fmla="*/ 2 w 563"/>
                            <a:gd name="T83" fmla="*/ 11 h 887"/>
                            <a:gd name="T84" fmla="*/ 2 w 563"/>
                            <a:gd name="T85" fmla="*/ 9 h 887"/>
                            <a:gd name="T86" fmla="*/ 1 w 563"/>
                            <a:gd name="T87" fmla="*/ 8 h 887"/>
                            <a:gd name="T88" fmla="*/ 1 w 563"/>
                            <a:gd name="T89" fmla="*/ 7 h 887"/>
                            <a:gd name="T90" fmla="*/ 1 w 563"/>
                            <a:gd name="T91" fmla="*/ 6 h 887"/>
                            <a:gd name="T92" fmla="*/ 2 w 563"/>
                            <a:gd name="T93" fmla="*/ 3 h 887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w 563"/>
                            <a:gd name="T142" fmla="*/ 0 h 887"/>
                            <a:gd name="T143" fmla="*/ 563 w 563"/>
                            <a:gd name="T144" fmla="*/ 887 h 887"/>
                          </a:gdLst>
                          <a:ahLst/>
                          <a:cxnLst>
                            <a:cxn ang="T94">
                              <a:pos x="T0" y="T1"/>
                            </a:cxn>
                            <a:cxn ang="T95">
                              <a:pos x="T2" y="T3"/>
                            </a:cxn>
                            <a:cxn ang="T96">
                              <a:pos x="T4" y="T5"/>
                            </a:cxn>
                            <a:cxn ang="T97">
                              <a:pos x="T6" y="T7"/>
                            </a:cxn>
                            <a:cxn ang="T98">
                              <a:pos x="T8" y="T9"/>
                            </a:cxn>
                            <a:cxn ang="T99">
                              <a:pos x="T10" y="T11"/>
                            </a:cxn>
                            <a:cxn ang="T100">
                              <a:pos x="T12" y="T13"/>
                            </a:cxn>
                            <a:cxn ang="T101">
                              <a:pos x="T14" y="T15"/>
                            </a:cxn>
                            <a:cxn ang="T102">
                              <a:pos x="T16" y="T17"/>
                            </a:cxn>
                            <a:cxn ang="T103">
                              <a:pos x="T18" y="T19"/>
                            </a:cxn>
                            <a:cxn ang="T104">
                              <a:pos x="T20" y="T21"/>
                            </a:cxn>
                            <a:cxn ang="T105">
                              <a:pos x="T22" y="T23"/>
                            </a:cxn>
                            <a:cxn ang="T106">
                              <a:pos x="T24" y="T25"/>
                            </a:cxn>
                            <a:cxn ang="T107">
                              <a:pos x="T26" y="T27"/>
                            </a:cxn>
                            <a:cxn ang="T108">
                              <a:pos x="T28" y="T29"/>
                            </a:cxn>
                            <a:cxn ang="T109">
                              <a:pos x="T30" y="T31"/>
                            </a:cxn>
                            <a:cxn ang="T110">
                              <a:pos x="T32" y="T33"/>
                            </a:cxn>
                            <a:cxn ang="T111">
                              <a:pos x="T34" y="T35"/>
                            </a:cxn>
                            <a:cxn ang="T112">
                              <a:pos x="T36" y="T37"/>
                            </a:cxn>
                            <a:cxn ang="T113">
                              <a:pos x="T38" y="T39"/>
                            </a:cxn>
                            <a:cxn ang="T114">
                              <a:pos x="T40" y="T41"/>
                            </a:cxn>
                            <a:cxn ang="T115">
                              <a:pos x="T42" y="T43"/>
                            </a:cxn>
                            <a:cxn ang="T116">
                              <a:pos x="T44" y="T45"/>
                            </a:cxn>
                            <a:cxn ang="T117">
                              <a:pos x="T46" y="T47"/>
                            </a:cxn>
                            <a:cxn ang="T118">
                              <a:pos x="T48" y="T49"/>
                            </a:cxn>
                            <a:cxn ang="T119">
                              <a:pos x="T50" y="T51"/>
                            </a:cxn>
                            <a:cxn ang="T120">
                              <a:pos x="T52" y="T53"/>
                            </a:cxn>
                            <a:cxn ang="T121">
                              <a:pos x="T54" y="T55"/>
                            </a:cxn>
                            <a:cxn ang="T122">
                              <a:pos x="T56" y="T57"/>
                            </a:cxn>
                            <a:cxn ang="T123">
                              <a:pos x="T58" y="T59"/>
                            </a:cxn>
                            <a:cxn ang="T124">
                              <a:pos x="T60" y="T61"/>
                            </a:cxn>
                            <a:cxn ang="T125">
                              <a:pos x="T62" y="T63"/>
                            </a:cxn>
                            <a:cxn ang="T126">
                              <a:pos x="T64" y="T65"/>
                            </a:cxn>
                            <a:cxn ang="T127">
                              <a:pos x="T66" y="T67"/>
                            </a:cxn>
                            <a:cxn ang="T128">
                              <a:pos x="T68" y="T69"/>
                            </a:cxn>
                            <a:cxn ang="T129">
                              <a:pos x="T70" y="T71"/>
                            </a:cxn>
                            <a:cxn ang="T130">
                              <a:pos x="T72" y="T73"/>
                            </a:cxn>
                            <a:cxn ang="T131">
                              <a:pos x="T74" y="T75"/>
                            </a:cxn>
                            <a:cxn ang="T132">
                              <a:pos x="T76" y="T77"/>
                            </a:cxn>
                            <a:cxn ang="T133">
                              <a:pos x="T78" y="T79"/>
                            </a:cxn>
                            <a:cxn ang="T134">
                              <a:pos x="T80" y="T81"/>
                            </a:cxn>
                            <a:cxn ang="T135">
                              <a:pos x="T82" y="T83"/>
                            </a:cxn>
                            <a:cxn ang="T136">
                              <a:pos x="T84" y="T85"/>
                            </a:cxn>
                            <a:cxn ang="T137">
                              <a:pos x="T86" y="T87"/>
                            </a:cxn>
                            <a:cxn ang="T138">
                              <a:pos x="T88" y="T89"/>
                            </a:cxn>
                            <a:cxn ang="T139">
                              <a:pos x="T90" y="T91"/>
                            </a:cxn>
                            <a:cxn ang="T140">
                              <a:pos x="T92" y="T93"/>
                            </a:cxn>
                          </a:cxnLst>
                          <a:rect l="T141" t="T142" r="T143" b="T144"/>
                          <a:pathLst>
                            <a:path w="563" h="887">
                              <a:moveTo>
                                <a:pt x="43" y="39"/>
                              </a:moveTo>
                              <a:lnTo>
                                <a:pt x="50" y="29"/>
                              </a:lnTo>
                              <a:lnTo>
                                <a:pt x="64" y="14"/>
                              </a:lnTo>
                              <a:lnTo>
                                <a:pt x="85" y="6"/>
                              </a:lnTo>
                              <a:lnTo>
                                <a:pt x="96" y="0"/>
                              </a:lnTo>
                              <a:lnTo>
                                <a:pt x="107" y="1"/>
                              </a:lnTo>
                              <a:lnTo>
                                <a:pt x="104" y="9"/>
                              </a:lnTo>
                              <a:lnTo>
                                <a:pt x="91" y="16"/>
                              </a:lnTo>
                              <a:lnTo>
                                <a:pt x="89" y="30"/>
                              </a:lnTo>
                              <a:lnTo>
                                <a:pt x="91" y="42"/>
                              </a:lnTo>
                              <a:lnTo>
                                <a:pt x="102" y="42"/>
                              </a:lnTo>
                              <a:lnTo>
                                <a:pt x="107" y="29"/>
                              </a:lnTo>
                              <a:lnTo>
                                <a:pt x="109" y="16"/>
                              </a:lnTo>
                              <a:lnTo>
                                <a:pt x="116" y="20"/>
                              </a:lnTo>
                              <a:lnTo>
                                <a:pt x="124" y="27"/>
                              </a:lnTo>
                              <a:lnTo>
                                <a:pt x="138" y="24"/>
                              </a:lnTo>
                              <a:lnTo>
                                <a:pt x="146" y="30"/>
                              </a:lnTo>
                              <a:lnTo>
                                <a:pt x="149" y="38"/>
                              </a:lnTo>
                              <a:lnTo>
                                <a:pt x="170" y="35"/>
                              </a:lnTo>
                              <a:lnTo>
                                <a:pt x="211" y="30"/>
                              </a:lnTo>
                              <a:lnTo>
                                <a:pt x="226" y="54"/>
                              </a:lnTo>
                              <a:lnTo>
                                <a:pt x="252" y="65"/>
                              </a:lnTo>
                              <a:lnTo>
                                <a:pt x="251" y="75"/>
                              </a:lnTo>
                              <a:lnTo>
                                <a:pt x="262" y="70"/>
                              </a:lnTo>
                              <a:lnTo>
                                <a:pt x="274" y="70"/>
                              </a:lnTo>
                              <a:lnTo>
                                <a:pt x="289" y="80"/>
                              </a:lnTo>
                              <a:lnTo>
                                <a:pt x="307" y="78"/>
                              </a:lnTo>
                              <a:lnTo>
                                <a:pt x="322" y="80"/>
                              </a:lnTo>
                              <a:lnTo>
                                <a:pt x="347" y="99"/>
                              </a:lnTo>
                              <a:lnTo>
                                <a:pt x="373" y="122"/>
                              </a:lnTo>
                              <a:lnTo>
                                <a:pt x="384" y="148"/>
                              </a:lnTo>
                              <a:lnTo>
                                <a:pt x="377" y="168"/>
                              </a:lnTo>
                              <a:lnTo>
                                <a:pt x="408" y="176"/>
                              </a:lnTo>
                              <a:lnTo>
                                <a:pt x="460" y="186"/>
                              </a:lnTo>
                              <a:lnTo>
                                <a:pt x="514" y="197"/>
                              </a:lnTo>
                              <a:lnTo>
                                <a:pt x="548" y="221"/>
                              </a:lnTo>
                              <a:lnTo>
                                <a:pt x="563" y="242"/>
                              </a:lnTo>
                              <a:lnTo>
                                <a:pt x="563" y="270"/>
                              </a:lnTo>
                              <a:lnTo>
                                <a:pt x="549" y="295"/>
                              </a:lnTo>
                              <a:lnTo>
                                <a:pt x="534" y="308"/>
                              </a:lnTo>
                              <a:lnTo>
                                <a:pt x="525" y="316"/>
                              </a:lnTo>
                              <a:lnTo>
                                <a:pt x="514" y="335"/>
                              </a:lnTo>
                              <a:lnTo>
                                <a:pt x="512" y="351"/>
                              </a:lnTo>
                              <a:lnTo>
                                <a:pt x="514" y="372"/>
                              </a:lnTo>
                              <a:lnTo>
                                <a:pt x="508" y="392"/>
                              </a:lnTo>
                              <a:lnTo>
                                <a:pt x="500" y="396"/>
                              </a:lnTo>
                              <a:lnTo>
                                <a:pt x="497" y="408"/>
                              </a:lnTo>
                              <a:lnTo>
                                <a:pt x="488" y="417"/>
                              </a:lnTo>
                              <a:lnTo>
                                <a:pt x="486" y="427"/>
                              </a:lnTo>
                              <a:lnTo>
                                <a:pt x="474" y="438"/>
                              </a:lnTo>
                              <a:lnTo>
                                <a:pt x="455" y="459"/>
                              </a:lnTo>
                              <a:lnTo>
                                <a:pt x="438" y="464"/>
                              </a:lnTo>
                              <a:lnTo>
                                <a:pt x="427" y="463"/>
                              </a:lnTo>
                              <a:lnTo>
                                <a:pt x="407" y="473"/>
                              </a:lnTo>
                              <a:lnTo>
                                <a:pt x="386" y="496"/>
                              </a:lnTo>
                              <a:lnTo>
                                <a:pt x="382" y="505"/>
                              </a:lnTo>
                              <a:lnTo>
                                <a:pt x="382" y="517"/>
                              </a:lnTo>
                              <a:lnTo>
                                <a:pt x="386" y="530"/>
                              </a:lnTo>
                              <a:lnTo>
                                <a:pt x="377" y="543"/>
                              </a:lnTo>
                              <a:lnTo>
                                <a:pt x="377" y="553"/>
                              </a:lnTo>
                              <a:lnTo>
                                <a:pt x="360" y="565"/>
                              </a:lnTo>
                              <a:lnTo>
                                <a:pt x="348" y="573"/>
                              </a:lnTo>
                              <a:lnTo>
                                <a:pt x="338" y="586"/>
                              </a:lnTo>
                              <a:lnTo>
                                <a:pt x="334" y="600"/>
                              </a:lnTo>
                              <a:lnTo>
                                <a:pt x="320" y="615"/>
                              </a:lnTo>
                              <a:lnTo>
                                <a:pt x="315" y="613"/>
                              </a:lnTo>
                              <a:lnTo>
                                <a:pt x="304" y="613"/>
                              </a:lnTo>
                              <a:lnTo>
                                <a:pt x="290" y="618"/>
                              </a:lnTo>
                              <a:lnTo>
                                <a:pt x="300" y="626"/>
                              </a:lnTo>
                              <a:lnTo>
                                <a:pt x="300" y="640"/>
                              </a:lnTo>
                              <a:lnTo>
                                <a:pt x="299" y="652"/>
                              </a:lnTo>
                              <a:lnTo>
                                <a:pt x="292" y="661"/>
                              </a:lnTo>
                              <a:lnTo>
                                <a:pt x="274" y="662"/>
                              </a:lnTo>
                              <a:lnTo>
                                <a:pt x="260" y="666"/>
                              </a:lnTo>
                              <a:lnTo>
                                <a:pt x="253" y="675"/>
                              </a:lnTo>
                              <a:lnTo>
                                <a:pt x="253" y="690"/>
                              </a:lnTo>
                              <a:lnTo>
                                <a:pt x="237" y="694"/>
                              </a:lnTo>
                              <a:lnTo>
                                <a:pt x="223" y="690"/>
                              </a:lnTo>
                              <a:lnTo>
                                <a:pt x="219" y="698"/>
                              </a:lnTo>
                              <a:lnTo>
                                <a:pt x="226" y="704"/>
                              </a:lnTo>
                              <a:lnTo>
                                <a:pt x="222" y="726"/>
                              </a:lnTo>
                              <a:lnTo>
                                <a:pt x="216" y="745"/>
                              </a:lnTo>
                              <a:lnTo>
                                <a:pt x="198" y="745"/>
                              </a:lnTo>
                              <a:lnTo>
                                <a:pt x="193" y="752"/>
                              </a:lnTo>
                              <a:lnTo>
                                <a:pt x="194" y="767"/>
                              </a:lnTo>
                              <a:lnTo>
                                <a:pt x="204" y="767"/>
                              </a:lnTo>
                              <a:lnTo>
                                <a:pt x="211" y="775"/>
                              </a:lnTo>
                              <a:lnTo>
                                <a:pt x="207" y="790"/>
                              </a:lnTo>
                              <a:lnTo>
                                <a:pt x="197" y="791"/>
                              </a:lnTo>
                              <a:lnTo>
                                <a:pt x="182" y="797"/>
                              </a:lnTo>
                              <a:lnTo>
                                <a:pt x="178" y="809"/>
                              </a:lnTo>
                              <a:lnTo>
                                <a:pt x="177" y="826"/>
                              </a:lnTo>
                              <a:lnTo>
                                <a:pt x="167" y="835"/>
                              </a:lnTo>
                              <a:lnTo>
                                <a:pt x="201" y="864"/>
                              </a:lnTo>
                              <a:lnTo>
                                <a:pt x="211" y="878"/>
                              </a:lnTo>
                              <a:lnTo>
                                <a:pt x="205" y="887"/>
                              </a:lnTo>
                              <a:lnTo>
                                <a:pt x="190" y="881"/>
                              </a:lnTo>
                              <a:lnTo>
                                <a:pt x="178" y="870"/>
                              </a:lnTo>
                              <a:lnTo>
                                <a:pt x="160" y="861"/>
                              </a:lnTo>
                              <a:lnTo>
                                <a:pt x="144" y="846"/>
                              </a:lnTo>
                              <a:lnTo>
                                <a:pt x="133" y="829"/>
                              </a:lnTo>
                              <a:lnTo>
                                <a:pt x="131" y="814"/>
                              </a:lnTo>
                              <a:lnTo>
                                <a:pt x="134" y="803"/>
                              </a:lnTo>
                              <a:lnTo>
                                <a:pt x="133" y="708"/>
                              </a:lnTo>
                              <a:lnTo>
                                <a:pt x="129" y="690"/>
                              </a:lnTo>
                              <a:lnTo>
                                <a:pt x="116" y="672"/>
                              </a:lnTo>
                              <a:lnTo>
                                <a:pt x="116" y="656"/>
                              </a:lnTo>
                              <a:lnTo>
                                <a:pt x="124" y="637"/>
                              </a:lnTo>
                              <a:lnTo>
                                <a:pt x="131" y="614"/>
                              </a:lnTo>
                              <a:lnTo>
                                <a:pt x="129" y="591"/>
                              </a:lnTo>
                              <a:lnTo>
                                <a:pt x="127" y="581"/>
                              </a:lnTo>
                              <a:lnTo>
                                <a:pt x="126" y="568"/>
                              </a:lnTo>
                              <a:lnTo>
                                <a:pt x="130" y="562"/>
                              </a:lnTo>
                              <a:lnTo>
                                <a:pt x="133" y="536"/>
                              </a:lnTo>
                              <a:lnTo>
                                <a:pt x="130" y="523"/>
                              </a:lnTo>
                              <a:lnTo>
                                <a:pt x="135" y="491"/>
                              </a:lnTo>
                              <a:lnTo>
                                <a:pt x="130" y="463"/>
                              </a:lnTo>
                              <a:lnTo>
                                <a:pt x="134" y="449"/>
                              </a:lnTo>
                              <a:lnTo>
                                <a:pt x="141" y="421"/>
                              </a:lnTo>
                              <a:lnTo>
                                <a:pt x="134" y="403"/>
                              </a:lnTo>
                              <a:lnTo>
                                <a:pt x="120" y="390"/>
                              </a:lnTo>
                              <a:lnTo>
                                <a:pt x="116" y="376"/>
                              </a:lnTo>
                              <a:lnTo>
                                <a:pt x="101" y="363"/>
                              </a:lnTo>
                              <a:lnTo>
                                <a:pt x="85" y="354"/>
                              </a:lnTo>
                              <a:lnTo>
                                <a:pt x="61" y="350"/>
                              </a:lnTo>
                              <a:lnTo>
                                <a:pt x="50" y="329"/>
                              </a:lnTo>
                              <a:lnTo>
                                <a:pt x="35" y="311"/>
                              </a:lnTo>
                              <a:lnTo>
                                <a:pt x="34" y="295"/>
                              </a:lnTo>
                              <a:lnTo>
                                <a:pt x="33" y="280"/>
                              </a:lnTo>
                              <a:lnTo>
                                <a:pt x="28" y="270"/>
                              </a:lnTo>
                              <a:lnTo>
                                <a:pt x="20" y="258"/>
                              </a:lnTo>
                              <a:lnTo>
                                <a:pt x="9" y="252"/>
                              </a:lnTo>
                              <a:lnTo>
                                <a:pt x="1" y="241"/>
                              </a:lnTo>
                              <a:lnTo>
                                <a:pt x="11" y="231"/>
                              </a:lnTo>
                              <a:lnTo>
                                <a:pt x="11" y="206"/>
                              </a:lnTo>
                              <a:lnTo>
                                <a:pt x="5" y="193"/>
                              </a:lnTo>
                              <a:lnTo>
                                <a:pt x="0" y="180"/>
                              </a:lnTo>
                              <a:lnTo>
                                <a:pt x="5" y="161"/>
                              </a:lnTo>
                              <a:lnTo>
                                <a:pt x="27" y="115"/>
                              </a:lnTo>
                              <a:lnTo>
                                <a:pt x="28" y="94"/>
                              </a:lnTo>
                              <a:lnTo>
                                <a:pt x="41" y="72"/>
                              </a:lnTo>
                              <a:lnTo>
                                <a:pt x="41" y="61"/>
                              </a:lnTo>
                              <a:lnTo>
                                <a:pt x="43" y="3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</p:grpSp>
                </p:grpSp>
              </p:grpSp>
              <p:sp>
                <p:nvSpPr>
                  <p:cNvPr id="58526" name="AutoShape 174"/>
                  <p:cNvSpPr>
                    <a:spLocks noChangeArrowheads="1"/>
                  </p:cNvSpPr>
                  <p:nvPr/>
                </p:nvSpPr>
                <p:spPr bwMode="auto">
                  <a:xfrm>
                    <a:off x="3891" y="929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27" name="AutoShape 175"/>
                  <p:cNvSpPr>
                    <a:spLocks noChangeArrowheads="1"/>
                  </p:cNvSpPr>
                  <p:nvPr/>
                </p:nvSpPr>
                <p:spPr bwMode="auto">
                  <a:xfrm>
                    <a:off x="3923" y="940"/>
                    <a:ext cx="26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28" name="AutoShape 176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881"/>
                    <a:ext cx="28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29" name="AutoShape 177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952"/>
                    <a:ext cx="28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0" name="AutoShape 178"/>
                  <p:cNvSpPr>
                    <a:spLocks noChangeArrowheads="1"/>
                  </p:cNvSpPr>
                  <p:nvPr/>
                </p:nvSpPr>
                <p:spPr bwMode="auto">
                  <a:xfrm>
                    <a:off x="4283" y="921"/>
                    <a:ext cx="26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1" name="AutoShape 179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17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2" name="AutoShape 180"/>
                  <p:cNvSpPr>
                    <a:spLocks noChangeArrowheads="1"/>
                  </p:cNvSpPr>
                  <p:nvPr/>
                </p:nvSpPr>
                <p:spPr bwMode="auto">
                  <a:xfrm>
                    <a:off x="4051" y="1126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3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4674" y="117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4" name="AutoShape 182"/>
                  <p:cNvSpPr>
                    <a:spLocks noChangeArrowheads="1"/>
                  </p:cNvSpPr>
                  <p:nvPr/>
                </p:nvSpPr>
                <p:spPr bwMode="auto">
                  <a:xfrm>
                    <a:off x="4572" y="995"/>
                    <a:ext cx="25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5" name="AutoShape 183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871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6" name="AutoShape 184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92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7" name="AutoShape 185"/>
                  <p:cNvSpPr>
                    <a:spLocks noChangeArrowheads="1"/>
                  </p:cNvSpPr>
                  <p:nvPr/>
                </p:nvSpPr>
                <p:spPr bwMode="auto">
                  <a:xfrm>
                    <a:off x="3886" y="100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8" name="AutoShape 186"/>
                  <p:cNvSpPr>
                    <a:spLocks noChangeArrowheads="1"/>
                  </p:cNvSpPr>
                  <p:nvPr/>
                </p:nvSpPr>
                <p:spPr bwMode="auto">
                  <a:xfrm>
                    <a:off x="3869" y="963"/>
                    <a:ext cx="28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9" name="AutoShape 187"/>
                  <p:cNvSpPr>
                    <a:spLocks noChangeArrowheads="1"/>
                  </p:cNvSpPr>
                  <p:nvPr/>
                </p:nvSpPr>
                <p:spPr bwMode="auto">
                  <a:xfrm>
                    <a:off x="4066" y="1136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0" name="AutoShape 188"/>
                  <p:cNvSpPr>
                    <a:spLocks noChangeArrowheads="1"/>
                  </p:cNvSpPr>
                  <p:nvPr/>
                </p:nvSpPr>
                <p:spPr bwMode="auto">
                  <a:xfrm>
                    <a:off x="4020" y="119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1" name="AutoShape 189"/>
                  <p:cNvSpPr>
                    <a:spLocks noChangeArrowheads="1"/>
                  </p:cNvSpPr>
                  <p:nvPr/>
                </p:nvSpPr>
                <p:spPr bwMode="auto">
                  <a:xfrm>
                    <a:off x="4350" y="908"/>
                    <a:ext cx="28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2" name="AutoShape 190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100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3" name="AutoShape 191"/>
                  <p:cNvSpPr>
                    <a:spLocks noChangeArrowheads="1"/>
                  </p:cNvSpPr>
                  <p:nvPr/>
                </p:nvSpPr>
                <p:spPr bwMode="auto">
                  <a:xfrm>
                    <a:off x="4560" y="967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4" name="AutoShape 192"/>
                  <p:cNvSpPr>
                    <a:spLocks noChangeArrowheads="1"/>
                  </p:cNvSpPr>
                  <p:nvPr/>
                </p:nvSpPr>
                <p:spPr bwMode="auto">
                  <a:xfrm>
                    <a:off x="4655" y="1190"/>
                    <a:ext cx="24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5" name="AutoShape 193"/>
                  <p:cNvSpPr>
                    <a:spLocks noChangeArrowheads="1"/>
                  </p:cNvSpPr>
                  <p:nvPr/>
                </p:nvSpPr>
                <p:spPr bwMode="auto">
                  <a:xfrm>
                    <a:off x="4401" y="871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6" name="AutoShape 194"/>
                  <p:cNvSpPr>
                    <a:spLocks noChangeArrowheads="1"/>
                  </p:cNvSpPr>
                  <p:nvPr/>
                </p:nvSpPr>
                <p:spPr bwMode="auto">
                  <a:xfrm>
                    <a:off x="3952" y="934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7" name="AutoShape 195"/>
                  <p:cNvSpPr>
                    <a:spLocks noChangeArrowheads="1"/>
                  </p:cNvSpPr>
                  <p:nvPr/>
                </p:nvSpPr>
                <p:spPr bwMode="auto">
                  <a:xfrm>
                    <a:off x="3855" y="929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8" name="AutoShape 196"/>
                  <p:cNvSpPr>
                    <a:spLocks noChangeArrowheads="1"/>
                  </p:cNvSpPr>
                  <p:nvPr/>
                </p:nvSpPr>
                <p:spPr bwMode="auto">
                  <a:xfrm>
                    <a:off x="3949" y="967"/>
                    <a:ext cx="26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9" name="AutoShape 197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207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0" name="AutoShape 198"/>
                  <p:cNvSpPr>
                    <a:spLocks noChangeArrowheads="1"/>
                  </p:cNvSpPr>
                  <p:nvPr/>
                </p:nvSpPr>
                <p:spPr bwMode="auto">
                  <a:xfrm>
                    <a:off x="4283" y="871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1" name="AutoShape 199"/>
                  <p:cNvSpPr>
                    <a:spLocks noChangeArrowheads="1"/>
                  </p:cNvSpPr>
                  <p:nvPr/>
                </p:nvSpPr>
                <p:spPr bwMode="auto">
                  <a:xfrm>
                    <a:off x="4252" y="92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2" name="AutoShape 200"/>
                  <p:cNvSpPr>
                    <a:spLocks noChangeArrowheads="1"/>
                  </p:cNvSpPr>
                  <p:nvPr/>
                </p:nvSpPr>
                <p:spPr bwMode="auto">
                  <a:xfrm>
                    <a:off x="4379" y="908"/>
                    <a:ext cx="29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3" name="AutoShape 201"/>
                  <p:cNvSpPr>
                    <a:spLocks noChangeArrowheads="1"/>
                  </p:cNvSpPr>
                  <p:nvPr/>
                </p:nvSpPr>
                <p:spPr bwMode="auto">
                  <a:xfrm>
                    <a:off x="4293" y="1017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4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4611" y="979"/>
                    <a:ext cx="29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5" name="AutoShape 203"/>
                  <p:cNvSpPr>
                    <a:spLocks noChangeArrowheads="1"/>
                  </p:cNvSpPr>
                  <p:nvPr/>
                </p:nvSpPr>
                <p:spPr bwMode="auto">
                  <a:xfrm>
                    <a:off x="4695" y="1180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6" name="AutoShape 204"/>
                  <p:cNvSpPr>
                    <a:spLocks noChangeArrowheads="1"/>
                  </p:cNvSpPr>
                  <p:nvPr/>
                </p:nvSpPr>
                <p:spPr bwMode="auto">
                  <a:xfrm>
                    <a:off x="4436" y="1108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7" name="AutoShape 205"/>
                  <p:cNvSpPr>
                    <a:spLocks noChangeArrowheads="1"/>
                  </p:cNvSpPr>
                  <p:nvPr/>
                </p:nvSpPr>
                <p:spPr bwMode="auto">
                  <a:xfrm>
                    <a:off x="4043" y="1194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8" name="AutoShape 206"/>
                  <p:cNvSpPr>
                    <a:spLocks noChangeArrowheads="1"/>
                  </p:cNvSpPr>
                  <p:nvPr/>
                </p:nvSpPr>
                <p:spPr bwMode="auto">
                  <a:xfrm>
                    <a:off x="4250" y="1057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9" name="AutoShape 207"/>
                  <p:cNvSpPr>
                    <a:spLocks noChangeArrowheads="1"/>
                  </p:cNvSpPr>
                  <p:nvPr/>
                </p:nvSpPr>
                <p:spPr bwMode="auto">
                  <a:xfrm>
                    <a:off x="3913" y="967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</p:grpSp>
          </p:grpSp>
          <p:sp>
            <p:nvSpPr>
              <p:cNvPr id="58451" name="Rectangle 208"/>
              <p:cNvSpPr>
                <a:spLocks noChangeArrowheads="1"/>
              </p:cNvSpPr>
              <p:nvPr/>
            </p:nvSpPr>
            <p:spPr bwMode="auto">
              <a:xfrm>
                <a:off x="4575" y="2735"/>
                <a:ext cx="8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pt-BR"/>
                  <a:t>Mercado</a:t>
                </a:r>
              </a:p>
            </p:txBody>
          </p:sp>
        </p:grpSp>
      </p:grpSp>
      <p:grpSp>
        <p:nvGrpSpPr>
          <p:cNvPr id="58376" name="Group 209"/>
          <p:cNvGrpSpPr>
            <a:grpSpLocks/>
          </p:cNvGrpSpPr>
          <p:nvPr/>
        </p:nvGrpSpPr>
        <p:grpSpPr bwMode="auto">
          <a:xfrm>
            <a:off x="1960563" y="4570413"/>
            <a:ext cx="6015037" cy="1836737"/>
            <a:chOff x="1235" y="2879"/>
            <a:chExt cx="3789" cy="1157"/>
          </a:xfrm>
        </p:grpSpPr>
        <p:sp useBgFill="1">
          <p:nvSpPr>
            <p:cNvPr id="58439" name="Oval 210"/>
            <p:cNvSpPr>
              <a:spLocks noChangeArrowheads="1"/>
            </p:cNvSpPr>
            <p:nvPr/>
          </p:nvSpPr>
          <p:spPr bwMode="auto">
            <a:xfrm rot="-5400000">
              <a:off x="2812" y="1825"/>
              <a:ext cx="745" cy="3678"/>
            </a:xfrm>
            <a:prstGeom prst="ellipse">
              <a:avLst/>
            </a:prstGeom>
            <a:ln w="12700">
              <a:solidFill>
                <a:srgbClr val="7A7AD4"/>
              </a:solidFill>
              <a:round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pt-BR" sz="2800"/>
                <a:t>Estratégia Tecnológica</a:t>
              </a:r>
            </a:p>
          </p:txBody>
        </p:sp>
        <p:sp>
          <p:nvSpPr>
            <p:cNvPr id="58440" name="AutoShape 211"/>
            <p:cNvSpPr>
              <a:spLocks noChangeArrowheads="1"/>
            </p:cNvSpPr>
            <p:nvPr/>
          </p:nvSpPr>
          <p:spPr bwMode="auto">
            <a:xfrm rot="-7035679">
              <a:off x="1132" y="3270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1" name="AutoShape 212"/>
            <p:cNvSpPr>
              <a:spLocks noChangeArrowheads="1"/>
            </p:cNvSpPr>
            <p:nvPr/>
          </p:nvSpPr>
          <p:spPr bwMode="auto">
            <a:xfrm rot="-6523264">
              <a:off x="1502" y="3098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2" name="AutoShape 213"/>
            <p:cNvSpPr>
              <a:spLocks noChangeArrowheads="1"/>
            </p:cNvSpPr>
            <p:nvPr/>
          </p:nvSpPr>
          <p:spPr bwMode="auto">
            <a:xfrm rot="-6042606">
              <a:off x="1865" y="3003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3" name="AutoShape 214"/>
            <p:cNvSpPr>
              <a:spLocks noChangeArrowheads="1"/>
            </p:cNvSpPr>
            <p:nvPr/>
          </p:nvSpPr>
          <p:spPr bwMode="auto">
            <a:xfrm rot="-5425129">
              <a:off x="2284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4" name="AutoShape 215"/>
            <p:cNvSpPr>
              <a:spLocks noChangeArrowheads="1"/>
            </p:cNvSpPr>
            <p:nvPr/>
          </p:nvSpPr>
          <p:spPr bwMode="auto">
            <a:xfrm rot="-5305128">
              <a:off x="2729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5" name="AutoShape 216"/>
            <p:cNvSpPr>
              <a:spLocks noChangeArrowheads="1"/>
            </p:cNvSpPr>
            <p:nvPr/>
          </p:nvSpPr>
          <p:spPr bwMode="auto">
            <a:xfrm rot="-5350101">
              <a:off x="3113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6" name="AutoShape 217"/>
            <p:cNvSpPr>
              <a:spLocks noChangeArrowheads="1"/>
            </p:cNvSpPr>
            <p:nvPr/>
          </p:nvSpPr>
          <p:spPr bwMode="auto">
            <a:xfrm rot="-5350101">
              <a:off x="3545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7" name="Group 218"/>
          <p:cNvGrpSpPr>
            <a:grpSpLocks/>
          </p:cNvGrpSpPr>
          <p:nvPr/>
        </p:nvGrpSpPr>
        <p:grpSpPr bwMode="auto">
          <a:xfrm>
            <a:off x="1884363" y="1090613"/>
            <a:ext cx="5924550" cy="1914525"/>
            <a:chOff x="1187" y="687"/>
            <a:chExt cx="3732" cy="1206"/>
          </a:xfrm>
        </p:grpSpPr>
        <p:sp useBgFill="1">
          <p:nvSpPr>
            <p:cNvPr id="58431" name="Oval 219"/>
            <p:cNvSpPr>
              <a:spLocks noChangeArrowheads="1"/>
            </p:cNvSpPr>
            <p:nvPr/>
          </p:nvSpPr>
          <p:spPr bwMode="auto">
            <a:xfrm rot="5400000">
              <a:off x="2702" y="-758"/>
              <a:ext cx="772" cy="3662"/>
            </a:xfrm>
            <a:prstGeom prst="ellipse">
              <a:avLst/>
            </a:prstGeom>
            <a:ln w="12700">
              <a:solidFill>
                <a:srgbClr val="7A7AD4"/>
              </a:solidFill>
              <a:round/>
              <a:headEnd/>
              <a:tailEnd/>
            </a:ln>
          </p:spPr>
          <p:txBody>
            <a:bodyPr rot="10800000" vert="eaVert"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pt-BR" sz="2800"/>
                <a:t>Estratégia de Produto / Mercado</a:t>
              </a:r>
            </a:p>
          </p:txBody>
        </p:sp>
        <p:sp>
          <p:nvSpPr>
            <p:cNvPr id="58432" name="AutoShape 220"/>
            <p:cNvSpPr>
              <a:spLocks noChangeArrowheads="1"/>
            </p:cNvSpPr>
            <p:nvPr/>
          </p:nvSpPr>
          <p:spPr bwMode="auto">
            <a:xfrm rot="7035679" flipV="1">
              <a:off x="1084" y="1179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3" name="AutoShape 221"/>
            <p:cNvSpPr>
              <a:spLocks noChangeArrowheads="1"/>
            </p:cNvSpPr>
            <p:nvPr/>
          </p:nvSpPr>
          <p:spPr bwMode="auto">
            <a:xfrm rot="6523264" flipV="1">
              <a:off x="1358" y="132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4" name="AutoShape 222"/>
            <p:cNvSpPr>
              <a:spLocks noChangeArrowheads="1"/>
            </p:cNvSpPr>
            <p:nvPr/>
          </p:nvSpPr>
          <p:spPr bwMode="auto">
            <a:xfrm rot="6042606" flipV="1">
              <a:off x="1774" y="1460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5" name="AutoShape 223"/>
            <p:cNvSpPr>
              <a:spLocks noChangeArrowheads="1"/>
            </p:cNvSpPr>
            <p:nvPr/>
          </p:nvSpPr>
          <p:spPr bwMode="auto">
            <a:xfrm rot="5425129" flipV="1">
              <a:off x="2284" y="1551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6" name="AutoShape 224"/>
            <p:cNvSpPr>
              <a:spLocks noChangeArrowheads="1"/>
            </p:cNvSpPr>
            <p:nvPr/>
          </p:nvSpPr>
          <p:spPr bwMode="auto">
            <a:xfrm rot="5305128" flipV="1">
              <a:off x="2729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7" name="AutoShape 225"/>
            <p:cNvSpPr>
              <a:spLocks noChangeArrowheads="1"/>
            </p:cNvSpPr>
            <p:nvPr/>
          </p:nvSpPr>
          <p:spPr bwMode="auto">
            <a:xfrm rot="5350101" flipV="1">
              <a:off x="3113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8" name="AutoShape 226"/>
            <p:cNvSpPr>
              <a:spLocks noChangeArrowheads="1"/>
            </p:cNvSpPr>
            <p:nvPr/>
          </p:nvSpPr>
          <p:spPr bwMode="auto">
            <a:xfrm rot="5350101" flipV="1">
              <a:off x="3545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sp>
        <p:nvSpPr>
          <p:cNvPr id="58378" name="AutoShape 227"/>
          <p:cNvSpPr>
            <a:spLocks noChangeArrowheads="1"/>
          </p:cNvSpPr>
          <p:nvPr/>
        </p:nvSpPr>
        <p:spPr bwMode="auto">
          <a:xfrm>
            <a:off x="381000" y="3260725"/>
            <a:ext cx="6351588" cy="1006475"/>
          </a:xfrm>
          <a:prstGeom prst="rightArrow">
            <a:avLst>
              <a:gd name="adj1" fmla="val 73500"/>
              <a:gd name="adj2" fmla="val 93843"/>
            </a:avLst>
          </a:prstGeom>
          <a:solidFill>
            <a:srgbClr val="CCFFFF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pt-BR" sz="4000">
                <a:solidFill>
                  <a:schemeClr val="tx2"/>
                </a:solidFill>
              </a:rPr>
              <a:t>Product pipeline</a:t>
            </a:r>
          </a:p>
        </p:txBody>
      </p:sp>
      <p:grpSp>
        <p:nvGrpSpPr>
          <p:cNvPr id="58379" name="Group 228"/>
          <p:cNvGrpSpPr>
            <a:grpSpLocks/>
          </p:cNvGrpSpPr>
          <p:nvPr/>
        </p:nvGrpSpPr>
        <p:grpSpPr bwMode="auto">
          <a:xfrm rot="-2261450">
            <a:off x="6143480" y="76291"/>
            <a:ext cx="3089275" cy="4325937"/>
            <a:chOff x="2181" y="1183"/>
            <a:chExt cx="1419" cy="1966"/>
          </a:xfrm>
        </p:grpSpPr>
        <p:grpSp>
          <p:nvGrpSpPr>
            <p:cNvPr id="58380" name="Group 229"/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58417" name="Group 230"/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58423" name="Group 231"/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58429" name="Freeform 232"/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30" name="Freeform 233"/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58424" name="Group 234"/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58425" name="Freeform 235"/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26" name="Freeform 236"/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27" name="Freeform 237"/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28" name="Freeform 238"/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58418" name="Oval 239"/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US" altLang="pt-BR"/>
              </a:p>
            </p:txBody>
          </p:sp>
          <p:grpSp>
            <p:nvGrpSpPr>
              <p:cNvPr id="58419" name="Group 240"/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58420" name="Oval 241"/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21" name="Oval 242"/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22" name="Oval 243"/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</p:grpSp>
        </p:grpSp>
        <p:grpSp>
          <p:nvGrpSpPr>
            <p:cNvPr id="58381" name="Group 244"/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58382" name="Freeform 245"/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3" name="Arc 246"/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lnTo>
                      <a:pt x="877" y="27692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4" name="Arc 247"/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lnTo>
                      <a:pt x="138" y="24038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5" name="Freeform 248"/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6" name="Arc 249"/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lnTo>
                      <a:pt x="806" y="26092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7" name="Arc 250"/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lnTo>
                      <a:pt x="729" y="27167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58388" name="Group 251"/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58412" name="Group 252"/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58414" name="Arc 253"/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15" name="Arc 254"/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531" y="2365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16" name="Arc 255"/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lnTo>
                          <a:pt x="602" y="26668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58413" name="Arc 256"/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89" name="Group 257"/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58407" name="Group 258"/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58409" name="Arc 259"/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lnTo>
                          <a:pt x="475" y="26108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10" name="Arc 260"/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475" y="23399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11" name="Arc 261"/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58408" name="Arc 262"/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lnTo>
                        <a:pt x="531" y="2636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90" name="Group 263"/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58405" name="Arc 264"/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8406" name="Arc 265"/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lnTo>
                        <a:pt x="423" y="23144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91" name="Group 266"/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58403" name="Arc 267"/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8404" name="Arc 268"/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92" name="Group 269"/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58401" name="Line 270"/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8402" name="Line 271"/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93" name="Group 272"/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58396" name="Group 273"/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58399" name="Arc 274"/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lnTo>
                          <a:pt x="373" y="25596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00" name="Arc 275"/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373" y="22887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58397" name="Arc 276"/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8398" name="Arc 277"/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58394" name="Freeform 278"/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95" name="Oval 279"/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US" alt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22351"/>
      </p:ext>
    </p:extLst>
  </p:cSld>
  <p:clrMapOvr>
    <a:masterClrMapping/>
  </p:clrMapOvr>
  <p:transition>
    <p:checker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CaixaDeTexto 1"/>
          <p:cNvSpPr txBox="1">
            <a:spLocks noChangeArrowheads="1"/>
          </p:cNvSpPr>
          <p:nvPr/>
        </p:nvSpPr>
        <p:spPr bwMode="auto">
          <a:xfrm>
            <a:off x="293524" y="548680"/>
            <a:ext cx="8102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FF3300"/>
                </a:solidFill>
              </a:rPr>
              <a:t>Relação de ferramentas com seu respectivo objetivo na identificação de oportunidade do mercado</a:t>
            </a:r>
          </a:p>
        </p:txBody>
      </p:sp>
      <p:sp>
        <p:nvSpPr>
          <p:cNvPr id="48130" name="CaixaDeTexto 2"/>
          <p:cNvSpPr txBox="1">
            <a:spLocks noChangeArrowheads="1"/>
          </p:cNvSpPr>
          <p:nvPr/>
        </p:nvSpPr>
        <p:spPr bwMode="auto">
          <a:xfrm>
            <a:off x="863600" y="1600200"/>
            <a:ext cx="75565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l" eaLnBrk="1" hangingPunct="1">
              <a:buFont typeface="Arial" charset="0"/>
              <a:buAutoNum type="arabicPeriod"/>
            </a:pPr>
            <a:r>
              <a:rPr lang="pt-BR" altLang="pt-BR" b="1">
                <a:solidFill>
                  <a:srgbClr val="C00000"/>
                </a:solidFill>
              </a:rPr>
              <a:t>Pesquisa de mercado</a:t>
            </a:r>
            <a:r>
              <a:rPr lang="pt-BR" altLang="pt-BR"/>
              <a:t>: Identificação de demandas de mercado, tendências e percepções para novas tecnologias e funções dos produtos, pesquisa de aceitação quanto a novos conceitos de produtos.</a:t>
            </a:r>
          </a:p>
          <a:p>
            <a:pPr algn="l" eaLnBrk="1" hangingPunct="1">
              <a:buFont typeface="Arial" charset="0"/>
              <a:buAutoNum type="arabicPeriod"/>
            </a:pPr>
            <a:endParaRPr lang="pt-BR" altLang="pt-BR"/>
          </a:p>
          <a:p>
            <a:pPr algn="l" eaLnBrk="1" hangingPunct="1">
              <a:buFont typeface="Arial" charset="0"/>
              <a:buAutoNum type="arabicPeriod"/>
            </a:pPr>
            <a:r>
              <a:rPr lang="pt-BR" altLang="pt-BR" b="1">
                <a:solidFill>
                  <a:srgbClr val="C00000"/>
                </a:solidFill>
              </a:rPr>
              <a:t>Entrevista individual de consumidores e Questionários:</a:t>
            </a:r>
            <a:r>
              <a:rPr lang="pt-BR" altLang="pt-BR"/>
              <a:t> identificação de necessidades não atendidas, problemas dos consumidores não resolvidos, ou resolvidos, resolvidos parcialmente, expectativas e tendências para uma determinada área de atuação, linha de categoria de produtos.  </a:t>
            </a:r>
          </a:p>
          <a:p>
            <a:pPr algn="l" eaLnBrk="1" hangingPunct="1">
              <a:buFont typeface="Arial" charset="0"/>
              <a:buAutoNum type="arabicPeriod"/>
            </a:pPr>
            <a:endParaRPr lang="pt-BR" altLang="pt-B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CaixaDeTexto 1"/>
          <p:cNvSpPr txBox="1">
            <a:spLocks noChangeArrowheads="1"/>
          </p:cNvSpPr>
          <p:nvPr/>
        </p:nvSpPr>
        <p:spPr bwMode="auto">
          <a:xfrm>
            <a:off x="596900" y="541337"/>
            <a:ext cx="75057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/>
              <a:t>Relação de ferramentas com seu respectivo objetivo na identificação de oportunidade do mercado</a:t>
            </a:r>
          </a:p>
        </p:txBody>
      </p:sp>
      <p:sp>
        <p:nvSpPr>
          <p:cNvPr id="49154" name="CaixaDeTexto 2"/>
          <p:cNvSpPr txBox="1">
            <a:spLocks noChangeArrowheads="1"/>
          </p:cNvSpPr>
          <p:nvPr/>
        </p:nvSpPr>
        <p:spPr bwMode="auto">
          <a:xfrm>
            <a:off x="596900" y="1371600"/>
            <a:ext cx="75565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l" eaLnBrk="1" hangingPunct="1">
              <a:buFont typeface="Arial" charset="0"/>
              <a:buAutoNum type="arabicPeriod" startAt="3"/>
            </a:pPr>
            <a:r>
              <a:rPr lang="pt-BR" altLang="pt-BR" b="1">
                <a:solidFill>
                  <a:srgbClr val="C00000"/>
                </a:solidFill>
              </a:rPr>
              <a:t>Observação em campo</a:t>
            </a:r>
            <a:r>
              <a:rPr lang="pt-BR" altLang="pt-BR">
                <a:solidFill>
                  <a:srgbClr val="C00000"/>
                </a:solidFill>
              </a:rPr>
              <a:t>: </a:t>
            </a:r>
            <a:r>
              <a:rPr lang="pt-BR" altLang="pt-BR">
                <a:solidFill>
                  <a:srgbClr val="002060"/>
                </a:solidFill>
              </a:rPr>
              <a:t>identificação de necessidade não articuladas possibilidade de proposição de novas soluções e benefícios para os consumidores, necessidade de agregação de novas funções ao produto ou eliminação de funções nos produtos. </a:t>
            </a:r>
          </a:p>
          <a:p>
            <a:pPr algn="l" eaLnBrk="1" hangingPunct="1">
              <a:buFont typeface="Arial" charset="0"/>
              <a:buAutoNum type="arabicPeriod" startAt="3"/>
            </a:pPr>
            <a:endParaRPr lang="pt-BR" altLang="pt-BR"/>
          </a:p>
          <a:p>
            <a:pPr algn="l" eaLnBrk="1" hangingPunct="1">
              <a:buFont typeface="Arial" charset="0"/>
              <a:buAutoNum type="arabicPeriod" startAt="3"/>
            </a:pPr>
            <a:r>
              <a:rPr lang="pt-BR" altLang="pt-BR" b="1">
                <a:solidFill>
                  <a:srgbClr val="C00000"/>
                </a:solidFill>
              </a:rPr>
              <a:t>Análise do perfil dos consumidores: </a:t>
            </a:r>
            <a:r>
              <a:rPr lang="pt-BR" altLang="pt-BR">
                <a:solidFill>
                  <a:srgbClr val="002060"/>
                </a:solidFill>
              </a:rPr>
              <a:t>auxilia no melhor entendimento dos consumidores dos produtos da empresa. Análise de estilo de vida, necessidades básicas, avançadas, aspirações, motivações, frustações na hora da decisão quanto a aquisição de um produto.  </a:t>
            </a:r>
          </a:p>
          <a:p>
            <a:pPr algn="l" eaLnBrk="1" hangingPunct="1">
              <a:buFont typeface="Arial" charset="0"/>
              <a:buAutoNum type="arabicPeriod" startAt="3"/>
            </a:pPr>
            <a:endParaRPr lang="pt-BR" altLang="pt-B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CaixaDeTexto 1"/>
          <p:cNvSpPr txBox="1">
            <a:spLocks noChangeArrowheads="1"/>
          </p:cNvSpPr>
          <p:nvPr/>
        </p:nvSpPr>
        <p:spPr bwMode="auto">
          <a:xfrm>
            <a:off x="514350" y="692696"/>
            <a:ext cx="7874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FF3300"/>
                </a:solidFill>
              </a:rPr>
              <a:t>Relação de ferramentas com seu respectivo objetivo na identificação de oportunidade do mercado</a:t>
            </a:r>
          </a:p>
        </p:txBody>
      </p:sp>
      <p:sp>
        <p:nvSpPr>
          <p:cNvPr id="50178" name="CaixaDeTexto 2"/>
          <p:cNvSpPr txBox="1">
            <a:spLocks noChangeArrowheads="1"/>
          </p:cNvSpPr>
          <p:nvPr/>
        </p:nvSpPr>
        <p:spPr bwMode="auto">
          <a:xfrm>
            <a:off x="673100" y="1816100"/>
            <a:ext cx="75565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l" eaLnBrk="1" hangingPunct="1">
              <a:buFont typeface="Arial" charset="0"/>
              <a:buAutoNum type="arabicPeriod" startAt="5"/>
            </a:pPr>
            <a:r>
              <a:rPr lang="pt-BR" altLang="pt-BR" b="1">
                <a:solidFill>
                  <a:srgbClr val="C00000"/>
                </a:solidFill>
              </a:rPr>
              <a:t>Abordagem de usuários avançados: </a:t>
            </a:r>
            <a:r>
              <a:rPr lang="pt-BR" altLang="pt-BR">
                <a:solidFill>
                  <a:srgbClr val="002060"/>
                </a:solidFill>
              </a:rPr>
              <a:t>Identificação de tendências, cenários futuros, proposições de soluções de problemas e necessidades atuais e futuras. </a:t>
            </a:r>
          </a:p>
          <a:p>
            <a:pPr algn="l" eaLnBrk="1" hangingPunct="1">
              <a:buFont typeface="Arial" charset="0"/>
              <a:buAutoNum type="arabicPeriod" startAt="5"/>
            </a:pPr>
            <a:endParaRPr lang="pt-BR" altLang="pt-B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CaixaDeTexto 1"/>
          <p:cNvSpPr txBox="1">
            <a:spLocks noChangeArrowheads="1"/>
          </p:cNvSpPr>
          <p:nvPr/>
        </p:nvSpPr>
        <p:spPr bwMode="auto">
          <a:xfrm>
            <a:off x="571500" y="1104900"/>
            <a:ext cx="7747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buFont typeface="Arial" charset="0"/>
              <a:buChar char="•"/>
            </a:pPr>
            <a:r>
              <a:rPr lang="pt-BR" altLang="pt-BR"/>
              <a:t> Vários fatores podem influenciar direta e indiretamente nas decisões sobre o desenvolvimento de novos produtos, tanto na forma e tendências e oportunidades – </a:t>
            </a:r>
            <a:r>
              <a:rPr lang="pt-BR" altLang="pt-BR" b="1">
                <a:solidFill>
                  <a:srgbClr val="C00000"/>
                </a:solidFill>
              </a:rPr>
              <a:t>MERCADO E TECNOLÓGICOS</a:t>
            </a:r>
            <a:r>
              <a:rPr lang="pt-BR" altLang="pt-BR" b="1"/>
              <a:t>.   </a:t>
            </a:r>
          </a:p>
          <a:p>
            <a:pPr algn="just" eaLnBrk="1" hangingPunct="1">
              <a:buFont typeface="Arial" charset="0"/>
              <a:buChar char="•"/>
            </a:pPr>
            <a:endParaRPr lang="pt-BR" altLang="pt-BR"/>
          </a:p>
          <a:p>
            <a:pPr algn="just" eaLnBrk="1" hangingPunct="1">
              <a:buFont typeface="Arial" charset="0"/>
              <a:buChar char="•"/>
            </a:pPr>
            <a:r>
              <a:rPr lang="pt-BR" altLang="pt-BR"/>
              <a:t> Como podem vir a </a:t>
            </a:r>
            <a:r>
              <a:rPr lang="pt-BR" altLang="pt-BR" b="1">
                <a:solidFill>
                  <a:srgbClr val="C00000"/>
                </a:solidFill>
              </a:rPr>
              <a:t>impactar negativamente </a:t>
            </a:r>
            <a:r>
              <a:rPr lang="pt-BR" altLang="pt-BR"/>
              <a:t>e/ou inviabilizar o projeto (fatores políticos, econômicos e outros fatores diversos.</a:t>
            </a:r>
          </a:p>
          <a:p>
            <a:pPr algn="just" eaLnBrk="1" hangingPunct="1">
              <a:buFont typeface="Arial" charset="0"/>
              <a:buChar char="•"/>
            </a:pPr>
            <a:endParaRPr lang="pt-BR" altLang="pt-BR"/>
          </a:p>
          <a:p>
            <a:pPr algn="just" eaLnBrk="1" hangingPunct="1">
              <a:buFont typeface="Arial" charset="0"/>
              <a:buChar char="•"/>
            </a:pPr>
            <a:r>
              <a:rPr lang="pt-BR" altLang="pt-BR"/>
              <a:t> Os fatores são definidos como informações do ambiente externo e interno à empresa e configuram os </a:t>
            </a:r>
            <a:r>
              <a:rPr lang="ja-JP" altLang="pt-BR"/>
              <a:t>“</a:t>
            </a:r>
            <a:r>
              <a:rPr lang="pt-BR" altLang="ja-JP"/>
              <a:t>campos de busca de oportunidades</a:t>
            </a:r>
            <a:r>
              <a:rPr lang="ja-JP" altLang="pt-BR"/>
              <a:t>”</a:t>
            </a:r>
            <a:r>
              <a:rPr lang="pt-BR" altLang="ja-JP"/>
              <a:t>  </a:t>
            </a:r>
            <a:endParaRPr lang="pt-BR" altLang="pt-B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2125"/>
            <a:ext cx="8580438" cy="601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2249488"/>
            <a:ext cx="8636000" cy="346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0" name="CaixaDeTexto 2"/>
          <p:cNvSpPr txBox="1">
            <a:spLocks noChangeArrowheads="1"/>
          </p:cNvSpPr>
          <p:nvPr/>
        </p:nvSpPr>
        <p:spPr bwMode="auto">
          <a:xfrm>
            <a:off x="876300" y="914400"/>
            <a:ext cx="71247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/>
              <a:t>Pode se criar uma planilha eletrônica com um mapa dos fatores de influência no PDP.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CaixaDeTexto 2"/>
          <p:cNvSpPr txBox="1">
            <a:spLocks noChangeArrowheads="1"/>
          </p:cNvSpPr>
          <p:nvPr/>
        </p:nvSpPr>
        <p:spPr bwMode="auto">
          <a:xfrm>
            <a:off x="622300" y="1193800"/>
            <a:ext cx="7353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/>
              <a:t>PARA APOIAR O PREENCHIMENTO DA MATRIZ</a:t>
            </a:r>
          </a:p>
        </p:txBody>
      </p:sp>
      <p:sp>
        <p:nvSpPr>
          <p:cNvPr id="54274" name="CaixaDeTexto 3"/>
          <p:cNvSpPr txBox="1">
            <a:spLocks noChangeArrowheads="1"/>
          </p:cNvSpPr>
          <p:nvPr/>
        </p:nvSpPr>
        <p:spPr bwMode="auto">
          <a:xfrm>
            <a:off x="546100" y="2006600"/>
            <a:ext cx="78867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l" eaLnBrk="1" hangingPunct="1">
              <a:buFont typeface="Arial" charset="0"/>
              <a:buAutoNum type="arabicPeriod"/>
            </a:pPr>
            <a:r>
              <a:rPr lang="pt-BR" altLang="pt-BR"/>
              <a:t> Análise de lacunas;</a:t>
            </a:r>
          </a:p>
          <a:p>
            <a:pPr algn="l" eaLnBrk="1" hangingPunct="1">
              <a:buFont typeface="Arial" charset="0"/>
              <a:buAutoNum type="arabicPeriod"/>
            </a:pPr>
            <a:r>
              <a:rPr lang="pt-BR" altLang="pt-BR"/>
              <a:t> Matriz de aplicações x grupos de consumidores</a:t>
            </a:r>
          </a:p>
          <a:p>
            <a:pPr algn="l" eaLnBrk="1" hangingPunct="1">
              <a:buFont typeface="Arial" charset="0"/>
              <a:buAutoNum type="arabicPeriod"/>
            </a:pPr>
            <a:r>
              <a:rPr lang="pt-BR" altLang="pt-BR"/>
              <a:t> Pesquisa bibliográfica</a:t>
            </a:r>
          </a:p>
          <a:p>
            <a:pPr algn="l" eaLnBrk="1" hangingPunct="1">
              <a:buFont typeface="Arial" charset="0"/>
              <a:buAutoNum type="arabicPeriod"/>
            </a:pPr>
            <a:r>
              <a:rPr lang="pt-BR" altLang="pt-BR"/>
              <a:t>Pesquisa na Internet</a:t>
            </a:r>
          </a:p>
          <a:p>
            <a:pPr algn="l" eaLnBrk="1" hangingPunct="1">
              <a:buFont typeface="Arial" charset="0"/>
              <a:buAutoNum type="arabicPeriod"/>
            </a:pPr>
            <a:r>
              <a:rPr lang="pt-BR" altLang="pt-BR"/>
              <a:t>Consulta aos documentos da empresa</a:t>
            </a:r>
          </a:p>
          <a:p>
            <a:pPr algn="l" eaLnBrk="1" hangingPunct="1">
              <a:buFont typeface="Arial" charset="0"/>
              <a:buAutoNum type="arabicPeriod"/>
            </a:pPr>
            <a:r>
              <a:rPr lang="pt-BR" altLang="pt-BR"/>
              <a:t>Pesquisa de mercado.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CaixaDeTexto 1"/>
          <p:cNvSpPr txBox="1">
            <a:spLocks noChangeArrowheads="1"/>
          </p:cNvSpPr>
          <p:nvPr/>
        </p:nvSpPr>
        <p:spPr bwMode="auto">
          <a:xfrm>
            <a:off x="539552" y="1556792"/>
            <a:ext cx="81026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l" eaLnBrk="1" hangingPunct="1">
              <a:buFont typeface="Arial" charset="0"/>
              <a:buAutoNum type="arabicPeriod"/>
            </a:pPr>
            <a:r>
              <a:rPr lang="pt-BR" altLang="pt-BR" b="1">
                <a:solidFill>
                  <a:srgbClr val="C00000"/>
                </a:solidFill>
              </a:rPr>
              <a:t>Análises de lacuna</a:t>
            </a:r>
            <a:r>
              <a:rPr lang="pt-BR" altLang="pt-BR">
                <a:solidFill>
                  <a:srgbClr val="C00000"/>
                </a:solidFill>
              </a:rPr>
              <a:t>s</a:t>
            </a:r>
            <a:r>
              <a:rPr lang="pt-BR" altLang="pt-BR"/>
              <a:t>: Consiste em analisar as metas e avaliar o estágio atual da empresa comparar estas duas situações e identificar a distância/lacuna (GAP) entre duas situações.</a:t>
            </a:r>
          </a:p>
          <a:p>
            <a:pPr algn="l" eaLnBrk="1" hangingPunct="1">
              <a:buFont typeface="Arial" charset="0"/>
              <a:buAutoNum type="arabicPeriod"/>
            </a:pPr>
            <a:endParaRPr lang="pt-BR" altLang="pt-BR" dirty="0"/>
          </a:p>
          <a:p>
            <a:pPr algn="l" eaLnBrk="1" hangingPunct="1"/>
            <a:r>
              <a:rPr lang="pt-BR" altLang="pt-BR" dirty="0"/>
              <a:t>No caso de inovação pode ser preenchida pelo:</a:t>
            </a:r>
          </a:p>
          <a:p>
            <a:pPr algn="l" eaLnBrk="1" hangingPunct="1">
              <a:buFont typeface="Wingdings" charset="2"/>
              <a:buChar char="§"/>
            </a:pPr>
            <a:r>
              <a:rPr lang="pt-BR" altLang="pt-BR" dirty="0"/>
              <a:t> desenvolvimento de novos produtos, </a:t>
            </a:r>
          </a:p>
          <a:p>
            <a:pPr algn="l" eaLnBrk="1" hangingPunct="1">
              <a:buFont typeface="Wingdings" charset="2"/>
              <a:buChar char="§"/>
            </a:pPr>
            <a:r>
              <a:rPr lang="pt-BR" altLang="pt-BR" dirty="0"/>
              <a:t>desenvolvimento de novas tecnologias ou </a:t>
            </a:r>
          </a:p>
          <a:p>
            <a:pPr algn="l" eaLnBrk="1" hangingPunct="1">
              <a:buFont typeface="Wingdings" charset="2"/>
              <a:buChar char="§"/>
            </a:pPr>
            <a:r>
              <a:rPr lang="pt-BR" altLang="pt-BR" dirty="0"/>
              <a:t>atuação em novos mercados.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CaixaDeTexto 2"/>
          <p:cNvSpPr txBox="1">
            <a:spLocks noChangeArrowheads="1"/>
          </p:cNvSpPr>
          <p:nvPr/>
        </p:nvSpPr>
        <p:spPr bwMode="auto">
          <a:xfrm>
            <a:off x="611560" y="1700808"/>
            <a:ext cx="81026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l" eaLnBrk="1" hangingPunct="1"/>
            <a:r>
              <a:rPr lang="pt-BR" altLang="pt-BR" b="1" dirty="0">
                <a:solidFill>
                  <a:srgbClr val="C00000"/>
                </a:solidFill>
              </a:rPr>
              <a:t>2. Matriz de aplicação </a:t>
            </a:r>
            <a:r>
              <a:rPr lang="pt-BR" altLang="pt-BR" b="1" dirty="0" err="1">
                <a:solidFill>
                  <a:srgbClr val="C00000"/>
                </a:solidFill>
              </a:rPr>
              <a:t>x</a:t>
            </a:r>
            <a:r>
              <a:rPr lang="pt-BR" altLang="pt-BR" b="1" dirty="0">
                <a:solidFill>
                  <a:srgbClr val="C00000"/>
                </a:solidFill>
              </a:rPr>
              <a:t> grupo de consumidores</a:t>
            </a:r>
            <a:r>
              <a:rPr lang="pt-BR" altLang="pt-BR" dirty="0"/>
              <a:t>:</a:t>
            </a:r>
          </a:p>
          <a:p>
            <a:pPr algn="l" eaLnBrk="1" hangingPunct="1"/>
            <a:endParaRPr lang="pt-BR" altLang="pt-BR" dirty="0">
              <a:solidFill>
                <a:srgbClr val="002060"/>
              </a:solidFill>
            </a:endParaRPr>
          </a:p>
          <a:p>
            <a:pPr algn="l" eaLnBrk="1" hangingPunct="1"/>
            <a:r>
              <a:rPr lang="pt-BR" altLang="pt-BR" dirty="0">
                <a:solidFill>
                  <a:srgbClr val="002060"/>
                </a:solidFill>
              </a:rPr>
              <a:t>Nas linhas são colocados as aplicações atuais e possíveis novas aplicações dos produtos da empresa. </a:t>
            </a:r>
          </a:p>
          <a:p>
            <a:pPr algn="l" eaLnBrk="1" hangingPunct="1"/>
            <a:r>
              <a:rPr lang="pt-BR" altLang="pt-BR" dirty="0">
                <a:solidFill>
                  <a:srgbClr val="002060"/>
                </a:solidFill>
              </a:rPr>
              <a:t>Nas colunas os grupos de consumidores atuais e possíveis novos grupos de consumidores.</a:t>
            </a:r>
          </a:p>
          <a:p>
            <a:pPr algn="l" eaLnBrk="1" hangingPunct="1"/>
            <a:r>
              <a:rPr lang="pt-BR" altLang="pt-BR" dirty="0">
                <a:solidFill>
                  <a:srgbClr val="002060"/>
                </a:solidFill>
              </a:rPr>
              <a:t>Nos cruzamentos surgem novas possibilidades de área de atuação. 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1671638"/>
            <a:ext cx="7346950" cy="489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6" name="Retângulo 2"/>
          <p:cNvSpPr>
            <a:spLocks noChangeArrowheads="1"/>
          </p:cNvSpPr>
          <p:nvPr/>
        </p:nvSpPr>
        <p:spPr bwMode="auto">
          <a:xfrm>
            <a:off x="495300" y="904875"/>
            <a:ext cx="83058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l" eaLnBrk="1" hangingPunct="1"/>
            <a:r>
              <a:rPr lang="pt-BR" altLang="pt-BR" b="1">
                <a:solidFill>
                  <a:srgbClr val="C00000"/>
                </a:solidFill>
              </a:rPr>
              <a:t>2. Exemplo da  Matriz de aplicação x grupo de consumidores</a:t>
            </a:r>
            <a:r>
              <a:rPr lang="pt-BR" altLang="pt-BR"/>
              <a:t>: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70892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5.2 – </a:t>
            </a:r>
            <a:r>
              <a:rPr lang="en-US" dirty="0" err="1"/>
              <a:t>Métodos</a:t>
            </a:r>
            <a:r>
              <a:rPr lang="en-US" dirty="0"/>
              <a:t> e </a:t>
            </a:r>
            <a:r>
              <a:rPr lang="en-US" dirty="0" err="1"/>
              <a:t>ferramentas</a:t>
            </a:r>
            <a:r>
              <a:rPr lang="en-US" dirty="0"/>
              <a:t> de </a:t>
            </a:r>
            <a:r>
              <a:rPr lang="en-US" dirty="0" err="1"/>
              <a:t>apoio</a:t>
            </a:r>
            <a:r>
              <a:rPr lang="en-US" dirty="0"/>
              <a:t> a </a:t>
            </a:r>
            <a:r>
              <a:rPr lang="en-US" dirty="0" err="1"/>
              <a:t>gestão</a:t>
            </a:r>
            <a:r>
              <a:rPr lang="en-US" dirty="0"/>
              <a:t> da </a:t>
            </a:r>
            <a:r>
              <a:rPr lang="en-US" dirty="0" err="1"/>
              <a:t>tecnologia</a:t>
            </a:r>
            <a:r>
              <a:rPr lang="en-US" dirty="0"/>
              <a:t> de </a:t>
            </a:r>
            <a:r>
              <a:rPr lang="en-US" dirty="0" err="1"/>
              <a:t>produtos</a:t>
            </a:r>
            <a:r>
              <a:rPr lang="en-US" dirty="0"/>
              <a:t>.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39325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322425" y="309505"/>
            <a:ext cx="9159552" cy="7889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pt-BR" dirty="0" err="1">
                <a:ea typeface="ＭＳ Ｐゴシック" charset="-128"/>
              </a:rPr>
              <a:t>Elementos</a:t>
            </a:r>
            <a:r>
              <a:rPr lang="en-US" altLang="pt-BR" dirty="0">
                <a:ea typeface="ＭＳ Ｐゴシック" charset="-128"/>
              </a:rPr>
              <a:t> da </a:t>
            </a:r>
            <a:r>
              <a:rPr lang="en-US" altLang="pt-BR" dirty="0" err="1">
                <a:ea typeface="ＭＳ Ｐゴシック" charset="-128"/>
              </a:rPr>
              <a:t>Estratégia</a:t>
            </a:r>
            <a:r>
              <a:rPr lang="en-US" altLang="pt-BR" dirty="0">
                <a:ea typeface="ＭＳ Ｐゴシック" charset="-128"/>
              </a:rPr>
              <a:t> de </a:t>
            </a:r>
            <a:r>
              <a:rPr lang="en-US" altLang="pt-BR" dirty="0" err="1">
                <a:ea typeface="ＭＳ Ｐゴシック" charset="-128"/>
              </a:rPr>
              <a:t>Produto</a:t>
            </a:r>
            <a:r>
              <a:rPr lang="en-US" altLang="pt-BR" dirty="0">
                <a:ea typeface="ＭＳ Ｐゴシック" charset="-128"/>
              </a:rPr>
              <a:t> </a:t>
            </a:r>
          </a:p>
        </p:txBody>
      </p:sp>
      <p:grpSp>
        <p:nvGrpSpPr>
          <p:cNvPr id="58370" name="Group 3"/>
          <p:cNvGrpSpPr>
            <a:grpSpLocks/>
          </p:cNvGrpSpPr>
          <p:nvPr/>
        </p:nvGrpSpPr>
        <p:grpSpPr bwMode="auto">
          <a:xfrm>
            <a:off x="609600" y="2360613"/>
            <a:ext cx="685800" cy="2667000"/>
            <a:chOff x="384" y="1487"/>
            <a:chExt cx="432" cy="1680"/>
          </a:xfrm>
        </p:grpSpPr>
        <p:sp>
          <p:nvSpPr>
            <p:cNvPr id="58641" name="Oval 4"/>
            <p:cNvSpPr>
              <a:spLocks noChangeArrowheads="1"/>
            </p:cNvSpPr>
            <p:nvPr/>
          </p:nvSpPr>
          <p:spPr bwMode="auto">
            <a:xfrm>
              <a:off x="528" y="1487"/>
              <a:ext cx="144" cy="144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2" name="Oval 5"/>
            <p:cNvSpPr>
              <a:spLocks noChangeArrowheads="1"/>
            </p:cNvSpPr>
            <p:nvPr/>
          </p:nvSpPr>
          <p:spPr bwMode="auto">
            <a:xfrm>
              <a:off x="528" y="1860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3" name="Oval 6"/>
            <p:cNvSpPr>
              <a:spLocks noChangeArrowheads="1"/>
            </p:cNvSpPr>
            <p:nvPr/>
          </p:nvSpPr>
          <p:spPr bwMode="auto">
            <a:xfrm>
              <a:off x="672" y="2255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4" name="Oval 7"/>
            <p:cNvSpPr>
              <a:spLocks noChangeArrowheads="1"/>
            </p:cNvSpPr>
            <p:nvPr/>
          </p:nvSpPr>
          <p:spPr bwMode="auto">
            <a:xfrm>
              <a:off x="672" y="2639"/>
              <a:ext cx="144" cy="1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5" name="Oval 8"/>
            <p:cNvSpPr>
              <a:spLocks noChangeArrowheads="1"/>
            </p:cNvSpPr>
            <p:nvPr/>
          </p:nvSpPr>
          <p:spPr bwMode="auto">
            <a:xfrm>
              <a:off x="384" y="2351"/>
              <a:ext cx="144" cy="144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6" name="Oval 9"/>
            <p:cNvSpPr>
              <a:spLocks noChangeArrowheads="1"/>
            </p:cNvSpPr>
            <p:nvPr/>
          </p:nvSpPr>
          <p:spPr bwMode="auto">
            <a:xfrm>
              <a:off x="528" y="3023"/>
              <a:ext cx="144" cy="144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1" name="Group 10"/>
          <p:cNvGrpSpPr>
            <a:grpSpLocks/>
          </p:cNvGrpSpPr>
          <p:nvPr/>
        </p:nvGrpSpPr>
        <p:grpSpPr bwMode="auto">
          <a:xfrm>
            <a:off x="1524000" y="2970213"/>
            <a:ext cx="762000" cy="1828800"/>
            <a:chOff x="960" y="1871"/>
            <a:chExt cx="480" cy="1152"/>
          </a:xfrm>
        </p:grpSpPr>
        <p:sp>
          <p:nvSpPr>
            <p:cNvPr id="58634" name="Oval 11"/>
            <p:cNvSpPr>
              <a:spLocks noChangeArrowheads="1"/>
            </p:cNvSpPr>
            <p:nvPr/>
          </p:nvSpPr>
          <p:spPr bwMode="auto">
            <a:xfrm>
              <a:off x="960" y="1871"/>
              <a:ext cx="144" cy="144"/>
            </a:xfrm>
            <a:prstGeom prst="ellipse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5" name="Oval 12"/>
            <p:cNvSpPr>
              <a:spLocks noChangeArrowheads="1"/>
            </p:cNvSpPr>
            <p:nvPr/>
          </p:nvSpPr>
          <p:spPr bwMode="auto">
            <a:xfrm>
              <a:off x="1296" y="2015"/>
              <a:ext cx="144" cy="144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6" name="Oval 13"/>
            <p:cNvSpPr>
              <a:spLocks noChangeArrowheads="1"/>
            </p:cNvSpPr>
            <p:nvPr/>
          </p:nvSpPr>
          <p:spPr bwMode="auto">
            <a:xfrm>
              <a:off x="960" y="2159"/>
              <a:ext cx="144" cy="144"/>
            </a:xfrm>
            <a:prstGeom prst="ellipse">
              <a:avLst/>
            </a:prstGeom>
            <a:solidFill>
              <a:srgbClr val="E0F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7" name="Oval 14"/>
            <p:cNvSpPr>
              <a:spLocks noChangeArrowheads="1"/>
            </p:cNvSpPr>
            <p:nvPr/>
          </p:nvSpPr>
          <p:spPr bwMode="auto">
            <a:xfrm>
              <a:off x="1296" y="2399"/>
              <a:ext cx="144" cy="14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8" name="Oval 15"/>
            <p:cNvSpPr>
              <a:spLocks noChangeArrowheads="1"/>
            </p:cNvSpPr>
            <p:nvPr/>
          </p:nvSpPr>
          <p:spPr bwMode="auto">
            <a:xfrm>
              <a:off x="960" y="2495"/>
              <a:ext cx="144" cy="144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9" name="Oval 16"/>
            <p:cNvSpPr>
              <a:spLocks noChangeArrowheads="1"/>
            </p:cNvSpPr>
            <p:nvPr/>
          </p:nvSpPr>
          <p:spPr bwMode="auto">
            <a:xfrm>
              <a:off x="960" y="2879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0" name="Oval 17"/>
            <p:cNvSpPr>
              <a:spLocks noChangeArrowheads="1"/>
            </p:cNvSpPr>
            <p:nvPr/>
          </p:nvSpPr>
          <p:spPr bwMode="auto">
            <a:xfrm>
              <a:off x="1296" y="2735"/>
              <a:ext cx="144" cy="144"/>
            </a:xfrm>
            <a:prstGeom prst="ellipse">
              <a:avLst/>
            </a:prstGeom>
            <a:solidFill>
              <a:srgbClr val="FFB1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2" name="Group 18"/>
          <p:cNvGrpSpPr>
            <a:grpSpLocks/>
          </p:cNvGrpSpPr>
          <p:nvPr/>
        </p:nvGrpSpPr>
        <p:grpSpPr bwMode="auto">
          <a:xfrm>
            <a:off x="2574925" y="3351213"/>
            <a:ext cx="1082675" cy="990600"/>
            <a:chOff x="1622" y="2111"/>
            <a:chExt cx="682" cy="624"/>
          </a:xfrm>
        </p:grpSpPr>
        <p:sp>
          <p:nvSpPr>
            <p:cNvPr id="58629" name="Oval 19"/>
            <p:cNvSpPr>
              <a:spLocks noChangeArrowheads="1"/>
            </p:cNvSpPr>
            <p:nvPr/>
          </p:nvSpPr>
          <p:spPr bwMode="auto">
            <a:xfrm>
              <a:off x="1938" y="2111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0" name="Oval 20"/>
            <p:cNvSpPr>
              <a:spLocks noChangeArrowheads="1"/>
            </p:cNvSpPr>
            <p:nvPr/>
          </p:nvSpPr>
          <p:spPr bwMode="auto">
            <a:xfrm>
              <a:off x="1622" y="2255"/>
              <a:ext cx="144" cy="144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1" name="Oval 21"/>
            <p:cNvSpPr>
              <a:spLocks noChangeArrowheads="1"/>
            </p:cNvSpPr>
            <p:nvPr/>
          </p:nvSpPr>
          <p:spPr bwMode="auto">
            <a:xfrm>
              <a:off x="2160" y="2495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2" name="Oval 22"/>
            <p:cNvSpPr>
              <a:spLocks noChangeArrowheads="1"/>
            </p:cNvSpPr>
            <p:nvPr/>
          </p:nvSpPr>
          <p:spPr bwMode="auto">
            <a:xfrm>
              <a:off x="1666" y="2591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3" name="Oval 23"/>
            <p:cNvSpPr>
              <a:spLocks noChangeArrowheads="1"/>
            </p:cNvSpPr>
            <p:nvPr/>
          </p:nvSpPr>
          <p:spPr bwMode="auto">
            <a:xfrm>
              <a:off x="2160" y="2495"/>
              <a:ext cx="144" cy="144"/>
            </a:xfrm>
            <a:prstGeom prst="ellips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3" name="Group 24"/>
          <p:cNvGrpSpPr>
            <a:grpSpLocks/>
          </p:cNvGrpSpPr>
          <p:nvPr/>
        </p:nvGrpSpPr>
        <p:grpSpPr bwMode="auto">
          <a:xfrm>
            <a:off x="5105400" y="3579813"/>
            <a:ext cx="1371600" cy="506412"/>
            <a:chOff x="3216" y="2255"/>
            <a:chExt cx="864" cy="319"/>
          </a:xfrm>
        </p:grpSpPr>
        <p:sp>
          <p:nvSpPr>
            <p:cNvPr id="58625" name="Oval 25"/>
            <p:cNvSpPr>
              <a:spLocks noChangeArrowheads="1"/>
            </p:cNvSpPr>
            <p:nvPr/>
          </p:nvSpPr>
          <p:spPr bwMode="auto">
            <a:xfrm>
              <a:off x="3216" y="2255"/>
              <a:ext cx="144" cy="144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6" name="Oval 26"/>
            <p:cNvSpPr>
              <a:spLocks noChangeArrowheads="1"/>
            </p:cNvSpPr>
            <p:nvPr/>
          </p:nvSpPr>
          <p:spPr bwMode="auto">
            <a:xfrm>
              <a:off x="3936" y="2255"/>
              <a:ext cx="144" cy="144"/>
            </a:xfrm>
            <a:prstGeom prst="ellips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7" name="Oval 27"/>
            <p:cNvSpPr>
              <a:spLocks noChangeArrowheads="1"/>
            </p:cNvSpPr>
            <p:nvPr/>
          </p:nvSpPr>
          <p:spPr bwMode="auto">
            <a:xfrm>
              <a:off x="3755" y="2430"/>
              <a:ext cx="144" cy="144"/>
            </a:xfrm>
            <a:prstGeom prst="ellipse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8" name="Oval 28"/>
            <p:cNvSpPr>
              <a:spLocks noChangeArrowheads="1"/>
            </p:cNvSpPr>
            <p:nvPr/>
          </p:nvSpPr>
          <p:spPr bwMode="auto">
            <a:xfrm>
              <a:off x="3504" y="2255"/>
              <a:ext cx="144" cy="144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4" name="Group 29"/>
          <p:cNvGrpSpPr>
            <a:grpSpLocks/>
          </p:cNvGrpSpPr>
          <p:nvPr/>
        </p:nvGrpSpPr>
        <p:grpSpPr bwMode="auto">
          <a:xfrm>
            <a:off x="3886200" y="3427413"/>
            <a:ext cx="990600" cy="609600"/>
            <a:chOff x="2448" y="2159"/>
            <a:chExt cx="624" cy="384"/>
          </a:xfrm>
        </p:grpSpPr>
        <p:sp>
          <p:nvSpPr>
            <p:cNvPr id="58622" name="Oval 30"/>
            <p:cNvSpPr>
              <a:spLocks noChangeArrowheads="1"/>
            </p:cNvSpPr>
            <p:nvPr/>
          </p:nvSpPr>
          <p:spPr bwMode="auto">
            <a:xfrm>
              <a:off x="2688" y="2255"/>
              <a:ext cx="144" cy="144"/>
            </a:xfrm>
            <a:prstGeom prst="ellipse">
              <a:avLst/>
            </a:prstGeom>
            <a:solidFill>
              <a:srgbClr val="CC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3" name="Oval 31"/>
            <p:cNvSpPr>
              <a:spLocks noChangeArrowheads="1"/>
            </p:cNvSpPr>
            <p:nvPr/>
          </p:nvSpPr>
          <p:spPr bwMode="auto">
            <a:xfrm>
              <a:off x="2928" y="2399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4" name="Oval 32"/>
            <p:cNvSpPr>
              <a:spLocks noChangeArrowheads="1"/>
            </p:cNvSpPr>
            <p:nvPr/>
          </p:nvSpPr>
          <p:spPr bwMode="auto">
            <a:xfrm>
              <a:off x="2448" y="2159"/>
              <a:ext cx="144" cy="144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5" name="Group 33"/>
          <p:cNvGrpSpPr>
            <a:grpSpLocks/>
          </p:cNvGrpSpPr>
          <p:nvPr/>
        </p:nvGrpSpPr>
        <p:grpSpPr bwMode="auto">
          <a:xfrm>
            <a:off x="990600" y="1674813"/>
            <a:ext cx="8008938" cy="4038600"/>
            <a:chOff x="624" y="1055"/>
            <a:chExt cx="5045" cy="2544"/>
          </a:xfrm>
        </p:grpSpPr>
        <p:sp>
          <p:nvSpPr>
            <p:cNvPr id="58447" name="Freeform 34"/>
            <p:cNvSpPr>
              <a:spLocks/>
            </p:cNvSpPr>
            <p:nvPr/>
          </p:nvSpPr>
          <p:spPr bwMode="auto">
            <a:xfrm>
              <a:off x="624" y="1055"/>
              <a:ext cx="3696" cy="960"/>
            </a:xfrm>
            <a:custGeom>
              <a:avLst/>
              <a:gdLst>
                <a:gd name="T0" fmla="*/ 0 w 4560"/>
                <a:gd name="T1" fmla="*/ 0 h 1056"/>
                <a:gd name="T2" fmla="*/ 168 w 4560"/>
                <a:gd name="T3" fmla="*/ 327 h 1056"/>
                <a:gd name="T4" fmla="*/ 705 w 4560"/>
                <a:gd name="T5" fmla="*/ 596 h 1056"/>
                <a:gd name="T6" fmla="*/ 1595 w 4560"/>
                <a:gd name="T7" fmla="*/ 656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60"/>
                <a:gd name="T13" fmla="*/ 0 h 1056"/>
                <a:gd name="T14" fmla="*/ 4560 w 4560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60" h="1056">
                  <a:moveTo>
                    <a:pt x="0" y="0"/>
                  </a:moveTo>
                  <a:cubicBezTo>
                    <a:pt x="72" y="184"/>
                    <a:pt x="144" y="368"/>
                    <a:pt x="480" y="528"/>
                  </a:cubicBezTo>
                  <a:cubicBezTo>
                    <a:pt x="816" y="688"/>
                    <a:pt x="1336" y="872"/>
                    <a:pt x="2016" y="960"/>
                  </a:cubicBezTo>
                  <a:cubicBezTo>
                    <a:pt x="2696" y="1048"/>
                    <a:pt x="4120" y="1040"/>
                    <a:pt x="4560" y="1056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8448" name="Freeform 35"/>
            <p:cNvSpPr>
              <a:spLocks/>
            </p:cNvSpPr>
            <p:nvPr/>
          </p:nvSpPr>
          <p:spPr bwMode="auto">
            <a:xfrm flipV="1">
              <a:off x="624" y="2735"/>
              <a:ext cx="3696" cy="864"/>
            </a:xfrm>
            <a:custGeom>
              <a:avLst/>
              <a:gdLst>
                <a:gd name="T0" fmla="*/ 0 w 4560"/>
                <a:gd name="T1" fmla="*/ 0 h 1056"/>
                <a:gd name="T2" fmla="*/ 168 w 4560"/>
                <a:gd name="T3" fmla="*/ 193 h 1056"/>
                <a:gd name="T4" fmla="*/ 705 w 4560"/>
                <a:gd name="T5" fmla="*/ 352 h 1056"/>
                <a:gd name="T6" fmla="*/ 1595 w 4560"/>
                <a:gd name="T7" fmla="*/ 387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60"/>
                <a:gd name="T13" fmla="*/ 0 h 1056"/>
                <a:gd name="T14" fmla="*/ 4560 w 4560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60" h="1056">
                  <a:moveTo>
                    <a:pt x="0" y="0"/>
                  </a:moveTo>
                  <a:cubicBezTo>
                    <a:pt x="72" y="184"/>
                    <a:pt x="144" y="368"/>
                    <a:pt x="480" y="528"/>
                  </a:cubicBezTo>
                  <a:cubicBezTo>
                    <a:pt x="816" y="688"/>
                    <a:pt x="1336" y="872"/>
                    <a:pt x="2016" y="960"/>
                  </a:cubicBezTo>
                  <a:cubicBezTo>
                    <a:pt x="2696" y="1048"/>
                    <a:pt x="4120" y="1040"/>
                    <a:pt x="4560" y="1056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58449" name="Group 36"/>
            <p:cNvGrpSpPr>
              <a:grpSpLocks/>
            </p:cNvGrpSpPr>
            <p:nvPr/>
          </p:nvGrpSpPr>
          <p:grpSpPr bwMode="auto">
            <a:xfrm>
              <a:off x="4341" y="1993"/>
              <a:ext cx="1328" cy="1030"/>
              <a:chOff x="4341" y="1993"/>
              <a:chExt cx="1328" cy="1030"/>
            </a:xfrm>
          </p:grpSpPr>
          <p:grpSp>
            <p:nvGrpSpPr>
              <p:cNvPr id="58450" name="Group 37"/>
              <p:cNvGrpSpPr>
                <a:grpSpLocks/>
              </p:cNvGrpSpPr>
              <p:nvPr/>
            </p:nvGrpSpPr>
            <p:grpSpPr bwMode="auto">
              <a:xfrm>
                <a:off x="4341" y="1993"/>
                <a:ext cx="1328" cy="742"/>
                <a:chOff x="4125" y="2064"/>
                <a:chExt cx="1503" cy="742"/>
              </a:xfrm>
            </p:grpSpPr>
            <p:sp>
              <p:nvSpPr>
                <p:cNvPr id="58452" name="AutoShape 38"/>
                <p:cNvSpPr>
                  <a:spLocks noChangeArrowheads="1"/>
                </p:cNvSpPr>
                <p:nvPr/>
              </p:nvSpPr>
              <p:spPr bwMode="auto">
                <a:xfrm>
                  <a:off x="4181" y="2231"/>
                  <a:ext cx="52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114FFB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53" name="AutoShape 39"/>
                <p:cNvSpPr>
                  <a:spLocks noChangeArrowheads="1"/>
                </p:cNvSpPr>
                <p:nvPr/>
              </p:nvSpPr>
              <p:spPr bwMode="auto">
                <a:xfrm>
                  <a:off x="4176" y="2366"/>
                  <a:ext cx="53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FF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54" name="AutoShape 40"/>
                <p:cNvSpPr>
                  <a:spLocks noChangeArrowheads="1"/>
                </p:cNvSpPr>
                <p:nvPr/>
              </p:nvSpPr>
              <p:spPr bwMode="auto">
                <a:xfrm>
                  <a:off x="4176" y="2526"/>
                  <a:ext cx="53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FF505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55" name="AutoShape 41"/>
                <p:cNvSpPr>
                  <a:spLocks noChangeArrowheads="1"/>
                </p:cNvSpPr>
                <p:nvPr/>
              </p:nvSpPr>
              <p:spPr bwMode="auto">
                <a:xfrm>
                  <a:off x="4171" y="2666"/>
                  <a:ext cx="54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CC00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grpSp>
              <p:nvGrpSpPr>
                <p:cNvPr id="58456" name="Group 42"/>
                <p:cNvGrpSpPr>
                  <a:grpSpLocks/>
                </p:cNvGrpSpPr>
                <p:nvPr/>
              </p:nvGrpSpPr>
              <p:grpSpPr bwMode="auto">
                <a:xfrm>
                  <a:off x="4125" y="2064"/>
                  <a:ext cx="1503" cy="742"/>
                  <a:chOff x="3633" y="834"/>
                  <a:chExt cx="1208" cy="596"/>
                </a:xfrm>
              </p:grpSpPr>
              <p:sp>
                <p:nvSpPr>
                  <p:cNvPr id="58457" name="Freeform 43"/>
                  <p:cNvSpPr>
                    <a:spLocks/>
                  </p:cNvSpPr>
                  <p:nvPr/>
                </p:nvSpPr>
                <p:spPr bwMode="auto">
                  <a:xfrm>
                    <a:off x="3960" y="843"/>
                    <a:ext cx="71" cy="79"/>
                  </a:xfrm>
                  <a:custGeom>
                    <a:avLst/>
                    <a:gdLst>
                      <a:gd name="T0" fmla="*/ 0 w 266"/>
                      <a:gd name="T1" fmla="*/ 0 h 284"/>
                      <a:gd name="T2" fmla="*/ 0 w 266"/>
                      <a:gd name="T3" fmla="*/ 0 h 284"/>
                      <a:gd name="T4" fmla="*/ 0 w 266"/>
                      <a:gd name="T5" fmla="*/ 0 h 284"/>
                      <a:gd name="T6" fmla="*/ 0 w 266"/>
                      <a:gd name="T7" fmla="*/ 1 h 28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66"/>
                      <a:gd name="T13" fmla="*/ 0 h 284"/>
                      <a:gd name="T14" fmla="*/ 266 w 266"/>
                      <a:gd name="T15" fmla="*/ 284 h 28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66" h="284">
                        <a:moveTo>
                          <a:pt x="0" y="0"/>
                        </a:moveTo>
                        <a:lnTo>
                          <a:pt x="80" y="67"/>
                        </a:lnTo>
                        <a:lnTo>
                          <a:pt x="155" y="143"/>
                        </a:lnTo>
                        <a:lnTo>
                          <a:pt x="266" y="28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58" name="Freeform 44"/>
                  <p:cNvSpPr>
                    <a:spLocks/>
                  </p:cNvSpPr>
                  <p:nvPr/>
                </p:nvSpPr>
                <p:spPr bwMode="auto">
                  <a:xfrm>
                    <a:off x="3979" y="849"/>
                    <a:ext cx="73" cy="73"/>
                  </a:xfrm>
                  <a:custGeom>
                    <a:avLst/>
                    <a:gdLst>
                      <a:gd name="T0" fmla="*/ 0 w 279"/>
                      <a:gd name="T1" fmla="*/ 0 h 265"/>
                      <a:gd name="T2" fmla="*/ 0 w 279"/>
                      <a:gd name="T3" fmla="*/ 0 h 265"/>
                      <a:gd name="T4" fmla="*/ 0 w 279"/>
                      <a:gd name="T5" fmla="*/ 0 h 265"/>
                      <a:gd name="T6" fmla="*/ 0 w 279"/>
                      <a:gd name="T7" fmla="*/ 1 h 26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79"/>
                      <a:gd name="T13" fmla="*/ 0 h 265"/>
                      <a:gd name="T14" fmla="*/ 279 w 279"/>
                      <a:gd name="T15" fmla="*/ 265 h 265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79" h="265">
                        <a:moveTo>
                          <a:pt x="0" y="0"/>
                        </a:moveTo>
                        <a:lnTo>
                          <a:pt x="79" y="57"/>
                        </a:lnTo>
                        <a:lnTo>
                          <a:pt x="150" y="124"/>
                        </a:lnTo>
                        <a:lnTo>
                          <a:pt x="279" y="26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59" name="Freeform 45"/>
                  <p:cNvSpPr>
                    <a:spLocks/>
                  </p:cNvSpPr>
                  <p:nvPr/>
                </p:nvSpPr>
                <p:spPr bwMode="auto">
                  <a:xfrm>
                    <a:off x="4015" y="863"/>
                    <a:ext cx="60" cy="58"/>
                  </a:xfrm>
                  <a:custGeom>
                    <a:avLst/>
                    <a:gdLst>
                      <a:gd name="T0" fmla="*/ 0 w 231"/>
                      <a:gd name="T1" fmla="*/ 0 h 207"/>
                      <a:gd name="T2" fmla="*/ 0 w 231"/>
                      <a:gd name="T3" fmla="*/ 0 h 207"/>
                      <a:gd name="T4" fmla="*/ 0 w 231"/>
                      <a:gd name="T5" fmla="*/ 0 h 207"/>
                      <a:gd name="T6" fmla="*/ 0 w 231"/>
                      <a:gd name="T7" fmla="*/ 0 h 20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31"/>
                      <a:gd name="T13" fmla="*/ 0 h 207"/>
                      <a:gd name="T14" fmla="*/ 231 w 231"/>
                      <a:gd name="T15" fmla="*/ 207 h 20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31" h="207">
                        <a:moveTo>
                          <a:pt x="0" y="0"/>
                        </a:moveTo>
                        <a:lnTo>
                          <a:pt x="79" y="56"/>
                        </a:lnTo>
                        <a:lnTo>
                          <a:pt x="150" y="123"/>
                        </a:lnTo>
                        <a:lnTo>
                          <a:pt x="231" y="20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0" name="Freeform 46"/>
                  <p:cNvSpPr>
                    <a:spLocks/>
                  </p:cNvSpPr>
                  <p:nvPr/>
                </p:nvSpPr>
                <p:spPr bwMode="auto">
                  <a:xfrm>
                    <a:off x="4585" y="871"/>
                    <a:ext cx="114" cy="79"/>
                  </a:xfrm>
                  <a:custGeom>
                    <a:avLst/>
                    <a:gdLst>
                      <a:gd name="T0" fmla="*/ 0 w 436"/>
                      <a:gd name="T1" fmla="*/ 0 h 289"/>
                      <a:gd name="T2" fmla="*/ 0 w 436"/>
                      <a:gd name="T3" fmla="*/ 0 h 289"/>
                      <a:gd name="T4" fmla="*/ 0 w 436"/>
                      <a:gd name="T5" fmla="*/ 0 h 289"/>
                      <a:gd name="T6" fmla="*/ 1 w 436"/>
                      <a:gd name="T7" fmla="*/ 1 h 289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436"/>
                      <a:gd name="T13" fmla="*/ 0 h 289"/>
                      <a:gd name="T14" fmla="*/ 436 w 436"/>
                      <a:gd name="T15" fmla="*/ 289 h 289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436" h="289">
                        <a:moveTo>
                          <a:pt x="0" y="0"/>
                        </a:moveTo>
                        <a:lnTo>
                          <a:pt x="143" y="81"/>
                        </a:lnTo>
                        <a:lnTo>
                          <a:pt x="290" y="180"/>
                        </a:lnTo>
                        <a:lnTo>
                          <a:pt x="436" y="289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1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4184" y="916"/>
                    <a:ext cx="504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2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4184" y="944"/>
                    <a:ext cx="54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3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4159" y="980"/>
                    <a:ext cx="576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4" name="Freeform 50"/>
                  <p:cNvSpPr>
                    <a:spLocks/>
                  </p:cNvSpPr>
                  <p:nvPr/>
                </p:nvSpPr>
                <p:spPr bwMode="auto">
                  <a:xfrm>
                    <a:off x="4052" y="1095"/>
                    <a:ext cx="57" cy="335"/>
                  </a:xfrm>
                  <a:custGeom>
                    <a:avLst/>
                    <a:gdLst>
                      <a:gd name="T0" fmla="*/ 0 w 213"/>
                      <a:gd name="T1" fmla="*/ 0 h 1198"/>
                      <a:gd name="T2" fmla="*/ 0 w 213"/>
                      <a:gd name="T3" fmla="*/ 0 h 1198"/>
                      <a:gd name="T4" fmla="*/ 0 w 213"/>
                      <a:gd name="T5" fmla="*/ 1 h 1198"/>
                      <a:gd name="T6" fmla="*/ 0 w 213"/>
                      <a:gd name="T7" fmla="*/ 1 h 1198"/>
                      <a:gd name="T8" fmla="*/ 0 w 213"/>
                      <a:gd name="T9" fmla="*/ 1 h 1198"/>
                      <a:gd name="T10" fmla="*/ 0 w 213"/>
                      <a:gd name="T11" fmla="*/ 1 h 1198"/>
                      <a:gd name="T12" fmla="*/ 0 w 213"/>
                      <a:gd name="T13" fmla="*/ 1 h 1198"/>
                      <a:gd name="T14" fmla="*/ 0 w 213"/>
                      <a:gd name="T15" fmla="*/ 2 h 1198"/>
                      <a:gd name="T16" fmla="*/ 0 w 213"/>
                      <a:gd name="T17" fmla="*/ 2 h 1198"/>
                      <a:gd name="T18" fmla="*/ 0 w 213"/>
                      <a:gd name="T19" fmla="*/ 2 h 1198"/>
                      <a:gd name="T20" fmla="*/ 0 w 213"/>
                      <a:gd name="T21" fmla="*/ 2 h 119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13"/>
                      <a:gd name="T34" fmla="*/ 0 h 1198"/>
                      <a:gd name="T35" fmla="*/ 213 w 213"/>
                      <a:gd name="T36" fmla="*/ 1198 h 1198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13" h="1198">
                        <a:moveTo>
                          <a:pt x="213" y="0"/>
                        </a:moveTo>
                        <a:lnTo>
                          <a:pt x="213" y="117"/>
                        </a:lnTo>
                        <a:lnTo>
                          <a:pt x="204" y="249"/>
                        </a:lnTo>
                        <a:lnTo>
                          <a:pt x="182" y="379"/>
                        </a:lnTo>
                        <a:lnTo>
                          <a:pt x="160" y="528"/>
                        </a:lnTo>
                        <a:lnTo>
                          <a:pt x="138" y="652"/>
                        </a:lnTo>
                        <a:lnTo>
                          <a:pt x="115" y="794"/>
                        </a:lnTo>
                        <a:lnTo>
                          <a:pt x="93" y="913"/>
                        </a:lnTo>
                        <a:lnTo>
                          <a:pt x="61" y="1020"/>
                        </a:lnTo>
                        <a:lnTo>
                          <a:pt x="35" y="1102"/>
                        </a:lnTo>
                        <a:lnTo>
                          <a:pt x="0" y="1198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5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4137" y="1018"/>
                    <a:ext cx="640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6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4122" y="1056"/>
                    <a:ext cx="690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7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3633" y="1165"/>
                    <a:ext cx="120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8" name="Freeform 54"/>
                  <p:cNvSpPr>
                    <a:spLocks/>
                  </p:cNvSpPr>
                  <p:nvPr/>
                </p:nvSpPr>
                <p:spPr bwMode="auto">
                  <a:xfrm>
                    <a:off x="3701" y="843"/>
                    <a:ext cx="156" cy="581"/>
                  </a:xfrm>
                  <a:custGeom>
                    <a:avLst/>
                    <a:gdLst>
                      <a:gd name="T0" fmla="*/ 1 w 599"/>
                      <a:gd name="T1" fmla="*/ 0 h 2082"/>
                      <a:gd name="T2" fmla="*/ 1 w 599"/>
                      <a:gd name="T3" fmla="*/ 0 h 2082"/>
                      <a:gd name="T4" fmla="*/ 1 w 599"/>
                      <a:gd name="T5" fmla="*/ 0 h 2082"/>
                      <a:gd name="T6" fmla="*/ 1 w 599"/>
                      <a:gd name="T7" fmla="*/ 0 h 2082"/>
                      <a:gd name="T8" fmla="*/ 0 w 599"/>
                      <a:gd name="T9" fmla="*/ 1 h 2082"/>
                      <a:gd name="T10" fmla="*/ 0 w 599"/>
                      <a:gd name="T11" fmla="*/ 1 h 2082"/>
                      <a:gd name="T12" fmla="*/ 0 w 599"/>
                      <a:gd name="T13" fmla="*/ 1 h 2082"/>
                      <a:gd name="T14" fmla="*/ 0 w 599"/>
                      <a:gd name="T15" fmla="*/ 1 h 2082"/>
                      <a:gd name="T16" fmla="*/ 0 w 599"/>
                      <a:gd name="T17" fmla="*/ 2 h 2082"/>
                      <a:gd name="T18" fmla="*/ 0 w 599"/>
                      <a:gd name="T19" fmla="*/ 2 h 2082"/>
                      <a:gd name="T20" fmla="*/ 0 w 599"/>
                      <a:gd name="T21" fmla="*/ 2 h 2082"/>
                      <a:gd name="T22" fmla="*/ 0 w 599"/>
                      <a:gd name="T23" fmla="*/ 2 h 2082"/>
                      <a:gd name="T24" fmla="*/ 0 w 599"/>
                      <a:gd name="T25" fmla="*/ 3 h 2082"/>
                      <a:gd name="T26" fmla="*/ 0 w 599"/>
                      <a:gd name="T27" fmla="*/ 3 h 2082"/>
                      <a:gd name="T28" fmla="*/ 0 w 599"/>
                      <a:gd name="T29" fmla="*/ 3 h 2082"/>
                      <a:gd name="T30" fmla="*/ 0 w 599"/>
                      <a:gd name="T31" fmla="*/ 3 h 2082"/>
                      <a:gd name="T32" fmla="*/ 0 w 599"/>
                      <a:gd name="T33" fmla="*/ 4 h 2082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599"/>
                      <a:gd name="T52" fmla="*/ 0 h 2082"/>
                      <a:gd name="T53" fmla="*/ 599 w 599"/>
                      <a:gd name="T54" fmla="*/ 2082 h 2082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599" h="2082">
                        <a:moveTo>
                          <a:pt x="599" y="0"/>
                        </a:moveTo>
                        <a:lnTo>
                          <a:pt x="541" y="33"/>
                        </a:lnTo>
                        <a:lnTo>
                          <a:pt x="426" y="128"/>
                        </a:lnTo>
                        <a:lnTo>
                          <a:pt x="319" y="245"/>
                        </a:lnTo>
                        <a:lnTo>
                          <a:pt x="244" y="363"/>
                        </a:lnTo>
                        <a:lnTo>
                          <a:pt x="172" y="501"/>
                        </a:lnTo>
                        <a:lnTo>
                          <a:pt x="101" y="639"/>
                        </a:lnTo>
                        <a:lnTo>
                          <a:pt x="53" y="765"/>
                        </a:lnTo>
                        <a:lnTo>
                          <a:pt x="8" y="908"/>
                        </a:lnTo>
                        <a:lnTo>
                          <a:pt x="0" y="1025"/>
                        </a:lnTo>
                        <a:lnTo>
                          <a:pt x="0" y="1157"/>
                        </a:lnTo>
                        <a:lnTo>
                          <a:pt x="0" y="1285"/>
                        </a:lnTo>
                        <a:lnTo>
                          <a:pt x="4" y="1430"/>
                        </a:lnTo>
                        <a:lnTo>
                          <a:pt x="0" y="1567"/>
                        </a:lnTo>
                        <a:lnTo>
                          <a:pt x="0" y="1708"/>
                        </a:lnTo>
                        <a:lnTo>
                          <a:pt x="4" y="2008"/>
                        </a:lnTo>
                        <a:lnTo>
                          <a:pt x="8" y="208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9" name="Freeform 55"/>
                  <p:cNvSpPr>
                    <a:spLocks/>
                  </p:cNvSpPr>
                  <p:nvPr/>
                </p:nvSpPr>
                <p:spPr bwMode="auto">
                  <a:xfrm>
                    <a:off x="3705" y="841"/>
                    <a:ext cx="159" cy="588"/>
                  </a:xfrm>
                  <a:custGeom>
                    <a:avLst/>
                    <a:gdLst>
                      <a:gd name="T0" fmla="*/ 1 w 609"/>
                      <a:gd name="T1" fmla="*/ 0 h 2105"/>
                      <a:gd name="T2" fmla="*/ 1 w 609"/>
                      <a:gd name="T3" fmla="*/ 0 h 2105"/>
                      <a:gd name="T4" fmla="*/ 1 w 609"/>
                      <a:gd name="T5" fmla="*/ 0 h 2105"/>
                      <a:gd name="T6" fmla="*/ 1 w 609"/>
                      <a:gd name="T7" fmla="*/ 0 h 2105"/>
                      <a:gd name="T8" fmla="*/ 1 w 609"/>
                      <a:gd name="T9" fmla="*/ 1 h 2105"/>
                      <a:gd name="T10" fmla="*/ 0 w 609"/>
                      <a:gd name="T11" fmla="*/ 1 h 2105"/>
                      <a:gd name="T12" fmla="*/ 0 w 609"/>
                      <a:gd name="T13" fmla="*/ 1 h 2105"/>
                      <a:gd name="T14" fmla="*/ 0 w 609"/>
                      <a:gd name="T15" fmla="*/ 1 h 2105"/>
                      <a:gd name="T16" fmla="*/ 0 w 609"/>
                      <a:gd name="T17" fmla="*/ 2 h 2105"/>
                      <a:gd name="T18" fmla="*/ 0 w 609"/>
                      <a:gd name="T19" fmla="*/ 2 h 2105"/>
                      <a:gd name="T20" fmla="*/ 0 w 609"/>
                      <a:gd name="T21" fmla="*/ 2 h 2105"/>
                      <a:gd name="T22" fmla="*/ 0 w 609"/>
                      <a:gd name="T23" fmla="*/ 2 h 2105"/>
                      <a:gd name="T24" fmla="*/ 0 w 609"/>
                      <a:gd name="T25" fmla="*/ 3 h 2105"/>
                      <a:gd name="T26" fmla="*/ 0 w 609"/>
                      <a:gd name="T27" fmla="*/ 3 h 2105"/>
                      <a:gd name="T28" fmla="*/ 0 w 609"/>
                      <a:gd name="T29" fmla="*/ 3 h 2105"/>
                      <a:gd name="T30" fmla="*/ 0 w 609"/>
                      <a:gd name="T31" fmla="*/ 3 h 2105"/>
                      <a:gd name="T32" fmla="*/ 0 w 609"/>
                      <a:gd name="T33" fmla="*/ 3 h 2105"/>
                      <a:gd name="T34" fmla="*/ 0 w 609"/>
                      <a:gd name="T35" fmla="*/ 4 h 2105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609"/>
                      <a:gd name="T55" fmla="*/ 0 h 2105"/>
                      <a:gd name="T56" fmla="*/ 609 w 609"/>
                      <a:gd name="T57" fmla="*/ 2105 h 2105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609" h="2105">
                        <a:moveTo>
                          <a:pt x="609" y="0"/>
                        </a:moveTo>
                        <a:lnTo>
                          <a:pt x="546" y="48"/>
                        </a:lnTo>
                        <a:lnTo>
                          <a:pt x="476" y="132"/>
                        </a:lnTo>
                        <a:lnTo>
                          <a:pt x="391" y="245"/>
                        </a:lnTo>
                        <a:lnTo>
                          <a:pt x="320" y="367"/>
                        </a:lnTo>
                        <a:lnTo>
                          <a:pt x="262" y="490"/>
                        </a:lnTo>
                        <a:lnTo>
                          <a:pt x="199" y="624"/>
                        </a:lnTo>
                        <a:lnTo>
                          <a:pt x="151" y="769"/>
                        </a:lnTo>
                        <a:lnTo>
                          <a:pt x="120" y="897"/>
                        </a:lnTo>
                        <a:lnTo>
                          <a:pt x="112" y="1029"/>
                        </a:lnTo>
                        <a:lnTo>
                          <a:pt x="102" y="1151"/>
                        </a:lnTo>
                        <a:lnTo>
                          <a:pt x="94" y="1283"/>
                        </a:lnTo>
                        <a:lnTo>
                          <a:pt x="94" y="1415"/>
                        </a:lnTo>
                        <a:lnTo>
                          <a:pt x="84" y="1552"/>
                        </a:lnTo>
                        <a:lnTo>
                          <a:pt x="66" y="1712"/>
                        </a:lnTo>
                        <a:lnTo>
                          <a:pt x="58" y="1819"/>
                        </a:lnTo>
                        <a:lnTo>
                          <a:pt x="44" y="1934"/>
                        </a:lnTo>
                        <a:lnTo>
                          <a:pt x="0" y="210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0" name="Freeform 56"/>
                  <p:cNvSpPr>
                    <a:spLocks/>
                  </p:cNvSpPr>
                  <p:nvPr/>
                </p:nvSpPr>
                <p:spPr bwMode="auto">
                  <a:xfrm>
                    <a:off x="3711" y="839"/>
                    <a:ext cx="167" cy="587"/>
                  </a:xfrm>
                  <a:custGeom>
                    <a:avLst/>
                    <a:gdLst>
                      <a:gd name="T0" fmla="*/ 1 w 637"/>
                      <a:gd name="T1" fmla="*/ 0 h 2101"/>
                      <a:gd name="T2" fmla="*/ 1 w 637"/>
                      <a:gd name="T3" fmla="*/ 0 h 2101"/>
                      <a:gd name="T4" fmla="*/ 1 w 637"/>
                      <a:gd name="T5" fmla="*/ 0 h 2101"/>
                      <a:gd name="T6" fmla="*/ 1 w 637"/>
                      <a:gd name="T7" fmla="*/ 0 h 2101"/>
                      <a:gd name="T8" fmla="*/ 1 w 637"/>
                      <a:gd name="T9" fmla="*/ 1 h 2101"/>
                      <a:gd name="T10" fmla="*/ 1 w 637"/>
                      <a:gd name="T11" fmla="*/ 1 h 2101"/>
                      <a:gd name="T12" fmla="*/ 0 w 637"/>
                      <a:gd name="T13" fmla="*/ 1 h 2101"/>
                      <a:gd name="T14" fmla="*/ 0 w 637"/>
                      <a:gd name="T15" fmla="*/ 1 h 2101"/>
                      <a:gd name="T16" fmla="*/ 0 w 637"/>
                      <a:gd name="T17" fmla="*/ 2 h 2101"/>
                      <a:gd name="T18" fmla="*/ 0 w 637"/>
                      <a:gd name="T19" fmla="*/ 2 h 2101"/>
                      <a:gd name="T20" fmla="*/ 0 w 637"/>
                      <a:gd name="T21" fmla="*/ 2 h 2101"/>
                      <a:gd name="T22" fmla="*/ 0 w 637"/>
                      <a:gd name="T23" fmla="*/ 2 h 2101"/>
                      <a:gd name="T24" fmla="*/ 0 w 637"/>
                      <a:gd name="T25" fmla="*/ 3 h 2101"/>
                      <a:gd name="T26" fmla="*/ 0 w 637"/>
                      <a:gd name="T27" fmla="*/ 3 h 2101"/>
                      <a:gd name="T28" fmla="*/ 0 w 637"/>
                      <a:gd name="T29" fmla="*/ 3 h 2101"/>
                      <a:gd name="T30" fmla="*/ 0 w 637"/>
                      <a:gd name="T31" fmla="*/ 3 h 2101"/>
                      <a:gd name="T32" fmla="*/ 0 w 637"/>
                      <a:gd name="T33" fmla="*/ 3 h 2101"/>
                      <a:gd name="T34" fmla="*/ 0 w 637"/>
                      <a:gd name="T35" fmla="*/ 3 h 2101"/>
                      <a:gd name="T36" fmla="*/ 0 w 637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37"/>
                      <a:gd name="T58" fmla="*/ 0 h 2101"/>
                      <a:gd name="T59" fmla="*/ 637 w 637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37" h="2101">
                        <a:moveTo>
                          <a:pt x="637" y="0"/>
                        </a:moveTo>
                        <a:lnTo>
                          <a:pt x="583" y="51"/>
                        </a:lnTo>
                        <a:lnTo>
                          <a:pt x="534" y="122"/>
                        </a:lnTo>
                        <a:lnTo>
                          <a:pt x="458" y="240"/>
                        </a:lnTo>
                        <a:lnTo>
                          <a:pt x="378" y="382"/>
                        </a:lnTo>
                        <a:lnTo>
                          <a:pt x="338" y="504"/>
                        </a:lnTo>
                        <a:lnTo>
                          <a:pt x="294" y="642"/>
                        </a:lnTo>
                        <a:lnTo>
                          <a:pt x="258" y="759"/>
                        </a:lnTo>
                        <a:lnTo>
                          <a:pt x="236" y="910"/>
                        </a:lnTo>
                        <a:lnTo>
                          <a:pt x="227" y="1038"/>
                        </a:lnTo>
                        <a:lnTo>
                          <a:pt x="213" y="1170"/>
                        </a:lnTo>
                        <a:lnTo>
                          <a:pt x="195" y="1302"/>
                        </a:lnTo>
                        <a:lnTo>
                          <a:pt x="173" y="1448"/>
                        </a:lnTo>
                        <a:lnTo>
                          <a:pt x="155" y="1575"/>
                        </a:lnTo>
                        <a:lnTo>
                          <a:pt x="133" y="1711"/>
                        </a:lnTo>
                        <a:lnTo>
                          <a:pt x="111" y="1834"/>
                        </a:lnTo>
                        <a:lnTo>
                          <a:pt x="90" y="1934"/>
                        </a:lnTo>
                        <a:lnTo>
                          <a:pt x="48" y="2026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1" name="Freeform 57"/>
                  <p:cNvSpPr>
                    <a:spLocks/>
                  </p:cNvSpPr>
                  <p:nvPr/>
                </p:nvSpPr>
                <p:spPr bwMode="auto">
                  <a:xfrm>
                    <a:off x="3713" y="839"/>
                    <a:ext cx="174" cy="589"/>
                  </a:xfrm>
                  <a:custGeom>
                    <a:avLst/>
                    <a:gdLst>
                      <a:gd name="T0" fmla="*/ 1 w 662"/>
                      <a:gd name="T1" fmla="*/ 0 h 2110"/>
                      <a:gd name="T2" fmla="*/ 1 w 662"/>
                      <a:gd name="T3" fmla="*/ 0 h 2110"/>
                      <a:gd name="T4" fmla="*/ 1 w 662"/>
                      <a:gd name="T5" fmla="*/ 0 h 2110"/>
                      <a:gd name="T6" fmla="*/ 1 w 662"/>
                      <a:gd name="T7" fmla="*/ 1 h 2110"/>
                      <a:gd name="T8" fmla="*/ 1 w 662"/>
                      <a:gd name="T9" fmla="*/ 1 h 2110"/>
                      <a:gd name="T10" fmla="*/ 1 w 662"/>
                      <a:gd name="T11" fmla="*/ 1 h 2110"/>
                      <a:gd name="T12" fmla="*/ 1 w 662"/>
                      <a:gd name="T13" fmla="*/ 1 h 2110"/>
                      <a:gd name="T14" fmla="*/ 1 w 662"/>
                      <a:gd name="T15" fmla="*/ 1 h 2110"/>
                      <a:gd name="T16" fmla="*/ 1 w 662"/>
                      <a:gd name="T17" fmla="*/ 2 h 2110"/>
                      <a:gd name="T18" fmla="*/ 1 w 662"/>
                      <a:gd name="T19" fmla="*/ 2 h 2110"/>
                      <a:gd name="T20" fmla="*/ 1 w 662"/>
                      <a:gd name="T21" fmla="*/ 2 h 2110"/>
                      <a:gd name="T22" fmla="*/ 1 w 662"/>
                      <a:gd name="T23" fmla="*/ 2 h 2110"/>
                      <a:gd name="T24" fmla="*/ 0 w 662"/>
                      <a:gd name="T25" fmla="*/ 3 h 2110"/>
                      <a:gd name="T26" fmla="*/ 0 w 662"/>
                      <a:gd name="T27" fmla="*/ 3 h 2110"/>
                      <a:gd name="T28" fmla="*/ 0 w 662"/>
                      <a:gd name="T29" fmla="*/ 3 h 2110"/>
                      <a:gd name="T30" fmla="*/ 0 w 662"/>
                      <a:gd name="T31" fmla="*/ 3 h 2110"/>
                      <a:gd name="T32" fmla="*/ 0 w 662"/>
                      <a:gd name="T33" fmla="*/ 3 h 2110"/>
                      <a:gd name="T34" fmla="*/ 0 w 662"/>
                      <a:gd name="T35" fmla="*/ 3 h 2110"/>
                      <a:gd name="T36" fmla="*/ 0 w 662"/>
                      <a:gd name="T37" fmla="*/ 4 h 2110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62"/>
                      <a:gd name="T58" fmla="*/ 0 h 2110"/>
                      <a:gd name="T59" fmla="*/ 662 w 662"/>
                      <a:gd name="T60" fmla="*/ 2110 h 2110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62" h="2110">
                        <a:moveTo>
                          <a:pt x="662" y="0"/>
                        </a:moveTo>
                        <a:lnTo>
                          <a:pt x="614" y="70"/>
                        </a:lnTo>
                        <a:lnTo>
                          <a:pt x="569" y="145"/>
                        </a:lnTo>
                        <a:lnTo>
                          <a:pt x="511" y="250"/>
                        </a:lnTo>
                        <a:lnTo>
                          <a:pt x="458" y="376"/>
                        </a:lnTo>
                        <a:lnTo>
                          <a:pt x="432" y="499"/>
                        </a:lnTo>
                        <a:lnTo>
                          <a:pt x="396" y="642"/>
                        </a:lnTo>
                        <a:lnTo>
                          <a:pt x="360" y="778"/>
                        </a:lnTo>
                        <a:lnTo>
                          <a:pt x="347" y="921"/>
                        </a:lnTo>
                        <a:lnTo>
                          <a:pt x="342" y="1034"/>
                        </a:lnTo>
                        <a:lnTo>
                          <a:pt x="329" y="1166"/>
                        </a:lnTo>
                        <a:lnTo>
                          <a:pt x="316" y="1302"/>
                        </a:lnTo>
                        <a:lnTo>
                          <a:pt x="289" y="1435"/>
                        </a:lnTo>
                        <a:lnTo>
                          <a:pt x="249" y="1575"/>
                        </a:lnTo>
                        <a:lnTo>
                          <a:pt x="222" y="1706"/>
                        </a:lnTo>
                        <a:lnTo>
                          <a:pt x="178" y="1828"/>
                        </a:lnTo>
                        <a:lnTo>
                          <a:pt x="134" y="1934"/>
                        </a:lnTo>
                        <a:lnTo>
                          <a:pt x="71" y="2030"/>
                        </a:lnTo>
                        <a:lnTo>
                          <a:pt x="0" y="2110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2" name="Freeform 58"/>
                  <p:cNvSpPr>
                    <a:spLocks/>
                  </p:cNvSpPr>
                  <p:nvPr/>
                </p:nvSpPr>
                <p:spPr bwMode="auto">
                  <a:xfrm>
                    <a:off x="3722" y="837"/>
                    <a:ext cx="173" cy="589"/>
                  </a:xfrm>
                  <a:custGeom>
                    <a:avLst/>
                    <a:gdLst>
                      <a:gd name="T0" fmla="*/ 1 w 662"/>
                      <a:gd name="T1" fmla="*/ 0 h 2111"/>
                      <a:gd name="T2" fmla="*/ 1 w 662"/>
                      <a:gd name="T3" fmla="*/ 0 h 2111"/>
                      <a:gd name="T4" fmla="*/ 1 w 662"/>
                      <a:gd name="T5" fmla="*/ 0 h 2111"/>
                      <a:gd name="T6" fmla="*/ 1 w 662"/>
                      <a:gd name="T7" fmla="*/ 1 h 2111"/>
                      <a:gd name="T8" fmla="*/ 1 w 662"/>
                      <a:gd name="T9" fmla="*/ 1 h 2111"/>
                      <a:gd name="T10" fmla="*/ 1 w 662"/>
                      <a:gd name="T11" fmla="*/ 1 h 2111"/>
                      <a:gd name="T12" fmla="*/ 1 w 662"/>
                      <a:gd name="T13" fmla="*/ 1 h 2111"/>
                      <a:gd name="T14" fmla="*/ 1 w 662"/>
                      <a:gd name="T15" fmla="*/ 1 h 2111"/>
                      <a:gd name="T16" fmla="*/ 1 w 662"/>
                      <a:gd name="T17" fmla="*/ 2 h 2111"/>
                      <a:gd name="T18" fmla="*/ 1 w 662"/>
                      <a:gd name="T19" fmla="*/ 2 h 2111"/>
                      <a:gd name="T20" fmla="*/ 1 w 662"/>
                      <a:gd name="T21" fmla="*/ 2 h 2111"/>
                      <a:gd name="T22" fmla="*/ 1 w 662"/>
                      <a:gd name="T23" fmla="*/ 2 h 2111"/>
                      <a:gd name="T24" fmla="*/ 1 w 662"/>
                      <a:gd name="T25" fmla="*/ 3 h 2111"/>
                      <a:gd name="T26" fmla="*/ 1 w 662"/>
                      <a:gd name="T27" fmla="*/ 3 h 2111"/>
                      <a:gd name="T28" fmla="*/ 0 w 662"/>
                      <a:gd name="T29" fmla="*/ 3 h 2111"/>
                      <a:gd name="T30" fmla="*/ 0 w 662"/>
                      <a:gd name="T31" fmla="*/ 3 h 2111"/>
                      <a:gd name="T32" fmla="*/ 0 w 662"/>
                      <a:gd name="T33" fmla="*/ 3 h 2111"/>
                      <a:gd name="T34" fmla="*/ 0 w 662"/>
                      <a:gd name="T35" fmla="*/ 3 h 2111"/>
                      <a:gd name="T36" fmla="*/ 0 w 662"/>
                      <a:gd name="T37" fmla="*/ 4 h 211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62"/>
                      <a:gd name="T58" fmla="*/ 0 h 2111"/>
                      <a:gd name="T59" fmla="*/ 662 w 662"/>
                      <a:gd name="T60" fmla="*/ 2111 h 211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62" h="2111">
                        <a:moveTo>
                          <a:pt x="662" y="0"/>
                        </a:moveTo>
                        <a:lnTo>
                          <a:pt x="622" y="66"/>
                        </a:lnTo>
                        <a:lnTo>
                          <a:pt x="583" y="161"/>
                        </a:lnTo>
                        <a:lnTo>
                          <a:pt x="547" y="268"/>
                        </a:lnTo>
                        <a:lnTo>
                          <a:pt x="525" y="381"/>
                        </a:lnTo>
                        <a:lnTo>
                          <a:pt x="498" y="501"/>
                        </a:lnTo>
                        <a:lnTo>
                          <a:pt x="480" y="647"/>
                        </a:lnTo>
                        <a:lnTo>
                          <a:pt x="454" y="784"/>
                        </a:lnTo>
                        <a:lnTo>
                          <a:pt x="448" y="916"/>
                        </a:lnTo>
                        <a:lnTo>
                          <a:pt x="440" y="1044"/>
                        </a:lnTo>
                        <a:lnTo>
                          <a:pt x="422" y="1166"/>
                        </a:lnTo>
                        <a:lnTo>
                          <a:pt x="391" y="1304"/>
                        </a:lnTo>
                        <a:lnTo>
                          <a:pt x="365" y="1426"/>
                        </a:lnTo>
                        <a:lnTo>
                          <a:pt x="319" y="1581"/>
                        </a:lnTo>
                        <a:lnTo>
                          <a:pt x="275" y="1720"/>
                        </a:lnTo>
                        <a:lnTo>
                          <a:pt x="214" y="1839"/>
                        </a:lnTo>
                        <a:lnTo>
                          <a:pt x="160" y="1935"/>
                        </a:lnTo>
                        <a:lnTo>
                          <a:pt x="75" y="2035"/>
                        </a:lnTo>
                        <a:lnTo>
                          <a:pt x="0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3" name="Freeform 59"/>
                  <p:cNvSpPr>
                    <a:spLocks/>
                  </p:cNvSpPr>
                  <p:nvPr/>
                </p:nvSpPr>
                <p:spPr bwMode="auto">
                  <a:xfrm>
                    <a:off x="3736" y="839"/>
                    <a:ext cx="165" cy="587"/>
                  </a:xfrm>
                  <a:custGeom>
                    <a:avLst/>
                    <a:gdLst>
                      <a:gd name="T0" fmla="*/ 1 w 626"/>
                      <a:gd name="T1" fmla="*/ 0 h 2101"/>
                      <a:gd name="T2" fmla="*/ 1 w 626"/>
                      <a:gd name="T3" fmla="*/ 0 h 2101"/>
                      <a:gd name="T4" fmla="*/ 1 w 626"/>
                      <a:gd name="T5" fmla="*/ 0 h 2101"/>
                      <a:gd name="T6" fmla="*/ 1 w 626"/>
                      <a:gd name="T7" fmla="*/ 1 h 2101"/>
                      <a:gd name="T8" fmla="*/ 1 w 626"/>
                      <a:gd name="T9" fmla="*/ 1 h 2101"/>
                      <a:gd name="T10" fmla="*/ 1 w 626"/>
                      <a:gd name="T11" fmla="*/ 1 h 2101"/>
                      <a:gd name="T12" fmla="*/ 1 w 626"/>
                      <a:gd name="T13" fmla="*/ 1 h 2101"/>
                      <a:gd name="T14" fmla="*/ 1 w 626"/>
                      <a:gd name="T15" fmla="*/ 1 h 2101"/>
                      <a:gd name="T16" fmla="*/ 1 w 626"/>
                      <a:gd name="T17" fmla="*/ 2 h 2101"/>
                      <a:gd name="T18" fmla="*/ 1 w 626"/>
                      <a:gd name="T19" fmla="*/ 2 h 2101"/>
                      <a:gd name="T20" fmla="*/ 1 w 626"/>
                      <a:gd name="T21" fmla="*/ 2 h 2101"/>
                      <a:gd name="T22" fmla="*/ 1 w 626"/>
                      <a:gd name="T23" fmla="*/ 2 h 2101"/>
                      <a:gd name="T24" fmla="*/ 1 w 626"/>
                      <a:gd name="T25" fmla="*/ 3 h 2101"/>
                      <a:gd name="T26" fmla="*/ 1 w 626"/>
                      <a:gd name="T27" fmla="*/ 3 h 2101"/>
                      <a:gd name="T28" fmla="*/ 1 w 626"/>
                      <a:gd name="T29" fmla="*/ 3 h 2101"/>
                      <a:gd name="T30" fmla="*/ 0 w 626"/>
                      <a:gd name="T31" fmla="*/ 3 h 2101"/>
                      <a:gd name="T32" fmla="*/ 0 w 626"/>
                      <a:gd name="T33" fmla="*/ 3 h 2101"/>
                      <a:gd name="T34" fmla="*/ 0 w 626"/>
                      <a:gd name="T35" fmla="*/ 3 h 2101"/>
                      <a:gd name="T36" fmla="*/ 0 w 626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26"/>
                      <a:gd name="T58" fmla="*/ 0 h 2101"/>
                      <a:gd name="T59" fmla="*/ 626 w 626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26" h="2101">
                        <a:moveTo>
                          <a:pt x="626" y="0"/>
                        </a:moveTo>
                        <a:lnTo>
                          <a:pt x="614" y="61"/>
                        </a:lnTo>
                        <a:lnTo>
                          <a:pt x="596" y="155"/>
                        </a:lnTo>
                        <a:lnTo>
                          <a:pt x="569" y="273"/>
                        </a:lnTo>
                        <a:lnTo>
                          <a:pt x="551" y="376"/>
                        </a:lnTo>
                        <a:lnTo>
                          <a:pt x="533" y="481"/>
                        </a:lnTo>
                        <a:lnTo>
                          <a:pt x="525" y="646"/>
                        </a:lnTo>
                        <a:lnTo>
                          <a:pt x="515" y="774"/>
                        </a:lnTo>
                        <a:lnTo>
                          <a:pt x="511" y="902"/>
                        </a:lnTo>
                        <a:lnTo>
                          <a:pt x="498" y="1038"/>
                        </a:lnTo>
                        <a:lnTo>
                          <a:pt x="480" y="1160"/>
                        </a:lnTo>
                        <a:lnTo>
                          <a:pt x="462" y="1302"/>
                        </a:lnTo>
                        <a:lnTo>
                          <a:pt x="418" y="1448"/>
                        </a:lnTo>
                        <a:lnTo>
                          <a:pt x="365" y="1586"/>
                        </a:lnTo>
                        <a:lnTo>
                          <a:pt x="297" y="1729"/>
                        </a:lnTo>
                        <a:lnTo>
                          <a:pt x="236" y="1838"/>
                        </a:lnTo>
                        <a:lnTo>
                          <a:pt x="156" y="1934"/>
                        </a:lnTo>
                        <a:lnTo>
                          <a:pt x="93" y="2007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4" name="Line 6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06" y="839"/>
                    <a:ext cx="1" cy="328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5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3636" y="1093"/>
                    <a:ext cx="119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6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3633" y="1129"/>
                    <a:ext cx="1208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7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3639" y="1203"/>
                    <a:ext cx="26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8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3913" y="1203"/>
                    <a:ext cx="255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9" name="Line 65"/>
                  <p:cNvSpPr>
                    <a:spLocks noChangeShapeType="1"/>
                  </p:cNvSpPr>
                  <p:nvPr/>
                </p:nvSpPr>
                <p:spPr bwMode="auto">
                  <a:xfrm>
                    <a:off x="3718" y="944"/>
                    <a:ext cx="32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0" name="Line 66"/>
                  <p:cNvSpPr>
                    <a:spLocks noChangeShapeType="1"/>
                  </p:cNvSpPr>
                  <p:nvPr/>
                </p:nvSpPr>
                <p:spPr bwMode="auto">
                  <a:xfrm>
                    <a:off x="3693" y="980"/>
                    <a:ext cx="37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1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3666" y="1018"/>
                    <a:ext cx="416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2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1056"/>
                    <a:ext cx="451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3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3642" y="1240"/>
                    <a:ext cx="244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4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3646" y="1281"/>
                    <a:ext cx="22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5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3651" y="1319"/>
                    <a:ext cx="199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6" name="Line 72"/>
                  <p:cNvSpPr>
                    <a:spLocks noChangeShapeType="1"/>
                  </p:cNvSpPr>
                  <p:nvPr/>
                </p:nvSpPr>
                <p:spPr bwMode="auto">
                  <a:xfrm>
                    <a:off x="3919" y="1240"/>
                    <a:ext cx="242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7" name="Line 73"/>
                  <p:cNvSpPr>
                    <a:spLocks noChangeShapeType="1"/>
                  </p:cNvSpPr>
                  <p:nvPr/>
                </p:nvSpPr>
                <p:spPr bwMode="auto">
                  <a:xfrm>
                    <a:off x="3929" y="1281"/>
                    <a:ext cx="216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8" name="Line 74"/>
                  <p:cNvSpPr>
                    <a:spLocks noChangeShapeType="1"/>
                  </p:cNvSpPr>
                  <p:nvPr/>
                </p:nvSpPr>
                <p:spPr bwMode="auto">
                  <a:xfrm>
                    <a:off x="3941" y="1319"/>
                    <a:ext cx="19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9" name="Line 75"/>
                  <p:cNvSpPr>
                    <a:spLocks noChangeShapeType="1"/>
                  </p:cNvSpPr>
                  <p:nvPr/>
                </p:nvSpPr>
                <p:spPr bwMode="auto">
                  <a:xfrm>
                    <a:off x="3787" y="880"/>
                    <a:ext cx="259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0" name="Line 76"/>
                  <p:cNvSpPr>
                    <a:spLocks noChangeShapeType="1"/>
                  </p:cNvSpPr>
                  <p:nvPr/>
                </p:nvSpPr>
                <p:spPr bwMode="auto">
                  <a:xfrm>
                    <a:off x="3748" y="916"/>
                    <a:ext cx="33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1" name="Line 77"/>
                  <p:cNvSpPr>
                    <a:spLocks noChangeShapeType="1"/>
                  </p:cNvSpPr>
                  <p:nvPr/>
                </p:nvSpPr>
                <p:spPr bwMode="auto">
                  <a:xfrm>
                    <a:off x="3822" y="855"/>
                    <a:ext cx="18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2" name="Freeform 78"/>
                  <p:cNvSpPr>
                    <a:spLocks/>
                  </p:cNvSpPr>
                  <p:nvPr/>
                </p:nvSpPr>
                <p:spPr bwMode="auto">
                  <a:xfrm>
                    <a:off x="4635" y="889"/>
                    <a:ext cx="94" cy="64"/>
                  </a:xfrm>
                  <a:custGeom>
                    <a:avLst/>
                    <a:gdLst>
                      <a:gd name="T0" fmla="*/ 0 w 360"/>
                      <a:gd name="T1" fmla="*/ 0 h 226"/>
                      <a:gd name="T2" fmla="*/ 0 w 360"/>
                      <a:gd name="T3" fmla="*/ 0 h 226"/>
                      <a:gd name="T4" fmla="*/ 1 w 360"/>
                      <a:gd name="T5" fmla="*/ 0 h 226"/>
                      <a:gd name="T6" fmla="*/ 0 60000 65536"/>
                      <a:gd name="T7" fmla="*/ 0 60000 65536"/>
                      <a:gd name="T8" fmla="*/ 0 60000 65536"/>
                      <a:gd name="T9" fmla="*/ 0 w 360"/>
                      <a:gd name="T10" fmla="*/ 0 h 226"/>
                      <a:gd name="T11" fmla="*/ 360 w 360"/>
                      <a:gd name="T12" fmla="*/ 226 h 22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60" h="226">
                        <a:moveTo>
                          <a:pt x="0" y="0"/>
                        </a:moveTo>
                        <a:lnTo>
                          <a:pt x="164" y="98"/>
                        </a:lnTo>
                        <a:lnTo>
                          <a:pt x="360" y="22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3" name="Line 79"/>
                  <p:cNvSpPr>
                    <a:spLocks noChangeShapeType="1"/>
                  </p:cNvSpPr>
                  <p:nvPr/>
                </p:nvSpPr>
                <p:spPr bwMode="auto">
                  <a:xfrm>
                    <a:off x="4215" y="880"/>
                    <a:ext cx="395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4" name="Freeform 80"/>
                  <p:cNvSpPr>
                    <a:spLocks/>
                  </p:cNvSpPr>
                  <p:nvPr/>
                </p:nvSpPr>
                <p:spPr bwMode="auto">
                  <a:xfrm>
                    <a:off x="4199" y="849"/>
                    <a:ext cx="66" cy="74"/>
                  </a:xfrm>
                  <a:custGeom>
                    <a:avLst/>
                    <a:gdLst>
                      <a:gd name="T0" fmla="*/ 0 w 253"/>
                      <a:gd name="T1" fmla="*/ 0 h 264"/>
                      <a:gd name="T2" fmla="*/ 0 w 253"/>
                      <a:gd name="T3" fmla="*/ 0 h 264"/>
                      <a:gd name="T4" fmla="*/ 0 w 253"/>
                      <a:gd name="T5" fmla="*/ 0 h 264"/>
                      <a:gd name="T6" fmla="*/ 0 w 253"/>
                      <a:gd name="T7" fmla="*/ 1 h 26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53"/>
                      <a:gd name="T13" fmla="*/ 0 h 264"/>
                      <a:gd name="T14" fmla="*/ 253 w 253"/>
                      <a:gd name="T15" fmla="*/ 264 h 26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53" h="264">
                        <a:moveTo>
                          <a:pt x="253" y="0"/>
                        </a:moveTo>
                        <a:lnTo>
                          <a:pt x="142" y="100"/>
                        </a:lnTo>
                        <a:lnTo>
                          <a:pt x="62" y="189"/>
                        </a:lnTo>
                        <a:lnTo>
                          <a:pt x="0" y="26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5" name="Freeform 81"/>
                  <p:cNvSpPr>
                    <a:spLocks/>
                  </p:cNvSpPr>
                  <p:nvPr/>
                </p:nvSpPr>
                <p:spPr bwMode="auto">
                  <a:xfrm>
                    <a:off x="4506" y="849"/>
                    <a:ext cx="232" cy="574"/>
                  </a:xfrm>
                  <a:custGeom>
                    <a:avLst/>
                    <a:gdLst>
                      <a:gd name="T0" fmla="*/ 0 w 890"/>
                      <a:gd name="T1" fmla="*/ 0 h 2059"/>
                      <a:gd name="T2" fmla="*/ 0 w 890"/>
                      <a:gd name="T3" fmla="*/ 0 h 2059"/>
                      <a:gd name="T4" fmla="*/ 0 w 890"/>
                      <a:gd name="T5" fmla="*/ 0 h 2059"/>
                      <a:gd name="T6" fmla="*/ 0 w 890"/>
                      <a:gd name="T7" fmla="*/ 0 h 2059"/>
                      <a:gd name="T8" fmla="*/ 1 w 890"/>
                      <a:gd name="T9" fmla="*/ 1 h 2059"/>
                      <a:gd name="T10" fmla="*/ 1 w 890"/>
                      <a:gd name="T11" fmla="*/ 1 h 2059"/>
                      <a:gd name="T12" fmla="*/ 1 w 890"/>
                      <a:gd name="T13" fmla="*/ 1 h 2059"/>
                      <a:gd name="T14" fmla="*/ 1 w 890"/>
                      <a:gd name="T15" fmla="*/ 1 h 2059"/>
                      <a:gd name="T16" fmla="*/ 1 w 890"/>
                      <a:gd name="T17" fmla="*/ 1 h 2059"/>
                      <a:gd name="T18" fmla="*/ 1 w 890"/>
                      <a:gd name="T19" fmla="*/ 2 h 2059"/>
                      <a:gd name="T20" fmla="*/ 1 w 890"/>
                      <a:gd name="T21" fmla="*/ 2 h 2059"/>
                      <a:gd name="T22" fmla="*/ 1 w 890"/>
                      <a:gd name="T23" fmla="*/ 2 h 2059"/>
                      <a:gd name="T24" fmla="*/ 1 w 890"/>
                      <a:gd name="T25" fmla="*/ 2 h 2059"/>
                      <a:gd name="T26" fmla="*/ 1 w 890"/>
                      <a:gd name="T27" fmla="*/ 3 h 2059"/>
                      <a:gd name="T28" fmla="*/ 1 w 890"/>
                      <a:gd name="T29" fmla="*/ 3 h 2059"/>
                      <a:gd name="T30" fmla="*/ 1 w 890"/>
                      <a:gd name="T31" fmla="*/ 3 h 2059"/>
                      <a:gd name="T32" fmla="*/ 1 w 890"/>
                      <a:gd name="T33" fmla="*/ 3 h 2059"/>
                      <a:gd name="T34" fmla="*/ 1 w 890"/>
                      <a:gd name="T35" fmla="*/ 4 h 2059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890"/>
                      <a:gd name="T55" fmla="*/ 0 h 2059"/>
                      <a:gd name="T56" fmla="*/ 890 w 890"/>
                      <a:gd name="T57" fmla="*/ 2059 h 2059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890" h="2059">
                        <a:moveTo>
                          <a:pt x="0" y="0"/>
                        </a:moveTo>
                        <a:lnTo>
                          <a:pt x="142" y="90"/>
                        </a:lnTo>
                        <a:lnTo>
                          <a:pt x="232" y="162"/>
                        </a:lnTo>
                        <a:lnTo>
                          <a:pt x="303" y="227"/>
                        </a:lnTo>
                        <a:lnTo>
                          <a:pt x="410" y="317"/>
                        </a:lnTo>
                        <a:lnTo>
                          <a:pt x="566" y="468"/>
                        </a:lnTo>
                        <a:lnTo>
                          <a:pt x="707" y="610"/>
                        </a:lnTo>
                        <a:lnTo>
                          <a:pt x="814" y="747"/>
                        </a:lnTo>
                        <a:lnTo>
                          <a:pt x="877" y="875"/>
                        </a:lnTo>
                        <a:lnTo>
                          <a:pt x="886" y="988"/>
                        </a:lnTo>
                        <a:lnTo>
                          <a:pt x="890" y="1129"/>
                        </a:lnTo>
                        <a:lnTo>
                          <a:pt x="890" y="1261"/>
                        </a:lnTo>
                        <a:lnTo>
                          <a:pt x="882" y="1407"/>
                        </a:lnTo>
                        <a:lnTo>
                          <a:pt x="868" y="1540"/>
                        </a:lnTo>
                        <a:lnTo>
                          <a:pt x="860" y="1683"/>
                        </a:lnTo>
                        <a:lnTo>
                          <a:pt x="846" y="1789"/>
                        </a:lnTo>
                        <a:lnTo>
                          <a:pt x="832" y="1940"/>
                        </a:lnTo>
                        <a:lnTo>
                          <a:pt x="801" y="2059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6" name="Freeform 82"/>
                  <p:cNvSpPr>
                    <a:spLocks/>
                  </p:cNvSpPr>
                  <p:nvPr/>
                </p:nvSpPr>
                <p:spPr bwMode="auto">
                  <a:xfrm>
                    <a:off x="4529" y="854"/>
                    <a:ext cx="244" cy="567"/>
                  </a:xfrm>
                  <a:custGeom>
                    <a:avLst/>
                    <a:gdLst>
                      <a:gd name="T0" fmla="*/ 0 w 930"/>
                      <a:gd name="T1" fmla="*/ 0 h 2036"/>
                      <a:gd name="T2" fmla="*/ 0 w 930"/>
                      <a:gd name="T3" fmla="*/ 0 h 2036"/>
                      <a:gd name="T4" fmla="*/ 0 w 930"/>
                      <a:gd name="T5" fmla="*/ 0 h 2036"/>
                      <a:gd name="T6" fmla="*/ 1 w 930"/>
                      <a:gd name="T7" fmla="*/ 0 h 2036"/>
                      <a:gd name="T8" fmla="*/ 1 w 930"/>
                      <a:gd name="T9" fmla="*/ 1 h 2036"/>
                      <a:gd name="T10" fmla="*/ 1 w 930"/>
                      <a:gd name="T11" fmla="*/ 1 h 2036"/>
                      <a:gd name="T12" fmla="*/ 1 w 930"/>
                      <a:gd name="T13" fmla="*/ 1 h 2036"/>
                      <a:gd name="T14" fmla="*/ 1 w 930"/>
                      <a:gd name="T15" fmla="*/ 1 h 2036"/>
                      <a:gd name="T16" fmla="*/ 1 w 930"/>
                      <a:gd name="T17" fmla="*/ 1 h 2036"/>
                      <a:gd name="T18" fmla="*/ 1 w 930"/>
                      <a:gd name="T19" fmla="*/ 2 h 2036"/>
                      <a:gd name="T20" fmla="*/ 1 w 930"/>
                      <a:gd name="T21" fmla="*/ 2 h 2036"/>
                      <a:gd name="T22" fmla="*/ 1 w 930"/>
                      <a:gd name="T23" fmla="*/ 2 h 2036"/>
                      <a:gd name="T24" fmla="*/ 1 w 930"/>
                      <a:gd name="T25" fmla="*/ 2 h 2036"/>
                      <a:gd name="T26" fmla="*/ 1 w 930"/>
                      <a:gd name="T27" fmla="*/ 3 h 2036"/>
                      <a:gd name="T28" fmla="*/ 1 w 930"/>
                      <a:gd name="T29" fmla="*/ 3 h 2036"/>
                      <a:gd name="T30" fmla="*/ 1 w 930"/>
                      <a:gd name="T31" fmla="*/ 3 h 2036"/>
                      <a:gd name="T32" fmla="*/ 1 w 930"/>
                      <a:gd name="T33" fmla="*/ 3 h 2036"/>
                      <a:gd name="T34" fmla="*/ 1 w 930"/>
                      <a:gd name="T35" fmla="*/ 3 h 20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930"/>
                      <a:gd name="T55" fmla="*/ 0 h 2036"/>
                      <a:gd name="T56" fmla="*/ 930 w 930"/>
                      <a:gd name="T57" fmla="*/ 2036 h 20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930" h="2036">
                        <a:moveTo>
                          <a:pt x="0" y="0"/>
                        </a:moveTo>
                        <a:lnTo>
                          <a:pt x="135" y="82"/>
                        </a:lnTo>
                        <a:lnTo>
                          <a:pt x="224" y="157"/>
                        </a:lnTo>
                        <a:lnTo>
                          <a:pt x="303" y="222"/>
                        </a:lnTo>
                        <a:lnTo>
                          <a:pt x="414" y="317"/>
                        </a:lnTo>
                        <a:lnTo>
                          <a:pt x="565" y="445"/>
                        </a:lnTo>
                        <a:lnTo>
                          <a:pt x="718" y="583"/>
                        </a:lnTo>
                        <a:lnTo>
                          <a:pt x="846" y="723"/>
                        </a:lnTo>
                        <a:lnTo>
                          <a:pt x="912" y="866"/>
                        </a:lnTo>
                        <a:lnTo>
                          <a:pt x="926" y="996"/>
                        </a:lnTo>
                        <a:lnTo>
                          <a:pt x="930" y="1120"/>
                        </a:lnTo>
                        <a:lnTo>
                          <a:pt x="926" y="1256"/>
                        </a:lnTo>
                        <a:lnTo>
                          <a:pt x="900" y="1388"/>
                        </a:lnTo>
                        <a:lnTo>
                          <a:pt x="882" y="1516"/>
                        </a:lnTo>
                        <a:lnTo>
                          <a:pt x="855" y="1656"/>
                        </a:lnTo>
                        <a:lnTo>
                          <a:pt x="833" y="1785"/>
                        </a:lnTo>
                        <a:lnTo>
                          <a:pt x="801" y="1888"/>
                        </a:lnTo>
                        <a:lnTo>
                          <a:pt x="744" y="203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7" name="Freeform 83"/>
                  <p:cNvSpPr>
                    <a:spLocks/>
                  </p:cNvSpPr>
                  <p:nvPr/>
                </p:nvSpPr>
                <p:spPr bwMode="auto">
                  <a:xfrm>
                    <a:off x="4559" y="862"/>
                    <a:ext cx="249" cy="554"/>
                  </a:xfrm>
                  <a:custGeom>
                    <a:avLst/>
                    <a:gdLst>
                      <a:gd name="T0" fmla="*/ 0 w 952"/>
                      <a:gd name="T1" fmla="*/ 0 h 1986"/>
                      <a:gd name="T2" fmla="*/ 0 w 952"/>
                      <a:gd name="T3" fmla="*/ 0 h 1986"/>
                      <a:gd name="T4" fmla="*/ 0 w 952"/>
                      <a:gd name="T5" fmla="*/ 0 h 1986"/>
                      <a:gd name="T6" fmla="*/ 1 w 952"/>
                      <a:gd name="T7" fmla="*/ 1 h 1986"/>
                      <a:gd name="T8" fmla="*/ 1 w 952"/>
                      <a:gd name="T9" fmla="*/ 1 h 1986"/>
                      <a:gd name="T10" fmla="*/ 1 w 952"/>
                      <a:gd name="T11" fmla="*/ 1 h 1986"/>
                      <a:gd name="T12" fmla="*/ 1 w 952"/>
                      <a:gd name="T13" fmla="*/ 1 h 1986"/>
                      <a:gd name="T14" fmla="*/ 1 w 952"/>
                      <a:gd name="T15" fmla="*/ 1 h 1986"/>
                      <a:gd name="T16" fmla="*/ 1 w 952"/>
                      <a:gd name="T17" fmla="*/ 2 h 1986"/>
                      <a:gd name="T18" fmla="*/ 1 w 952"/>
                      <a:gd name="T19" fmla="*/ 2 h 1986"/>
                      <a:gd name="T20" fmla="*/ 1 w 952"/>
                      <a:gd name="T21" fmla="*/ 2 h 1986"/>
                      <a:gd name="T22" fmla="*/ 1 w 952"/>
                      <a:gd name="T23" fmla="*/ 2 h 1986"/>
                      <a:gd name="T24" fmla="*/ 1 w 952"/>
                      <a:gd name="T25" fmla="*/ 3 h 1986"/>
                      <a:gd name="T26" fmla="*/ 1 w 952"/>
                      <a:gd name="T27" fmla="*/ 3 h 1986"/>
                      <a:gd name="T28" fmla="*/ 1 w 952"/>
                      <a:gd name="T29" fmla="*/ 3 h 1986"/>
                      <a:gd name="T30" fmla="*/ 1 w 952"/>
                      <a:gd name="T31" fmla="*/ 3 h 1986"/>
                      <a:gd name="T32" fmla="*/ 1 w 952"/>
                      <a:gd name="T33" fmla="*/ 3 h 198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952"/>
                      <a:gd name="T52" fmla="*/ 0 h 1986"/>
                      <a:gd name="T53" fmla="*/ 952 w 952"/>
                      <a:gd name="T54" fmla="*/ 1986 h 198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952" h="1986">
                        <a:moveTo>
                          <a:pt x="0" y="0"/>
                        </a:moveTo>
                        <a:lnTo>
                          <a:pt x="120" y="80"/>
                        </a:lnTo>
                        <a:lnTo>
                          <a:pt x="262" y="183"/>
                        </a:lnTo>
                        <a:lnTo>
                          <a:pt x="391" y="283"/>
                        </a:lnTo>
                        <a:lnTo>
                          <a:pt x="556" y="419"/>
                        </a:lnTo>
                        <a:lnTo>
                          <a:pt x="716" y="562"/>
                        </a:lnTo>
                        <a:lnTo>
                          <a:pt x="845" y="690"/>
                        </a:lnTo>
                        <a:lnTo>
                          <a:pt x="929" y="830"/>
                        </a:lnTo>
                        <a:lnTo>
                          <a:pt x="938" y="954"/>
                        </a:lnTo>
                        <a:lnTo>
                          <a:pt x="952" y="1090"/>
                        </a:lnTo>
                        <a:lnTo>
                          <a:pt x="934" y="1218"/>
                        </a:lnTo>
                        <a:lnTo>
                          <a:pt x="899" y="1355"/>
                        </a:lnTo>
                        <a:lnTo>
                          <a:pt x="867" y="1495"/>
                        </a:lnTo>
                        <a:lnTo>
                          <a:pt x="831" y="1633"/>
                        </a:lnTo>
                        <a:lnTo>
                          <a:pt x="796" y="1763"/>
                        </a:lnTo>
                        <a:lnTo>
                          <a:pt x="742" y="1869"/>
                        </a:lnTo>
                        <a:lnTo>
                          <a:pt x="676" y="198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8" name="Freeform 84"/>
                  <p:cNvSpPr>
                    <a:spLocks/>
                  </p:cNvSpPr>
                  <p:nvPr/>
                </p:nvSpPr>
                <p:spPr bwMode="auto">
                  <a:xfrm>
                    <a:off x="4313" y="839"/>
                    <a:ext cx="28" cy="586"/>
                  </a:xfrm>
                  <a:custGeom>
                    <a:avLst/>
                    <a:gdLst>
                      <a:gd name="T0" fmla="*/ 0 w 107"/>
                      <a:gd name="T1" fmla="*/ 0 h 2101"/>
                      <a:gd name="T2" fmla="*/ 0 w 107"/>
                      <a:gd name="T3" fmla="*/ 0 h 2101"/>
                      <a:gd name="T4" fmla="*/ 0 w 107"/>
                      <a:gd name="T5" fmla="*/ 0 h 2101"/>
                      <a:gd name="T6" fmla="*/ 0 w 107"/>
                      <a:gd name="T7" fmla="*/ 1 h 2101"/>
                      <a:gd name="T8" fmla="*/ 0 w 107"/>
                      <a:gd name="T9" fmla="*/ 1 h 2101"/>
                      <a:gd name="T10" fmla="*/ 0 w 107"/>
                      <a:gd name="T11" fmla="*/ 1 h 2101"/>
                      <a:gd name="T12" fmla="*/ 0 w 107"/>
                      <a:gd name="T13" fmla="*/ 1 h 2101"/>
                      <a:gd name="T14" fmla="*/ 0 w 107"/>
                      <a:gd name="T15" fmla="*/ 1 h 2101"/>
                      <a:gd name="T16" fmla="*/ 0 w 107"/>
                      <a:gd name="T17" fmla="*/ 2 h 2101"/>
                      <a:gd name="T18" fmla="*/ 0 w 107"/>
                      <a:gd name="T19" fmla="*/ 2 h 2101"/>
                      <a:gd name="T20" fmla="*/ 0 w 107"/>
                      <a:gd name="T21" fmla="*/ 2 h 2101"/>
                      <a:gd name="T22" fmla="*/ 0 w 107"/>
                      <a:gd name="T23" fmla="*/ 2 h 2101"/>
                      <a:gd name="T24" fmla="*/ 0 w 107"/>
                      <a:gd name="T25" fmla="*/ 3 h 2101"/>
                      <a:gd name="T26" fmla="*/ 0 w 107"/>
                      <a:gd name="T27" fmla="*/ 3 h 2101"/>
                      <a:gd name="T28" fmla="*/ 0 w 107"/>
                      <a:gd name="T29" fmla="*/ 3 h 2101"/>
                      <a:gd name="T30" fmla="*/ 0 w 107"/>
                      <a:gd name="T31" fmla="*/ 3 h 2101"/>
                      <a:gd name="T32" fmla="*/ 0 w 107"/>
                      <a:gd name="T33" fmla="*/ 3 h 2101"/>
                      <a:gd name="T34" fmla="*/ 0 w 107"/>
                      <a:gd name="T35" fmla="*/ 4 h 210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7"/>
                      <a:gd name="T55" fmla="*/ 0 h 2101"/>
                      <a:gd name="T56" fmla="*/ 107 w 107"/>
                      <a:gd name="T57" fmla="*/ 2101 h 210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7" h="2101">
                        <a:moveTo>
                          <a:pt x="90" y="0"/>
                        </a:moveTo>
                        <a:lnTo>
                          <a:pt x="95" y="62"/>
                        </a:lnTo>
                        <a:lnTo>
                          <a:pt x="99" y="161"/>
                        </a:lnTo>
                        <a:lnTo>
                          <a:pt x="99" y="279"/>
                        </a:lnTo>
                        <a:lnTo>
                          <a:pt x="103" y="392"/>
                        </a:lnTo>
                        <a:lnTo>
                          <a:pt x="107" y="510"/>
                        </a:lnTo>
                        <a:lnTo>
                          <a:pt x="107" y="635"/>
                        </a:lnTo>
                        <a:lnTo>
                          <a:pt x="107" y="784"/>
                        </a:lnTo>
                        <a:lnTo>
                          <a:pt x="107" y="931"/>
                        </a:lnTo>
                        <a:lnTo>
                          <a:pt x="103" y="1035"/>
                        </a:lnTo>
                        <a:lnTo>
                          <a:pt x="99" y="1172"/>
                        </a:lnTo>
                        <a:lnTo>
                          <a:pt x="81" y="1298"/>
                        </a:lnTo>
                        <a:lnTo>
                          <a:pt x="77" y="1441"/>
                        </a:lnTo>
                        <a:lnTo>
                          <a:pt x="64" y="1586"/>
                        </a:lnTo>
                        <a:lnTo>
                          <a:pt x="50" y="1716"/>
                        </a:lnTo>
                        <a:lnTo>
                          <a:pt x="46" y="1841"/>
                        </a:lnTo>
                        <a:lnTo>
                          <a:pt x="28" y="1982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9" name="Freeform 85"/>
                  <p:cNvSpPr>
                    <a:spLocks/>
                  </p:cNvSpPr>
                  <p:nvPr/>
                </p:nvSpPr>
                <p:spPr bwMode="auto">
                  <a:xfrm>
                    <a:off x="4324" y="836"/>
                    <a:ext cx="54" cy="588"/>
                  </a:xfrm>
                  <a:custGeom>
                    <a:avLst/>
                    <a:gdLst>
                      <a:gd name="T0" fmla="*/ 0 w 204"/>
                      <a:gd name="T1" fmla="*/ 0 h 2106"/>
                      <a:gd name="T2" fmla="*/ 0 w 204"/>
                      <a:gd name="T3" fmla="*/ 0 h 2106"/>
                      <a:gd name="T4" fmla="*/ 0 w 204"/>
                      <a:gd name="T5" fmla="*/ 0 h 2106"/>
                      <a:gd name="T6" fmla="*/ 0 w 204"/>
                      <a:gd name="T7" fmla="*/ 1 h 2106"/>
                      <a:gd name="T8" fmla="*/ 0 w 204"/>
                      <a:gd name="T9" fmla="*/ 1 h 2106"/>
                      <a:gd name="T10" fmla="*/ 0 w 204"/>
                      <a:gd name="T11" fmla="*/ 1 h 2106"/>
                      <a:gd name="T12" fmla="*/ 0 w 204"/>
                      <a:gd name="T13" fmla="*/ 1 h 2106"/>
                      <a:gd name="T14" fmla="*/ 0 w 204"/>
                      <a:gd name="T15" fmla="*/ 1 h 2106"/>
                      <a:gd name="T16" fmla="*/ 0 w 204"/>
                      <a:gd name="T17" fmla="*/ 2 h 2106"/>
                      <a:gd name="T18" fmla="*/ 0 w 204"/>
                      <a:gd name="T19" fmla="*/ 2 h 2106"/>
                      <a:gd name="T20" fmla="*/ 0 w 204"/>
                      <a:gd name="T21" fmla="*/ 2 h 2106"/>
                      <a:gd name="T22" fmla="*/ 0 w 204"/>
                      <a:gd name="T23" fmla="*/ 2 h 2106"/>
                      <a:gd name="T24" fmla="*/ 0 w 204"/>
                      <a:gd name="T25" fmla="*/ 3 h 2106"/>
                      <a:gd name="T26" fmla="*/ 0 w 204"/>
                      <a:gd name="T27" fmla="*/ 3 h 2106"/>
                      <a:gd name="T28" fmla="*/ 0 w 204"/>
                      <a:gd name="T29" fmla="*/ 3 h 2106"/>
                      <a:gd name="T30" fmla="*/ 0 w 204"/>
                      <a:gd name="T31" fmla="*/ 3 h 2106"/>
                      <a:gd name="T32" fmla="*/ 0 w 204"/>
                      <a:gd name="T33" fmla="*/ 3 h 2106"/>
                      <a:gd name="T34" fmla="*/ 0 w 204"/>
                      <a:gd name="T35" fmla="*/ 4 h 210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04"/>
                      <a:gd name="T55" fmla="*/ 0 h 2106"/>
                      <a:gd name="T56" fmla="*/ 204 w 204"/>
                      <a:gd name="T57" fmla="*/ 2106 h 210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04" h="2106">
                        <a:moveTo>
                          <a:pt x="71" y="0"/>
                        </a:moveTo>
                        <a:lnTo>
                          <a:pt x="89" y="57"/>
                        </a:lnTo>
                        <a:lnTo>
                          <a:pt x="111" y="156"/>
                        </a:lnTo>
                        <a:lnTo>
                          <a:pt x="137" y="273"/>
                        </a:lnTo>
                        <a:lnTo>
                          <a:pt x="150" y="378"/>
                        </a:lnTo>
                        <a:lnTo>
                          <a:pt x="168" y="504"/>
                        </a:lnTo>
                        <a:lnTo>
                          <a:pt x="186" y="638"/>
                        </a:lnTo>
                        <a:lnTo>
                          <a:pt x="200" y="789"/>
                        </a:lnTo>
                        <a:lnTo>
                          <a:pt x="204" y="921"/>
                        </a:lnTo>
                        <a:lnTo>
                          <a:pt x="200" y="1057"/>
                        </a:lnTo>
                        <a:lnTo>
                          <a:pt x="182" y="1190"/>
                        </a:lnTo>
                        <a:lnTo>
                          <a:pt x="168" y="1322"/>
                        </a:lnTo>
                        <a:lnTo>
                          <a:pt x="150" y="1454"/>
                        </a:lnTo>
                        <a:lnTo>
                          <a:pt x="123" y="1595"/>
                        </a:lnTo>
                        <a:lnTo>
                          <a:pt x="97" y="1730"/>
                        </a:lnTo>
                        <a:lnTo>
                          <a:pt x="71" y="1855"/>
                        </a:lnTo>
                        <a:lnTo>
                          <a:pt x="39" y="1987"/>
                        </a:lnTo>
                        <a:lnTo>
                          <a:pt x="0" y="210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0" name="Freeform 86"/>
                  <p:cNvSpPr>
                    <a:spLocks/>
                  </p:cNvSpPr>
                  <p:nvPr/>
                </p:nvSpPr>
                <p:spPr bwMode="auto">
                  <a:xfrm>
                    <a:off x="4331" y="835"/>
                    <a:ext cx="74" cy="589"/>
                  </a:xfrm>
                  <a:custGeom>
                    <a:avLst/>
                    <a:gdLst>
                      <a:gd name="T0" fmla="*/ 0 w 285"/>
                      <a:gd name="T1" fmla="*/ 0 h 2110"/>
                      <a:gd name="T2" fmla="*/ 0 w 285"/>
                      <a:gd name="T3" fmla="*/ 0 h 2110"/>
                      <a:gd name="T4" fmla="*/ 0 w 285"/>
                      <a:gd name="T5" fmla="*/ 0 h 2110"/>
                      <a:gd name="T6" fmla="*/ 0 w 285"/>
                      <a:gd name="T7" fmla="*/ 1 h 2110"/>
                      <a:gd name="T8" fmla="*/ 0 w 285"/>
                      <a:gd name="T9" fmla="*/ 1 h 2110"/>
                      <a:gd name="T10" fmla="*/ 0 w 285"/>
                      <a:gd name="T11" fmla="*/ 1 h 2110"/>
                      <a:gd name="T12" fmla="*/ 0 w 285"/>
                      <a:gd name="T13" fmla="*/ 1 h 2110"/>
                      <a:gd name="T14" fmla="*/ 0 w 285"/>
                      <a:gd name="T15" fmla="*/ 1 h 2110"/>
                      <a:gd name="T16" fmla="*/ 0 w 285"/>
                      <a:gd name="T17" fmla="*/ 2 h 2110"/>
                      <a:gd name="T18" fmla="*/ 0 w 285"/>
                      <a:gd name="T19" fmla="*/ 2 h 2110"/>
                      <a:gd name="T20" fmla="*/ 0 w 285"/>
                      <a:gd name="T21" fmla="*/ 2 h 2110"/>
                      <a:gd name="T22" fmla="*/ 0 w 285"/>
                      <a:gd name="T23" fmla="*/ 2 h 2110"/>
                      <a:gd name="T24" fmla="*/ 0 w 285"/>
                      <a:gd name="T25" fmla="*/ 3 h 2110"/>
                      <a:gd name="T26" fmla="*/ 0 w 285"/>
                      <a:gd name="T27" fmla="*/ 3 h 2110"/>
                      <a:gd name="T28" fmla="*/ 0 w 285"/>
                      <a:gd name="T29" fmla="*/ 3 h 2110"/>
                      <a:gd name="T30" fmla="*/ 0 w 285"/>
                      <a:gd name="T31" fmla="*/ 3 h 2110"/>
                      <a:gd name="T32" fmla="*/ 0 w 285"/>
                      <a:gd name="T33" fmla="*/ 3 h 2110"/>
                      <a:gd name="T34" fmla="*/ 0 w 285"/>
                      <a:gd name="T35" fmla="*/ 4 h 2110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85"/>
                      <a:gd name="T55" fmla="*/ 0 h 2110"/>
                      <a:gd name="T56" fmla="*/ 285 w 285"/>
                      <a:gd name="T57" fmla="*/ 2110 h 2110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85" h="2110">
                        <a:moveTo>
                          <a:pt x="71" y="0"/>
                        </a:moveTo>
                        <a:lnTo>
                          <a:pt x="103" y="72"/>
                        </a:lnTo>
                        <a:lnTo>
                          <a:pt x="142" y="156"/>
                        </a:lnTo>
                        <a:lnTo>
                          <a:pt x="186" y="273"/>
                        </a:lnTo>
                        <a:lnTo>
                          <a:pt x="222" y="397"/>
                        </a:lnTo>
                        <a:lnTo>
                          <a:pt x="244" y="519"/>
                        </a:lnTo>
                        <a:lnTo>
                          <a:pt x="262" y="642"/>
                        </a:lnTo>
                        <a:lnTo>
                          <a:pt x="279" y="799"/>
                        </a:lnTo>
                        <a:lnTo>
                          <a:pt x="285" y="930"/>
                        </a:lnTo>
                        <a:lnTo>
                          <a:pt x="285" y="1068"/>
                        </a:lnTo>
                        <a:lnTo>
                          <a:pt x="275" y="1190"/>
                        </a:lnTo>
                        <a:lnTo>
                          <a:pt x="257" y="1317"/>
                        </a:lnTo>
                        <a:lnTo>
                          <a:pt x="231" y="1450"/>
                        </a:lnTo>
                        <a:lnTo>
                          <a:pt x="196" y="1595"/>
                        </a:lnTo>
                        <a:lnTo>
                          <a:pt x="156" y="1736"/>
                        </a:lnTo>
                        <a:lnTo>
                          <a:pt x="120" y="1855"/>
                        </a:lnTo>
                        <a:lnTo>
                          <a:pt x="71" y="1983"/>
                        </a:lnTo>
                        <a:lnTo>
                          <a:pt x="0" y="2110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1" name="Freeform 87"/>
                  <p:cNvSpPr>
                    <a:spLocks/>
                  </p:cNvSpPr>
                  <p:nvPr/>
                </p:nvSpPr>
                <p:spPr bwMode="auto">
                  <a:xfrm>
                    <a:off x="4347" y="834"/>
                    <a:ext cx="94" cy="583"/>
                  </a:xfrm>
                  <a:custGeom>
                    <a:avLst/>
                    <a:gdLst>
                      <a:gd name="T0" fmla="*/ 0 w 355"/>
                      <a:gd name="T1" fmla="*/ 0 h 2091"/>
                      <a:gd name="T2" fmla="*/ 0 w 355"/>
                      <a:gd name="T3" fmla="*/ 0 h 2091"/>
                      <a:gd name="T4" fmla="*/ 0 w 355"/>
                      <a:gd name="T5" fmla="*/ 0 h 2091"/>
                      <a:gd name="T6" fmla="*/ 0 w 355"/>
                      <a:gd name="T7" fmla="*/ 1 h 2091"/>
                      <a:gd name="T8" fmla="*/ 0 w 355"/>
                      <a:gd name="T9" fmla="*/ 1 h 2091"/>
                      <a:gd name="T10" fmla="*/ 0 w 355"/>
                      <a:gd name="T11" fmla="*/ 1 h 2091"/>
                      <a:gd name="T12" fmla="*/ 1 w 355"/>
                      <a:gd name="T13" fmla="*/ 1 h 2091"/>
                      <a:gd name="T14" fmla="*/ 1 w 355"/>
                      <a:gd name="T15" fmla="*/ 1 h 2091"/>
                      <a:gd name="T16" fmla="*/ 1 w 355"/>
                      <a:gd name="T17" fmla="*/ 2 h 2091"/>
                      <a:gd name="T18" fmla="*/ 1 w 355"/>
                      <a:gd name="T19" fmla="*/ 2 h 2091"/>
                      <a:gd name="T20" fmla="*/ 1 w 355"/>
                      <a:gd name="T21" fmla="*/ 2 h 2091"/>
                      <a:gd name="T22" fmla="*/ 1 w 355"/>
                      <a:gd name="T23" fmla="*/ 2 h 2091"/>
                      <a:gd name="T24" fmla="*/ 0 w 355"/>
                      <a:gd name="T25" fmla="*/ 3 h 2091"/>
                      <a:gd name="T26" fmla="*/ 0 w 355"/>
                      <a:gd name="T27" fmla="*/ 3 h 2091"/>
                      <a:gd name="T28" fmla="*/ 0 w 355"/>
                      <a:gd name="T29" fmla="*/ 3 h 2091"/>
                      <a:gd name="T30" fmla="*/ 0 w 355"/>
                      <a:gd name="T31" fmla="*/ 3 h 2091"/>
                      <a:gd name="T32" fmla="*/ 0 w 355"/>
                      <a:gd name="T33" fmla="*/ 3 h 2091"/>
                      <a:gd name="T34" fmla="*/ 0 w 355"/>
                      <a:gd name="T35" fmla="*/ 4 h 209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55"/>
                      <a:gd name="T55" fmla="*/ 0 h 2091"/>
                      <a:gd name="T56" fmla="*/ 355 w 355"/>
                      <a:gd name="T57" fmla="*/ 2091 h 209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55" h="2091">
                        <a:moveTo>
                          <a:pt x="26" y="0"/>
                        </a:moveTo>
                        <a:lnTo>
                          <a:pt x="79" y="69"/>
                        </a:lnTo>
                        <a:lnTo>
                          <a:pt x="141" y="174"/>
                        </a:lnTo>
                        <a:lnTo>
                          <a:pt x="186" y="254"/>
                        </a:lnTo>
                        <a:lnTo>
                          <a:pt x="230" y="357"/>
                        </a:lnTo>
                        <a:lnTo>
                          <a:pt x="279" y="489"/>
                        </a:lnTo>
                        <a:lnTo>
                          <a:pt x="311" y="641"/>
                        </a:lnTo>
                        <a:lnTo>
                          <a:pt x="337" y="807"/>
                        </a:lnTo>
                        <a:lnTo>
                          <a:pt x="351" y="933"/>
                        </a:lnTo>
                        <a:lnTo>
                          <a:pt x="355" y="1061"/>
                        </a:lnTo>
                        <a:lnTo>
                          <a:pt x="333" y="1202"/>
                        </a:lnTo>
                        <a:lnTo>
                          <a:pt x="315" y="1325"/>
                        </a:lnTo>
                        <a:lnTo>
                          <a:pt x="279" y="1462"/>
                        </a:lnTo>
                        <a:lnTo>
                          <a:pt x="230" y="1594"/>
                        </a:lnTo>
                        <a:lnTo>
                          <a:pt x="181" y="1738"/>
                        </a:lnTo>
                        <a:lnTo>
                          <a:pt x="129" y="1858"/>
                        </a:lnTo>
                        <a:lnTo>
                          <a:pt x="66" y="1972"/>
                        </a:lnTo>
                        <a:lnTo>
                          <a:pt x="0" y="209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2" name="Freeform 88"/>
                  <p:cNvSpPr>
                    <a:spLocks/>
                  </p:cNvSpPr>
                  <p:nvPr/>
                </p:nvSpPr>
                <p:spPr bwMode="auto">
                  <a:xfrm>
                    <a:off x="4359" y="834"/>
                    <a:ext cx="113" cy="578"/>
                  </a:xfrm>
                  <a:custGeom>
                    <a:avLst/>
                    <a:gdLst>
                      <a:gd name="T0" fmla="*/ 0 w 432"/>
                      <a:gd name="T1" fmla="*/ 0 h 2072"/>
                      <a:gd name="T2" fmla="*/ 0 w 432"/>
                      <a:gd name="T3" fmla="*/ 0 h 2072"/>
                      <a:gd name="T4" fmla="*/ 0 w 432"/>
                      <a:gd name="T5" fmla="*/ 0 h 2072"/>
                      <a:gd name="T6" fmla="*/ 0 w 432"/>
                      <a:gd name="T7" fmla="*/ 1 h 2072"/>
                      <a:gd name="T8" fmla="*/ 0 w 432"/>
                      <a:gd name="T9" fmla="*/ 1 h 2072"/>
                      <a:gd name="T10" fmla="*/ 0 w 432"/>
                      <a:gd name="T11" fmla="*/ 1 h 2072"/>
                      <a:gd name="T12" fmla="*/ 1 w 432"/>
                      <a:gd name="T13" fmla="*/ 1 h 2072"/>
                      <a:gd name="T14" fmla="*/ 1 w 432"/>
                      <a:gd name="T15" fmla="*/ 1 h 2072"/>
                      <a:gd name="T16" fmla="*/ 1 w 432"/>
                      <a:gd name="T17" fmla="*/ 2 h 2072"/>
                      <a:gd name="T18" fmla="*/ 1 w 432"/>
                      <a:gd name="T19" fmla="*/ 2 h 2072"/>
                      <a:gd name="T20" fmla="*/ 1 w 432"/>
                      <a:gd name="T21" fmla="*/ 2 h 2072"/>
                      <a:gd name="T22" fmla="*/ 1 w 432"/>
                      <a:gd name="T23" fmla="*/ 2 h 2072"/>
                      <a:gd name="T24" fmla="*/ 1 w 432"/>
                      <a:gd name="T25" fmla="*/ 3 h 2072"/>
                      <a:gd name="T26" fmla="*/ 0 w 432"/>
                      <a:gd name="T27" fmla="*/ 3 h 2072"/>
                      <a:gd name="T28" fmla="*/ 0 w 432"/>
                      <a:gd name="T29" fmla="*/ 3 h 2072"/>
                      <a:gd name="T30" fmla="*/ 0 w 432"/>
                      <a:gd name="T31" fmla="*/ 3 h 2072"/>
                      <a:gd name="T32" fmla="*/ 0 w 432"/>
                      <a:gd name="T33" fmla="*/ 3 h 2072"/>
                      <a:gd name="T34" fmla="*/ 0 w 432"/>
                      <a:gd name="T35" fmla="*/ 4 h 207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432"/>
                      <a:gd name="T55" fmla="*/ 0 h 2072"/>
                      <a:gd name="T56" fmla="*/ 432 w 432"/>
                      <a:gd name="T57" fmla="*/ 2072 h 207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432" h="2072">
                        <a:moveTo>
                          <a:pt x="8" y="0"/>
                        </a:moveTo>
                        <a:lnTo>
                          <a:pt x="71" y="70"/>
                        </a:lnTo>
                        <a:lnTo>
                          <a:pt x="142" y="164"/>
                        </a:lnTo>
                        <a:lnTo>
                          <a:pt x="200" y="269"/>
                        </a:lnTo>
                        <a:lnTo>
                          <a:pt x="253" y="363"/>
                        </a:lnTo>
                        <a:lnTo>
                          <a:pt x="315" y="495"/>
                        </a:lnTo>
                        <a:lnTo>
                          <a:pt x="364" y="638"/>
                        </a:lnTo>
                        <a:lnTo>
                          <a:pt x="414" y="807"/>
                        </a:lnTo>
                        <a:lnTo>
                          <a:pt x="426" y="934"/>
                        </a:lnTo>
                        <a:lnTo>
                          <a:pt x="432" y="1057"/>
                        </a:lnTo>
                        <a:lnTo>
                          <a:pt x="414" y="1189"/>
                        </a:lnTo>
                        <a:lnTo>
                          <a:pt x="382" y="1321"/>
                        </a:lnTo>
                        <a:lnTo>
                          <a:pt x="333" y="1473"/>
                        </a:lnTo>
                        <a:lnTo>
                          <a:pt x="267" y="1615"/>
                        </a:lnTo>
                        <a:lnTo>
                          <a:pt x="208" y="1744"/>
                        </a:lnTo>
                        <a:lnTo>
                          <a:pt x="137" y="1873"/>
                        </a:lnTo>
                        <a:lnTo>
                          <a:pt x="67" y="1987"/>
                        </a:lnTo>
                        <a:lnTo>
                          <a:pt x="0" y="207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3" name="Freeform 89"/>
                  <p:cNvSpPr>
                    <a:spLocks/>
                  </p:cNvSpPr>
                  <p:nvPr/>
                </p:nvSpPr>
                <p:spPr bwMode="auto">
                  <a:xfrm>
                    <a:off x="4369" y="834"/>
                    <a:ext cx="135" cy="351"/>
                  </a:xfrm>
                  <a:custGeom>
                    <a:avLst/>
                    <a:gdLst>
                      <a:gd name="T0" fmla="*/ 0 w 516"/>
                      <a:gd name="T1" fmla="*/ 0 h 1261"/>
                      <a:gd name="T2" fmla="*/ 0 w 516"/>
                      <a:gd name="T3" fmla="*/ 0 h 1261"/>
                      <a:gd name="T4" fmla="*/ 0 w 516"/>
                      <a:gd name="T5" fmla="*/ 0 h 1261"/>
                      <a:gd name="T6" fmla="*/ 0 w 516"/>
                      <a:gd name="T7" fmla="*/ 1 h 1261"/>
                      <a:gd name="T8" fmla="*/ 1 w 516"/>
                      <a:gd name="T9" fmla="*/ 1 h 1261"/>
                      <a:gd name="T10" fmla="*/ 1 w 516"/>
                      <a:gd name="T11" fmla="*/ 1 h 1261"/>
                      <a:gd name="T12" fmla="*/ 1 w 516"/>
                      <a:gd name="T13" fmla="*/ 1 h 1261"/>
                      <a:gd name="T14" fmla="*/ 1 w 516"/>
                      <a:gd name="T15" fmla="*/ 1 h 1261"/>
                      <a:gd name="T16" fmla="*/ 1 w 516"/>
                      <a:gd name="T17" fmla="*/ 2 h 1261"/>
                      <a:gd name="T18" fmla="*/ 1 w 516"/>
                      <a:gd name="T19" fmla="*/ 2 h 1261"/>
                      <a:gd name="T20" fmla="*/ 1 w 516"/>
                      <a:gd name="T21" fmla="*/ 2 h 1261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16"/>
                      <a:gd name="T34" fmla="*/ 0 h 1261"/>
                      <a:gd name="T35" fmla="*/ 516 w 516"/>
                      <a:gd name="T36" fmla="*/ 1261 h 1261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16" h="1261">
                        <a:moveTo>
                          <a:pt x="0" y="0"/>
                        </a:moveTo>
                        <a:lnTo>
                          <a:pt x="98" y="94"/>
                        </a:lnTo>
                        <a:lnTo>
                          <a:pt x="179" y="187"/>
                        </a:lnTo>
                        <a:lnTo>
                          <a:pt x="258" y="277"/>
                        </a:lnTo>
                        <a:lnTo>
                          <a:pt x="339" y="386"/>
                        </a:lnTo>
                        <a:lnTo>
                          <a:pt x="401" y="508"/>
                        </a:lnTo>
                        <a:lnTo>
                          <a:pt x="454" y="638"/>
                        </a:lnTo>
                        <a:lnTo>
                          <a:pt x="498" y="807"/>
                        </a:lnTo>
                        <a:lnTo>
                          <a:pt x="516" y="940"/>
                        </a:lnTo>
                        <a:lnTo>
                          <a:pt x="512" y="1066"/>
                        </a:lnTo>
                        <a:lnTo>
                          <a:pt x="490" y="126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4" name="Freeform 90"/>
                  <p:cNvSpPr>
                    <a:spLocks/>
                  </p:cNvSpPr>
                  <p:nvPr/>
                </p:nvSpPr>
                <p:spPr bwMode="auto">
                  <a:xfrm>
                    <a:off x="4381" y="834"/>
                    <a:ext cx="279" cy="583"/>
                  </a:xfrm>
                  <a:custGeom>
                    <a:avLst/>
                    <a:gdLst>
                      <a:gd name="T0" fmla="*/ 0 w 1064"/>
                      <a:gd name="T1" fmla="*/ 0 h 2091"/>
                      <a:gd name="T2" fmla="*/ 0 w 1064"/>
                      <a:gd name="T3" fmla="*/ 0 h 2091"/>
                      <a:gd name="T4" fmla="*/ 0 w 1064"/>
                      <a:gd name="T5" fmla="*/ 0 h 2091"/>
                      <a:gd name="T6" fmla="*/ 1 w 1064"/>
                      <a:gd name="T7" fmla="*/ 1 h 2091"/>
                      <a:gd name="T8" fmla="*/ 1 w 1064"/>
                      <a:gd name="T9" fmla="*/ 1 h 2091"/>
                      <a:gd name="T10" fmla="*/ 1 w 1064"/>
                      <a:gd name="T11" fmla="*/ 1 h 2091"/>
                      <a:gd name="T12" fmla="*/ 1 w 1064"/>
                      <a:gd name="T13" fmla="*/ 1 h 2091"/>
                      <a:gd name="T14" fmla="*/ 1 w 1064"/>
                      <a:gd name="T15" fmla="*/ 1 h 2091"/>
                      <a:gd name="T16" fmla="*/ 1 w 1064"/>
                      <a:gd name="T17" fmla="*/ 2 h 2091"/>
                      <a:gd name="T18" fmla="*/ 1 w 1064"/>
                      <a:gd name="T19" fmla="*/ 2 h 2091"/>
                      <a:gd name="T20" fmla="*/ 1 w 1064"/>
                      <a:gd name="T21" fmla="*/ 2 h 2091"/>
                      <a:gd name="T22" fmla="*/ 1 w 1064"/>
                      <a:gd name="T23" fmla="*/ 2 h 2091"/>
                      <a:gd name="T24" fmla="*/ 1 w 1064"/>
                      <a:gd name="T25" fmla="*/ 3 h 2091"/>
                      <a:gd name="T26" fmla="*/ 1 w 1064"/>
                      <a:gd name="T27" fmla="*/ 3 h 2091"/>
                      <a:gd name="T28" fmla="*/ 1 w 1064"/>
                      <a:gd name="T29" fmla="*/ 3 h 2091"/>
                      <a:gd name="T30" fmla="*/ 1 w 1064"/>
                      <a:gd name="T31" fmla="*/ 3 h 2091"/>
                      <a:gd name="T32" fmla="*/ 1 w 1064"/>
                      <a:gd name="T33" fmla="*/ 3 h 2091"/>
                      <a:gd name="T34" fmla="*/ 1 w 1064"/>
                      <a:gd name="T35" fmla="*/ 4 h 209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64"/>
                      <a:gd name="T55" fmla="*/ 0 h 2091"/>
                      <a:gd name="T56" fmla="*/ 1064 w 1064"/>
                      <a:gd name="T57" fmla="*/ 2091 h 209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64" h="2091">
                        <a:moveTo>
                          <a:pt x="0" y="0"/>
                        </a:moveTo>
                        <a:lnTo>
                          <a:pt x="97" y="69"/>
                        </a:lnTo>
                        <a:lnTo>
                          <a:pt x="182" y="145"/>
                        </a:lnTo>
                        <a:lnTo>
                          <a:pt x="301" y="277"/>
                        </a:lnTo>
                        <a:lnTo>
                          <a:pt x="386" y="394"/>
                        </a:lnTo>
                        <a:lnTo>
                          <a:pt x="466" y="522"/>
                        </a:lnTo>
                        <a:lnTo>
                          <a:pt x="523" y="660"/>
                        </a:lnTo>
                        <a:lnTo>
                          <a:pt x="569" y="797"/>
                        </a:lnTo>
                        <a:lnTo>
                          <a:pt x="595" y="935"/>
                        </a:lnTo>
                        <a:lnTo>
                          <a:pt x="599" y="1052"/>
                        </a:lnTo>
                        <a:lnTo>
                          <a:pt x="610" y="1184"/>
                        </a:lnTo>
                        <a:lnTo>
                          <a:pt x="636" y="1317"/>
                        </a:lnTo>
                        <a:lnTo>
                          <a:pt x="681" y="1457"/>
                        </a:lnTo>
                        <a:lnTo>
                          <a:pt x="747" y="1598"/>
                        </a:lnTo>
                        <a:lnTo>
                          <a:pt x="806" y="1729"/>
                        </a:lnTo>
                        <a:lnTo>
                          <a:pt x="876" y="1844"/>
                        </a:lnTo>
                        <a:lnTo>
                          <a:pt x="965" y="1976"/>
                        </a:lnTo>
                        <a:lnTo>
                          <a:pt x="1064" y="209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5" name="Freeform 91"/>
                  <p:cNvSpPr>
                    <a:spLocks/>
                  </p:cNvSpPr>
                  <p:nvPr/>
                </p:nvSpPr>
                <p:spPr bwMode="auto">
                  <a:xfrm>
                    <a:off x="4399" y="835"/>
                    <a:ext cx="278" cy="585"/>
                  </a:xfrm>
                  <a:custGeom>
                    <a:avLst/>
                    <a:gdLst>
                      <a:gd name="T0" fmla="*/ 0 w 1064"/>
                      <a:gd name="T1" fmla="*/ 0 h 2097"/>
                      <a:gd name="T2" fmla="*/ 0 w 1064"/>
                      <a:gd name="T3" fmla="*/ 0 h 2097"/>
                      <a:gd name="T4" fmla="*/ 0 w 1064"/>
                      <a:gd name="T5" fmla="*/ 0 h 2097"/>
                      <a:gd name="T6" fmla="*/ 1 w 1064"/>
                      <a:gd name="T7" fmla="*/ 1 h 2097"/>
                      <a:gd name="T8" fmla="*/ 1 w 1064"/>
                      <a:gd name="T9" fmla="*/ 1 h 2097"/>
                      <a:gd name="T10" fmla="*/ 1 w 1064"/>
                      <a:gd name="T11" fmla="*/ 1 h 2097"/>
                      <a:gd name="T12" fmla="*/ 1 w 1064"/>
                      <a:gd name="T13" fmla="*/ 1 h 2097"/>
                      <a:gd name="T14" fmla="*/ 1 w 1064"/>
                      <a:gd name="T15" fmla="*/ 1 h 2097"/>
                      <a:gd name="T16" fmla="*/ 1 w 1064"/>
                      <a:gd name="T17" fmla="*/ 2 h 2097"/>
                      <a:gd name="T18" fmla="*/ 1 w 1064"/>
                      <a:gd name="T19" fmla="*/ 2 h 2097"/>
                      <a:gd name="T20" fmla="*/ 1 w 1064"/>
                      <a:gd name="T21" fmla="*/ 2 h 2097"/>
                      <a:gd name="T22" fmla="*/ 1 w 1064"/>
                      <a:gd name="T23" fmla="*/ 2 h 2097"/>
                      <a:gd name="T24" fmla="*/ 1 w 1064"/>
                      <a:gd name="T25" fmla="*/ 3 h 2097"/>
                      <a:gd name="T26" fmla="*/ 1 w 1064"/>
                      <a:gd name="T27" fmla="*/ 3 h 2097"/>
                      <a:gd name="T28" fmla="*/ 1 w 1064"/>
                      <a:gd name="T29" fmla="*/ 3 h 2097"/>
                      <a:gd name="T30" fmla="*/ 1 w 1064"/>
                      <a:gd name="T31" fmla="*/ 3 h 2097"/>
                      <a:gd name="T32" fmla="*/ 1 w 1064"/>
                      <a:gd name="T33" fmla="*/ 3 h 2097"/>
                      <a:gd name="T34" fmla="*/ 1 w 1064"/>
                      <a:gd name="T35" fmla="*/ 4 h 209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64"/>
                      <a:gd name="T55" fmla="*/ 0 h 2097"/>
                      <a:gd name="T56" fmla="*/ 1064 w 1064"/>
                      <a:gd name="T57" fmla="*/ 2097 h 209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64" h="2097">
                        <a:moveTo>
                          <a:pt x="0" y="0"/>
                        </a:moveTo>
                        <a:lnTo>
                          <a:pt x="139" y="90"/>
                        </a:lnTo>
                        <a:lnTo>
                          <a:pt x="240" y="183"/>
                        </a:lnTo>
                        <a:lnTo>
                          <a:pt x="361" y="311"/>
                        </a:lnTo>
                        <a:lnTo>
                          <a:pt x="444" y="420"/>
                        </a:lnTo>
                        <a:lnTo>
                          <a:pt x="529" y="554"/>
                        </a:lnTo>
                        <a:lnTo>
                          <a:pt x="588" y="686"/>
                        </a:lnTo>
                        <a:lnTo>
                          <a:pt x="634" y="822"/>
                        </a:lnTo>
                        <a:lnTo>
                          <a:pt x="660" y="959"/>
                        </a:lnTo>
                        <a:lnTo>
                          <a:pt x="664" y="1076"/>
                        </a:lnTo>
                        <a:lnTo>
                          <a:pt x="673" y="1209"/>
                        </a:lnTo>
                        <a:lnTo>
                          <a:pt x="699" y="1341"/>
                        </a:lnTo>
                        <a:lnTo>
                          <a:pt x="745" y="1482"/>
                        </a:lnTo>
                        <a:lnTo>
                          <a:pt x="784" y="1601"/>
                        </a:lnTo>
                        <a:lnTo>
                          <a:pt x="838" y="1730"/>
                        </a:lnTo>
                        <a:lnTo>
                          <a:pt x="886" y="1850"/>
                        </a:lnTo>
                        <a:lnTo>
                          <a:pt x="953" y="1958"/>
                        </a:lnTo>
                        <a:lnTo>
                          <a:pt x="1064" y="209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6" name="Freeform 92"/>
                  <p:cNvSpPr>
                    <a:spLocks/>
                  </p:cNvSpPr>
                  <p:nvPr/>
                </p:nvSpPr>
                <p:spPr bwMode="auto">
                  <a:xfrm>
                    <a:off x="4059" y="844"/>
                    <a:ext cx="219" cy="582"/>
                  </a:xfrm>
                  <a:custGeom>
                    <a:avLst/>
                    <a:gdLst>
                      <a:gd name="T0" fmla="*/ 1 w 836"/>
                      <a:gd name="T1" fmla="*/ 0 h 2087"/>
                      <a:gd name="T2" fmla="*/ 1 w 836"/>
                      <a:gd name="T3" fmla="*/ 0 h 2087"/>
                      <a:gd name="T4" fmla="*/ 1 w 836"/>
                      <a:gd name="T5" fmla="*/ 0 h 2087"/>
                      <a:gd name="T6" fmla="*/ 1 w 836"/>
                      <a:gd name="T7" fmla="*/ 1 h 2087"/>
                      <a:gd name="T8" fmla="*/ 1 w 836"/>
                      <a:gd name="T9" fmla="*/ 1 h 2087"/>
                      <a:gd name="T10" fmla="*/ 1 w 836"/>
                      <a:gd name="T11" fmla="*/ 1 h 2087"/>
                      <a:gd name="T12" fmla="*/ 1 w 836"/>
                      <a:gd name="T13" fmla="*/ 1 h 2087"/>
                      <a:gd name="T14" fmla="*/ 1 w 836"/>
                      <a:gd name="T15" fmla="*/ 2 h 2087"/>
                      <a:gd name="T16" fmla="*/ 1 w 836"/>
                      <a:gd name="T17" fmla="*/ 2 h 2087"/>
                      <a:gd name="T18" fmla="*/ 0 w 836"/>
                      <a:gd name="T19" fmla="*/ 2 h 2087"/>
                      <a:gd name="T20" fmla="*/ 0 w 836"/>
                      <a:gd name="T21" fmla="*/ 2 h 2087"/>
                      <a:gd name="T22" fmla="*/ 0 w 836"/>
                      <a:gd name="T23" fmla="*/ 3 h 2087"/>
                      <a:gd name="T24" fmla="*/ 0 w 836"/>
                      <a:gd name="T25" fmla="*/ 3 h 2087"/>
                      <a:gd name="T26" fmla="*/ 0 w 836"/>
                      <a:gd name="T27" fmla="*/ 3 h 2087"/>
                      <a:gd name="T28" fmla="*/ 0 w 836"/>
                      <a:gd name="T29" fmla="*/ 3 h 2087"/>
                      <a:gd name="T30" fmla="*/ 0 w 836"/>
                      <a:gd name="T31" fmla="*/ 3 h 2087"/>
                      <a:gd name="T32" fmla="*/ 0 w 836"/>
                      <a:gd name="T33" fmla="*/ 3 h 2087"/>
                      <a:gd name="T34" fmla="*/ 0 w 836"/>
                      <a:gd name="T35" fmla="*/ 4 h 208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836"/>
                      <a:gd name="T55" fmla="*/ 0 h 2087"/>
                      <a:gd name="T56" fmla="*/ 836 w 836"/>
                      <a:gd name="T57" fmla="*/ 2087 h 208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836" h="2087">
                        <a:moveTo>
                          <a:pt x="836" y="0"/>
                        </a:moveTo>
                        <a:lnTo>
                          <a:pt x="743" y="103"/>
                        </a:lnTo>
                        <a:lnTo>
                          <a:pt x="640" y="239"/>
                        </a:lnTo>
                        <a:lnTo>
                          <a:pt x="565" y="357"/>
                        </a:lnTo>
                        <a:lnTo>
                          <a:pt x="489" y="495"/>
                        </a:lnTo>
                        <a:lnTo>
                          <a:pt x="432" y="618"/>
                        </a:lnTo>
                        <a:lnTo>
                          <a:pt x="364" y="759"/>
                        </a:lnTo>
                        <a:lnTo>
                          <a:pt x="325" y="896"/>
                        </a:lnTo>
                        <a:lnTo>
                          <a:pt x="311" y="1015"/>
                        </a:lnTo>
                        <a:lnTo>
                          <a:pt x="289" y="1151"/>
                        </a:lnTo>
                        <a:lnTo>
                          <a:pt x="271" y="1288"/>
                        </a:lnTo>
                        <a:lnTo>
                          <a:pt x="235" y="1429"/>
                        </a:lnTo>
                        <a:lnTo>
                          <a:pt x="205" y="1561"/>
                        </a:lnTo>
                        <a:lnTo>
                          <a:pt x="170" y="1699"/>
                        </a:lnTo>
                        <a:lnTo>
                          <a:pt x="138" y="1819"/>
                        </a:lnTo>
                        <a:lnTo>
                          <a:pt x="94" y="1915"/>
                        </a:lnTo>
                        <a:lnTo>
                          <a:pt x="49" y="1995"/>
                        </a:lnTo>
                        <a:lnTo>
                          <a:pt x="0" y="208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7" name="Freeform 93"/>
                  <p:cNvSpPr>
                    <a:spLocks/>
                  </p:cNvSpPr>
                  <p:nvPr/>
                </p:nvSpPr>
                <p:spPr bwMode="auto">
                  <a:xfrm>
                    <a:off x="4173" y="837"/>
                    <a:ext cx="126" cy="339"/>
                  </a:xfrm>
                  <a:custGeom>
                    <a:avLst/>
                    <a:gdLst>
                      <a:gd name="T0" fmla="*/ 1 w 480"/>
                      <a:gd name="T1" fmla="*/ 0 h 1214"/>
                      <a:gd name="T2" fmla="*/ 1 w 480"/>
                      <a:gd name="T3" fmla="*/ 0 h 1214"/>
                      <a:gd name="T4" fmla="*/ 0 w 480"/>
                      <a:gd name="T5" fmla="*/ 1 h 1214"/>
                      <a:gd name="T6" fmla="*/ 0 w 480"/>
                      <a:gd name="T7" fmla="*/ 1 h 1214"/>
                      <a:gd name="T8" fmla="*/ 0 w 480"/>
                      <a:gd name="T9" fmla="*/ 1 h 1214"/>
                      <a:gd name="T10" fmla="*/ 0 w 480"/>
                      <a:gd name="T11" fmla="*/ 1 h 1214"/>
                      <a:gd name="T12" fmla="*/ 0 w 480"/>
                      <a:gd name="T13" fmla="*/ 1 h 1214"/>
                      <a:gd name="T14" fmla="*/ 0 w 480"/>
                      <a:gd name="T15" fmla="*/ 2 h 1214"/>
                      <a:gd name="T16" fmla="*/ 0 w 480"/>
                      <a:gd name="T17" fmla="*/ 2 h 1214"/>
                      <a:gd name="T18" fmla="*/ 0 w 480"/>
                      <a:gd name="T19" fmla="*/ 2 h 121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480"/>
                      <a:gd name="T31" fmla="*/ 0 h 1214"/>
                      <a:gd name="T32" fmla="*/ 480 w 480"/>
                      <a:gd name="T33" fmla="*/ 1214 h 121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480" h="1214">
                        <a:moveTo>
                          <a:pt x="480" y="0"/>
                        </a:moveTo>
                        <a:lnTo>
                          <a:pt x="356" y="156"/>
                        </a:lnTo>
                        <a:lnTo>
                          <a:pt x="276" y="273"/>
                        </a:lnTo>
                        <a:lnTo>
                          <a:pt x="222" y="382"/>
                        </a:lnTo>
                        <a:lnTo>
                          <a:pt x="156" y="514"/>
                        </a:lnTo>
                        <a:lnTo>
                          <a:pt x="97" y="657"/>
                        </a:lnTo>
                        <a:lnTo>
                          <a:pt x="49" y="789"/>
                        </a:lnTo>
                        <a:lnTo>
                          <a:pt x="14" y="927"/>
                        </a:lnTo>
                        <a:lnTo>
                          <a:pt x="4" y="1030"/>
                        </a:lnTo>
                        <a:lnTo>
                          <a:pt x="0" y="121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8" name="Freeform 94"/>
                  <p:cNvSpPr>
                    <a:spLocks/>
                  </p:cNvSpPr>
                  <p:nvPr/>
                </p:nvSpPr>
                <p:spPr bwMode="auto">
                  <a:xfrm>
                    <a:off x="4208" y="836"/>
                    <a:ext cx="102" cy="587"/>
                  </a:xfrm>
                  <a:custGeom>
                    <a:avLst/>
                    <a:gdLst>
                      <a:gd name="T0" fmla="*/ 1 w 392"/>
                      <a:gd name="T1" fmla="*/ 0 h 2102"/>
                      <a:gd name="T2" fmla="*/ 1 w 392"/>
                      <a:gd name="T3" fmla="*/ 0 h 2102"/>
                      <a:gd name="T4" fmla="*/ 0 w 392"/>
                      <a:gd name="T5" fmla="*/ 0 h 2102"/>
                      <a:gd name="T6" fmla="*/ 0 w 392"/>
                      <a:gd name="T7" fmla="*/ 1 h 2102"/>
                      <a:gd name="T8" fmla="*/ 0 w 392"/>
                      <a:gd name="T9" fmla="*/ 1 h 2102"/>
                      <a:gd name="T10" fmla="*/ 0 w 392"/>
                      <a:gd name="T11" fmla="*/ 1 h 2102"/>
                      <a:gd name="T12" fmla="*/ 0 w 392"/>
                      <a:gd name="T13" fmla="*/ 1 h 2102"/>
                      <a:gd name="T14" fmla="*/ 0 w 392"/>
                      <a:gd name="T15" fmla="*/ 1 h 2102"/>
                      <a:gd name="T16" fmla="*/ 0 w 392"/>
                      <a:gd name="T17" fmla="*/ 2 h 2102"/>
                      <a:gd name="T18" fmla="*/ 0 w 392"/>
                      <a:gd name="T19" fmla="*/ 2 h 2102"/>
                      <a:gd name="T20" fmla="*/ 0 w 392"/>
                      <a:gd name="T21" fmla="*/ 2 h 2102"/>
                      <a:gd name="T22" fmla="*/ 0 w 392"/>
                      <a:gd name="T23" fmla="*/ 2 h 2102"/>
                      <a:gd name="T24" fmla="*/ 0 w 392"/>
                      <a:gd name="T25" fmla="*/ 3 h 2102"/>
                      <a:gd name="T26" fmla="*/ 0 w 392"/>
                      <a:gd name="T27" fmla="*/ 3 h 2102"/>
                      <a:gd name="T28" fmla="*/ 0 w 392"/>
                      <a:gd name="T29" fmla="*/ 3 h 2102"/>
                      <a:gd name="T30" fmla="*/ 0 w 392"/>
                      <a:gd name="T31" fmla="*/ 3 h 2102"/>
                      <a:gd name="T32" fmla="*/ 0 w 392"/>
                      <a:gd name="T33" fmla="*/ 3 h 2102"/>
                      <a:gd name="T34" fmla="*/ 0 w 392"/>
                      <a:gd name="T35" fmla="*/ 4 h 210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92"/>
                      <a:gd name="T55" fmla="*/ 0 h 2102"/>
                      <a:gd name="T56" fmla="*/ 392 w 392"/>
                      <a:gd name="T57" fmla="*/ 2102 h 210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92" h="2102">
                        <a:moveTo>
                          <a:pt x="392" y="0"/>
                        </a:moveTo>
                        <a:lnTo>
                          <a:pt x="351" y="57"/>
                        </a:lnTo>
                        <a:lnTo>
                          <a:pt x="285" y="156"/>
                        </a:lnTo>
                        <a:lnTo>
                          <a:pt x="218" y="269"/>
                        </a:lnTo>
                        <a:lnTo>
                          <a:pt x="160" y="391"/>
                        </a:lnTo>
                        <a:lnTo>
                          <a:pt x="111" y="525"/>
                        </a:lnTo>
                        <a:lnTo>
                          <a:pt x="67" y="662"/>
                        </a:lnTo>
                        <a:lnTo>
                          <a:pt x="27" y="789"/>
                        </a:lnTo>
                        <a:lnTo>
                          <a:pt x="9" y="912"/>
                        </a:lnTo>
                        <a:lnTo>
                          <a:pt x="0" y="1049"/>
                        </a:lnTo>
                        <a:lnTo>
                          <a:pt x="5" y="1181"/>
                        </a:lnTo>
                        <a:lnTo>
                          <a:pt x="17" y="1307"/>
                        </a:lnTo>
                        <a:lnTo>
                          <a:pt x="49" y="1458"/>
                        </a:lnTo>
                        <a:lnTo>
                          <a:pt x="80" y="1590"/>
                        </a:lnTo>
                        <a:lnTo>
                          <a:pt x="111" y="1740"/>
                        </a:lnTo>
                        <a:lnTo>
                          <a:pt x="160" y="1859"/>
                        </a:lnTo>
                        <a:lnTo>
                          <a:pt x="196" y="1953"/>
                        </a:lnTo>
                        <a:lnTo>
                          <a:pt x="267" y="210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9" name="Freeform 95"/>
                  <p:cNvSpPr>
                    <a:spLocks/>
                  </p:cNvSpPr>
                  <p:nvPr/>
                </p:nvSpPr>
                <p:spPr bwMode="auto">
                  <a:xfrm>
                    <a:off x="4240" y="836"/>
                    <a:ext cx="82" cy="587"/>
                  </a:xfrm>
                  <a:custGeom>
                    <a:avLst/>
                    <a:gdLst>
                      <a:gd name="T0" fmla="*/ 1 w 311"/>
                      <a:gd name="T1" fmla="*/ 0 h 2102"/>
                      <a:gd name="T2" fmla="*/ 0 w 311"/>
                      <a:gd name="T3" fmla="*/ 0 h 2102"/>
                      <a:gd name="T4" fmla="*/ 0 w 311"/>
                      <a:gd name="T5" fmla="*/ 0 h 2102"/>
                      <a:gd name="T6" fmla="*/ 0 w 311"/>
                      <a:gd name="T7" fmla="*/ 1 h 2102"/>
                      <a:gd name="T8" fmla="*/ 0 w 311"/>
                      <a:gd name="T9" fmla="*/ 1 h 2102"/>
                      <a:gd name="T10" fmla="*/ 0 w 311"/>
                      <a:gd name="T11" fmla="*/ 1 h 2102"/>
                      <a:gd name="T12" fmla="*/ 0 w 311"/>
                      <a:gd name="T13" fmla="*/ 1 h 2102"/>
                      <a:gd name="T14" fmla="*/ 0 w 311"/>
                      <a:gd name="T15" fmla="*/ 1 h 2102"/>
                      <a:gd name="T16" fmla="*/ 0 w 311"/>
                      <a:gd name="T17" fmla="*/ 2 h 2102"/>
                      <a:gd name="T18" fmla="*/ 0 w 311"/>
                      <a:gd name="T19" fmla="*/ 2 h 2102"/>
                      <a:gd name="T20" fmla="*/ 0 w 311"/>
                      <a:gd name="T21" fmla="*/ 2 h 2102"/>
                      <a:gd name="T22" fmla="*/ 0 w 311"/>
                      <a:gd name="T23" fmla="*/ 2 h 2102"/>
                      <a:gd name="T24" fmla="*/ 0 w 311"/>
                      <a:gd name="T25" fmla="*/ 3 h 2102"/>
                      <a:gd name="T26" fmla="*/ 0 w 311"/>
                      <a:gd name="T27" fmla="*/ 3 h 2102"/>
                      <a:gd name="T28" fmla="*/ 0 w 311"/>
                      <a:gd name="T29" fmla="*/ 3 h 2102"/>
                      <a:gd name="T30" fmla="*/ 0 w 311"/>
                      <a:gd name="T31" fmla="*/ 3 h 2102"/>
                      <a:gd name="T32" fmla="*/ 0 w 311"/>
                      <a:gd name="T33" fmla="*/ 3 h 2102"/>
                      <a:gd name="T34" fmla="*/ 0 w 311"/>
                      <a:gd name="T35" fmla="*/ 4 h 210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1"/>
                      <a:gd name="T55" fmla="*/ 0 h 2102"/>
                      <a:gd name="T56" fmla="*/ 311 w 311"/>
                      <a:gd name="T57" fmla="*/ 2102 h 210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1" h="2102">
                        <a:moveTo>
                          <a:pt x="311" y="0"/>
                        </a:moveTo>
                        <a:lnTo>
                          <a:pt x="275" y="57"/>
                        </a:lnTo>
                        <a:lnTo>
                          <a:pt x="222" y="156"/>
                        </a:lnTo>
                        <a:lnTo>
                          <a:pt x="156" y="283"/>
                        </a:lnTo>
                        <a:lnTo>
                          <a:pt x="120" y="397"/>
                        </a:lnTo>
                        <a:lnTo>
                          <a:pt x="85" y="530"/>
                        </a:lnTo>
                        <a:lnTo>
                          <a:pt x="49" y="648"/>
                        </a:lnTo>
                        <a:lnTo>
                          <a:pt x="27" y="776"/>
                        </a:lnTo>
                        <a:lnTo>
                          <a:pt x="9" y="906"/>
                        </a:lnTo>
                        <a:lnTo>
                          <a:pt x="0" y="1049"/>
                        </a:lnTo>
                        <a:lnTo>
                          <a:pt x="0" y="1171"/>
                        </a:lnTo>
                        <a:lnTo>
                          <a:pt x="13" y="1313"/>
                        </a:lnTo>
                        <a:lnTo>
                          <a:pt x="35" y="1458"/>
                        </a:lnTo>
                        <a:lnTo>
                          <a:pt x="57" y="1590"/>
                        </a:lnTo>
                        <a:lnTo>
                          <a:pt x="71" y="1730"/>
                        </a:lnTo>
                        <a:lnTo>
                          <a:pt x="103" y="1846"/>
                        </a:lnTo>
                        <a:lnTo>
                          <a:pt x="133" y="1953"/>
                        </a:lnTo>
                        <a:lnTo>
                          <a:pt x="174" y="210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0" name="Freeform 96"/>
                  <p:cNvSpPr>
                    <a:spLocks/>
                  </p:cNvSpPr>
                  <p:nvPr/>
                </p:nvSpPr>
                <p:spPr bwMode="auto">
                  <a:xfrm>
                    <a:off x="4274" y="837"/>
                    <a:ext cx="53" cy="586"/>
                  </a:xfrm>
                  <a:custGeom>
                    <a:avLst/>
                    <a:gdLst>
                      <a:gd name="T0" fmla="*/ 0 w 204"/>
                      <a:gd name="T1" fmla="*/ 0 h 2097"/>
                      <a:gd name="T2" fmla="*/ 0 w 204"/>
                      <a:gd name="T3" fmla="*/ 0 h 2097"/>
                      <a:gd name="T4" fmla="*/ 0 w 204"/>
                      <a:gd name="T5" fmla="*/ 0 h 2097"/>
                      <a:gd name="T6" fmla="*/ 0 w 204"/>
                      <a:gd name="T7" fmla="*/ 1 h 2097"/>
                      <a:gd name="T8" fmla="*/ 0 w 204"/>
                      <a:gd name="T9" fmla="*/ 1 h 2097"/>
                      <a:gd name="T10" fmla="*/ 0 w 204"/>
                      <a:gd name="T11" fmla="*/ 1 h 2097"/>
                      <a:gd name="T12" fmla="*/ 0 w 204"/>
                      <a:gd name="T13" fmla="*/ 1 h 2097"/>
                      <a:gd name="T14" fmla="*/ 0 w 204"/>
                      <a:gd name="T15" fmla="*/ 1 h 2097"/>
                      <a:gd name="T16" fmla="*/ 0 w 204"/>
                      <a:gd name="T17" fmla="*/ 2 h 2097"/>
                      <a:gd name="T18" fmla="*/ 0 w 204"/>
                      <a:gd name="T19" fmla="*/ 2 h 2097"/>
                      <a:gd name="T20" fmla="*/ 0 w 204"/>
                      <a:gd name="T21" fmla="*/ 2 h 2097"/>
                      <a:gd name="T22" fmla="*/ 0 w 204"/>
                      <a:gd name="T23" fmla="*/ 2 h 2097"/>
                      <a:gd name="T24" fmla="*/ 0 w 204"/>
                      <a:gd name="T25" fmla="*/ 3 h 2097"/>
                      <a:gd name="T26" fmla="*/ 0 w 204"/>
                      <a:gd name="T27" fmla="*/ 3 h 2097"/>
                      <a:gd name="T28" fmla="*/ 0 w 204"/>
                      <a:gd name="T29" fmla="*/ 3 h 2097"/>
                      <a:gd name="T30" fmla="*/ 0 w 204"/>
                      <a:gd name="T31" fmla="*/ 3 h 2097"/>
                      <a:gd name="T32" fmla="*/ 0 w 204"/>
                      <a:gd name="T33" fmla="*/ 3 h 2097"/>
                      <a:gd name="T34" fmla="*/ 0 w 204"/>
                      <a:gd name="T35" fmla="*/ 4 h 209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04"/>
                      <a:gd name="T55" fmla="*/ 0 h 2097"/>
                      <a:gd name="T56" fmla="*/ 204 w 204"/>
                      <a:gd name="T57" fmla="*/ 2097 h 209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04" h="2097">
                        <a:moveTo>
                          <a:pt x="204" y="0"/>
                        </a:moveTo>
                        <a:lnTo>
                          <a:pt x="174" y="57"/>
                        </a:lnTo>
                        <a:lnTo>
                          <a:pt x="138" y="161"/>
                        </a:lnTo>
                        <a:lnTo>
                          <a:pt x="102" y="275"/>
                        </a:lnTo>
                        <a:lnTo>
                          <a:pt x="81" y="382"/>
                        </a:lnTo>
                        <a:lnTo>
                          <a:pt x="57" y="526"/>
                        </a:lnTo>
                        <a:lnTo>
                          <a:pt x="39" y="667"/>
                        </a:lnTo>
                        <a:lnTo>
                          <a:pt x="27" y="771"/>
                        </a:lnTo>
                        <a:lnTo>
                          <a:pt x="13" y="903"/>
                        </a:lnTo>
                        <a:lnTo>
                          <a:pt x="0" y="1044"/>
                        </a:lnTo>
                        <a:lnTo>
                          <a:pt x="0" y="1181"/>
                        </a:lnTo>
                        <a:lnTo>
                          <a:pt x="0" y="1304"/>
                        </a:lnTo>
                        <a:lnTo>
                          <a:pt x="9" y="1435"/>
                        </a:lnTo>
                        <a:lnTo>
                          <a:pt x="17" y="1581"/>
                        </a:lnTo>
                        <a:lnTo>
                          <a:pt x="31" y="1712"/>
                        </a:lnTo>
                        <a:lnTo>
                          <a:pt x="53" y="1850"/>
                        </a:lnTo>
                        <a:lnTo>
                          <a:pt x="63" y="1949"/>
                        </a:lnTo>
                        <a:lnTo>
                          <a:pt x="75" y="209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1" name="Freeform 97"/>
                  <p:cNvSpPr>
                    <a:spLocks/>
                  </p:cNvSpPr>
                  <p:nvPr/>
                </p:nvSpPr>
                <p:spPr bwMode="auto">
                  <a:xfrm>
                    <a:off x="4302" y="837"/>
                    <a:ext cx="32" cy="589"/>
                  </a:xfrm>
                  <a:custGeom>
                    <a:avLst/>
                    <a:gdLst>
                      <a:gd name="T0" fmla="*/ 0 w 120"/>
                      <a:gd name="T1" fmla="*/ 0 h 2111"/>
                      <a:gd name="T2" fmla="*/ 0 w 120"/>
                      <a:gd name="T3" fmla="*/ 0 h 2111"/>
                      <a:gd name="T4" fmla="*/ 0 w 120"/>
                      <a:gd name="T5" fmla="*/ 0 h 2111"/>
                      <a:gd name="T6" fmla="*/ 0 w 120"/>
                      <a:gd name="T7" fmla="*/ 1 h 2111"/>
                      <a:gd name="T8" fmla="*/ 0 w 120"/>
                      <a:gd name="T9" fmla="*/ 1 h 2111"/>
                      <a:gd name="T10" fmla="*/ 0 w 120"/>
                      <a:gd name="T11" fmla="*/ 1 h 2111"/>
                      <a:gd name="T12" fmla="*/ 0 w 120"/>
                      <a:gd name="T13" fmla="*/ 1 h 2111"/>
                      <a:gd name="T14" fmla="*/ 0 w 120"/>
                      <a:gd name="T15" fmla="*/ 1 h 2111"/>
                      <a:gd name="T16" fmla="*/ 0 w 120"/>
                      <a:gd name="T17" fmla="*/ 1 h 2111"/>
                      <a:gd name="T18" fmla="*/ 0 w 120"/>
                      <a:gd name="T19" fmla="*/ 2 h 2111"/>
                      <a:gd name="T20" fmla="*/ 0 w 120"/>
                      <a:gd name="T21" fmla="*/ 2 h 2111"/>
                      <a:gd name="T22" fmla="*/ 0 w 120"/>
                      <a:gd name="T23" fmla="*/ 2 h 2111"/>
                      <a:gd name="T24" fmla="*/ 0 w 120"/>
                      <a:gd name="T25" fmla="*/ 3 h 2111"/>
                      <a:gd name="T26" fmla="*/ 0 w 120"/>
                      <a:gd name="T27" fmla="*/ 3 h 2111"/>
                      <a:gd name="T28" fmla="*/ 0 w 120"/>
                      <a:gd name="T29" fmla="*/ 3 h 2111"/>
                      <a:gd name="T30" fmla="*/ 0 w 120"/>
                      <a:gd name="T31" fmla="*/ 3 h 2111"/>
                      <a:gd name="T32" fmla="*/ 0 w 120"/>
                      <a:gd name="T33" fmla="*/ 3 h 2111"/>
                      <a:gd name="T34" fmla="*/ 0 w 120"/>
                      <a:gd name="T35" fmla="*/ 4 h 211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20"/>
                      <a:gd name="T55" fmla="*/ 0 h 2111"/>
                      <a:gd name="T56" fmla="*/ 120 w 120"/>
                      <a:gd name="T57" fmla="*/ 2111 h 211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20" h="2111">
                        <a:moveTo>
                          <a:pt x="120" y="0"/>
                        </a:moveTo>
                        <a:lnTo>
                          <a:pt x="98" y="66"/>
                        </a:lnTo>
                        <a:lnTo>
                          <a:pt x="71" y="165"/>
                        </a:lnTo>
                        <a:lnTo>
                          <a:pt x="53" y="278"/>
                        </a:lnTo>
                        <a:lnTo>
                          <a:pt x="45" y="382"/>
                        </a:lnTo>
                        <a:lnTo>
                          <a:pt x="45" y="509"/>
                        </a:lnTo>
                        <a:lnTo>
                          <a:pt x="35" y="639"/>
                        </a:lnTo>
                        <a:lnTo>
                          <a:pt x="35" y="771"/>
                        </a:lnTo>
                        <a:lnTo>
                          <a:pt x="31" y="893"/>
                        </a:lnTo>
                        <a:lnTo>
                          <a:pt x="27" y="1029"/>
                        </a:lnTo>
                        <a:lnTo>
                          <a:pt x="23" y="1176"/>
                        </a:lnTo>
                        <a:lnTo>
                          <a:pt x="13" y="1308"/>
                        </a:lnTo>
                        <a:lnTo>
                          <a:pt x="13" y="1445"/>
                        </a:lnTo>
                        <a:lnTo>
                          <a:pt x="13" y="1585"/>
                        </a:lnTo>
                        <a:lnTo>
                          <a:pt x="9" y="1720"/>
                        </a:lnTo>
                        <a:lnTo>
                          <a:pt x="13" y="1841"/>
                        </a:lnTo>
                        <a:lnTo>
                          <a:pt x="9" y="1959"/>
                        </a:lnTo>
                        <a:lnTo>
                          <a:pt x="0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2" name="Freeform 98"/>
                  <p:cNvSpPr>
                    <a:spLocks/>
                  </p:cNvSpPr>
                  <p:nvPr/>
                </p:nvSpPr>
                <p:spPr bwMode="auto">
                  <a:xfrm>
                    <a:off x="3910" y="837"/>
                    <a:ext cx="100" cy="584"/>
                  </a:xfrm>
                  <a:custGeom>
                    <a:avLst/>
                    <a:gdLst>
                      <a:gd name="T0" fmla="*/ 0 w 383"/>
                      <a:gd name="T1" fmla="*/ 0 h 2088"/>
                      <a:gd name="T2" fmla="*/ 0 w 383"/>
                      <a:gd name="T3" fmla="*/ 0 h 2088"/>
                      <a:gd name="T4" fmla="*/ 0 w 383"/>
                      <a:gd name="T5" fmla="*/ 0 h 2088"/>
                      <a:gd name="T6" fmla="*/ 0 w 383"/>
                      <a:gd name="T7" fmla="*/ 1 h 2088"/>
                      <a:gd name="T8" fmla="*/ 0 w 383"/>
                      <a:gd name="T9" fmla="*/ 1 h 2088"/>
                      <a:gd name="T10" fmla="*/ 0 w 383"/>
                      <a:gd name="T11" fmla="*/ 1 h 2088"/>
                      <a:gd name="T12" fmla="*/ 0 w 383"/>
                      <a:gd name="T13" fmla="*/ 1 h 2088"/>
                      <a:gd name="T14" fmla="*/ 0 w 383"/>
                      <a:gd name="T15" fmla="*/ 2 h 2088"/>
                      <a:gd name="T16" fmla="*/ 0 w 383"/>
                      <a:gd name="T17" fmla="*/ 2 h 2088"/>
                      <a:gd name="T18" fmla="*/ 0 w 383"/>
                      <a:gd name="T19" fmla="*/ 2 h 2088"/>
                      <a:gd name="T20" fmla="*/ 0 w 383"/>
                      <a:gd name="T21" fmla="*/ 2 h 2088"/>
                      <a:gd name="T22" fmla="*/ 0 w 383"/>
                      <a:gd name="T23" fmla="*/ 3 h 2088"/>
                      <a:gd name="T24" fmla="*/ 0 w 383"/>
                      <a:gd name="T25" fmla="*/ 3 h 2088"/>
                      <a:gd name="T26" fmla="*/ 0 w 383"/>
                      <a:gd name="T27" fmla="*/ 3 h 2088"/>
                      <a:gd name="T28" fmla="*/ 0 w 383"/>
                      <a:gd name="T29" fmla="*/ 3 h 2088"/>
                      <a:gd name="T30" fmla="*/ 0 w 383"/>
                      <a:gd name="T31" fmla="*/ 3 h 2088"/>
                      <a:gd name="T32" fmla="*/ 1 w 383"/>
                      <a:gd name="T33" fmla="*/ 4 h 2088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383"/>
                      <a:gd name="T52" fmla="*/ 0 h 2088"/>
                      <a:gd name="T53" fmla="*/ 383 w 383"/>
                      <a:gd name="T54" fmla="*/ 2088 h 2088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383" h="2088">
                        <a:moveTo>
                          <a:pt x="0" y="0"/>
                        </a:moveTo>
                        <a:lnTo>
                          <a:pt x="14" y="52"/>
                        </a:lnTo>
                        <a:lnTo>
                          <a:pt x="32" y="161"/>
                        </a:lnTo>
                        <a:lnTo>
                          <a:pt x="45" y="274"/>
                        </a:lnTo>
                        <a:lnTo>
                          <a:pt x="71" y="425"/>
                        </a:lnTo>
                        <a:lnTo>
                          <a:pt x="85" y="643"/>
                        </a:lnTo>
                        <a:lnTo>
                          <a:pt x="95" y="775"/>
                        </a:lnTo>
                        <a:lnTo>
                          <a:pt x="100" y="903"/>
                        </a:lnTo>
                        <a:lnTo>
                          <a:pt x="104" y="1029"/>
                        </a:lnTo>
                        <a:lnTo>
                          <a:pt x="113" y="1166"/>
                        </a:lnTo>
                        <a:lnTo>
                          <a:pt x="128" y="1299"/>
                        </a:lnTo>
                        <a:lnTo>
                          <a:pt x="150" y="1437"/>
                        </a:lnTo>
                        <a:lnTo>
                          <a:pt x="185" y="1582"/>
                        </a:lnTo>
                        <a:lnTo>
                          <a:pt x="217" y="1726"/>
                        </a:lnTo>
                        <a:lnTo>
                          <a:pt x="252" y="1839"/>
                        </a:lnTo>
                        <a:lnTo>
                          <a:pt x="303" y="1947"/>
                        </a:lnTo>
                        <a:lnTo>
                          <a:pt x="383" y="2088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3" name="Freeform 99"/>
                  <p:cNvSpPr>
                    <a:spLocks/>
                  </p:cNvSpPr>
                  <p:nvPr/>
                </p:nvSpPr>
                <p:spPr bwMode="auto">
                  <a:xfrm>
                    <a:off x="3914" y="839"/>
                    <a:ext cx="111" cy="589"/>
                  </a:xfrm>
                  <a:custGeom>
                    <a:avLst/>
                    <a:gdLst>
                      <a:gd name="T0" fmla="*/ 0 w 423"/>
                      <a:gd name="T1" fmla="*/ 0 h 2111"/>
                      <a:gd name="T2" fmla="*/ 0 w 423"/>
                      <a:gd name="T3" fmla="*/ 0 h 2111"/>
                      <a:gd name="T4" fmla="*/ 0 w 423"/>
                      <a:gd name="T5" fmla="*/ 0 h 2111"/>
                      <a:gd name="T6" fmla="*/ 0 w 423"/>
                      <a:gd name="T7" fmla="*/ 1 h 2111"/>
                      <a:gd name="T8" fmla="*/ 0 w 423"/>
                      <a:gd name="T9" fmla="*/ 1 h 2111"/>
                      <a:gd name="T10" fmla="*/ 0 w 423"/>
                      <a:gd name="T11" fmla="*/ 1 h 2111"/>
                      <a:gd name="T12" fmla="*/ 0 w 423"/>
                      <a:gd name="T13" fmla="*/ 1 h 2111"/>
                      <a:gd name="T14" fmla="*/ 0 w 423"/>
                      <a:gd name="T15" fmla="*/ 2 h 2111"/>
                      <a:gd name="T16" fmla="*/ 0 w 423"/>
                      <a:gd name="T17" fmla="*/ 2 h 2111"/>
                      <a:gd name="T18" fmla="*/ 0 w 423"/>
                      <a:gd name="T19" fmla="*/ 2 h 2111"/>
                      <a:gd name="T20" fmla="*/ 0 w 423"/>
                      <a:gd name="T21" fmla="*/ 2 h 2111"/>
                      <a:gd name="T22" fmla="*/ 0 w 423"/>
                      <a:gd name="T23" fmla="*/ 3 h 2111"/>
                      <a:gd name="T24" fmla="*/ 0 w 423"/>
                      <a:gd name="T25" fmla="*/ 3 h 2111"/>
                      <a:gd name="T26" fmla="*/ 0 w 423"/>
                      <a:gd name="T27" fmla="*/ 3 h 2111"/>
                      <a:gd name="T28" fmla="*/ 1 w 423"/>
                      <a:gd name="T29" fmla="*/ 3 h 2111"/>
                      <a:gd name="T30" fmla="*/ 1 w 423"/>
                      <a:gd name="T31" fmla="*/ 3 h 2111"/>
                      <a:gd name="T32" fmla="*/ 1 w 423"/>
                      <a:gd name="T33" fmla="*/ 4 h 2111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423"/>
                      <a:gd name="T52" fmla="*/ 0 h 2111"/>
                      <a:gd name="T53" fmla="*/ 423 w 423"/>
                      <a:gd name="T54" fmla="*/ 2111 h 2111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423" h="2111">
                        <a:moveTo>
                          <a:pt x="0" y="0"/>
                        </a:moveTo>
                        <a:lnTo>
                          <a:pt x="45" y="76"/>
                        </a:lnTo>
                        <a:lnTo>
                          <a:pt x="82" y="147"/>
                        </a:lnTo>
                        <a:lnTo>
                          <a:pt x="117" y="260"/>
                        </a:lnTo>
                        <a:lnTo>
                          <a:pt x="175" y="510"/>
                        </a:lnTo>
                        <a:lnTo>
                          <a:pt x="187" y="635"/>
                        </a:lnTo>
                        <a:lnTo>
                          <a:pt x="201" y="771"/>
                        </a:lnTo>
                        <a:lnTo>
                          <a:pt x="215" y="912"/>
                        </a:lnTo>
                        <a:lnTo>
                          <a:pt x="223" y="1044"/>
                        </a:lnTo>
                        <a:lnTo>
                          <a:pt x="223" y="1162"/>
                        </a:lnTo>
                        <a:lnTo>
                          <a:pt x="237" y="1301"/>
                        </a:lnTo>
                        <a:lnTo>
                          <a:pt x="251" y="1446"/>
                        </a:lnTo>
                        <a:lnTo>
                          <a:pt x="272" y="1583"/>
                        </a:lnTo>
                        <a:lnTo>
                          <a:pt x="290" y="1708"/>
                        </a:lnTo>
                        <a:lnTo>
                          <a:pt x="316" y="1844"/>
                        </a:lnTo>
                        <a:lnTo>
                          <a:pt x="352" y="1943"/>
                        </a:lnTo>
                        <a:lnTo>
                          <a:pt x="423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4" name="Freeform 100"/>
                  <p:cNvSpPr>
                    <a:spLocks/>
                  </p:cNvSpPr>
                  <p:nvPr/>
                </p:nvSpPr>
                <p:spPr bwMode="auto">
                  <a:xfrm>
                    <a:off x="3924" y="840"/>
                    <a:ext cx="110" cy="586"/>
                  </a:xfrm>
                  <a:custGeom>
                    <a:avLst/>
                    <a:gdLst>
                      <a:gd name="T0" fmla="*/ 0 w 419"/>
                      <a:gd name="T1" fmla="*/ 0 h 2101"/>
                      <a:gd name="T2" fmla="*/ 0 w 419"/>
                      <a:gd name="T3" fmla="*/ 0 h 2101"/>
                      <a:gd name="T4" fmla="*/ 0 w 419"/>
                      <a:gd name="T5" fmla="*/ 0 h 2101"/>
                      <a:gd name="T6" fmla="*/ 0 w 419"/>
                      <a:gd name="T7" fmla="*/ 1 h 2101"/>
                      <a:gd name="T8" fmla="*/ 0 w 419"/>
                      <a:gd name="T9" fmla="*/ 1 h 2101"/>
                      <a:gd name="T10" fmla="*/ 0 w 419"/>
                      <a:gd name="T11" fmla="*/ 1 h 2101"/>
                      <a:gd name="T12" fmla="*/ 0 w 419"/>
                      <a:gd name="T13" fmla="*/ 1 h 2101"/>
                      <a:gd name="T14" fmla="*/ 0 w 419"/>
                      <a:gd name="T15" fmla="*/ 1 h 2101"/>
                      <a:gd name="T16" fmla="*/ 1 w 419"/>
                      <a:gd name="T17" fmla="*/ 1 h 2101"/>
                      <a:gd name="T18" fmla="*/ 1 w 419"/>
                      <a:gd name="T19" fmla="*/ 2 h 2101"/>
                      <a:gd name="T20" fmla="*/ 1 w 419"/>
                      <a:gd name="T21" fmla="*/ 2 h 2101"/>
                      <a:gd name="T22" fmla="*/ 1 w 419"/>
                      <a:gd name="T23" fmla="*/ 2 h 2101"/>
                      <a:gd name="T24" fmla="*/ 1 w 419"/>
                      <a:gd name="T25" fmla="*/ 3 h 2101"/>
                      <a:gd name="T26" fmla="*/ 1 w 419"/>
                      <a:gd name="T27" fmla="*/ 3 h 2101"/>
                      <a:gd name="T28" fmla="*/ 1 w 419"/>
                      <a:gd name="T29" fmla="*/ 3 h 2101"/>
                      <a:gd name="T30" fmla="*/ 1 w 419"/>
                      <a:gd name="T31" fmla="*/ 3 h 2101"/>
                      <a:gd name="T32" fmla="*/ 1 w 419"/>
                      <a:gd name="T33" fmla="*/ 3 h 2101"/>
                      <a:gd name="T34" fmla="*/ 1 w 419"/>
                      <a:gd name="T35" fmla="*/ 3 h 2101"/>
                      <a:gd name="T36" fmla="*/ 1 w 419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19"/>
                      <a:gd name="T58" fmla="*/ 0 h 2101"/>
                      <a:gd name="T59" fmla="*/ 419 w 419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19" h="2101">
                        <a:moveTo>
                          <a:pt x="0" y="0"/>
                        </a:moveTo>
                        <a:lnTo>
                          <a:pt x="55" y="84"/>
                        </a:lnTo>
                        <a:lnTo>
                          <a:pt x="108" y="174"/>
                        </a:lnTo>
                        <a:lnTo>
                          <a:pt x="153" y="277"/>
                        </a:lnTo>
                        <a:lnTo>
                          <a:pt x="193" y="372"/>
                        </a:lnTo>
                        <a:lnTo>
                          <a:pt x="225" y="489"/>
                        </a:lnTo>
                        <a:lnTo>
                          <a:pt x="260" y="656"/>
                        </a:lnTo>
                        <a:lnTo>
                          <a:pt x="282" y="788"/>
                        </a:lnTo>
                        <a:lnTo>
                          <a:pt x="300" y="887"/>
                        </a:lnTo>
                        <a:lnTo>
                          <a:pt x="318" y="1038"/>
                        </a:lnTo>
                        <a:lnTo>
                          <a:pt x="318" y="1162"/>
                        </a:lnTo>
                        <a:lnTo>
                          <a:pt x="312" y="1313"/>
                        </a:lnTo>
                        <a:lnTo>
                          <a:pt x="322" y="1440"/>
                        </a:lnTo>
                        <a:lnTo>
                          <a:pt x="322" y="1572"/>
                        </a:lnTo>
                        <a:lnTo>
                          <a:pt x="330" y="1706"/>
                        </a:lnTo>
                        <a:lnTo>
                          <a:pt x="344" y="1828"/>
                        </a:lnTo>
                        <a:lnTo>
                          <a:pt x="366" y="1937"/>
                        </a:lnTo>
                        <a:lnTo>
                          <a:pt x="389" y="2024"/>
                        </a:lnTo>
                        <a:lnTo>
                          <a:pt x="419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5" name="Freeform 101"/>
                  <p:cNvSpPr>
                    <a:spLocks/>
                  </p:cNvSpPr>
                  <p:nvPr/>
                </p:nvSpPr>
                <p:spPr bwMode="auto">
                  <a:xfrm>
                    <a:off x="3933" y="841"/>
                    <a:ext cx="108" cy="585"/>
                  </a:xfrm>
                  <a:custGeom>
                    <a:avLst/>
                    <a:gdLst>
                      <a:gd name="T0" fmla="*/ 0 w 410"/>
                      <a:gd name="T1" fmla="*/ 0 h 2101"/>
                      <a:gd name="T2" fmla="*/ 0 w 410"/>
                      <a:gd name="T3" fmla="*/ 0 h 2101"/>
                      <a:gd name="T4" fmla="*/ 0 w 410"/>
                      <a:gd name="T5" fmla="*/ 0 h 2101"/>
                      <a:gd name="T6" fmla="*/ 0 w 410"/>
                      <a:gd name="T7" fmla="*/ 0 h 2101"/>
                      <a:gd name="T8" fmla="*/ 0 w 410"/>
                      <a:gd name="T9" fmla="*/ 1 h 2101"/>
                      <a:gd name="T10" fmla="*/ 0 w 410"/>
                      <a:gd name="T11" fmla="*/ 1 h 2101"/>
                      <a:gd name="T12" fmla="*/ 1 w 410"/>
                      <a:gd name="T13" fmla="*/ 1 h 2101"/>
                      <a:gd name="T14" fmla="*/ 1 w 410"/>
                      <a:gd name="T15" fmla="*/ 1 h 2101"/>
                      <a:gd name="T16" fmla="*/ 1 w 410"/>
                      <a:gd name="T17" fmla="*/ 1 h 2101"/>
                      <a:gd name="T18" fmla="*/ 1 w 410"/>
                      <a:gd name="T19" fmla="*/ 2 h 2101"/>
                      <a:gd name="T20" fmla="*/ 1 w 410"/>
                      <a:gd name="T21" fmla="*/ 2 h 2101"/>
                      <a:gd name="T22" fmla="*/ 1 w 410"/>
                      <a:gd name="T23" fmla="*/ 2 h 2101"/>
                      <a:gd name="T24" fmla="*/ 1 w 410"/>
                      <a:gd name="T25" fmla="*/ 3 h 2101"/>
                      <a:gd name="T26" fmla="*/ 1 w 410"/>
                      <a:gd name="T27" fmla="*/ 3 h 2101"/>
                      <a:gd name="T28" fmla="*/ 1 w 410"/>
                      <a:gd name="T29" fmla="*/ 3 h 2101"/>
                      <a:gd name="T30" fmla="*/ 1 w 410"/>
                      <a:gd name="T31" fmla="*/ 3 h 2101"/>
                      <a:gd name="T32" fmla="*/ 1 w 410"/>
                      <a:gd name="T33" fmla="*/ 3 h 2101"/>
                      <a:gd name="T34" fmla="*/ 1 w 410"/>
                      <a:gd name="T35" fmla="*/ 3 h 2101"/>
                      <a:gd name="T36" fmla="*/ 1 w 410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10"/>
                      <a:gd name="T58" fmla="*/ 0 h 2101"/>
                      <a:gd name="T59" fmla="*/ 410 w 410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10" h="2101">
                        <a:moveTo>
                          <a:pt x="0" y="0"/>
                        </a:moveTo>
                        <a:lnTo>
                          <a:pt x="63" y="65"/>
                        </a:lnTo>
                        <a:lnTo>
                          <a:pt x="116" y="136"/>
                        </a:lnTo>
                        <a:lnTo>
                          <a:pt x="186" y="250"/>
                        </a:lnTo>
                        <a:lnTo>
                          <a:pt x="235" y="367"/>
                        </a:lnTo>
                        <a:lnTo>
                          <a:pt x="289" y="499"/>
                        </a:lnTo>
                        <a:lnTo>
                          <a:pt x="333" y="633"/>
                        </a:lnTo>
                        <a:lnTo>
                          <a:pt x="364" y="774"/>
                        </a:lnTo>
                        <a:lnTo>
                          <a:pt x="386" y="902"/>
                        </a:lnTo>
                        <a:lnTo>
                          <a:pt x="396" y="1029"/>
                        </a:lnTo>
                        <a:lnTo>
                          <a:pt x="396" y="1151"/>
                        </a:lnTo>
                        <a:lnTo>
                          <a:pt x="396" y="1304"/>
                        </a:lnTo>
                        <a:lnTo>
                          <a:pt x="396" y="1432"/>
                        </a:lnTo>
                        <a:lnTo>
                          <a:pt x="392" y="1572"/>
                        </a:lnTo>
                        <a:lnTo>
                          <a:pt x="386" y="1710"/>
                        </a:lnTo>
                        <a:lnTo>
                          <a:pt x="392" y="1819"/>
                        </a:lnTo>
                        <a:lnTo>
                          <a:pt x="392" y="1928"/>
                        </a:lnTo>
                        <a:lnTo>
                          <a:pt x="396" y="2014"/>
                        </a:lnTo>
                        <a:lnTo>
                          <a:pt x="41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6" name="Freeform 102"/>
                  <p:cNvSpPr>
                    <a:spLocks/>
                  </p:cNvSpPr>
                  <p:nvPr/>
                </p:nvSpPr>
                <p:spPr bwMode="auto">
                  <a:xfrm>
                    <a:off x="3947" y="843"/>
                    <a:ext cx="125" cy="586"/>
                  </a:xfrm>
                  <a:custGeom>
                    <a:avLst/>
                    <a:gdLst>
                      <a:gd name="T0" fmla="*/ 0 w 475"/>
                      <a:gd name="T1" fmla="*/ 0 h 2101"/>
                      <a:gd name="T2" fmla="*/ 0 w 475"/>
                      <a:gd name="T3" fmla="*/ 0 h 2101"/>
                      <a:gd name="T4" fmla="*/ 0 w 475"/>
                      <a:gd name="T5" fmla="*/ 0 h 2101"/>
                      <a:gd name="T6" fmla="*/ 0 w 475"/>
                      <a:gd name="T7" fmla="*/ 1 h 2101"/>
                      <a:gd name="T8" fmla="*/ 0 w 475"/>
                      <a:gd name="T9" fmla="*/ 1 h 2101"/>
                      <a:gd name="T10" fmla="*/ 1 w 475"/>
                      <a:gd name="T11" fmla="*/ 1 h 2101"/>
                      <a:gd name="T12" fmla="*/ 1 w 475"/>
                      <a:gd name="T13" fmla="*/ 1 h 2101"/>
                      <a:gd name="T14" fmla="*/ 1 w 475"/>
                      <a:gd name="T15" fmla="*/ 1 h 2101"/>
                      <a:gd name="T16" fmla="*/ 1 w 475"/>
                      <a:gd name="T17" fmla="*/ 2 h 2101"/>
                      <a:gd name="T18" fmla="*/ 1 w 475"/>
                      <a:gd name="T19" fmla="*/ 2 h 2101"/>
                      <a:gd name="T20" fmla="*/ 1 w 475"/>
                      <a:gd name="T21" fmla="*/ 2 h 2101"/>
                      <a:gd name="T22" fmla="*/ 1 w 475"/>
                      <a:gd name="T23" fmla="*/ 2 h 2101"/>
                      <a:gd name="T24" fmla="*/ 1 w 475"/>
                      <a:gd name="T25" fmla="*/ 3 h 2101"/>
                      <a:gd name="T26" fmla="*/ 1 w 475"/>
                      <a:gd name="T27" fmla="*/ 3 h 2101"/>
                      <a:gd name="T28" fmla="*/ 1 w 475"/>
                      <a:gd name="T29" fmla="*/ 3 h 2101"/>
                      <a:gd name="T30" fmla="*/ 1 w 475"/>
                      <a:gd name="T31" fmla="*/ 3 h 2101"/>
                      <a:gd name="T32" fmla="*/ 1 w 475"/>
                      <a:gd name="T33" fmla="*/ 3 h 2101"/>
                      <a:gd name="T34" fmla="*/ 1 w 475"/>
                      <a:gd name="T35" fmla="*/ 3 h 2101"/>
                      <a:gd name="T36" fmla="*/ 1 w 475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75"/>
                      <a:gd name="T58" fmla="*/ 0 h 2101"/>
                      <a:gd name="T59" fmla="*/ 475 w 475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75" h="2101">
                        <a:moveTo>
                          <a:pt x="0" y="0"/>
                        </a:moveTo>
                        <a:lnTo>
                          <a:pt x="66" y="61"/>
                        </a:lnTo>
                        <a:lnTo>
                          <a:pt x="114" y="123"/>
                        </a:lnTo>
                        <a:lnTo>
                          <a:pt x="211" y="259"/>
                        </a:lnTo>
                        <a:lnTo>
                          <a:pt x="269" y="354"/>
                        </a:lnTo>
                        <a:lnTo>
                          <a:pt x="333" y="490"/>
                        </a:lnTo>
                        <a:lnTo>
                          <a:pt x="391" y="633"/>
                        </a:lnTo>
                        <a:lnTo>
                          <a:pt x="440" y="775"/>
                        </a:lnTo>
                        <a:lnTo>
                          <a:pt x="468" y="907"/>
                        </a:lnTo>
                        <a:lnTo>
                          <a:pt x="475" y="1020"/>
                        </a:lnTo>
                        <a:lnTo>
                          <a:pt x="475" y="1153"/>
                        </a:lnTo>
                        <a:lnTo>
                          <a:pt x="472" y="1276"/>
                        </a:lnTo>
                        <a:lnTo>
                          <a:pt x="454" y="1427"/>
                        </a:lnTo>
                        <a:lnTo>
                          <a:pt x="440" y="1549"/>
                        </a:lnTo>
                        <a:lnTo>
                          <a:pt x="427" y="1697"/>
                        </a:lnTo>
                        <a:lnTo>
                          <a:pt x="414" y="1825"/>
                        </a:lnTo>
                        <a:lnTo>
                          <a:pt x="405" y="1924"/>
                        </a:lnTo>
                        <a:lnTo>
                          <a:pt x="391" y="2019"/>
                        </a:lnTo>
                        <a:lnTo>
                          <a:pt x="379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7" name="Freeform 103"/>
                  <p:cNvSpPr>
                    <a:spLocks/>
                  </p:cNvSpPr>
                  <p:nvPr/>
                </p:nvSpPr>
                <p:spPr bwMode="auto">
                  <a:xfrm>
                    <a:off x="3633" y="834"/>
                    <a:ext cx="1208" cy="596"/>
                  </a:xfrm>
                  <a:custGeom>
                    <a:avLst/>
                    <a:gdLst>
                      <a:gd name="T0" fmla="*/ 2 w 4613"/>
                      <a:gd name="T1" fmla="*/ 0 h 2136"/>
                      <a:gd name="T2" fmla="*/ 2 w 4613"/>
                      <a:gd name="T3" fmla="*/ 0 h 2136"/>
                      <a:gd name="T4" fmla="*/ 1 w 4613"/>
                      <a:gd name="T5" fmla="*/ 0 h 2136"/>
                      <a:gd name="T6" fmla="*/ 1 w 4613"/>
                      <a:gd name="T7" fmla="*/ 0 h 2136"/>
                      <a:gd name="T8" fmla="*/ 0 w 4613"/>
                      <a:gd name="T9" fmla="*/ 1 h 2136"/>
                      <a:gd name="T10" fmla="*/ 0 w 4613"/>
                      <a:gd name="T11" fmla="*/ 1 h 2136"/>
                      <a:gd name="T12" fmla="*/ 0 w 4613"/>
                      <a:gd name="T13" fmla="*/ 2 h 2136"/>
                      <a:gd name="T14" fmla="*/ 0 w 4613"/>
                      <a:gd name="T15" fmla="*/ 2 h 2136"/>
                      <a:gd name="T16" fmla="*/ 0 w 4613"/>
                      <a:gd name="T17" fmla="*/ 3 h 2136"/>
                      <a:gd name="T18" fmla="*/ 0 w 4613"/>
                      <a:gd name="T19" fmla="*/ 3 h 2136"/>
                      <a:gd name="T20" fmla="*/ 0 w 4613"/>
                      <a:gd name="T21" fmla="*/ 4 h 2136"/>
                      <a:gd name="T22" fmla="*/ 1 w 4613"/>
                      <a:gd name="T23" fmla="*/ 3 h 2136"/>
                      <a:gd name="T24" fmla="*/ 1 w 4613"/>
                      <a:gd name="T25" fmla="*/ 3 h 2136"/>
                      <a:gd name="T26" fmla="*/ 1 w 4613"/>
                      <a:gd name="T27" fmla="*/ 3 h 2136"/>
                      <a:gd name="T28" fmla="*/ 1 w 4613"/>
                      <a:gd name="T29" fmla="*/ 2 h 2136"/>
                      <a:gd name="T30" fmla="*/ 1 w 4613"/>
                      <a:gd name="T31" fmla="*/ 3 h 2136"/>
                      <a:gd name="T32" fmla="*/ 2 w 4613"/>
                      <a:gd name="T33" fmla="*/ 4 h 2136"/>
                      <a:gd name="T34" fmla="*/ 2 w 4613"/>
                      <a:gd name="T35" fmla="*/ 4 h 2136"/>
                      <a:gd name="T36" fmla="*/ 2 w 4613"/>
                      <a:gd name="T37" fmla="*/ 3 h 2136"/>
                      <a:gd name="T38" fmla="*/ 3 w 4613"/>
                      <a:gd name="T39" fmla="*/ 2 h 2136"/>
                      <a:gd name="T40" fmla="*/ 3 w 4613"/>
                      <a:gd name="T41" fmla="*/ 3 h 2136"/>
                      <a:gd name="T42" fmla="*/ 3 w 4613"/>
                      <a:gd name="T43" fmla="*/ 4 h 2136"/>
                      <a:gd name="T44" fmla="*/ 3 w 4613"/>
                      <a:gd name="T45" fmla="*/ 4 h 2136"/>
                      <a:gd name="T46" fmla="*/ 4 w 4613"/>
                      <a:gd name="T47" fmla="*/ 3 h 2136"/>
                      <a:gd name="T48" fmla="*/ 4 w 4613"/>
                      <a:gd name="T49" fmla="*/ 3 h 2136"/>
                      <a:gd name="T50" fmla="*/ 4 w 4613"/>
                      <a:gd name="T51" fmla="*/ 2 h 2136"/>
                      <a:gd name="T52" fmla="*/ 4 w 4613"/>
                      <a:gd name="T53" fmla="*/ 3 h 2136"/>
                      <a:gd name="T54" fmla="*/ 5 w 4613"/>
                      <a:gd name="T55" fmla="*/ 3 h 2136"/>
                      <a:gd name="T56" fmla="*/ 5 w 4613"/>
                      <a:gd name="T57" fmla="*/ 4 h 2136"/>
                      <a:gd name="T58" fmla="*/ 5 w 4613"/>
                      <a:gd name="T59" fmla="*/ 3 h 2136"/>
                      <a:gd name="T60" fmla="*/ 5 w 4613"/>
                      <a:gd name="T61" fmla="*/ 3 h 2136"/>
                      <a:gd name="T62" fmla="*/ 6 w 4613"/>
                      <a:gd name="T63" fmla="*/ 2 h 2136"/>
                      <a:gd name="T64" fmla="*/ 5 w 4613"/>
                      <a:gd name="T65" fmla="*/ 1 h 2136"/>
                      <a:gd name="T66" fmla="*/ 5 w 4613"/>
                      <a:gd name="T67" fmla="*/ 1 h 2136"/>
                      <a:gd name="T68" fmla="*/ 5 w 4613"/>
                      <a:gd name="T69" fmla="*/ 0 h 2136"/>
                      <a:gd name="T70" fmla="*/ 4 w 4613"/>
                      <a:gd name="T71" fmla="*/ 0 h 2136"/>
                      <a:gd name="T72" fmla="*/ 3 w 4613"/>
                      <a:gd name="T73" fmla="*/ 0 h 2136"/>
                      <a:gd name="T74" fmla="*/ 3 w 4613"/>
                      <a:gd name="T75" fmla="*/ 0 h 2136"/>
                      <a:gd name="T76" fmla="*/ 3 w 4613"/>
                      <a:gd name="T77" fmla="*/ 1 h 2136"/>
                      <a:gd name="T78" fmla="*/ 3 w 4613"/>
                      <a:gd name="T79" fmla="*/ 1 h 2136"/>
                      <a:gd name="T80" fmla="*/ 2 w 4613"/>
                      <a:gd name="T81" fmla="*/ 1 h 2136"/>
                      <a:gd name="T82" fmla="*/ 2 w 4613"/>
                      <a:gd name="T83" fmla="*/ 1 h 2136"/>
                      <a:gd name="T84" fmla="*/ 2 w 4613"/>
                      <a:gd name="T85" fmla="*/ 1 h 21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4613"/>
                      <a:gd name="T130" fmla="*/ 0 h 2136"/>
                      <a:gd name="T131" fmla="*/ 4613 w 4613"/>
                      <a:gd name="T132" fmla="*/ 2136 h 21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4613" h="2136">
                        <a:moveTo>
                          <a:pt x="1744" y="315"/>
                        </a:moveTo>
                        <a:lnTo>
                          <a:pt x="1659" y="226"/>
                        </a:lnTo>
                        <a:lnTo>
                          <a:pt x="1570" y="155"/>
                        </a:lnTo>
                        <a:lnTo>
                          <a:pt x="1455" y="94"/>
                        </a:lnTo>
                        <a:lnTo>
                          <a:pt x="1330" y="50"/>
                        </a:lnTo>
                        <a:lnTo>
                          <a:pt x="1215" y="27"/>
                        </a:lnTo>
                        <a:lnTo>
                          <a:pt x="1089" y="13"/>
                        </a:lnTo>
                        <a:lnTo>
                          <a:pt x="982" y="13"/>
                        </a:lnTo>
                        <a:lnTo>
                          <a:pt x="866" y="23"/>
                        </a:lnTo>
                        <a:lnTo>
                          <a:pt x="728" y="65"/>
                        </a:lnTo>
                        <a:lnTo>
                          <a:pt x="617" y="136"/>
                        </a:lnTo>
                        <a:lnTo>
                          <a:pt x="520" y="212"/>
                        </a:lnTo>
                        <a:lnTo>
                          <a:pt x="435" y="287"/>
                        </a:lnTo>
                        <a:lnTo>
                          <a:pt x="345" y="376"/>
                        </a:lnTo>
                        <a:lnTo>
                          <a:pt x="262" y="476"/>
                        </a:lnTo>
                        <a:lnTo>
                          <a:pt x="193" y="572"/>
                        </a:lnTo>
                        <a:lnTo>
                          <a:pt x="130" y="662"/>
                        </a:lnTo>
                        <a:lnTo>
                          <a:pt x="78" y="747"/>
                        </a:lnTo>
                        <a:lnTo>
                          <a:pt x="40" y="826"/>
                        </a:lnTo>
                        <a:lnTo>
                          <a:pt x="12" y="910"/>
                        </a:lnTo>
                        <a:lnTo>
                          <a:pt x="0" y="1023"/>
                        </a:lnTo>
                        <a:lnTo>
                          <a:pt x="0" y="1139"/>
                        </a:lnTo>
                        <a:lnTo>
                          <a:pt x="7" y="1251"/>
                        </a:lnTo>
                        <a:lnTo>
                          <a:pt x="20" y="1354"/>
                        </a:lnTo>
                        <a:lnTo>
                          <a:pt x="34" y="1471"/>
                        </a:lnTo>
                        <a:lnTo>
                          <a:pt x="52" y="1610"/>
                        </a:lnTo>
                        <a:lnTo>
                          <a:pt x="77" y="1748"/>
                        </a:lnTo>
                        <a:lnTo>
                          <a:pt x="105" y="1871"/>
                        </a:lnTo>
                        <a:lnTo>
                          <a:pt x="137" y="1958"/>
                        </a:lnTo>
                        <a:lnTo>
                          <a:pt x="175" y="2025"/>
                        </a:lnTo>
                        <a:lnTo>
                          <a:pt x="221" y="2086"/>
                        </a:lnTo>
                        <a:lnTo>
                          <a:pt x="270" y="2125"/>
                        </a:lnTo>
                        <a:lnTo>
                          <a:pt x="314" y="2128"/>
                        </a:lnTo>
                        <a:lnTo>
                          <a:pt x="399" y="2114"/>
                        </a:lnTo>
                        <a:lnTo>
                          <a:pt x="491" y="2080"/>
                        </a:lnTo>
                        <a:lnTo>
                          <a:pt x="576" y="2038"/>
                        </a:lnTo>
                        <a:lnTo>
                          <a:pt x="637" y="1987"/>
                        </a:lnTo>
                        <a:lnTo>
                          <a:pt x="714" y="1910"/>
                        </a:lnTo>
                        <a:lnTo>
                          <a:pt x="783" y="1818"/>
                        </a:lnTo>
                        <a:lnTo>
                          <a:pt x="849" y="1693"/>
                        </a:lnTo>
                        <a:lnTo>
                          <a:pt x="916" y="1561"/>
                        </a:lnTo>
                        <a:lnTo>
                          <a:pt x="971" y="1441"/>
                        </a:lnTo>
                        <a:lnTo>
                          <a:pt x="1009" y="1338"/>
                        </a:lnTo>
                        <a:lnTo>
                          <a:pt x="1034" y="1256"/>
                        </a:lnTo>
                        <a:lnTo>
                          <a:pt x="1045" y="1184"/>
                        </a:lnTo>
                        <a:lnTo>
                          <a:pt x="1067" y="1366"/>
                        </a:lnTo>
                        <a:lnTo>
                          <a:pt x="1124" y="1571"/>
                        </a:lnTo>
                        <a:lnTo>
                          <a:pt x="1197" y="1799"/>
                        </a:lnTo>
                        <a:lnTo>
                          <a:pt x="1250" y="1905"/>
                        </a:lnTo>
                        <a:lnTo>
                          <a:pt x="1308" y="1996"/>
                        </a:lnTo>
                        <a:lnTo>
                          <a:pt x="1397" y="2082"/>
                        </a:lnTo>
                        <a:lnTo>
                          <a:pt x="1499" y="2128"/>
                        </a:lnTo>
                        <a:lnTo>
                          <a:pt x="1584" y="2136"/>
                        </a:lnTo>
                        <a:lnTo>
                          <a:pt x="1669" y="2120"/>
                        </a:lnTo>
                        <a:lnTo>
                          <a:pt x="1735" y="2072"/>
                        </a:lnTo>
                        <a:lnTo>
                          <a:pt x="1810" y="1977"/>
                        </a:lnTo>
                        <a:lnTo>
                          <a:pt x="1873" y="1845"/>
                        </a:lnTo>
                        <a:lnTo>
                          <a:pt x="1953" y="1633"/>
                        </a:lnTo>
                        <a:lnTo>
                          <a:pt x="2024" y="1424"/>
                        </a:lnTo>
                        <a:lnTo>
                          <a:pt x="2064" y="1216"/>
                        </a:lnTo>
                        <a:lnTo>
                          <a:pt x="2086" y="1408"/>
                        </a:lnTo>
                        <a:lnTo>
                          <a:pt x="2139" y="1594"/>
                        </a:lnTo>
                        <a:lnTo>
                          <a:pt x="2188" y="1738"/>
                        </a:lnTo>
                        <a:lnTo>
                          <a:pt x="2242" y="1863"/>
                        </a:lnTo>
                        <a:lnTo>
                          <a:pt x="2309" y="1969"/>
                        </a:lnTo>
                        <a:lnTo>
                          <a:pt x="2367" y="2051"/>
                        </a:lnTo>
                        <a:lnTo>
                          <a:pt x="2450" y="2105"/>
                        </a:lnTo>
                        <a:lnTo>
                          <a:pt x="2561" y="2124"/>
                        </a:lnTo>
                        <a:lnTo>
                          <a:pt x="2674" y="2114"/>
                        </a:lnTo>
                        <a:lnTo>
                          <a:pt x="2771" y="2080"/>
                        </a:lnTo>
                        <a:lnTo>
                          <a:pt x="2855" y="2025"/>
                        </a:lnTo>
                        <a:lnTo>
                          <a:pt x="2940" y="1944"/>
                        </a:lnTo>
                        <a:lnTo>
                          <a:pt x="3025" y="1829"/>
                        </a:lnTo>
                        <a:lnTo>
                          <a:pt x="3104" y="1709"/>
                        </a:lnTo>
                        <a:lnTo>
                          <a:pt x="3172" y="1592"/>
                        </a:lnTo>
                        <a:lnTo>
                          <a:pt x="3229" y="1485"/>
                        </a:lnTo>
                        <a:lnTo>
                          <a:pt x="3269" y="1382"/>
                        </a:lnTo>
                        <a:lnTo>
                          <a:pt x="3305" y="1250"/>
                        </a:lnTo>
                        <a:lnTo>
                          <a:pt x="3362" y="1386"/>
                        </a:lnTo>
                        <a:lnTo>
                          <a:pt x="3420" y="1527"/>
                        </a:lnTo>
                        <a:lnTo>
                          <a:pt x="3493" y="1662"/>
                        </a:lnTo>
                        <a:lnTo>
                          <a:pt x="3546" y="1764"/>
                        </a:lnTo>
                        <a:lnTo>
                          <a:pt x="3627" y="1874"/>
                        </a:lnTo>
                        <a:lnTo>
                          <a:pt x="3724" y="1976"/>
                        </a:lnTo>
                        <a:lnTo>
                          <a:pt x="3831" y="2057"/>
                        </a:lnTo>
                        <a:lnTo>
                          <a:pt x="3956" y="2104"/>
                        </a:lnTo>
                        <a:lnTo>
                          <a:pt x="4093" y="2128"/>
                        </a:lnTo>
                        <a:lnTo>
                          <a:pt x="4196" y="2095"/>
                        </a:lnTo>
                        <a:lnTo>
                          <a:pt x="4280" y="2034"/>
                        </a:lnTo>
                        <a:lnTo>
                          <a:pt x="4362" y="1915"/>
                        </a:lnTo>
                        <a:lnTo>
                          <a:pt x="4436" y="1789"/>
                        </a:lnTo>
                        <a:lnTo>
                          <a:pt x="4489" y="1648"/>
                        </a:lnTo>
                        <a:lnTo>
                          <a:pt x="4543" y="1481"/>
                        </a:lnTo>
                        <a:lnTo>
                          <a:pt x="4584" y="1333"/>
                        </a:lnTo>
                        <a:lnTo>
                          <a:pt x="4605" y="1203"/>
                        </a:lnTo>
                        <a:lnTo>
                          <a:pt x="4613" y="1052"/>
                        </a:lnTo>
                        <a:lnTo>
                          <a:pt x="4595" y="939"/>
                        </a:lnTo>
                        <a:lnTo>
                          <a:pt x="4502" y="792"/>
                        </a:lnTo>
                        <a:lnTo>
                          <a:pt x="4369" y="656"/>
                        </a:lnTo>
                        <a:lnTo>
                          <a:pt x="4196" y="518"/>
                        </a:lnTo>
                        <a:lnTo>
                          <a:pt x="4071" y="428"/>
                        </a:lnTo>
                        <a:lnTo>
                          <a:pt x="4204" y="428"/>
                        </a:lnTo>
                        <a:lnTo>
                          <a:pt x="4121" y="344"/>
                        </a:lnTo>
                        <a:lnTo>
                          <a:pt x="3986" y="262"/>
                        </a:lnTo>
                        <a:lnTo>
                          <a:pt x="3815" y="188"/>
                        </a:lnTo>
                        <a:lnTo>
                          <a:pt x="3639" y="126"/>
                        </a:lnTo>
                        <a:lnTo>
                          <a:pt x="3472" y="79"/>
                        </a:lnTo>
                        <a:lnTo>
                          <a:pt x="3296" y="42"/>
                        </a:lnTo>
                        <a:lnTo>
                          <a:pt x="3124" y="13"/>
                        </a:lnTo>
                        <a:lnTo>
                          <a:pt x="2908" y="0"/>
                        </a:lnTo>
                        <a:lnTo>
                          <a:pt x="2718" y="0"/>
                        </a:lnTo>
                        <a:lnTo>
                          <a:pt x="2544" y="8"/>
                        </a:lnTo>
                        <a:lnTo>
                          <a:pt x="2424" y="42"/>
                        </a:lnTo>
                        <a:lnTo>
                          <a:pt x="2317" y="94"/>
                        </a:lnTo>
                        <a:lnTo>
                          <a:pt x="2224" y="164"/>
                        </a:lnTo>
                        <a:lnTo>
                          <a:pt x="2131" y="249"/>
                        </a:lnTo>
                        <a:lnTo>
                          <a:pt x="2077" y="325"/>
                        </a:lnTo>
                        <a:lnTo>
                          <a:pt x="2157" y="325"/>
                        </a:lnTo>
                        <a:lnTo>
                          <a:pt x="2099" y="386"/>
                        </a:lnTo>
                        <a:lnTo>
                          <a:pt x="2042" y="466"/>
                        </a:lnTo>
                        <a:lnTo>
                          <a:pt x="1980" y="561"/>
                        </a:lnTo>
                        <a:lnTo>
                          <a:pt x="1917" y="665"/>
                        </a:lnTo>
                        <a:lnTo>
                          <a:pt x="1863" y="788"/>
                        </a:lnTo>
                        <a:lnTo>
                          <a:pt x="1820" y="948"/>
                        </a:lnTo>
                        <a:lnTo>
                          <a:pt x="1774" y="784"/>
                        </a:lnTo>
                        <a:lnTo>
                          <a:pt x="1726" y="665"/>
                        </a:lnTo>
                        <a:lnTo>
                          <a:pt x="1663" y="534"/>
                        </a:lnTo>
                        <a:lnTo>
                          <a:pt x="1602" y="424"/>
                        </a:lnTo>
                        <a:lnTo>
                          <a:pt x="1516" y="315"/>
                        </a:lnTo>
                        <a:lnTo>
                          <a:pt x="1744" y="31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8" name="Line 104"/>
                  <p:cNvSpPr>
                    <a:spLocks noChangeShapeType="1"/>
                  </p:cNvSpPr>
                  <p:nvPr/>
                </p:nvSpPr>
                <p:spPr bwMode="auto">
                  <a:xfrm>
                    <a:off x="3684" y="1406"/>
                    <a:ext cx="9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58519" name="Group 105"/>
                  <p:cNvGrpSpPr>
                    <a:grpSpLocks/>
                  </p:cNvGrpSpPr>
                  <p:nvPr/>
                </p:nvGrpSpPr>
                <p:grpSpPr bwMode="auto">
                  <a:xfrm>
                    <a:off x="3659" y="1352"/>
                    <a:ext cx="464" cy="29"/>
                    <a:chOff x="1741" y="2997"/>
                    <a:chExt cx="885" cy="52"/>
                  </a:xfrm>
                </p:grpSpPr>
                <p:sp>
                  <p:nvSpPr>
                    <p:cNvPr id="58618" name="Line 10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41" y="2997"/>
                      <a:ext cx="331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19" name="Line 10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60" y="3048"/>
                      <a:ext cx="265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20" name="Line 10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2997"/>
                      <a:ext cx="322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21" name="Line 10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37" y="3048"/>
                      <a:ext cx="267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58520" name="Line 110"/>
                  <p:cNvSpPr>
                    <a:spLocks noChangeShapeType="1"/>
                  </p:cNvSpPr>
                  <p:nvPr/>
                </p:nvSpPr>
                <p:spPr bwMode="auto">
                  <a:xfrm>
                    <a:off x="4179" y="1203"/>
                    <a:ext cx="31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21" name="Line 111"/>
                  <p:cNvSpPr>
                    <a:spLocks noChangeShapeType="1"/>
                  </p:cNvSpPr>
                  <p:nvPr/>
                </p:nvSpPr>
                <p:spPr bwMode="auto">
                  <a:xfrm>
                    <a:off x="4183" y="1240"/>
                    <a:ext cx="296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22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4196" y="1283"/>
                    <a:ext cx="26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23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4210" y="1319"/>
                    <a:ext cx="233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58524" name="Group 114"/>
                  <p:cNvGrpSpPr>
                    <a:grpSpLocks/>
                  </p:cNvGrpSpPr>
                  <p:nvPr/>
                </p:nvGrpSpPr>
                <p:grpSpPr bwMode="auto">
                  <a:xfrm>
                    <a:off x="3668" y="835"/>
                    <a:ext cx="1167" cy="594"/>
                    <a:chOff x="1758" y="2070"/>
                    <a:chExt cx="2229" cy="1063"/>
                  </a:xfrm>
                </p:grpSpPr>
                <p:sp>
                  <p:nvSpPr>
                    <p:cNvPr id="58604" name="Freeform 115"/>
                    <p:cNvSpPr>
                      <a:spLocks/>
                    </p:cNvSpPr>
                    <p:nvPr/>
                  </p:nvSpPr>
                  <p:spPr bwMode="auto">
                    <a:xfrm>
                      <a:off x="1758" y="2081"/>
                      <a:ext cx="356" cy="1036"/>
                    </a:xfrm>
                    <a:custGeom>
                      <a:avLst/>
                      <a:gdLst>
                        <a:gd name="T0" fmla="*/ 23 w 712"/>
                        <a:gd name="T1" fmla="*/ 0 h 2072"/>
                        <a:gd name="T2" fmla="*/ 20 w 712"/>
                        <a:gd name="T3" fmla="*/ 2 h 2072"/>
                        <a:gd name="T4" fmla="*/ 16 w 712"/>
                        <a:gd name="T5" fmla="*/ 5 h 2072"/>
                        <a:gd name="T6" fmla="*/ 12 w 712"/>
                        <a:gd name="T7" fmla="*/ 8 h 2072"/>
                        <a:gd name="T8" fmla="*/ 10 w 712"/>
                        <a:gd name="T9" fmla="*/ 11 h 2072"/>
                        <a:gd name="T10" fmla="*/ 7 w 712"/>
                        <a:gd name="T11" fmla="*/ 16 h 2072"/>
                        <a:gd name="T12" fmla="*/ 4 w 712"/>
                        <a:gd name="T13" fmla="*/ 20 h 2072"/>
                        <a:gd name="T14" fmla="*/ 3 w 712"/>
                        <a:gd name="T15" fmla="*/ 24 h 2072"/>
                        <a:gd name="T16" fmla="*/ 1 w 712"/>
                        <a:gd name="T17" fmla="*/ 28 h 2072"/>
                        <a:gd name="T18" fmla="*/ 0 w 712"/>
                        <a:gd name="T19" fmla="*/ 32 h 2072"/>
                        <a:gd name="T20" fmla="*/ 0 w 712"/>
                        <a:gd name="T21" fmla="*/ 36 h 2072"/>
                        <a:gd name="T22" fmla="*/ 1 w 712"/>
                        <a:gd name="T23" fmla="*/ 40 h 2072"/>
                        <a:gd name="T24" fmla="*/ 1 w 712"/>
                        <a:gd name="T25" fmla="*/ 45 h 2072"/>
                        <a:gd name="T26" fmla="*/ 1 w 712"/>
                        <a:gd name="T27" fmla="*/ 50 h 2072"/>
                        <a:gd name="T28" fmla="*/ 2 w 712"/>
                        <a:gd name="T29" fmla="*/ 54 h 2072"/>
                        <a:gd name="T30" fmla="*/ 2 w 712"/>
                        <a:gd name="T31" fmla="*/ 57 h 2072"/>
                        <a:gd name="T32" fmla="*/ 3 w 712"/>
                        <a:gd name="T33" fmla="*/ 61 h 2072"/>
                        <a:gd name="T34" fmla="*/ 4 w 712"/>
                        <a:gd name="T35" fmla="*/ 65 h 2072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w 712"/>
                        <a:gd name="T55" fmla="*/ 0 h 2072"/>
                        <a:gd name="T56" fmla="*/ 712 w 712"/>
                        <a:gd name="T57" fmla="*/ 2072 h 2072"/>
                      </a:gdLst>
                      <a:ahLst/>
                      <a:cxnLst>
                        <a:cxn ang="T36">
                          <a:pos x="T0" y="T1"/>
                        </a:cxn>
                        <a:cxn ang="T37">
                          <a:pos x="T2" y="T3"/>
                        </a:cxn>
                        <a:cxn ang="T38">
                          <a:pos x="T4" y="T5"/>
                        </a:cxn>
                        <a:cxn ang="T39">
                          <a:pos x="T6" y="T7"/>
                        </a:cxn>
                        <a:cxn ang="T40">
                          <a:pos x="T8" y="T9"/>
                        </a:cxn>
                        <a:cxn ang="T41">
                          <a:pos x="T10" y="T11"/>
                        </a:cxn>
                        <a:cxn ang="T42">
                          <a:pos x="T12" y="T13"/>
                        </a:cxn>
                        <a:cxn ang="T43">
                          <a:pos x="T14" y="T15"/>
                        </a:cxn>
                        <a:cxn ang="T44">
                          <a:pos x="T16" y="T17"/>
                        </a:cxn>
                        <a:cxn ang="T45">
                          <a:pos x="T18" y="T19"/>
                        </a:cxn>
                        <a:cxn ang="T46">
                          <a:pos x="T20" y="T21"/>
                        </a:cxn>
                        <a:cxn ang="T47">
                          <a:pos x="T22" y="T23"/>
                        </a:cxn>
                        <a:cxn ang="T48">
                          <a:pos x="T24" y="T25"/>
                        </a:cxn>
                        <a:cxn ang="T49">
                          <a:pos x="T26" y="T27"/>
                        </a:cxn>
                        <a:cxn ang="T50">
                          <a:pos x="T28" y="T29"/>
                        </a:cxn>
                        <a:cxn ang="T51">
                          <a:pos x="T30" y="T31"/>
                        </a:cxn>
                        <a:cxn ang="T52">
                          <a:pos x="T32" y="T33"/>
                        </a:cxn>
                        <a:cxn ang="T53">
                          <a:pos x="T34" y="T35"/>
                        </a:cxn>
                      </a:cxnLst>
                      <a:rect l="T54" t="T55" r="T56" b="T57"/>
                      <a:pathLst>
                        <a:path w="712" h="2072">
                          <a:moveTo>
                            <a:pt x="712" y="0"/>
                          </a:moveTo>
                          <a:lnTo>
                            <a:pt x="622" y="52"/>
                          </a:lnTo>
                          <a:lnTo>
                            <a:pt x="494" y="141"/>
                          </a:lnTo>
                          <a:lnTo>
                            <a:pt x="387" y="241"/>
                          </a:lnTo>
                          <a:lnTo>
                            <a:pt x="297" y="355"/>
                          </a:lnTo>
                          <a:lnTo>
                            <a:pt x="212" y="485"/>
                          </a:lnTo>
                          <a:lnTo>
                            <a:pt x="125" y="629"/>
                          </a:lnTo>
                          <a:lnTo>
                            <a:pt x="66" y="757"/>
                          </a:lnTo>
                          <a:lnTo>
                            <a:pt x="14" y="893"/>
                          </a:lnTo>
                          <a:lnTo>
                            <a:pt x="0" y="1015"/>
                          </a:lnTo>
                          <a:lnTo>
                            <a:pt x="0" y="1152"/>
                          </a:lnTo>
                          <a:lnTo>
                            <a:pt x="4" y="1280"/>
                          </a:lnTo>
                          <a:lnTo>
                            <a:pt x="14" y="1426"/>
                          </a:lnTo>
                          <a:lnTo>
                            <a:pt x="26" y="1576"/>
                          </a:lnTo>
                          <a:lnTo>
                            <a:pt x="40" y="1711"/>
                          </a:lnTo>
                          <a:lnTo>
                            <a:pt x="48" y="1827"/>
                          </a:lnTo>
                          <a:lnTo>
                            <a:pt x="66" y="1926"/>
                          </a:lnTo>
                          <a:lnTo>
                            <a:pt x="111" y="2072"/>
                          </a:lnTo>
                        </a:path>
                      </a:pathLst>
                    </a:custGeom>
                    <a:noFill/>
                    <a:ln w="7938">
                      <a:solidFill>
                        <a:schemeClr val="folHlink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05" name="Freeform 116"/>
                    <p:cNvSpPr>
                      <a:spLocks/>
                    </p:cNvSpPr>
                    <p:nvPr/>
                  </p:nvSpPr>
                  <p:spPr bwMode="auto">
                    <a:xfrm>
                      <a:off x="3263" y="2077"/>
                      <a:ext cx="482" cy="1051"/>
                    </a:xfrm>
                    <a:custGeom>
                      <a:avLst/>
                      <a:gdLst>
                        <a:gd name="T0" fmla="*/ 0 w 963"/>
                        <a:gd name="T1" fmla="*/ 0 h 2101"/>
                        <a:gd name="T2" fmla="*/ 5 w 963"/>
                        <a:gd name="T3" fmla="*/ 3 h 2101"/>
                        <a:gd name="T4" fmla="*/ 9 w 963"/>
                        <a:gd name="T5" fmla="*/ 6 h 2101"/>
                        <a:gd name="T6" fmla="*/ 12 w 963"/>
                        <a:gd name="T7" fmla="*/ 9 h 2101"/>
                        <a:gd name="T8" fmla="*/ 14 w 963"/>
                        <a:gd name="T9" fmla="*/ 12 h 2101"/>
                        <a:gd name="T10" fmla="*/ 18 w 963"/>
                        <a:gd name="T11" fmla="*/ 16 h 2101"/>
                        <a:gd name="T12" fmla="*/ 22 w 963"/>
                        <a:gd name="T13" fmla="*/ 21 h 2101"/>
                        <a:gd name="T14" fmla="*/ 24 w 963"/>
                        <a:gd name="T15" fmla="*/ 25 h 2101"/>
                        <a:gd name="T16" fmla="*/ 26 w 963"/>
                        <a:gd name="T17" fmla="*/ 29 h 2101"/>
                        <a:gd name="T18" fmla="*/ 26 w 963"/>
                        <a:gd name="T19" fmla="*/ 33 h 2101"/>
                        <a:gd name="T20" fmla="*/ 26 w 963"/>
                        <a:gd name="T21" fmla="*/ 37 h 2101"/>
                        <a:gd name="T22" fmla="*/ 27 w 963"/>
                        <a:gd name="T23" fmla="*/ 41 h 2101"/>
                        <a:gd name="T24" fmla="*/ 27 w 963"/>
                        <a:gd name="T25" fmla="*/ 46 h 2101"/>
                        <a:gd name="T26" fmla="*/ 27 w 963"/>
                        <a:gd name="T27" fmla="*/ 50 h 2101"/>
                        <a:gd name="T28" fmla="*/ 28 w 963"/>
                        <a:gd name="T29" fmla="*/ 54 h 2101"/>
                        <a:gd name="T30" fmla="*/ 28 w 963"/>
                        <a:gd name="T31" fmla="*/ 58 h 2101"/>
                        <a:gd name="T32" fmla="*/ 29 w 963"/>
                        <a:gd name="T33" fmla="*/ 63 h 2101"/>
                        <a:gd name="T34" fmla="*/ 31 w 963"/>
                        <a:gd name="T35" fmla="*/ 66 h 2101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w 963"/>
                        <a:gd name="T55" fmla="*/ 0 h 2101"/>
                        <a:gd name="T56" fmla="*/ 963 w 963"/>
                        <a:gd name="T57" fmla="*/ 2101 h 2101"/>
                      </a:gdLst>
                      <a:ahLst/>
                      <a:cxnLst>
                        <a:cxn ang="T36">
                          <a:pos x="T0" y="T1"/>
                        </a:cxn>
                        <a:cxn ang="T37">
                          <a:pos x="T2" y="T3"/>
                        </a:cxn>
                        <a:cxn ang="T38">
                          <a:pos x="T4" y="T5"/>
                        </a:cxn>
                        <a:cxn ang="T39">
                          <a:pos x="T6" y="T7"/>
                        </a:cxn>
                        <a:cxn ang="T40">
                          <a:pos x="T8" y="T9"/>
                        </a:cxn>
                        <a:cxn ang="T41">
                          <a:pos x="T10" y="T11"/>
                        </a:cxn>
                        <a:cxn ang="T42">
                          <a:pos x="T12" y="T13"/>
                        </a:cxn>
                        <a:cxn ang="T43">
                          <a:pos x="T14" y="T15"/>
                        </a:cxn>
                        <a:cxn ang="T44">
                          <a:pos x="T16" y="T17"/>
                        </a:cxn>
                        <a:cxn ang="T45">
                          <a:pos x="T18" y="T19"/>
                        </a:cxn>
                        <a:cxn ang="T46">
                          <a:pos x="T20" y="T21"/>
                        </a:cxn>
                        <a:cxn ang="T47">
                          <a:pos x="T22" y="T23"/>
                        </a:cxn>
                        <a:cxn ang="T48">
                          <a:pos x="T24" y="T25"/>
                        </a:cxn>
                        <a:cxn ang="T49">
                          <a:pos x="T26" y="T27"/>
                        </a:cxn>
                        <a:cxn ang="T50">
                          <a:pos x="T28" y="T29"/>
                        </a:cxn>
                        <a:cxn ang="T51">
                          <a:pos x="T30" y="T31"/>
                        </a:cxn>
                        <a:cxn ang="T52">
                          <a:pos x="T32" y="T33"/>
                        </a:cxn>
                        <a:cxn ang="T53">
                          <a:pos x="T34" y="T35"/>
                        </a:cxn>
                      </a:cxnLst>
                      <a:rect l="T54" t="T55" r="T56" b="T57"/>
                      <a:pathLst>
                        <a:path w="963" h="2101">
                          <a:moveTo>
                            <a:pt x="0" y="0"/>
                          </a:moveTo>
                          <a:lnTo>
                            <a:pt x="156" y="89"/>
                          </a:lnTo>
                          <a:lnTo>
                            <a:pt x="263" y="174"/>
                          </a:lnTo>
                          <a:lnTo>
                            <a:pt x="362" y="258"/>
                          </a:lnTo>
                          <a:lnTo>
                            <a:pt x="447" y="367"/>
                          </a:lnTo>
                          <a:lnTo>
                            <a:pt x="553" y="489"/>
                          </a:lnTo>
                          <a:lnTo>
                            <a:pt x="673" y="642"/>
                          </a:lnTo>
                          <a:lnTo>
                            <a:pt x="766" y="784"/>
                          </a:lnTo>
                          <a:lnTo>
                            <a:pt x="816" y="910"/>
                          </a:lnTo>
                          <a:lnTo>
                            <a:pt x="828" y="1034"/>
                          </a:lnTo>
                          <a:lnTo>
                            <a:pt x="824" y="1166"/>
                          </a:lnTo>
                          <a:lnTo>
                            <a:pt x="834" y="1311"/>
                          </a:lnTo>
                          <a:lnTo>
                            <a:pt x="846" y="1448"/>
                          </a:lnTo>
                          <a:lnTo>
                            <a:pt x="856" y="1571"/>
                          </a:lnTo>
                          <a:lnTo>
                            <a:pt x="873" y="1721"/>
                          </a:lnTo>
                          <a:lnTo>
                            <a:pt x="887" y="1848"/>
                          </a:lnTo>
                          <a:lnTo>
                            <a:pt x="917" y="1985"/>
                          </a:lnTo>
                          <a:lnTo>
                            <a:pt x="963" y="2101"/>
                          </a:lnTo>
                        </a:path>
                      </a:pathLst>
                    </a:custGeom>
                    <a:noFill/>
                    <a:ln w="7938">
                      <a:solidFill>
                        <a:schemeClr val="folHlink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06" name="Line 1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68" y="2105"/>
                      <a:ext cx="501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grpSp>
                  <p:nvGrpSpPr>
                    <p:cNvPr id="58607" name="Group 11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189" y="2070"/>
                      <a:ext cx="798" cy="1063"/>
                      <a:chOff x="3189" y="2070"/>
                      <a:chExt cx="798" cy="1063"/>
                    </a:xfrm>
                  </p:grpSpPr>
                  <p:sp>
                    <p:nvSpPr>
                      <p:cNvPr id="58608" name="Freeform 11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89" y="2070"/>
                        <a:ext cx="539" cy="1063"/>
                      </a:xfrm>
                      <a:custGeom>
                        <a:avLst/>
                        <a:gdLst>
                          <a:gd name="T0" fmla="*/ 0 w 1078"/>
                          <a:gd name="T1" fmla="*/ 0 h 2124"/>
                          <a:gd name="T2" fmla="*/ 5 w 1078"/>
                          <a:gd name="T3" fmla="*/ 3 h 2124"/>
                          <a:gd name="T4" fmla="*/ 8 w 1078"/>
                          <a:gd name="T5" fmla="*/ 6 h 2124"/>
                          <a:gd name="T6" fmla="*/ 11 w 1078"/>
                          <a:gd name="T7" fmla="*/ 9 h 2124"/>
                          <a:gd name="T8" fmla="*/ 14 w 1078"/>
                          <a:gd name="T9" fmla="*/ 13 h 2124"/>
                          <a:gd name="T10" fmla="*/ 17 w 1078"/>
                          <a:gd name="T11" fmla="*/ 17 h 2124"/>
                          <a:gd name="T12" fmla="*/ 20 w 1078"/>
                          <a:gd name="T13" fmla="*/ 21 h 2124"/>
                          <a:gd name="T14" fmla="*/ 21 w 1078"/>
                          <a:gd name="T15" fmla="*/ 25 h 2124"/>
                          <a:gd name="T16" fmla="*/ 23 w 1078"/>
                          <a:gd name="T17" fmla="*/ 29 h 2124"/>
                          <a:gd name="T18" fmla="*/ 23 w 1078"/>
                          <a:gd name="T19" fmla="*/ 33 h 2124"/>
                          <a:gd name="T20" fmla="*/ 23 w 1078"/>
                          <a:gd name="T21" fmla="*/ 37 h 2124"/>
                          <a:gd name="T22" fmla="*/ 24 w 1078"/>
                          <a:gd name="T23" fmla="*/ 42 h 2124"/>
                          <a:gd name="T24" fmla="*/ 24 w 1078"/>
                          <a:gd name="T25" fmla="*/ 46 h 2124"/>
                          <a:gd name="T26" fmla="*/ 25 w 1078"/>
                          <a:gd name="T27" fmla="*/ 50 h 2124"/>
                          <a:gd name="T28" fmla="*/ 27 w 1078"/>
                          <a:gd name="T29" fmla="*/ 55 h 2124"/>
                          <a:gd name="T30" fmla="*/ 28 w 1078"/>
                          <a:gd name="T31" fmla="*/ 58 h 2124"/>
                          <a:gd name="T32" fmla="*/ 31 w 1078"/>
                          <a:gd name="T33" fmla="*/ 62 h 2124"/>
                          <a:gd name="T34" fmla="*/ 34 w 1078"/>
                          <a:gd name="T35" fmla="*/ 67 h 2124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1078"/>
                          <a:gd name="T55" fmla="*/ 0 h 2124"/>
                          <a:gd name="T56" fmla="*/ 1078 w 1078"/>
                          <a:gd name="T57" fmla="*/ 2124 h 2124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1078" h="2124">
                            <a:moveTo>
                              <a:pt x="0" y="0"/>
                            </a:moveTo>
                            <a:lnTo>
                              <a:pt x="133" y="90"/>
                            </a:lnTo>
                            <a:lnTo>
                              <a:pt x="253" y="189"/>
                            </a:lnTo>
                            <a:lnTo>
                              <a:pt x="347" y="273"/>
                            </a:lnTo>
                            <a:lnTo>
                              <a:pt x="444" y="390"/>
                            </a:lnTo>
                            <a:lnTo>
                              <a:pt x="535" y="518"/>
                            </a:lnTo>
                            <a:lnTo>
                              <a:pt x="615" y="648"/>
                            </a:lnTo>
                            <a:lnTo>
                              <a:pt x="673" y="788"/>
                            </a:lnTo>
                            <a:lnTo>
                              <a:pt x="709" y="921"/>
                            </a:lnTo>
                            <a:lnTo>
                              <a:pt x="721" y="1044"/>
                            </a:lnTo>
                            <a:lnTo>
                              <a:pt x="727" y="1180"/>
                            </a:lnTo>
                            <a:lnTo>
                              <a:pt x="749" y="1317"/>
                            </a:lnTo>
                            <a:lnTo>
                              <a:pt x="770" y="1449"/>
                            </a:lnTo>
                            <a:lnTo>
                              <a:pt x="802" y="1581"/>
                            </a:lnTo>
                            <a:lnTo>
                              <a:pt x="842" y="1735"/>
                            </a:lnTo>
                            <a:lnTo>
                              <a:pt x="891" y="1850"/>
                            </a:lnTo>
                            <a:lnTo>
                              <a:pt x="971" y="1982"/>
                            </a:lnTo>
                            <a:lnTo>
                              <a:pt x="1078" y="2124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09" name="Freeform 12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27" y="2077"/>
                        <a:ext cx="514" cy="1055"/>
                      </a:xfrm>
                      <a:custGeom>
                        <a:avLst/>
                        <a:gdLst>
                          <a:gd name="T0" fmla="*/ 0 w 1029"/>
                          <a:gd name="T1" fmla="*/ 0 h 2110"/>
                          <a:gd name="T2" fmla="*/ 4 w 1029"/>
                          <a:gd name="T3" fmla="*/ 3 h 2110"/>
                          <a:gd name="T4" fmla="*/ 8 w 1029"/>
                          <a:gd name="T5" fmla="*/ 6 h 2110"/>
                          <a:gd name="T6" fmla="*/ 11 w 1029"/>
                          <a:gd name="T7" fmla="*/ 9 h 2110"/>
                          <a:gd name="T8" fmla="*/ 13 w 1029"/>
                          <a:gd name="T9" fmla="*/ 12 h 2110"/>
                          <a:gd name="T10" fmla="*/ 16 w 1029"/>
                          <a:gd name="T11" fmla="*/ 16 h 2110"/>
                          <a:gd name="T12" fmla="*/ 20 w 1029"/>
                          <a:gd name="T13" fmla="*/ 20 h 2110"/>
                          <a:gd name="T14" fmla="*/ 22 w 1029"/>
                          <a:gd name="T15" fmla="*/ 25 h 2110"/>
                          <a:gd name="T16" fmla="*/ 23 w 1029"/>
                          <a:gd name="T17" fmla="*/ 29 h 2110"/>
                          <a:gd name="T18" fmla="*/ 24 w 1029"/>
                          <a:gd name="T19" fmla="*/ 33 h 2110"/>
                          <a:gd name="T20" fmla="*/ 24 w 1029"/>
                          <a:gd name="T21" fmla="*/ 37 h 2110"/>
                          <a:gd name="T22" fmla="*/ 24 w 1029"/>
                          <a:gd name="T23" fmla="*/ 41 h 2110"/>
                          <a:gd name="T24" fmla="*/ 25 w 1029"/>
                          <a:gd name="T25" fmla="*/ 45 h 2110"/>
                          <a:gd name="T26" fmla="*/ 25 w 1029"/>
                          <a:gd name="T27" fmla="*/ 50 h 2110"/>
                          <a:gd name="T28" fmla="*/ 26 w 1029"/>
                          <a:gd name="T29" fmla="*/ 54 h 2110"/>
                          <a:gd name="T30" fmla="*/ 27 w 1029"/>
                          <a:gd name="T31" fmla="*/ 57 h 2110"/>
                          <a:gd name="T32" fmla="*/ 28 w 1029"/>
                          <a:gd name="T33" fmla="*/ 61 h 2110"/>
                          <a:gd name="T34" fmla="*/ 32 w 1029"/>
                          <a:gd name="T35" fmla="*/ 66 h 2110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1029"/>
                          <a:gd name="T55" fmla="*/ 0 h 2110"/>
                          <a:gd name="T56" fmla="*/ 1029 w 1029"/>
                          <a:gd name="T57" fmla="*/ 2110 h 2110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1029" h="2110">
                            <a:moveTo>
                              <a:pt x="0" y="0"/>
                            </a:moveTo>
                            <a:lnTo>
                              <a:pt x="157" y="99"/>
                            </a:lnTo>
                            <a:lnTo>
                              <a:pt x="276" y="187"/>
                            </a:lnTo>
                            <a:lnTo>
                              <a:pt x="365" y="273"/>
                            </a:lnTo>
                            <a:lnTo>
                              <a:pt x="447" y="372"/>
                            </a:lnTo>
                            <a:lnTo>
                              <a:pt x="535" y="489"/>
                            </a:lnTo>
                            <a:lnTo>
                              <a:pt x="642" y="642"/>
                            </a:lnTo>
                            <a:lnTo>
                              <a:pt x="717" y="778"/>
                            </a:lnTo>
                            <a:lnTo>
                              <a:pt x="767" y="921"/>
                            </a:lnTo>
                            <a:lnTo>
                              <a:pt x="771" y="1047"/>
                            </a:lnTo>
                            <a:lnTo>
                              <a:pt x="776" y="1166"/>
                            </a:lnTo>
                            <a:lnTo>
                              <a:pt x="789" y="1284"/>
                            </a:lnTo>
                            <a:lnTo>
                              <a:pt x="802" y="1420"/>
                            </a:lnTo>
                            <a:lnTo>
                              <a:pt x="828" y="1575"/>
                            </a:lnTo>
                            <a:lnTo>
                              <a:pt x="856" y="1711"/>
                            </a:lnTo>
                            <a:lnTo>
                              <a:pt x="882" y="1825"/>
                            </a:lnTo>
                            <a:lnTo>
                              <a:pt x="927" y="1943"/>
                            </a:lnTo>
                            <a:lnTo>
                              <a:pt x="1029" y="2110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0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07" y="2083"/>
                        <a:ext cx="443" cy="1046"/>
                      </a:xfrm>
                      <a:custGeom>
                        <a:avLst/>
                        <a:gdLst>
                          <a:gd name="T0" fmla="*/ 0 w 886"/>
                          <a:gd name="T1" fmla="*/ 0 h 2092"/>
                          <a:gd name="T2" fmla="*/ 4 w 886"/>
                          <a:gd name="T3" fmla="*/ 3 h 2092"/>
                          <a:gd name="T4" fmla="*/ 7 w 886"/>
                          <a:gd name="T5" fmla="*/ 5 h 2092"/>
                          <a:gd name="T6" fmla="*/ 10 w 886"/>
                          <a:gd name="T7" fmla="*/ 7 h 2092"/>
                          <a:gd name="T8" fmla="*/ 14 w 886"/>
                          <a:gd name="T9" fmla="*/ 11 h 2092"/>
                          <a:gd name="T10" fmla="*/ 18 w 886"/>
                          <a:gd name="T11" fmla="*/ 16 h 2092"/>
                          <a:gd name="T12" fmla="*/ 22 w 886"/>
                          <a:gd name="T13" fmla="*/ 20 h 2092"/>
                          <a:gd name="T14" fmla="*/ 25 w 886"/>
                          <a:gd name="T15" fmla="*/ 24 h 2092"/>
                          <a:gd name="T16" fmla="*/ 27 w 886"/>
                          <a:gd name="T17" fmla="*/ 29 h 2092"/>
                          <a:gd name="T18" fmla="*/ 27 w 886"/>
                          <a:gd name="T19" fmla="*/ 33 h 2092"/>
                          <a:gd name="T20" fmla="*/ 28 w 886"/>
                          <a:gd name="T21" fmla="*/ 37 h 2092"/>
                          <a:gd name="T22" fmla="*/ 28 w 886"/>
                          <a:gd name="T23" fmla="*/ 40 h 2092"/>
                          <a:gd name="T24" fmla="*/ 28 w 886"/>
                          <a:gd name="T25" fmla="*/ 45 h 2092"/>
                          <a:gd name="T26" fmla="*/ 28 w 886"/>
                          <a:gd name="T27" fmla="*/ 49 h 2092"/>
                          <a:gd name="T28" fmla="*/ 28 w 886"/>
                          <a:gd name="T29" fmla="*/ 54 h 2092"/>
                          <a:gd name="T30" fmla="*/ 28 w 886"/>
                          <a:gd name="T31" fmla="*/ 57 h 2092"/>
                          <a:gd name="T32" fmla="*/ 28 w 886"/>
                          <a:gd name="T33" fmla="*/ 62 h 2092"/>
                          <a:gd name="T34" fmla="*/ 28 w 886"/>
                          <a:gd name="T35" fmla="*/ 66 h 2092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886"/>
                          <a:gd name="T55" fmla="*/ 0 h 2092"/>
                          <a:gd name="T56" fmla="*/ 886 w 886"/>
                          <a:gd name="T57" fmla="*/ 2092 h 2092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886" h="2092">
                            <a:moveTo>
                              <a:pt x="0" y="0"/>
                            </a:moveTo>
                            <a:lnTo>
                              <a:pt x="125" y="71"/>
                            </a:lnTo>
                            <a:lnTo>
                              <a:pt x="218" y="136"/>
                            </a:lnTo>
                            <a:lnTo>
                              <a:pt x="317" y="226"/>
                            </a:lnTo>
                            <a:lnTo>
                              <a:pt x="432" y="339"/>
                            </a:lnTo>
                            <a:lnTo>
                              <a:pt x="567" y="486"/>
                            </a:lnTo>
                            <a:lnTo>
                              <a:pt x="696" y="624"/>
                            </a:lnTo>
                            <a:lnTo>
                              <a:pt x="793" y="760"/>
                            </a:lnTo>
                            <a:lnTo>
                              <a:pt x="856" y="901"/>
                            </a:lnTo>
                            <a:lnTo>
                              <a:pt x="864" y="1025"/>
                            </a:lnTo>
                            <a:lnTo>
                              <a:pt x="874" y="1157"/>
                            </a:lnTo>
                            <a:lnTo>
                              <a:pt x="874" y="1283"/>
                            </a:lnTo>
                            <a:lnTo>
                              <a:pt x="874" y="1430"/>
                            </a:lnTo>
                            <a:lnTo>
                              <a:pt x="874" y="1566"/>
                            </a:lnTo>
                            <a:lnTo>
                              <a:pt x="868" y="1706"/>
                            </a:lnTo>
                            <a:lnTo>
                              <a:pt x="868" y="1826"/>
                            </a:lnTo>
                            <a:lnTo>
                              <a:pt x="882" y="1972"/>
                            </a:lnTo>
                            <a:lnTo>
                              <a:pt x="886" y="2092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1" name="Line 12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64" y="2728"/>
                        <a:ext cx="623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2" name="Line 12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87" y="2796"/>
                        <a:ext cx="57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3" name="Line 12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23" y="2869"/>
                        <a:ext cx="516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4" name="Line 12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58" y="2935"/>
                        <a:ext cx="45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5" name="Line 12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02" y="2998"/>
                        <a:ext cx="387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6" name="Line 12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48" y="3050"/>
                        <a:ext cx="30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7" name="Line 12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06" y="3095"/>
                        <a:ext cx="214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</p:grpSp>
              </p:grpSp>
              <p:grpSp>
                <p:nvGrpSpPr>
                  <p:cNvPr id="58525" name="Group 129"/>
                  <p:cNvGrpSpPr>
                    <a:grpSpLocks/>
                  </p:cNvGrpSpPr>
                  <p:nvPr/>
                </p:nvGrpSpPr>
                <p:grpSpPr bwMode="auto">
                  <a:xfrm>
                    <a:off x="3691" y="853"/>
                    <a:ext cx="1114" cy="577"/>
                    <a:chOff x="1803" y="2102"/>
                    <a:chExt cx="2127" cy="1033"/>
                  </a:xfrm>
                </p:grpSpPr>
                <p:sp>
                  <p:nvSpPr>
                    <p:cNvPr id="58560" name="Freeform 130"/>
                    <p:cNvSpPr>
                      <a:spLocks/>
                    </p:cNvSpPr>
                    <p:nvPr/>
                  </p:nvSpPr>
                  <p:spPr bwMode="auto">
                    <a:xfrm>
                      <a:off x="2953" y="2346"/>
                      <a:ext cx="10" cy="11"/>
                    </a:xfrm>
                    <a:custGeom>
                      <a:avLst/>
                      <a:gdLst>
                        <a:gd name="T0" fmla="*/ 1 w 20"/>
                        <a:gd name="T1" fmla="*/ 1 h 21"/>
                        <a:gd name="T2" fmla="*/ 1 w 20"/>
                        <a:gd name="T3" fmla="*/ 1 h 21"/>
                        <a:gd name="T4" fmla="*/ 1 w 20"/>
                        <a:gd name="T5" fmla="*/ 1 h 21"/>
                        <a:gd name="T6" fmla="*/ 0 w 20"/>
                        <a:gd name="T7" fmla="*/ 1 h 21"/>
                        <a:gd name="T8" fmla="*/ 1 w 20"/>
                        <a:gd name="T9" fmla="*/ 0 h 21"/>
                        <a:gd name="T10" fmla="*/ 1 w 20"/>
                        <a:gd name="T11" fmla="*/ 1 h 21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20"/>
                        <a:gd name="T19" fmla="*/ 0 h 21"/>
                        <a:gd name="T20" fmla="*/ 20 w 20"/>
                        <a:gd name="T21" fmla="*/ 21 h 21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20" h="21">
                          <a:moveTo>
                            <a:pt x="20" y="1"/>
                          </a:moveTo>
                          <a:lnTo>
                            <a:pt x="20" y="20"/>
                          </a:lnTo>
                          <a:lnTo>
                            <a:pt x="13" y="21"/>
                          </a:lnTo>
                          <a:lnTo>
                            <a:pt x="0" y="4"/>
                          </a:lnTo>
                          <a:lnTo>
                            <a:pt x="8" y="0"/>
                          </a:lnTo>
                          <a:lnTo>
                            <a:pt x="20" y="1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561" name="Freeform 131"/>
                    <p:cNvSpPr>
                      <a:spLocks/>
                    </p:cNvSpPr>
                    <p:nvPr/>
                  </p:nvSpPr>
                  <p:spPr bwMode="auto">
                    <a:xfrm>
                      <a:off x="2934" y="2327"/>
                      <a:ext cx="9" cy="16"/>
                    </a:xfrm>
                    <a:custGeom>
                      <a:avLst/>
                      <a:gdLst>
                        <a:gd name="T0" fmla="*/ 1 w 18"/>
                        <a:gd name="T1" fmla="*/ 0 h 32"/>
                        <a:gd name="T2" fmla="*/ 0 w 18"/>
                        <a:gd name="T3" fmla="*/ 1 h 32"/>
                        <a:gd name="T4" fmla="*/ 1 w 18"/>
                        <a:gd name="T5" fmla="*/ 1 h 32"/>
                        <a:gd name="T6" fmla="*/ 1 w 18"/>
                        <a:gd name="T7" fmla="*/ 1 h 32"/>
                        <a:gd name="T8" fmla="*/ 1 w 18"/>
                        <a:gd name="T9" fmla="*/ 0 h 3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8"/>
                        <a:gd name="T16" fmla="*/ 0 h 32"/>
                        <a:gd name="T17" fmla="*/ 18 w 18"/>
                        <a:gd name="T18" fmla="*/ 32 h 3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8" h="32">
                          <a:moveTo>
                            <a:pt x="18" y="0"/>
                          </a:moveTo>
                          <a:lnTo>
                            <a:pt x="0" y="6"/>
                          </a:lnTo>
                          <a:lnTo>
                            <a:pt x="3" y="32"/>
                          </a:lnTo>
                          <a:lnTo>
                            <a:pt x="15" y="29"/>
                          </a:lnTo>
                          <a:lnTo>
                            <a:pt x="18" y="0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grpSp>
                  <p:nvGrpSpPr>
                    <p:cNvPr id="58562" name="Group 13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03" y="2102"/>
                      <a:ext cx="2127" cy="1033"/>
                      <a:chOff x="1803" y="2102"/>
                      <a:chExt cx="2127" cy="1033"/>
                    </a:xfrm>
                  </p:grpSpPr>
                  <p:grpSp>
                    <p:nvGrpSpPr>
                      <p:cNvPr id="58563" name="Group 13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748" y="2104"/>
                        <a:ext cx="1182" cy="1027"/>
                        <a:chOff x="2748" y="2104"/>
                        <a:chExt cx="1182" cy="1027"/>
                      </a:xfrm>
                    </p:grpSpPr>
                    <p:grpSp>
                      <p:nvGrpSpPr>
                        <p:cNvPr id="58573" name="Group 13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561" y="2616"/>
                          <a:ext cx="369" cy="515"/>
                          <a:chOff x="3561" y="2616"/>
                          <a:chExt cx="369" cy="515"/>
                        </a:xfrm>
                      </p:grpSpPr>
                      <p:sp>
                        <p:nvSpPr>
                          <p:cNvPr id="58598" name="Freeform 135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61" y="3034"/>
                            <a:ext cx="263" cy="97"/>
                          </a:xfrm>
                          <a:custGeom>
                            <a:avLst/>
                            <a:gdLst>
                              <a:gd name="T0" fmla="*/ 4 w 525"/>
                              <a:gd name="T1" fmla="*/ 1 h 194"/>
                              <a:gd name="T2" fmla="*/ 5 w 525"/>
                              <a:gd name="T3" fmla="*/ 1 h 194"/>
                              <a:gd name="T4" fmla="*/ 5 w 525"/>
                              <a:gd name="T5" fmla="*/ 1 h 194"/>
                              <a:gd name="T6" fmla="*/ 6 w 525"/>
                              <a:gd name="T7" fmla="*/ 1 h 194"/>
                              <a:gd name="T8" fmla="*/ 7 w 525"/>
                              <a:gd name="T9" fmla="*/ 1 h 194"/>
                              <a:gd name="T10" fmla="*/ 7 w 525"/>
                              <a:gd name="T11" fmla="*/ 0 h 194"/>
                              <a:gd name="T12" fmla="*/ 8 w 525"/>
                              <a:gd name="T13" fmla="*/ 1 h 194"/>
                              <a:gd name="T14" fmla="*/ 8 w 525"/>
                              <a:gd name="T15" fmla="*/ 1 h 194"/>
                              <a:gd name="T16" fmla="*/ 8 w 525"/>
                              <a:gd name="T17" fmla="*/ 1 h 194"/>
                              <a:gd name="T18" fmla="*/ 9 w 525"/>
                              <a:gd name="T19" fmla="*/ 1 h 194"/>
                              <a:gd name="T20" fmla="*/ 9 w 525"/>
                              <a:gd name="T21" fmla="*/ 1 h 194"/>
                              <a:gd name="T22" fmla="*/ 10 w 525"/>
                              <a:gd name="T23" fmla="*/ 1 h 194"/>
                              <a:gd name="T24" fmla="*/ 10 w 525"/>
                              <a:gd name="T25" fmla="*/ 1 h 194"/>
                              <a:gd name="T26" fmla="*/ 11 w 525"/>
                              <a:gd name="T27" fmla="*/ 1 h 194"/>
                              <a:gd name="T28" fmla="*/ 12 w 525"/>
                              <a:gd name="T29" fmla="*/ 1 h 194"/>
                              <a:gd name="T30" fmla="*/ 13 w 525"/>
                              <a:gd name="T31" fmla="*/ 1 h 194"/>
                              <a:gd name="T32" fmla="*/ 13 w 525"/>
                              <a:gd name="T33" fmla="*/ 1 h 194"/>
                              <a:gd name="T34" fmla="*/ 14 w 525"/>
                              <a:gd name="T35" fmla="*/ 1 h 194"/>
                              <a:gd name="T36" fmla="*/ 14 w 525"/>
                              <a:gd name="T37" fmla="*/ 1 h 194"/>
                              <a:gd name="T38" fmla="*/ 15 w 525"/>
                              <a:gd name="T39" fmla="*/ 1 h 194"/>
                              <a:gd name="T40" fmla="*/ 15 w 525"/>
                              <a:gd name="T41" fmla="*/ 1 h 194"/>
                              <a:gd name="T42" fmla="*/ 16 w 525"/>
                              <a:gd name="T43" fmla="*/ 2 h 194"/>
                              <a:gd name="T44" fmla="*/ 16 w 525"/>
                              <a:gd name="T45" fmla="*/ 2 h 194"/>
                              <a:gd name="T46" fmla="*/ 17 w 525"/>
                              <a:gd name="T47" fmla="*/ 2 h 194"/>
                              <a:gd name="T48" fmla="*/ 17 w 525"/>
                              <a:gd name="T49" fmla="*/ 2 h 194"/>
                              <a:gd name="T50" fmla="*/ 17 w 525"/>
                              <a:gd name="T51" fmla="*/ 3 h 194"/>
                              <a:gd name="T52" fmla="*/ 16 w 525"/>
                              <a:gd name="T53" fmla="*/ 3 h 194"/>
                              <a:gd name="T54" fmla="*/ 16 w 525"/>
                              <a:gd name="T55" fmla="*/ 3 h 194"/>
                              <a:gd name="T56" fmla="*/ 15 w 525"/>
                              <a:gd name="T57" fmla="*/ 4 h 194"/>
                              <a:gd name="T58" fmla="*/ 15 w 525"/>
                              <a:gd name="T59" fmla="*/ 4 h 194"/>
                              <a:gd name="T60" fmla="*/ 15 w 525"/>
                              <a:gd name="T61" fmla="*/ 4 h 194"/>
                              <a:gd name="T62" fmla="*/ 15 w 525"/>
                              <a:gd name="T63" fmla="*/ 5 h 194"/>
                              <a:gd name="T64" fmla="*/ 14 w 525"/>
                              <a:gd name="T65" fmla="*/ 5 h 194"/>
                              <a:gd name="T66" fmla="*/ 14 w 525"/>
                              <a:gd name="T67" fmla="*/ 5 h 194"/>
                              <a:gd name="T68" fmla="*/ 15 w 525"/>
                              <a:gd name="T69" fmla="*/ 5 h 194"/>
                              <a:gd name="T70" fmla="*/ 14 w 525"/>
                              <a:gd name="T71" fmla="*/ 6 h 194"/>
                              <a:gd name="T72" fmla="*/ 13 w 525"/>
                              <a:gd name="T73" fmla="*/ 6 h 194"/>
                              <a:gd name="T74" fmla="*/ 12 w 525"/>
                              <a:gd name="T75" fmla="*/ 6 h 194"/>
                              <a:gd name="T76" fmla="*/ 11 w 525"/>
                              <a:gd name="T77" fmla="*/ 7 h 194"/>
                              <a:gd name="T78" fmla="*/ 10 w 525"/>
                              <a:gd name="T79" fmla="*/ 6 h 194"/>
                              <a:gd name="T80" fmla="*/ 9 w 525"/>
                              <a:gd name="T81" fmla="*/ 6 h 194"/>
                              <a:gd name="T82" fmla="*/ 8 w 525"/>
                              <a:gd name="T83" fmla="*/ 6 h 194"/>
                              <a:gd name="T84" fmla="*/ 7 w 525"/>
                              <a:gd name="T85" fmla="*/ 6 h 194"/>
                              <a:gd name="T86" fmla="*/ 6 w 525"/>
                              <a:gd name="T87" fmla="*/ 5 h 194"/>
                              <a:gd name="T88" fmla="*/ 5 w 525"/>
                              <a:gd name="T89" fmla="*/ 5 h 194"/>
                              <a:gd name="T90" fmla="*/ 4 w 525"/>
                              <a:gd name="T91" fmla="*/ 5 h 194"/>
                              <a:gd name="T92" fmla="*/ 3 w 525"/>
                              <a:gd name="T93" fmla="*/ 4 h 194"/>
                              <a:gd name="T94" fmla="*/ 3 w 525"/>
                              <a:gd name="T95" fmla="*/ 4 h 194"/>
                              <a:gd name="T96" fmla="*/ 2 w 525"/>
                              <a:gd name="T97" fmla="*/ 3 h 194"/>
                              <a:gd name="T98" fmla="*/ 1 w 525"/>
                              <a:gd name="T99" fmla="*/ 3 h 194"/>
                              <a:gd name="T100" fmla="*/ 1 w 525"/>
                              <a:gd name="T101" fmla="*/ 2 h 194"/>
                              <a:gd name="T102" fmla="*/ 1 w 525"/>
                              <a:gd name="T103" fmla="*/ 2 h 194"/>
                              <a:gd name="T104" fmla="*/ 1 w 525"/>
                              <a:gd name="T105" fmla="*/ 1 h 194"/>
                              <a:gd name="T106" fmla="*/ 2 w 525"/>
                              <a:gd name="T107" fmla="*/ 1 h 194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w 525"/>
                              <a:gd name="T163" fmla="*/ 0 h 194"/>
                              <a:gd name="T164" fmla="*/ 525 w 525"/>
                              <a:gd name="T165" fmla="*/ 194 h 194"/>
                            </a:gdLst>
                            <a:ahLst/>
                            <a:cxnLst>
                              <a:cxn ang="T108">
                                <a:pos x="T0" y="T1"/>
                              </a:cxn>
                              <a:cxn ang="T109">
                                <a:pos x="T2" y="T3"/>
                              </a:cxn>
                              <a:cxn ang="T110">
                                <a:pos x="T4" y="T5"/>
                              </a:cxn>
                              <a:cxn ang="T111">
                                <a:pos x="T6" y="T7"/>
                              </a:cxn>
                              <a:cxn ang="T112">
                                <a:pos x="T8" y="T9"/>
                              </a:cxn>
                              <a:cxn ang="T113">
                                <a:pos x="T10" y="T11"/>
                              </a:cxn>
                              <a:cxn ang="T114">
                                <a:pos x="T12" y="T13"/>
                              </a:cxn>
                              <a:cxn ang="T115">
                                <a:pos x="T14" y="T15"/>
                              </a:cxn>
                              <a:cxn ang="T116">
                                <a:pos x="T16" y="T17"/>
                              </a:cxn>
                              <a:cxn ang="T117">
                                <a:pos x="T18" y="T19"/>
                              </a:cxn>
                              <a:cxn ang="T118">
                                <a:pos x="T20" y="T21"/>
                              </a:cxn>
                              <a:cxn ang="T119">
                                <a:pos x="T22" y="T23"/>
                              </a:cxn>
                              <a:cxn ang="T120">
                                <a:pos x="T24" y="T25"/>
                              </a:cxn>
                              <a:cxn ang="T121">
                                <a:pos x="T26" y="T27"/>
                              </a:cxn>
                              <a:cxn ang="T122">
                                <a:pos x="T28" y="T29"/>
                              </a:cxn>
                              <a:cxn ang="T123">
                                <a:pos x="T30" y="T31"/>
                              </a:cxn>
                              <a:cxn ang="T124">
                                <a:pos x="T32" y="T33"/>
                              </a:cxn>
                              <a:cxn ang="T125">
                                <a:pos x="T34" y="T35"/>
                              </a:cxn>
                              <a:cxn ang="T126">
                                <a:pos x="T36" y="T37"/>
                              </a:cxn>
                              <a:cxn ang="T127">
                                <a:pos x="T38" y="T39"/>
                              </a:cxn>
                              <a:cxn ang="T128">
                                <a:pos x="T40" y="T41"/>
                              </a:cxn>
                              <a:cxn ang="T129">
                                <a:pos x="T42" y="T43"/>
                              </a:cxn>
                              <a:cxn ang="T130">
                                <a:pos x="T44" y="T45"/>
                              </a:cxn>
                              <a:cxn ang="T131">
                                <a:pos x="T46" y="T47"/>
                              </a:cxn>
                              <a:cxn ang="T132">
                                <a:pos x="T48" y="T49"/>
                              </a:cxn>
                              <a:cxn ang="T133">
                                <a:pos x="T50" y="T51"/>
                              </a:cxn>
                              <a:cxn ang="T134">
                                <a:pos x="T52" y="T53"/>
                              </a:cxn>
                              <a:cxn ang="T135">
                                <a:pos x="T54" y="T55"/>
                              </a:cxn>
                              <a:cxn ang="T136">
                                <a:pos x="T56" y="T57"/>
                              </a:cxn>
                              <a:cxn ang="T137">
                                <a:pos x="T58" y="T59"/>
                              </a:cxn>
                              <a:cxn ang="T138">
                                <a:pos x="T60" y="T61"/>
                              </a:cxn>
                              <a:cxn ang="T139">
                                <a:pos x="T62" y="T63"/>
                              </a:cxn>
                              <a:cxn ang="T140">
                                <a:pos x="T64" y="T65"/>
                              </a:cxn>
                              <a:cxn ang="T141">
                                <a:pos x="T66" y="T67"/>
                              </a:cxn>
                              <a:cxn ang="T142">
                                <a:pos x="T68" y="T69"/>
                              </a:cxn>
                              <a:cxn ang="T143">
                                <a:pos x="T70" y="T71"/>
                              </a:cxn>
                              <a:cxn ang="T144">
                                <a:pos x="T72" y="T73"/>
                              </a:cxn>
                              <a:cxn ang="T145">
                                <a:pos x="T74" y="T75"/>
                              </a:cxn>
                              <a:cxn ang="T146">
                                <a:pos x="T76" y="T77"/>
                              </a:cxn>
                              <a:cxn ang="T147">
                                <a:pos x="T78" y="T79"/>
                              </a:cxn>
                              <a:cxn ang="T148">
                                <a:pos x="T80" y="T81"/>
                              </a:cxn>
                              <a:cxn ang="T149">
                                <a:pos x="T82" y="T83"/>
                              </a:cxn>
                              <a:cxn ang="T150">
                                <a:pos x="T84" y="T85"/>
                              </a:cxn>
                              <a:cxn ang="T151">
                                <a:pos x="T86" y="T87"/>
                              </a:cxn>
                              <a:cxn ang="T152">
                                <a:pos x="T88" y="T89"/>
                              </a:cxn>
                              <a:cxn ang="T153">
                                <a:pos x="T90" y="T91"/>
                              </a:cxn>
                              <a:cxn ang="T154">
                                <a:pos x="T92" y="T93"/>
                              </a:cxn>
                              <a:cxn ang="T155">
                                <a:pos x="T94" y="T95"/>
                              </a:cxn>
                              <a:cxn ang="T156">
                                <a:pos x="T96" y="T97"/>
                              </a:cxn>
                              <a:cxn ang="T157">
                                <a:pos x="T98" y="T99"/>
                              </a:cxn>
                              <a:cxn ang="T158">
                                <a:pos x="T100" y="T101"/>
                              </a:cxn>
                              <a:cxn ang="T159">
                                <a:pos x="T102" y="T103"/>
                              </a:cxn>
                              <a:cxn ang="T160">
                                <a:pos x="T104" y="T105"/>
                              </a:cxn>
                              <a:cxn ang="T161">
                                <a:pos x="T106" y="T107"/>
                              </a:cxn>
                            </a:cxnLst>
                            <a:rect l="T162" t="T163" r="T164" b="T165"/>
                            <a:pathLst>
                              <a:path w="525" h="194">
                                <a:moveTo>
                                  <a:pt x="49" y="7"/>
                                </a:moveTo>
                                <a:lnTo>
                                  <a:pt x="103" y="7"/>
                                </a:lnTo>
                                <a:lnTo>
                                  <a:pt x="121" y="9"/>
                                </a:lnTo>
                                <a:lnTo>
                                  <a:pt x="141" y="11"/>
                                </a:lnTo>
                                <a:lnTo>
                                  <a:pt x="149" y="16"/>
                                </a:lnTo>
                                <a:lnTo>
                                  <a:pt x="158" y="10"/>
                                </a:lnTo>
                                <a:lnTo>
                                  <a:pt x="169" y="6"/>
                                </a:lnTo>
                                <a:lnTo>
                                  <a:pt x="177" y="3"/>
                                </a:lnTo>
                                <a:lnTo>
                                  <a:pt x="189" y="1"/>
                                </a:lnTo>
                                <a:lnTo>
                                  <a:pt x="196" y="1"/>
                                </a:lnTo>
                                <a:lnTo>
                                  <a:pt x="202" y="1"/>
                                </a:lnTo>
                                <a:lnTo>
                                  <a:pt x="208" y="0"/>
                                </a:lnTo>
                                <a:lnTo>
                                  <a:pt x="221" y="10"/>
                                </a:lnTo>
                                <a:lnTo>
                                  <a:pt x="225" y="10"/>
                                </a:lnTo>
                                <a:lnTo>
                                  <a:pt x="229" y="16"/>
                                </a:lnTo>
                                <a:lnTo>
                                  <a:pt x="232" y="17"/>
                                </a:lnTo>
                                <a:lnTo>
                                  <a:pt x="243" y="16"/>
                                </a:lnTo>
                                <a:lnTo>
                                  <a:pt x="251" y="16"/>
                                </a:lnTo>
                                <a:lnTo>
                                  <a:pt x="261" y="16"/>
                                </a:lnTo>
                                <a:lnTo>
                                  <a:pt x="266" y="16"/>
                                </a:lnTo>
                                <a:lnTo>
                                  <a:pt x="274" y="16"/>
                                </a:lnTo>
                                <a:lnTo>
                                  <a:pt x="280" y="10"/>
                                </a:lnTo>
                                <a:lnTo>
                                  <a:pt x="285" y="7"/>
                                </a:lnTo>
                                <a:lnTo>
                                  <a:pt x="293" y="6"/>
                                </a:lnTo>
                                <a:lnTo>
                                  <a:pt x="296" y="6"/>
                                </a:lnTo>
                                <a:lnTo>
                                  <a:pt x="303" y="4"/>
                                </a:lnTo>
                                <a:lnTo>
                                  <a:pt x="314" y="7"/>
                                </a:lnTo>
                                <a:lnTo>
                                  <a:pt x="324" y="9"/>
                                </a:lnTo>
                                <a:lnTo>
                                  <a:pt x="335" y="10"/>
                                </a:lnTo>
                                <a:lnTo>
                                  <a:pt x="354" y="13"/>
                                </a:lnTo>
                                <a:lnTo>
                                  <a:pt x="377" y="20"/>
                                </a:lnTo>
                                <a:lnTo>
                                  <a:pt x="385" y="22"/>
                                </a:lnTo>
                                <a:lnTo>
                                  <a:pt x="396" y="25"/>
                                </a:lnTo>
                                <a:lnTo>
                                  <a:pt x="407" y="26"/>
                                </a:lnTo>
                                <a:lnTo>
                                  <a:pt x="416" y="30"/>
                                </a:lnTo>
                                <a:lnTo>
                                  <a:pt x="421" y="32"/>
                                </a:lnTo>
                                <a:lnTo>
                                  <a:pt x="433" y="29"/>
                                </a:lnTo>
                                <a:lnTo>
                                  <a:pt x="439" y="25"/>
                                </a:lnTo>
                                <a:lnTo>
                                  <a:pt x="448" y="25"/>
                                </a:lnTo>
                                <a:lnTo>
                                  <a:pt x="459" y="29"/>
                                </a:lnTo>
                                <a:lnTo>
                                  <a:pt x="464" y="30"/>
                                </a:lnTo>
                                <a:lnTo>
                                  <a:pt x="474" y="32"/>
                                </a:lnTo>
                                <a:lnTo>
                                  <a:pt x="479" y="35"/>
                                </a:lnTo>
                                <a:lnTo>
                                  <a:pt x="485" y="38"/>
                                </a:lnTo>
                                <a:lnTo>
                                  <a:pt x="495" y="43"/>
                                </a:lnTo>
                                <a:lnTo>
                                  <a:pt x="502" y="45"/>
                                </a:lnTo>
                                <a:lnTo>
                                  <a:pt x="507" y="49"/>
                                </a:lnTo>
                                <a:lnTo>
                                  <a:pt x="514" y="54"/>
                                </a:lnTo>
                                <a:lnTo>
                                  <a:pt x="518" y="56"/>
                                </a:lnTo>
                                <a:lnTo>
                                  <a:pt x="522" y="62"/>
                                </a:lnTo>
                                <a:lnTo>
                                  <a:pt x="522" y="67"/>
                                </a:lnTo>
                                <a:lnTo>
                                  <a:pt x="525" y="71"/>
                                </a:lnTo>
                                <a:lnTo>
                                  <a:pt x="518" y="77"/>
                                </a:lnTo>
                                <a:lnTo>
                                  <a:pt x="509" y="80"/>
                                </a:lnTo>
                                <a:lnTo>
                                  <a:pt x="499" y="88"/>
                                </a:lnTo>
                                <a:lnTo>
                                  <a:pt x="487" y="90"/>
                                </a:lnTo>
                                <a:lnTo>
                                  <a:pt x="479" y="97"/>
                                </a:lnTo>
                                <a:lnTo>
                                  <a:pt x="474" y="103"/>
                                </a:lnTo>
                                <a:lnTo>
                                  <a:pt x="470" y="107"/>
                                </a:lnTo>
                                <a:lnTo>
                                  <a:pt x="479" y="112"/>
                                </a:lnTo>
                                <a:lnTo>
                                  <a:pt x="479" y="116"/>
                                </a:lnTo>
                                <a:lnTo>
                                  <a:pt x="469" y="122"/>
                                </a:lnTo>
                                <a:lnTo>
                                  <a:pt x="462" y="128"/>
                                </a:lnTo>
                                <a:lnTo>
                                  <a:pt x="457" y="133"/>
                                </a:lnTo>
                                <a:lnTo>
                                  <a:pt x="451" y="135"/>
                                </a:lnTo>
                                <a:lnTo>
                                  <a:pt x="447" y="135"/>
                                </a:lnTo>
                                <a:lnTo>
                                  <a:pt x="436" y="138"/>
                                </a:lnTo>
                                <a:lnTo>
                                  <a:pt x="432" y="146"/>
                                </a:lnTo>
                                <a:lnTo>
                                  <a:pt x="425" y="152"/>
                                </a:lnTo>
                                <a:lnTo>
                                  <a:pt x="461" y="158"/>
                                </a:lnTo>
                                <a:lnTo>
                                  <a:pt x="457" y="164"/>
                                </a:lnTo>
                                <a:lnTo>
                                  <a:pt x="440" y="168"/>
                                </a:lnTo>
                                <a:lnTo>
                                  <a:pt x="417" y="165"/>
                                </a:lnTo>
                                <a:lnTo>
                                  <a:pt x="398" y="168"/>
                                </a:lnTo>
                                <a:lnTo>
                                  <a:pt x="380" y="174"/>
                                </a:lnTo>
                                <a:lnTo>
                                  <a:pt x="372" y="181"/>
                                </a:lnTo>
                                <a:lnTo>
                                  <a:pt x="369" y="193"/>
                                </a:lnTo>
                                <a:lnTo>
                                  <a:pt x="351" y="194"/>
                                </a:lnTo>
                                <a:lnTo>
                                  <a:pt x="333" y="192"/>
                                </a:lnTo>
                                <a:lnTo>
                                  <a:pt x="306" y="189"/>
                                </a:lnTo>
                                <a:lnTo>
                                  <a:pt x="293" y="184"/>
                                </a:lnTo>
                                <a:lnTo>
                                  <a:pt x="273" y="180"/>
                                </a:lnTo>
                                <a:lnTo>
                                  <a:pt x="258" y="177"/>
                                </a:lnTo>
                                <a:lnTo>
                                  <a:pt x="241" y="174"/>
                                </a:lnTo>
                                <a:lnTo>
                                  <a:pt x="221" y="171"/>
                                </a:lnTo>
                                <a:lnTo>
                                  <a:pt x="207" y="164"/>
                                </a:lnTo>
                                <a:lnTo>
                                  <a:pt x="195" y="161"/>
                                </a:lnTo>
                                <a:lnTo>
                                  <a:pt x="191" y="160"/>
                                </a:lnTo>
                                <a:lnTo>
                                  <a:pt x="169" y="154"/>
                                </a:lnTo>
                                <a:lnTo>
                                  <a:pt x="147" y="144"/>
                                </a:lnTo>
                                <a:lnTo>
                                  <a:pt x="128" y="136"/>
                                </a:lnTo>
                                <a:lnTo>
                                  <a:pt x="118" y="131"/>
                                </a:lnTo>
                                <a:lnTo>
                                  <a:pt x="104" y="125"/>
                                </a:lnTo>
                                <a:lnTo>
                                  <a:pt x="93" y="119"/>
                                </a:lnTo>
                                <a:lnTo>
                                  <a:pt x="81" y="113"/>
                                </a:lnTo>
                                <a:lnTo>
                                  <a:pt x="70" y="106"/>
                                </a:lnTo>
                                <a:lnTo>
                                  <a:pt x="60" y="97"/>
                                </a:lnTo>
                                <a:lnTo>
                                  <a:pt x="49" y="88"/>
                                </a:lnTo>
                                <a:lnTo>
                                  <a:pt x="38" y="81"/>
                                </a:lnTo>
                                <a:lnTo>
                                  <a:pt x="25" y="70"/>
                                </a:lnTo>
                                <a:lnTo>
                                  <a:pt x="14" y="62"/>
                                </a:lnTo>
                                <a:lnTo>
                                  <a:pt x="4" y="55"/>
                                </a:lnTo>
                                <a:lnTo>
                                  <a:pt x="0" y="48"/>
                                </a:lnTo>
                                <a:lnTo>
                                  <a:pt x="15" y="43"/>
                                </a:lnTo>
                                <a:lnTo>
                                  <a:pt x="7" y="27"/>
                                </a:lnTo>
                                <a:lnTo>
                                  <a:pt x="27" y="22"/>
                                </a:lnTo>
                                <a:lnTo>
                                  <a:pt x="19" y="16"/>
                                </a:lnTo>
                                <a:lnTo>
                                  <a:pt x="41" y="13"/>
                                </a:lnTo>
                                <a:lnTo>
                                  <a:pt x="49" y="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grpSp>
                        <p:nvGrpSpPr>
                          <p:cNvPr id="58599" name="Group 136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756" y="2823"/>
                            <a:ext cx="174" cy="87"/>
                            <a:chOff x="3756" y="2823"/>
                            <a:chExt cx="174" cy="87"/>
                          </a:xfrm>
                        </p:grpSpPr>
                        <p:sp>
                          <p:nvSpPr>
                            <p:cNvPr id="58601" name="Freeform 137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902" y="2823"/>
                              <a:ext cx="28" cy="53"/>
                            </a:xfrm>
                            <a:custGeom>
                              <a:avLst/>
                              <a:gdLst>
                                <a:gd name="T0" fmla="*/ 1 w 55"/>
                                <a:gd name="T1" fmla="*/ 0 h 108"/>
                                <a:gd name="T2" fmla="*/ 1 w 55"/>
                                <a:gd name="T3" fmla="*/ 0 h 108"/>
                                <a:gd name="T4" fmla="*/ 2 w 55"/>
                                <a:gd name="T5" fmla="*/ 0 h 108"/>
                                <a:gd name="T6" fmla="*/ 1 w 55"/>
                                <a:gd name="T7" fmla="*/ 1 h 108"/>
                                <a:gd name="T8" fmla="*/ 2 w 55"/>
                                <a:gd name="T9" fmla="*/ 1 h 108"/>
                                <a:gd name="T10" fmla="*/ 2 w 55"/>
                                <a:gd name="T11" fmla="*/ 1 h 108"/>
                                <a:gd name="T12" fmla="*/ 2 w 55"/>
                                <a:gd name="T13" fmla="*/ 1 h 108"/>
                                <a:gd name="T14" fmla="*/ 2 w 55"/>
                                <a:gd name="T15" fmla="*/ 1 h 108"/>
                                <a:gd name="T16" fmla="*/ 2 w 55"/>
                                <a:gd name="T17" fmla="*/ 1 h 108"/>
                                <a:gd name="T18" fmla="*/ 2 w 55"/>
                                <a:gd name="T19" fmla="*/ 1 h 108"/>
                                <a:gd name="T20" fmla="*/ 2 w 55"/>
                                <a:gd name="T21" fmla="*/ 1 h 108"/>
                                <a:gd name="T22" fmla="*/ 2 w 55"/>
                                <a:gd name="T23" fmla="*/ 1 h 108"/>
                                <a:gd name="T24" fmla="*/ 2 w 55"/>
                                <a:gd name="T25" fmla="*/ 2 h 108"/>
                                <a:gd name="T26" fmla="*/ 2 w 55"/>
                                <a:gd name="T27" fmla="*/ 2 h 108"/>
                                <a:gd name="T28" fmla="*/ 2 w 55"/>
                                <a:gd name="T29" fmla="*/ 2 h 108"/>
                                <a:gd name="T30" fmla="*/ 2 w 55"/>
                                <a:gd name="T31" fmla="*/ 2 h 108"/>
                                <a:gd name="T32" fmla="*/ 1 w 55"/>
                                <a:gd name="T33" fmla="*/ 2 h 108"/>
                                <a:gd name="T34" fmla="*/ 1 w 55"/>
                                <a:gd name="T35" fmla="*/ 2 h 108"/>
                                <a:gd name="T36" fmla="*/ 1 w 55"/>
                                <a:gd name="T37" fmla="*/ 2 h 108"/>
                                <a:gd name="T38" fmla="*/ 2 w 55"/>
                                <a:gd name="T39" fmla="*/ 3 h 108"/>
                                <a:gd name="T40" fmla="*/ 1 w 55"/>
                                <a:gd name="T41" fmla="*/ 3 h 108"/>
                                <a:gd name="T42" fmla="*/ 1 w 55"/>
                                <a:gd name="T43" fmla="*/ 3 h 108"/>
                                <a:gd name="T44" fmla="*/ 1 w 55"/>
                                <a:gd name="T45" fmla="*/ 3 h 108"/>
                                <a:gd name="T46" fmla="*/ 1 w 55"/>
                                <a:gd name="T47" fmla="*/ 3 h 108"/>
                                <a:gd name="T48" fmla="*/ 1 w 55"/>
                                <a:gd name="T49" fmla="*/ 3 h 108"/>
                                <a:gd name="T50" fmla="*/ 1 w 55"/>
                                <a:gd name="T51" fmla="*/ 3 h 108"/>
                                <a:gd name="T52" fmla="*/ 1 w 55"/>
                                <a:gd name="T53" fmla="*/ 2 h 108"/>
                                <a:gd name="T54" fmla="*/ 1 w 55"/>
                                <a:gd name="T55" fmla="*/ 2 h 108"/>
                                <a:gd name="T56" fmla="*/ 1 w 55"/>
                                <a:gd name="T57" fmla="*/ 2 h 108"/>
                                <a:gd name="T58" fmla="*/ 1 w 55"/>
                                <a:gd name="T59" fmla="*/ 2 h 108"/>
                                <a:gd name="T60" fmla="*/ 1 w 55"/>
                                <a:gd name="T61" fmla="*/ 2 h 108"/>
                                <a:gd name="T62" fmla="*/ 1 w 55"/>
                                <a:gd name="T63" fmla="*/ 2 h 108"/>
                                <a:gd name="T64" fmla="*/ 1 w 55"/>
                                <a:gd name="T65" fmla="*/ 2 h 108"/>
                                <a:gd name="T66" fmla="*/ 1 w 55"/>
                                <a:gd name="T67" fmla="*/ 2 h 108"/>
                                <a:gd name="T68" fmla="*/ 0 w 55"/>
                                <a:gd name="T69" fmla="*/ 2 h 108"/>
                                <a:gd name="T70" fmla="*/ 1 w 55"/>
                                <a:gd name="T71" fmla="*/ 2 h 108"/>
                                <a:gd name="T72" fmla="*/ 1 w 55"/>
                                <a:gd name="T73" fmla="*/ 2 h 108"/>
                                <a:gd name="T74" fmla="*/ 1 w 55"/>
                                <a:gd name="T75" fmla="*/ 2 h 108"/>
                                <a:gd name="T76" fmla="*/ 1 w 55"/>
                                <a:gd name="T77" fmla="*/ 1 h 108"/>
                                <a:gd name="T78" fmla="*/ 1 w 55"/>
                                <a:gd name="T79" fmla="*/ 1 h 108"/>
                                <a:gd name="T80" fmla="*/ 1 w 55"/>
                                <a:gd name="T81" fmla="*/ 1 h 108"/>
                                <a:gd name="T82" fmla="*/ 1 w 55"/>
                                <a:gd name="T83" fmla="*/ 1 h 108"/>
                                <a:gd name="T84" fmla="*/ 1 w 55"/>
                                <a:gd name="T85" fmla="*/ 1 h 108"/>
                                <a:gd name="T86" fmla="*/ 1 w 55"/>
                                <a:gd name="T87" fmla="*/ 0 h 108"/>
                                <a:gd name="T88" fmla="*/ 1 w 55"/>
                                <a:gd name="T89" fmla="*/ 0 h 108"/>
                                <a:gd name="T90" fmla="*/ 1 w 55"/>
                                <a:gd name="T91" fmla="*/ 0 h 108"/>
                                <a:gd name="T92" fmla="*/ 1 w 55"/>
                                <a:gd name="T93" fmla="*/ 0 h 108"/>
                                <a:gd name="T94" fmla="*/ 0 60000 65536"/>
                                <a:gd name="T95" fmla="*/ 0 60000 65536"/>
                                <a:gd name="T96" fmla="*/ 0 60000 65536"/>
                                <a:gd name="T97" fmla="*/ 0 60000 65536"/>
                                <a:gd name="T98" fmla="*/ 0 60000 65536"/>
                                <a:gd name="T99" fmla="*/ 0 60000 65536"/>
                                <a:gd name="T100" fmla="*/ 0 60000 65536"/>
                                <a:gd name="T101" fmla="*/ 0 60000 65536"/>
                                <a:gd name="T102" fmla="*/ 0 60000 65536"/>
                                <a:gd name="T103" fmla="*/ 0 60000 65536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60000 65536"/>
                                <a:gd name="T133" fmla="*/ 0 60000 65536"/>
                                <a:gd name="T134" fmla="*/ 0 60000 65536"/>
                                <a:gd name="T135" fmla="*/ 0 60000 65536"/>
                                <a:gd name="T136" fmla="*/ 0 60000 65536"/>
                                <a:gd name="T137" fmla="*/ 0 60000 65536"/>
                                <a:gd name="T138" fmla="*/ 0 60000 65536"/>
                                <a:gd name="T139" fmla="*/ 0 60000 65536"/>
                                <a:gd name="T140" fmla="*/ 0 60000 65536"/>
                                <a:gd name="T141" fmla="*/ 0 w 55"/>
                                <a:gd name="T142" fmla="*/ 0 h 108"/>
                                <a:gd name="T143" fmla="*/ 55 w 55"/>
                                <a:gd name="T144" fmla="*/ 108 h 108"/>
                              </a:gdLst>
                              <a:ahLst/>
                              <a:cxnLst>
                                <a:cxn ang="T94">
                                  <a:pos x="T0" y="T1"/>
                                </a:cxn>
                                <a:cxn ang="T95">
                                  <a:pos x="T2" y="T3"/>
                                </a:cxn>
                                <a:cxn ang="T96">
                                  <a:pos x="T4" y="T5"/>
                                </a:cxn>
                                <a:cxn ang="T97">
                                  <a:pos x="T6" y="T7"/>
                                </a:cxn>
                                <a:cxn ang="T98">
                                  <a:pos x="T8" y="T9"/>
                                </a:cxn>
                                <a:cxn ang="T99">
                                  <a:pos x="T10" y="T11"/>
                                </a:cxn>
                                <a:cxn ang="T100">
                                  <a:pos x="T12" y="T13"/>
                                </a:cxn>
                                <a:cxn ang="T101">
                                  <a:pos x="T14" y="T15"/>
                                </a:cxn>
                                <a:cxn ang="T102">
                                  <a:pos x="T16" y="T17"/>
                                </a:cxn>
                                <a:cxn ang="T103">
                                  <a:pos x="T18" y="T19"/>
                                </a:cxn>
                                <a:cxn ang="T104">
                                  <a:pos x="T20" y="T21"/>
                                </a:cxn>
                                <a:cxn ang="T105">
                                  <a:pos x="T22" y="T23"/>
                                </a:cxn>
                                <a:cxn ang="T106">
                                  <a:pos x="T24" y="T25"/>
                                </a:cxn>
                                <a:cxn ang="T107">
                                  <a:pos x="T26" y="T27"/>
                                </a:cxn>
                                <a:cxn ang="T108">
                                  <a:pos x="T28" y="T29"/>
                                </a:cxn>
                                <a:cxn ang="T109">
                                  <a:pos x="T30" y="T31"/>
                                </a:cxn>
                                <a:cxn ang="T110">
                                  <a:pos x="T32" y="T33"/>
                                </a:cxn>
                                <a:cxn ang="T111">
                                  <a:pos x="T34" y="T35"/>
                                </a:cxn>
                                <a:cxn ang="T112">
                                  <a:pos x="T36" y="T37"/>
                                </a:cxn>
                                <a:cxn ang="T113">
                                  <a:pos x="T38" y="T39"/>
                                </a:cxn>
                                <a:cxn ang="T114">
                                  <a:pos x="T40" y="T41"/>
                                </a:cxn>
                                <a:cxn ang="T115">
                                  <a:pos x="T42" y="T43"/>
                                </a:cxn>
                                <a:cxn ang="T116">
                                  <a:pos x="T44" y="T45"/>
                                </a:cxn>
                                <a:cxn ang="T117">
                                  <a:pos x="T46" y="T47"/>
                                </a:cxn>
                                <a:cxn ang="T118">
                                  <a:pos x="T48" y="T49"/>
                                </a:cxn>
                                <a:cxn ang="T119">
                                  <a:pos x="T50" y="T51"/>
                                </a:cxn>
                                <a:cxn ang="T120">
                                  <a:pos x="T52" y="T53"/>
                                </a:cxn>
                                <a:cxn ang="T121">
                                  <a:pos x="T54" y="T55"/>
                                </a:cxn>
                                <a:cxn ang="T122">
                                  <a:pos x="T56" y="T57"/>
                                </a:cxn>
                                <a:cxn ang="T123">
                                  <a:pos x="T58" y="T59"/>
                                </a:cxn>
                                <a:cxn ang="T124">
                                  <a:pos x="T60" y="T61"/>
                                </a:cxn>
                                <a:cxn ang="T125">
                                  <a:pos x="T62" y="T63"/>
                                </a:cxn>
                                <a:cxn ang="T126">
                                  <a:pos x="T64" y="T65"/>
                                </a:cxn>
                                <a:cxn ang="T127">
                                  <a:pos x="T66" y="T67"/>
                                </a:cxn>
                                <a:cxn ang="T128">
                                  <a:pos x="T68" y="T69"/>
                                </a:cxn>
                                <a:cxn ang="T129">
                                  <a:pos x="T70" y="T71"/>
                                </a:cxn>
                                <a:cxn ang="T130">
                                  <a:pos x="T72" y="T73"/>
                                </a:cxn>
                                <a:cxn ang="T131">
                                  <a:pos x="T74" y="T75"/>
                                </a:cxn>
                                <a:cxn ang="T132">
                                  <a:pos x="T76" y="T77"/>
                                </a:cxn>
                                <a:cxn ang="T133">
                                  <a:pos x="T78" y="T79"/>
                                </a:cxn>
                                <a:cxn ang="T134">
                                  <a:pos x="T80" y="T81"/>
                                </a:cxn>
                                <a:cxn ang="T135">
                                  <a:pos x="T82" y="T83"/>
                                </a:cxn>
                                <a:cxn ang="T136">
                                  <a:pos x="T84" y="T85"/>
                                </a:cxn>
                                <a:cxn ang="T137">
                                  <a:pos x="T86" y="T87"/>
                                </a:cxn>
                                <a:cxn ang="T138">
                                  <a:pos x="T88" y="T89"/>
                                </a:cxn>
                                <a:cxn ang="T139">
                                  <a:pos x="T90" y="T91"/>
                                </a:cxn>
                                <a:cxn ang="T140">
                                  <a:pos x="T92" y="T93"/>
                                </a:cxn>
                              </a:cxnLst>
                              <a:rect l="T141" t="T142" r="T143" b="T144"/>
                              <a:pathLst>
                                <a:path w="55" h="108">
                                  <a:moveTo>
                                    <a:pt x="18" y="2"/>
                                  </a:moveTo>
                                  <a:lnTo>
                                    <a:pt x="23" y="0"/>
                                  </a:lnTo>
                                  <a:lnTo>
                                    <a:pt x="33" y="12"/>
                                  </a:lnTo>
                                  <a:lnTo>
                                    <a:pt x="31" y="45"/>
                                  </a:lnTo>
                                  <a:lnTo>
                                    <a:pt x="38" y="45"/>
                                  </a:lnTo>
                                  <a:lnTo>
                                    <a:pt x="40" y="50"/>
                                  </a:lnTo>
                                  <a:lnTo>
                                    <a:pt x="42" y="57"/>
                                  </a:lnTo>
                                  <a:lnTo>
                                    <a:pt x="44" y="61"/>
                                  </a:lnTo>
                                  <a:lnTo>
                                    <a:pt x="49" y="60"/>
                                  </a:lnTo>
                                  <a:lnTo>
                                    <a:pt x="53" y="53"/>
                                  </a:lnTo>
                                  <a:lnTo>
                                    <a:pt x="55" y="57"/>
                                  </a:lnTo>
                                  <a:lnTo>
                                    <a:pt x="52" y="63"/>
                                  </a:lnTo>
                                  <a:lnTo>
                                    <a:pt x="49" y="67"/>
                                  </a:lnTo>
                                  <a:lnTo>
                                    <a:pt x="48" y="76"/>
                                  </a:lnTo>
                                  <a:lnTo>
                                    <a:pt x="41" y="80"/>
                                  </a:lnTo>
                                  <a:lnTo>
                                    <a:pt x="37" y="82"/>
                                  </a:lnTo>
                                  <a:lnTo>
                                    <a:pt x="31" y="86"/>
                                  </a:lnTo>
                                  <a:lnTo>
                                    <a:pt x="30" y="90"/>
                                  </a:lnTo>
                                  <a:lnTo>
                                    <a:pt x="31" y="95"/>
                                  </a:lnTo>
                                  <a:lnTo>
                                    <a:pt x="33" y="102"/>
                                  </a:lnTo>
                                  <a:lnTo>
                                    <a:pt x="26" y="105"/>
                                  </a:lnTo>
                                  <a:lnTo>
                                    <a:pt x="22" y="106"/>
                                  </a:lnTo>
                                  <a:lnTo>
                                    <a:pt x="18" y="108"/>
                                  </a:lnTo>
                                  <a:lnTo>
                                    <a:pt x="15" y="106"/>
                                  </a:lnTo>
                                  <a:lnTo>
                                    <a:pt x="8" y="105"/>
                                  </a:lnTo>
                                  <a:lnTo>
                                    <a:pt x="5" y="102"/>
                                  </a:lnTo>
                                  <a:lnTo>
                                    <a:pt x="8" y="96"/>
                                  </a:lnTo>
                                  <a:lnTo>
                                    <a:pt x="14" y="95"/>
                                  </a:lnTo>
                                  <a:lnTo>
                                    <a:pt x="18" y="87"/>
                                  </a:lnTo>
                                  <a:lnTo>
                                    <a:pt x="18" y="84"/>
                                  </a:lnTo>
                                  <a:lnTo>
                                    <a:pt x="14" y="82"/>
                                  </a:lnTo>
                                  <a:lnTo>
                                    <a:pt x="8" y="77"/>
                                  </a:lnTo>
                                  <a:lnTo>
                                    <a:pt x="4" y="77"/>
                                  </a:lnTo>
                                  <a:lnTo>
                                    <a:pt x="1" y="76"/>
                                  </a:lnTo>
                                  <a:lnTo>
                                    <a:pt x="0" y="71"/>
                                  </a:lnTo>
                                  <a:lnTo>
                                    <a:pt x="1" y="69"/>
                                  </a:lnTo>
                                  <a:lnTo>
                                    <a:pt x="4" y="69"/>
                                  </a:lnTo>
                                  <a:lnTo>
                                    <a:pt x="8" y="67"/>
                                  </a:lnTo>
                                  <a:lnTo>
                                    <a:pt x="14" y="63"/>
                                  </a:lnTo>
                                  <a:lnTo>
                                    <a:pt x="16" y="61"/>
                                  </a:lnTo>
                                  <a:lnTo>
                                    <a:pt x="19" y="45"/>
                                  </a:lnTo>
                                  <a:lnTo>
                                    <a:pt x="16" y="41"/>
                                  </a:lnTo>
                                  <a:lnTo>
                                    <a:pt x="12" y="38"/>
                                  </a:lnTo>
                                  <a:lnTo>
                                    <a:pt x="11" y="29"/>
                                  </a:lnTo>
                                  <a:lnTo>
                                    <a:pt x="12" y="21"/>
                                  </a:lnTo>
                                  <a:lnTo>
                                    <a:pt x="14" y="15"/>
                                  </a:lnTo>
                                  <a:lnTo>
                                    <a:pt x="18" y="2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58602" name="Freeform 138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850" y="2865"/>
                              <a:ext cx="50" cy="45"/>
                            </a:xfrm>
                            <a:custGeom>
                              <a:avLst/>
                              <a:gdLst>
                                <a:gd name="T0" fmla="*/ 2 w 102"/>
                                <a:gd name="T1" fmla="*/ 0 h 92"/>
                                <a:gd name="T2" fmla="*/ 2 w 102"/>
                                <a:gd name="T3" fmla="*/ 0 h 92"/>
                                <a:gd name="T4" fmla="*/ 3 w 102"/>
                                <a:gd name="T5" fmla="*/ 0 h 92"/>
                                <a:gd name="T6" fmla="*/ 2 w 102"/>
                                <a:gd name="T7" fmla="*/ 1 h 92"/>
                                <a:gd name="T8" fmla="*/ 2 w 102"/>
                                <a:gd name="T9" fmla="*/ 1 h 92"/>
                                <a:gd name="T10" fmla="*/ 2 w 102"/>
                                <a:gd name="T11" fmla="*/ 1 h 92"/>
                                <a:gd name="T12" fmla="*/ 2 w 102"/>
                                <a:gd name="T13" fmla="*/ 1 h 92"/>
                                <a:gd name="T14" fmla="*/ 1 w 102"/>
                                <a:gd name="T15" fmla="*/ 2 h 92"/>
                                <a:gd name="T16" fmla="*/ 1 w 102"/>
                                <a:gd name="T17" fmla="*/ 2 h 92"/>
                                <a:gd name="T18" fmla="*/ 1 w 102"/>
                                <a:gd name="T19" fmla="*/ 2 h 92"/>
                                <a:gd name="T20" fmla="*/ 1 w 102"/>
                                <a:gd name="T21" fmla="*/ 2 h 92"/>
                                <a:gd name="T22" fmla="*/ 0 w 102"/>
                                <a:gd name="T23" fmla="*/ 2 h 92"/>
                                <a:gd name="T24" fmla="*/ 0 w 102"/>
                                <a:gd name="T25" fmla="*/ 2 h 92"/>
                                <a:gd name="T26" fmla="*/ 0 w 102"/>
                                <a:gd name="T27" fmla="*/ 2 h 92"/>
                                <a:gd name="T28" fmla="*/ 0 w 102"/>
                                <a:gd name="T29" fmla="*/ 2 h 92"/>
                                <a:gd name="T30" fmla="*/ 0 w 102"/>
                                <a:gd name="T31" fmla="*/ 1 h 92"/>
                                <a:gd name="T32" fmla="*/ 0 w 102"/>
                                <a:gd name="T33" fmla="*/ 1 h 92"/>
                                <a:gd name="T34" fmla="*/ 1 w 102"/>
                                <a:gd name="T35" fmla="*/ 1 h 92"/>
                                <a:gd name="T36" fmla="*/ 1 w 102"/>
                                <a:gd name="T37" fmla="*/ 1 h 92"/>
                                <a:gd name="T38" fmla="*/ 1 w 102"/>
                                <a:gd name="T39" fmla="*/ 1 h 92"/>
                                <a:gd name="T40" fmla="*/ 1 w 102"/>
                                <a:gd name="T41" fmla="*/ 1 h 92"/>
                                <a:gd name="T42" fmla="*/ 1 w 102"/>
                                <a:gd name="T43" fmla="*/ 1 h 92"/>
                                <a:gd name="T44" fmla="*/ 1 w 102"/>
                                <a:gd name="T45" fmla="*/ 1 h 92"/>
                                <a:gd name="T46" fmla="*/ 1 w 102"/>
                                <a:gd name="T47" fmla="*/ 1 h 92"/>
                                <a:gd name="T48" fmla="*/ 1 w 102"/>
                                <a:gd name="T49" fmla="*/ 0 h 92"/>
                                <a:gd name="T50" fmla="*/ 1 w 102"/>
                                <a:gd name="T51" fmla="*/ 0 h 92"/>
                                <a:gd name="T52" fmla="*/ 2 w 102"/>
                                <a:gd name="T53" fmla="*/ 0 h 92"/>
                                <a:gd name="T54" fmla="*/ 2 w 102"/>
                                <a:gd name="T55" fmla="*/ 0 h 92"/>
                                <a:gd name="T56" fmla="*/ 0 60000 65536"/>
                                <a:gd name="T57" fmla="*/ 0 60000 65536"/>
                                <a:gd name="T58" fmla="*/ 0 60000 65536"/>
                                <a:gd name="T59" fmla="*/ 0 60000 65536"/>
                                <a:gd name="T60" fmla="*/ 0 60000 65536"/>
                                <a:gd name="T61" fmla="*/ 0 60000 65536"/>
                                <a:gd name="T62" fmla="*/ 0 60000 65536"/>
                                <a:gd name="T63" fmla="*/ 0 60000 65536"/>
                                <a:gd name="T64" fmla="*/ 0 60000 65536"/>
                                <a:gd name="T65" fmla="*/ 0 60000 65536"/>
                                <a:gd name="T66" fmla="*/ 0 60000 65536"/>
                                <a:gd name="T67" fmla="*/ 0 60000 65536"/>
                                <a:gd name="T68" fmla="*/ 0 60000 65536"/>
                                <a:gd name="T69" fmla="*/ 0 60000 65536"/>
                                <a:gd name="T70" fmla="*/ 0 60000 65536"/>
                                <a:gd name="T71" fmla="*/ 0 60000 65536"/>
                                <a:gd name="T72" fmla="*/ 0 60000 65536"/>
                                <a:gd name="T73" fmla="*/ 0 60000 65536"/>
                                <a:gd name="T74" fmla="*/ 0 60000 65536"/>
                                <a:gd name="T75" fmla="*/ 0 60000 65536"/>
                                <a:gd name="T76" fmla="*/ 0 60000 65536"/>
                                <a:gd name="T77" fmla="*/ 0 60000 65536"/>
                                <a:gd name="T78" fmla="*/ 0 60000 65536"/>
                                <a:gd name="T79" fmla="*/ 0 60000 65536"/>
                                <a:gd name="T80" fmla="*/ 0 60000 65536"/>
                                <a:gd name="T81" fmla="*/ 0 60000 65536"/>
                                <a:gd name="T82" fmla="*/ 0 60000 65536"/>
                                <a:gd name="T83" fmla="*/ 0 60000 65536"/>
                                <a:gd name="T84" fmla="*/ 0 w 102"/>
                                <a:gd name="T85" fmla="*/ 0 h 92"/>
                                <a:gd name="T86" fmla="*/ 102 w 102"/>
                                <a:gd name="T87" fmla="*/ 92 h 92"/>
                              </a:gdLst>
                              <a:ahLst/>
                              <a:cxnLst>
                                <a:cxn ang="T56">
                                  <a:pos x="T0" y="T1"/>
                                </a:cxn>
                                <a:cxn ang="T57">
                                  <a:pos x="T2" y="T3"/>
                                </a:cxn>
                                <a:cxn ang="T58">
                                  <a:pos x="T4" y="T5"/>
                                </a:cxn>
                                <a:cxn ang="T59">
                                  <a:pos x="T6" y="T7"/>
                                </a:cxn>
                                <a:cxn ang="T60">
                                  <a:pos x="T8" y="T9"/>
                                </a:cxn>
                                <a:cxn ang="T61">
                                  <a:pos x="T10" y="T11"/>
                                </a:cxn>
                                <a:cxn ang="T62">
                                  <a:pos x="T12" y="T13"/>
                                </a:cxn>
                                <a:cxn ang="T63">
                                  <a:pos x="T14" y="T15"/>
                                </a:cxn>
                                <a:cxn ang="T64">
                                  <a:pos x="T16" y="T17"/>
                                </a:cxn>
                                <a:cxn ang="T65">
                                  <a:pos x="T18" y="T19"/>
                                </a:cxn>
                                <a:cxn ang="T66">
                                  <a:pos x="T20" y="T21"/>
                                </a:cxn>
                                <a:cxn ang="T67">
                                  <a:pos x="T22" y="T23"/>
                                </a:cxn>
                                <a:cxn ang="T68">
                                  <a:pos x="T24" y="T25"/>
                                </a:cxn>
                                <a:cxn ang="T69">
                                  <a:pos x="T26" y="T27"/>
                                </a:cxn>
                                <a:cxn ang="T70">
                                  <a:pos x="T28" y="T29"/>
                                </a:cxn>
                                <a:cxn ang="T71">
                                  <a:pos x="T30" y="T31"/>
                                </a:cxn>
                                <a:cxn ang="T72">
                                  <a:pos x="T32" y="T33"/>
                                </a:cxn>
                                <a:cxn ang="T73">
                                  <a:pos x="T34" y="T35"/>
                                </a:cxn>
                                <a:cxn ang="T74">
                                  <a:pos x="T36" y="T37"/>
                                </a:cxn>
                                <a:cxn ang="T75">
                                  <a:pos x="T38" y="T39"/>
                                </a:cxn>
                                <a:cxn ang="T76">
                                  <a:pos x="T40" y="T41"/>
                                </a:cxn>
                                <a:cxn ang="T77">
                                  <a:pos x="T42" y="T43"/>
                                </a:cxn>
                                <a:cxn ang="T78">
                                  <a:pos x="T44" y="T45"/>
                                </a:cxn>
                                <a:cxn ang="T79">
                                  <a:pos x="T46" y="T47"/>
                                </a:cxn>
                                <a:cxn ang="T80">
                                  <a:pos x="T48" y="T49"/>
                                </a:cxn>
                                <a:cxn ang="T81">
                                  <a:pos x="T50" y="T51"/>
                                </a:cxn>
                                <a:cxn ang="T82">
                                  <a:pos x="T52" y="T53"/>
                                </a:cxn>
                                <a:cxn ang="T83">
                                  <a:pos x="T54" y="T55"/>
                                </a:cxn>
                              </a:cxnLst>
                              <a:rect l="T84" t="T85" r="T86" b="T87"/>
                              <a:pathLst>
                                <a:path w="102" h="92">
                                  <a:moveTo>
                                    <a:pt x="72" y="0"/>
                                  </a:moveTo>
                                  <a:lnTo>
                                    <a:pt x="84" y="0"/>
                                  </a:lnTo>
                                  <a:lnTo>
                                    <a:pt x="102" y="27"/>
                                  </a:lnTo>
                                  <a:lnTo>
                                    <a:pt x="83" y="47"/>
                                  </a:lnTo>
                                  <a:lnTo>
                                    <a:pt x="83" y="56"/>
                                  </a:lnTo>
                                  <a:lnTo>
                                    <a:pt x="79" y="59"/>
                                  </a:lnTo>
                                  <a:lnTo>
                                    <a:pt x="68" y="59"/>
                                  </a:lnTo>
                                  <a:lnTo>
                                    <a:pt x="54" y="70"/>
                                  </a:lnTo>
                                  <a:lnTo>
                                    <a:pt x="41" y="82"/>
                                  </a:lnTo>
                                  <a:lnTo>
                                    <a:pt x="33" y="92"/>
                                  </a:lnTo>
                                  <a:lnTo>
                                    <a:pt x="33" y="83"/>
                                  </a:lnTo>
                                  <a:lnTo>
                                    <a:pt x="18" y="85"/>
                                  </a:lnTo>
                                  <a:lnTo>
                                    <a:pt x="11" y="85"/>
                                  </a:lnTo>
                                  <a:lnTo>
                                    <a:pt x="0" y="85"/>
                                  </a:lnTo>
                                  <a:lnTo>
                                    <a:pt x="15" y="70"/>
                                  </a:lnTo>
                                  <a:lnTo>
                                    <a:pt x="21" y="63"/>
                                  </a:lnTo>
                                  <a:lnTo>
                                    <a:pt x="26" y="63"/>
                                  </a:lnTo>
                                  <a:lnTo>
                                    <a:pt x="37" y="51"/>
                                  </a:lnTo>
                                  <a:lnTo>
                                    <a:pt x="41" y="51"/>
                                  </a:lnTo>
                                  <a:lnTo>
                                    <a:pt x="41" y="50"/>
                                  </a:lnTo>
                                  <a:lnTo>
                                    <a:pt x="47" y="46"/>
                                  </a:lnTo>
                                  <a:lnTo>
                                    <a:pt x="54" y="46"/>
                                  </a:lnTo>
                                  <a:lnTo>
                                    <a:pt x="51" y="32"/>
                                  </a:lnTo>
                                  <a:lnTo>
                                    <a:pt x="52" y="32"/>
                                  </a:lnTo>
                                  <a:lnTo>
                                    <a:pt x="59" y="25"/>
                                  </a:lnTo>
                                  <a:lnTo>
                                    <a:pt x="62" y="31"/>
                                  </a:lnTo>
                                  <a:lnTo>
                                    <a:pt x="73" y="21"/>
                                  </a:lnTo>
                                  <a:lnTo>
                                    <a:pt x="72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58603" name="Freeform 139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756" y="2868"/>
                              <a:ext cx="20" cy="24"/>
                            </a:xfrm>
                            <a:custGeom>
                              <a:avLst/>
                              <a:gdLst>
                                <a:gd name="T0" fmla="*/ 0 w 38"/>
                                <a:gd name="T1" fmla="*/ 0 h 50"/>
                                <a:gd name="T2" fmla="*/ 1 w 38"/>
                                <a:gd name="T3" fmla="*/ 0 h 50"/>
                                <a:gd name="T4" fmla="*/ 1 w 38"/>
                                <a:gd name="T5" fmla="*/ 0 h 50"/>
                                <a:gd name="T6" fmla="*/ 2 w 38"/>
                                <a:gd name="T7" fmla="*/ 0 h 50"/>
                                <a:gd name="T8" fmla="*/ 2 w 38"/>
                                <a:gd name="T9" fmla="*/ 0 h 50"/>
                                <a:gd name="T10" fmla="*/ 2 w 38"/>
                                <a:gd name="T11" fmla="*/ 0 h 50"/>
                                <a:gd name="T12" fmla="*/ 1 w 38"/>
                                <a:gd name="T13" fmla="*/ 0 h 50"/>
                                <a:gd name="T14" fmla="*/ 1 w 38"/>
                                <a:gd name="T15" fmla="*/ 0 h 50"/>
                                <a:gd name="T16" fmla="*/ 1 w 38"/>
                                <a:gd name="T17" fmla="*/ 0 h 50"/>
                                <a:gd name="T18" fmla="*/ 1 w 38"/>
                                <a:gd name="T19" fmla="*/ 1 h 50"/>
                                <a:gd name="T20" fmla="*/ 1 w 38"/>
                                <a:gd name="T21" fmla="*/ 1 h 50"/>
                                <a:gd name="T22" fmla="*/ 1 w 38"/>
                                <a:gd name="T23" fmla="*/ 1 h 50"/>
                                <a:gd name="T24" fmla="*/ 1 w 38"/>
                                <a:gd name="T25" fmla="*/ 0 h 50"/>
                                <a:gd name="T26" fmla="*/ 1 w 38"/>
                                <a:gd name="T27" fmla="*/ 0 h 50"/>
                                <a:gd name="T28" fmla="*/ 0 w 38"/>
                                <a:gd name="T29" fmla="*/ 0 h 50"/>
                                <a:gd name="T30" fmla="*/ 0 w 38"/>
                                <a:gd name="T31" fmla="*/ 0 h 50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60000 65536"/>
                                <a:gd name="T40" fmla="*/ 0 60000 65536"/>
                                <a:gd name="T41" fmla="*/ 0 60000 65536"/>
                                <a:gd name="T42" fmla="*/ 0 60000 65536"/>
                                <a:gd name="T43" fmla="*/ 0 60000 65536"/>
                                <a:gd name="T44" fmla="*/ 0 60000 65536"/>
                                <a:gd name="T45" fmla="*/ 0 60000 65536"/>
                                <a:gd name="T46" fmla="*/ 0 60000 65536"/>
                                <a:gd name="T47" fmla="*/ 0 60000 65536"/>
                                <a:gd name="T48" fmla="*/ 0 w 38"/>
                                <a:gd name="T49" fmla="*/ 0 h 50"/>
                                <a:gd name="T50" fmla="*/ 38 w 38"/>
                                <a:gd name="T51" fmla="*/ 50 h 50"/>
                              </a:gdLst>
                              <a:ahLst/>
                              <a:cxnLst>
                                <a:cxn ang="T32">
                                  <a:pos x="T0" y="T1"/>
                                </a:cxn>
                                <a:cxn ang="T33">
                                  <a:pos x="T2" y="T3"/>
                                </a:cxn>
                                <a:cxn ang="T34">
                                  <a:pos x="T4" y="T5"/>
                                </a:cxn>
                                <a:cxn ang="T35">
                                  <a:pos x="T6" y="T7"/>
                                </a:cxn>
                                <a:cxn ang="T36">
                                  <a:pos x="T8" y="T9"/>
                                </a:cxn>
                                <a:cxn ang="T37">
                                  <a:pos x="T10" y="T11"/>
                                </a:cxn>
                                <a:cxn ang="T38">
                                  <a:pos x="T12" y="T13"/>
                                </a:cxn>
                                <a:cxn ang="T39">
                                  <a:pos x="T14" y="T15"/>
                                </a:cxn>
                                <a:cxn ang="T40">
                                  <a:pos x="T16" y="T17"/>
                                </a:cxn>
                                <a:cxn ang="T41">
                                  <a:pos x="T18" y="T19"/>
                                </a:cxn>
                                <a:cxn ang="T42">
                                  <a:pos x="T20" y="T21"/>
                                </a:cxn>
                                <a:cxn ang="T43">
                                  <a:pos x="T22" y="T23"/>
                                </a:cxn>
                                <a:cxn ang="T44">
                                  <a:pos x="T24" y="T25"/>
                                </a:cxn>
                                <a:cxn ang="T45">
                                  <a:pos x="T26" y="T27"/>
                                </a:cxn>
                                <a:cxn ang="T46">
                                  <a:pos x="T28" y="T29"/>
                                </a:cxn>
                                <a:cxn ang="T47">
                                  <a:pos x="T30" y="T31"/>
                                </a:cxn>
                              </a:cxnLst>
                              <a:rect l="T48" t="T49" r="T50" b="T51"/>
                              <a:pathLst>
                                <a:path w="38" h="50">
                                  <a:moveTo>
                                    <a:pt x="0" y="0"/>
                                  </a:moveTo>
                                  <a:lnTo>
                                    <a:pt x="8" y="0"/>
                                  </a:lnTo>
                                  <a:lnTo>
                                    <a:pt x="18" y="6"/>
                                  </a:lnTo>
                                  <a:lnTo>
                                    <a:pt x="38" y="6"/>
                                  </a:lnTo>
                                  <a:lnTo>
                                    <a:pt x="35" y="16"/>
                                  </a:lnTo>
                                  <a:lnTo>
                                    <a:pt x="38" y="25"/>
                                  </a:lnTo>
                                  <a:lnTo>
                                    <a:pt x="31" y="25"/>
                                  </a:lnTo>
                                  <a:lnTo>
                                    <a:pt x="30" y="26"/>
                                  </a:lnTo>
                                  <a:lnTo>
                                    <a:pt x="26" y="28"/>
                                  </a:lnTo>
                                  <a:lnTo>
                                    <a:pt x="30" y="50"/>
                                  </a:lnTo>
                                  <a:lnTo>
                                    <a:pt x="18" y="48"/>
                                  </a:lnTo>
                                  <a:lnTo>
                                    <a:pt x="7" y="41"/>
                                  </a:lnTo>
                                  <a:lnTo>
                                    <a:pt x="7" y="26"/>
                                  </a:lnTo>
                                  <a:lnTo>
                                    <a:pt x="7" y="21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58600" name="Freeform 14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791" y="2616"/>
                            <a:ext cx="32" cy="26"/>
                          </a:xfrm>
                          <a:custGeom>
                            <a:avLst/>
                            <a:gdLst>
                              <a:gd name="T0" fmla="*/ 1 w 63"/>
                              <a:gd name="T1" fmla="*/ 1 h 51"/>
                              <a:gd name="T2" fmla="*/ 0 w 63"/>
                              <a:gd name="T3" fmla="*/ 2 h 51"/>
                              <a:gd name="T4" fmla="*/ 1 w 63"/>
                              <a:gd name="T5" fmla="*/ 2 h 51"/>
                              <a:gd name="T6" fmla="*/ 1 w 63"/>
                              <a:gd name="T7" fmla="*/ 2 h 51"/>
                              <a:gd name="T8" fmla="*/ 2 w 63"/>
                              <a:gd name="T9" fmla="*/ 2 h 51"/>
                              <a:gd name="T10" fmla="*/ 2 w 63"/>
                              <a:gd name="T11" fmla="*/ 2 h 51"/>
                              <a:gd name="T12" fmla="*/ 2 w 63"/>
                              <a:gd name="T13" fmla="*/ 2 h 51"/>
                              <a:gd name="T14" fmla="*/ 2 w 63"/>
                              <a:gd name="T15" fmla="*/ 2 h 51"/>
                              <a:gd name="T16" fmla="*/ 2 w 63"/>
                              <a:gd name="T17" fmla="*/ 1 h 51"/>
                              <a:gd name="T18" fmla="*/ 2 w 63"/>
                              <a:gd name="T19" fmla="*/ 1 h 51"/>
                              <a:gd name="T20" fmla="*/ 2 w 63"/>
                              <a:gd name="T21" fmla="*/ 0 h 51"/>
                              <a:gd name="T22" fmla="*/ 2 w 63"/>
                              <a:gd name="T23" fmla="*/ 1 h 51"/>
                              <a:gd name="T24" fmla="*/ 2 w 63"/>
                              <a:gd name="T25" fmla="*/ 1 h 51"/>
                              <a:gd name="T26" fmla="*/ 2 w 63"/>
                              <a:gd name="T27" fmla="*/ 1 h 51"/>
                              <a:gd name="T28" fmla="*/ 1 w 63"/>
                              <a:gd name="T29" fmla="*/ 1 h 51"/>
                              <a:gd name="T30" fmla="*/ 1 w 63"/>
                              <a:gd name="T31" fmla="*/ 1 h 51"/>
                              <a:gd name="T32" fmla="*/ 0 60000 65536"/>
                              <a:gd name="T33" fmla="*/ 0 60000 65536"/>
                              <a:gd name="T34" fmla="*/ 0 60000 65536"/>
                              <a:gd name="T35" fmla="*/ 0 60000 65536"/>
                              <a:gd name="T36" fmla="*/ 0 60000 65536"/>
                              <a:gd name="T37" fmla="*/ 0 60000 65536"/>
                              <a:gd name="T38" fmla="*/ 0 60000 65536"/>
                              <a:gd name="T39" fmla="*/ 0 60000 65536"/>
                              <a:gd name="T40" fmla="*/ 0 60000 65536"/>
                              <a:gd name="T41" fmla="*/ 0 60000 65536"/>
                              <a:gd name="T42" fmla="*/ 0 60000 65536"/>
                              <a:gd name="T43" fmla="*/ 0 60000 65536"/>
                              <a:gd name="T44" fmla="*/ 0 60000 65536"/>
                              <a:gd name="T45" fmla="*/ 0 60000 65536"/>
                              <a:gd name="T46" fmla="*/ 0 60000 65536"/>
                              <a:gd name="T47" fmla="*/ 0 60000 65536"/>
                              <a:gd name="T48" fmla="*/ 0 w 63"/>
                              <a:gd name="T49" fmla="*/ 0 h 51"/>
                              <a:gd name="T50" fmla="*/ 63 w 63"/>
                              <a:gd name="T51" fmla="*/ 51 h 51"/>
                            </a:gdLst>
                            <a:ahLst/>
                            <a:cxnLst>
                              <a:cxn ang="T32">
                                <a:pos x="T0" y="T1"/>
                              </a:cxn>
                              <a:cxn ang="T33">
                                <a:pos x="T2" y="T3"/>
                              </a:cxn>
                              <a:cxn ang="T34">
                                <a:pos x="T4" y="T5"/>
                              </a:cxn>
                              <a:cxn ang="T35">
                                <a:pos x="T6" y="T7"/>
                              </a:cxn>
                              <a:cxn ang="T36">
                                <a:pos x="T8" y="T9"/>
                              </a:cxn>
                              <a:cxn ang="T37">
                                <a:pos x="T10" y="T11"/>
                              </a:cxn>
                              <a:cxn ang="T38">
                                <a:pos x="T12" y="T13"/>
                              </a:cxn>
                              <a:cxn ang="T39">
                                <a:pos x="T14" y="T15"/>
                              </a:cxn>
                              <a:cxn ang="T40">
                                <a:pos x="T16" y="T17"/>
                              </a:cxn>
                              <a:cxn ang="T41">
                                <a:pos x="T18" y="T19"/>
                              </a:cxn>
                              <a:cxn ang="T42">
                                <a:pos x="T20" y="T21"/>
                              </a:cxn>
                              <a:cxn ang="T43">
                                <a:pos x="T22" y="T23"/>
                              </a:cxn>
                              <a:cxn ang="T44">
                                <a:pos x="T24" y="T25"/>
                              </a:cxn>
                              <a:cxn ang="T45">
                                <a:pos x="T26" y="T27"/>
                              </a:cxn>
                              <a:cxn ang="T46">
                                <a:pos x="T28" y="T29"/>
                              </a:cxn>
                              <a:cxn ang="T47">
                                <a:pos x="T30" y="T31"/>
                              </a:cxn>
                            </a:cxnLst>
                            <a:rect l="T48" t="T49" r="T50" b="T51"/>
                            <a:pathLst>
                              <a:path w="63" h="51">
                                <a:moveTo>
                                  <a:pt x="11" y="19"/>
                                </a:moveTo>
                                <a:lnTo>
                                  <a:pt x="0" y="41"/>
                                </a:lnTo>
                                <a:lnTo>
                                  <a:pt x="4" y="49"/>
                                </a:lnTo>
                                <a:lnTo>
                                  <a:pt x="22" y="51"/>
                                </a:lnTo>
                                <a:lnTo>
                                  <a:pt x="37" y="51"/>
                                </a:lnTo>
                                <a:lnTo>
                                  <a:pt x="42" y="42"/>
                                </a:lnTo>
                                <a:lnTo>
                                  <a:pt x="46" y="33"/>
                                </a:lnTo>
                                <a:lnTo>
                                  <a:pt x="63" y="33"/>
                                </a:lnTo>
                                <a:lnTo>
                                  <a:pt x="60" y="20"/>
                                </a:lnTo>
                                <a:lnTo>
                                  <a:pt x="60" y="7"/>
                                </a:lnTo>
                                <a:lnTo>
                                  <a:pt x="44" y="0"/>
                                </a:lnTo>
                                <a:lnTo>
                                  <a:pt x="41" y="14"/>
                                </a:lnTo>
                                <a:lnTo>
                                  <a:pt x="52" y="23"/>
                                </a:lnTo>
                                <a:lnTo>
                                  <a:pt x="35" y="23"/>
                                </a:lnTo>
                                <a:lnTo>
                                  <a:pt x="30" y="29"/>
                                </a:lnTo>
                                <a:lnTo>
                                  <a:pt x="11" y="19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  <p:grpSp>
                      <p:nvGrpSpPr>
                        <p:cNvPr id="58574" name="Group 14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448" y="2231"/>
                          <a:ext cx="367" cy="626"/>
                          <a:chOff x="3448" y="2231"/>
                          <a:chExt cx="367" cy="626"/>
                        </a:xfrm>
                      </p:grpSpPr>
                      <p:grpSp>
                        <p:nvGrpSpPr>
                          <p:cNvPr id="58585" name="Group 142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507" y="2295"/>
                            <a:ext cx="81" cy="188"/>
                            <a:chOff x="3507" y="2295"/>
                            <a:chExt cx="81" cy="188"/>
                          </a:xfrm>
                        </p:grpSpPr>
                        <p:sp>
                          <p:nvSpPr>
                            <p:cNvPr id="58595" name="Freeform 143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07" y="2464"/>
                              <a:ext cx="19" cy="19"/>
                            </a:xfrm>
                            <a:custGeom>
                              <a:avLst/>
                              <a:gdLst>
                                <a:gd name="T0" fmla="*/ 0 w 38"/>
                                <a:gd name="T1" fmla="*/ 1 h 38"/>
                                <a:gd name="T2" fmla="*/ 1 w 38"/>
                                <a:gd name="T3" fmla="*/ 2 h 38"/>
                                <a:gd name="T4" fmla="*/ 1 w 38"/>
                                <a:gd name="T5" fmla="*/ 2 h 38"/>
                                <a:gd name="T6" fmla="*/ 1 w 38"/>
                                <a:gd name="T7" fmla="*/ 2 h 38"/>
                                <a:gd name="T8" fmla="*/ 2 w 38"/>
                                <a:gd name="T9" fmla="*/ 2 h 38"/>
                                <a:gd name="T10" fmla="*/ 2 w 38"/>
                                <a:gd name="T11" fmla="*/ 1 h 38"/>
                                <a:gd name="T12" fmla="*/ 2 w 38"/>
                                <a:gd name="T13" fmla="*/ 1 h 38"/>
                                <a:gd name="T14" fmla="*/ 1 w 38"/>
                                <a:gd name="T15" fmla="*/ 1 h 38"/>
                                <a:gd name="T16" fmla="*/ 1 w 38"/>
                                <a:gd name="T17" fmla="*/ 1 h 38"/>
                                <a:gd name="T18" fmla="*/ 1 w 38"/>
                                <a:gd name="T19" fmla="*/ 0 h 38"/>
                                <a:gd name="T20" fmla="*/ 1 w 38"/>
                                <a:gd name="T21" fmla="*/ 0 h 38"/>
                                <a:gd name="T22" fmla="*/ 1 w 38"/>
                                <a:gd name="T23" fmla="*/ 1 h 38"/>
                                <a:gd name="T24" fmla="*/ 0 w 38"/>
                                <a:gd name="T25" fmla="*/ 1 h 38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w 38"/>
                                <a:gd name="T40" fmla="*/ 0 h 38"/>
                                <a:gd name="T41" fmla="*/ 38 w 38"/>
                                <a:gd name="T42" fmla="*/ 38 h 38"/>
                              </a:gdLst>
                              <a:ahLst/>
                              <a:cxnLst>
                                <a:cxn ang="T26">
                                  <a:pos x="T0" y="T1"/>
                                </a:cxn>
                                <a:cxn ang="T27">
                                  <a:pos x="T2" y="T3"/>
                                </a:cxn>
                                <a:cxn ang="T28">
                                  <a:pos x="T4" y="T5"/>
                                </a:cxn>
                                <a:cxn ang="T29">
                                  <a:pos x="T6" y="T7"/>
                                </a:cxn>
                                <a:cxn ang="T30">
                                  <a:pos x="T8" y="T9"/>
                                </a:cxn>
                                <a:cxn ang="T31">
                                  <a:pos x="T10" y="T11"/>
                                </a:cxn>
                                <a:cxn ang="T32">
                                  <a:pos x="T12" y="T13"/>
                                </a:cxn>
                                <a:cxn ang="T33">
                                  <a:pos x="T14" y="T15"/>
                                </a:cxn>
                                <a:cxn ang="T34">
                                  <a:pos x="T16" y="T17"/>
                                </a:cxn>
                                <a:cxn ang="T35">
                                  <a:pos x="T18" y="T19"/>
                                </a:cxn>
                                <a:cxn ang="T36">
                                  <a:pos x="T20" y="T21"/>
                                </a:cxn>
                                <a:cxn ang="T37">
                                  <a:pos x="T22" y="T23"/>
                                </a:cxn>
                                <a:cxn ang="T38">
                                  <a:pos x="T24" y="T25"/>
                                </a:cxn>
                              </a:cxnLst>
                              <a:rect l="T39" t="T40" r="T41" b="T42"/>
                              <a:pathLst>
                                <a:path w="38" h="38">
                                  <a:moveTo>
                                    <a:pt x="0" y="29"/>
                                  </a:moveTo>
                                  <a:lnTo>
                                    <a:pt x="7" y="36"/>
                                  </a:lnTo>
                                  <a:lnTo>
                                    <a:pt x="15" y="35"/>
                                  </a:lnTo>
                                  <a:lnTo>
                                    <a:pt x="27" y="38"/>
                                  </a:lnTo>
                                  <a:lnTo>
                                    <a:pt x="37" y="38"/>
                                  </a:lnTo>
                                  <a:lnTo>
                                    <a:pt x="38" y="25"/>
                                  </a:lnTo>
                                  <a:lnTo>
                                    <a:pt x="35" y="16"/>
                                  </a:lnTo>
                                  <a:lnTo>
                                    <a:pt x="28" y="6"/>
                                  </a:lnTo>
                                  <a:lnTo>
                                    <a:pt x="22" y="6"/>
                                  </a:lnTo>
                                  <a:lnTo>
                                    <a:pt x="19" y="0"/>
                                  </a:lnTo>
                                  <a:lnTo>
                                    <a:pt x="9" y="0"/>
                                  </a:lnTo>
                                  <a:lnTo>
                                    <a:pt x="9" y="12"/>
                                  </a:lnTo>
                                  <a:lnTo>
                                    <a:pt x="0" y="2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58596" name="Freeform 144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59" y="2431"/>
                              <a:ext cx="18" cy="24"/>
                            </a:xfrm>
                            <a:custGeom>
                              <a:avLst/>
                              <a:gdLst>
                                <a:gd name="T0" fmla="*/ 0 w 37"/>
                                <a:gd name="T1" fmla="*/ 0 h 48"/>
                                <a:gd name="T2" fmla="*/ 0 w 37"/>
                                <a:gd name="T3" fmla="*/ 1 h 48"/>
                                <a:gd name="T4" fmla="*/ 0 w 37"/>
                                <a:gd name="T5" fmla="*/ 1 h 48"/>
                                <a:gd name="T6" fmla="*/ 1 w 37"/>
                                <a:gd name="T7" fmla="*/ 1 h 48"/>
                                <a:gd name="T8" fmla="*/ 0 w 37"/>
                                <a:gd name="T9" fmla="*/ 1 h 48"/>
                                <a:gd name="T10" fmla="*/ 1 w 37"/>
                                <a:gd name="T11" fmla="*/ 2 h 48"/>
                                <a:gd name="T12" fmla="*/ 1 w 37"/>
                                <a:gd name="T13" fmla="*/ 2 h 48"/>
                                <a:gd name="T14" fmla="*/ 0 w 37"/>
                                <a:gd name="T15" fmla="*/ 2 h 48"/>
                                <a:gd name="T16" fmla="*/ 0 w 37"/>
                                <a:gd name="T17" fmla="*/ 2 h 48"/>
                                <a:gd name="T18" fmla="*/ 0 w 37"/>
                                <a:gd name="T19" fmla="*/ 2 h 48"/>
                                <a:gd name="T20" fmla="*/ 0 w 37"/>
                                <a:gd name="T21" fmla="*/ 2 h 48"/>
                                <a:gd name="T22" fmla="*/ 0 w 37"/>
                                <a:gd name="T23" fmla="*/ 2 h 48"/>
                                <a:gd name="T24" fmla="*/ 0 w 37"/>
                                <a:gd name="T25" fmla="*/ 1 h 48"/>
                                <a:gd name="T26" fmla="*/ 0 w 37"/>
                                <a:gd name="T27" fmla="*/ 1 h 48"/>
                                <a:gd name="T28" fmla="*/ 0 w 37"/>
                                <a:gd name="T29" fmla="*/ 0 h 48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60000 65536"/>
                                <a:gd name="T40" fmla="*/ 0 60000 65536"/>
                                <a:gd name="T41" fmla="*/ 0 60000 65536"/>
                                <a:gd name="T42" fmla="*/ 0 60000 65536"/>
                                <a:gd name="T43" fmla="*/ 0 60000 65536"/>
                                <a:gd name="T44" fmla="*/ 0 60000 65536"/>
                                <a:gd name="T45" fmla="*/ 0 w 37"/>
                                <a:gd name="T46" fmla="*/ 0 h 48"/>
                                <a:gd name="T47" fmla="*/ 37 w 37"/>
                                <a:gd name="T48" fmla="*/ 48 h 48"/>
                              </a:gdLst>
                              <a:ahLst/>
                              <a:cxnLst>
                                <a:cxn ang="T30">
                                  <a:pos x="T0" y="T1"/>
                                </a:cxn>
                                <a:cxn ang="T31">
                                  <a:pos x="T2" y="T3"/>
                                </a:cxn>
                                <a:cxn ang="T32">
                                  <a:pos x="T4" y="T5"/>
                                </a:cxn>
                                <a:cxn ang="T33">
                                  <a:pos x="T6" y="T7"/>
                                </a:cxn>
                                <a:cxn ang="T34">
                                  <a:pos x="T8" y="T9"/>
                                </a:cxn>
                                <a:cxn ang="T35">
                                  <a:pos x="T10" y="T11"/>
                                </a:cxn>
                                <a:cxn ang="T36">
                                  <a:pos x="T12" y="T13"/>
                                </a:cxn>
                                <a:cxn ang="T37">
                                  <a:pos x="T14" y="T15"/>
                                </a:cxn>
                                <a:cxn ang="T38">
                                  <a:pos x="T16" y="T17"/>
                                </a:cxn>
                                <a:cxn ang="T39">
                                  <a:pos x="T18" y="T19"/>
                                </a:cxn>
                                <a:cxn ang="T40">
                                  <a:pos x="T20" y="T21"/>
                                </a:cxn>
                                <a:cxn ang="T41">
                                  <a:pos x="T22" y="T23"/>
                                </a:cxn>
                                <a:cxn ang="T42">
                                  <a:pos x="T24" y="T25"/>
                                </a:cxn>
                                <a:cxn ang="T43">
                                  <a:pos x="T26" y="T27"/>
                                </a:cxn>
                                <a:cxn ang="T44">
                                  <a:pos x="T28" y="T29"/>
                                </a:cxn>
                              </a:cxnLst>
                              <a:rect l="T45" t="T46" r="T47" b="T48"/>
                              <a:pathLst>
                                <a:path w="37" h="48">
                                  <a:moveTo>
                                    <a:pt x="8" y="0"/>
                                  </a:moveTo>
                                  <a:lnTo>
                                    <a:pt x="25" y="2"/>
                                  </a:lnTo>
                                  <a:lnTo>
                                    <a:pt x="30" y="15"/>
                                  </a:lnTo>
                                  <a:lnTo>
                                    <a:pt x="37" y="22"/>
                                  </a:lnTo>
                                  <a:lnTo>
                                    <a:pt x="31" y="28"/>
                                  </a:lnTo>
                                  <a:lnTo>
                                    <a:pt x="37" y="35"/>
                                  </a:lnTo>
                                  <a:lnTo>
                                    <a:pt x="34" y="44"/>
                                  </a:lnTo>
                                  <a:lnTo>
                                    <a:pt x="29" y="48"/>
                                  </a:lnTo>
                                  <a:lnTo>
                                    <a:pt x="18" y="47"/>
                                  </a:lnTo>
                                  <a:lnTo>
                                    <a:pt x="11" y="47"/>
                                  </a:lnTo>
                                  <a:lnTo>
                                    <a:pt x="7" y="41"/>
                                  </a:lnTo>
                                  <a:lnTo>
                                    <a:pt x="3" y="34"/>
                                  </a:lnTo>
                                  <a:lnTo>
                                    <a:pt x="3" y="26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58597" name="Freeform 145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56" y="2295"/>
                              <a:ext cx="32" cy="22"/>
                            </a:xfrm>
                            <a:custGeom>
                              <a:avLst/>
                              <a:gdLst>
                                <a:gd name="T0" fmla="*/ 0 w 66"/>
                                <a:gd name="T1" fmla="*/ 0 h 45"/>
                                <a:gd name="T2" fmla="*/ 0 w 66"/>
                                <a:gd name="T3" fmla="*/ 0 h 45"/>
                                <a:gd name="T4" fmla="*/ 0 w 66"/>
                                <a:gd name="T5" fmla="*/ 0 h 45"/>
                                <a:gd name="T6" fmla="*/ 1 w 66"/>
                                <a:gd name="T7" fmla="*/ 0 h 45"/>
                                <a:gd name="T8" fmla="*/ 1 w 66"/>
                                <a:gd name="T9" fmla="*/ 0 h 45"/>
                                <a:gd name="T10" fmla="*/ 1 w 66"/>
                                <a:gd name="T11" fmla="*/ 0 h 45"/>
                                <a:gd name="T12" fmla="*/ 1 w 66"/>
                                <a:gd name="T13" fmla="*/ 0 h 45"/>
                                <a:gd name="T14" fmla="*/ 2 w 66"/>
                                <a:gd name="T15" fmla="*/ 0 h 45"/>
                                <a:gd name="T16" fmla="*/ 1 w 66"/>
                                <a:gd name="T17" fmla="*/ 0 h 45"/>
                                <a:gd name="T18" fmla="*/ 1 w 66"/>
                                <a:gd name="T19" fmla="*/ 1 h 45"/>
                                <a:gd name="T20" fmla="*/ 1 w 66"/>
                                <a:gd name="T21" fmla="*/ 1 h 45"/>
                                <a:gd name="T22" fmla="*/ 1 w 66"/>
                                <a:gd name="T23" fmla="*/ 1 h 45"/>
                                <a:gd name="T24" fmla="*/ 1 w 66"/>
                                <a:gd name="T25" fmla="*/ 1 h 45"/>
                                <a:gd name="T26" fmla="*/ 0 w 66"/>
                                <a:gd name="T27" fmla="*/ 1 h 45"/>
                                <a:gd name="T28" fmla="*/ 0 w 66"/>
                                <a:gd name="T29" fmla="*/ 1 h 45"/>
                                <a:gd name="T30" fmla="*/ 0 w 66"/>
                                <a:gd name="T31" fmla="*/ 1 h 45"/>
                                <a:gd name="T32" fmla="*/ 0 w 66"/>
                                <a:gd name="T33" fmla="*/ 1 h 45"/>
                                <a:gd name="T34" fmla="*/ 0 w 66"/>
                                <a:gd name="T35" fmla="*/ 1 h 45"/>
                                <a:gd name="T36" fmla="*/ 0 w 66"/>
                                <a:gd name="T37" fmla="*/ 0 h 45"/>
                                <a:gd name="T38" fmla="*/ 0 w 66"/>
                                <a:gd name="T39" fmla="*/ 0 h 45"/>
                                <a:gd name="T40" fmla="*/ 0 w 66"/>
                                <a:gd name="T41" fmla="*/ 0 h 45"/>
                                <a:gd name="T42" fmla="*/ 0 w 66"/>
                                <a:gd name="T43" fmla="*/ 0 h 45"/>
                                <a:gd name="T44" fmla="*/ 0 w 66"/>
                                <a:gd name="T45" fmla="*/ 0 h 45"/>
                                <a:gd name="T46" fmla="*/ 0 60000 65536"/>
                                <a:gd name="T47" fmla="*/ 0 60000 65536"/>
                                <a:gd name="T48" fmla="*/ 0 60000 65536"/>
                                <a:gd name="T49" fmla="*/ 0 60000 65536"/>
                                <a:gd name="T50" fmla="*/ 0 60000 65536"/>
                                <a:gd name="T51" fmla="*/ 0 60000 65536"/>
                                <a:gd name="T52" fmla="*/ 0 60000 65536"/>
                                <a:gd name="T53" fmla="*/ 0 60000 65536"/>
                                <a:gd name="T54" fmla="*/ 0 60000 65536"/>
                                <a:gd name="T55" fmla="*/ 0 60000 65536"/>
                                <a:gd name="T56" fmla="*/ 0 60000 65536"/>
                                <a:gd name="T57" fmla="*/ 0 60000 65536"/>
                                <a:gd name="T58" fmla="*/ 0 60000 65536"/>
                                <a:gd name="T59" fmla="*/ 0 60000 65536"/>
                                <a:gd name="T60" fmla="*/ 0 60000 65536"/>
                                <a:gd name="T61" fmla="*/ 0 60000 65536"/>
                                <a:gd name="T62" fmla="*/ 0 60000 65536"/>
                                <a:gd name="T63" fmla="*/ 0 60000 65536"/>
                                <a:gd name="T64" fmla="*/ 0 60000 65536"/>
                                <a:gd name="T65" fmla="*/ 0 60000 65536"/>
                                <a:gd name="T66" fmla="*/ 0 60000 65536"/>
                                <a:gd name="T67" fmla="*/ 0 60000 65536"/>
                                <a:gd name="T68" fmla="*/ 0 60000 65536"/>
                                <a:gd name="T69" fmla="*/ 0 w 66"/>
                                <a:gd name="T70" fmla="*/ 0 h 45"/>
                                <a:gd name="T71" fmla="*/ 66 w 66"/>
                                <a:gd name="T72" fmla="*/ 45 h 45"/>
                              </a:gdLst>
                              <a:ahLst/>
                              <a:cxnLst>
                                <a:cxn ang="T46">
                                  <a:pos x="T0" y="T1"/>
                                </a:cxn>
                                <a:cxn ang="T47">
                                  <a:pos x="T2" y="T3"/>
                                </a:cxn>
                                <a:cxn ang="T48">
                                  <a:pos x="T4" y="T5"/>
                                </a:cxn>
                                <a:cxn ang="T49">
                                  <a:pos x="T6" y="T7"/>
                                </a:cxn>
                                <a:cxn ang="T50">
                                  <a:pos x="T8" y="T9"/>
                                </a:cxn>
                                <a:cxn ang="T51">
                                  <a:pos x="T10" y="T11"/>
                                </a:cxn>
                                <a:cxn ang="T52">
                                  <a:pos x="T12" y="T13"/>
                                </a:cxn>
                                <a:cxn ang="T53">
                                  <a:pos x="T14" y="T15"/>
                                </a:cxn>
                                <a:cxn ang="T54">
                                  <a:pos x="T16" y="T17"/>
                                </a:cxn>
                                <a:cxn ang="T55">
                                  <a:pos x="T18" y="T19"/>
                                </a:cxn>
                                <a:cxn ang="T56">
                                  <a:pos x="T20" y="T21"/>
                                </a:cxn>
                                <a:cxn ang="T57">
                                  <a:pos x="T22" y="T23"/>
                                </a:cxn>
                                <a:cxn ang="T58">
                                  <a:pos x="T24" y="T25"/>
                                </a:cxn>
                                <a:cxn ang="T59">
                                  <a:pos x="T26" y="T27"/>
                                </a:cxn>
                                <a:cxn ang="T60">
                                  <a:pos x="T28" y="T29"/>
                                </a:cxn>
                                <a:cxn ang="T61">
                                  <a:pos x="T30" y="T31"/>
                                </a:cxn>
                                <a:cxn ang="T62">
                                  <a:pos x="T32" y="T33"/>
                                </a:cxn>
                                <a:cxn ang="T63">
                                  <a:pos x="T34" y="T35"/>
                                </a:cxn>
                                <a:cxn ang="T64">
                                  <a:pos x="T36" y="T37"/>
                                </a:cxn>
                                <a:cxn ang="T65">
                                  <a:pos x="T38" y="T39"/>
                                </a:cxn>
                                <a:cxn ang="T66">
                                  <a:pos x="T40" y="T41"/>
                                </a:cxn>
                                <a:cxn ang="T67">
                                  <a:pos x="T42" y="T43"/>
                                </a:cxn>
                                <a:cxn ang="T68">
                                  <a:pos x="T44" y="T45"/>
                                </a:cxn>
                              </a:cxnLst>
                              <a:rect l="T69" t="T70" r="T71" b="T72"/>
                              <a:pathLst>
                                <a:path w="66" h="45">
                                  <a:moveTo>
                                    <a:pt x="10" y="0"/>
                                  </a:moveTo>
                                  <a:lnTo>
                                    <a:pt x="18" y="7"/>
                                  </a:lnTo>
                                  <a:lnTo>
                                    <a:pt x="26" y="5"/>
                                  </a:lnTo>
                                  <a:lnTo>
                                    <a:pt x="38" y="7"/>
                                  </a:lnTo>
                                  <a:lnTo>
                                    <a:pt x="49" y="7"/>
                                  </a:lnTo>
                                  <a:lnTo>
                                    <a:pt x="55" y="11"/>
                                  </a:lnTo>
                                  <a:lnTo>
                                    <a:pt x="62" y="21"/>
                                  </a:lnTo>
                                  <a:lnTo>
                                    <a:pt x="66" y="26"/>
                                  </a:lnTo>
                                  <a:lnTo>
                                    <a:pt x="51" y="29"/>
                                  </a:lnTo>
                                  <a:lnTo>
                                    <a:pt x="47" y="32"/>
                                  </a:lnTo>
                                  <a:lnTo>
                                    <a:pt x="51" y="37"/>
                                  </a:lnTo>
                                  <a:lnTo>
                                    <a:pt x="51" y="43"/>
                                  </a:lnTo>
                                  <a:lnTo>
                                    <a:pt x="36" y="37"/>
                                  </a:lnTo>
                                  <a:lnTo>
                                    <a:pt x="23" y="33"/>
                                  </a:lnTo>
                                  <a:lnTo>
                                    <a:pt x="18" y="34"/>
                                  </a:lnTo>
                                  <a:lnTo>
                                    <a:pt x="18" y="43"/>
                                  </a:lnTo>
                                  <a:lnTo>
                                    <a:pt x="10" y="45"/>
                                  </a:lnTo>
                                  <a:lnTo>
                                    <a:pt x="6" y="37"/>
                                  </a:lnTo>
                                  <a:lnTo>
                                    <a:pt x="4" y="29"/>
                                  </a:lnTo>
                                  <a:lnTo>
                                    <a:pt x="0" y="27"/>
                                  </a:lnTo>
                                  <a:lnTo>
                                    <a:pt x="4" y="18"/>
                                  </a:lnTo>
                                  <a:lnTo>
                                    <a:pt x="11" y="16"/>
                                  </a:lnTo>
                                  <a:lnTo>
                                    <a:pt x="1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58586" name="Freeform 14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84" y="2675"/>
                            <a:ext cx="231" cy="182"/>
                          </a:xfrm>
                          <a:custGeom>
                            <a:avLst/>
                            <a:gdLst>
                              <a:gd name="T0" fmla="*/ 12 w 462"/>
                              <a:gd name="T1" fmla="*/ 1 h 364"/>
                              <a:gd name="T2" fmla="*/ 12 w 462"/>
                              <a:gd name="T3" fmla="*/ 2 h 364"/>
                              <a:gd name="T4" fmla="*/ 13 w 462"/>
                              <a:gd name="T5" fmla="*/ 3 h 364"/>
                              <a:gd name="T6" fmla="*/ 14 w 462"/>
                              <a:gd name="T7" fmla="*/ 5 h 364"/>
                              <a:gd name="T8" fmla="*/ 15 w 462"/>
                              <a:gd name="T9" fmla="*/ 7 h 364"/>
                              <a:gd name="T10" fmla="*/ 14 w 462"/>
                              <a:gd name="T11" fmla="*/ 9 h 364"/>
                              <a:gd name="T12" fmla="*/ 14 w 462"/>
                              <a:gd name="T13" fmla="*/ 10 h 364"/>
                              <a:gd name="T14" fmla="*/ 13 w 462"/>
                              <a:gd name="T15" fmla="*/ 11 h 364"/>
                              <a:gd name="T16" fmla="*/ 13 w 462"/>
                              <a:gd name="T17" fmla="*/ 11 h 364"/>
                              <a:gd name="T18" fmla="*/ 12 w 462"/>
                              <a:gd name="T19" fmla="*/ 12 h 364"/>
                              <a:gd name="T20" fmla="*/ 11 w 462"/>
                              <a:gd name="T21" fmla="*/ 12 h 364"/>
                              <a:gd name="T22" fmla="*/ 10 w 462"/>
                              <a:gd name="T23" fmla="*/ 11 h 364"/>
                              <a:gd name="T24" fmla="*/ 10 w 462"/>
                              <a:gd name="T25" fmla="*/ 11 h 364"/>
                              <a:gd name="T26" fmla="*/ 9 w 462"/>
                              <a:gd name="T27" fmla="*/ 10 h 364"/>
                              <a:gd name="T28" fmla="*/ 9 w 462"/>
                              <a:gd name="T29" fmla="*/ 9 h 364"/>
                              <a:gd name="T30" fmla="*/ 8 w 462"/>
                              <a:gd name="T31" fmla="*/ 9 h 364"/>
                              <a:gd name="T32" fmla="*/ 8 w 462"/>
                              <a:gd name="T33" fmla="*/ 9 h 364"/>
                              <a:gd name="T34" fmla="*/ 7 w 462"/>
                              <a:gd name="T35" fmla="*/ 9 h 364"/>
                              <a:gd name="T36" fmla="*/ 7 w 462"/>
                              <a:gd name="T37" fmla="*/ 9 h 364"/>
                              <a:gd name="T38" fmla="*/ 6 w 462"/>
                              <a:gd name="T39" fmla="*/ 9 h 364"/>
                              <a:gd name="T40" fmla="*/ 5 w 462"/>
                              <a:gd name="T41" fmla="*/ 9 h 364"/>
                              <a:gd name="T42" fmla="*/ 5 w 462"/>
                              <a:gd name="T43" fmla="*/ 10 h 364"/>
                              <a:gd name="T44" fmla="*/ 4 w 462"/>
                              <a:gd name="T45" fmla="*/ 10 h 364"/>
                              <a:gd name="T46" fmla="*/ 3 w 462"/>
                              <a:gd name="T47" fmla="*/ 10 h 364"/>
                              <a:gd name="T48" fmla="*/ 2 w 462"/>
                              <a:gd name="T49" fmla="*/ 10 h 364"/>
                              <a:gd name="T50" fmla="*/ 2 w 462"/>
                              <a:gd name="T51" fmla="*/ 10 h 364"/>
                              <a:gd name="T52" fmla="*/ 2 w 462"/>
                              <a:gd name="T53" fmla="*/ 9 h 364"/>
                              <a:gd name="T54" fmla="*/ 2 w 462"/>
                              <a:gd name="T55" fmla="*/ 8 h 364"/>
                              <a:gd name="T56" fmla="*/ 1 w 462"/>
                              <a:gd name="T57" fmla="*/ 7 h 364"/>
                              <a:gd name="T58" fmla="*/ 1 w 462"/>
                              <a:gd name="T59" fmla="*/ 5 h 364"/>
                              <a:gd name="T60" fmla="*/ 1 w 462"/>
                              <a:gd name="T61" fmla="*/ 5 h 364"/>
                              <a:gd name="T62" fmla="*/ 2 w 462"/>
                              <a:gd name="T63" fmla="*/ 4 h 364"/>
                              <a:gd name="T64" fmla="*/ 2 w 462"/>
                              <a:gd name="T65" fmla="*/ 4 h 364"/>
                              <a:gd name="T66" fmla="*/ 3 w 462"/>
                              <a:gd name="T67" fmla="*/ 4 h 364"/>
                              <a:gd name="T68" fmla="*/ 3 w 462"/>
                              <a:gd name="T69" fmla="*/ 3 h 364"/>
                              <a:gd name="T70" fmla="*/ 3 w 462"/>
                              <a:gd name="T71" fmla="*/ 3 h 364"/>
                              <a:gd name="T72" fmla="*/ 4 w 462"/>
                              <a:gd name="T73" fmla="*/ 2 h 364"/>
                              <a:gd name="T74" fmla="*/ 5 w 462"/>
                              <a:gd name="T75" fmla="*/ 2 h 364"/>
                              <a:gd name="T76" fmla="*/ 6 w 462"/>
                              <a:gd name="T77" fmla="*/ 2 h 364"/>
                              <a:gd name="T78" fmla="*/ 6 w 462"/>
                              <a:gd name="T79" fmla="*/ 1 h 364"/>
                              <a:gd name="T80" fmla="*/ 7 w 462"/>
                              <a:gd name="T81" fmla="*/ 1 h 364"/>
                              <a:gd name="T82" fmla="*/ 7 w 462"/>
                              <a:gd name="T83" fmla="*/ 1 h 364"/>
                              <a:gd name="T84" fmla="*/ 8 w 462"/>
                              <a:gd name="T85" fmla="*/ 1 h 364"/>
                              <a:gd name="T86" fmla="*/ 9 w 462"/>
                              <a:gd name="T87" fmla="*/ 1 h 364"/>
                              <a:gd name="T88" fmla="*/ 9 w 462"/>
                              <a:gd name="T89" fmla="*/ 2 h 364"/>
                              <a:gd name="T90" fmla="*/ 9 w 462"/>
                              <a:gd name="T91" fmla="*/ 3 h 364"/>
                              <a:gd name="T92" fmla="*/ 10 w 462"/>
                              <a:gd name="T93" fmla="*/ 3 h 364"/>
                              <a:gd name="T94" fmla="*/ 11 w 462"/>
                              <a:gd name="T95" fmla="*/ 2 h 364"/>
                              <a:gd name="T96" fmla="*/ 11 w 462"/>
                              <a:gd name="T97" fmla="*/ 0 h 364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w 462"/>
                              <a:gd name="T148" fmla="*/ 0 h 364"/>
                              <a:gd name="T149" fmla="*/ 462 w 462"/>
                              <a:gd name="T150" fmla="*/ 364 h 364"/>
                            </a:gdLst>
                            <a:ahLst/>
                            <a:cxnLst>
                              <a:cxn ang="T98">
                                <a:pos x="T0" y="T1"/>
                              </a:cxn>
                              <a:cxn ang="T99">
                                <a:pos x="T2" y="T3"/>
                              </a:cxn>
                              <a:cxn ang="T100">
                                <a:pos x="T4" y="T5"/>
                              </a:cxn>
                              <a:cxn ang="T101">
                                <a:pos x="T6" y="T7"/>
                              </a:cxn>
                              <a:cxn ang="T102">
                                <a:pos x="T8" y="T9"/>
                              </a:cxn>
                              <a:cxn ang="T103">
                                <a:pos x="T10" y="T11"/>
                              </a:cxn>
                              <a:cxn ang="T104">
                                <a:pos x="T12" y="T13"/>
                              </a:cxn>
                              <a:cxn ang="T105">
                                <a:pos x="T14" y="T15"/>
                              </a:cxn>
                              <a:cxn ang="T106">
                                <a:pos x="T16" y="T17"/>
                              </a:cxn>
                              <a:cxn ang="T107">
                                <a:pos x="T18" y="T19"/>
                              </a:cxn>
                              <a:cxn ang="T108">
                                <a:pos x="T20" y="T21"/>
                              </a:cxn>
                              <a:cxn ang="T109">
                                <a:pos x="T22" y="T23"/>
                              </a:cxn>
                              <a:cxn ang="T110">
                                <a:pos x="T24" y="T25"/>
                              </a:cxn>
                              <a:cxn ang="T111">
                                <a:pos x="T26" y="T27"/>
                              </a:cxn>
                              <a:cxn ang="T112">
                                <a:pos x="T28" y="T29"/>
                              </a:cxn>
                              <a:cxn ang="T113">
                                <a:pos x="T30" y="T31"/>
                              </a:cxn>
                              <a:cxn ang="T114">
                                <a:pos x="T32" y="T33"/>
                              </a:cxn>
                              <a:cxn ang="T115">
                                <a:pos x="T34" y="T35"/>
                              </a:cxn>
                              <a:cxn ang="T116">
                                <a:pos x="T36" y="T37"/>
                              </a:cxn>
                              <a:cxn ang="T117">
                                <a:pos x="T38" y="T39"/>
                              </a:cxn>
                              <a:cxn ang="T118">
                                <a:pos x="T40" y="T41"/>
                              </a:cxn>
                              <a:cxn ang="T119">
                                <a:pos x="T42" y="T43"/>
                              </a:cxn>
                              <a:cxn ang="T120">
                                <a:pos x="T44" y="T45"/>
                              </a:cxn>
                              <a:cxn ang="T121">
                                <a:pos x="T46" y="T47"/>
                              </a:cxn>
                              <a:cxn ang="T122">
                                <a:pos x="T48" y="T49"/>
                              </a:cxn>
                              <a:cxn ang="T123">
                                <a:pos x="T50" y="T51"/>
                              </a:cxn>
                              <a:cxn ang="T124">
                                <a:pos x="T52" y="T53"/>
                              </a:cxn>
                              <a:cxn ang="T125">
                                <a:pos x="T54" y="T55"/>
                              </a:cxn>
                              <a:cxn ang="T126">
                                <a:pos x="T56" y="T57"/>
                              </a:cxn>
                              <a:cxn ang="T127">
                                <a:pos x="T58" y="T59"/>
                              </a:cxn>
                              <a:cxn ang="T128">
                                <a:pos x="T60" y="T61"/>
                              </a:cxn>
                              <a:cxn ang="T129">
                                <a:pos x="T62" y="T63"/>
                              </a:cxn>
                              <a:cxn ang="T130">
                                <a:pos x="T64" y="T65"/>
                              </a:cxn>
                              <a:cxn ang="T131">
                                <a:pos x="T66" y="T67"/>
                              </a:cxn>
                              <a:cxn ang="T132">
                                <a:pos x="T68" y="T69"/>
                              </a:cxn>
                              <a:cxn ang="T133">
                                <a:pos x="T70" y="T71"/>
                              </a:cxn>
                              <a:cxn ang="T134">
                                <a:pos x="T72" y="T73"/>
                              </a:cxn>
                              <a:cxn ang="T135">
                                <a:pos x="T74" y="T75"/>
                              </a:cxn>
                              <a:cxn ang="T136">
                                <a:pos x="T76" y="T77"/>
                              </a:cxn>
                              <a:cxn ang="T137">
                                <a:pos x="T78" y="T79"/>
                              </a:cxn>
                              <a:cxn ang="T138">
                                <a:pos x="T80" y="T81"/>
                              </a:cxn>
                              <a:cxn ang="T139">
                                <a:pos x="T82" y="T83"/>
                              </a:cxn>
                              <a:cxn ang="T140">
                                <a:pos x="T84" y="T85"/>
                              </a:cxn>
                              <a:cxn ang="T141">
                                <a:pos x="T86" y="T87"/>
                              </a:cxn>
                              <a:cxn ang="T142">
                                <a:pos x="T88" y="T89"/>
                              </a:cxn>
                              <a:cxn ang="T143">
                                <a:pos x="T90" y="T91"/>
                              </a:cxn>
                              <a:cxn ang="T144">
                                <a:pos x="T92" y="T93"/>
                              </a:cxn>
                              <a:cxn ang="T145">
                                <a:pos x="T94" y="T95"/>
                              </a:cxn>
                              <a:cxn ang="T146">
                                <a:pos x="T96" y="T97"/>
                              </a:cxn>
                            </a:cxnLst>
                            <a:rect l="T147" t="T148" r="T149" b="T150"/>
                            <a:pathLst>
                              <a:path w="462" h="364">
                                <a:moveTo>
                                  <a:pt x="332" y="0"/>
                                </a:moveTo>
                                <a:lnTo>
                                  <a:pt x="357" y="0"/>
                                </a:lnTo>
                                <a:lnTo>
                                  <a:pt x="357" y="30"/>
                                </a:lnTo>
                                <a:lnTo>
                                  <a:pt x="366" y="38"/>
                                </a:lnTo>
                                <a:lnTo>
                                  <a:pt x="369" y="43"/>
                                </a:lnTo>
                                <a:lnTo>
                                  <a:pt x="375" y="43"/>
                                </a:lnTo>
                                <a:lnTo>
                                  <a:pt x="377" y="48"/>
                                </a:lnTo>
                                <a:lnTo>
                                  <a:pt x="380" y="77"/>
                                </a:lnTo>
                                <a:lnTo>
                                  <a:pt x="394" y="96"/>
                                </a:lnTo>
                                <a:lnTo>
                                  <a:pt x="414" y="124"/>
                                </a:lnTo>
                                <a:lnTo>
                                  <a:pt x="414" y="128"/>
                                </a:lnTo>
                                <a:lnTo>
                                  <a:pt x="436" y="152"/>
                                </a:lnTo>
                                <a:lnTo>
                                  <a:pt x="436" y="156"/>
                                </a:lnTo>
                                <a:lnTo>
                                  <a:pt x="458" y="175"/>
                                </a:lnTo>
                                <a:lnTo>
                                  <a:pt x="462" y="208"/>
                                </a:lnTo>
                                <a:lnTo>
                                  <a:pt x="458" y="239"/>
                                </a:lnTo>
                                <a:lnTo>
                                  <a:pt x="451" y="253"/>
                                </a:lnTo>
                                <a:lnTo>
                                  <a:pt x="443" y="260"/>
                                </a:lnTo>
                                <a:lnTo>
                                  <a:pt x="440" y="275"/>
                                </a:lnTo>
                                <a:lnTo>
                                  <a:pt x="432" y="288"/>
                                </a:lnTo>
                                <a:lnTo>
                                  <a:pt x="425" y="294"/>
                                </a:lnTo>
                                <a:lnTo>
                                  <a:pt x="427" y="298"/>
                                </a:lnTo>
                                <a:lnTo>
                                  <a:pt x="419" y="307"/>
                                </a:lnTo>
                                <a:lnTo>
                                  <a:pt x="414" y="326"/>
                                </a:lnTo>
                                <a:lnTo>
                                  <a:pt x="413" y="336"/>
                                </a:lnTo>
                                <a:lnTo>
                                  <a:pt x="405" y="340"/>
                                </a:lnTo>
                                <a:lnTo>
                                  <a:pt x="403" y="345"/>
                                </a:lnTo>
                                <a:lnTo>
                                  <a:pt x="398" y="353"/>
                                </a:lnTo>
                                <a:lnTo>
                                  <a:pt x="388" y="355"/>
                                </a:lnTo>
                                <a:lnTo>
                                  <a:pt x="381" y="358"/>
                                </a:lnTo>
                                <a:lnTo>
                                  <a:pt x="372" y="364"/>
                                </a:lnTo>
                                <a:lnTo>
                                  <a:pt x="360" y="352"/>
                                </a:lnTo>
                                <a:lnTo>
                                  <a:pt x="346" y="353"/>
                                </a:lnTo>
                                <a:lnTo>
                                  <a:pt x="342" y="353"/>
                                </a:lnTo>
                                <a:lnTo>
                                  <a:pt x="323" y="356"/>
                                </a:lnTo>
                                <a:lnTo>
                                  <a:pt x="310" y="345"/>
                                </a:lnTo>
                                <a:lnTo>
                                  <a:pt x="302" y="333"/>
                                </a:lnTo>
                                <a:lnTo>
                                  <a:pt x="296" y="334"/>
                                </a:lnTo>
                                <a:lnTo>
                                  <a:pt x="291" y="324"/>
                                </a:lnTo>
                                <a:lnTo>
                                  <a:pt x="288" y="316"/>
                                </a:lnTo>
                                <a:lnTo>
                                  <a:pt x="286" y="313"/>
                                </a:lnTo>
                                <a:lnTo>
                                  <a:pt x="286" y="298"/>
                                </a:lnTo>
                                <a:lnTo>
                                  <a:pt x="287" y="289"/>
                                </a:lnTo>
                                <a:lnTo>
                                  <a:pt x="284" y="284"/>
                                </a:lnTo>
                                <a:lnTo>
                                  <a:pt x="273" y="287"/>
                                </a:lnTo>
                                <a:lnTo>
                                  <a:pt x="268" y="288"/>
                                </a:lnTo>
                                <a:lnTo>
                                  <a:pt x="258" y="288"/>
                                </a:lnTo>
                                <a:lnTo>
                                  <a:pt x="254" y="288"/>
                                </a:lnTo>
                                <a:lnTo>
                                  <a:pt x="250" y="288"/>
                                </a:lnTo>
                                <a:lnTo>
                                  <a:pt x="243" y="279"/>
                                </a:lnTo>
                                <a:lnTo>
                                  <a:pt x="236" y="268"/>
                                </a:lnTo>
                                <a:lnTo>
                                  <a:pt x="235" y="269"/>
                                </a:lnTo>
                                <a:lnTo>
                                  <a:pt x="222" y="269"/>
                                </a:lnTo>
                                <a:lnTo>
                                  <a:pt x="221" y="265"/>
                                </a:lnTo>
                                <a:lnTo>
                                  <a:pt x="214" y="269"/>
                                </a:lnTo>
                                <a:lnTo>
                                  <a:pt x="207" y="268"/>
                                </a:lnTo>
                                <a:lnTo>
                                  <a:pt x="196" y="268"/>
                                </a:lnTo>
                                <a:lnTo>
                                  <a:pt x="190" y="265"/>
                                </a:lnTo>
                                <a:lnTo>
                                  <a:pt x="187" y="269"/>
                                </a:lnTo>
                                <a:lnTo>
                                  <a:pt x="176" y="271"/>
                                </a:lnTo>
                                <a:lnTo>
                                  <a:pt x="173" y="268"/>
                                </a:lnTo>
                                <a:lnTo>
                                  <a:pt x="166" y="275"/>
                                </a:lnTo>
                                <a:lnTo>
                                  <a:pt x="158" y="282"/>
                                </a:lnTo>
                                <a:lnTo>
                                  <a:pt x="152" y="282"/>
                                </a:lnTo>
                                <a:lnTo>
                                  <a:pt x="144" y="291"/>
                                </a:lnTo>
                                <a:lnTo>
                                  <a:pt x="132" y="291"/>
                                </a:lnTo>
                                <a:lnTo>
                                  <a:pt x="122" y="294"/>
                                </a:lnTo>
                                <a:lnTo>
                                  <a:pt x="111" y="298"/>
                                </a:lnTo>
                                <a:lnTo>
                                  <a:pt x="106" y="304"/>
                                </a:lnTo>
                                <a:lnTo>
                                  <a:pt x="102" y="303"/>
                                </a:lnTo>
                                <a:lnTo>
                                  <a:pt x="98" y="308"/>
                                </a:lnTo>
                                <a:lnTo>
                                  <a:pt x="92" y="310"/>
                                </a:lnTo>
                                <a:lnTo>
                                  <a:pt x="85" y="317"/>
                                </a:lnTo>
                                <a:lnTo>
                                  <a:pt x="63" y="317"/>
                                </a:lnTo>
                                <a:lnTo>
                                  <a:pt x="54" y="307"/>
                                </a:lnTo>
                                <a:lnTo>
                                  <a:pt x="52" y="303"/>
                                </a:lnTo>
                                <a:lnTo>
                                  <a:pt x="50" y="307"/>
                                </a:lnTo>
                                <a:lnTo>
                                  <a:pt x="46" y="300"/>
                                </a:lnTo>
                                <a:lnTo>
                                  <a:pt x="47" y="281"/>
                                </a:lnTo>
                                <a:lnTo>
                                  <a:pt x="50" y="269"/>
                                </a:lnTo>
                                <a:lnTo>
                                  <a:pt x="46" y="260"/>
                                </a:lnTo>
                                <a:lnTo>
                                  <a:pt x="41" y="252"/>
                                </a:lnTo>
                                <a:lnTo>
                                  <a:pt x="40" y="242"/>
                                </a:lnTo>
                                <a:lnTo>
                                  <a:pt x="33" y="237"/>
                                </a:lnTo>
                                <a:lnTo>
                                  <a:pt x="32" y="236"/>
                                </a:lnTo>
                                <a:lnTo>
                                  <a:pt x="30" y="231"/>
                                </a:lnTo>
                                <a:lnTo>
                                  <a:pt x="21" y="218"/>
                                </a:lnTo>
                                <a:lnTo>
                                  <a:pt x="9" y="186"/>
                                </a:lnTo>
                                <a:lnTo>
                                  <a:pt x="4" y="165"/>
                                </a:lnTo>
                                <a:lnTo>
                                  <a:pt x="4" y="152"/>
                                </a:lnTo>
                                <a:lnTo>
                                  <a:pt x="0" y="147"/>
                                </a:lnTo>
                                <a:lnTo>
                                  <a:pt x="2" y="136"/>
                                </a:lnTo>
                                <a:lnTo>
                                  <a:pt x="6" y="130"/>
                                </a:lnTo>
                                <a:lnTo>
                                  <a:pt x="21" y="114"/>
                                </a:lnTo>
                                <a:lnTo>
                                  <a:pt x="36" y="115"/>
                                </a:lnTo>
                                <a:lnTo>
                                  <a:pt x="39" y="118"/>
                                </a:lnTo>
                                <a:lnTo>
                                  <a:pt x="58" y="118"/>
                                </a:lnTo>
                                <a:lnTo>
                                  <a:pt x="59" y="114"/>
                                </a:lnTo>
                                <a:lnTo>
                                  <a:pt x="63" y="115"/>
                                </a:lnTo>
                                <a:lnTo>
                                  <a:pt x="69" y="111"/>
                                </a:lnTo>
                                <a:lnTo>
                                  <a:pt x="73" y="112"/>
                                </a:lnTo>
                                <a:lnTo>
                                  <a:pt x="77" y="109"/>
                                </a:lnTo>
                                <a:lnTo>
                                  <a:pt x="76" y="105"/>
                                </a:lnTo>
                                <a:lnTo>
                                  <a:pt x="80" y="95"/>
                                </a:lnTo>
                                <a:lnTo>
                                  <a:pt x="85" y="91"/>
                                </a:lnTo>
                                <a:lnTo>
                                  <a:pt x="83" y="88"/>
                                </a:lnTo>
                                <a:lnTo>
                                  <a:pt x="85" y="85"/>
                                </a:lnTo>
                                <a:lnTo>
                                  <a:pt x="83" y="80"/>
                                </a:lnTo>
                                <a:lnTo>
                                  <a:pt x="91" y="73"/>
                                </a:lnTo>
                                <a:lnTo>
                                  <a:pt x="103" y="72"/>
                                </a:lnTo>
                                <a:lnTo>
                                  <a:pt x="115" y="54"/>
                                </a:lnTo>
                                <a:lnTo>
                                  <a:pt x="131" y="40"/>
                                </a:lnTo>
                                <a:lnTo>
                                  <a:pt x="137" y="38"/>
                                </a:lnTo>
                                <a:lnTo>
                                  <a:pt x="142" y="34"/>
                                </a:lnTo>
                                <a:lnTo>
                                  <a:pt x="148" y="34"/>
                                </a:lnTo>
                                <a:lnTo>
                                  <a:pt x="161" y="47"/>
                                </a:lnTo>
                                <a:lnTo>
                                  <a:pt x="165" y="48"/>
                                </a:lnTo>
                                <a:lnTo>
                                  <a:pt x="169" y="43"/>
                                </a:lnTo>
                                <a:lnTo>
                                  <a:pt x="177" y="34"/>
                                </a:lnTo>
                                <a:lnTo>
                                  <a:pt x="183" y="32"/>
                                </a:lnTo>
                                <a:lnTo>
                                  <a:pt x="188" y="21"/>
                                </a:lnTo>
                                <a:lnTo>
                                  <a:pt x="194" y="19"/>
                                </a:lnTo>
                                <a:lnTo>
                                  <a:pt x="200" y="15"/>
                                </a:lnTo>
                                <a:lnTo>
                                  <a:pt x="207" y="11"/>
                                </a:lnTo>
                                <a:lnTo>
                                  <a:pt x="214" y="11"/>
                                </a:lnTo>
                                <a:lnTo>
                                  <a:pt x="220" y="5"/>
                                </a:lnTo>
                                <a:lnTo>
                                  <a:pt x="228" y="5"/>
                                </a:lnTo>
                                <a:lnTo>
                                  <a:pt x="238" y="5"/>
                                </a:lnTo>
                                <a:lnTo>
                                  <a:pt x="250" y="8"/>
                                </a:lnTo>
                                <a:lnTo>
                                  <a:pt x="258" y="14"/>
                                </a:lnTo>
                                <a:lnTo>
                                  <a:pt x="259" y="18"/>
                                </a:lnTo>
                                <a:lnTo>
                                  <a:pt x="261" y="21"/>
                                </a:lnTo>
                                <a:lnTo>
                                  <a:pt x="262" y="28"/>
                                </a:lnTo>
                                <a:lnTo>
                                  <a:pt x="261" y="31"/>
                                </a:lnTo>
                                <a:lnTo>
                                  <a:pt x="261" y="38"/>
                                </a:lnTo>
                                <a:lnTo>
                                  <a:pt x="259" y="43"/>
                                </a:lnTo>
                                <a:lnTo>
                                  <a:pt x="280" y="59"/>
                                </a:lnTo>
                                <a:lnTo>
                                  <a:pt x="287" y="67"/>
                                </a:lnTo>
                                <a:lnTo>
                                  <a:pt x="295" y="70"/>
                                </a:lnTo>
                                <a:lnTo>
                                  <a:pt x="303" y="75"/>
                                </a:lnTo>
                                <a:lnTo>
                                  <a:pt x="309" y="76"/>
                                </a:lnTo>
                                <a:lnTo>
                                  <a:pt x="317" y="72"/>
                                </a:lnTo>
                                <a:lnTo>
                                  <a:pt x="324" y="59"/>
                                </a:lnTo>
                                <a:lnTo>
                                  <a:pt x="327" y="48"/>
                                </a:lnTo>
                                <a:lnTo>
                                  <a:pt x="329" y="28"/>
                                </a:lnTo>
                                <a:lnTo>
                                  <a:pt x="332" y="19"/>
                                </a:lnTo>
                                <a:lnTo>
                                  <a:pt x="332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87" name="Freeform 14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29" y="2637"/>
                            <a:ext cx="128" cy="24"/>
                          </a:xfrm>
                          <a:custGeom>
                            <a:avLst/>
                            <a:gdLst>
                              <a:gd name="T0" fmla="*/ 1 w 255"/>
                              <a:gd name="T1" fmla="*/ 0 h 49"/>
                              <a:gd name="T2" fmla="*/ 2 w 255"/>
                              <a:gd name="T3" fmla="*/ 0 h 49"/>
                              <a:gd name="T4" fmla="*/ 3 w 255"/>
                              <a:gd name="T5" fmla="*/ 0 h 49"/>
                              <a:gd name="T6" fmla="*/ 3 w 255"/>
                              <a:gd name="T7" fmla="*/ 0 h 49"/>
                              <a:gd name="T8" fmla="*/ 4 w 255"/>
                              <a:gd name="T9" fmla="*/ 0 h 49"/>
                              <a:gd name="T10" fmla="*/ 4 w 255"/>
                              <a:gd name="T11" fmla="*/ 0 h 49"/>
                              <a:gd name="T12" fmla="*/ 5 w 255"/>
                              <a:gd name="T13" fmla="*/ 1 h 49"/>
                              <a:gd name="T14" fmla="*/ 5 w 255"/>
                              <a:gd name="T15" fmla="*/ 0 h 49"/>
                              <a:gd name="T16" fmla="*/ 6 w 255"/>
                              <a:gd name="T17" fmla="*/ 0 h 49"/>
                              <a:gd name="T18" fmla="*/ 7 w 255"/>
                              <a:gd name="T19" fmla="*/ 0 h 49"/>
                              <a:gd name="T20" fmla="*/ 7 w 255"/>
                              <a:gd name="T21" fmla="*/ 0 h 49"/>
                              <a:gd name="T22" fmla="*/ 7 w 255"/>
                              <a:gd name="T23" fmla="*/ 0 h 49"/>
                              <a:gd name="T24" fmla="*/ 8 w 255"/>
                              <a:gd name="T25" fmla="*/ 0 h 49"/>
                              <a:gd name="T26" fmla="*/ 8 w 255"/>
                              <a:gd name="T27" fmla="*/ 0 h 49"/>
                              <a:gd name="T28" fmla="*/ 8 w 255"/>
                              <a:gd name="T29" fmla="*/ 1 h 49"/>
                              <a:gd name="T30" fmla="*/ 8 w 255"/>
                              <a:gd name="T31" fmla="*/ 1 h 49"/>
                              <a:gd name="T32" fmla="*/ 8 w 255"/>
                              <a:gd name="T33" fmla="*/ 1 h 49"/>
                              <a:gd name="T34" fmla="*/ 7 w 255"/>
                              <a:gd name="T35" fmla="*/ 1 h 49"/>
                              <a:gd name="T36" fmla="*/ 7 w 255"/>
                              <a:gd name="T37" fmla="*/ 1 h 49"/>
                              <a:gd name="T38" fmla="*/ 7 w 255"/>
                              <a:gd name="T39" fmla="*/ 1 h 49"/>
                              <a:gd name="T40" fmla="*/ 6 w 255"/>
                              <a:gd name="T41" fmla="*/ 1 h 49"/>
                              <a:gd name="T42" fmla="*/ 6 w 255"/>
                              <a:gd name="T43" fmla="*/ 1 h 49"/>
                              <a:gd name="T44" fmla="*/ 6 w 255"/>
                              <a:gd name="T45" fmla="*/ 1 h 49"/>
                              <a:gd name="T46" fmla="*/ 5 w 255"/>
                              <a:gd name="T47" fmla="*/ 1 h 49"/>
                              <a:gd name="T48" fmla="*/ 5 w 255"/>
                              <a:gd name="T49" fmla="*/ 1 h 49"/>
                              <a:gd name="T50" fmla="*/ 5 w 255"/>
                              <a:gd name="T51" fmla="*/ 1 h 49"/>
                              <a:gd name="T52" fmla="*/ 4 w 255"/>
                              <a:gd name="T53" fmla="*/ 1 h 49"/>
                              <a:gd name="T54" fmla="*/ 4 w 255"/>
                              <a:gd name="T55" fmla="*/ 1 h 49"/>
                              <a:gd name="T56" fmla="*/ 3 w 255"/>
                              <a:gd name="T57" fmla="*/ 1 h 49"/>
                              <a:gd name="T58" fmla="*/ 3 w 255"/>
                              <a:gd name="T59" fmla="*/ 1 h 49"/>
                              <a:gd name="T60" fmla="*/ 2 w 255"/>
                              <a:gd name="T61" fmla="*/ 1 h 49"/>
                              <a:gd name="T62" fmla="*/ 1 w 255"/>
                              <a:gd name="T63" fmla="*/ 0 h 49"/>
                              <a:gd name="T64" fmla="*/ 1 w 255"/>
                              <a:gd name="T65" fmla="*/ 0 h 49"/>
                              <a:gd name="T66" fmla="*/ 1 w 255"/>
                              <a:gd name="T67" fmla="*/ 0 h 49"/>
                              <a:gd name="T68" fmla="*/ 0 w 255"/>
                              <a:gd name="T69" fmla="*/ 0 h 49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w 255"/>
                              <a:gd name="T106" fmla="*/ 0 h 49"/>
                              <a:gd name="T107" fmla="*/ 255 w 255"/>
                              <a:gd name="T108" fmla="*/ 49 h 49"/>
                            </a:gdLst>
                            <a:ahLst/>
                            <a:cxnLst>
                              <a:cxn ang="T70">
                                <a:pos x="T0" y="T1"/>
                              </a:cxn>
                              <a:cxn ang="T71">
                                <a:pos x="T2" y="T3"/>
                              </a:cxn>
                              <a:cxn ang="T72">
                                <a:pos x="T4" y="T5"/>
                              </a:cxn>
                              <a:cxn ang="T73">
                                <a:pos x="T6" y="T7"/>
                              </a:cxn>
                              <a:cxn ang="T74">
                                <a:pos x="T8" y="T9"/>
                              </a:cxn>
                              <a:cxn ang="T75">
                                <a:pos x="T10" y="T11"/>
                              </a:cxn>
                              <a:cxn ang="T76">
                                <a:pos x="T12" y="T13"/>
                              </a:cxn>
                              <a:cxn ang="T77">
                                <a:pos x="T14" y="T15"/>
                              </a:cxn>
                              <a:cxn ang="T78">
                                <a:pos x="T16" y="T17"/>
                              </a:cxn>
                              <a:cxn ang="T79">
                                <a:pos x="T18" y="T19"/>
                              </a:cxn>
                              <a:cxn ang="T80">
                                <a:pos x="T20" y="T21"/>
                              </a:cxn>
                              <a:cxn ang="T81">
                                <a:pos x="T22" y="T23"/>
                              </a:cxn>
                              <a:cxn ang="T82">
                                <a:pos x="T24" y="T25"/>
                              </a:cxn>
                              <a:cxn ang="T83">
                                <a:pos x="T26" y="T27"/>
                              </a:cxn>
                              <a:cxn ang="T84">
                                <a:pos x="T28" y="T29"/>
                              </a:cxn>
                              <a:cxn ang="T85">
                                <a:pos x="T30" y="T31"/>
                              </a:cxn>
                              <a:cxn ang="T86">
                                <a:pos x="T32" y="T33"/>
                              </a:cxn>
                              <a:cxn ang="T87">
                                <a:pos x="T34" y="T35"/>
                              </a:cxn>
                              <a:cxn ang="T88">
                                <a:pos x="T36" y="T37"/>
                              </a:cxn>
                              <a:cxn ang="T89">
                                <a:pos x="T38" y="T39"/>
                              </a:cxn>
                              <a:cxn ang="T90">
                                <a:pos x="T40" y="T41"/>
                              </a:cxn>
                              <a:cxn ang="T91">
                                <a:pos x="T42" y="T43"/>
                              </a:cxn>
                              <a:cxn ang="T92">
                                <a:pos x="T44" y="T45"/>
                              </a:cxn>
                              <a:cxn ang="T93">
                                <a:pos x="T46" y="T47"/>
                              </a:cxn>
                              <a:cxn ang="T94">
                                <a:pos x="T48" y="T49"/>
                              </a:cxn>
                              <a:cxn ang="T95">
                                <a:pos x="T50" y="T51"/>
                              </a:cxn>
                              <a:cxn ang="T96">
                                <a:pos x="T52" y="T53"/>
                              </a:cxn>
                              <a:cxn ang="T97">
                                <a:pos x="T54" y="T55"/>
                              </a:cxn>
                              <a:cxn ang="T98">
                                <a:pos x="T56" y="T57"/>
                              </a:cxn>
                              <a:cxn ang="T99">
                                <a:pos x="T58" y="T59"/>
                              </a:cxn>
                              <a:cxn ang="T100">
                                <a:pos x="T60" y="T61"/>
                              </a:cxn>
                              <a:cxn ang="T101">
                                <a:pos x="T62" y="T63"/>
                              </a:cxn>
                              <a:cxn ang="T102">
                                <a:pos x="T64" y="T65"/>
                              </a:cxn>
                              <a:cxn ang="T103">
                                <a:pos x="T66" y="T67"/>
                              </a:cxn>
                              <a:cxn ang="T104">
                                <a:pos x="T68" y="T69"/>
                              </a:cxn>
                            </a:cxnLst>
                            <a:rect l="T105" t="T106" r="T107" b="T108"/>
                            <a:pathLst>
                              <a:path w="255" h="49">
                                <a:moveTo>
                                  <a:pt x="0" y="0"/>
                                </a:moveTo>
                                <a:lnTo>
                                  <a:pt x="19" y="7"/>
                                </a:lnTo>
                                <a:lnTo>
                                  <a:pt x="36" y="7"/>
                                </a:lnTo>
                                <a:lnTo>
                                  <a:pt x="51" y="7"/>
                                </a:lnTo>
                                <a:lnTo>
                                  <a:pt x="62" y="7"/>
                                </a:lnTo>
                                <a:lnTo>
                                  <a:pt x="70" y="8"/>
                                </a:lnTo>
                                <a:lnTo>
                                  <a:pt x="81" y="13"/>
                                </a:lnTo>
                                <a:lnTo>
                                  <a:pt x="86" y="23"/>
                                </a:lnTo>
                                <a:lnTo>
                                  <a:pt x="92" y="27"/>
                                </a:lnTo>
                                <a:lnTo>
                                  <a:pt x="101" y="26"/>
                                </a:lnTo>
                                <a:lnTo>
                                  <a:pt x="112" y="26"/>
                                </a:lnTo>
                                <a:lnTo>
                                  <a:pt x="125" y="31"/>
                                </a:lnTo>
                                <a:lnTo>
                                  <a:pt x="133" y="34"/>
                                </a:lnTo>
                                <a:lnTo>
                                  <a:pt x="138" y="34"/>
                                </a:lnTo>
                                <a:lnTo>
                                  <a:pt x="140" y="27"/>
                                </a:lnTo>
                                <a:lnTo>
                                  <a:pt x="144" y="23"/>
                                </a:lnTo>
                                <a:lnTo>
                                  <a:pt x="160" y="26"/>
                                </a:lnTo>
                                <a:lnTo>
                                  <a:pt x="174" y="26"/>
                                </a:lnTo>
                                <a:lnTo>
                                  <a:pt x="186" y="26"/>
                                </a:lnTo>
                                <a:lnTo>
                                  <a:pt x="196" y="30"/>
                                </a:lnTo>
                                <a:lnTo>
                                  <a:pt x="202" y="33"/>
                                </a:lnTo>
                                <a:lnTo>
                                  <a:pt x="211" y="31"/>
                                </a:lnTo>
                                <a:lnTo>
                                  <a:pt x="218" y="29"/>
                                </a:lnTo>
                                <a:lnTo>
                                  <a:pt x="222" y="26"/>
                                </a:lnTo>
                                <a:lnTo>
                                  <a:pt x="233" y="26"/>
                                </a:lnTo>
                                <a:lnTo>
                                  <a:pt x="240" y="23"/>
                                </a:lnTo>
                                <a:lnTo>
                                  <a:pt x="250" y="20"/>
                                </a:lnTo>
                                <a:lnTo>
                                  <a:pt x="255" y="20"/>
                                </a:lnTo>
                                <a:lnTo>
                                  <a:pt x="254" y="30"/>
                                </a:lnTo>
                                <a:lnTo>
                                  <a:pt x="251" y="34"/>
                                </a:lnTo>
                                <a:lnTo>
                                  <a:pt x="245" y="39"/>
                                </a:lnTo>
                                <a:lnTo>
                                  <a:pt x="240" y="39"/>
                                </a:lnTo>
                                <a:lnTo>
                                  <a:pt x="239" y="39"/>
                                </a:lnTo>
                                <a:lnTo>
                                  <a:pt x="232" y="40"/>
                                </a:lnTo>
                                <a:lnTo>
                                  <a:pt x="226" y="46"/>
                                </a:lnTo>
                                <a:lnTo>
                                  <a:pt x="221" y="45"/>
                                </a:lnTo>
                                <a:lnTo>
                                  <a:pt x="215" y="42"/>
                                </a:lnTo>
                                <a:lnTo>
                                  <a:pt x="210" y="45"/>
                                </a:lnTo>
                                <a:lnTo>
                                  <a:pt x="204" y="46"/>
                                </a:lnTo>
                                <a:lnTo>
                                  <a:pt x="200" y="46"/>
                                </a:lnTo>
                                <a:lnTo>
                                  <a:pt x="196" y="49"/>
                                </a:lnTo>
                                <a:lnTo>
                                  <a:pt x="185" y="49"/>
                                </a:lnTo>
                                <a:lnTo>
                                  <a:pt x="181" y="45"/>
                                </a:lnTo>
                                <a:lnTo>
                                  <a:pt x="175" y="39"/>
                                </a:lnTo>
                                <a:lnTo>
                                  <a:pt x="169" y="45"/>
                                </a:lnTo>
                                <a:lnTo>
                                  <a:pt x="164" y="49"/>
                                </a:lnTo>
                                <a:lnTo>
                                  <a:pt x="159" y="49"/>
                                </a:lnTo>
                                <a:lnTo>
                                  <a:pt x="149" y="39"/>
                                </a:lnTo>
                                <a:lnTo>
                                  <a:pt x="147" y="40"/>
                                </a:lnTo>
                                <a:lnTo>
                                  <a:pt x="141" y="40"/>
                                </a:lnTo>
                                <a:lnTo>
                                  <a:pt x="137" y="46"/>
                                </a:lnTo>
                                <a:lnTo>
                                  <a:pt x="129" y="45"/>
                                </a:lnTo>
                                <a:lnTo>
                                  <a:pt x="121" y="45"/>
                                </a:lnTo>
                                <a:lnTo>
                                  <a:pt x="117" y="42"/>
                                </a:lnTo>
                                <a:lnTo>
                                  <a:pt x="111" y="39"/>
                                </a:lnTo>
                                <a:lnTo>
                                  <a:pt x="103" y="40"/>
                                </a:lnTo>
                                <a:lnTo>
                                  <a:pt x="95" y="46"/>
                                </a:lnTo>
                                <a:lnTo>
                                  <a:pt x="89" y="45"/>
                                </a:lnTo>
                                <a:lnTo>
                                  <a:pt x="81" y="42"/>
                                </a:lnTo>
                                <a:lnTo>
                                  <a:pt x="71" y="37"/>
                                </a:lnTo>
                                <a:lnTo>
                                  <a:pt x="63" y="37"/>
                                </a:lnTo>
                                <a:lnTo>
                                  <a:pt x="47" y="33"/>
                                </a:lnTo>
                                <a:lnTo>
                                  <a:pt x="36" y="30"/>
                                </a:lnTo>
                                <a:lnTo>
                                  <a:pt x="29" y="29"/>
                                </a:lnTo>
                                <a:lnTo>
                                  <a:pt x="18" y="27"/>
                                </a:lnTo>
                                <a:lnTo>
                                  <a:pt x="11" y="21"/>
                                </a:lnTo>
                                <a:lnTo>
                                  <a:pt x="4" y="20"/>
                                </a:lnTo>
                                <a:lnTo>
                                  <a:pt x="1" y="18"/>
                                </a:lnTo>
                                <a:lnTo>
                                  <a:pt x="0" y="15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88" name="Freeform 148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99" y="2588"/>
                            <a:ext cx="58" cy="47"/>
                          </a:xfrm>
                          <a:custGeom>
                            <a:avLst/>
                            <a:gdLst>
                              <a:gd name="T0" fmla="*/ 2 w 115"/>
                              <a:gd name="T1" fmla="*/ 0 h 95"/>
                              <a:gd name="T2" fmla="*/ 3 w 115"/>
                              <a:gd name="T3" fmla="*/ 0 h 95"/>
                              <a:gd name="T4" fmla="*/ 4 w 115"/>
                              <a:gd name="T5" fmla="*/ 0 h 95"/>
                              <a:gd name="T6" fmla="*/ 3 w 115"/>
                              <a:gd name="T7" fmla="*/ 0 h 95"/>
                              <a:gd name="T8" fmla="*/ 3 w 115"/>
                              <a:gd name="T9" fmla="*/ 0 h 95"/>
                              <a:gd name="T10" fmla="*/ 3 w 115"/>
                              <a:gd name="T11" fmla="*/ 1 h 95"/>
                              <a:gd name="T12" fmla="*/ 3 w 115"/>
                              <a:gd name="T13" fmla="*/ 1 h 95"/>
                              <a:gd name="T14" fmla="*/ 2 w 115"/>
                              <a:gd name="T15" fmla="*/ 0 h 95"/>
                              <a:gd name="T16" fmla="*/ 2 w 115"/>
                              <a:gd name="T17" fmla="*/ 0 h 95"/>
                              <a:gd name="T18" fmla="*/ 2 w 115"/>
                              <a:gd name="T19" fmla="*/ 0 h 95"/>
                              <a:gd name="T20" fmla="*/ 2 w 115"/>
                              <a:gd name="T21" fmla="*/ 1 h 95"/>
                              <a:gd name="T22" fmla="*/ 2 w 115"/>
                              <a:gd name="T23" fmla="*/ 1 h 95"/>
                              <a:gd name="T24" fmla="*/ 2 w 115"/>
                              <a:gd name="T25" fmla="*/ 1 h 95"/>
                              <a:gd name="T26" fmla="*/ 2 w 115"/>
                              <a:gd name="T27" fmla="*/ 1 h 95"/>
                              <a:gd name="T28" fmla="*/ 2 w 115"/>
                              <a:gd name="T29" fmla="*/ 1 h 95"/>
                              <a:gd name="T30" fmla="*/ 2 w 115"/>
                              <a:gd name="T31" fmla="*/ 1 h 95"/>
                              <a:gd name="T32" fmla="*/ 2 w 115"/>
                              <a:gd name="T33" fmla="*/ 1 h 95"/>
                              <a:gd name="T34" fmla="*/ 2 w 115"/>
                              <a:gd name="T35" fmla="*/ 2 h 95"/>
                              <a:gd name="T36" fmla="*/ 2 w 115"/>
                              <a:gd name="T37" fmla="*/ 2 h 95"/>
                              <a:gd name="T38" fmla="*/ 2 w 115"/>
                              <a:gd name="T39" fmla="*/ 2 h 95"/>
                              <a:gd name="T40" fmla="*/ 2 w 115"/>
                              <a:gd name="T41" fmla="*/ 2 h 95"/>
                              <a:gd name="T42" fmla="*/ 2 w 115"/>
                              <a:gd name="T43" fmla="*/ 2 h 95"/>
                              <a:gd name="T44" fmla="*/ 2 w 115"/>
                              <a:gd name="T45" fmla="*/ 2 h 95"/>
                              <a:gd name="T46" fmla="*/ 2 w 115"/>
                              <a:gd name="T47" fmla="*/ 1 h 95"/>
                              <a:gd name="T48" fmla="*/ 1 w 115"/>
                              <a:gd name="T49" fmla="*/ 1 h 95"/>
                              <a:gd name="T50" fmla="*/ 1 w 115"/>
                              <a:gd name="T51" fmla="*/ 1 h 95"/>
                              <a:gd name="T52" fmla="*/ 1 w 115"/>
                              <a:gd name="T53" fmla="*/ 2 h 95"/>
                              <a:gd name="T54" fmla="*/ 2 w 115"/>
                              <a:gd name="T55" fmla="*/ 2 h 95"/>
                              <a:gd name="T56" fmla="*/ 1 w 115"/>
                              <a:gd name="T57" fmla="*/ 2 h 95"/>
                              <a:gd name="T58" fmla="*/ 1 w 115"/>
                              <a:gd name="T59" fmla="*/ 2 h 95"/>
                              <a:gd name="T60" fmla="*/ 1 w 115"/>
                              <a:gd name="T61" fmla="*/ 2 h 95"/>
                              <a:gd name="T62" fmla="*/ 1 w 115"/>
                              <a:gd name="T63" fmla="*/ 2 h 95"/>
                              <a:gd name="T64" fmla="*/ 1 w 115"/>
                              <a:gd name="T65" fmla="*/ 2 h 95"/>
                              <a:gd name="T66" fmla="*/ 1 w 115"/>
                              <a:gd name="T67" fmla="*/ 1 h 95"/>
                              <a:gd name="T68" fmla="*/ 1 w 115"/>
                              <a:gd name="T69" fmla="*/ 1 h 95"/>
                              <a:gd name="T70" fmla="*/ 1 w 115"/>
                              <a:gd name="T71" fmla="*/ 0 h 95"/>
                              <a:gd name="T72" fmla="*/ 1 w 115"/>
                              <a:gd name="T73" fmla="*/ 0 h 95"/>
                              <a:gd name="T74" fmla="*/ 1 w 115"/>
                              <a:gd name="T75" fmla="*/ 0 h 95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w 115"/>
                              <a:gd name="T115" fmla="*/ 0 h 95"/>
                              <a:gd name="T116" fmla="*/ 115 w 115"/>
                              <a:gd name="T117" fmla="*/ 95 h 95"/>
                            </a:gdLst>
                            <a:ahLst/>
                            <a:cxnLst>
                              <a:cxn ang="T76">
                                <a:pos x="T0" y="T1"/>
                              </a:cxn>
                              <a:cxn ang="T77">
                                <a:pos x="T2" y="T3"/>
                              </a:cxn>
                              <a:cxn ang="T78">
                                <a:pos x="T4" y="T5"/>
                              </a:cxn>
                              <a:cxn ang="T79">
                                <a:pos x="T6" y="T7"/>
                              </a:cxn>
                              <a:cxn ang="T80">
                                <a:pos x="T8" y="T9"/>
                              </a:cxn>
                              <a:cxn ang="T81">
                                <a:pos x="T10" y="T11"/>
                              </a:cxn>
                              <a:cxn ang="T82">
                                <a:pos x="T12" y="T13"/>
                              </a:cxn>
                              <a:cxn ang="T83">
                                <a:pos x="T14" y="T15"/>
                              </a:cxn>
                              <a:cxn ang="T84">
                                <a:pos x="T16" y="T17"/>
                              </a:cxn>
                              <a:cxn ang="T85">
                                <a:pos x="T18" y="T19"/>
                              </a:cxn>
                              <a:cxn ang="T86">
                                <a:pos x="T20" y="T21"/>
                              </a:cxn>
                              <a:cxn ang="T87">
                                <a:pos x="T22" y="T23"/>
                              </a:cxn>
                              <a:cxn ang="T88">
                                <a:pos x="T24" y="T25"/>
                              </a:cxn>
                              <a:cxn ang="T89">
                                <a:pos x="T26" y="T27"/>
                              </a:cxn>
                              <a:cxn ang="T90">
                                <a:pos x="T28" y="T29"/>
                              </a:cxn>
                              <a:cxn ang="T91">
                                <a:pos x="T30" y="T31"/>
                              </a:cxn>
                              <a:cxn ang="T92">
                                <a:pos x="T32" y="T33"/>
                              </a:cxn>
                              <a:cxn ang="T93">
                                <a:pos x="T34" y="T35"/>
                              </a:cxn>
                              <a:cxn ang="T94">
                                <a:pos x="T36" y="T37"/>
                              </a:cxn>
                              <a:cxn ang="T95">
                                <a:pos x="T38" y="T39"/>
                              </a:cxn>
                              <a:cxn ang="T96">
                                <a:pos x="T40" y="T41"/>
                              </a:cxn>
                              <a:cxn ang="T97">
                                <a:pos x="T42" y="T43"/>
                              </a:cxn>
                              <a:cxn ang="T98">
                                <a:pos x="T44" y="T45"/>
                              </a:cxn>
                              <a:cxn ang="T99">
                                <a:pos x="T46" y="T47"/>
                              </a:cxn>
                              <a:cxn ang="T100">
                                <a:pos x="T48" y="T49"/>
                              </a:cxn>
                              <a:cxn ang="T101">
                                <a:pos x="T50" y="T51"/>
                              </a:cxn>
                              <a:cxn ang="T102">
                                <a:pos x="T52" y="T53"/>
                              </a:cxn>
                              <a:cxn ang="T103">
                                <a:pos x="T54" y="T55"/>
                              </a:cxn>
                              <a:cxn ang="T104">
                                <a:pos x="T56" y="T57"/>
                              </a:cxn>
                              <a:cxn ang="T105">
                                <a:pos x="T58" y="T59"/>
                              </a:cxn>
                              <a:cxn ang="T106">
                                <a:pos x="T60" y="T61"/>
                              </a:cxn>
                              <a:cxn ang="T107">
                                <a:pos x="T62" y="T63"/>
                              </a:cxn>
                              <a:cxn ang="T108">
                                <a:pos x="T64" y="T65"/>
                              </a:cxn>
                              <a:cxn ang="T109">
                                <a:pos x="T66" y="T67"/>
                              </a:cxn>
                              <a:cxn ang="T110">
                                <a:pos x="T68" y="T69"/>
                              </a:cxn>
                              <a:cxn ang="T111">
                                <a:pos x="T70" y="T71"/>
                              </a:cxn>
                              <a:cxn ang="T112">
                                <a:pos x="T72" y="T73"/>
                              </a:cxn>
                              <a:cxn ang="T113">
                                <a:pos x="T74" y="T75"/>
                              </a:cxn>
                            </a:cxnLst>
                            <a:rect l="T114" t="T115" r="T116" b="T117"/>
                            <a:pathLst>
                              <a:path w="115" h="95">
                                <a:moveTo>
                                  <a:pt x="29" y="0"/>
                                </a:moveTo>
                                <a:lnTo>
                                  <a:pt x="56" y="2"/>
                                </a:lnTo>
                                <a:lnTo>
                                  <a:pt x="82" y="2"/>
                                </a:lnTo>
                                <a:lnTo>
                                  <a:pt x="96" y="0"/>
                                </a:lnTo>
                                <a:lnTo>
                                  <a:pt x="115" y="9"/>
                                </a:lnTo>
                                <a:lnTo>
                                  <a:pt x="103" y="12"/>
                                </a:lnTo>
                                <a:lnTo>
                                  <a:pt x="96" y="16"/>
                                </a:lnTo>
                                <a:lnTo>
                                  <a:pt x="92" y="19"/>
                                </a:lnTo>
                                <a:lnTo>
                                  <a:pt x="89" y="22"/>
                                </a:lnTo>
                                <a:lnTo>
                                  <a:pt x="89" y="25"/>
                                </a:lnTo>
                                <a:lnTo>
                                  <a:pt x="89" y="29"/>
                                </a:lnTo>
                                <a:lnTo>
                                  <a:pt x="81" y="32"/>
                                </a:lnTo>
                                <a:lnTo>
                                  <a:pt x="74" y="32"/>
                                </a:lnTo>
                                <a:lnTo>
                                  <a:pt x="71" y="34"/>
                                </a:lnTo>
                                <a:lnTo>
                                  <a:pt x="64" y="34"/>
                                </a:lnTo>
                                <a:lnTo>
                                  <a:pt x="62" y="29"/>
                                </a:lnTo>
                                <a:lnTo>
                                  <a:pt x="56" y="23"/>
                                </a:lnTo>
                                <a:lnTo>
                                  <a:pt x="51" y="19"/>
                                </a:lnTo>
                                <a:lnTo>
                                  <a:pt x="40" y="19"/>
                                </a:lnTo>
                                <a:lnTo>
                                  <a:pt x="37" y="19"/>
                                </a:lnTo>
                                <a:lnTo>
                                  <a:pt x="34" y="26"/>
                                </a:lnTo>
                                <a:lnTo>
                                  <a:pt x="35" y="34"/>
                                </a:lnTo>
                                <a:lnTo>
                                  <a:pt x="35" y="38"/>
                                </a:lnTo>
                                <a:lnTo>
                                  <a:pt x="37" y="42"/>
                                </a:lnTo>
                                <a:lnTo>
                                  <a:pt x="42" y="41"/>
                                </a:lnTo>
                                <a:lnTo>
                                  <a:pt x="51" y="37"/>
                                </a:lnTo>
                                <a:lnTo>
                                  <a:pt x="56" y="37"/>
                                </a:lnTo>
                                <a:lnTo>
                                  <a:pt x="60" y="39"/>
                                </a:lnTo>
                                <a:lnTo>
                                  <a:pt x="60" y="42"/>
                                </a:lnTo>
                                <a:lnTo>
                                  <a:pt x="57" y="48"/>
                                </a:lnTo>
                                <a:lnTo>
                                  <a:pt x="56" y="51"/>
                                </a:lnTo>
                                <a:lnTo>
                                  <a:pt x="56" y="54"/>
                                </a:lnTo>
                                <a:lnTo>
                                  <a:pt x="55" y="58"/>
                                </a:lnTo>
                                <a:lnTo>
                                  <a:pt x="57" y="63"/>
                                </a:lnTo>
                                <a:lnTo>
                                  <a:pt x="63" y="68"/>
                                </a:lnTo>
                                <a:lnTo>
                                  <a:pt x="64" y="67"/>
                                </a:lnTo>
                                <a:lnTo>
                                  <a:pt x="64" y="73"/>
                                </a:lnTo>
                                <a:lnTo>
                                  <a:pt x="62" y="77"/>
                                </a:lnTo>
                                <a:lnTo>
                                  <a:pt x="59" y="82"/>
                                </a:lnTo>
                                <a:lnTo>
                                  <a:pt x="57" y="89"/>
                                </a:lnTo>
                                <a:lnTo>
                                  <a:pt x="52" y="92"/>
                                </a:lnTo>
                                <a:lnTo>
                                  <a:pt x="48" y="92"/>
                                </a:lnTo>
                                <a:lnTo>
                                  <a:pt x="44" y="92"/>
                                </a:lnTo>
                                <a:lnTo>
                                  <a:pt x="44" y="86"/>
                                </a:lnTo>
                                <a:lnTo>
                                  <a:pt x="42" y="76"/>
                                </a:lnTo>
                                <a:lnTo>
                                  <a:pt x="38" y="73"/>
                                </a:lnTo>
                                <a:lnTo>
                                  <a:pt x="37" y="68"/>
                                </a:lnTo>
                                <a:lnTo>
                                  <a:pt x="38" y="60"/>
                                </a:lnTo>
                                <a:lnTo>
                                  <a:pt x="34" y="57"/>
                                </a:lnTo>
                                <a:lnTo>
                                  <a:pt x="24" y="60"/>
                                </a:lnTo>
                                <a:lnTo>
                                  <a:pt x="20" y="57"/>
                                </a:lnTo>
                                <a:lnTo>
                                  <a:pt x="16" y="61"/>
                                </a:lnTo>
                                <a:lnTo>
                                  <a:pt x="20" y="64"/>
                                </a:lnTo>
                                <a:lnTo>
                                  <a:pt x="27" y="67"/>
                                </a:lnTo>
                                <a:lnTo>
                                  <a:pt x="29" y="70"/>
                                </a:lnTo>
                                <a:lnTo>
                                  <a:pt x="33" y="76"/>
                                </a:lnTo>
                                <a:lnTo>
                                  <a:pt x="33" y="80"/>
                                </a:lnTo>
                                <a:lnTo>
                                  <a:pt x="29" y="87"/>
                                </a:lnTo>
                                <a:lnTo>
                                  <a:pt x="23" y="93"/>
                                </a:lnTo>
                                <a:lnTo>
                                  <a:pt x="20" y="95"/>
                                </a:lnTo>
                                <a:lnTo>
                                  <a:pt x="20" y="90"/>
                                </a:lnTo>
                                <a:lnTo>
                                  <a:pt x="20" y="86"/>
                                </a:lnTo>
                                <a:lnTo>
                                  <a:pt x="22" y="80"/>
                                </a:lnTo>
                                <a:lnTo>
                                  <a:pt x="15" y="76"/>
                                </a:lnTo>
                                <a:lnTo>
                                  <a:pt x="8" y="71"/>
                                </a:lnTo>
                                <a:lnTo>
                                  <a:pt x="7" y="67"/>
                                </a:lnTo>
                                <a:lnTo>
                                  <a:pt x="0" y="64"/>
                                </a:lnTo>
                                <a:lnTo>
                                  <a:pt x="1" y="57"/>
                                </a:lnTo>
                                <a:lnTo>
                                  <a:pt x="7" y="53"/>
                                </a:lnTo>
                                <a:lnTo>
                                  <a:pt x="11" y="45"/>
                                </a:lnTo>
                                <a:lnTo>
                                  <a:pt x="15" y="38"/>
                                </a:lnTo>
                                <a:lnTo>
                                  <a:pt x="16" y="31"/>
                                </a:lnTo>
                                <a:lnTo>
                                  <a:pt x="15" y="23"/>
                                </a:lnTo>
                                <a:lnTo>
                                  <a:pt x="18" y="21"/>
                                </a:lnTo>
                                <a:lnTo>
                                  <a:pt x="20" y="18"/>
                                </a:lnTo>
                                <a:lnTo>
                                  <a:pt x="16" y="12"/>
                                </a:lnTo>
                                <a:lnTo>
                                  <a:pt x="2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89" name="Freeform 149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38" y="2567"/>
                            <a:ext cx="64" cy="65"/>
                          </a:xfrm>
                          <a:custGeom>
                            <a:avLst/>
                            <a:gdLst>
                              <a:gd name="T0" fmla="*/ 0 w 127"/>
                              <a:gd name="T1" fmla="*/ 1 h 131"/>
                              <a:gd name="T2" fmla="*/ 1 w 127"/>
                              <a:gd name="T3" fmla="*/ 0 h 131"/>
                              <a:gd name="T4" fmla="*/ 2 w 127"/>
                              <a:gd name="T5" fmla="*/ 0 h 131"/>
                              <a:gd name="T6" fmla="*/ 2 w 127"/>
                              <a:gd name="T7" fmla="*/ 0 h 131"/>
                              <a:gd name="T8" fmla="*/ 3 w 127"/>
                              <a:gd name="T9" fmla="*/ 0 h 131"/>
                              <a:gd name="T10" fmla="*/ 3 w 127"/>
                              <a:gd name="T11" fmla="*/ 0 h 131"/>
                              <a:gd name="T12" fmla="*/ 3 w 127"/>
                              <a:gd name="T13" fmla="*/ 0 h 131"/>
                              <a:gd name="T14" fmla="*/ 3 w 127"/>
                              <a:gd name="T15" fmla="*/ 0 h 131"/>
                              <a:gd name="T16" fmla="*/ 4 w 127"/>
                              <a:gd name="T17" fmla="*/ 0 h 131"/>
                              <a:gd name="T18" fmla="*/ 4 w 127"/>
                              <a:gd name="T19" fmla="*/ 0 h 131"/>
                              <a:gd name="T20" fmla="*/ 4 w 127"/>
                              <a:gd name="T21" fmla="*/ 0 h 131"/>
                              <a:gd name="T22" fmla="*/ 4 w 127"/>
                              <a:gd name="T23" fmla="*/ 0 h 131"/>
                              <a:gd name="T24" fmla="*/ 4 w 127"/>
                              <a:gd name="T25" fmla="*/ 0 h 131"/>
                              <a:gd name="T26" fmla="*/ 4 w 127"/>
                              <a:gd name="T27" fmla="*/ 0 h 131"/>
                              <a:gd name="T28" fmla="*/ 4 w 127"/>
                              <a:gd name="T29" fmla="*/ 1 h 131"/>
                              <a:gd name="T30" fmla="*/ 4 w 127"/>
                              <a:gd name="T31" fmla="*/ 1 h 131"/>
                              <a:gd name="T32" fmla="*/ 4 w 127"/>
                              <a:gd name="T33" fmla="*/ 1 h 131"/>
                              <a:gd name="T34" fmla="*/ 4 w 127"/>
                              <a:gd name="T35" fmla="*/ 1 h 131"/>
                              <a:gd name="T36" fmla="*/ 4 w 127"/>
                              <a:gd name="T37" fmla="*/ 2 h 131"/>
                              <a:gd name="T38" fmla="*/ 4 w 127"/>
                              <a:gd name="T39" fmla="*/ 1 h 131"/>
                              <a:gd name="T40" fmla="*/ 4 w 127"/>
                              <a:gd name="T41" fmla="*/ 2 h 131"/>
                              <a:gd name="T42" fmla="*/ 4 w 127"/>
                              <a:gd name="T43" fmla="*/ 2 h 131"/>
                              <a:gd name="T44" fmla="*/ 4 w 127"/>
                              <a:gd name="T45" fmla="*/ 2 h 131"/>
                              <a:gd name="T46" fmla="*/ 4 w 127"/>
                              <a:gd name="T47" fmla="*/ 3 h 131"/>
                              <a:gd name="T48" fmla="*/ 4 w 127"/>
                              <a:gd name="T49" fmla="*/ 3 h 131"/>
                              <a:gd name="T50" fmla="*/ 3 w 127"/>
                              <a:gd name="T51" fmla="*/ 3 h 131"/>
                              <a:gd name="T52" fmla="*/ 3 w 127"/>
                              <a:gd name="T53" fmla="*/ 4 h 131"/>
                              <a:gd name="T54" fmla="*/ 3 w 127"/>
                              <a:gd name="T55" fmla="*/ 4 h 131"/>
                              <a:gd name="T56" fmla="*/ 3 w 127"/>
                              <a:gd name="T57" fmla="*/ 3 h 131"/>
                              <a:gd name="T58" fmla="*/ 3 w 127"/>
                              <a:gd name="T59" fmla="*/ 3 h 131"/>
                              <a:gd name="T60" fmla="*/ 2 w 127"/>
                              <a:gd name="T61" fmla="*/ 3 h 131"/>
                              <a:gd name="T62" fmla="*/ 2 w 127"/>
                              <a:gd name="T63" fmla="*/ 3 h 131"/>
                              <a:gd name="T64" fmla="*/ 1 w 127"/>
                              <a:gd name="T65" fmla="*/ 3 h 131"/>
                              <a:gd name="T66" fmla="*/ 1 w 127"/>
                              <a:gd name="T67" fmla="*/ 3 h 131"/>
                              <a:gd name="T68" fmla="*/ 1 w 127"/>
                              <a:gd name="T69" fmla="*/ 2 h 131"/>
                              <a:gd name="T70" fmla="*/ 1 w 127"/>
                              <a:gd name="T71" fmla="*/ 2 h 131"/>
                              <a:gd name="T72" fmla="*/ 1 w 127"/>
                              <a:gd name="T73" fmla="*/ 2 h 131"/>
                              <a:gd name="T74" fmla="*/ 0 w 127"/>
                              <a:gd name="T75" fmla="*/ 1 h 131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w 127"/>
                              <a:gd name="T115" fmla="*/ 0 h 131"/>
                              <a:gd name="T116" fmla="*/ 127 w 127"/>
                              <a:gd name="T117" fmla="*/ 131 h 131"/>
                            </a:gdLst>
                            <a:ahLst/>
                            <a:cxnLst>
                              <a:cxn ang="T76">
                                <a:pos x="T0" y="T1"/>
                              </a:cxn>
                              <a:cxn ang="T77">
                                <a:pos x="T2" y="T3"/>
                              </a:cxn>
                              <a:cxn ang="T78">
                                <a:pos x="T4" y="T5"/>
                              </a:cxn>
                              <a:cxn ang="T79">
                                <a:pos x="T6" y="T7"/>
                              </a:cxn>
                              <a:cxn ang="T80">
                                <a:pos x="T8" y="T9"/>
                              </a:cxn>
                              <a:cxn ang="T81">
                                <a:pos x="T10" y="T11"/>
                              </a:cxn>
                              <a:cxn ang="T82">
                                <a:pos x="T12" y="T13"/>
                              </a:cxn>
                              <a:cxn ang="T83">
                                <a:pos x="T14" y="T15"/>
                              </a:cxn>
                              <a:cxn ang="T84">
                                <a:pos x="T16" y="T17"/>
                              </a:cxn>
                              <a:cxn ang="T85">
                                <a:pos x="T18" y="T19"/>
                              </a:cxn>
                              <a:cxn ang="T86">
                                <a:pos x="T20" y="T21"/>
                              </a:cxn>
                              <a:cxn ang="T87">
                                <a:pos x="T22" y="T23"/>
                              </a:cxn>
                              <a:cxn ang="T88">
                                <a:pos x="T24" y="T25"/>
                              </a:cxn>
                              <a:cxn ang="T89">
                                <a:pos x="T26" y="T27"/>
                              </a:cxn>
                              <a:cxn ang="T90">
                                <a:pos x="T28" y="T29"/>
                              </a:cxn>
                              <a:cxn ang="T91">
                                <a:pos x="T30" y="T31"/>
                              </a:cxn>
                              <a:cxn ang="T92">
                                <a:pos x="T32" y="T33"/>
                              </a:cxn>
                              <a:cxn ang="T93">
                                <a:pos x="T34" y="T35"/>
                              </a:cxn>
                              <a:cxn ang="T94">
                                <a:pos x="T36" y="T37"/>
                              </a:cxn>
                              <a:cxn ang="T95">
                                <a:pos x="T38" y="T39"/>
                              </a:cxn>
                              <a:cxn ang="T96">
                                <a:pos x="T40" y="T41"/>
                              </a:cxn>
                              <a:cxn ang="T97">
                                <a:pos x="T42" y="T43"/>
                              </a:cxn>
                              <a:cxn ang="T98">
                                <a:pos x="T44" y="T45"/>
                              </a:cxn>
                              <a:cxn ang="T99">
                                <a:pos x="T46" y="T47"/>
                              </a:cxn>
                              <a:cxn ang="T100">
                                <a:pos x="T48" y="T49"/>
                              </a:cxn>
                              <a:cxn ang="T101">
                                <a:pos x="T50" y="T51"/>
                              </a:cxn>
                              <a:cxn ang="T102">
                                <a:pos x="T52" y="T53"/>
                              </a:cxn>
                              <a:cxn ang="T103">
                                <a:pos x="T54" y="T55"/>
                              </a:cxn>
                              <a:cxn ang="T104">
                                <a:pos x="T56" y="T57"/>
                              </a:cxn>
                              <a:cxn ang="T105">
                                <a:pos x="T58" y="T59"/>
                              </a:cxn>
                              <a:cxn ang="T106">
                                <a:pos x="T60" y="T61"/>
                              </a:cxn>
                              <a:cxn ang="T107">
                                <a:pos x="T62" y="T63"/>
                              </a:cxn>
                              <a:cxn ang="T108">
                                <a:pos x="T64" y="T65"/>
                              </a:cxn>
                              <a:cxn ang="T109">
                                <a:pos x="T66" y="T67"/>
                              </a:cxn>
                              <a:cxn ang="T110">
                                <a:pos x="T68" y="T69"/>
                              </a:cxn>
                              <a:cxn ang="T111">
                                <a:pos x="T70" y="T71"/>
                              </a:cxn>
                              <a:cxn ang="T112">
                                <a:pos x="T72" y="T73"/>
                              </a:cxn>
                              <a:cxn ang="T113">
                                <a:pos x="T74" y="T75"/>
                              </a:cxn>
                            </a:cxnLst>
                            <a:rect l="T114" t="T115" r="T116" b="T117"/>
                            <a:pathLst>
                              <a:path w="127" h="131">
                                <a:moveTo>
                                  <a:pt x="0" y="44"/>
                                </a:moveTo>
                                <a:lnTo>
                                  <a:pt x="26" y="23"/>
                                </a:lnTo>
                                <a:lnTo>
                                  <a:pt x="40" y="15"/>
                                </a:lnTo>
                                <a:lnTo>
                                  <a:pt x="46" y="7"/>
                                </a:lnTo>
                                <a:lnTo>
                                  <a:pt x="67" y="0"/>
                                </a:lnTo>
                                <a:lnTo>
                                  <a:pt x="78" y="16"/>
                                </a:lnTo>
                                <a:lnTo>
                                  <a:pt x="89" y="9"/>
                                </a:lnTo>
                                <a:lnTo>
                                  <a:pt x="93" y="4"/>
                                </a:lnTo>
                                <a:lnTo>
                                  <a:pt x="103" y="0"/>
                                </a:lnTo>
                                <a:lnTo>
                                  <a:pt x="108" y="0"/>
                                </a:lnTo>
                                <a:lnTo>
                                  <a:pt x="109" y="6"/>
                                </a:lnTo>
                                <a:lnTo>
                                  <a:pt x="109" y="10"/>
                                </a:lnTo>
                                <a:lnTo>
                                  <a:pt x="104" y="18"/>
                                </a:lnTo>
                                <a:lnTo>
                                  <a:pt x="104" y="22"/>
                                </a:lnTo>
                                <a:lnTo>
                                  <a:pt x="119" y="41"/>
                                </a:lnTo>
                                <a:lnTo>
                                  <a:pt x="122" y="52"/>
                                </a:lnTo>
                                <a:lnTo>
                                  <a:pt x="126" y="52"/>
                                </a:lnTo>
                                <a:lnTo>
                                  <a:pt x="127" y="58"/>
                                </a:lnTo>
                                <a:lnTo>
                                  <a:pt x="122" y="64"/>
                                </a:lnTo>
                                <a:lnTo>
                                  <a:pt x="118" y="61"/>
                                </a:lnTo>
                                <a:lnTo>
                                  <a:pt x="108" y="65"/>
                                </a:lnTo>
                                <a:lnTo>
                                  <a:pt x="109" y="77"/>
                                </a:lnTo>
                                <a:lnTo>
                                  <a:pt x="99" y="84"/>
                                </a:lnTo>
                                <a:lnTo>
                                  <a:pt x="99" y="103"/>
                                </a:lnTo>
                                <a:lnTo>
                                  <a:pt x="99" y="116"/>
                                </a:lnTo>
                                <a:lnTo>
                                  <a:pt x="93" y="122"/>
                                </a:lnTo>
                                <a:lnTo>
                                  <a:pt x="89" y="131"/>
                                </a:lnTo>
                                <a:lnTo>
                                  <a:pt x="83" y="129"/>
                                </a:lnTo>
                                <a:lnTo>
                                  <a:pt x="75" y="125"/>
                                </a:lnTo>
                                <a:lnTo>
                                  <a:pt x="68" y="121"/>
                                </a:lnTo>
                                <a:lnTo>
                                  <a:pt x="63" y="113"/>
                                </a:lnTo>
                                <a:lnTo>
                                  <a:pt x="44" y="115"/>
                                </a:lnTo>
                                <a:lnTo>
                                  <a:pt x="27" y="110"/>
                                </a:lnTo>
                                <a:lnTo>
                                  <a:pt x="16" y="99"/>
                                </a:lnTo>
                                <a:lnTo>
                                  <a:pt x="9" y="90"/>
                                </a:lnTo>
                                <a:lnTo>
                                  <a:pt x="4" y="83"/>
                                </a:lnTo>
                                <a:lnTo>
                                  <a:pt x="4" y="68"/>
                                </a:lnTo>
                                <a:lnTo>
                                  <a:pt x="0" y="4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0" name="Freeform 15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674" y="2604"/>
                            <a:ext cx="122" cy="61"/>
                          </a:xfrm>
                          <a:custGeom>
                            <a:avLst/>
                            <a:gdLst>
                              <a:gd name="T0" fmla="*/ 1 w 244"/>
                              <a:gd name="T1" fmla="*/ 1 h 122"/>
                              <a:gd name="T2" fmla="*/ 2 w 244"/>
                              <a:gd name="T3" fmla="*/ 1 h 122"/>
                              <a:gd name="T4" fmla="*/ 2 w 244"/>
                              <a:gd name="T5" fmla="*/ 1 h 122"/>
                              <a:gd name="T6" fmla="*/ 3 w 244"/>
                              <a:gd name="T7" fmla="*/ 1 h 122"/>
                              <a:gd name="T8" fmla="*/ 3 w 244"/>
                              <a:gd name="T9" fmla="*/ 1 h 122"/>
                              <a:gd name="T10" fmla="*/ 3 w 244"/>
                              <a:gd name="T11" fmla="*/ 1 h 122"/>
                              <a:gd name="T12" fmla="*/ 4 w 244"/>
                              <a:gd name="T13" fmla="*/ 1 h 122"/>
                              <a:gd name="T14" fmla="*/ 5 w 244"/>
                              <a:gd name="T15" fmla="*/ 1 h 122"/>
                              <a:gd name="T16" fmla="*/ 5 w 244"/>
                              <a:gd name="T17" fmla="*/ 2 h 122"/>
                              <a:gd name="T18" fmla="*/ 6 w 244"/>
                              <a:gd name="T19" fmla="*/ 2 h 122"/>
                              <a:gd name="T20" fmla="*/ 6 w 244"/>
                              <a:gd name="T21" fmla="*/ 2 h 122"/>
                              <a:gd name="T22" fmla="*/ 7 w 244"/>
                              <a:gd name="T23" fmla="*/ 3 h 122"/>
                              <a:gd name="T24" fmla="*/ 7 w 244"/>
                              <a:gd name="T25" fmla="*/ 3 h 122"/>
                              <a:gd name="T26" fmla="*/ 7 w 244"/>
                              <a:gd name="T27" fmla="*/ 3 h 122"/>
                              <a:gd name="T28" fmla="*/ 8 w 244"/>
                              <a:gd name="T29" fmla="*/ 3 h 122"/>
                              <a:gd name="T30" fmla="*/ 8 w 244"/>
                              <a:gd name="T31" fmla="*/ 4 h 122"/>
                              <a:gd name="T32" fmla="*/ 8 w 244"/>
                              <a:gd name="T33" fmla="*/ 4 h 122"/>
                              <a:gd name="T34" fmla="*/ 8 w 244"/>
                              <a:gd name="T35" fmla="*/ 4 h 122"/>
                              <a:gd name="T36" fmla="*/ 7 w 244"/>
                              <a:gd name="T37" fmla="*/ 4 h 122"/>
                              <a:gd name="T38" fmla="*/ 7 w 244"/>
                              <a:gd name="T39" fmla="*/ 3 h 122"/>
                              <a:gd name="T40" fmla="*/ 6 w 244"/>
                              <a:gd name="T41" fmla="*/ 3 h 122"/>
                              <a:gd name="T42" fmla="*/ 6 w 244"/>
                              <a:gd name="T43" fmla="*/ 4 h 122"/>
                              <a:gd name="T44" fmla="*/ 5 w 244"/>
                              <a:gd name="T45" fmla="*/ 4 h 122"/>
                              <a:gd name="T46" fmla="*/ 5 w 244"/>
                              <a:gd name="T47" fmla="*/ 4 h 122"/>
                              <a:gd name="T48" fmla="*/ 4 w 244"/>
                              <a:gd name="T49" fmla="*/ 4 h 122"/>
                              <a:gd name="T50" fmla="*/ 4 w 244"/>
                              <a:gd name="T51" fmla="*/ 4 h 122"/>
                              <a:gd name="T52" fmla="*/ 4 w 244"/>
                              <a:gd name="T53" fmla="*/ 3 h 122"/>
                              <a:gd name="T54" fmla="*/ 3 w 244"/>
                              <a:gd name="T55" fmla="*/ 2 h 122"/>
                              <a:gd name="T56" fmla="*/ 2 w 244"/>
                              <a:gd name="T57" fmla="*/ 2 h 122"/>
                              <a:gd name="T58" fmla="*/ 2 w 244"/>
                              <a:gd name="T59" fmla="*/ 2 h 122"/>
                              <a:gd name="T60" fmla="*/ 1 w 244"/>
                              <a:gd name="T61" fmla="*/ 2 h 122"/>
                              <a:gd name="T62" fmla="*/ 1 w 244"/>
                              <a:gd name="T63" fmla="*/ 1 h 122"/>
                              <a:gd name="T64" fmla="*/ 0 60000 65536"/>
                              <a:gd name="T65" fmla="*/ 0 60000 65536"/>
                              <a:gd name="T66" fmla="*/ 0 60000 65536"/>
                              <a:gd name="T67" fmla="*/ 0 60000 65536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w 244"/>
                              <a:gd name="T97" fmla="*/ 0 h 122"/>
                              <a:gd name="T98" fmla="*/ 244 w 244"/>
                              <a:gd name="T99" fmla="*/ 122 h 122"/>
                            </a:gdLst>
                            <a:ahLst/>
                            <a:cxnLst>
                              <a:cxn ang="T64">
                                <a:pos x="T0" y="T1"/>
                              </a:cxn>
                              <a:cxn ang="T65">
                                <a:pos x="T2" y="T3"/>
                              </a:cxn>
                              <a:cxn ang="T66">
                                <a:pos x="T4" y="T5"/>
                              </a:cxn>
                              <a:cxn ang="T67">
                                <a:pos x="T6" y="T7"/>
                              </a:cxn>
                              <a:cxn ang="T68">
                                <a:pos x="T8" y="T9"/>
                              </a:cxn>
                              <a:cxn ang="T69">
                                <a:pos x="T10" y="T11"/>
                              </a:cxn>
                              <a:cxn ang="T70">
                                <a:pos x="T12" y="T13"/>
                              </a:cxn>
                              <a:cxn ang="T71">
                                <a:pos x="T14" y="T15"/>
                              </a:cxn>
                              <a:cxn ang="T72">
                                <a:pos x="T16" y="T17"/>
                              </a:cxn>
                              <a:cxn ang="T73">
                                <a:pos x="T18" y="T19"/>
                              </a:cxn>
                              <a:cxn ang="T74">
                                <a:pos x="T20" y="T21"/>
                              </a:cxn>
                              <a:cxn ang="T75">
                                <a:pos x="T22" y="T23"/>
                              </a:cxn>
                              <a:cxn ang="T76">
                                <a:pos x="T24" y="T25"/>
                              </a:cxn>
                              <a:cxn ang="T77">
                                <a:pos x="T26" y="T27"/>
                              </a:cxn>
                              <a:cxn ang="T78">
                                <a:pos x="T28" y="T29"/>
                              </a:cxn>
                              <a:cxn ang="T79">
                                <a:pos x="T30" y="T31"/>
                              </a:cxn>
                              <a:cxn ang="T80">
                                <a:pos x="T32" y="T33"/>
                              </a:cxn>
                              <a:cxn ang="T81">
                                <a:pos x="T34" y="T35"/>
                              </a:cxn>
                              <a:cxn ang="T82">
                                <a:pos x="T36" y="T37"/>
                              </a:cxn>
                              <a:cxn ang="T83">
                                <a:pos x="T38" y="T39"/>
                              </a:cxn>
                              <a:cxn ang="T84">
                                <a:pos x="T40" y="T41"/>
                              </a:cxn>
                              <a:cxn ang="T85">
                                <a:pos x="T42" y="T43"/>
                              </a:cxn>
                              <a:cxn ang="T86">
                                <a:pos x="T44" y="T45"/>
                              </a:cxn>
                              <a:cxn ang="T87">
                                <a:pos x="T46" y="T47"/>
                              </a:cxn>
                              <a:cxn ang="T88">
                                <a:pos x="T48" y="T49"/>
                              </a:cxn>
                              <a:cxn ang="T89">
                                <a:pos x="T50" y="T51"/>
                              </a:cxn>
                              <a:cxn ang="T90">
                                <a:pos x="T52" y="T53"/>
                              </a:cxn>
                              <a:cxn ang="T91">
                                <a:pos x="T54" y="T55"/>
                              </a:cxn>
                              <a:cxn ang="T92">
                                <a:pos x="T56" y="T57"/>
                              </a:cxn>
                              <a:cxn ang="T93">
                                <a:pos x="T58" y="T59"/>
                              </a:cxn>
                              <a:cxn ang="T94">
                                <a:pos x="T60" y="T61"/>
                              </a:cxn>
                              <a:cxn ang="T95">
                                <a:pos x="T62" y="T63"/>
                              </a:cxn>
                            </a:cxnLst>
                            <a:rect l="T96" t="T97" r="T98" b="T99"/>
                            <a:pathLst>
                              <a:path w="244" h="122">
                                <a:moveTo>
                                  <a:pt x="0" y="0"/>
                                </a:moveTo>
                                <a:lnTo>
                                  <a:pt x="22" y="2"/>
                                </a:lnTo>
                                <a:lnTo>
                                  <a:pt x="40" y="3"/>
                                </a:lnTo>
                                <a:lnTo>
                                  <a:pt x="48" y="21"/>
                                </a:lnTo>
                                <a:lnTo>
                                  <a:pt x="50" y="26"/>
                                </a:lnTo>
                                <a:lnTo>
                                  <a:pt x="52" y="29"/>
                                </a:lnTo>
                                <a:lnTo>
                                  <a:pt x="58" y="25"/>
                                </a:lnTo>
                                <a:lnTo>
                                  <a:pt x="67" y="25"/>
                                </a:lnTo>
                                <a:lnTo>
                                  <a:pt x="73" y="29"/>
                                </a:lnTo>
                                <a:lnTo>
                                  <a:pt x="76" y="28"/>
                                </a:lnTo>
                                <a:lnTo>
                                  <a:pt x="84" y="21"/>
                                </a:lnTo>
                                <a:lnTo>
                                  <a:pt x="85" y="21"/>
                                </a:lnTo>
                                <a:lnTo>
                                  <a:pt x="92" y="16"/>
                                </a:lnTo>
                                <a:lnTo>
                                  <a:pt x="99" y="16"/>
                                </a:lnTo>
                                <a:lnTo>
                                  <a:pt x="121" y="25"/>
                                </a:lnTo>
                                <a:lnTo>
                                  <a:pt x="131" y="25"/>
                                </a:lnTo>
                                <a:lnTo>
                                  <a:pt x="140" y="32"/>
                                </a:lnTo>
                                <a:lnTo>
                                  <a:pt x="150" y="35"/>
                                </a:lnTo>
                                <a:lnTo>
                                  <a:pt x="158" y="41"/>
                                </a:lnTo>
                                <a:lnTo>
                                  <a:pt x="165" y="42"/>
                                </a:lnTo>
                                <a:lnTo>
                                  <a:pt x="183" y="48"/>
                                </a:lnTo>
                                <a:lnTo>
                                  <a:pt x="191" y="58"/>
                                </a:lnTo>
                                <a:lnTo>
                                  <a:pt x="195" y="64"/>
                                </a:lnTo>
                                <a:lnTo>
                                  <a:pt x="194" y="67"/>
                                </a:lnTo>
                                <a:lnTo>
                                  <a:pt x="200" y="73"/>
                                </a:lnTo>
                                <a:lnTo>
                                  <a:pt x="206" y="74"/>
                                </a:lnTo>
                                <a:lnTo>
                                  <a:pt x="209" y="76"/>
                                </a:lnTo>
                                <a:lnTo>
                                  <a:pt x="216" y="77"/>
                                </a:lnTo>
                                <a:lnTo>
                                  <a:pt x="227" y="86"/>
                                </a:lnTo>
                                <a:lnTo>
                                  <a:pt x="227" y="92"/>
                                </a:lnTo>
                                <a:lnTo>
                                  <a:pt x="233" y="97"/>
                                </a:lnTo>
                                <a:lnTo>
                                  <a:pt x="235" y="100"/>
                                </a:lnTo>
                                <a:lnTo>
                                  <a:pt x="244" y="112"/>
                                </a:lnTo>
                                <a:lnTo>
                                  <a:pt x="236" y="122"/>
                                </a:lnTo>
                                <a:lnTo>
                                  <a:pt x="233" y="122"/>
                                </a:lnTo>
                                <a:lnTo>
                                  <a:pt x="225" y="122"/>
                                </a:lnTo>
                                <a:lnTo>
                                  <a:pt x="222" y="118"/>
                                </a:lnTo>
                                <a:lnTo>
                                  <a:pt x="218" y="118"/>
                                </a:lnTo>
                                <a:lnTo>
                                  <a:pt x="214" y="119"/>
                                </a:lnTo>
                                <a:lnTo>
                                  <a:pt x="194" y="96"/>
                                </a:lnTo>
                                <a:lnTo>
                                  <a:pt x="181" y="97"/>
                                </a:lnTo>
                                <a:lnTo>
                                  <a:pt x="169" y="96"/>
                                </a:lnTo>
                                <a:lnTo>
                                  <a:pt x="165" y="99"/>
                                </a:lnTo>
                                <a:lnTo>
                                  <a:pt x="161" y="103"/>
                                </a:lnTo>
                                <a:lnTo>
                                  <a:pt x="159" y="100"/>
                                </a:lnTo>
                                <a:lnTo>
                                  <a:pt x="154" y="108"/>
                                </a:lnTo>
                                <a:lnTo>
                                  <a:pt x="146" y="118"/>
                                </a:lnTo>
                                <a:lnTo>
                                  <a:pt x="139" y="113"/>
                                </a:lnTo>
                                <a:lnTo>
                                  <a:pt x="131" y="111"/>
                                </a:lnTo>
                                <a:lnTo>
                                  <a:pt x="125" y="111"/>
                                </a:lnTo>
                                <a:lnTo>
                                  <a:pt x="117" y="108"/>
                                </a:lnTo>
                                <a:lnTo>
                                  <a:pt x="113" y="111"/>
                                </a:lnTo>
                                <a:lnTo>
                                  <a:pt x="107" y="96"/>
                                </a:lnTo>
                                <a:lnTo>
                                  <a:pt x="98" y="83"/>
                                </a:lnTo>
                                <a:lnTo>
                                  <a:pt x="88" y="67"/>
                                </a:lnTo>
                                <a:lnTo>
                                  <a:pt x="80" y="58"/>
                                </a:lnTo>
                                <a:lnTo>
                                  <a:pt x="73" y="50"/>
                                </a:lnTo>
                                <a:lnTo>
                                  <a:pt x="58" y="50"/>
                                </a:lnTo>
                                <a:lnTo>
                                  <a:pt x="44" y="54"/>
                                </a:lnTo>
                                <a:lnTo>
                                  <a:pt x="37" y="48"/>
                                </a:lnTo>
                                <a:lnTo>
                                  <a:pt x="24" y="44"/>
                                </a:lnTo>
                                <a:lnTo>
                                  <a:pt x="17" y="39"/>
                                </a:lnTo>
                                <a:lnTo>
                                  <a:pt x="17" y="22"/>
                                </a:lnTo>
                                <a:lnTo>
                                  <a:pt x="18" y="13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1" name="Freeform 15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448" y="2561"/>
                            <a:ext cx="74" cy="80"/>
                          </a:xfrm>
                          <a:custGeom>
                            <a:avLst/>
                            <a:gdLst>
                              <a:gd name="T0" fmla="*/ 0 w 148"/>
                              <a:gd name="T1" fmla="*/ 0 h 161"/>
                              <a:gd name="T2" fmla="*/ 1 w 148"/>
                              <a:gd name="T3" fmla="*/ 0 h 161"/>
                              <a:gd name="T4" fmla="*/ 2 w 148"/>
                              <a:gd name="T5" fmla="*/ 0 h 161"/>
                              <a:gd name="T6" fmla="*/ 2 w 148"/>
                              <a:gd name="T7" fmla="*/ 0 h 161"/>
                              <a:gd name="T8" fmla="*/ 2 w 148"/>
                              <a:gd name="T9" fmla="*/ 0 h 161"/>
                              <a:gd name="T10" fmla="*/ 2 w 148"/>
                              <a:gd name="T11" fmla="*/ 0 h 161"/>
                              <a:gd name="T12" fmla="*/ 2 w 148"/>
                              <a:gd name="T13" fmla="*/ 0 h 161"/>
                              <a:gd name="T14" fmla="*/ 2 w 148"/>
                              <a:gd name="T15" fmla="*/ 0 h 161"/>
                              <a:gd name="T16" fmla="*/ 2 w 148"/>
                              <a:gd name="T17" fmla="*/ 0 h 161"/>
                              <a:gd name="T18" fmla="*/ 2 w 148"/>
                              <a:gd name="T19" fmla="*/ 1 h 161"/>
                              <a:gd name="T20" fmla="*/ 3 w 148"/>
                              <a:gd name="T21" fmla="*/ 1 h 161"/>
                              <a:gd name="T22" fmla="*/ 3 w 148"/>
                              <a:gd name="T23" fmla="*/ 1 h 161"/>
                              <a:gd name="T24" fmla="*/ 3 w 148"/>
                              <a:gd name="T25" fmla="*/ 1 h 161"/>
                              <a:gd name="T26" fmla="*/ 3 w 148"/>
                              <a:gd name="T27" fmla="*/ 1 h 161"/>
                              <a:gd name="T28" fmla="*/ 3 w 148"/>
                              <a:gd name="T29" fmla="*/ 1 h 161"/>
                              <a:gd name="T30" fmla="*/ 4 w 148"/>
                              <a:gd name="T31" fmla="*/ 2 h 161"/>
                              <a:gd name="T32" fmla="*/ 4 w 148"/>
                              <a:gd name="T33" fmla="*/ 2 h 161"/>
                              <a:gd name="T34" fmla="*/ 4 w 148"/>
                              <a:gd name="T35" fmla="*/ 2 h 161"/>
                              <a:gd name="T36" fmla="*/ 4 w 148"/>
                              <a:gd name="T37" fmla="*/ 2 h 161"/>
                              <a:gd name="T38" fmla="*/ 5 w 148"/>
                              <a:gd name="T39" fmla="*/ 3 h 161"/>
                              <a:gd name="T40" fmla="*/ 5 w 148"/>
                              <a:gd name="T41" fmla="*/ 3 h 161"/>
                              <a:gd name="T42" fmla="*/ 5 w 148"/>
                              <a:gd name="T43" fmla="*/ 4 h 161"/>
                              <a:gd name="T44" fmla="*/ 5 w 148"/>
                              <a:gd name="T45" fmla="*/ 4 h 161"/>
                              <a:gd name="T46" fmla="*/ 5 w 148"/>
                              <a:gd name="T47" fmla="*/ 5 h 161"/>
                              <a:gd name="T48" fmla="*/ 5 w 148"/>
                              <a:gd name="T49" fmla="*/ 5 h 161"/>
                              <a:gd name="T50" fmla="*/ 5 w 148"/>
                              <a:gd name="T51" fmla="*/ 4 h 161"/>
                              <a:gd name="T52" fmla="*/ 4 w 148"/>
                              <a:gd name="T53" fmla="*/ 5 h 161"/>
                              <a:gd name="T54" fmla="*/ 4 w 148"/>
                              <a:gd name="T55" fmla="*/ 4 h 161"/>
                              <a:gd name="T56" fmla="*/ 4 w 148"/>
                              <a:gd name="T57" fmla="*/ 4 h 161"/>
                              <a:gd name="T58" fmla="*/ 3 w 148"/>
                              <a:gd name="T59" fmla="*/ 3 h 161"/>
                              <a:gd name="T60" fmla="*/ 3 w 148"/>
                              <a:gd name="T61" fmla="*/ 3 h 161"/>
                              <a:gd name="T62" fmla="*/ 3 w 148"/>
                              <a:gd name="T63" fmla="*/ 3 h 161"/>
                              <a:gd name="T64" fmla="*/ 3 w 148"/>
                              <a:gd name="T65" fmla="*/ 3 h 161"/>
                              <a:gd name="T66" fmla="*/ 3 w 148"/>
                              <a:gd name="T67" fmla="*/ 2 h 161"/>
                              <a:gd name="T68" fmla="*/ 2 w 148"/>
                              <a:gd name="T69" fmla="*/ 2 h 161"/>
                              <a:gd name="T70" fmla="*/ 2 w 148"/>
                              <a:gd name="T71" fmla="*/ 1 h 161"/>
                              <a:gd name="T72" fmla="*/ 2 w 148"/>
                              <a:gd name="T73" fmla="*/ 1 h 161"/>
                              <a:gd name="T74" fmla="*/ 1 w 148"/>
                              <a:gd name="T75" fmla="*/ 0 h 161"/>
                              <a:gd name="T76" fmla="*/ 0 w 148"/>
                              <a:gd name="T77" fmla="*/ 0 h 161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w 148"/>
                              <a:gd name="T118" fmla="*/ 0 h 161"/>
                              <a:gd name="T119" fmla="*/ 148 w 148"/>
                              <a:gd name="T120" fmla="*/ 161 h 161"/>
                            </a:gdLst>
                            <a:ahLst/>
                            <a:cxnLst>
                              <a:cxn ang="T78">
                                <a:pos x="T0" y="T1"/>
                              </a:cxn>
                              <a:cxn ang="T79">
                                <a:pos x="T2" y="T3"/>
                              </a:cxn>
                              <a:cxn ang="T80">
                                <a:pos x="T4" y="T5"/>
                              </a:cxn>
                              <a:cxn ang="T81">
                                <a:pos x="T6" y="T7"/>
                              </a:cxn>
                              <a:cxn ang="T82">
                                <a:pos x="T8" y="T9"/>
                              </a:cxn>
                              <a:cxn ang="T83">
                                <a:pos x="T10" y="T11"/>
                              </a:cxn>
                              <a:cxn ang="T84">
                                <a:pos x="T12" y="T13"/>
                              </a:cxn>
                              <a:cxn ang="T85">
                                <a:pos x="T14" y="T15"/>
                              </a:cxn>
                              <a:cxn ang="T86">
                                <a:pos x="T16" y="T17"/>
                              </a:cxn>
                              <a:cxn ang="T87">
                                <a:pos x="T18" y="T19"/>
                              </a:cxn>
                              <a:cxn ang="T88">
                                <a:pos x="T20" y="T21"/>
                              </a:cxn>
                              <a:cxn ang="T89">
                                <a:pos x="T22" y="T23"/>
                              </a:cxn>
                              <a:cxn ang="T90">
                                <a:pos x="T24" y="T25"/>
                              </a:cxn>
                              <a:cxn ang="T91">
                                <a:pos x="T26" y="T27"/>
                              </a:cxn>
                              <a:cxn ang="T92">
                                <a:pos x="T28" y="T29"/>
                              </a:cxn>
                              <a:cxn ang="T93">
                                <a:pos x="T30" y="T31"/>
                              </a:cxn>
                              <a:cxn ang="T94">
                                <a:pos x="T32" y="T33"/>
                              </a:cxn>
                              <a:cxn ang="T95">
                                <a:pos x="T34" y="T35"/>
                              </a:cxn>
                              <a:cxn ang="T96">
                                <a:pos x="T36" y="T37"/>
                              </a:cxn>
                              <a:cxn ang="T97">
                                <a:pos x="T38" y="T39"/>
                              </a:cxn>
                              <a:cxn ang="T98">
                                <a:pos x="T40" y="T41"/>
                              </a:cxn>
                              <a:cxn ang="T99">
                                <a:pos x="T42" y="T43"/>
                              </a:cxn>
                              <a:cxn ang="T100">
                                <a:pos x="T44" y="T45"/>
                              </a:cxn>
                              <a:cxn ang="T101">
                                <a:pos x="T46" y="T47"/>
                              </a:cxn>
                              <a:cxn ang="T102">
                                <a:pos x="T48" y="T49"/>
                              </a:cxn>
                              <a:cxn ang="T103">
                                <a:pos x="T50" y="T51"/>
                              </a:cxn>
                              <a:cxn ang="T104">
                                <a:pos x="T52" y="T53"/>
                              </a:cxn>
                              <a:cxn ang="T105">
                                <a:pos x="T54" y="T55"/>
                              </a:cxn>
                              <a:cxn ang="T106">
                                <a:pos x="T56" y="T57"/>
                              </a:cxn>
                              <a:cxn ang="T107">
                                <a:pos x="T58" y="T59"/>
                              </a:cxn>
                              <a:cxn ang="T108">
                                <a:pos x="T60" y="T61"/>
                              </a:cxn>
                              <a:cxn ang="T109">
                                <a:pos x="T62" y="T63"/>
                              </a:cxn>
                              <a:cxn ang="T110">
                                <a:pos x="T64" y="T65"/>
                              </a:cxn>
                              <a:cxn ang="T111">
                                <a:pos x="T66" y="T67"/>
                              </a:cxn>
                              <a:cxn ang="T112">
                                <a:pos x="T68" y="T69"/>
                              </a:cxn>
                              <a:cxn ang="T113">
                                <a:pos x="T70" y="T71"/>
                              </a:cxn>
                              <a:cxn ang="T114">
                                <a:pos x="T72" y="T73"/>
                              </a:cxn>
                              <a:cxn ang="T115">
                                <a:pos x="T74" y="T75"/>
                              </a:cxn>
                              <a:cxn ang="T116">
                                <a:pos x="T76" y="T77"/>
                              </a:cxn>
                            </a:cxnLst>
                            <a:rect l="T117" t="T118" r="T119" b="T120"/>
                            <a:pathLst>
                              <a:path w="148" h="161">
                                <a:moveTo>
                                  <a:pt x="0" y="4"/>
                                </a:moveTo>
                                <a:lnTo>
                                  <a:pt x="15" y="0"/>
                                </a:lnTo>
                                <a:lnTo>
                                  <a:pt x="33" y="7"/>
                                </a:lnTo>
                                <a:lnTo>
                                  <a:pt x="35" y="15"/>
                                </a:lnTo>
                                <a:lnTo>
                                  <a:pt x="35" y="17"/>
                                </a:lnTo>
                                <a:lnTo>
                                  <a:pt x="40" y="19"/>
                                </a:lnTo>
                                <a:lnTo>
                                  <a:pt x="40" y="22"/>
                                </a:lnTo>
                                <a:lnTo>
                                  <a:pt x="45" y="23"/>
                                </a:lnTo>
                                <a:lnTo>
                                  <a:pt x="45" y="29"/>
                                </a:lnTo>
                                <a:lnTo>
                                  <a:pt x="63" y="47"/>
                                </a:lnTo>
                                <a:lnTo>
                                  <a:pt x="66" y="47"/>
                                </a:lnTo>
                                <a:lnTo>
                                  <a:pt x="68" y="51"/>
                                </a:lnTo>
                                <a:lnTo>
                                  <a:pt x="71" y="55"/>
                                </a:lnTo>
                                <a:lnTo>
                                  <a:pt x="74" y="55"/>
                                </a:lnTo>
                                <a:lnTo>
                                  <a:pt x="86" y="61"/>
                                </a:lnTo>
                                <a:lnTo>
                                  <a:pt x="109" y="64"/>
                                </a:lnTo>
                                <a:lnTo>
                                  <a:pt x="111" y="84"/>
                                </a:lnTo>
                                <a:lnTo>
                                  <a:pt x="116" y="87"/>
                                </a:lnTo>
                                <a:lnTo>
                                  <a:pt x="115" y="94"/>
                                </a:lnTo>
                                <a:lnTo>
                                  <a:pt x="129" y="105"/>
                                </a:lnTo>
                                <a:lnTo>
                                  <a:pt x="141" y="109"/>
                                </a:lnTo>
                                <a:lnTo>
                                  <a:pt x="141" y="142"/>
                                </a:lnTo>
                                <a:lnTo>
                                  <a:pt x="148" y="155"/>
                                </a:lnTo>
                                <a:lnTo>
                                  <a:pt x="144" y="160"/>
                                </a:lnTo>
                                <a:lnTo>
                                  <a:pt x="136" y="161"/>
                                </a:lnTo>
                                <a:lnTo>
                                  <a:pt x="134" y="150"/>
                                </a:lnTo>
                                <a:lnTo>
                                  <a:pt x="120" y="161"/>
                                </a:lnTo>
                                <a:lnTo>
                                  <a:pt x="111" y="144"/>
                                </a:lnTo>
                                <a:lnTo>
                                  <a:pt x="105" y="132"/>
                                </a:lnTo>
                                <a:lnTo>
                                  <a:pt x="89" y="116"/>
                                </a:lnTo>
                                <a:lnTo>
                                  <a:pt x="85" y="116"/>
                                </a:lnTo>
                                <a:lnTo>
                                  <a:pt x="70" y="108"/>
                                </a:lnTo>
                                <a:lnTo>
                                  <a:pt x="67" y="99"/>
                                </a:lnTo>
                                <a:lnTo>
                                  <a:pt x="67" y="93"/>
                                </a:lnTo>
                                <a:lnTo>
                                  <a:pt x="55" y="70"/>
                                </a:lnTo>
                                <a:lnTo>
                                  <a:pt x="49" y="55"/>
                                </a:lnTo>
                                <a:lnTo>
                                  <a:pt x="34" y="42"/>
                                </a:lnTo>
                                <a:lnTo>
                                  <a:pt x="13" y="22"/>
                                </a:lnTo>
                                <a:lnTo>
                                  <a:pt x="0" y="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2" name="Freeform 15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80" y="2473"/>
                            <a:ext cx="71" cy="90"/>
                          </a:xfrm>
                          <a:custGeom>
                            <a:avLst/>
                            <a:gdLst>
                              <a:gd name="T0" fmla="*/ 0 w 143"/>
                              <a:gd name="T1" fmla="*/ 0 h 178"/>
                              <a:gd name="T2" fmla="*/ 0 w 143"/>
                              <a:gd name="T3" fmla="*/ 0 h 178"/>
                              <a:gd name="T4" fmla="*/ 1 w 143"/>
                              <a:gd name="T5" fmla="*/ 1 h 178"/>
                              <a:gd name="T6" fmla="*/ 1 w 143"/>
                              <a:gd name="T7" fmla="*/ 2 h 178"/>
                              <a:gd name="T8" fmla="*/ 1 w 143"/>
                              <a:gd name="T9" fmla="*/ 2 h 178"/>
                              <a:gd name="T10" fmla="*/ 1 w 143"/>
                              <a:gd name="T11" fmla="*/ 2 h 178"/>
                              <a:gd name="T12" fmla="*/ 1 w 143"/>
                              <a:gd name="T13" fmla="*/ 2 h 178"/>
                              <a:gd name="T14" fmla="*/ 2 w 143"/>
                              <a:gd name="T15" fmla="*/ 2 h 178"/>
                              <a:gd name="T16" fmla="*/ 2 w 143"/>
                              <a:gd name="T17" fmla="*/ 3 h 178"/>
                              <a:gd name="T18" fmla="*/ 2 w 143"/>
                              <a:gd name="T19" fmla="*/ 3 h 178"/>
                              <a:gd name="T20" fmla="*/ 3 w 143"/>
                              <a:gd name="T21" fmla="*/ 3 h 178"/>
                              <a:gd name="T22" fmla="*/ 3 w 143"/>
                              <a:gd name="T23" fmla="*/ 3 h 178"/>
                              <a:gd name="T24" fmla="*/ 3 w 143"/>
                              <a:gd name="T25" fmla="*/ 4 h 178"/>
                              <a:gd name="T26" fmla="*/ 3 w 143"/>
                              <a:gd name="T27" fmla="*/ 4 h 178"/>
                              <a:gd name="T28" fmla="*/ 3 w 143"/>
                              <a:gd name="T29" fmla="*/ 5 h 178"/>
                              <a:gd name="T30" fmla="*/ 3 w 143"/>
                              <a:gd name="T31" fmla="*/ 5 h 178"/>
                              <a:gd name="T32" fmla="*/ 4 w 143"/>
                              <a:gd name="T33" fmla="*/ 5 h 178"/>
                              <a:gd name="T34" fmla="*/ 4 w 143"/>
                              <a:gd name="T35" fmla="*/ 5 h 178"/>
                              <a:gd name="T36" fmla="*/ 4 w 143"/>
                              <a:gd name="T37" fmla="*/ 5 h 178"/>
                              <a:gd name="T38" fmla="*/ 4 w 143"/>
                              <a:gd name="T39" fmla="*/ 6 h 178"/>
                              <a:gd name="T40" fmla="*/ 4 w 143"/>
                              <a:gd name="T41" fmla="*/ 6 h 178"/>
                              <a:gd name="T42" fmla="*/ 3 w 143"/>
                              <a:gd name="T43" fmla="*/ 6 h 178"/>
                              <a:gd name="T44" fmla="*/ 3 w 143"/>
                              <a:gd name="T45" fmla="*/ 6 h 178"/>
                              <a:gd name="T46" fmla="*/ 3 w 143"/>
                              <a:gd name="T47" fmla="*/ 6 h 178"/>
                              <a:gd name="T48" fmla="*/ 3 w 143"/>
                              <a:gd name="T49" fmla="*/ 6 h 178"/>
                              <a:gd name="T50" fmla="*/ 3 w 143"/>
                              <a:gd name="T51" fmla="*/ 6 h 178"/>
                              <a:gd name="T52" fmla="*/ 3 w 143"/>
                              <a:gd name="T53" fmla="*/ 6 h 178"/>
                              <a:gd name="T54" fmla="*/ 3 w 143"/>
                              <a:gd name="T55" fmla="*/ 5 h 178"/>
                              <a:gd name="T56" fmla="*/ 2 w 143"/>
                              <a:gd name="T57" fmla="*/ 5 h 178"/>
                              <a:gd name="T58" fmla="*/ 2 w 143"/>
                              <a:gd name="T59" fmla="*/ 6 h 178"/>
                              <a:gd name="T60" fmla="*/ 2 w 143"/>
                              <a:gd name="T61" fmla="*/ 5 h 178"/>
                              <a:gd name="T62" fmla="*/ 2 w 143"/>
                              <a:gd name="T63" fmla="*/ 5 h 178"/>
                              <a:gd name="T64" fmla="*/ 2 w 143"/>
                              <a:gd name="T65" fmla="*/ 5 h 178"/>
                              <a:gd name="T66" fmla="*/ 3 w 143"/>
                              <a:gd name="T67" fmla="*/ 5 h 178"/>
                              <a:gd name="T68" fmla="*/ 3 w 143"/>
                              <a:gd name="T69" fmla="*/ 4 h 178"/>
                              <a:gd name="T70" fmla="*/ 2 w 143"/>
                              <a:gd name="T71" fmla="*/ 4 h 178"/>
                              <a:gd name="T72" fmla="*/ 2 w 143"/>
                              <a:gd name="T73" fmla="*/ 4 h 178"/>
                              <a:gd name="T74" fmla="*/ 2 w 143"/>
                              <a:gd name="T75" fmla="*/ 3 h 178"/>
                              <a:gd name="T76" fmla="*/ 2 w 143"/>
                              <a:gd name="T77" fmla="*/ 3 h 178"/>
                              <a:gd name="T78" fmla="*/ 1 w 143"/>
                              <a:gd name="T79" fmla="*/ 3 h 178"/>
                              <a:gd name="T80" fmla="*/ 1 w 143"/>
                              <a:gd name="T81" fmla="*/ 3 h 178"/>
                              <a:gd name="T82" fmla="*/ 1 w 143"/>
                              <a:gd name="T83" fmla="*/ 3 h 178"/>
                              <a:gd name="T84" fmla="*/ 1 w 143"/>
                              <a:gd name="T85" fmla="*/ 3 h 178"/>
                              <a:gd name="T86" fmla="*/ 1 w 143"/>
                              <a:gd name="T87" fmla="*/ 3 h 178"/>
                              <a:gd name="T88" fmla="*/ 0 w 143"/>
                              <a:gd name="T89" fmla="*/ 3 h 178"/>
                              <a:gd name="T90" fmla="*/ 0 w 143"/>
                              <a:gd name="T91" fmla="*/ 2 h 178"/>
                              <a:gd name="T92" fmla="*/ 0 w 143"/>
                              <a:gd name="T93" fmla="*/ 2 h 178"/>
                              <a:gd name="T94" fmla="*/ 0 w 143"/>
                              <a:gd name="T95" fmla="*/ 2 h 178"/>
                              <a:gd name="T96" fmla="*/ 0 w 143"/>
                              <a:gd name="T97" fmla="*/ 2 h 178"/>
                              <a:gd name="T98" fmla="*/ 0 w 143"/>
                              <a:gd name="T99" fmla="*/ 1 h 178"/>
                              <a:gd name="T100" fmla="*/ 0 w 143"/>
                              <a:gd name="T101" fmla="*/ 1 h 178"/>
                              <a:gd name="T102" fmla="*/ 0 w 143"/>
                              <a:gd name="T103" fmla="*/ 1 h 178"/>
                              <a:gd name="T104" fmla="*/ 0 w 143"/>
                              <a:gd name="T105" fmla="*/ 1 h 178"/>
                              <a:gd name="T106" fmla="*/ 0 w 143"/>
                              <a:gd name="T107" fmla="*/ 0 h 178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w 143"/>
                              <a:gd name="T163" fmla="*/ 0 h 178"/>
                              <a:gd name="T164" fmla="*/ 143 w 143"/>
                              <a:gd name="T165" fmla="*/ 178 h 178"/>
                            </a:gdLst>
                            <a:ahLst/>
                            <a:cxnLst>
                              <a:cxn ang="T108">
                                <a:pos x="T0" y="T1"/>
                              </a:cxn>
                              <a:cxn ang="T109">
                                <a:pos x="T2" y="T3"/>
                              </a:cxn>
                              <a:cxn ang="T110">
                                <a:pos x="T4" y="T5"/>
                              </a:cxn>
                              <a:cxn ang="T111">
                                <a:pos x="T6" y="T7"/>
                              </a:cxn>
                              <a:cxn ang="T112">
                                <a:pos x="T8" y="T9"/>
                              </a:cxn>
                              <a:cxn ang="T113">
                                <a:pos x="T10" y="T11"/>
                              </a:cxn>
                              <a:cxn ang="T114">
                                <a:pos x="T12" y="T13"/>
                              </a:cxn>
                              <a:cxn ang="T115">
                                <a:pos x="T14" y="T15"/>
                              </a:cxn>
                              <a:cxn ang="T116">
                                <a:pos x="T16" y="T17"/>
                              </a:cxn>
                              <a:cxn ang="T117">
                                <a:pos x="T18" y="T19"/>
                              </a:cxn>
                              <a:cxn ang="T118">
                                <a:pos x="T20" y="T21"/>
                              </a:cxn>
                              <a:cxn ang="T119">
                                <a:pos x="T22" y="T23"/>
                              </a:cxn>
                              <a:cxn ang="T120">
                                <a:pos x="T24" y="T25"/>
                              </a:cxn>
                              <a:cxn ang="T121">
                                <a:pos x="T26" y="T27"/>
                              </a:cxn>
                              <a:cxn ang="T122">
                                <a:pos x="T28" y="T29"/>
                              </a:cxn>
                              <a:cxn ang="T123">
                                <a:pos x="T30" y="T31"/>
                              </a:cxn>
                              <a:cxn ang="T124">
                                <a:pos x="T32" y="T33"/>
                              </a:cxn>
                              <a:cxn ang="T125">
                                <a:pos x="T34" y="T35"/>
                              </a:cxn>
                              <a:cxn ang="T126">
                                <a:pos x="T36" y="T37"/>
                              </a:cxn>
                              <a:cxn ang="T127">
                                <a:pos x="T38" y="T39"/>
                              </a:cxn>
                              <a:cxn ang="T128">
                                <a:pos x="T40" y="T41"/>
                              </a:cxn>
                              <a:cxn ang="T129">
                                <a:pos x="T42" y="T43"/>
                              </a:cxn>
                              <a:cxn ang="T130">
                                <a:pos x="T44" y="T45"/>
                              </a:cxn>
                              <a:cxn ang="T131">
                                <a:pos x="T46" y="T47"/>
                              </a:cxn>
                              <a:cxn ang="T132">
                                <a:pos x="T48" y="T49"/>
                              </a:cxn>
                              <a:cxn ang="T133">
                                <a:pos x="T50" y="T51"/>
                              </a:cxn>
                              <a:cxn ang="T134">
                                <a:pos x="T52" y="T53"/>
                              </a:cxn>
                              <a:cxn ang="T135">
                                <a:pos x="T54" y="T55"/>
                              </a:cxn>
                              <a:cxn ang="T136">
                                <a:pos x="T56" y="T57"/>
                              </a:cxn>
                              <a:cxn ang="T137">
                                <a:pos x="T58" y="T59"/>
                              </a:cxn>
                              <a:cxn ang="T138">
                                <a:pos x="T60" y="T61"/>
                              </a:cxn>
                              <a:cxn ang="T139">
                                <a:pos x="T62" y="T63"/>
                              </a:cxn>
                              <a:cxn ang="T140">
                                <a:pos x="T64" y="T65"/>
                              </a:cxn>
                              <a:cxn ang="T141">
                                <a:pos x="T66" y="T67"/>
                              </a:cxn>
                              <a:cxn ang="T142">
                                <a:pos x="T68" y="T69"/>
                              </a:cxn>
                              <a:cxn ang="T143">
                                <a:pos x="T70" y="T71"/>
                              </a:cxn>
                              <a:cxn ang="T144">
                                <a:pos x="T72" y="T73"/>
                              </a:cxn>
                              <a:cxn ang="T145">
                                <a:pos x="T74" y="T75"/>
                              </a:cxn>
                              <a:cxn ang="T146">
                                <a:pos x="T76" y="T77"/>
                              </a:cxn>
                              <a:cxn ang="T147">
                                <a:pos x="T78" y="T79"/>
                              </a:cxn>
                              <a:cxn ang="T148">
                                <a:pos x="T80" y="T81"/>
                              </a:cxn>
                              <a:cxn ang="T149">
                                <a:pos x="T82" y="T83"/>
                              </a:cxn>
                              <a:cxn ang="T150">
                                <a:pos x="T84" y="T85"/>
                              </a:cxn>
                              <a:cxn ang="T151">
                                <a:pos x="T86" y="T87"/>
                              </a:cxn>
                              <a:cxn ang="T152">
                                <a:pos x="T88" y="T89"/>
                              </a:cxn>
                              <a:cxn ang="T153">
                                <a:pos x="T90" y="T91"/>
                              </a:cxn>
                              <a:cxn ang="T154">
                                <a:pos x="T92" y="T93"/>
                              </a:cxn>
                              <a:cxn ang="T155">
                                <a:pos x="T94" y="T95"/>
                              </a:cxn>
                              <a:cxn ang="T156">
                                <a:pos x="T96" y="T97"/>
                              </a:cxn>
                              <a:cxn ang="T157">
                                <a:pos x="T98" y="T99"/>
                              </a:cxn>
                              <a:cxn ang="T158">
                                <a:pos x="T100" y="T101"/>
                              </a:cxn>
                              <a:cxn ang="T159">
                                <a:pos x="T102" y="T103"/>
                              </a:cxn>
                              <a:cxn ang="T160">
                                <a:pos x="T104" y="T105"/>
                              </a:cxn>
                              <a:cxn ang="T161">
                                <a:pos x="T106" y="T107"/>
                              </a:cxn>
                            </a:cxnLst>
                            <a:rect l="T162" t="T163" r="T164" b="T165"/>
                            <a:pathLst>
                              <a:path w="143" h="178">
                                <a:moveTo>
                                  <a:pt x="10" y="0"/>
                                </a:moveTo>
                                <a:lnTo>
                                  <a:pt x="22" y="0"/>
                                </a:lnTo>
                                <a:lnTo>
                                  <a:pt x="36" y="19"/>
                                </a:lnTo>
                                <a:lnTo>
                                  <a:pt x="33" y="36"/>
                                </a:lnTo>
                                <a:lnTo>
                                  <a:pt x="41" y="42"/>
                                </a:lnTo>
                                <a:lnTo>
                                  <a:pt x="45" y="54"/>
                                </a:lnTo>
                                <a:lnTo>
                                  <a:pt x="55" y="59"/>
                                </a:lnTo>
                                <a:lnTo>
                                  <a:pt x="66" y="61"/>
                                </a:lnTo>
                                <a:lnTo>
                                  <a:pt x="82" y="69"/>
                                </a:lnTo>
                                <a:lnTo>
                                  <a:pt x="93" y="81"/>
                                </a:lnTo>
                                <a:lnTo>
                                  <a:pt x="96" y="81"/>
                                </a:lnTo>
                                <a:lnTo>
                                  <a:pt x="110" y="90"/>
                                </a:lnTo>
                                <a:lnTo>
                                  <a:pt x="110" y="112"/>
                                </a:lnTo>
                                <a:lnTo>
                                  <a:pt x="114" y="122"/>
                                </a:lnTo>
                                <a:lnTo>
                                  <a:pt x="118" y="128"/>
                                </a:lnTo>
                                <a:lnTo>
                                  <a:pt x="123" y="133"/>
                                </a:lnTo>
                                <a:lnTo>
                                  <a:pt x="129" y="141"/>
                                </a:lnTo>
                                <a:lnTo>
                                  <a:pt x="132" y="149"/>
                                </a:lnTo>
                                <a:lnTo>
                                  <a:pt x="143" y="157"/>
                                </a:lnTo>
                                <a:lnTo>
                                  <a:pt x="141" y="165"/>
                                </a:lnTo>
                                <a:lnTo>
                                  <a:pt x="130" y="167"/>
                                </a:lnTo>
                                <a:lnTo>
                                  <a:pt x="126" y="160"/>
                                </a:lnTo>
                                <a:lnTo>
                                  <a:pt x="118" y="160"/>
                                </a:lnTo>
                                <a:lnTo>
                                  <a:pt x="118" y="178"/>
                                </a:lnTo>
                                <a:lnTo>
                                  <a:pt x="111" y="178"/>
                                </a:lnTo>
                                <a:lnTo>
                                  <a:pt x="103" y="170"/>
                                </a:lnTo>
                                <a:lnTo>
                                  <a:pt x="97" y="165"/>
                                </a:lnTo>
                                <a:lnTo>
                                  <a:pt x="97" y="155"/>
                                </a:lnTo>
                                <a:lnTo>
                                  <a:pt x="85" y="155"/>
                                </a:lnTo>
                                <a:lnTo>
                                  <a:pt x="81" y="165"/>
                                </a:lnTo>
                                <a:lnTo>
                                  <a:pt x="77" y="155"/>
                                </a:lnTo>
                                <a:lnTo>
                                  <a:pt x="75" y="145"/>
                                </a:lnTo>
                                <a:lnTo>
                                  <a:pt x="91" y="141"/>
                                </a:lnTo>
                                <a:lnTo>
                                  <a:pt x="99" y="144"/>
                                </a:lnTo>
                                <a:lnTo>
                                  <a:pt x="100" y="126"/>
                                </a:lnTo>
                                <a:lnTo>
                                  <a:pt x="92" y="120"/>
                                </a:lnTo>
                                <a:lnTo>
                                  <a:pt x="86" y="106"/>
                                </a:lnTo>
                                <a:lnTo>
                                  <a:pt x="82" y="88"/>
                                </a:lnTo>
                                <a:lnTo>
                                  <a:pt x="67" y="83"/>
                                </a:lnTo>
                                <a:lnTo>
                                  <a:pt x="60" y="74"/>
                                </a:lnTo>
                                <a:lnTo>
                                  <a:pt x="48" y="69"/>
                                </a:lnTo>
                                <a:lnTo>
                                  <a:pt x="55" y="87"/>
                                </a:lnTo>
                                <a:lnTo>
                                  <a:pt x="41" y="94"/>
                                </a:lnTo>
                                <a:lnTo>
                                  <a:pt x="33" y="75"/>
                                </a:lnTo>
                                <a:lnTo>
                                  <a:pt x="26" y="71"/>
                                </a:lnTo>
                                <a:lnTo>
                                  <a:pt x="26" y="61"/>
                                </a:lnTo>
                                <a:lnTo>
                                  <a:pt x="17" y="49"/>
                                </a:lnTo>
                                <a:lnTo>
                                  <a:pt x="6" y="42"/>
                                </a:lnTo>
                                <a:lnTo>
                                  <a:pt x="0" y="35"/>
                                </a:lnTo>
                                <a:lnTo>
                                  <a:pt x="3" y="29"/>
                                </a:lnTo>
                                <a:lnTo>
                                  <a:pt x="11" y="32"/>
                                </a:lnTo>
                                <a:lnTo>
                                  <a:pt x="14" y="24"/>
                                </a:lnTo>
                                <a:lnTo>
                                  <a:pt x="11" y="14"/>
                                </a:lnTo>
                                <a:lnTo>
                                  <a:pt x="1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3" name="Freeform 15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63" y="2322"/>
                            <a:ext cx="53" cy="76"/>
                          </a:xfrm>
                          <a:custGeom>
                            <a:avLst/>
                            <a:gdLst>
                              <a:gd name="T0" fmla="*/ 1 w 106"/>
                              <a:gd name="T1" fmla="*/ 0 h 153"/>
                              <a:gd name="T2" fmla="*/ 2 w 106"/>
                              <a:gd name="T3" fmla="*/ 0 h 153"/>
                              <a:gd name="T4" fmla="*/ 2 w 106"/>
                              <a:gd name="T5" fmla="*/ 0 h 153"/>
                              <a:gd name="T6" fmla="*/ 2 w 106"/>
                              <a:gd name="T7" fmla="*/ 1 h 153"/>
                              <a:gd name="T8" fmla="*/ 3 w 106"/>
                              <a:gd name="T9" fmla="*/ 1 h 153"/>
                              <a:gd name="T10" fmla="*/ 3 w 106"/>
                              <a:gd name="T11" fmla="*/ 1 h 153"/>
                              <a:gd name="T12" fmla="*/ 3 w 106"/>
                              <a:gd name="T13" fmla="*/ 1 h 153"/>
                              <a:gd name="T14" fmla="*/ 3 w 106"/>
                              <a:gd name="T15" fmla="*/ 1 h 153"/>
                              <a:gd name="T16" fmla="*/ 3 w 106"/>
                              <a:gd name="T17" fmla="*/ 2 h 153"/>
                              <a:gd name="T18" fmla="*/ 4 w 106"/>
                              <a:gd name="T19" fmla="*/ 3 h 153"/>
                              <a:gd name="T20" fmla="*/ 3 w 106"/>
                              <a:gd name="T21" fmla="*/ 2 h 153"/>
                              <a:gd name="T22" fmla="*/ 3 w 106"/>
                              <a:gd name="T23" fmla="*/ 2 h 153"/>
                              <a:gd name="T24" fmla="*/ 3 w 106"/>
                              <a:gd name="T25" fmla="*/ 3 h 153"/>
                              <a:gd name="T26" fmla="*/ 3 w 106"/>
                              <a:gd name="T27" fmla="*/ 3 h 153"/>
                              <a:gd name="T28" fmla="*/ 3 w 106"/>
                              <a:gd name="T29" fmla="*/ 3 h 153"/>
                              <a:gd name="T30" fmla="*/ 3 w 106"/>
                              <a:gd name="T31" fmla="*/ 3 h 153"/>
                              <a:gd name="T32" fmla="*/ 3 w 106"/>
                              <a:gd name="T33" fmla="*/ 3 h 153"/>
                              <a:gd name="T34" fmla="*/ 2 w 106"/>
                              <a:gd name="T35" fmla="*/ 3 h 153"/>
                              <a:gd name="T36" fmla="*/ 2 w 106"/>
                              <a:gd name="T37" fmla="*/ 3 h 153"/>
                              <a:gd name="T38" fmla="*/ 2 w 106"/>
                              <a:gd name="T39" fmla="*/ 3 h 153"/>
                              <a:gd name="T40" fmla="*/ 2 w 106"/>
                              <a:gd name="T41" fmla="*/ 3 h 153"/>
                              <a:gd name="T42" fmla="*/ 2 w 106"/>
                              <a:gd name="T43" fmla="*/ 3 h 153"/>
                              <a:gd name="T44" fmla="*/ 2 w 106"/>
                              <a:gd name="T45" fmla="*/ 3 h 153"/>
                              <a:gd name="T46" fmla="*/ 2 w 106"/>
                              <a:gd name="T47" fmla="*/ 3 h 153"/>
                              <a:gd name="T48" fmla="*/ 3 w 106"/>
                              <a:gd name="T49" fmla="*/ 4 h 153"/>
                              <a:gd name="T50" fmla="*/ 2 w 106"/>
                              <a:gd name="T51" fmla="*/ 4 h 153"/>
                              <a:gd name="T52" fmla="*/ 2 w 106"/>
                              <a:gd name="T53" fmla="*/ 4 h 153"/>
                              <a:gd name="T54" fmla="*/ 2 w 106"/>
                              <a:gd name="T55" fmla="*/ 4 h 153"/>
                              <a:gd name="T56" fmla="*/ 2 w 106"/>
                              <a:gd name="T57" fmla="*/ 4 h 153"/>
                              <a:gd name="T58" fmla="*/ 2 w 106"/>
                              <a:gd name="T59" fmla="*/ 4 h 153"/>
                              <a:gd name="T60" fmla="*/ 2 w 106"/>
                              <a:gd name="T61" fmla="*/ 4 h 153"/>
                              <a:gd name="T62" fmla="*/ 2 w 106"/>
                              <a:gd name="T63" fmla="*/ 4 h 153"/>
                              <a:gd name="T64" fmla="*/ 2 w 106"/>
                              <a:gd name="T65" fmla="*/ 4 h 153"/>
                              <a:gd name="T66" fmla="*/ 1 w 106"/>
                              <a:gd name="T67" fmla="*/ 4 h 153"/>
                              <a:gd name="T68" fmla="*/ 1 w 106"/>
                              <a:gd name="T69" fmla="*/ 4 h 153"/>
                              <a:gd name="T70" fmla="*/ 1 w 106"/>
                              <a:gd name="T71" fmla="*/ 3 h 153"/>
                              <a:gd name="T72" fmla="*/ 1 w 106"/>
                              <a:gd name="T73" fmla="*/ 3 h 153"/>
                              <a:gd name="T74" fmla="*/ 1 w 106"/>
                              <a:gd name="T75" fmla="*/ 4 h 153"/>
                              <a:gd name="T76" fmla="*/ 1 w 106"/>
                              <a:gd name="T77" fmla="*/ 4 h 153"/>
                              <a:gd name="T78" fmla="*/ 0 w 106"/>
                              <a:gd name="T79" fmla="*/ 3 h 153"/>
                              <a:gd name="T80" fmla="*/ 1 w 106"/>
                              <a:gd name="T81" fmla="*/ 3 h 153"/>
                              <a:gd name="T82" fmla="*/ 1 w 106"/>
                              <a:gd name="T83" fmla="*/ 3 h 153"/>
                              <a:gd name="T84" fmla="*/ 1 w 106"/>
                              <a:gd name="T85" fmla="*/ 2 h 153"/>
                              <a:gd name="T86" fmla="*/ 1 w 106"/>
                              <a:gd name="T87" fmla="*/ 2 h 153"/>
                              <a:gd name="T88" fmla="*/ 1 w 106"/>
                              <a:gd name="T89" fmla="*/ 2 h 153"/>
                              <a:gd name="T90" fmla="*/ 1 w 106"/>
                              <a:gd name="T91" fmla="*/ 2 h 153"/>
                              <a:gd name="T92" fmla="*/ 2 w 106"/>
                              <a:gd name="T93" fmla="*/ 2 h 153"/>
                              <a:gd name="T94" fmla="*/ 2 w 106"/>
                              <a:gd name="T95" fmla="*/ 2 h 153"/>
                              <a:gd name="T96" fmla="*/ 1 w 106"/>
                              <a:gd name="T97" fmla="*/ 1 h 153"/>
                              <a:gd name="T98" fmla="*/ 1 w 106"/>
                              <a:gd name="T99" fmla="*/ 1 h 153"/>
                              <a:gd name="T100" fmla="*/ 2 w 106"/>
                              <a:gd name="T101" fmla="*/ 1 h 153"/>
                              <a:gd name="T102" fmla="*/ 2 w 106"/>
                              <a:gd name="T103" fmla="*/ 1 h 153"/>
                              <a:gd name="T104" fmla="*/ 2 w 106"/>
                              <a:gd name="T105" fmla="*/ 1 h 153"/>
                              <a:gd name="T106" fmla="*/ 2 w 106"/>
                              <a:gd name="T107" fmla="*/ 1 h 153"/>
                              <a:gd name="T108" fmla="*/ 2 w 106"/>
                              <a:gd name="T109" fmla="*/ 1 h 153"/>
                              <a:gd name="T110" fmla="*/ 2 w 106"/>
                              <a:gd name="T111" fmla="*/ 1 h 153"/>
                              <a:gd name="T112" fmla="*/ 2 w 106"/>
                              <a:gd name="T113" fmla="*/ 1 h 153"/>
                              <a:gd name="T114" fmla="*/ 1 w 106"/>
                              <a:gd name="T115" fmla="*/ 0 h 153"/>
                              <a:gd name="T116" fmla="*/ 1 w 106"/>
                              <a:gd name="T117" fmla="*/ 0 h 153"/>
                              <a:gd name="T118" fmla="*/ 1 w 106"/>
                              <a:gd name="T119" fmla="*/ 0 h 153"/>
                              <a:gd name="T120" fmla="*/ 1 w 106"/>
                              <a:gd name="T121" fmla="*/ 0 h 153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60000 65536"/>
                              <a:gd name="T163" fmla="*/ 0 60000 65536"/>
                              <a:gd name="T164" fmla="*/ 0 60000 65536"/>
                              <a:gd name="T165" fmla="*/ 0 60000 65536"/>
                              <a:gd name="T166" fmla="*/ 0 60000 65536"/>
                              <a:gd name="T167" fmla="*/ 0 60000 65536"/>
                              <a:gd name="T168" fmla="*/ 0 60000 65536"/>
                              <a:gd name="T169" fmla="*/ 0 60000 65536"/>
                              <a:gd name="T170" fmla="*/ 0 60000 65536"/>
                              <a:gd name="T171" fmla="*/ 0 60000 65536"/>
                              <a:gd name="T172" fmla="*/ 0 60000 65536"/>
                              <a:gd name="T173" fmla="*/ 0 60000 65536"/>
                              <a:gd name="T174" fmla="*/ 0 60000 65536"/>
                              <a:gd name="T175" fmla="*/ 0 60000 65536"/>
                              <a:gd name="T176" fmla="*/ 0 60000 65536"/>
                              <a:gd name="T177" fmla="*/ 0 60000 65536"/>
                              <a:gd name="T178" fmla="*/ 0 60000 65536"/>
                              <a:gd name="T179" fmla="*/ 0 60000 65536"/>
                              <a:gd name="T180" fmla="*/ 0 60000 65536"/>
                              <a:gd name="T181" fmla="*/ 0 60000 65536"/>
                              <a:gd name="T182" fmla="*/ 0 60000 65536"/>
                              <a:gd name="T183" fmla="*/ 0 w 106"/>
                              <a:gd name="T184" fmla="*/ 0 h 153"/>
                              <a:gd name="T185" fmla="*/ 106 w 106"/>
                              <a:gd name="T186" fmla="*/ 153 h 153"/>
                            </a:gdLst>
                            <a:ahLst/>
                            <a:cxnLst>
                              <a:cxn ang="T122">
                                <a:pos x="T0" y="T1"/>
                              </a:cxn>
                              <a:cxn ang="T123">
                                <a:pos x="T2" y="T3"/>
                              </a:cxn>
                              <a:cxn ang="T124">
                                <a:pos x="T4" y="T5"/>
                              </a:cxn>
                              <a:cxn ang="T125">
                                <a:pos x="T6" y="T7"/>
                              </a:cxn>
                              <a:cxn ang="T126">
                                <a:pos x="T8" y="T9"/>
                              </a:cxn>
                              <a:cxn ang="T127">
                                <a:pos x="T10" y="T11"/>
                              </a:cxn>
                              <a:cxn ang="T128">
                                <a:pos x="T12" y="T13"/>
                              </a:cxn>
                              <a:cxn ang="T129">
                                <a:pos x="T14" y="T15"/>
                              </a:cxn>
                              <a:cxn ang="T130">
                                <a:pos x="T16" y="T17"/>
                              </a:cxn>
                              <a:cxn ang="T131">
                                <a:pos x="T18" y="T19"/>
                              </a:cxn>
                              <a:cxn ang="T132">
                                <a:pos x="T20" y="T21"/>
                              </a:cxn>
                              <a:cxn ang="T133">
                                <a:pos x="T22" y="T23"/>
                              </a:cxn>
                              <a:cxn ang="T134">
                                <a:pos x="T24" y="T25"/>
                              </a:cxn>
                              <a:cxn ang="T135">
                                <a:pos x="T26" y="T27"/>
                              </a:cxn>
                              <a:cxn ang="T136">
                                <a:pos x="T28" y="T29"/>
                              </a:cxn>
                              <a:cxn ang="T137">
                                <a:pos x="T30" y="T31"/>
                              </a:cxn>
                              <a:cxn ang="T138">
                                <a:pos x="T32" y="T33"/>
                              </a:cxn>
                              <a:cxn ang="T139">
                                <a:pos x="T34" y="T35"/>
                              </a:cxn>
                              <a:cxn ang="T140">
                                <a:pos x="T36" y="T37"/>
                              </a:cxn>
                              <a:cxn ang="T141">
                                <a:pos x="T38" y="T39"/>
                              </a:cxn>
                              <a:cxn ang="T142">
                                <a:pos x="T40" y="T41"/>
                              </a:cxn>
                              <a:cxn ang="T143">
                                <a:pos x="T42" y="T43"/>
                              </a:cxn>
                              <a:cxn ang="T144">
                                <a:pos x="T44" y="T45"/>
                              </a:cxn>
                              <a:cxn ang="T145">
                                <a:pos x="T46" y="T47"/>
                              </a:cxn>
                              <a:cxn ang="T146">
                                <a:pos x="T48" y="T49"/>
                              </a:cxn>
                              <a:cxn ang="T147">
                                <a:pos x="T50" y="T51"/>
                              </a:cxn>
                              <a:cxn ang="T148">
                                <a:pos x="T52" y="T53"/>
                              </a:cxn>
                              <a:cxn ang="T149">
                                <a:pos x="T54" y="T55"/>
                              </a:cxn>
                              <a:cxn ang="T150">
                                <a:pos x="T56" y="T57"/>
                              </a:cxn>
                              <a:cxn ang="T151">
                                <a:pos x="T58" y="T59"/>
                              </a:cxn>
                              <a:cxn ang="T152">
                                <a:pos x="T60" y="T61"/>
                              </a:cxn>
                              <a:cxn ang="T153">
                                <a:pos x="T62" y="T63"/>
                              </a:cxn>
                              <a:cxn ang="T154">
                                <a:pos x="T64" y="T65"/>
                              </a:cxn>
                              <a:cxn ang="T155">
                                <a:pos x="T66" y="T67"/>
                              </a:cxn>
                              <a:cxn ang="T156">
                                <a:pos x="T68" y="T69"/>
                              </a:cxn>
                              <a:cxn ang="T157">
                                <a:pos x="T70" y="T71"/>
                              </a:cxn>
                              <a:cxn ang="T158">
                                <a:pos x="T72" y="T73"/>
                              </a:cxn>
                              <a:cxn ang="T159">
                                <a:pos x="T74" y="T75"/>
                              </a:cxn>
                              <a:cxn ang="T160">
                                <a:pos x="T76" y="T77"/>
                              </a:cxn>
                              <a:cxn ang="T161">
                                <a:pos x="T78" y="T79"/>
                              </a:cxn>
                              <a:cxn ang="T162">
                                <a:pos x="T80" y="T81"/>
                              </a:cxn>
                              <a:cxn ang="T163">
                                <a:pos x="T82" y="T83"/>
                              </a:cxn>
                              <a:cxn ang="T164">
                                <a:pos x="T84" y="T85"/>
                              </a:cxn>
                              <a:cxn ang="T165">
                                <a:pos x="T86" y="T87"/>
                              </a:cxn>
                              <a:cxn ang="T166">
                                <a:pos x="T88" y="T89"/>
                              </a:cxn>
                              <a:cxn ang="T167">
                                <a:pos x="T90" y="T91"/>
                              </a:cxn>
                              <a:cxn ang="T168">
                                <a:pos x="T92" y="T93"/>
                              </a:cxn>
                              <a:cxn ang="T169">
                                <a:pos x="T94" y="T95"/>
                              </a:cxn>
                              <a:cxn ang="T170">
                                <a:pos x="T96" y="T97"/>
                              </a:cxn>
                              <a:cxn ang="T171">
                                <a:pos x="T98" y="T99"/>
                              </a:cxn>
                              <a:cxn ang="T172">
                                <a:pos x="T100" y="T101"/>
                              </a:cxn>
                              <a:cxn ang="T173">
                                <a:pos x="T102" y="T103"/>
                              </a:cxn>
                              <a:cxn ang="T174">
                                <a:pos x="T104" y="T105"/>
                              </a:cxn>
                              <a:cxn ang="T175">
                                <a:pos x="T106" y="T107"/>
                              </a:cxn>
                              <a:cxn ang="T176">
                                <a:pos x="T108" y="T109"/>
                              </a:cxn>
                              <a:cxn ang="T177">
                                <a:pos x="T110" y="T111"/>
                              </a:cxn>
                              <a:cxn ang="T178">
                                <a:pos x="T112" y="T113"/>
                              </a:cxn>
                              <a:cxn ang="T179">
                                <a:pos x="T114" y="T115"/>
                              </a:cxn>
                              <a:cxn ang="T180">
                                <a:pos x="T116" y="T117"/>
                              </a:cxn>
                              <a:cxn ang="T181">
                                <a:pos x="T118" y="T119"/>
                              </a:cxn>
                              <a:cxn ang="T182">
                                <a:pos x="T120" y="T121"/>
                              </a:cxn>
                            </a:cxnLst>
                            <a:rect l="T183" t="T184" r="T185" b="T186"/>
                            <a:pathLst>
                              <a:path w="106" h="153">
                                <a:moveTo>
                                  <a:pt x="22" y="0"/>
                                </a:moveTo>
                                <a:lnTo>
                                  <a:pt x="43" y="10"/>
                                </a:lnTo>
                                <a:lnTo>
                                  <a:pt x="55" y="22"/>
                                </a:lnTo>
                                <a:lnTo>
                                  <a:pt x="63" y="35"/>
                                </a:lnTo>
                                <a:lnTo>
                                  <a:pt x="70" y="35"/>
                                </a:lnTo>
                                <a:lnTo>
                                  <a:pt x="69" y="44"/>
                                </a:lnTo>
                                <a:lnTo>
                                  <a:pt x="77" y="50"/>
                                </a:lnTo>
                                <a:lnTo>
                                  <a:pt x="82" y="58"/>
                                </a:lnTo>
                                <a:lnTo>
                                  <a:pt x="96" y="76"/>
                                </a:lnTo>
                                <a:lnTo>
                                  <a:pt x="106" y="96"/>
                                </a:lnTo>
                                <a:lnTo>
                                  <a:pt x="88" y="95"/>
                                </a:lnTo>
                                <a:lnTo>
                                  <a:pt x="74" y="92"/>
                                </a:lnTo>
                                <a:lnTo>
                                  <a:pt x="84" y="106"/>
                                </a:lnTo>
                                <a:lnTo>
                                  <a:pt x="84" y="115"/>
                                </a:lnTo>
                                <a:lnTo>
                                  <a:pt x="84" y="124"/>
                                </a:lnTo>
                                <a:lnTo>
                                  <a:pt x="78" y="119"/>
                                </a:lnTo>
                                <a:lnTo>
                                  <a:pt x="71" y="112"/>
                                </a:lnTo>
                                <a:lnTo>
                                  <a:pt x="59" y="103"/>
                                </a:lnTo>
                                <a:lnTo>
                                  <a:pt x="52" y="99"/>
                                </a:lnTo>
                                <a:lnTo>
                                  <a:pt x="41" y="103"/>
                                </a:lnTo>
                                <a:lnTo>
                                  <a:pt x="34" y="106"/>
                                </a:lnTo>
                                <a:lnTo>
                                  <a:pt x="39" y="114"/>
                                </a:lnTo>
                                <a:lnTo>
                                  <a:pt x="50" y="119"/>
                                </a:lnTo>
                                <a:lnTo>
                                  <a:pt x="60" y="125"/>
                                </a:lnTo>
                                <a:lnTo>
                                  <a:pt x="65" y="135"/>
                                </a:lnTo>
                                <a:lnTo>
                                  <a:pt x="63" y="148"/>
                                </a:lnTo>
                                <a:lnTo>
                                  <a:pt x="63" y="153"/>
                                </a:lnTo>
                                <a:lnTo>
                                  <a:pt x="59" y="153"/>
                                </a:lnTo>
                                <a:lnTo>
                                  <a:pt x="52" y="148"/>
                                </a:lnTo>
                                <a:lnTo>
                                  <a:pt x="50" y="147"/>
                                </a:lnTo>
                                <a:lnTo>
                                  <a:pt x="45" y="144"/>
                                </a:lnTo>
                                <a:lnTo>
                                  <a:pt x="41" y="151"/>
                                </a:lnTo>
                                <a:lnTo>
                                  <a:pt x="34" y="153"/>
                                </a:lnTo>
                                <a:lnTo>
                                  <a:pt x="29" y="147"/>
                                </a:lnTo>
                                <a:lnTo>
                                  <a:pt x="29" y="134"/>
                                </a:lnTo>
                                <a:lnTo>
                                  <a:pt x="28" y="127"/>
                                </a:lnTo>
                                <a:lnTo>
                                  <a:pt x="21" y="122"/>
                                </a:lnTo>
                                <a:lnTo>
                                  <a:pt x="14" y="130"/>
                                </a:lnTo>
                                <a:lnTo>
                                  <a:pt x="3" y="130"/>
                                </a:lnTo>
                                <a:lnTo>
                                  <a:pt x="0" y="124"/>
                                </a:lnTo>
                                <a:lnTo>
                                  <a:pt x="3" y="109"/>
                                </a:lnTo>
                                <a:lnTo>
                                  <a:pt x="11" y="101"/>
                                </a:lnTo>
                                <a:lnTo>
                                  <a:pt x="10" y="77"/>
                                </a:lnTo>
                                <a:lnTo>
                                  <a:pt x="10" y="71"/>
                                </a:lnTo>
                                <a:lnTo>
                                  <a:pt x="18" y="70"/>
                                </a:lnTo>
                                <a:lnTo>
                                  <a:pt x="25" y="76"/>
                                </a:lnTo>
                                <a:lnTo>
                                  <a:pt x="37" y="79"/>
                                </a:lnTo>
                                <a:lnTo>
                                  <a:pt x="37" y="69"/>
                                </a:lnTo>
                                <a:lnTo>
                                  <a:pt x="32" y="63"/>
                                </a:lnTo>
                                <a:lnTo>
                                  <a:pt x="29" y="58"/>
                                </a:lnTo>
                                <a:lnTo>
                                  <a:pt x="33" y="58"/>
                                </a:lnTo>
                                <a:lnTo>
                                  <a:pt x="36" y="58"/>
                                </a:lnTo>
                                <a:lnTo>
                                  <a:pt x="39" y="58"/>
                                </a:lnTo>
                                <a:lnTo>
                                  <a:pt x="41" y="58"/>
                                </a:lnTo>
                                <a:lnTo>
                                  <a:pt x="45" y="54"/>
                                </a:lnTo>
                                <a:lnTo>
                                  <a:pt x="44" y="50"/>
                                </a:lnTo>
                                <a:lnTo>
                                  <a:pt x="40" y="40"/>
                                </a:lnTo>
                                <a:lnTo>
                                  <a:pt x="32" y="29"/>
                                </a:lnTo>
                                <a:lnTo>
                                  <a:pt x="21" y="24"/>
                                </a:lnTo>
                                <a:lnTo>
                                  <a:pt x="17" y="15"/>
                                </a:lnTo>
                                <a:lnTo>
                                  <a:pt x="22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4" name="Freeform 15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03" y="2231"/>
                            <a:ext cx="57" cy="62"/>
                          </a:xfrm>
                          <a:custGeom>
                            <a:avLst/>
                            <a:gdLst>
                              <a:gd name="T0" fmla="*/ 0 w 116"/>
                              <a:gd name="T1" fmla="*/ 0 h 123"/>
                              <a:gd name="T2" fmla="*/ 0 w 116"/>
                              <a:gd name="T3" fmla="*/ 0 h 123"/>
                              <a:gd name="T4" fmla="*/ 0 w 116"/>
                              <a:gd name="T5" fmla="*/ 1 h 123"/>
                              <a:gd name="T6" fmla="*/ 0 w 116"/>
                              <a:gd name="T7" fmla="*/ 1 h 123"/>
                              <a:gd name="T8" fmla="*/ 1 w 116"/>
                              <a:gd name="T9" fmla="*/ 2 h 123"/>
                              <a:gd name="T10" fmla="*/ 1 w 116"/>
                              <a:gd name="T11" fmla="*/ 2 h 123"/>
                              <a:gd name="T12" fmla="*/ 1 w 116"/>
                              <a:gd name="T13" fmla="*/ 2 h 123"/>
                              <a:gd name="T14" fmla="*/ 1 w 116"/>
                              <a:gd name="T15" fmla="*/ 2 h 123"/>
                              <a:gd name="T16" fmla="*/ 2 w 116"/>
                              <a:gd name="T17" fmla="*/ 2 h 123"/>
                              <a:gd name="T18" fmla="*/ 2 w 116"/>
                              <a:gd name="T19" fmla="*/ 2 h 123"/>
                              <a:gd name="T20" fmla="*/ 2 w 116"/>
                              <a:gd name="T21" fmla="*/ 2 h 123"/>
                              <a:gd name="T22" fmla="*/ 3 w 116"/>
                              <a:gd name="T23" fmla="*/ 3 h 123"/>
                              <a:gd name="T24" fmla="*/ 3 w 116"/>
                              <a:gd name="T25" fmla="*/ 3 h 123"/>
                              <a:gd name="T26" fmla="*/ 2 w 116"/>
                              <a:gd name="T27" fmla="*/ 3 h 123"/>
                              <a:gd name="T28" fmla="*/ 2 w 116"/>
                              <a:gd name="T29" fmla="*/ 3 h 123"/>
                              <a:gd name="T30" fmla="*/ 2 w 116"/>
                              <a:gd name="T31" fmla="*/ 3 h 123"/>
                              <a:gd name="T32" fmla="*/ 2 w 116"/>
                              <a:gd name="T33" fmla="*/ 3 h 123"/>
                              <a:gd name="T34" fmla="*/ 3 w 116"/>
                              <a:gd name="T35" fmla="*/ 3 h 123"/>
                              <a:gd name="T36" fmla="*/ 3 w 116"/>
                              <a:gd name="T37" fmla="*/ 4 h 123"/>
                              <a:gd name="T38" fmla="*/ 3 w 116"/>
                              <a:gd name="T39" fmla="*/ 4 h 123"/>
                              <a:gd name="T40" fmla="*/ 3 w 116"/>
                              <a:gd name="T41" fmla="*/ 4 h 123"/>
                              <a:gd name="T42" fmla="*/ 3 w 116"/>
                              <a:gd name="T43" fmla="*/ 4 h 123"/>
                              <a:gd name="T44" fmla="*/ 2 w 116"/>
                              <a:gd name="T45" fmla="*/ 4 h 123"/>
                              <a:gd name="T46" fmla="*/ 2 w 116"/>
                              <a:gd name="T47" fmla="*/ 4 h 123"/>
                              <a:gd name="T48" fmla="*/ 2 w 116"/>
                              <a:gd name="T49" fmla="*/ 4 h 123"/>
                              <a:gd name="T50" fmla="*/ 2 w 116"/>
                              <a:gd name="T51" fmla="*/ 4 h 123"/>
                              <a:gd name="T52" fmla="*/ 1 w 116"/>
                              <a:gd name="T53" fmla="*/ 3 h 123"/>
                              <a:gd name="T54" fmla="*/ 1 w 116"/>
                              <a:gd name="T55" fmla="*/ 3 h 123"/>
                              <a:gd name="T56" fmla="*/ 1 w 116"/>
                              <a:gd name="T57" fmla="*/ 2 h 123"/>
                              <a:gd name="T58" fmla="*/ 0 w 116"/>
                              <a:gd name="T59" fmla="*/ 2 h 123"/>
                              <a:gd name="T60" fmla="*/ 0 w 116"/>
                              <a:gd name="T61" fmla="*/ 2 h 123"/>
                              <a:gd name="T62" fmla="*/ 0 w 116"/>
                              <a:gd name="T63" fmla="*/ 1 h 123"/>
                              <a:gd name="T64" fmla="*/ 0 w 116"/>
                              <a:gd name="T65" fmla="*/ 1 h 123"/>
                              <a:gd name="T66" fmla="*/ 0 w 116"/>
                              <a:gd name="T67" fmla="*/ 1 h 123"/>
                              <a:gd name="T68" fmla="*/ 0 w 116"/>
                              <a:gd name="T69" fmla="*/ 0 h 123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w 116"/>
                              <a:gd name="T106" fmla="*/ 0 h 123"/>
                              <a:gd name="T107" fmla="*/ 116 w 116"/>
                              <a:gd name="T108" fmla="*/ 123 h 123"/>
                            </a:gdLst>
                            <a:ahLst/>
                            <a:cxnLst>
                              <a:cxn ang="T70">
                                <a:pos x="T0" y="T1"/>
                              </a:cxn>
                              <a:cxn ang="T71">
                                <a:pos x="T2" y="T3"/>
                              </a:cxn>
                              <a:cxn ang="T72">
                                <a:pos x="T4" y="T5"/>
                              </a:cxn>
                              <a:cxn ang="T73">
                                <a:pos x="T6" y="T7"/>
                              </a:cxn>
                              <a:cxn ang="T74">
                                <a:pos x="T8" y="T9"/>
                              </a:cxn>
                              <a:cxn ang="T75">
                                <a:pos x="T10" y="T11"/>
                              </a:cxn>
                              <a:cxn ang="T76">
                                <a:pos x="T12" y="T13"/>
                              </a:cxn>
                              <a:cxn ang="T77">
                                <a:pos x="T14" y="T15"/>
                              </a:cxn>
                              <a:cxn ang="T78">
                                <a:pos x="T16" y="T17"/>
                              </a:cxn>
                              <a:cxn ang="T79">
                                <a:pos x="T18" y="T19"/>
                              </a:cxn>
                              <a:cxn ang="T80">
                                <a:pos x="T20" y="T21"/>
                              </a:cxn>
                              <a:cxn ang="T81">
                                <a:pos x="T22" y="T23"/>
                              </a:cxn>
                              <a:cxn ang="T82">
                                <a:pos x="T24" y="T25"/>
                              </a:cxn>
                              <a:cxn ang="T83">
                                <a:pos x="T26" y="T27"/>
                              </a:cxn>
                              <a:cxn ang="T84">
                                <a:pos x="T28" y="T29"/>
                              </a:cxn>
                              <a:cxn ang="T85">
                                <a:pos x="T30" y="T31"/>
                              </a:cxn>
                              <a:cxn ang="T86">
                                <a:pos x="T32" y="T33"/>
                              </a:cxn>
                              <a:cxn ang="T87">
                                <a:pos x="T34" y="T35"/>
                              </a:cxn>
                              <a:cxn ang="T88">
                                <a:pos x="T36" y="T37"/>
                              </a:cxn>
                              <a:cxn ang="T89">
                                <a:pos x="T38" y="T39"/>
                              </a:cxn>
                              <a:cxn ang="T90">
                                <a:pos x="T40" y="T41"/>
                              </a:cxn>
                              <a:cxn ang="T91">
                                <a:pos x="T42" y="T43"/>
                              </a:cxn>
                              <a:cxn ang="T92">
                                <a:pos x="T44" y="T45"/>
                              </a:cxn>
                              <a:cxn ang="T93">
                                <a:pos x="T46" y="T47"/>
                              </a:cxn>
                              <a:cxn ang="T94">
                                <a:pos x="T48" y="T49"/>
                              </a:cxn>
                              <a:cxn ang="T95">
                                <a:pos x="T50" y="T51"/>
                              </a:cxn>
                              <a:cxn ang="T96">
                                <a:pos x="T52" y="T53"/>
                              </a:cxn>
                              <a:cxn ang="T97">
                                <a:pos x="T54" y="T55"/>
                              </a:cxn>
                              <a:cxn ang="T98">
                                <a:pos x="T56" y="T57"/>
                              </a:cxn>
                              <a:cxn ang="T99">
                                <a:pos x="T58" y="T59"/>
                              </a:cxn>
                              <a:cxn ang="T100">
                                <a:pos x="T60" y="T61"/>
                              </a:cxn>
                              <a:cxn ang="T101">
                                <a:pos x="T62" y="T63"/>
                              </a:cxn>
                              <a:cxn ang="T102">
                                <a:pos x="T64" y="T65"/>
                              </a:cxn>
                              <a:cxn ang="T103">
                                <a:pos x="T66" y="T67"/>
                              </a:cxn>
                              <a:cxn ang="T104">
                                <a:pos x="T68" y="T69"/>
                              </a:cxn>
                            </a:cxnLst>
                            <a:rect l="T105" t="T106" r="T107" b="T108"/>
                            <a:pathLst>
                              <a:path w="116" h="123">
                                <a:moveTo>
                                  <a:pt x="0" y="0"/>
                                </a:moveTo>
                                <a:lnTo>
                                  <a:pt x="11" y="0"/>
                                </a:lnTo>
                                <a:lnTo>
                                  <a:pt x="16" y="9"/>
                                </a:lnTo>
                                <a:lnTo>
                                  <a:pt x="31" y="22"/>
                                </a:lnTo>
                                <a:lnTo>
                                  <a:pt x="37" y="36"/>
                                </a:lnTo>
                                <a:lnTo>
                                  <a:pt x="48" y="38"/>
                                </a:lnTo>
                                <a:lnTo>
                                  <a:pt x="57" y="40"/>
                                </a:lnTo>
                                <a:lnTo>
                                  <a:pt x="64" y="46"/>
                                </a:lnTo>
                                <a:lnTo>
                                  <a:pt x="72" y="46"/>
                                </a:lnTo>
                                <a:lnTo>
                                  <a:pt x="81" y="55"/>
                                </a:lnTo>
                                <a:lnTo>
                                  <a:pt x="90" y="62"/>
                                </a:lnTo>
                                <a:lnTo>
                                  <a:pt x="99" y="67"/>
                                </a:lnTo>
                                <a:lnTo>
                                  <a:pt x="98" y="71"/>
                                </a:lnTo>
                                <a:lnTo>
                                  <a:pt x="92" y="74"/>
                                </a:lnTo>
                                <a:lnTo>
                                  <a:pt x="87" y="74"/>
                                </a:lnTo>
                                <a:lnTo>
                                  <a:pt x="84" y="78"/>
                                </a:lnTo>
                                <a:lnTo>
                                  <a:pt x="95" y="87"/>
                                </a:lnTo>
                                <a:lnTo>
                                  <a:pt x="103" y="96"/>
                                </a:lnTo>
                                <a:lnTo>
                                  <a:pt x="116" y="104"/>
                                </a:lnTo>
                                <a:lnTo>
                                  <a:pt x="107" y="115"/>
                                </a:lnTo>
                                <a:lnTo>
                                  <a:pt x="101" y="117"/>
                                </a:lnTo>
                                <a:lnTo>
                                  <a:pt x="102" y="123"/>
                                </a:lnTo>
                                <a:lnTo>
                                  <a:pt x="90" y="123"/>
                                </a:lnTo>
                                <a:lnTo>
                                  <a:pt x="85" y="119"/>
                                </a:lnTo>
                                <a:lnTo>
                                  <a:pt x="76" y="107"/>
                                </a:lnTo>
                                <a:lnTo>
                                  <a:pt x="69" y="97"/>
                                </a:lnTo>
                                <a:lnTo>
                                  <a:pt x="58" y="80"/>
                                </a:lnTo>
                                <a:lnTo>
                                  <a:pt x="46" y="67"/>
                                </a:lnTo>
                                <a:lnTo>
                                  <a:pt x="32" y="48"/>
                                </a:lnTo>
                                <a:lnTo>
                                  <a:pt x="24" y="42"/>
                                </a:lnTo>
                                <a:lnTo>
                                  <a:pt x="17" y="38"/>
                                </a:lnTo>
                                <a:lnTo>
                                  <a:pt x="14" y="27"/>
                                </a:lnTo>
                                <a:lnTo>
                                  <a:pt x="2" y="19"/>
                                </a:lnTo>
                                <a:lnTo>
                                  <a:pt x="2" y="13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  <p:grpSp>
                      <p:nvGrpSpPr>
                        <p:cNvPr id="58575" name="Group 15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748" y="2104"/>
                          <a:ext cx="843" cy="1024"/>
                          <a:chOff x="2748" y="2104"/>
                          <a:chExt cx="843" cy="1024"/>
                        </a:xfrm>
                      </p:grpSpPr>
                      <p:sp>
                        <p:nvSpPr>
                          <p:cNvPr id="58576" name="Freeform 15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748" y="2358"/>
                            <a:ext cx="419" cy="469"/>
                          </a:xfrm>
                          <a:custGeom>
                            <a:avLst/>
                            <a:gdLst>
                              <a:gd name="T0" fmla="*/ 20 w 838"/>
                              <a:gd name="T1" fmla="*/ 5 h 938"/>
                              <a:gd name="T2" fmla="*/ 23 w 838"/>
                              <a:gd name="T3" fmla="*/ 10 h 938"/>
                              <a:gd name="T4" fmla="*/ 24 w 838"/>
                              <a:gd name="T5" fmla="*/ 11 h 938"/>
                              <a:gd name="T6" fmla="*/ 26 w 838"/>
                              <a:gd name="T7" fmla="*/ 11 h 938"/>
                              <a:gd name="T8" fmla="*/ 27 w 838"/>
                              <a:gd name="T9" fmla="*/ 12 h 938"/>
                              <a:gd name="T10" fmla="*/ 24 w 838"/>
                              <a:gd name="T11" fmla="*/ 15 h 938"/>
                              <a:gd name="T12" fmla="*/ 22 w 838"/>
                              <a:gd name="T13" fmla="*/ 19 h 938"/>
                              <a:gd name="T14" fmla="*/ 22 w 838"/>
                              <a:gd name="T15" fmla="*/ 21 h 938"/>
                              <a:gd name="T16" fmla="*/ 22 w 838"/>
                              <a:gd name="T17" fmla="*/ 22 h 938"/>
                              <a:gd name="T18" fmla="*/ 21 w 838"/>
                              <a:gd name="T19" fmla="*/ 22 h 938"/>
                              <a:gd name="T20" fmla="*/ 20 w 838"/>
                              <a:gd name="T21" fmla="*/ 24 h 938"/>
                              <a:gd name="T22" fmla="*/ 19 w 838"/>
                              <a:gd name="T23" fmla="*/ 26 h 938"/>
                              <a:gd name="T24" fmla="*/ 18 w 838"/>
                              <a:gd name="T25" fmla="*/ 28 h 938"/>
                              <a:gd name="T26" fmla="*/ 17 w 838"/>
                              <a:gd name="T27" fmla="*/ 29 h 938"/>
                              <a:gd name="T28" fmla="*/ 16 w 838"/>
                              <a:gd name="T29" fmla="*/ 30 h 938"/>
                              <a:gd name="T30" fmla="*/ 14 w 838"/>
                              <a:gd name="T31" fmla="*/ 29 h 938"/>
                              <a:gd name="T32" fmla="*/ 14 w 838"/>
                              <a:gd name="T33" fmla="*/ 28 h 938"/>
                              <a:gd name="T34" fmla="*/ 13 w 838"/>
                              <a:gd name="T35" fmla="*/ 27 h 938"/>
                              <a:gd name="T36" fmla="*/ 13 w 838"/>
                              <a:gd name="T37" fmla="*/ 26 h 938"/>
                              <a:gd name="T38" fmla="*/ 12 w 838"/>
                              <a:gd name="T39" fmla="*/ 25 h 938"/>
                              <a:gd name="T40" fmla="*/ 12 w 838"/>
                              <a:gd name="T41" fmla="*/ 24 h 938"/>
                              <a:gd name="T42" fmla="*/ 11 w 838"/>
                              <a:gd name="T43" fmla="*/ 23 h 938"/>
                              <a:gd name="T44" fmla="*/ 12 w 838"/>
                              <a:gd name="T45" fmla="*/ 21 h 938"/>
                              <a:gd name="T46" fmla="*/ 11 w 838"/>
                              <a:gd name="T47" fmla="*/ 18 h 938"/>
                              <a:gd name="T48" fmla="*/ 10 w 838"/>
                              <a:gd name="T49" fmla="*/ 16 h 938"/>
                              <a:gd name="T50" fmla="*/ 10 w 838"/>
                              <a:gd name="T51" fmla="*/ 14 h 938"/>
                              <a:gd name="T52" fmla="*/ 8 w 838"/>
                              <a:gd name="T53" fmla="*/ 13 h 938"/>
                              <a:gd name="T54" fmla="*/ 6 w 838"/>
                              <a:gd name="T55" fmla="*/ 14 h 938"/>
                              <a:gd name="T56" fmla="*/ 2 w 838"/>
                              <a:gd name="T57" fmla="*/ 12 h 938"/>
                              <a:gd name="T58" fmla="*/ 1 w 838"/>
                              <a:gd name="T59" fmla="*/ 9 h 938"/>
                              <a:gd name="T60" fmla="*/ 2 w 838"/>
                              <a:gd name="T61" fmla="*/ 7 h 938"/>
                              <a:gd name="T62" fmla="*/ 3 w 838"/>
                              <a:gd name="T63" fmla="*/ 5 h 938"/>
                              <a:gd name="T64" fmla="*/ 5 w 838"/>
                              <a:gd name="T65" fmla="*/ 3 h 938"/>
                              <a:gd name="T66" fmla="*/ 7 w 838"/>
                              <a:gd name="T67" fmla="*/ 1 h 938"/>
                              <a:gd name="T68" fmla="*/ 8 w 838"/>
                              <a:gd name="T69" fmla="*/ 2 h 938"/>
                              <a:gd name="T70" fmla="*/ 10 w 838"/>
                              <a:gd name="T71" fmla="*/ 1 h 938"/>
                              <a:gd name="T72" fmla="*/ 11 w 838"/>
                              <a:gd name="T73" fmla="*/ 1 h 938"/>
                              <a:gd name="T74" fmla="*/ 12 w 838"/>
                              <a:gd name="T75" fmla="*/ 1 h 938"/>
                              <a:gd name="T76" fmla="*/ 14 w 838"/>
                              <a:gd name="T77" fmla="*/ 3 h 938"/>
                              <a:gd name="T78" fmla="*/ 15 w 838"/>
                              <a:gd name="T79" fmla="*/ 2 h 938"/>
                              <a:gd name="T80" fmla="*/ 17 w 838"/>
                              <a:gd name="T81" fmla="*/ 3 h 938"/>
                              <a:gd name="T82" fmla="*/ 19 w 838"/>
                              <a:gd name="T83" fmla="*/ 3 h 938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w 838"/>
                              <a:gd name="T127" fmla="*/ 0 h 938"/>
                              <a:gd name="T128" fmla="*/ 838 w 838"/>
                              <a:gd name="T129" fmla="*/ 938 h 938"/>
                            </a:gdLst>
                            <a:ahLst/>
                            <a:cxnLst>
                              <a:cxn ang="T84">
                                <a:pos x="T0" y="T1"/>
                              </a:cxn>
                              <a:cxn ang="T85">
                                <a:pos x="T2" y="T3"/>
                              </a:cxn>
                              <a:cxn ang="T86">
                                <a:pos x="T4" y="T5"/>
                              </a:cxn>
                              <a:cxn ang="T87">
                                <a:pos x="T6" y="T7"/>
                              </a:cxn>
                              <a:cxn ang="T88">
                                <a:pos x="T8" y="T9"/>
                              </a:cxn>
                              <a:cxn ang="T89">
                                <a:pos x="T10" y="T11"/>
                              </a:cxn>
                              <a:cxn ang="T90">
                                <a:pos x="T12" y="T13"/>
                              </a:cxn>
                              <a:cxn ang="T91">
                                <a:pos x="T14" y="T15"/>
                              </a:cxn>
                              <a:cxn ang="T92">
                                <a:pos x="T16" y="T17"/>
                              </a:cxn>
                              <a:cxn ang="T93">
                                <a:pos x="T18" y="T19"/>
                              </a:cxn>
                              <a:cxn ang="T94">
                                <a:pos x="T20" y="T21"/>
                              </a:cxn>
                              <a:cxn ang="T95">
                                <a:pos x="T22" y="T23"/>
                              </a:cxn>
                              <a:cxn ang="T96">
                                <a:pos x="T24" y="T25"/>
                              </a:cxn>
                              <a:cxn ang="T97">
                                <a:pos x="T26" y="T27"/>
                              </a:cxn>
                              <a:cxn ang="T98">
                                <a:pos x="T28" y="T29"/>
                              </a:cxn>
                              <a:cxn ang="T99">
                                <a:pos x="T30" y="T31"/>
                              </a:cxn>
                              <a:cxn ang="T100">
                                <a:pos x="T32" y="T33"/>
                              </a:cxn>
                              <a:cxn ang="T101">
                                <a:pos x="T34" y="T35"/>
                              </a:cxn>
                              <a:cxn ang="T102">
                                <a:pos x="T36" y="T37"/>
                              </a:cxn>
                              <a:cxn ang="T103">
                                <a:pos x="T38" y="T39"/>
                              </a:cxn>
                              <a:cxn ang="T104">
                                <a:pos x="T40" y="T41"/>
                              </a:cxn>
                              <a:cxn ang="T105">
                                <a:pos x="T42" y="T43"/>
                              </a:cxn>
                              <a:cxn ang="T106">
                                <a:pos x="T44" y="T45"/>
                              </a:cxn>
                              <a:cxn ang="T107">
                                <a:pos x="T46" y="T47"/>
                              </a:cxn>
                              <a:cxn ang="T108">
                                <a:pos x="T48" y="T49"/>
                              </a:cxn>
                              <a:cxn ang="T109">
                                <a:pos x="T50" y="T51"/>
                              </a:cxn>
                              <a:cxn ang="T110">
                                <a:pos x="T52" y="T53"/>
                              </a:cxn>
                              <a:cxn ang="T111">
                                <a:pos x="T54" y="T55"/>
                              </a:cxn>
                              <a:cxn ang="T112">
                                <a:pos x="T56" y="T57"/>
                              </a:cxn>
                              <a:cxn ang="T113">
                                <a:pos x="T58" y="T59"/>
                              </a:cxn>
                              <a:cxn ang="T114">
                                <a:pos x="T60" y="T61"/>
                              </a:cxn>
                              <a:cxn ang="T115">
                                <a:pos x="T62" y="T63"/>
                              </a:cxn>
                              <a:cxn ang="T116">
                                <a:pos x="T64" y="T65"/>
                              </a:cxn>
                              <a:cxn ang="T117">
                                <a:pos x="T66" y="T67"/>
                              </a:cxn>
                              <a:cxn ang="T118">
                                <a:pos x="T68" y="T69"/>
                              </a:cxn>
                              <a:cxn ang="T119">
                                <a:pos x="T70" y="T71"/>
                              </a:cxn>
                              <a:cxn ang="T120">
                                <a:pos x="T72" y="T73"/>
                              </a:cxn>
                              <a:cxn ang="T121">
                                <a:pos x="T74" y="T75"/>
                              </a:cxn>
                              <a:cxn ang="T122">
                                <a:pos x="T76" y="T77"/>
                              </a:cxn>
                              <a:cxn ang="T123">
                                <a:pos x="T78" y="T79"/>
                              </a:cxn>
                              <a:cxn ang="T124">
                                <a:pos x="T80" y="T81"/>
                              </a:cxn>
                              <a:cxn ang="T125">
                                <a:pos x="T82" y="T83"/>
                              </a:cxn>
                            </a:cxnLst>
                            <a:rect l="T126" t="T127" r="T128" b="T129"/>
                            <a:pathLst>
                              <a:path w="838" h="938">
                                <a:moveTo>
                                  <a:pt x="626" y="112"/>
                                </a:moveTo>
                                <a:lnTo>
                                  <a:pt x="640" y="151"/>
                                </a:lnTo>
                                <a:lnTo>
                                  <a:pt x="666" y="210"/>
                                </a:lnTo>
                                <a:lnTo>
                                  <a:pt x="718" y="306"/>
                                </a:lnTo>
                                <a:lnTo>
                                  <a:pt x="737" y="319"/>
                                </a:lnTo>
                                <a:lnTo>
                                  <a:pt x="750" y="347"/>
                                </a:lnTo>
                                <a:lnTo>
                                  <a:pt x="791" y="346"/>
                                </a:lnTo>
                                <a:lnTo>
                                  <a:pt x="818" y="337"/>
                                </a:lnTo>
                                <a:lnTo>
                                  <a:pt x="838" y="337"/>
                                </a:lnTo>
                                <a:lnTo>
                                  <a:pt x="836" y="375"/>
                                </a:lnTo>
                                <a:lnTo>
                                  <a:pt x="829" y="395"/>
                                </a:lnTo>
                                <a:lnTo>
                                  <a:pt x="754" y="479"/>
                                </a:lnTo>
                                <a:lnTo>
                                  <a:pt x="685" y="566"/>
                                </a:lnTo>
                                <a:lnTo>
                                  <a:pt x="687" y="600"/>
                                </a:lnTo>
                                <a:lnTo>
                                  <a:pt x="706" y="624"/>
                                </a:lnTo>
                                <a:lnTo>
                                  <a:pt x="696" y="643"/>
                                </a:lnTo>
                                <a:lnTo>
                                  <a:pt x="702" y="669"/>
                                </a:lnTo>
                                <a:lnTo>
                                  <a:pt x="696" y="688"/>
                                </a:lnTo>
                                <a:lnTo>
                                  <a:pt x="680" y="704"/>
                                </a:lnTo>
                                <a:lnTo>
                                  <a:pt x="666" y="704"/>
                                </a:lnTo>
                                <a:lnTo>
                                  <a:pt x="643" y="732"/>
                                </a:lnTo>
                                <a:lnTo>
                                  <a:pt x="622" y="764"/>
                                </a:lnTo>
                                <a:lnTo>
                                  <a:pt x="626" y="799"/>
                                </a:lnTo>
                                <a:lnTo>
                                  <a:pt x="606" y="815"/>
                                </a:lnTo>
                                <a:lnTo>
                                  <a:pt x="587" y="851"/>
                                </a:lnTo>
                                <a:lnTo>
                                  <a:pt x="563" y="884"/>
                                </a:lnTo>
                                <a:lnTo>
                                  <a:pt x="551" y="897"/>
                                </a:lnTo>
                                <a:lnTo>
                                  <a:pt x="540" y="900"/>
                                </a:lnTo>
                                <a:lnTo>
                                  <a:pt x="521" y="922"/>
                                </a:lnTo>
                                <a:lnTo>
                                  <a:pt x="489" y="935"/>
                                </a:lnTo>
                                <a:lnTo>
                                  <a:pt x="449" y="938"/>
                                </a:lnTo>
                                <a:lnTo>
                                  <a:pt x="427" y="923"/>
                                </a:lnTo>
                                <a:lnTo>
                                  <a:pt x="425" y="909"/>
                                </a:lnTo>
                                <a:lnTo>
                                  <a:pt x="421" y="890"/>
                                </a:lnTo>
                                <a:lnTo>
                                  <a:pt x="406" y="880"/>
                                </a:lnTo>
                                <a:lnTo>
                                  <a:pt x="393" y="844"/>
                                </a:lnTo>
                                <a:lnTo>
                                  <a:pt x="389" y="826"/>
                                </a:lnTo>
                                <a:lnTo>
                                  <a:pt x="388" y="804"/>
                                </a:lnTo>
                                <a:lnTo>
                                  <a:pt x="381" y="788"/>
                                </a:lnTo>
                                <a:lnTo>
                                  <a:pt x="379" y="778"/>
                                </a:lnTo>
                                <a:lnTo>
                                  <a:pt x="367" y="762"/>
                                </a:lnTo>
                                <a:lnTo>
                                  <a:pt x="353" y="749"/>
                                </a:lnTo>
                                <a:lnTo>
                                  <a:pt x="344" y="727"/>
                                </a:lnTo>
                                <a:lnTo>
                                  <a:pt x="337" y="711"/>
                                </a:lnTo>
                                <a:lnTo>
                                  <a:pt x="340" y="685"/>
                                </a:lnTo>
                                <a:lnTo>
                                  <a:pt x="360" y="646"/>
                                </a:lnTo>
                                <a:lnTo>
                                  <a:pt x="364" y="604"/>
                                </a:lnTo>
                                <a:lnTo>
                                  <a:pt x="349" y="556"/>
                                </a:lnTo>
                                <a:lnTo>
                                  <a:pt x="327" y="537"/>
                                </a:lnTo>
                                <a:lnTo>
                                  <a:pt x="312" y="511"/>
                                </a:lnTo>
                                <a:lnTo>
                                  <a:pt x="318" y="470"/>
                                </a:lnTo>
                                <a:lnTo>
                                  <a:pt x="307" y="440"/>
                                </a:lnTo>
                                <a:lnTo>
                                  <a:pt x="281" y="437"/>
                                </a:lnTo>
                                <a:lnTo>
                                  <a:pt x="253" y="414"/>
                                </a:lnTo>
                                <a:lnTo>
                                  <a:pt x="219" y="401"/>
                                </a:lnTo>
                                <a:lnTo>
                                  <a:pt x="183" y="421"/>
                                </a:lnTo>
                                <a:lnTo>
                                  <a:pt x="90" y="415"/>
                                </a:lnTo>
                                <a:lnTo>
                                  <a:pt x="39" y="364"/>
                                </a:lnTo>
                                <a:lnTo>
                                  <a:pt x="0" y="295"/>
                                </a:lnTo>
                                <a:lnTo>
                                  <a:pt x="7" y="271"/>
                                </a:lnTo>
                                <a:lnTo>
                                  <a:pt x="24" y="254"/>
                                </a:lnTo>
                                <a:lnTo>
                                  <a:pt x="33" y="206"/>
                                </a:lnTo>
                                <a:lnTo>
                                  <a:pt x="45" y="171"/>
                                </a:lnTo>
                                <a:lnTo>
                                  <a:pt x="81" y="135"/>
                                </a:lnTo>
                                <a:lnTo>
                                  <a:pt x="118" y="119"/>
                                </a:lnTo>
                                <a:lnTo>
                                  <a:pt x="152" y="81"/>
                                </a:lnTo>
                                <a:lnTo>
                                  <a:pt x="160" y="65"/>
                                </a:lnTo>
                                <a:lnTo>
                                  <a:pt x="205" y="25"/>
                                </a:lnTo>
                                <a:lnTo>
                                  <a:pt x="234" y="41"/>
                                </a:lnTo>
                                <a:lnTo>
                                  <a:pt x="255" y="39"/>
                                </a:lnTo>
                                <a:lnTo>
                                  <a:pt x="279" y="17"/>
                                </a:lnTo>
                                <a:lnTo>
                                  <a:pt x="308" y="14"/>
                                </a:lnTo>
                                <a:lnTo>
                                  <a:pt x="327" y="20"/>
                                </a:lnTo>
                                <a:lnTo>
                                  <a:pt x="345" y="3"/>
                                </a:lnTo>
                                <a:lnTo>
                                  <a:pt x="369" y="0"/>
                                </a:lnTo>
                                <a:lnTo>
                                  <a:pt x="374" y="32"/>
                                </a:lnTo>
                                <a:lnTo>
                                  <a:pt x="389" y="55"/>
                                </a:lnTo>
                                <a:lnTo>
                                  <a:pt x="432" y="78"/>
                                </a:lnTo>
                                <a:lnTo>
                                  <a:pt x="467" y="83"/>
                                </a:lnTo>
                                <a:lnTo>
                                  <a:pt x="471" y="57"/>
                                </a:lnTo>
                                <a:lnTo>
                                  <a:pt x="499" y="57"/>
                                </a:lnTo>
                                <a:lnTo>
                                  <a:pt x="532" y="73"/>
                                </a:lnTo>
                                <a:lnTo>
                                  <a:pt x="567" y="81"/>
                                </a:lnTo>
                                <a:lnTo>
                                  <a:pt x="599" y="71"/>
                                </a:lnTo>
                                <a:lnTo>
                                  <a:pt x="626" y="112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grpSp>
                        <p:nvGrpSpPr>
                          <p:cNvPr id="58577" name="Group 157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776" y="2104"/>
                            <a:ext cx="185" cy="161"/>
                            <a:chOff x="2776" y="2104"/>
                            <a:chExt cx="185" cy="161"/>
                          </a:xfrm>
                        </p:grpSpPr>
                        <p:grpSp>
                          <p:nvGrpSpPr>
                            <p:cNvPr id="58581" name="Group 158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2850" y="2205"/>
                              <a:ext cx="57" cy="60"/>
                              <a:chOff x="2850" y="2205"/>
                              <a:chExt cx="57" cy="60"/>
                            </a:xfrm>
                          </p:grpSpPr>
                          <p:sp>
                            <p:nvSpPr>
                              <p:cNvPr id="58583" name="Freeform 159"/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2850" y="2227"/>
                                <a:ext cx="27" cy="34"/>
                              </a:xfrm>
                              <a:custGeom>
                                <a:avLst/>
                                <a:gdLst>
                                  <a:gd name="T0" fmla="*/ 1 w 53"/>
                                  <a:gd name="T1" fmla="*/ 1 h 66"/>
                                  <a:gd name="T2" fmla="*/ 1 w 53"/>
                                  <a:gd name="T3" fmla="*/ 1 h 66"/>
                                  <a:gd name="T4" fmla="*/ 1 w 53"/>
                                  <a:gd name="T5" fmla="*/ 1 h 66"/>
                                  <a:gd name="T6" fmla="*/ 2 w 53"/>
                                  <a:gd name="T7" fmla="*/ 0 h 66"/>
                                  <a:gd name="T8" fmla="*/ 2 w 53"/>
                                  <a:gd name="T9" fmla="*/ 1 h 66"/>
                                  <a:gd name="T10" fmla="*/ 2 w 53"/>
                                  <a:gd name="T11" fmla="*/ 1 h 66"/>
                                  <a:gd name="T12" fmla="*/ 2 w 53"/>
                                  <a:gd name="T13" fmla="*/ 1 h 66"/>
                                  <a:gd name="T14" fmla="*/ 2 w 53"/>
                                  <a:gd name="T15" fmla="*/ 1 h 66"/>
                                  <a:gd name="T16" fmla="*/ 2 w 53"/>
                                  <a:gd name="T17" fmla="*/ 1 h 66"/>
                                  <a:gd name="T18" fmla="*/ 2 w 53"/>
                                  <a:gd name="T19" fmla="*/ 1 h 66"/>
                                  <a:gd name="T20" fmla="*/ 2 w 53"/>
                                  <a:gd name="T21" fmla="*/ 1 h 66"/>
                                  <a:gd name="T22" fmla="*/ 2 w 53"/>
                                  <a:gd name="T23" fmla="*/ 2 h 66"/>
                                  <a:gd name="T24" fmla="*/ 2 w 53"/>
                                  <a:gd name="T25" fmla="*/ 2 h 66"/>
                                  <a:gd name="T26" fmla="*/ 2 w 53"/>
                                  <a:gd name="T27" fmla="*/ 2 h 66"/>
                                  <a:gd name="T28" fmla="*/ 2 w 53"/>
                                  <a:gd name="T29" fmla="*/ 2 h 66"/>
                                  <a:gd name="T30" fmla="*/ 1 w 53"/>
                                  <a:gd name="T31" fmla="*/ 2 h 66"/>
                                  <a:gd name="T32" fmla="*/ 1 w 53"/>
                                  <a:gd name="T33" fmla="*/ 2 h 66"/>
                                  <a:gd name="T34" fmla="*/ 1 w 53"/>
                                  <a:gd name="T35" fmla="*/ 2 h 66"/>
                                  <a:gd name="T36" fmla="*/ 1 w 53"/>
                                  <a:gd name="T37" fmla="*/ 2 h 66"/>
                                  <a:gd name="T38" fmla="*/ 1 w 53"/>
                                  <a:gd name="T39" fmla="*/ 2 h 66"/>
                                  <a:gd name="T40" fmla="*/ 1 w 53"/>
                                  <a:gd name="T41" fmla="*/ 2 h 66"/>
                                  <a:gd name="T42" fmla="*/ 1 w 53"/>
                                  <a:gd name="T43" fmla="*/ 2 h 66"/>
                                  <a:gd name="T44" fmla="*/ 1 w 53"/>
                                  <a:gd name="T45" fmla="*/ 3 h 66"/>
                                  <a:gd name="T46" fmla="*/ 1 w 53"/>
                                  <a:gd name="T47" fmla="*/ 3 h 66"/>
                                  <a:gd name="T48" fmla="*/ 1 w 53"/>
                                  <a:gd name="T49" fmla="*/ 2 h 66"/>
                                  <a:gd name="T50" fmla="*/ 1 w 53"/>
                                  <a:gd name="T51" fmla="*/ 2 h 66"/>
                                  <a:gd name="T52" fmla="*/ 0 w 53"/>
                                  <a:gd name="T53" fmla="*/ 2 h 66"/>
                                  <a:gd name="T54" fmla="*/ 0 w 53"/>
                                  <a:gd name="T55" fmla="*/ 2 h 66"/>
                                  <a:gd name="T56" fmla="*/ 1 w 53"/>
                                  <a:gd name="T57" fmla="*/ 2 h 66"/>
                                  <a:gd name="T58" fmla="*/ 1 w 53"/>
                                  <a:gd name="T59" fmla="*/ 2 h 66"/>
                                  <a:gd name="T60" fmla="*/ 1 w 53"/>
                                  <a:gd name="T61" fmla="*/ 2 h 66"/>
                                  <a:gd name="T62" fmla="*/ 1 w 53"/>
                                  <a:gd name="T63" fmla="*/ 2 h 66"/>
                                  <a:gd name="T64" fmla="*/ 1 w 53"/>
                                  <a:gd name="T65" fmla="*/ 2 h 66"/>
                                  <a:gd name="T66" fmla="*/ 1 w 53"/>
                                  <a:gd name="T67" fmla="*/ 2 h 66"/>
                                  <a:gd name="T68" fmla="*/ 1 w 53"/>
                                  <a:gd name="T69" fmla="*/ 2 h 66"/>
                                  <a:gd name="T70" fmla="*/ 1 w 53"/>
                                  <a:gd name="T71" fmla="*/ 1 h 66"/>
                                  <a:gd name="T72" fmla="*/ 0 60000 65536"/>
                                  <a:gd name="T73" fmla="*/ 0 60000 65536"/>
                                  <a:gd name="T74" fmla="*/ 0 60000 65536"/>
                                  <a:gd name="T75" fmla="*/ 0 60000 65536"/>
                                  <a:gd name="T76" fmla="*/ 0 60000 65536"/>
                                  <a:gd name="T77" fmla="*/ 0 60000 65536"/>
                                  <a:gd name="T78" fmla="*/ 0 60000 65536"/>
                                  <a:gd name="T79" fmla="*/ 0 60000 65536"/>
                                  <a:gd name="T80" fmla="*/ 0 60000 65536"/>
                                  <a:gd name="T81" fmla="*/ 0 60000 65536"/>
                                  <a:gd name="T82" fmla="*/ 0 60000 65536"/>
                                  <a:gd name="T83" fmla="*/ 0 60000 65536"/>
                                  <a:gd name="T84" fmla="*/ 0 60000 65536"/>
                                  <a:gd name="T85" fmla="*/ 0 60000 65536"/>
                                  <a:gd name="T86" fmla="*/ 0 60000 65536"/>
                                  <a:gd name="T87" fmla="*/ 0 60000 65536"/>
                                  <a:gd name="T88" fmla="*/ 0 60000 65536"/>
                                  <a:gd name="T89" fmla="*/ 0 60000 65536"/>
                                  <a:gd name="T90" fmla="*/ 0 60000 65536"/>
                                  <a:gd name="T91" fmla="*/ 0 60000 65536"/>
                                  <a:gd name="T92" fmla="*/ 0 60000 65536"/>
                                  <a:gd name="T93" fmla="*/ 0 60000 65536"/>
                                  <a:gd name="T94" fmla="*/ 0 60000 65536"/>
                                  <a:gd name="T95" fmla="*/ 0 60000 65536"/>
                                  <a:gd name="T96" fmla="*/ 0 60000 65536"/>
                                  <a:gd name="T97" fmla="*/ 0 60000 65536"/>
                                  <a:gd name="T98" fmla="*/ 0 60000 65536"/>
                                  <a:gd name="T99" fmla="*/ 0 60000 65536"/>
                                  <a:gd name="T100" fmla="*/ 0 60000 65536"/>
                                  <a:gd name="T101" fmla="*/ 0 60000 65536"/>
                                  <a:gd name="T102" fmla="*/ 0 60000 65536"/>
                                  <a:gd name="T103" fmla="*/ 0 60000 65536"/>
                                  <a:gd name="T104" fmla="*/ 0 60000 65536"/>
                                  <a:gd name="T105" fmla="*/ 0 60000 65536"/>
                                  <a:gd name="T106" fmla="*/ 0 60000 65536"/>
                                  <a:gd name="T107" fmla="*/ 0 60000 65536"/>
                                  <a:gd name="T108" fmla="*/ 0 w 53"/>
                                  <a:gd name="T109" fmla="*/ 0 h 66"/>
                                  <a:gd name="T110" fmla="*/ 53 w 53"/>
                                  <a:gd name="T111" fmla="*/ 66 h 66"/>
                                </a:gdLst>
                                <a:ahLst/>
                                <a:cxnLst>
                                  <a:cxn ang="T72">
                                    <a:pos x="T0" y="T1"/>
                                  </a:cxn>
                                  <a:cxn ang="T73">
                                    <a:pos x="T2" y="T3"/>
                                  </a:cxn>
                                  <a:cxn ang="T74">
                                    <a:pos x="T4" y="T5"/>
                                  </a:cxn>
                                  <a:cxn ang="T75">
                                    <a:pos x="T6" y="T7"/>
                                  </a:cxn>
                                  <a:cxn ang="T76">
                                    <a:pos x="T8" y="T9"/>
                                  </a:cxn>
                                  <a:cxn ang="T77">
                                    <a:pos x="T10" y="T11"/>
                                  </a:cxn>
                                  <a:cxn ang="T78">
                                    <a:pos x="T12" y="T13"/>
                                  </a:cxn>
                                  <a:cxn ang="T79">
                                    <a:pos x="T14" y="T15"/>
                                  </a:cxn>
                                  <a:cxn ang="T80">
                                    <a:pos x="T16" y="T17"/>
                                  </a:cxn>
                                  <a:cxn ang="T81">
                                    <a:pos x="T18" y="T19"/>
                                  </a:cxn>
                                  <a:cxn ang="T82">
                                    <a:pos x="T20" y="T21"/>
                                  </a:cxn>
                                  <a:cxn ang="T83">
                                    <a:pos x="T22" y="T23"/>
                                  </a:cxn>
                                  <a:cxn ang="T84">
                                    <a:pos x="T24" y="T25"/>
                                  </a:cxn>
                                  <a:cxn ang="T85">
                                    <a:pos x="T26" y="T27"/>
                                  </a:cxn>
                                  <a:cxn ang="T86">
                                    <a:pos x="T28" y="T29"/>
                                  </a:cxn>
                                  <a:cxn ang="T87">
                                    <a:pos x="T30" y="T31"/>
                                  </a:cxn>
                                  <a:cxn ang="T88">
                                    <a:pos x="T32" y="T33"/>
                                  </a:cxn>
                                  <a:cxn ang="T89">
                                    <a:pos x="T34" y="T35"/>
                                  </a:cxn>
                                  <a:cxn ang="T90">
                                    <a:pos x="T36" y="T37"/>
                                  </a:cxn>
                                  <a:cxn ang="T91">
                                    <a:pos x="T38" y="T39"/>
                                  </a:cxn>
                                  <a:cxn ang="T92">
                                    <a:pos x="T40" y="T41"/>
                                  </a:cxn>
                                  <a:cxn ang="T93">
                                    <a:pos x="T42" y="T43"/>
                                  </a:cxn>
                                  <a:cxn ang="T94">
                                    <a:pos x="T44" y="T45"/>
                                  </a:cxn>
                                  <a:cxn ang="T95">
                                    <a:pos x="T46" y="T47"/>
                                  </a:cxn>
                                  <a:cxn ang="T96">
                                    <a:pos x="T48" y="T49"/>
                                  </a:cxn>
                                  <a:cxn ang="T97">
                                    <a:pos x="T50" y="T51"/>
                                  </a:cxn>
                                  <a:cxn ang="T98">
                                    <a:pos x="T52" y="T53"/>
                                  </a:cxn>
                                  <a:cxn ang="T99">
                                    <a:pos x="T54" y="T55"/>
                                  </a:cxn>
                                  <a:cxn ang="T100">
                                    <a:pos x="T56" y="T57"/>
                                  </a:cxn>
                                  <a:cxn ang="T101">
                                    <a:pos x="T58" y="T59"/>
                                  </a:cxn>
                                  <a:cxn ang="T102">
                                    <a:pos x="T60" y="T61"/>
                                  </a:cxn>
                                  <a:cxn ang="T103">
                                    <a:pos x="T62" y="T63"/>
                                  </a:cxn>
                                  <a:cxn ang="T104">
                                    <a:pos x="T64" y="T65"/>
                                  </a:cxn>
                                  <a:cxn ang="T105">
                                    <a:pos x="T66" y="T67"/>
                                  </a:cxn>
                                  <a:cxn ang="T106">
                                    <a:pos x="T68" y="T69"/>
                                  </a:cxn>
                                  <a:cxn ang="T107">
                                    <a:pos x="T70" y="T71"/>
                                  </a:cxn>
                                </a:cxnLst>
                                <a:rect l="T108" t="T109" r="T110" b="T111"/>
                                <a:pathLst>
                                  <a:path w="53" h="66">
                                    <a:moveTo>
                                      <a:pt x="12" y="20"/>
                                    </a:moveTo>
                                    <a:lnTo>
                                      <a:pt x="16" y="13"/>
                                    </a:lnTo>
                                    <a:lnTo>
                                      <a:pt x="26" y="13"/>
                                    </a:lnTo>
                                    <a:lnTo>
                                      <a:pt x="40" y="0"/>
                                    </a:lnTo>
                                    <a:lnTo>
                                      <a:pt x="44" y="8"/>
                                    </a:lnTo>
                                    <a:lnTo>
                                      <a:pt x="51" y="8"/>
                                    </a:lnTo>
                                    <a:lnTo>
                                      <a:pt x="53" y="13"/>
                                    </a:lnTo>
                                    <a:lnTo>
                                      <a:pt x="49" y="20"/>
                                    </a:lnTo>
                                    <a:lnTo>
                                      <a:pt x="44" y="23"/>
                                    </a:lnTo>
                                    <a:lnTo>
                                      <a:pt x="44" y="29"/>
                                    </a:lnTo>
                                    <a:lnTo>
                                      <a:pt x="42" y="31"/>
                                    </a:lnTo>
                                    <a:lnTo>
                                      <a:pt x="41" y="36"/>
                                    </a:lnTo>
                                    <a:lnTo>
                                      <a:pt x="44" y="42"/>
                                    </a:lnTo>
                                    <a:lnTo>
                                      <a:pt x="40" y="47"/>
                                    </a:lnTo>
                                    <a:lnTo>
                                      <a:pt x="36" y="50"/>
                                    </a:lnTo>
                                    <a:lnTo>
                                      <a:pt x="32" y="50"/>
                                    </a:lnTo>
                                    <a:lnTo>
                                      <a:pt x="30" y="52"/>
                                    </a:lnTo>
                                    <a:lnTo>
                                      <a:pt x="29" y="56"/>
                                    </a:lnTo>
                                    <a:lnTo>
                                      <a:pt x="22" y="58"/>
                                    </a:lnTo>
                                    <a:lnTo>
                                      <a:pt x="21" y="56"/>
                                    </a:lnTo>
                                    <a:lnTo>
                                      <a:pt x="15" y="61"/>
                                    </a:lnTo>
                                    <a:lnTo>
                                      <a:pt x="14" y="62"/>
                                    </a:lnTo>
                                    <a:lnTo>
                                      <a:pt x="7" y="66"/>
                                    </a:lnTo>
                                    <a:lnTo>
                                      <a:pt x="4" y="66"/>
                                    </a:lnTo>
                                    <a:lnTo>
                                      <a:pt x="3" y="63"/>
                                    </a:lnTo>
                                    <a:lnTo>
                                      <a:pt x="1" y="56"/>
                                    </a:lnTo>
                                    <a:lnTo>
                                      <a:pt x="0" y="55"/>
                                    </a:lnTo>
                                    <a:lnTo>
                                      <a:pt x="0" y="49"/>
                                    </a:lnTo>
                                    <a:lnTo>
                                      <a:pt x="4" y="46"/>
                                    </a:lnTo>
                                    <a:lnTo>
                                      <a:pt x="8" y="43"/>
                                    </a:lnTo>
                                    <a:lnTo>
                                      <a:pt x="11" y="37"/>
                                    </a:lnTo>
                                    <a:lnTo>
                                      <a:pt x="15" y="37"/>
                                    </a:lnTo>
                                    <a:lnTo>
                                      <a:pt x="18" y="39"/>
                                    </a:lnTo>
                                    <a:lnTo>
                                      <a:pt x="22" y="37"/>
                                    </a:lnTo>
                                    <a:lnTo>
                                      <a:pt x="18" y="36"/>
                                    </a:lnTo>
                                    <a:lnTo>
                                      <a:pt x="12" y="20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CFFCC"/>
                              </a:solidFill>
                              <a:ln w="7938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pt-BR"/>
                              </a:p>
                            </p:txBody>
                          </p:sp>
                          <p:sp>
                            <p:nvSpPr>
                              <p:cNvPr id="58584" name="Freeform 160"/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2875" y="2205"/>
                                <a:ext cx="32" cy="60"/>
                              </a:xfrm>
                              <a:custGeom>
                                <a:avLst/>
                                <a:gdLst>
                                  <a:gd name="T0" fmla="*/ 0 w 65"/>
                                  <a:gd name="T1" fmla="*/ 1 h 120"/>
                                  <a:gd name="T2" fmla="*/ 1 w 65"/>
                                  <a:gd name="T3" fmla="*/ 1 h 120"/>
                                  <a:gd name="T4" fmla="*/ 1 w 65"/>
                                  <a:gd name="T5" fmla="*/ 1 h 120"/>
                                  <a:gd name="T6" fmla="*/ 1 w 65"/>
                                  <a:gd name="T7" fmla="*/ 1 h 120"/>
                                  <a:gd name="T8" fmla="*/ 2 w 65"/>
                                  <a:gd name="T9" fmla="*/ 1 h 120"/>
                                  <a:gd name="T10" fmla="*/ 1 w 65"/>
                                  <a:gd name="T11" fmla="*/ 1 h 120"/>
                                  <a:gd name="T12" fmla="*/ 1 w 65"/>
                                  <a:gd name="T13" fmla="*/ 1 h 120"/>
                                  <a:gd name="T14" fmla="*/ 1 w 65"/>
                                  <a:gd name="T15" fmla="*/ 1 h 120"/>
                                  <a:gd name="T16" fmla="*/ 1 w 65"/>
                                  <a:gd name="T17" fmla="*/ 1 h 120"/>
                                  <a:gd name="T18" fmla="*/ 2 w 65"/>
                                  <a:gd name="T19" fmla="*/ 1 h 120"/>
                                  <a:gd name="T20" fmla="*/ 1 w 65"/>
                                  <a:gd name="T21" fmla="*/ 2 h 120"/>
                                  <a:gd name="T22" fmla="*/ 1 w 65"/>
                                  <a:gd name="T23" fmla="*/ 2 h 120"/>
                                  <a:gd name="T24" fmla="*/ 1 w 65"/>
                                  <a:gd name="T25" fmla="*/ 2 h 120"/>
                                  <a:gd name="T26" fmla="*/ 1 w 65"/>
                                  <a:gd name="T27" fmla="*/ 2 h 120"/>
                                  <a:gd name="T28" fmla="*/ 1 w 65"/>
                                  <a:gd name="T29" fmla="*/ 3 h 120"/>
                                  <a:gd name="T30" fmla="*/ 2 w 65"/>
                                  <a:gd name="T31" fmla="*/ 3 h 120"/>
                                  <a:gd name="T32" fmla="*/ 1 w 65"/>
                                  <a:gd name="T33" fmla="*/ 3 h 120"/>
                                  <a:gd name="T34" fmla="*/ 1 w 65"/>
                                  <a:gd name="T35" fmla="*/ 4 h 120"/>
                                  <a:gd name="T36" fmla="*/ 1 w 65"/>
                                  <a:gd name="T37" fmla="*/ 4 h 120"/>
                                  <a:gd name="T38" fmla="*/ 1 w 65"/>
                                  <a:gd name="T39" fmla="*/ 4 h 120"/>
                                  <a:gd name="T40" fmla="*/ 1 w 65"/>
                                  <a:gd name="T41" fmla="*/ 4 h 120"/>
                                  <a:gd name="T42" fmla="*/ 0 w 65"/>
                                  <a:gd name="T43" fmla="*/ 4 h 120"/>
                                  <a:gd name="T44" fmla="*/ 0 w 65"/>
                                  <a:gd name="T45" fmla="*/ 4 h 120"/>
                                  <a:gd name="T46" fmla="*/ 0 w 65"/>
                                  <a:gd name="T47" fmla="*/ 4 h 120"/>
                                  <a:gd name="T48" fmla="*/ 0 w 65"/>
                                  <a:gd name="T49" fmla="*/ 4 h 120"/>
                                  <a:gd name="T50" fmla="*/ 0 w 65"/>
                                  <a:gd name="T51" fmla="*/ 4 h 120"/>
                                  <a:gd name="T52" fmla="*/ 0 w 65"/>
                                  <a:gd name="T53" fmla="*/ 4 h 120"/>
                                  <a:gd name="T54" fmla="*/ 0 w 65"/>
                                  <a:gd name="T55" fmla="*/ 4 h 120"/>
                                  <a:gd name="T56" fmla="*/ 0 w 65"/>
                                  <a:gd name="T57" fmla="*/ 3 h 120"/>
                                  <a:gd name="T58" fmla="*/ 0 w 65"/>
                                  <a:gd name="T59" fmla="*/ 3 h 120"/>
                                  <a:gd name="T60" fmla="*/ 0 w 65"/>
                                  <a:gd name="T61" fmla="*/ 3 h 120"/>
                                  <a:gd name="T62" fmla="*/ 0 w 65"/>
                                  <a:gd name="T63" fmla="*/ 3 h 120"/>
                                  <a:gd name="T64" fmla="*/ 0 w 65"/>
                                  <a:gd name="T65" fmla="*/ 3 h 120"/>
                                  <a:gd name="T66" fmla="*/ 1 w 65"/>
                                  <a:gd name="T67" fmla="*/ 2 h 120"/>
                                  <a:gd name="T68" fmla="*/ 0 w 65"/>
                                  <a:gd name="T69" fmla="*/ 2 h 120"/>
                                  <a:gd name="T70" fmla="*/ 0 w 65"/>
                                  <a:gd name="T71" fmla="*/ 2 h 120"/>
                                  <a:gd name="T72" fmla="*/ 0 w 65"/>
                                  <a:gd name="T73" fmla="*/ 1 h 120"/>
                                  <a:gd name="T74" fmla="*/ 0 60000 65536"/>
                                  <a:gd name="T75" fmla="*/ 0 60000 65536"/>
                                  <a:gd name="T76" fmla="*/ 0 60000 65536"/>
                                  <a:gd name="T77" fmla="*/ 0 60000 65536"/>
                                  <a:gd name="T78" fmla="*/ 0 60000 65536"/>
                                  <a:gd name="T79" fmla="*/ 0 60000 65536"/>
                                  <a:gd name="T80" fmla="*/ 0 60000 65536"/>
                                  <a:gd name="T81" fmla="*/ 0 60000 65536"/>
                                  <a:gd name="T82" fmla="*/ 0 60000 65536"/>
                                  <a:gd name="T83" fmla="*/ 0 60000 65536"/>
                                  <a:gd name="T84" fmla="*/ 0 60000 65536"/>
                                  <a:gd name="T85" fmla="*/ 0 60000 65536"/>
                                  <a:gd name="T86" fmla="*/ 0 60000 65536"/>
                                  <a:gd name="T87" fmla="*/ 0 60000 65536"/>
                                  <a:gd name="T88" fmla="*/ 0 60000 65536"/>
                                  <a:gd name="T89" fmla="*/ 0 60000 65536"/>
                                  <a:gd name="T90" fmla="*/ 0 60000 65536"/>
                                  <a:gd name="T91" fmla="*/ 0 60000 65536"/>
                                  <a:gd name="T92" fmla="*/ 0 60000 65536"/>
                                  <a:gd name="T93" fmla="*/ 0 60000 65536"/>
                                  <a:gd name="T94" fmla="*/ 0 60000 65536"/>
                                  <a:gd name="T95" fmla="*/ 0 60000 65536"/>
                                  <a:gd name="T96" fmla="*/ 0 60000 65536"/>
                                  <a:gd name="T97" fmla="*/ 0 60000 65536"/>
                                  <a:gd name="T98" fmla="*/ 0 60000 65536"/>
                                  <a:gd name="T99" fmla="*/ 0 60000 65536"/>
                                  <a:gd name="T100" fmla="*/ 0 60000 65536"/>
                                  <a:gd name="T101" fmla="*/ 0 60000 65536"/>
                                  <a:gd name="T102" fmla="*/ 0 60000 65536"/>
                                  <a:gd name="T103" fmla="*/ 0 60000 65536"/>
                                  <a:gd name="T104" fmla="*/ 0 60000 65536"/>
                                  <a:gd name="T105" fmla="*/ 0 60000 65536"/>
                                  <a:gd name="T106" fmla="*/ 0 60000 65536"/>
                                  <a:gd name="T107" fmla="*/ 0 60000 65536"/>
                                  <a:gd name="T108" fmla="*/ 0 60000 65536"/>
                                  <a:gd name="T109" fmla="*/ 0 60000 65536"/>
                                  <a:gd name="T110" fmla="*/ 0 60000 65536"/>
                                  <a:gd name="T111" fmla="*/ 0 w 65"/>
                                  <a:gd name="T112" fmla="*/ 0 h 120"/>
                                  <a:gd name="T113" fmla="*/ 65 w 65"/>
                                  <a:gd name="T114" fmla="*/ 120 h 120"/>
                                </a:gdLst>
                                <a:ahLst/>
                                <a:cxnLst>
                                  <a:cxn ang="T74">
                                    <a:pos x="T0" y="T1"/>
                                  </a:cxn>
                                  <a:cxn ang="T75">
                                    <a:pos x="T2" y="T3"/>
                                  </a:cxn>
                                  <a:cxn ang="T76">
                                    <a:pos x="T4" y="T5"/>
                                  </a:cxn>
                                  <a:cxn ang="T77">
                                    <a:pos x="T6" y="T7"/>
                                  </a:cxn>
                                  <a:cxn ang="T78">
                                    <a:pos x="T8" y="T9"/>
                                  </a:cxn>
                                  <a:cxn ang="T79">
                                    <a:pos x="T10" y="T11"/>
                                  </a:cxn>
                                  <a:cxn ang="T80">
                                    <a:pos x="T12" y="T13"/>
                                  </a:cxn>
                                  <a:cxn ang="T81">
                                    <a:pos x="T14" y="T15"/>
                                  </a:cxn>
                                  <a:cxn ang="T82">
                                    <a:pos x="T16" y="T17"/>
                                  </a:cxn>
                                  <a:cxn ang="T83">
                                    <a:pos x="T18" y="T19"/>
                                  </a:cxn>
                                  <a:cxn ang="T84">
                                    <a:pos x="T20" y="T21"/>
                                  </a:cxn>
                                  <a:cxn ang="T85">
                                    <a:pos x="T22" y="T23"/>
                                  </a:cxn>
                                  <a:cxn ang="T86">
                                    <a:pos x="T24" y="T25"/>
                                  </a:cxn>
                                  <a:cxn ang="T87">
                                    <a:pos x="T26" y="T27"/>
                                  </a:cxn>
                                  <a:cxn ang="T88">
                                    <a:pos x="T28" y="T29"/>
                                  </a:cxn>
                                  <a:cxn ang="T89">
                                    <a:pos x="T30" y="T31"/>
                                  </a:cxn>
                                  <a:cxn ang="T90">
                                    <a:pos x="T32" y="T33"/>
                                  </a:cxn>
                                  <a:cxn ang="T91">
                                    <a:pos x="T34" y="T35"/>
                                  </a:cxn>
                                  <a:cxn ang="T92">
                                    <a:pos x="T36" y="T37"/>
                                  </a:cxn>
                                  <a:cxn ang="T93">
                                    <a:pos x="T38" y="T39"/>
                                  </a:cxn>
                                  <a:cxn ang="T94">
                                    <a:pos x="T40" y="T41"/>
                                  </a:cxn>
                                  <a:cxn ang="T95">
                                    <a:pos x="T42" y="T43"/>
                                  </a:cxn>
                                  <a:cxn ang="T96">
                                    <a:pos x="T44" y="T45"/>
                                  </a:cxn>
                                  <a:cxn ang="T97">
                                    <a:pos x="T46" y="T47"/>
                                  </a:cxn>
                                  <a:cxn ang="T98">
                                    <a:pos x="T48" y="T49"/>
                                  </a:cxn>
                                  <a:cxn ang="T99">
                                    <a:pos x="T50" y="T51"/>
                                  </a:cxn>
                                  <a:cxn ang="T100">
                                    <a:pos x="T52" y="T53"/>
                                  </a:cxn>
                                  <a:cxn ang="T101">
                                    <a:pos x="T54" y="T55"/>
                                  </a:cxn>
                                  <a:cxn ang="T102">
                                    <a:pos x="T56" y="T57"/>
                                  </a:cxn>
                                  <a:cxn ang="T103">
                                    <a:pos x="T58" y="T59"/>
                                  </a:cxn>
                                  <a:cxn ang="T104">
                                    <a:pos x="T60" y="T61"/>
                                  </a:cxn>
                                  <a:cxn ang="T105">
                                    <a:pos x="T62" y="T63"/>
                                  </a:cxn>
                                  <a:cxn ang="T106">
                                    <a:pos x="T64" y="T65"/>
                                  </a:cxn>
                                  <a:cxn ang="T107">
                                    <a:pos x="T66" y="T67"/>
                                  </a:cxn>
                                  <a:cxn ang="T108">
                                    <a:pos x="T68" y="T69"/>
                                  </a:cxn>
                                  <a:cxn ang="T109">
                                    <a:pos x="T70" y="T71"/>
                                  </a:cxn>
                                  <a:cxn ang="T110">
                                    <a:pos x="T72" y="T73"/>
                                  </a:cxn>
                                </a:cxnLst>
                                <a:rect l="T111" t="T112" r="T113" b="T114"/>
                                <a:pathLst>
                                  <a:path w="65" h="120">
                                    <a:moveTo>
                                      <a:pt x="21" y="17"/>
                                    </a:moveTo>
                                    <a:lnTo>
                                      <a:pt x="25" y="13"/>
                                    </a:lnTo>
                                    <a:lnTo>
                                      <a:pt x="37" y="14"/>
                                    </a:lnTo>
                                    <a:lnTo>
                                      <a:pt x="40" y="11"/>
                                    </a:lnTo>
                                    <a:lnTo>
                                      <a:pt x="43" y="7"/>
                                    </a:lnTo>
                                    <a:lnTo>
                                      <a:pt x="46" y="7"/>
                                    </a:lnTo>
                                    <a:lnTo>
                                      <a:pt x="48" y="5"/>
                                    </a:lnTo>
                                    <a:lnTo>
                                      <a:pt x="52" y="2"/>
                                    </a:lnTo>
                                    <a:lnTo>
                                      <a:pt x="58" y="0"/>
                                    </a:lnTo>
                                    <a:lnTo>
                                      <a:pt x="65" y="1"/>
                                    </a:lnTo>
                                    <a:lnTo>
                                      <a:pt x="63" y="7"/>
                                    </a:lnTo>
                                    <a:lnTo>
                                      <a:pt x="61" y="11"/>
                                    </a:lnTo>
                                    <a:lnTo>
                                      <a:pt x="58" y="13"/>
                                    </a:lnTo>
                                    <a:lnTo>
                                      <a:pt x="55" y="14"/>
                                    </a:lnTo>
                                    <a:lnTo>
                                      <a:pt x="47" y="17"/>
                                    </a:lnTo>
                                    <a:lnTo>
                                      <a:pt x="47" y="23"/>
                                    </a:lnTo>
                                    <a:lnTo>
                                      <a:pt x="48" y="26"/>
                                    </a:lnTo>
                                    <a:lnTo>
                                      <a:pt x="57" y="23"/>
                                    </a:lnTo>
                                    <a:lnTo>
                                      <a:pt x="63" y="20"/>
                                    </a:lnTo>
                                    <a:lnTo>
                                      <a:pt x="65" y="23"/>
                                    </a:lnTo>
                                    <a:lnTo>
                                      <a:pt x="65" y="31"/>
                                    </a:lnTo>
                                    <a:lnTo>
                                      <a:pt x="59" y="33"/>
                                    </a:lnTo>
                                    <a:lnTo>
                                      <a:pt x="54" y="33"/>
                                    </a:lnTo>
                                    <a:lnTo>
                                      <a:pt x="50" y="37"/>
                                    </a:lnTo>
                                    <a:lnTo>
                                      <a:pt x="48" y="40"/>
                                    </a:lnTo>
                                    <a:lnTo>
                                      <a:pt x="48" y="45"/>
                                    </a:lnTo>
                                    <a:lnTo>
                                      <a:pt x="52" y="50"/>
                                    </a:lnTo>
                                    <a:lnTo>
                                      <a:pt x="57" y="55"/>
                                    </a:lnTo>
                                    <a:lnTo>
                                      <a:pt x="59" y="59"/>
                                    </a:lnTo>
                                    <a:lnTo>
                                      <a:pt x="61" y="65"/>
                                    </a:lnTo>
                                    <a:lnTo>
                                      <a:pt x="62" y="71"/>
                                    </a:lnTo>
                                    <a:lnTo>
                                      <a:pt x="65" y="78"/>
                                    </a:lnTo>
                                    <a:lnTo>
                                      <a:pt x="65" y="88"/>
                                    </a:lnTo>
                                    <a:lnTo>
                                      <a:pt x="62" y="94"/>
                                    </a:lnTo>
                                    <a:lnTo>
                                      <a:pt x="57" y="98"/>
                                    </a:lnTo>
                                    <a:lnTo>
                                      <a:pt x="55" y="101"/>
                                    </a:lnTo>
                                    <a:lnTo>
                                      <a:pt x="58" y="107"/>
                                    </a:lnTo>
                                    <a:lnTo>
                                      <a:pt x="61" y="113"/>
                                    </a:lnTo>
                                    <a:lnTo>
                                      <a:pt x="52" y="113"/>
                                    </a:lnTo>
                                    <a:lnTo>
                                      <a:pt x="46" y="113"/>
                                    </a:lnTo>
                                    <a:lnTo>
                                      <a:pt x="43" y="111"/>
                                    </a:lnTo>
                                    <a:lnTo>
                                      <a:pt x="37" y="111"/>
                                    </a:lnTo>
                                    <a:lnTo>
                                      <a:pt x="31" y="113"/>
                                    </a:lnTo>
                                    <a:lnTo>
                                      <a:pt x="25" y="116"/>
                                    </a:lnTo>
                                    <a:lnTo>
                                      <a:pt x="21" y="116"/>
                                    </a:lnTo>
                                    <a:lnTo>
                                      <a:pt x="18" y="117"/>
                                    </a:lnTo>
                                    <a:lnTo>
                                      <a:pt x="11" y="120"/>
                                    </a:lnTo>
                                    <a:lnTo>
                                      <a:pt x="10" y="119"/>
                                    </a:lnTo>
                                    <a:lnTo>
                                      <a:pt x="7" y="116"/>
                                    </a:lnTo>
                                    <a:lnTo>
                                      <a:pt x="3" y="114"/>
                                    </a:lnTo>
                                    <a:lnTo>
                                      <a:pt x="0" y="113"/>
                                    </a:lnTo>
                                    <a:lnTo>
                                      <a:pt x="0" y="107"/>
                                    </a:lnTo>
                                    <a:lnTo>
                                      <a:pt x="3" y="100"/>
                                    </a:lnTo>
                                    <a:lnTo>
                                      <a:pt x="7" y="100"/>
                                    </a:lnTo>
                                    <a:lnTo>
                                      <a:pt x="11" y="98"/>
                                    </a:lnTo>
                                    <a:lnTo>
                                      <a:pt x="17" y="98"/>
                                    </a:lnTo>
                                    <a:lnTo>
                                      <a:pt x="17" y="97"/>
                                    </a:lnTo>
                                    <a:lnTo>
                                      <a:pt x="11" y="94"/>
                                    </a:lnTo>
                                    <a:lnTo>
                                      <a:pt x="11" y="90"/>
                                    </a:lnTo>
                                    <a:lnTo>
                                      <a:pt x="11" y="87"/>
                                    </a:lnTo>
                                    <a:lnTo>
                                      <a:pt x="17" y="84"/>
                                    </a:lnTo>
                                    <a:lnTo>
                                      <a:pt x="20" y="82"/>
                                    </a:lnTo>
                                    <a:lnTo>
                                      <a:pt x="22" y="81"/>
                                    </a:lnTo>
                                    <a:lnTo>
                                      <a:pt x="26" y="81"/>
                                    </a:lnTo>
                                    <a:lnTo>
                                      <a:pt x="29" y="79"/>
                                    </a:lnTo>
                                    <a:lnTo>
                                      <a:pt x="31" y="68"/>
                                    </a:lnTo>
                                    <a:lnTo>
                                      <a:pt x="35" y="59"/>
                                    </a:lnTo>
                                    <a:lnTo>
                                      <a:pt x="35" y="55"/>
                                    </a:lnTo>
                                    <a:lnTo>
                                      <a:pt x="25" y="53"/>
                                    </a:lnTo>
                                    <a:lnTo>
                                      <a:pt x="28" y="46"/>
                                    </a:lnTo>
                                    <a:lnTo>
                                      <a:pt x="21" y="42"/>
                                    </a:lnTo>
                                    <a:lnTo>
                                      <a:pt x="14" y="43"/>
                                    </a:lnTo>
                                    <a:lnTo>
                                      <a:pt x="22" y="33"/>
                                    </a:lnTo>
                                    <a:lnTo>
                                      <a:pt x="21" y="17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CFFCC"/>
                              </a:solidFill>
                              <a:ln w="7938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pt-BR"/>
                              </a:p>
                            </p:txBody>
                          </p:sp>
                        </p:grpSp>
                        <p:sp>
                          <p:nvSpPr>
                            <p:cNvPr id="58582" name="Freeform 161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776" y="2104"/>
                              <a:ext cx="185" cy="101"/>
                            </a:xfrm>
                            <a:custGeom>
                              <a:avLst/>
                              <a:gdLst>
                                <a:gd name="T0" fmla="*/ 1 w 370"/>
                                <a:gd name="T1" fmla="*/ 6 h 203"/>
                                <a:gd name="T2" fmla="*/ 2 w 370"/>
                                <a:gd name="T3" fmla="*/ 5 h 203"/>
                                <a:gd name="T4" fmla="*/ 2 w 370"/>
                                <a:gd name="T5" fmla="*/ 5 h 203"/>
                                <a:gd name="T6" fmla="*/ 2 w 370"/>
                                <a:gd name="T7" fmla="*/ 5 h 203"/>
                                <a:gd name="T8" fmla="*/ 3 w 370"/>
                                <a:gd name="T9" fmla="*/ 5 h 203"/>
                                <a:gd name="T10" fmla="*/ 3 w 370"/>
                                <a:gd name="T11" fmla="*/ 5 h 203"/>
                                <a:gd name="T12" fmla="*/ 3 w 370"/>
                                <a:gd name="T13" fmla="*/ 5 h 203"/>
                                <a:gd name="T14" fmla="*/ 3 w 370"/>
                                <a:gd name="T15" fmla="*/ 4 h 203"/>
                                <a:gd name="T16" fmla="*/ 4 w 370"/>
                                <a:gd name="T17" fmla="*/ 4 h 203"/>
                                <a:gd name="T18" fmla="*/ 4 w 370"/>
                                <a:gd name="T19" fmla="*/ 4 h 203"/>
                                <a:gd name="T20" fmla="*/ 5 w 370"/>
                                <a:gd name="T21" fmla="*/ 4 h 203"/>
                                <a:gd name="T22" fmla="*/ 5 w 370"/>
                                <a:gd name="T23" fmla="*/ 4 h 203"/>
                                <a:gd name="T24" fmla="*/ 6 w 370"/>
                                <a:gd name="T25" fmla="*/ 4 h 203"/>
                                <a:gd name="T26" fmla="*/ 6 w 370"/>
                                <a:gd name="T27" fmla="*/ 3 h 203"/>
                                <a:gd name="T28" fmla="*/ 6 w 370"/>
                                <a:gd name="T29" fmla="*/ 3 h 203"/>
                                <a:gd name="T30" fmla="*/ 7 w 370"/>
                                <a:gd name="T31" fmla="*/ 3 h 203"/>
                                <a:gd name="T32" fmla="*/ 7 w 370"/>
                                <a:gd name="T33" fmla="*/ 3 h 203"/>
                                <a:gd name="T34" fmla="*/ 7 w 370"/>
                                <a:gd name="T35" fmla="*/ 2 h 203"/>
                                <a:gd name="T36" fmla="*/ 7 w 370"/>
                                <a:gd name="T37" fmla="*/ 3 h 203"/>
                                <a:gd name="T38" fmla="*/ 8 w 370"/>
                                <a:gd name="T39" fmla="*/ 3 h 203"/>
                                <a:gd name="T40" fmla="*/ 8 w 370"/>
                                <a:gd name="T41" fmla="*/ 3 h 203"/>
                                <a:gd name="T42" fmla="*/ 8 w 370"/>
                                <a:gd name="T43" fmla="*/ 2 h 203"/>
                                <a:gd name="T44" fmla="*/ 8 w 370"/>
                                <a:gd name="T45" fmla="*/ 2 h 203"/>
                                <a:gd name="T46" fmla="*/ 9 w 370"/>
                                <a:gd name="T47" fmla="*/ 2 h 203"/>
                                <a:gd name="T48" fmla="*/ 9 w 370"/>
                                <a:gd name="T49" fmla="*/ 2 h 203"/>
                                <a:gd name="T50" fmla="*/ 10 w 370"/>
                                <a:gd name="T51" fmla="*/ 1 h 203"/>
                                <a:gd name="T52" fmla="*/ 10 w 370"/>
                                <a:gd name="T53" fmla="*/ 1 h 203"/>
                                <a:gd name="T54" fmla="*/ 11 w 370"/>
                                <a:gd name="T55" fmla="*/ 0 h 203"/>
                                <a:gd name="T56" fmla="*/ 12 w 370"/>
                                <a:gd name="T57" fmla="*/ 0 h 203"/>
                                <a:gd name="T58" fmla="*/ 12 w 370"/>
                                <a:gd name="T59" fmla="*/ 0 h 203"/>
                                <a:gd name="T60" fmla="*/ 11 w 370"/>
                                <a:gd name="T61" fmla="*/ 0 h 203"/>
                                <a:gd name="T62" fmla="*/ 10 w 370"/>
                                <a:gd name="T63" fmla="*/ 0 h 203"/>
                                <a:gd name="T64" fmla="*/ 9 w 370"/>
                                <a:gd name="T65" fmla="*/ 0 h 203"/>
                                <a:gd name="T66" fmla="*/ 8 w 370"/>
                                <a:gd name="T67" fmla="*/ 0 h 203"/>
                                <a:gd name="T68" fmla="*/ 7 w 370"/>
                                <a:gd name="T69" fmla="*/ 1 h 203"/>
                                <a:gd name="T70" fmla="*/ 7 w 370"/>
                                <a:gd name="T71" fmla="*/ 1 h 203"/>
                                <a:gd name="T72" fmla="*/ 6 w 370"/>
                                <a:gd name="T73" fmla="*/ 1 h 203"/>
                                <a:gd name="T74" fmla="*/ 6 w 370"/>
                                <a:gd name="T75" fmla="*/ 2 h 203"/>
                                <a:gd name="T76" fmla="*/ 5 w 370"/>
                                <a:gd name="T77" fmla="*/ 2 h 203"/>
                                <a:gd name="T78" fmla="*/ 4 w 370"/>
                                <a:gd name="T79" fmla="*/ 3 h 203"/>
                                <a:gd name="T80" fmla="*/ 3 w 370"/>
                                <a:gd name="T81" fmla="*/ 4 h 203"/>
                                <a:gd name="T82" fmla="*/ 2 w 370"/>
                                <a:gd name="T83" fmla="*/ 4 h 203"/>
                                <a:gd name="T84" fmla="*/ 2 w 370"/>
                                <a:gd name="T85" fmla="*/ 5 h 203"/>
                                <a:gd name="T86" fmla="*/ 0 w 370"/>
                                <a:gd name="T87" fmla="*/ 6 h 203"/>
                                <a:gd name="T88" fmla="*/ 0 60000 65536"/>
                                <a:gd name="T89" fmla="*/ 0 60000 65536"/>
                                <a:gd name="T90" fmla="*/ 0 60000 65536"/>
                                <a:gd name="T91" fmla="*/ 0 60000 65536"/>
                                <a:gd name="T92" fmla="*/ 0 60000 65536"/>
                                <a:gd name="T93" fmla="*/ 0 60000 65536"/>
                                <a:gd name="T94" fmla="*/ 0 60000 65536"/>
                                <a:gd name="T95" fmla="*/ 0 60000 65536"/>
                                <a:gd name="T96" fmla="*/ 0 60000 65536"/>
                                <a:gd name="T97" fmla="*/ 0 60000 65536"/>
                                <a:gd name="T98" fmla="*/ 0 60000 65536"/>
                                <a:gd name="T99" fmla="*/ 0 60000 65536"/>
                                <a:gd name="T100" fmla="*/ 0 60000 65536"/>
                                <a:gd name="T101" fmla="*/ 0 60000 65536"/>
                                <a:gd name="T102" fmla="*/ 0 60000 65536"/>
                                <a:gd name="T103" fmla="*/ 0 60000 65536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w 370"/>
                                <a:gd name="T133" fmla="*/ 0 h 203"/>
                                <a:gd name="T134" fmla="*/ 370 w 370"/>
                                <a:gd name="T135" fmla="*/ 203 h 203"/>
                              </a:gdLst>
                              <a:ahLst/>
                              <a:cxnLst>
                                <a:cxn ang="T88">
                                  <a:pos x="T0" y="T1"/>
                                </a:cxn>
                                <a:cxn ang="T89">
                                  <a:pos x="T2" y="T3"/>
                                </a:cxn>
                                <a:cxn ang="T90">
                                  <a:pos x="T4" y="T5"/>
                                </a:cxn>
                                <a:cxn ang="T91">
                                  <a:pos x="T6" y="T7"/>
                                </a:cxn>
                                <a:cxn ang="T92">
                                  <a:pos x="T8" y="T9"/>
                                </a:cxn>
                                <a:cxn ang="T93">
                                  <a:pos x="T10" y="T11"/>
                                </a:cxn>
                                <a:cxn ang="T94">
                                  <a:pos x="T12" y="T13"/>
                                </a:cxn>
                                <a:cxn ang="T95">
                                  <a:pos x="T14" y="T15"/>
                                </a:cxn>
                                <a:cxn ang="T96">
                                  <a:pos x="T16" y="T17"/>
                                </a:cxn>
                                <a:cxn ang="T97">
                                  <a:pos x="T18" y="T19"/>
                                </a:cxn>
                                <a:cxn ang="T98">
                                  <a:pos x="T20" y="T21"/>
                                </a:cxn>
                                <a:cxn ang="T99">
                                  <a:pos x="T22" y="T23"/>
                                </a:cxn>
                                <a:cxn ang="T100">
                                  <a:pos x="T24" y="T25"/>
                                </a:cxn>
                                <a:cxn ang="T101">
                                  <a:pos x="T26" y="T27"/>
                                </a:cxn>
                                <a:cxn ang="T102">
                                  <a:pos x="T28" y="T29"/>
                                </a:cxn>
                                <a:cxn ang="T103">
                                  <a:pos x="T30" y="T31"/>
                                </a:cxn>
                                <a:cxn ang="T104">
                                  <a:pos x="T32" y="T33"/>
                                </a:cxn>
                                <a:cxn ang="T105">
                                  <a:pos x="T34" y="T35"/>
                                </a:cxn>
                                <a:cxn ang="T106">
                                  <a:pos x="T36" y="T37"/>
                                </a:cxn>
                                <a:cxn ang="T107">
                                  <a:pos x="T38" y="T39"/>
                                </a:cxn>
                                <a:cxn ang="T108">
                                  <a:pos x="T40" y="T41"/>
                                </a:cxn>
                                <a:cxn ang="T109">
                                  <a:pos x="T42" y="T43"/>
                                </a:cxn>
                                <a:cxn ang="T110">
                                  <a:pos x="T44" y="T45"/>
                                </a:cxn>
                                <a:cxn ang="T111">
                                  <a:pos x="T46" y="T47"/>
                                </a:cxn>
                                <a:cxn ang="T112">
                                  <a:pos x="T48" y="T49"/>
                                </a:cxn>
                                <a:cxn ang="T113">
                                  <a:pos x="T50" y="T51"/>
                                </a:cxn>
                                <a:cxn ang="T114">
                                  <a:pos x="T52" y="T53"/>
                                </a:cxn>
                                <a:cxn ang="T115">
                                  <a:pos x="T54" y="T55"/>
                                </a:cxn>
                                <a:cxn ang="T116">
                                  <a:pos x="T56" y="T57"/>
                                </a:cxn>
                                <a:cxn ang="T117">
                                  <a:pos x="T58" y="T59"/>
                                </a:cxn>
                                <a:cxn ang="T118">
                                  <a:pos x="T60" y="T61"/>
                                </a:cxn>
                                <a:cxn ang="T119">
                                  <a:pos x="T62" y="T63"/>
                                </a:cxn>
                                <a:cxn ang="T120">
                                  <a:pos x="T64" y="T65"/>
                                </a:cxn>
                                <a:cxn ang="T121">
                                  <a:pos x="T66" y="T67"/>
                                </a:cxn>
                                <a:cxn ang="T122">
                                  <a:pos x="T68" y="T69"/>
                                </a:cxn>
                                <a:cxn ang="T123">
                                  <a:pos x="T70" y="T71"/>
                                </a:cxn>
                                <a:cxn ang="T124">
                                  <a:pos x="T72" y="T73"/>
                                </a:cxn>
                                <a:cxn ang="T125">
                                  <a:pos x="T74" y="T75"/>
                                </a:cxn>
                                <a:cxn ang="T126">
                                  <a:pos x="T76" y="T77"/>
                                </a:cxn>
                                <a:cxn ang="T127">
                                  <a:pos x="T78" y="T79"/>
                                </a:cxn>
                                <a:cxn ang="T128">
                                  <a:pos x="T80" y="T81"/>
                                </a:cxn>
                                <a:cxn ang="T129">
                                  <a:pos x="T82" y="T83"/>
                                </a:cxn>
                                <a:cxn ang="T130">
                                  <a:pos x="T84" y="T85"/>
                                </a:cxn>
                                <a:cxn ang="T131">
                                  <a:pos x="T86" y="T87"/>
                                </a:cxn>
                              </a:cxnLst>
                              <a:rect l="T132" t="T133" r="T134" b="T135"/>
                              <a:pathLst>
                                <a:path w="370" h="203">
                                  <a:moveTo>
                                    <a:pt x="0" y="203"/>
                                  </a:moveTo>
                                  <a:lnTo>
                                    <a:pt x="23" y="199"/>
                                  </a:lnTo>
                                  <a:lnTo>
                                    <a:pt x="31" y="190"/>
                                  </a:lnTo>
                                  <a:lnTo>
                                    <a:pt x="37" y="184"/>
                                  </a:lnTo>
                                  <a:lnTo>
                                    <a:pt x="40" y="180"/>
                                  </a:lnTo>
                                  <a:lnTo>
                                    <a:pt x="45" y="180"/>
                                  </a:lnTo>
                                  <a:lnTo>
                                    <a:pt x="51" y="175"/>
                                  </a:lnTo>
                                  <a:lnTo>
                                    <a:pt x="57" y="175"/>
                                  </a:lnTo>
                                  <a:lnTo>
                                    <a:pt x="62" y="175"/>
                                  </a:lnTo>
                                  <a:lnTo>
                                    <a:pt x="67" y="175"/>
                                  </a:lnTo>
                                  <a:lnTo>
                                    <a:pt x="70" y="175"/>
                                  </a:lnTo>
                                  <a:lnTo>
                                    <a:pt x="75" y="170"/>
                                  </a:lnTo>
                                  <a:lnTo>
                                    <a:pt x="78" y="165"/>
                                  </a:lnTo>
                                  <a:lnTo>
                                    <a:pt x="85" y="161"/>
                                  </a:lnTo>
                                  <a:lnTo>
                                    <a:pt x="90" y="159"/>
                                  </a:lnTo>
                                  <a:lnTo>
                                    <a:pt x="94" y="157"/>
                                  </a:lnTo>
                                  <a:lnTo>
                                    <a:pt x="100" y="155"/>
                                  </a:lnTo>
                                  <a:lnTo>
                                    <a:pt x="104" y="152"/>
                                  </a:lnTo>
                                  <a:lnTo>
                                    <a:pt x="110" y="149"/>
                                  </a:lnTo>
                                  <a:lnTo>
                                    <a:pt x="115" y="146"/>
                                  </a:lnTo>
                                  <a:lnTo>
                                    <a:pt x="122" y="142"/>
                                  </a:lnTo>
                                  <a:lnTo>
                                    <a:pt x="129" y="143"/>
                                  </a:lnTo>
                                  <a:lnTo>
                                    <a:pt x="140" y="146"/>
                                  </a:lnTo>
                                  <a:lnTo>
                                    <a:pt x="151" y="146"/>
                                  </a:lnTo>
                                  <a:lnTo>
                                    <a:pt x="163" y="142"/>
                                  </a:lnTo>
                                  <a:lnTo>
                                    <a:pt x="169" y="141"/>
                                  </a:lnTo>
                                  <a:lnTo>
                                    <a:pt x="173" y="132"/>
                                  </a:lnTo>
                                  <a:lnTo>
                                    <a:pt x="178" y="126"/>
                                  </a:lnTo>
                                  <a:lnTo>
                                    <a:pt x="188" y="119"/>
                                  </a:lnTo>
                                  <a:lnTo>
                                    <a:pt x="190" y="114"/>
                                  </a:lnTo>
                                  <a:lnTo>
                                    <a:pt x="190" y="109"/>
                                  </a:lnTo>
                                  <a:lnTo>
                                    <a:pt x="199" y="104"/>
                                  </a:lnTo>
                                  <a:lnTo>
                                    <a:pt x="203" y="100"/>
                                  </a:lnTo>
                                  <a:lnTo>
                                    <a:pt x="206" y="96"/>
                                  </a:lnTo>
                                  <a:lnTo>
                                    <a:pt x="208" y="94"/>
                                  </a:lnTo>
                                  <a:lnTo>
                                    <a:pt x="222" y="85"/>
                                  </a:lnTo>
                                  <a:lnTo>
                                    <a:pt x="222" y="94"/>
                                  </a:lnTo>
                                  <a:lnTo>
                                    <a:pt x="219" y="98"/>
                                  </a:lnTo>
                                  <a:lnTo>
                                    <a:pt x="222" y="103"/>
                                  </a:lnTo>
                                  <a:lnTo>
                                    <a:pt x="232" y="104"/>
                                  </a:lnTo>
                                  <a:lnTo>
                                    <a:pt x="237" y="104"/>
                                  </a:lnTo>
                                  <a:lnTo>
                                    <a:pt x="243" y="100"/>
                                  </a:lnTo>
                                  <a:lnTo>
                                    <a:pt x="247" y="94"/>
                                  </a:lnTo>
                                  <a:lnTo>
                                    <a:pt x="247" y="90"/>
                                  </a:lnTo>
                                  <a:lnTo>
                                    <a:pt x="251" y="85"/>
                                  </a:lnTo>
                                  <a:lnTo>
                                    <a:pt x="251" y="81"/>
                                  </a:lnTo>
                                  <a:lnTo>
                                    <a:pt x="255" y="75"/>
                                  </a:lnTo>
                                  <a:lnTo>
                                    <a:pt x="258" y="72"/>
                                  </a:lnTo>
                                  <a:lnTo>
                                    <a:pt x="265" y="72"/>
                                  </a:lnTo>
                                  <a:lnTo>
                                    <a:pt x="278" y="72"/>
                                  </a:lnTo>
                                  <a:lnTo>
                                    <a:pt x="289" y="66"/>
                                  </a:lnTo>
                                  <a:lnTo>
                                    <a:pt x="299" y="58"/>
                                  </a:lnTo>
                                  <a:lnTo>
                                    <a:pt x="310" y="55"/>
                                  </a:lnTo>
                                  <a:lnTo>
                                    <a:pt x="319" y="48"/>
                                  </a:lnTo>
                                  <a:lnTo>
                                    <a:pt x="326" y="36"/>
                                  </a:lnTo>
                                  <a:lnTo>
                                    <a:pt x="341" y="23"/>
                                  </a:lnTo>
                                  <a:lnTo>
                                    <a:pt x="351" y="17"/>
                                  </a:lnTo>
                                  <a:lnTo>
                                    <a:pt x="361" y="11"/>
                                  </a:lnTo>
                                  <a:lnTo>
                                    <a:pt x="370" y="4"/>
                                  </a:lnTo>
                                  <a:lnTo>
                                    <a:pt x="354" y="0"/>
                                  </a:lnTo>
                                  <a:lnTo>
                                    <a:pt x="337" y="0"/>
                                  </a:lnTo>
                                  <a:lnTo>
                                    <a:pt x="321" y="7"/>
                                  </a:lnTo>
                                  <a:lnTo>
                                    <a:pt x="313" y="11"/>
                                  </a:lnTo>
                                  <a:lnTo>
                                    <a:pt x="299" y="14"/>
                                  </a:lnTo>
                                  <a:lnTo>
                                    <a:pt x="284" y="16"/>
                                  </a:lnTo>
                                  <a:lnTo>
                                    <a:pt x="276" y="19"/>
                                  </a:lnTo>
                                  <a:lnTo>
                                    <a:pt x="258" y="26"/>
                                  </a:lnTo>
                                  <a:lnTo>
                                    <a:pt x="247" y="30"/>
                                  </a:lnTo>
                                  <a:lnTo>
                                    <a:pt x="236" y="35"/>
                                  </a:lnTo>
                                  <a:lnTo>
                                    <a:pt x="222" y="37"/>
                                  </a:lnTo>
                                  <a:lnTo>
                                    <a:pt x="208" y="42"/>
                                  </a:lnTo>
                                  <a:lnTo>
                                    <a:pt x="196" y="48"/>
                                  </a:lnTo>
                                  <a:lnTo>
                                    <a:pt x="186" y="55"/>
                                  </a:lnTo>
                                  <a:lnTo>
                                    <a:pt x="178" y="62"/>
                                  </a:lnTo>
                                  <a:lnTo>
                                    <a:pt x="170" y="68"/>
                                  </a:lnTo>
                                  <a:lnTo>
                                    <a:pt x="163" y="72"/>
                                  </a:lnTo>
                                  <a:lnTo>
                                    <a:pt x="148" y="81"/>
                                  </a:lnTo>
                                  <a:lnTo>
                                    <a:pt x="133" y="90"/>
                                  </a:lnTo>
                                  <a:lnTo>
                                    <a:pt x="115" y="100"/>
                                  </a:lnTo>
                                  <a:lnTo>
                                    <a:pt x="103" y="113"/>
                                  </a:lnTo>
                                  <a:lnTo>
                                    <a:pt x="89" y="123"/>
                                  </a:lnTo>
                                  <a:lnTo>
                                    <a:pt x="77" y="129"/>
                                  </a:lnTo>
                                  <a:lnTo>
                                    <a:pt x="64" y="142"/>
                                  </a:lnTo>
                                  <a:lnTo>
                                    <a:pt x="56" y="151"/>
                                  </a:lnTo>
                                  <a:lnTo>
                                    <a:pt x="45" y="159"/>
                                  </a:lnTo>
                                  <a:lnTo>
                                    <a:pt x="34" y="165"/>
                                  </a:lnTo>
                                  <a:lnTo>
                                    <a:pt x="23" y="171"/>
                                  </a:lnTo>
                                  <a:lnTo>
                                    <a:pt x="0" y="2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58578" name="Freeform 16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862" y="3033"/>
                            <a:ext cx="275" cy="95"/>
                          </a:xfrm>
                          <a:custGeom>
                            <a:avLst/>
                            <a:gdLst>
                              <a:gd name="T0" fmla="*/ 1 w 552"/>
                              <a:gd name="T1" fmla="*/ 2 h 189"/>
                              <a:gd name="T2" fmla="*/ 2 w 552"/>
                              <a:gd name="T3" fmla="*/ 2 h 189"/>
                              <a:gd name="T4" fmla="*/ 4 w 552"/>
                              <a:gd name="T5" fmla="*/ 2 h 189"/>
                              <a:gd name="T6" fmla="*/ 4 w 552"/>
                              <a:gd name="T7" fmla="*/ 2 h 189"/>
                              <a:gd name="T8" fmla="*/ 5 w 552"/>
                              <a:gd name="T9" fmla="*/ 2 h 189"/>
                              <a:gd name="T10" fmla="*/ 5 w 552"/>
                              <a:gd name="T11" fmla="*/ 2 h 189"/>
                              <a:gd name="T12" fmla="*/ 6 w 552"/>
                              <a:gd name="T13" fmla="*/ 2 h 189"/>
                              <a:gd name="T14" fmla="*/ 6 w 552"/>
                              <a:gd name="T15" fmla="*/ 2 h 189"/>
                              <a:gd name="T16" fmla="*/ 7 w 552"/>
                              <a:gd name="T17" fmla="*/ 2 h 189"/>
                              <a:gd name="T18" fmla="*/ 7 w 552"/>
                              <a:gd name="T19" fmla="*/ 2 h 189"/>
                              <a:gd name="T20" fmla="*/ 8 w 552"/>
                              <a:gd name="T21" fmla="*/ 2 h 189"/>
                              <a:gd name="T22" fmla="*/ 9 w 552"/>
                              <a:gd name="T23" fmla="*/ 2 h 189"/>
                              <a:gd name="T24" fmla="*/ 9 w 552"/>
                              <a:gd name="T25" fmla="*/ 2 h 189"/>
                              <a:gd name="T26" fmla="*/ 10 w 552"/>
                              <a:gd name="T27" fmla="*/ 2 h 189"/>
                              <a:gd name="T28" fmla="*/ 11 w 552"/>
                              <a:gd name="T29" fmla="*/ 2 h 189"/>
                              <a:gd name="T30" fmla="*/ 11 w 552"/>
                              <a:gd name="T31" fmla="*/ 2 h 189"/>
                              <a:gd name="T32" fmla="*/ 12 w 552"/>
                              <a:gd name="T33" fmla="*/ 1 h 189"/>
                              <a:gd name="T34" fmla="*/ 13 w 552"/>
                              <a:gd name="T35" fmla="*/ 1 h 189"/>
                              <a:gd name="T36" fmla="*/ 13 w 552"/>
                              <a:gd name="T37" fmla="*/ 1 h 189"/>
                              <a:gd name="T38" fmla="*/ 13 w 552"/>
                              <a:gd name="T39" fmla="*/ 1 h 189"/>
                              <a:gd name="T40" fmla="*/ 14 w 552"/>
                              <a:gd name="T41" fmla="*/ 0 h 189"/>
                              <a:gd name="T42" fmla="*/ 14 w 552"/>
                              <a:gd name="T43" fmla="*/ 1 h 189"/>
                              <a:gd name="T44" fmla="*/ 14 w 552"/>
                              <a:gd name="T45" fmla="*/ 1 h 189"/>
                              <a:gd name="T46" fmla="*/ 14 w 552"/>
                              <a:gd name="T47" fmla="*/ 1 h 189"/>
                              <a:gd name="T48" fmla="*/ 15 w 552"/>
                              <a:gd name="T49" fmla="*/ 1 h 189"/>
                              <a:gd name="T50" fmla="*/ 16 w 552"/>
                              <a:gd name="T51" fmla="*/ 2 h 189"/>
                              <a:gd name="T52" fmla="*/ 16 w 552"/>
                              <a:gd name="T53" fmla="*/ 2 h 189"/>
                              <a:gd name="T54" fmla="*/ 17 w 552"/>
                              <a:gd name="T55" fmla="*/ 2 h 189"/>
                              <a:gd name="T56" fmla="*/ 17 w 552"/>
                              <a:gd name="T57" fmla="*/ 2 h 189"/>
                              <a:gd name="T58" fmla="*/ 16 w 552"/>
                              <a:gd name="T59" fmla="*/ 3 h 189"/>
                              <a:gd name="T60" fmla="*/ 14 w 552"/>
                              <a:gd name="T61" fmla="*/ 5 h 189"/>
                              <a:gd name="T62" fmla="*/ 12 w 552"/>
                              <a:gd name="T63" fmla="*/ 6 h 189"/>
                              <a:gd name="T64" fmla="*/ 11 w 552"/>
                              <a:gd name="T65" fmla="*/ 6 h 189"/>
                              <a:gd name="T66" fmla="*/ 10 w 552"/>
                              <a:gd name="T67" fmla="*/ 6 h 189"/>
                              <a:gd name="T68" fmla="*/ 9 w 552"/>
                              <a:gd name="T69" fmla="*/ 6 h 189"/>
                              <a:gd name="T70" fmla="*/ 8 w 552"/>
                              <a:gd name="T71" fmla="*/ 6 h 189"/>
                              <a:gd name="T72" fmla="*/ 7 w 552"/>
                              <a:gd name="T73" fmla="*/ 6 h 189"/>
                              <a:gd name="T74" fmla="*/ 6 w 552"/>
                              <a:gd name="T75" fmla="*/ 6 h 189"/>
                              <a:gd name="T76" fmla="*/ 5 w 552"/>
                              <a:gd name="T77" fmla="*/ 6 h 189"/>
                              <a:gd name="T78" fmla="*/ 4 w 552"/>
                              <a:gd name="T79" fmla="*/ 6 h 189"/>
                              <a:gd name="T80" fmla="*/ 3 w 552"/>
                              <a:gd name="T81" fmla="*/ 6 h 189"/>
                              <a:gd name="T82" fmla="*/ 2 w 552"/>
                              <a:gd name="T83" fmla="*/ 5 h 189"/>
                              <a:gd name="T84" fmla="*/ 1 w 552"/>
                              <a:gd name="T85" fmla="*/ 5 h 189"/>
                              <a:gd name="T86" fmla="*/ 0 w 552"/>
                              <a:gd name="T87" fmla="*/ 4 h 189"/>
                              <a:gd name="T88" fmla="*/ 0 w 552"/>
                              <a:gd name="T89" fmla="*/ 3 h 189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w 552"/>
                              <a:gd name="T136" fmla="*/ 0 h 189"/>
                              <a:gd name="T137" fmla="*/ 552 w 552"/>
                              <a:gd name="T138" fmla="*/ 189 h 189"/>
                            </a:gdLst>
                            <a:ahLst/>
                            <a:cxnLst>
                              <a:cxn ang="T90">
                                <a:pos x="T0" y="T1"/>
                              </a:cxn>
                              <a:cxn ang="T91">
                                <a:pos x="T2" y="T3"/>
                              </a:cxn>
                              <a:cxn ang="T92">
                                <a:pos x="T4" y="T5"/>
                              </a:cxn>
                              <a:cxn ang="T93">
                                <a:pos x="T6" y="T7"/>
                              </a:cxn>
                              <a:cxn ang="T94">
                                <a:pos x="T8" y="T9"/>
                              </a:cxn>
                              <a:cxn ang="T95">
                                <a:pos x="T10" y="T11"/>
                              </a:cxn>
                              <a:cxn ang="T96">
                                <a:pos x="T12" y="T13"/>
                              </a:cxn>
                              <a:cxn ang="T97">
                                <a:pos x="T14" y="T15"/>
                              </a:cxn>
                              <a:cxn ang="T98">
                                <a:pos x="T16" y="T17"/>
                              </a:cxn>
                              <a:cxn ang="T99">
                                <a:pos x="T18" y="T19"/>
                              </a:cxn>
                              <a:cxn ang="T100">
                                <a:pos x="T20" y="T21"/>
                              </a:cxn>
                              <a:cxn ang="T101">
                                <a:pos x="T22" y="T23"/>
                              </a:cxn>
                              <a:cxn ang="T102">
                                <a:pos x="T24" y="T25"/>
                              </a:cxn>
                              <a:cxn ang="T103">
                                <a:pos x="T26" y="T27"/>
                              </a:cxn>
                              <a:cxn ang="T104">
                                <a:pos x="T28" y="T29"/>
                              </a:cxn>
                              <a:cxn ang="T105">
                                <a:pos x="T30" y="T31"/>
                              </a:cxn>
                              <a:cxn ang="T106">
                                <a:pos x="T32" y="T33"/>
                              </a:cxn>
                              <a:cxn ang="T107">
                                <a:pos x="T34" y="T35"/>
                              </a:cxn>
                              <a:cxn ang="T108">
                                <a:pos x="T36" y="T37"/>
                              </a:cxn>
                              <a:cxn ang="T109">
                                <a:pos x="T38" y="T39"/>
                              </a:cxn>
                              <a:cxn ang="T110">
                                <a:pos x="T40" y="T41"/>
                              </a:cxn>
                              <a:cxn ang="T111">
                                <a:pos x="T42" y="T43"/>
                              </a:cxn>
                              <a:cxn ang="T112">
                                <a:pos x="T44" y="T45"/>
                              </a:cxn>
                              <a:cxn ang="T113">
                                <a:pos x="T46" y="T47"/>
                              </a:cxn>
                              <a:cxn ang="T114">
                                <a:pos x="T48" y="T49"/>
                              </a:cxn>
                              <a:cxn ang="T115">
                                <a:pos x="T50" y="T51"/>
                              </a:cxn>
                              <a:cxn ang="T116">
                                <a:pos x="T52" y="T53"/>
                              </a:cxn>
                              <a:cxn ang="T117">
                                <a:pos x="T54" y="T55"/>
                              </a:cxn>
                              <a:cxn ang="T118">
                                <a:pos x="T56" y="T57"/>
                              </a:cxn>
                              <a:cxn ang="T119">
                                <a:pos x="T58" y="T59"/>
                              </a:cxn>
                              <a:cxn ang="T120">
                                <a:pos x="T60" y="T61"/>
                              </a:cxn>
                              <a:cxn ang="T121">
                                <a:pos x="T62" y="T63"/>
                              </a:cxn>
                              <a:cxn ang="T122">
                                <a:pos x="T64" y="T65"/>
                              </a:cxn>
                              <a:cxn ang="T123">
                                <a:pos x="T66" y="T67"/>
                              </a:cxn>
                              <a:cxn ang="T124">
                                <a:pos x="T68" y="T69"/>
                              </a:cxn>
                              <a:cxn ang="T125">
                                <a:pos x="T70" y="T71"/>
                              </a:cxn>
                              <a:cxn ang="T126">
                                <a:pos x="T72" y="T73"/>
                              </a:cxn>
                              <a:cxn ang="T127">
                                <a:pos x="T74" y="T75"/>
                              </a:cxn>
                              <a:cxn ang="T128">
                                <a:pos x="T76" y="T77"/>
                              </a:cxn>
                              <a:cxn ang="T129">
                                <a:pos x="T78" y="T79"/>
                              </a:cxn>
                              <a:cxn ang="T130">
                                <a:pos x="T80" y="T81"/>
                              </a:cxn>
                              <a:cxn ang="T131">
                                <a:pos x="T82" y="T83"/>
                              </a:cxn>
                              <a:cxn ang="T132">
                                <a:pos x="T84" y="T85"/>
                              </a:cxn>
                              <a:cxn ang="T133">
                                <a:pos x="T86" y="T87"/>
                              </a:cxn>
                              <a:cxn ang="T134">
                                <a:pos x="T88" y="T89"/>
                              </a:cxn>
                            </a:cxnLst>
                            <a:rect l="T135" t="T136" r="T137" b="T138"/>
                            <a:pathLst>
                              <a:path w="552" h="189">
                                <a:moveTo>
                                  <a:pt x="0" y="83"/>
                                </a:moveTo>
                                <a:lnTo>
                                  <a:pt x="54" y="58"/>
                                </a:lnTo>
                                <a:lnTo>
                                  <a:pt x="67" y="57"/>
                                </a:lnTo>
                                <a:lnTo>
                                  <a:pt x="76" y="53"/>
                                </a:lnTo>
                                <a:lnTo>
                                  <a:pt x="136" y="56"/>
                                </a:lnTo>
                                <a:lnTo>
                                  <a:pt x="140" y="50"/>
                                </a:lnTo>
                                <a:lnTo>
                                  <a:pt x="147" y="47"/>
                                </a:lnTo>
                                <a:lnTo>
                                  <a:pt x="159" y="42"/>
                                </a:lnTo>
                                <a:lnTo>
                                  <a:pt x="168" y="37"/>
                                </a:lnTo>
                                <a:lnTo>
                                  <a:pt x="176" y="37"/>
                                </a:lnTo>
                                <a:lnTo>
                                  <a:pt x="179" y="37"/>
                                </a:lnTo>
                                <a:lnTo>
                                  <a:pt x="181" y="37"/>
                                </a:lnTo>
                                <a:lnTo>
                                  <a:pt x="192" y="38"/>
                                </a:lnTo>
                                <a:lnTo>
                                  <a:pt x="203" y="42"/>
                                </a:lnTo>
                                <a:lnTo>
                                  <a:pt x="210" y="51"/>
                                </a:lnTo>
                                <a:lnTo>
                                  <a:pt x="214" y="50"/>
                                </a:lnTo>
                                <a:lnTo>
                                  <a:pt x="217" y="57"/>
                                </a:lnTo>
                                <a:lnTo>
                                  <a:pt x="232" y="56"/>
                                </a:lnTo>
                                <a:lnTo>
                                  <a:pt x="246" y="51"/>
                                </a:lnTo>
                                <a:lnTo>
                                  <a:pt x="254" y="50"/>
                                </a:lnTo>
                                <a:lnTo>
                                  <a:pt x="264" y="45"/>
                                </a:lnTo>
                                <a:lnTo>
                                  <a:pt x="275" y="41"/>
                                </a:lnTo>
                                <a:lnTo>
                                  <a:pt x="284" y="41"/>
                                </a:lnTo>
                                <a:lnTo>
                                  <a:pt x="291" y="38"/>
                                </a:lnTo>
                                <a:lnTo>
                                  <a:pt x="299" y="34"/>
                                </a:lnTo>
                                <a:lnTo>
                                  <a:pt x="305" y="38"/>
                                </a:lnTo>
                                <a:lnTo>
                                  <a:pt x="321" y="42"/>
                                </a:lnTo>
                                <a:lnTo>
                                  <a:pt x="338" y="45"/>
                                </a:lnTo>
                                <a:lnTo>
                                  <a:pt x="354" y="45"/>
                                </a:lnTo>
                                <a:lnTo>
                                  <a:pt x="361" y="38"/>
                                </a:lnTo>
                                <a:lnTo>
                                  <a:pt x="365" y="38"/>
                                </a:lnTo>
                                <a:lnTo>
                                  <a:pt x="369" y="34"/>
                                </a:lnTo>
                                <a:lnTo>
                                  <a:pt x="382" y="27"/>
                                </a:lnTo>
                                <a:lnTo>
                                  <a:pt x="397" y="24"/>
                                </a:lnTo>
                                <a:lnTo>
                                  <a:pt x="405" y="24"/>
                                </a:lnTo>
                                <a:lnTo>
                                  <a:pt x="417" y="19"/>
                                </a:lnTo>
                                <a:lnTo>
                                  <a:pt x="423" y="19"/>
                                </a:lnTo>
                                <a:lnTo>
                                  <a:pt x="436" y="9"/>
                                </a:lnTo>
                                <a:lnTo>
                                  <a:pt x="440" y="11"/>
                                </a:lnTo>
                                <a:lnTo>
                                  <a:pt x="445" y="5"/>
                                </a:lnTo>
                                <a:lnTo>
                                  <a:pt x="449" y="3"/>
                                </a:lnTo>
                                <a:lnTo>
                                  <a:pt x="454" y="0"/>
                                </a:lnTo>
                                <a:lnTo>
                                  <a:pt x="454" y="8"/>
                                </a:lnTo>
                                <a:lnTo>
                                  <a:pt x="460" y="13"/>
                                </a:lnTo>
                                <a:lnTo>
                                  <a:pt x="464" y="21"/>
                                </a:lnTo>
                                <a:lnTo>
                                  <a:pt x="468" y="25"/>
                                </a:lnTo>
                                <a:lnTo>
                                  <a:pt x="472" y="25"/>
                                </a:lnTo>
                                <a:lnTo>
                                  <a:pt x="476" y="28"/>
                                </a:lnTo>
                                <a:lnTo>
                                  <a:pt x="482" y="28"/>
                                </a:lnTo>
                                <a:lnTo>
                                  <a:pt x="482" y="31"/>
                                </a:lnTo>
                                <a:lnTo>
                                  <a:pt x="509" y="31"/>
                                </a:lnTo>
                                <a:lnTo>
                                  <a:pt x="520" y="40"/>
                                </a:lnTo>
                                <a:lnTo>
                                  <a:pt x="523" y="40"/>
                                </a:lnTo>
                                <a:lnTo>
                                  <a:pt x="525" y="45"/>
                                </a:lnTo>
                                <a:lnTo>
                                  <a:pt x="532" y="42"/>
                                </a:lnTo>
                                <a:lnTo>
                                  <a:pt x="550" y="47"/>
                                </a:lnTo>
                                <a:lnTo>
                                  <a:pt x="546" y="56"/>
                                </a:lnTo>
                                <a:lnTo>
                                  <a:pt x="552" y="63"/>
                                </a:lnTo>
                                <a:lnTo>
                                  <a:pt x="531" y="79"/>
                                </a:lnTo>
                                <a:lnTo>
                                  <a:pt x="515" y="92"/>
                                </a:lnTo>
                                <a:lnTo>
                                  <a:pt x="494" y="111"/>
                                </a:lnTo>
                                <a:lnTo>
                                  <a:pt x="458" y="135"/>
                                </a:lnTo>
                                <a:lnTo>
                                  <a:pt x="424" y="151"/>
                                </a:lnTo>
                                <a:lnTo>
                                  <a:pt x="397" y="166"/>
                                </a:lnTo>
                                <a:lnTo>
                                  <a:pt x="379" y="170"/>
                                </a:lnTo>
                                <a:lnTo>
                                  <a:pt x="357" y="176"/>
                                </a:lnTo>
                                <a:lnTo>
                                  <a:pt x="339" y="180"/>
                                </a:lnTo>
                                <a:lnTo>
                                  <a:pt x="328" y="180"/>
                                </a:lnTo>
                                <a:lnTo>
                                  <a:pt x="310" y="185"/>
                                </a:lnTo>
                                <a:lnTo>
                                  <a:pt x="301" y="183"/>
                                </a:lnTo>
                                <a:lnTo>
                                  <a:pt x="284" y="186"/>
                                </a:lnTo>
                                <a:lnTo>
                                  <a:pt x="266" y="185"/>
                                </a:lnTo>
                                <a:lnTo>
                                  <a:pt x="244" y="186"/>
                                </a:lnTo>
                                <a:lnTo>
                                  <a:pt x="232" y="189"/>
                                </a:lnTo>
                                <a:lnTo>
                                  <a:pt x="218" y="185"/>
                                </a:lnTo>
                                <a:lnTo>
                                  <a:pt x="202" y="182"/>
                                </a:lnTo>
                                <a:lnTo>
                                  <a:pt x="185" y="183"/>
                                </a:lnTo>
                                <a:lnTo>
                                  <a:pt x="168" y="182"/>
                                </a:lnTo>
                                <a:lnTo>
                                  <a:pt x="152" y="179"/>
                                </a:lnTo>
                                <a:lnTo>
                                  <a:pt x="139" y="178"/>
                                </a:lnTo>
                                <a:lnTo>
                                  <a:pt x="128" y="178"/>
                                </a:lnTo>
                                <a:lnTo>
                                  <a:pt x="115" y="170"/>
                                </a:lnTo>
                                <a:lnTo>
                                  <a:pt x="98" y="163"/>
                                </a:lnTo>
                                <a:lnTo>
                                  <a:pt x="83" y="153"/>
                                </a:lnTo>
                                <a:lnTo>
                                  <a:pt x="67" y="144"/>
                                </a:lnTo>
                                <a:lnTo>
                                  <a:pt x="50" y="133"/>
                                </a:lnTo>
                                <a:lnTo>
                                  <a:pt x="35" y="121"/>
                                </a:lnTo>
                                <a:lnTo>
                                  <a:pt x="24" y="109"/>
                                </a:lnTo>
                                <a:lnTo>
                                  <a:pt x="13" y="99"/>
                                </a:lnTo>
                                <a:lnTo>
                                  <a:pt x="0" y="8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79" name="Freeform 16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105" y="2679"/>
                            <a:ext cx="55" cy="99"/>
                          </a:xfrm>
                          <a:custGeom>
                            <a:avLst/>
                            <a:gdLst>
                              <a:gd name="T0" fmla="*/ 1 w 110"/>
                              <a:gd name="T1" fmla="*/ 2 h 197"/>
                              <a:gd name="T2" fmla="*/ 1 w 110"/>
                              <a:gd name="T3" fmla="*/ 4 h 197"/>
                              <a:gd name="T4" fmla="*/ 1 w 110"/>
                              <a:gd name="T5" fmla="*/ 4 h 197"/>
                              <a:gd name="T6" fmla="*/ 0 w 110"/>
                              <a:gd name="T7" fmla="*/ 5 h 197"/>
                              <a:gd name="T8" fmla="*/ 0 w 110"/>
                              <a:gd name="T9" fmla="*/ 6 h 197"/>
                              <a:gd name="T10" fmla="*/ 1 w 110"/>
                              <a:gd name="T11" fmla="*/ 6 h 197"/>
                              <a:gd name="T12" fmla="*/ 1 w 110"/>
                              <a:gd name="T13" fmla="*/ 7 h 197"/>
                              <a:gd name="T14" fmla="*/ 1 w 110"/>
                              <a:gd name="T15" fmla="*/ 7 h 197"/>
                              <a:gd name="T16" fmla="*/ 1 w 110"/>
                              <a:gd name="T17" fmla="*/ 7 h 197"/>
                              <a:gd name="T18" fmla="*/ 2 w 110"/>
                              <a:gd name="T19" fmla="*/ 7 h 197"/>
                              <a:gd name="T20" fmla="*/ 2 w 110"/>
                              <a:gd name="T21" fmla="*/ 6 h 197"/>
                              <a:gd name="T22" fmla="*/ 2 w 110"/>
                              <a:gd name="T23" fmla="*/ 6 h 197"/>
                              <a:gd name="T24" fmla="*/ 2 w 110"/>
                              <a:gd name="T25" fmla="*/ 5 h 197"/>
                              <a:gd name="T26" fmla="*/ 2 w 110"/>
                              <a:gd name="T27" fmla="*/ 4 h 197"/>
                              <a:gd name="T28" fmla="*/ 3 w 110"/>
                              <a:gd name="T29" fmla="*/ 4 h 197"/>
                              <a:gd name="T30" fmla="*/ 3 w 110"/>
                              <a:gd name="T31" fmla="*/ 4 h 197"/>
                              <a:gd name="T32" fmla="*/ 3 w 110"/>
                              <a:gd name="T33" fmla="*/ 3 h 197"/>
                              <a:gd name="T34" fmla="*/ 3 w 110"/>
                              <a:gd name="T35" fmla="*/ 3 h 197"/>
                              <a:gd name="T36" fmla="*/ 3 w 110"/>
                              <a:gd name="T37" fmla="*/ 2 h 197"/>
                              <a:gd name="T38" fmla="*/ 3 w 110"/>
                              <a:gd name="T39" fmla="*/ 2 h 197"/>
                              <a:gd name="T40" fmla="*/ 3 w 110"/>
                              <a:gd name="T41" fmla="*/ 2 h 197"/>
                              <a:gd name="T42" fmla="*/ 4 w 110"/>
                              <a:gd name="T43" fmla="*/ 2 h 197"/>
                              <a:gd name="T44" fmla="*/ 4 w 110"/>
                              <a:gd name="T45" fmla="*/ 1 h 197"/>
                              <a:gd name="T46" fmla="*/ 4 w 110"/>
                              <a:gd name="T47" fmla="*/ 1 h 197"/>
                              <a:gd name="T48" fmla="*/ 4 w 110"/>
                              <a:gd name="T49" fmla="*/ 1 h 197"/>
                              <a:gd name="T50" fmla="*/ 3 w 110"/>
                              <a:gd name="T51" fmla="*/ 0 h 197"/>
                              <a:gd name="T52" fmla="*/ 3 w 110"/>
                              <a:gd name="T53" fmla="*/ 1 h 197"/>
                              <a:gd name="T54" fmla="*/ 3 w 110"/>
                              <a:gd name="T55" fmla="*/ 1 h 197"/>
                              <a:gd name="T56" fmla="*/ 3 w 110"/>
                              <a:gd name="T57" fmla="*/ 2 h 197"/>
                              <a:gd name="T58" fmla="*/ 2 w 110"/>
                              <a:gd name="T59" fmla="*/ 2 h 197"/>
                              <a:gd name="T60" fmla="*/ 2 w 110"/>
                              <a:gd name="T61" fmla="*/ 2 h 197"/>
                              <a:gd name="T62" fmla="*/ 2 w 110"/>
                              <a:gd name="T63" fmla="*/ 2 h 197"/>
                              <a:gd name="T64" fmla="*/ 2 w 110"/>
                              <a:gd name="T65" fmla="*/ 2 h 197"/>
                              <a:gd name="T66" fmla="*/ 1 w 110"/>
                              <a:gd name="T67" fmla="*/ 2 h 197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w 110"/>
                              <a:gd name="T103" fmla="*/ 0 h 197"/>
                              <a:gd name="T104" fmla="*/ 110 w 110"/>
                              <a:gd name="T105" fmla="*/ 197 h 197"/>
                            </a:gdLst>
                            <a:ahLst/>
                            <a:cxnLst>
                              <a:cxn ang="T68">
                                <a:pos x="T0" y="T1"/>
                              </a:cxn>
                              <a:cxn ang="T69">
                                <a:pos x="T2" y="T3"/>
                              </a:cxn>
                              <a:cxn ang="T70">
                                <a:pos x="T4" y="T5"/>
                              </a:cxn>
                              <a:cxn ang="T71">
                                <a:pos x="T6" y="T7"/>
                              </a:cxn>
                              <a:cxn ang="T72">
                                <a:pos x="T8" y="T9"/>
                              </a:cxn>
                              <a:cxn ang="T73">
                                <a:pos x="T10" y="T11"/>
                              </a:cxn>
                              <a:cxn ang="T74">
                                <a:pos x="T12" y="T13"/>
                              </a:cxn>
                              <a:cxn ang="T75">
                                <a:pos x="T14" y="T15"/>
                              </a:cxn>
                              <a:cxn ang="T76">
                                <a:pos x="T16" y="T17"/>
                              </a:cxn>
                              <a:cxn ang="T77">
                                <a:pos x="T18" y="T19"/>
                              </a:cxn>
                              <a:cxn ang="T78">
                                <a:pos x="T20" y="T21"/>
                              </a:cxn>
                              <a:cxn ang="T79">
                                <a:pos x="T22" y="T23"/>
                              </a:cxn>
                              <a:cxn ang="T80">
                                <a:pos x="T24" y="T25"/>
                              </a:cxn>
                              <a:cxn ang="T81">
                                <a:pos x="T26" y="T27"/>
                              </a:cxn>
                              <a:cxn ang="T82">
                                <a:pos x="T28" y="T29"/>
                              </a:cxn>
                              <a:cxn ang="T83">
                                <a:pos x="T30" y="T31"/>
                              </a:cxn>
                              <a:cxn ang="T84">
                                <a:pos x="T32" y="T33"/>
                              </a:cxn>
                              <a:cxn ang="T85">
                                <a:pos x="T34" y="T35"/>
                              </a:cxn>
                              <a:cxn ang="T86">
                                <a:pos x="T36" y="T37"/>
                              </a:cxn>
                              <a:cxn ang="T87">
                                <a:pos x="T38" y="T39"/>
                              </a:cxn>
                              <a:cxn ang="T88">
                                <a:pos x="T40" y="T41"/>
                              </a:cxn>
                              <a:cxn ang="T89">
                                <a:pos x="T42" y="T43"/>
                              </a:cxn>
                              <a:cxn ang="T90">
                                <a:pos x="T44" y="T45"/>
                              </a:cxn>
                              <a:cxn ang="T91">
                                <a:pos x="T46" y="T47"/>
                              </a:cxn>
                              <a:cxn ang="T92">
                                <a:pos x="T48" y="T49"/>
                              </a:cxn>
                              <a:cxn ang="T93">
                                <a:pos x="T50" y="T51"/>
                              </a:cxn>
                              <a:cxn ang="T94">
                                <a:pos x="T52" y="T53"/>
                              </a:cxn>
                              <a:cxn ang="T95">
                                <a:pos x="T54" y="T55"/>
                              </a:cxn>
                              <a:cxn ang="T96">
                                <a:pos x="T56" y="T57"/>
                              </a:cxn>
                              <a:cxn ang="T97">
                                <a:pos x="T58" y="T59"/>
                              </a:cxn>
                              <a:cxn ang="T98">
                                <a:pos x="T60" y="T61"/>
                              </a:cxn>
                              <a:cxn ang="T99">
                                <a:pos x="T62" y="T63"/>
                              </a:cxn>
                              <a:cxn ang="T100">
                                <a:pos x="T64" y="T65"/>
                              </a:cxn>
                              <a:cxn ang="T101">
                                <a:pos x="T66" y="T67"/>
                              </a:cxn>
                            </a:cxnLst>
                            <a:rect l="T102" t="T103" r="T104" b="T105"/>
                            <a:pathLst>
                              <a:path w="110" h="197">
                                <a:moveTo>
                                  <a:pt x="21" y="62"/>
                                </a:moveTo>
                                <a:lnTo>
                                  <a:pt x="18" y="101"/>
                                </a:lnTo>
                                <a:lnTo>
                                  <a:pt x="8" y="126"/>
                                </a:lnTo>
                                <a:lnTo>
                                  <a:pt x="0" y="149"/>
                                </a:lnTo>
                                <a:lnTo>
                                  <a:pt x="0" y="167"/>
                                </a:lnTo>
                                <a:lnTo>
                                  <a:pt x="3" y="181"/>
                                </a:lnTo>
                                <a:lnTo>
                                  <a:pt x="12" y="194"/>
                                </a:lnTo>
                                <a:lnTo>
                                  <a:pt x="21" y="196"/>
                                </a:lnTo>
                                <a:lnTo>
                                  <a:pt x="28" y="196"/>
                                </a:lnTo>
                                <a:lnTo>
                                  <a:pt x="36" y="197"/>
                                </a:lnTo>
                                <a:lnTo>
                                  <a:pt x="40" y="187"/>
                                </a:lnTo>
                                <a:lnTo>
                                  <a:pt x="44" y="161"/>
                                </a:lnTo>
                                <a:lnTo>
                                  <a:pt x="56" y="144"/>
                                </a:lnTo>
                                <a:lnTo>
                                  <a:pt x="59" y="117"/>
                                </a:lnTo>
                                <a:lnTo>
                                  <a:pt x="65" y="107"/>
                                </a:lnTo>
                                <a:lnTo>
                                  <a:pt x="70" y="100"/>
                                </a:lnTo>
                                <a:lnTo>
                                  <a:pt x="74" y="81"/>
                                </a:lnTo>
                                <a:lnTo>
                                  <a:pt x="82" y="69"/>
                                </a:lnTo>
                                <a:lnTo>
                                  <a:pt x="88" y="61"/>
                                </a:lnTo>
                                <a:lnTo>
                                  <a:pt x="93" y="53"/>
                                </a:lnTo>
                                <a:lnTo>
                                  <a:pt x="93" y="49"/>
                                </a:lnTo>
                                <a:lnTo>
                                  <a:pt x="106" y="39"/>
                                </a:lnTo>
                                <a:lnTo>
                                  <a:pt x="107" y="22"/>
                                </a:lnTo>
                                <a:lnTo>
                                  <a:pt x="110" y="11"/>
                                </a:lnTo>
                                <a:lnTo>
                                  <a:pt x="99" y="7"/>
                                </a:lnTo>
                                <a:lnTo>
                                  <a:pt x="92" y="0"/>
                                </a:lnTo>
                                <a:lnTo>
                                  <a:pt x="82" y="7"/>
                                </a:lnTo>
                                <a:lnTo>
                                  <a:pt x="74" y="24"/>
                                </a:lnTo>
                                <a:lnTo>
                                  <a:pt x="65" y="38"/>
                                </a:lnTo>
                                <a:lnTo>
                                  <a:pt x="56" y="48"/>
                                </a:lnTo>
                                <a:lnTo>
                                  <a:pt x="52" y="48"/>
                                </a:lnTo>
                                <a:lnTo>
                                  <a:pt x="44" y="53"/>
                                </a:lnTo>
                                <a:lnTo>
                                  <a:pt x="40" y="59"/>
                                </a:lnTo>
                                <a:lnTo>
                                  <a:pt x="21" y="62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80" name="Freeform 16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840" y="2113"/>
                            <a:ext cx="751" cy="469"/>
                          </a:xfrm>
                          <a:custGeom>
                            <a:avLst/>
                            <a:gdLst>
                              <a:gd name="T0" fmla="*/ 2 w 1503"/>
                              <a:gd name="T1" fmla="*/ 13 h 936"/>
                              <a:gd name="T2" fmla="*/ 3 w 1503"/>
                              <a:gd name="T3" fmla="*/ 11 h 936"/>
                              <a:gd name="T4" fmla="*/ 4 w 1503"/>
                              <a:gd name="T5" fmla="*/ 9 h 936"/>
                              <a:gd name="T6" fmla="*/ 6 w 1503"/>
                              <a:gd name="T7" fmla="*/ 9 h 936"/>
                              <a:gd name="T8" fmla="*/ 7 w 1503"/>
                              <a:gd name="T9" fmla="*/ 8 h 936"/>
                              <a:gd name="T10" fmla="*/ 9 w 1503"/>
                              <a:gd name="T11" fmla="*/ 6 h 936"/>
                              <a:gd name="T12" fmla="*/ 10 w 1503"/>
                              <a:gd name="T13" fmla="*/ 5 h 936"/>
                              <a:gd name="T14" fmla="*/ 10 w 1503"/>
                              <a:gd name="T15" fmla="*/ 4 h 936"/>
                              <a:gd name="T16" fmla="*/ 10 w 1503"/>
                              <a:gd name="T17" fmla="*/ 3 h 936"/>
                              <a:gd name="T18" fmla="*/ 8 w 1503"/>
                              <a:gd name="T19" fmla="*/ 4 h 936"/>
                              <a:gd name="T20" fmla="*/ 8 w 1503"/>
                              <a:gd name="T21" fmla="*/ 7 h 936"/>
                              <a:gd name="T22" fmla="*/ 7 w 1503"/>
                              <a:gd name="T23" fmla="*/ 7 h 936"/>
                              <a:gd name="T24" fmla="*/ 6 w 1503"/>
                              <a:gd name="T25" fmla="*/ 6 h 936"/>
                              <a:gd name="T26" fmla="*/ 5 w 1503"/>
                              <a:gd name="T27" fmla="*/ 7 h 936"/>
                              <a:gd name="T28" fmla="*/ 4 w 1503"/>
                              <a:gd name="T29" fmla="*/ 6 h 936"/>
                              <a:gd name="T30" fmla="*/ 5 w 1503"/>
                              <a:gd name="T31" fmla="*/ 5 h 936"/>
                              <a:gd name="T32" fmla="*/ 6 w 1503"/>
                              <a:gd name="T33" fmla="*/ 4 h 936"/>
                              <a:gd name="T34" fmla="*/ 7 w 1503"/>
                              <a:gd name="T35" fmla="*/ 3 h 936"/>
                              <a:gd name="T36" fmla="*/ 9 w 1503"/>
                              <a:gd name="T37" fmla="*/ 1 h 936"/>
                              <a:gd name="T38" fmla="*/ 11 w 1503"/>
                              <a:gd name="T39" fmla="*/ 1 h 936"/>
                              <a:gd name="T40" fmla="*/ 14 w 1503"/>
                              <a:gd name="T41" fmla="*/ 2 h 936"/>
                              <a:gd name="T42" fmla="*/ 13 w 1503"/>
                              <a:gd name="T43" fmla="*/ 4 h 936"/>
                              <a:gd name="T44" fmla="*/ 14 w 1503"/>
                              <a:gd name="T45" fmla="*/ 5 h 936"/>
                              <a:gd name="T46" fmla="*/ 15 w 1503"/>
                              <a:gd name="T47" fmla="*/ 4 h 936"/>
                              <a:gd name="T48" fmla="*/ 19 w 1503"/>
                              <a:gd name="T49" fmla="*/ 4 h 936"/>
                              <a:gd name="T50" fmla="*/ 23 w 1503"/>
                              <a:gd name="T51" fmla="*/ 1 h 936"/>
                              <a:gd name="T52" fmla="*/ 31 w 1503"/>
                              <a:gd name="T53" fmla="*/ 2 h 936"/>
                              <a:gd name="T54" fmla="*/ 44 w 1503"/>
                              <a:gd name="T55" fmla="*/ 4 h 936"/>
                              <a:gd name="T56" fmla="*/ 45 w 1503"/>
                              <a:gd name="T57" fmla="*/ 5 h 936"/>
                              <a:gd name="T58" fmla="*/ 45 w 1503"/>
                              <a:gd name="T59" fmla="*/ 9 h 936"/>
                              <a:gd name="T60" fmla="*/ 42 w 1503"/>
                              <a:gd name="T61" fmla="*/ 6 h 936"/>
                              <a:gd name="T62" fmla="*/ 39 w 1503"/>
                              <a:gd name="T63" fmla="*/ 8 h 936"/>
                              <a:gd name="T64" fmla="*/ 43 w 1503"/>
                              <a:gd name="T65" fmla="*/ 13 h 936"/>
                              <a:gd name="T66" fmla="*/ 41 w 1503"/>
                              <a:gd name="T67" fmla="*/ 16 h 936"/>
                              <a:gd name="T68" fmla="*/ 44 w 1503"/>
                              <a:gd name="T69" fmla="*/ 21 h 936"/>
                              <a:gd name="T70" fmla="*/ 41 w 1503"/>
                              <a:gd name="T71" fmla="*/ 24 h 936"/>
                              <a:gd name="T72" fmla="*/ 40 w 1503"/>
                              <a:gd name="T73" fmla="*/ 26 h 936"/>
                              <a:gd name="T74" fmla="*/ 40 w 1503"/>
                              <a:gd name="T75" fmla="*/ 28 h 936"/>
                              <a:gd name="T76" fmla="*/ 39 w 1503"/>
                              <a:gd name="T77" fmla="*/ 28 h 936"/>
                              <a:gd name="T78" fmla="*/ 36 w 1503"/>
                              <a:gd name="T79" fmla="*/ 24 h 936"/>
                              <a:gd name="T80" fmla="*/ 32 w 1503"/>
                              <a:gd name="T81" fmla="*/ 23 h 936"/>
                              <a:gd name="T82" fmla="*/ 30 w 1503"/>
                              <a:gd name="T83" fmla="*/ 26 h 936"/>
                              <a:gd name="T84" fmla="*/ 24 w 1503"/>
                              <a:gd name="T85" fmla="*/ 20 h 936"/>
                              <a:gd name="T86" fmla="*/ 18 w 1503"/>
                              <a:gd name="T87" fmla="*/ 18 h 936"/>
                              <a:gd name="T88" fmla="*/ 23 w 1503"/>
                              <a:gd name="T89" fmla="*/ 22 h 936"/>
                              <a:gd name="T90" fmla="*/ 17 w 1503"/>
                              <a:gd name="T91" fmla="*/ 25 h 936"/>
                              <a:gd name="T92" fmla="*/ 15 w 1503"/>
                              <a:gd name="T93" fmla="*/ 22 h 936"/>
                              <a:gd name="T94" fmla="*/ 13 w 1503"/>
                              <a:gd name="T95" fmla="*/ 19 h 936"/>
                              <a:gd name="T96" fmla="*/ 11 w 1503"/>
                              <a:gd name="T97" fmla="*/ 16 h 936"/>
                              <a:gd name="T98" fmla="*/ 11 w 1503"/>
                              <a:gd name="T99" fmla="*/ 15 h 936"/>
                              <a:gd name="T100" fmla="*/ 10 w 1503"/>
                              <a:gd name="T101" fmla="*/ 14 h 936"/>
                              <a:gd name="T102" fmla="*/ 9 w 1503"/>
                              <a:gd name="T103" fmla="*/ 15 h 936"/>
                              <a:gd name="T104" fmla="*/ 8 w 1503"/>
                              <a:gd name="T105" fmla="*/ 13 h 936"/>
                              <a:gd name="T106" fmla="*/ 7 w 1503"/>
                              <a:gd name="T107" fmla="*/ 13 h 936"/>
                              <a:gd name="T108" fmla="*/ 8 w 1503"/>
                              <a:gd name="T109" fmla="*/ 14 h 936"/>
                              <a:gd name="T110" fmla="*/ 8 w 1503"/>
                              <a:gd name="T111" fmla="*/ 15 h 936"/>
                              <a:gd name="T112" fmla="*/ 6 w 1503"/>
                              <a:gd name="T113" fmla="*/ 14 h 936"/>
                              <a:gd name="T114" fmla="*/ 5 w 1503"/>
                              <a:gd name="T115" fmla="*/ 13 h 936"/>
                              <a:gd name="T116" fmla="*/ 3 w 1503"/>
                              <a:gd name="T117" fmla="*/ 14 h 936"/>
                              <a:gd name="T118" fmla="*/ 3 w 1503"/>
                              <a:gd name="T119" fmla="*/ 15 h 936"/>
                              <a:gd name="T120" fmla="*/ 2 w 1503"/>
                              <a:gd name="T121" fmla="*/ 16 h 936"/>
                              <a:gd name="T122" fmla="*/ 0 w 1503"/>
                              <a:gd name="T123" fmla="*/ 15 h 9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60000 65536"/>
                              <a:gd name="T163" fmla="*/ 0 60000 65536"/>
                              <a:gd name="T164" fmla="*/ 0 60000 65536"/>
                              <a:gd name="T165" fmla="*/ 0 60000 65536"/>
                              <a:gd name="T166" fmla="*/ 0 60000 65536"/>
                              <a:gd name="T167" fmla="*/ 0 60000 65536"/>
                              <a:gd name="T168" fmla="*/ 0 60000 65536"/>
                              <a:gd name="T169" fmla="*/ 0 60000 65536"/>
                              <a:gd name="T170" fmla="*/ 0 60000 65536"/>
                              <a:gd name="T171" fmla="*/ 0 60000 65536"/>
                              <a:gd name="T172" fmla="*/ 0 60000 65536"/>
                              <a:gd name="T173" fmla="*/ 0 60000 65536"/>
                              <a:gd name="T174" fmla="*/ 0 60000 65536"/>
                              <a:gd name="T175" fmla="*/ 0 60000 65536"/>
                              <a:gd name="T176" fmla="*/ 0 60000 65536"/>
                              <a:gd name="T177" fmla="*/ 0 60000 65536"/>
                              <a:gd name="T178" fmla="*/ 0 60000 65536"/>
                              <a:gd name="T179" fmla="*/ 0 60000 65536"/>
                              <a:gd name="T180" fmla="*/ 0 60000 65536"/>
                              <a:gd name="T181" fmla="*/ 0 60000 65536"/>
                              <a:gd name="T182" fmla="*/ 0 60000 65536"/>
                              <a:gd name="T183" fmla="*/ 0 60000 65536"/>
                              <a:gd name="T184" fmla="*/ 0 60000 65536"/>
                              <a:gd name="T185" fmla="*/ 0 60000 65536"/>
                              <a:gd name="T186" fmla="*/ 0 w 1503"/>
                              <a:gd name="T187" fmla="*/ 0 h 936"/>
                              <a:gd name="T188" fmla="*/ 1503 w 1503"/>
                              <a:gd name="T189" fmla="*/ 936 h 936"/>
                            </a:gdLst>
                            <a:ahLst/>
                            <a:cxnLst>
                              <a:cxn ang="T124">
                                <a:pos x="T0" y="T1"/>
                              </a:cxn>
                              <a:cxn ang="T125">
                                <a:pos x="T2" y="T3"/>
                              </a:cxn>
                              <a:cxn ang="T126">
                                <a:pos x="T4" y="T5"/>
                              </a:cxn>
                              <a:cxn ang="T127">
                                <a:pos x="T6" y="T7"/>
                              </a:cxn>
                              <a:cxn ang="T128">
                                <a:pos x="T8" y="T9"/>
                              </a:cxn>
                              <a:cxn ang="T129">
                                <a:pos x="T10" y="T11"/>
                              </a:cxn>
                              <a:cxn ang="T130">
                                <a:pos x="T12" y="T13"/>
                              </a:cxn>
                              <a:cxn ang="T131">
                                <a:pos x="T14" y="T15"/>
                              </a:cxn>
                              <a:cxn ang="T132">
                                <a:pos x="T16" y="T17"/>
                              </a:cxn>
                              <a:cxn ang="T133">
                                <a:pos x="T18" y="T19"/>
                              </a:cxn>
                              <a:cxn ang="T134">
                                <a:pos x="T20" y="T21"/>
                              </a:cxn>
                              <a:cxn ang="T135">
                                <a:pos x="T22" y="T23"/>
                              </a:cxn>
                              <a:cxn ang="T136">
                                <a:pos x="T24" y="T25"/>
                              </a:cxn>
                              <a:cxn ang="T137">
                                <a:pos x="T26" y="T27"/>
                              </a:cxn>
                              <a:cxn ang="T138">
                                <a:pos x="T28" y="T29"/>
                              </a:cxn>
                              <a:cxn ang="T139">
                                <a:pos x="T30" y="T31"/>
                              </a:cxn>
                              <a:cxn ang="T140">
                                <a:pos x="T32" y="T33"/>
                              </a:cxn>
                              <a:cxn ang="T141">
                                <a:pos x="T34" y="T35"/>
                              </a:cxn>
                              <a:cxn ang="T142">
                                <a:pos x="T36" y="T37"/>
                              </a:cxn>
                              <a:cxn ang="T143">
                                <a:pos x="T38" y="T39"/>
                              </a:cxn>
                              <a:cxn ang="T144">
                                <a:pos x="T40" y="T41"/>
                              </a:cxn>
                              <a:cxn ang="T145">
                                <a:pos x="T42" y="T43"/>
                              </a:cxn>
                              <a:cxn ang="T146">
                                <a:pos x="T44" y="T45"/>
                              </a:cxn>
                              <a:cxn ang="T147">
                                <a:pos x="T46" y="T47"/>
                              </a:cxn>
                              <a:cxn ang="T148">
                                <a:pos x="T48" y="T49"/>
                              </a:cxn>
                              <a:cxn ang="T149">
                                <a:pos x="T50" y="T51"/>
                              </a:cxn>
                              <a:cxn ang="T150">
                                <a:pos x="T52" y="T53"/>
                              </a:cxn>
                              <a:cxn ang="T151">
                                <a:pos x="T54" y="T55"/>
                              </a:cxn>
                              <a:cxn ang="T152">
                                <a:pos x="T56" y="T57"/>
                              </a:cxn>
                              <a:cxn ang="T153">
                                <a:pos x="T58" y="T59"/>
                              </a:cxn>
                              <a:cxn ang="T154">
                                <a:pos x="T60" y="T61"/>
                              </a:cxn>
                              <a:cxn ang="T155">
                                <a:pos x="T62" y="T63"/>
                              </a:cxn>
                              <a:cxn ang="T156">
                                <a:pos x="T64" y="T65"/>
                              </a:cxn>
                              <a:cxn ang="T157">
                                <a:pos x="T66" y="T67"/>
                              </a:cxn>
                              <a:cxn ang="T158">
                                <a:pos x="T68" y="T69"/>
                              </a:cxn>
                              <a:cxn ang="T159">
                                <a:pos x="T70" y="T71"/>
                              </a:cxn>
                              <a:cxn ang="T160">
                                <a:pos x="T72" y="T73"/>
                              </a:cxn>
                              <a:cxn ang="T161">
                                <a:pos x="T74" y="T75"/>
                              </a:cxn>
                              <a:cxn ang="T162">
                                <a:pos x="T76" y="T77"/>
                              </a:cxn>
                              <a:cxn ang="T163">
                                <a:pos x="T78" y="T79"/>
                              </a:cxn>
                              <a:cxn ang="T164">
                                <a:pos x="T80" y="T81"/>
                              </a:cxn>
                              <a:cxn ang="T165">
                                <a:pos x="T82" y="T83"/>
                              </a:cxn>
                              <a:cxn ang="T166">
                                <a:pos x="T84" y="T85"/>
                              </a:cxn>
                              <a:cxn ang="T167">
                                <a:pos x="T86" y="T87"/>
                              </a:cxn>
                              <a:cxn ang="T168">
                                <a:pos x="T88" y="T89"/>
                              </a:cxn>
                              <a:cxn ang="T169">
                                <a:pos x="T90" y="T91"/>
                              </a:cxn>
                              <a:cxn ang="T170">
                                <a:pos x="T92" y="T93"/>
                              </a:cxn>
                              <a:cxn ang="T171">
                                <a:pos x="T94" y="T95"/>
                              </a:cxn>
                              <a:cxn ang="T172">
                                <a:pos x="T96" y="T97"/>
                              </a:cxn>
                              <a:cxn ang="T173">
                                <a:pos x="T98" y="T99"/>
                              </a:cxn>
                              <a:cxn ang="T174">
                                <a:pos x="T100" y="T101"/>
                              </a:cxn>
                              <a:cxn ang="T175">
                                <a:pos x="T102" y="T103"/>
                              </a:cxn>
                              <a:cxn ang="T176">
                                <a:pos x="T104" y="T105"/>
                              </a:cxn>
                              <a:cxn ang="T177">
                                <a:pos x="T106" y="T107"/>
                              </a:cxn>
                              <a:cxn ang="T178">
                                <a:pos x="T108" y="T109"/>
                              </a:cxn>
                              <a:cxn ang="T179">
                                <a:pos x="T110" y="T111"/>
                              </a:cxn>
                              <a:cxn ang="T180">
                                <a:pos x="T112" y="T113"/>
                              </a:cxn>
                              <a:cxn ang="T181">
                                <a:pos x="T114" y="T115"/>
                              </a:cxn>
                              <a:cxn ang="T182">
                                <a:pos x="T116" y="T117"/>
                              </a:cxn>
                              <a:cxn ang="T183">
                                <a:pos x="T118" y="T119"/>
                              </a:cxn>
                              <a:cxn ang="T184">
                                <a:pos x="T120" y="T121"/>
                              </a:cxn>
                              <a:cxn ang="T185">
                                <a:pos x="T122" y="T123"/>
                              </a:cxn>
                            </a:cxnLst>
                            <a:rect l="T186" t="T187" r="T188" b="T189"/>
                            <a:pathLst>
                              <a:path w="1503" h="936">
                                <a:moveTo>
                                  <a:pt x="0" y="419"/>
                                </a:moveTo>
                                <a:lnTo>
                                  <a:pt x="14" y="406"/>
                                </a:lnTo>
                                <a:lnTo>
                                  <a:pt x="22" y="396"/>
                                </a:lnTo>
                                <a:lnTo>
                                  <a:pt x="40" y="396"/>
                                </a:lnTo>
                                <a:lnTo>
                                  <a:pt x="59" y="399"/>
                                </a:lnTo>
                                <a:lnTo>
                                  <a:pt x="73" y="393"/>
                                </a:lnTo>
                                <a:lnTo>
                                  <a:pt x="88" y="392"/>
                                </a:lnTo>
                                <a:lnTo>
                                  <a:pt x="90" y="374"/>
                                </a:lnTo>
                                <a:lnTo>
                                  <a:pt x="98" y="363"/>
                                </a:lnTo>
                                <a:lnTo>
                                  <a:pt x="77" y="350"/>
                                </a:lnTo>
                                <a:lnTo>
                                  <a:pt x="74" y="339"/>
                                </a:lnTo>
                                <a:lnTo>
                                  <a:pt x="76" y="325"/>
                                </a:lnTo>
                                <a:lnTo>
                                  <a:pt x="91" y="325"/>
                                </a:lnTo>
                                <a:lnTo>
                                  <a:pt x="101" y="323"/>
                                </a:lnTo>
                                <a:lnTo>
                                  <a:pt x="102" y="325"/>
                                </a:lnTo>
                                <a:lnTo>
                                  <a:pt x="113" y="316"/>
                                </a:lnTo>
                                <a:lnTo>
                                  <a:pt x="124" y="312"/>
                                </a:lnTo>
                                <a:lnTo>
                                  <a:pt x="128" y="312"/>
                                </a:lnTo>
                                <a:lnTo>
                                  <a:pt x="135" y="303"/>
                                </a:lnTo>
                                <a:lnTo>
                                  <a:pt x="143" y="300"/>
                                </a:lnTo>
                                <a:lnTo>
                                  <a:pt x="151" y="284"/>
                                </a:lnTo>
                                <a:lnTo>
                                  <a:pt x="157" y="289"/>
                                </a:lnTo>
                                <a:lnTo>
                                  <a:pt x="168" y="278"/>
                                </a:lnTo>
                                <a:lnTo>
                                  <a:pt x="169" y="278"/>
                                </a:lnTo>
                                <a:lnTo>
                                  <a:pt x="183" y="267"/>
                                </a:lnTo>
                                <a:lnTo>
                                  <a:pt x="191" y="265"/>
                                </a:lnTo>
                                <a:lnTo>
                                  <a:pt x="202" y="265"/>
                                </a:lnTo>
                                <a:lnTo>
                                  <a:pt x="209" y="265"/>
                                </a:lnTo>
                                <a:lnTo>
                                  <a:pt x="203" y="251"/>
                                </a:lnTo>
                                <a:lnTo>
                                  <a:pt x="201" y="239"/>
                                </a:lnTo>
                                <a:lnTo>
                                  <a:pt x="198" y="214"/>
                                </a:lnTo>
                                <a:lnTo>
                                  <a:pt x="214" y="213"/>
                                </a:lnTo>
                                <a:lnTo>
                                  <a:pt x="223" y="209"/>
                                </a:lnTo>
                                <a:lnTo>
                                  <a:pt x="218" y="219"/>
                                </a:lnTo>
                                <a:lnTo>
                                  <a:pt x="225" y="226"/>
                                </a:lnTo>
                                <a:lnTo>
                                  <a:pt x="232" y="235"/>
                                </a:lnTo>
                                <a:lnTo>
                                  <a:pt x="236" y="241"/>
                                </a:lnTo>
                                <a:lnTo>
                                  <a:pt x="255" y="239"/>
                                </a:lnTo>
                                <a:lnTo>
                                  <a:pt x="272" y="217"/>
                                </a:lnTo>
                                <a:lnTo>
                                  <a:pt x="284" y="207"/>
                                </a:lnTo>
                                <a:lnTo>
                                  <a:pt x="291" y="200"/>
                                </a:lnTo>
                                <a:lnTo>
                                  <a:pt x="299" y="191"/>
                                </a:lnTo>
                                <a:lnTo>
                                  <a:pt x="308" y="180"/>
                                </a:lnTo>
                                <a:lnTo>
                                  <a:pt x="314" y="184"/>
                                </a:lnTo>
                                <a:lnTo>
                                  <a:pt x="314" y="177"/>
                                </a:lnTo>
                                <a:lnTo>
                                  <a:pt x="319" y="172"/>
                                </a:lnTo>
                                <a:lnTo>
                                  <a:pt x="331" y="175"/>
                                </a:lnTo>
                                <a:lnTo>
                                  <a:pt x="351" y="194"/>
                                </a:lnTo>
                                <a:lnTo>
                                  <a:pt x="347" y="142"/>
                                </a:lnTo>
                                <a:lnTo>
                                  <a:pt x="330" y="165"/>
                                </a:lnTo>
                                <a:lnTo>
                                  <a:pt x="316" y="164"/>
                                </a:lnTo>
                                <a:lnTo>
                                  <a:pt x="312" y="149"/>
                                </a:lnTo>
                                <a:lnTo>
                                  <a:pt x="312" y="142"/>
                                </a:lnTo>
                                <a:lnTo>
                                  <a:pt x="308" y="138"/>
                                </a:lnTo>
                                <a:lnTo>
                                  <a:pt x="319" y="126"/>
                                </a:lnTo>
                                <a:lnTo>
                                  <a:pt x="325" y="117"/>
                                </a:lnTo>
                                <a:lnTo>
                                  <a:pt x="332" y="114"/>
                                </a:lnTo>
                                <a:lnTo>
                                  <a:pt x="338" y="113"/>
                                </a:lnTo>
                                <a:lnTo>
                                  <a:pt x="342" y="106"/>
                                </a:lnTo>
                                <a:lnTo>
                                  <a:pt x="347" y="104"/>
                                </a:lnTo>
                                <a:lnTo>
                                  <a:pt x="354" y="104"/>
                                </a:lnTo>
                                <a:lnTo>
                                  <a:pt x="342" y="91"/>
                                </a:lnTo>
                                <a:lnTo>
                                  <a:pt x="330" y="94"/>
                                </a:lnTo>
                                <a:lnTo>
                                  <a:pt x="321" y="94"/>
                                </a:lnTo>
                                <a:lnTo>
                                  <a:pt x="314" y="90"/>
                                </a:lnTo>
                                <a:lnTo>
                                  <a:pt x="314" y="98"/>
                                </a:lnTo>
                                <a:lnTo>
                                  <a:pt x="308" y="107"/>
                                </a:lnTo>
                                <a:lnTo>
                                  <a:pt x="298" y="122"/>
                                </a:lnTo>
                                <a:lnTo>
                                  <a:pt x="288" y="127"/>
                                </a:lnTo>
                                <a:lnTo>
                                  <a:pt x="282" y="127"/>
                                </a:lnTo>
                                <a:lnTo>
                                  <a:pt x="279" y="138"/>
                                </a:lnTo>
                                <a:lnTo>
                                  <a:pt x="279" y="142"/>
                                </a:lnTo>
                                <a:lnTo>
                                  <a:pt x="273" y="146"/>
                                </a:lnTo>
                                <a:lnTo>
                                  <a:pt x="280" y="164"/>
                                </a:lnTo>
                                <a:lnTo>
                                  <a:pt x="284" y="172"/>
                                </a:lnTo>
                                <a:lnTo>
                                  <a:pt x="276" y="185"/>
                                </a:lnTo>
                                <a:lnTo>
                                  <a:pt x="266" y="194"/>
                                </a:lnTo>
                                <a:lnTo>
                                  <a:pt x="264" y="207"/>
                                </a:lnTo>
                                <a:lnTo>
                                  <a:pt x="258" y="217"/>
                                </a:lnTo>
                                <a:lnTo>
                                  <a:pt x="253" y="217"/>
                                </a:lnTo>
                                <a:lnTo>
                                  <a:pt x="244" y="219"/>
                                </a:lnTo>
                                <a:lnTo>
                                  <a:pt x="236" y="223"/>
                                </a:lnTo>
                                <a:lnTo>
                                  <a:pt x="234" y="222"/>
                                </a:lnTo>
                                <a:lnTo>
                                  <a:pt x="234" y="214"/>
                                </a:lnTo>
                                <a:lnTo>
                                  <a:pt x="232" y="203"/>
                                </a:lnTo>
                                <a:lnTo>
                                  <a:pt x="225" y="203"/>
                                </a:lnTo>
                                <a:lnTo>
                                  <a:pt x="221" y="196"/>
                                </a:lnTo>
                                <a:lnTo>
                                  <a:pt x="223" y="185"/>
                                </a:lnTo>
                                <a:lnTo>
                                  <a:pt x="224" y="180"/>
                                </a:lnTo>
                                <a:lnTo>
                                  <a:pt x="223" y="177"/>
                                </a:lnTo>
                                <a:lnTo>
                                  <a:pt x="217" y="180"/>
                                </a:lnTo>
                                <a:lnTo>
                                  <a:pt x="214" y="180"/>
                                </a:lnTo>
                                <a:lnTo>
                                  <a:pt x="210" y="178"/>
                                </a:lnTo>
                                <a:lnTo>
                                  <a:pt x="207" y="177"/>
                                </a:lnTo>
                                <a:lnTo>
                                  <a:pt x="201" y="183"/>
                                </a:lnTo>
                                <a:lnTo>
                                  <a:pt x="194" y="190"/>
                                </a:lnTo>
                                <a:lnTo>
                                  <a:pt x="187" y="197"/>
                                </a:lnTo>
                                <a:lnTo>
                                  <a:pt x="172" y="196"/>
                                </a:lnTo>
                                <a:lnTo>
                                  <a:pt x="162" y="194"/>
                                </a:lnTo>
                                <a:lnTo>
                                  <a:pt x="155" y="187"/>
                                </a:lnTo>
                                <a:lnTo>
                                  <a:pt x="155" y="183"/>
                                </a:lnTo>
                                <a:lnTo>
                                  <a:pt x="159" y="177"/>
                                </a:lnTo>
                                <a:lnTo>
                                  <a:pt x="165" y="172"/>
                                </a:lnTo>
                                <a:lnTo>
                                  <a:pt x="169" y="167"/>
                                </a:lnTo>
                                <a:lnTo>
                                  <a:pt x="159" y="169"/>
                                </a:lnTo>
                                <a:lnTo>
                                  <a:pt x="155" y="162"/>
                                </a:lnTo>
                                <a:lnTo>
                                  <a:pt x="155" y="158"/>
                                </a:lnTo>
                                <a:lnTo>
                                  <a:pt x="169" y="156"/>
                                </a:lnTo>
                                <a:lnTo>
                                  <a:pt x="181" y="155"/>
                                </a:lnTo>
                                <a:lnTo>
                                  <a:pt x="173" y="151"/>
                                </a:lnTo>
                                <a:lnTo>
                                  <a:pt x="161" y="152"/>
                                </a:lnTo>
                                <a:lnTo>
                                  <a:pt x="161" y="143"/>
                                </a:lnTo>
                                <a:lnTo>
                                  <a:pt x="166" y="138"/>
                                </a:lnTo>
                                <a:lnTo>
                                  <a:pt x="179" y="132"/>
                                </a:lnTo>
                                <a:lnTo>
                                  <a:pt x="183" y="126"/>
                                </a:lnTo>
                                <a:lnTo>
                                  <a:pt x="187" y="123"/>
                                </a:lnTo>
                                <a:lnTo>
                                  <a:pt x="196" y="122"/>
                                </a:lnTo>
                                <a:lnTo>
                                  <a:pt x="205" y="123"/>
                                </a:lnTo>
                                <a:lnTo>
                                  <a:pt x="209" y="126"/>
                                </a:lnTo>
                                <a:lnTo>
                                  <a:pt x="216" y="122"/>
                                </a:lnTo>
                                <a:lnTo>
                                  <a:pt x="209" y="120"/>
                                </a:lnTo>
                                <a:lnTo>
                                  <a:pt x="209" y="108"/>
                                </a:lnTo>
                                <a:lnTo>
                                  <a:pt x="227" y="95"/>
                                </a:lnTo>
                                <a:lnTo>
                                  <a:pt x="236" y="87"/>
                                </a:lnTo>
                                <a:lnTo>
                                  <a:pt x="242" y="85"/>
                                </a:lnTo>
                                <a:lnTo>
                                  <a:pt x="240" y="81"/>
                                </a:lnTo>
                                <a:lnTo>
                                  <a:pt x="249" y="71"/>
                                </a:lnTo>
                                <a:lnTo>
                                  <a:pt x="258" y="58"/>
                                </a:lnTo>
                                <a:lnTo>
                                  <a:pt x="269" y="52"/>
                                </a:lnTo>
                                <a:lnTo>
                                  <a:pt x="261" y="46"/>
                                </a:lnTo>
                                <a:lnTo>
                                  <a:pt x="283" y="33"/>
                                </a:lnTo>
                                <a:lnTo>
                                  <a:pt x="292" y="34"/>
                                </a:lnTo>
                                <a:lnTo>
                                  <a:pt x="291" y="27"/>
                                </a:lnTo>
                                <a:lnTo>
                                  <a:pt x="310" y="26"/>
                                </a:lnTo>
                                <a:lnTo>
                                  <a:pt x="346" y="2"/>
                                </a:lnTo>
                                <a:lnTo>
                                  <a:pt x="351" y="0"/>
                                </a:lnTo>
                                <a:lnTo>
                                  <a:pt x="345" y="17"/>
                                </a:lnTo>
                                <a:lnTo>
                                  <a:pt x="353" y="8"/>
                                </a:lnTo>
                                <a:lnTo>
                                  <a:pt x="362" y="5"/>
                                </a:lnTo>
                                <a:lnTo>
                                  <a:pt x="361" y="13"/>
                                </a:lnTo>
                                <a:lnTo>
                                  <a:pt x="388" y="4"/>
                                </a:lnTo>
                                <a:lnTo>
                                  <a:pt x="402" y="11"/>
                                </a:lnTo>
                                <a:lnTo>
                                  <a:pt x="383" y="18"/>
                                </a:lnTo>
                                <a:lnTo>
                                  <a:pt x="390" y="27"/>
                                </a:lnTo>
                                <a:lnTo>
                                  <a:pt x="417" y="26"/>
                                </a:lnTo>
                                <a:lnTo>
                                  <a:pt x="457" y="39"/>
                                </a:lnTo>
                                <a:lnTo>
                                  <a:pt x="454" y="53"/>
                                </a:lnTo>
                                <a:lnTo>
                                  <a:pt x="438" y="66"/>
                                </a:lnTo>
                                <a:lnTo>
                                  <a:pt x="413" y="74"/>
                                </a:lnTo>
                                <a:lnTo>
                                  <a:pt x="409" y="90"/>
                                </a:lnTo>
                                <a:lnTo>
                                  <a:pt x="410" y="104"/>
                                </a:lnTo>
                                <a:lnTo>
                                  <a:pt x="417" y="107"/>
                                </a:lnTo>
                                <a:lnTo>
                                  <a:pt x="419" y="114"/>
                                </a:lnTo>
                                <a:lnTo>
                                  <a:pt x="421" y="117"/>
                                </a:lnTo>
                                <a:lnTo>
                                  <a:pt x="427" y="120"/>
                                </a:lnTo>
                                <a:lnTo>
                                  <a:pt x="428" y="129"/>
                                </a:lnTo>
                                <a:lnTo>
                                  <a:pt x="436" y="139"/>
                                </a:lnTo>
                                <a:lnTo>
                                  <a:pt x="436" y="143"/>
                                </a:lnTo>
                                <a:lnTo>
                                  <a:pt x="445" y="143"/>
                                </a:lnTo>
                                <a:lnTo>
                                  <a:pt x="447" y="146"/>
                                </a:lnTo>
                                <a:lnTo>
                                  <a:pt x="454" y="149"/>
                                </a:lnTo>
                                <a:lnTo>
                                  <a:pt x="458" y="145"/>
                                </a:lnTo>
                                <a:lnTo>
                                  <a:pt x="463" y="138"/>
                                </a:lnTo>
                                <a:lnTo>
                                  <a:pt x="465" y="133"/>
                                </a:lnTo>
                                <a:lnTo>
                                  <a:pt x="472" y="136"/>
                                </a:lnTo>
                                <a:lnTo>
                                  <a:pt x="480" y="126"/>
                                </a:lnTo>
                                <a:lnTo>
                                  <a:pt x="480" y="119"/>
                                </a:lnTo>
                                <a:lnTo>
                                  <a:pt x="483" y="113"/>
                                </a:lnTo>
                                <a:lnTo>
                                  <a:pt x="484" y="108"/>
                                </a:lnTo>
                                <a:lnTo>
                                  <a:pt x="501" y="104"/>
                                </a:lnTo>
                                <a:lnTo>
                                  <a:pt x="515" y="100"/>
                                </a:lnTo>
                                <a:lnTo>
                                  <a:pt x="532" y="94"/>
                                </a:lnTo>
                                <a:lnTo>
                                  <a:pt x="553" y="98"/>
                                </a:lnTo>
                                <a:lnTo>
                                  <a:pt x="574" y="98"/>
                                </a:lnTo>
                                <a:lnTo>
                                  <a:pt x="608" y="98"/>
                                </a:lnTo>
                                <a:lnTo>
                                  <a:pt x="613" y="62"/>
                                </a:lnTo>
                                <a:lnTo>
                                  <a:pt x="633" y="63"/>
                                </a:lnTo>
                                <a:lnTo>
                                  <a:pt x="646" y="91"/>
                                </a:lnTo>
                                <a:lnTo>
                                  <a:pt x="649" y="68"/>
                                </a:lnTo>
                                <a:lnTo>
                                  <a:pt x="712" y="4"/>
                                </a:lnTo>
                                <a:lnTo>
                                  <a:pt x="737" y="4"/>
                                </a:lnTo>
                                <a:lnTo>
                                  <a:pt x="759" y="17"/>
                                </a:lnTo>
                                <a:lnTo>
                                  <a:pt x="788" y="16"/>
                                </a:lnTo>
                                <a:lnTo>
                                  <a:pt x="826" y="39"/>
                                </a:lnTo>
                                <a:lnTo>
                                  <a:pt x="870" y="52"/>
                                </a:lnTo>
                                <a:lnTo>
                                  <a:pt x="901" y="49"/>
                                </a:lnTo>
                                <a:lnTo>
                                  <a:pt x="942" y="63"/>
                                </a:lnTo>
                                <a:lnTo>
                                  <a:pt x="977" y="63"/>
                                </a:lnTo>
                                <a:lnTo>
                                  <a:pt x="993" y="53"/>
                                </a:lnTo>
                                <a:lnTo>
                                  <a:pt x="1032" y="53"/>
                                </a:lnTo>
                                <a:lnTo>
                                  <a:pt x="1052" y="65"/>
                                </a:lnTo>
                                <a:lnTo>
                                  <a:pt x="1104" y="65"/>
                                </a:lnTo>
                                <a:lnTo>
                                  <a:pt x="1148" y="85"/>
                                </a:lnTo>
                                <a:lnTo>
                                  <a:pt x="1229" y="82"/>
                                </a:lnTo>
                                <a:lnTo>
                                  <a:pt x="1357" y="91"/>
                                </a:lnTo>
                                <a:lnTo>
                                  <a:pt x="1418" y="119"/>
                                </a:lnTo>
                                <a:lnTo>
                                  <a:pt x="1470" y="136"/>
                                </a:lnTo>
                                <a:lnTo>
                                  <a:pt x="1503" y="151"/>
                                </a:lnTo>
                                <a:lnTo>
                                  <a:pt x="1494" y="155"/>
                                </a:lnTo>
                                <a:lnTo>
                                  <a:pt x="1470" y="143"/>
                                </a:lnTo>
                                <a:lnTo>
                                  <a:pt x="1417" y="139"/>
                                </a:lnTo>
                                <a:lnTo>
                                  <a:pt x="1432" y="151"/>
                                </a:lnTo>
                                <a:lnTo>
                                  <a:pt x="1455" y="156"/>
                                </a:lnTo>
                                <a:lnTo>
                                  <a:pt x="1449" y="175"/>
                                </a:lnTo>
                                <a:lnTo>
                                  <a:pt x="1424" y="187"/>
                                </a:lnTo>
                                <a:lnTo>
                                  <a:pt x="1416" y="206"/>
                                </a:lnTo>
                                <a:lnTo>
                                  <a:pt x="1449" y="223"/>
                                </a:lnTo>
                                <a:lnTo>
                                  <a:pt x="1472" y="246"/>
                                </a:lnTo>
                                <a:lnTo>
                                  <a:pt x="1484" y="280"/>
                                </a:lnTo>
                                <a:lnTo>
                                  <a:pt x="1469" y="283"/>
                                </a:lnTo>
                                <a:lnTo>
                                  <a:pt x="1436" y="273"/>
                                </a:lnTo>
                                <a:lnTo>
                                  <a:pt x="1402" y="248"/>
                                </a:lnTo>
                                <a:lnTo>
                                  <a:pt x="1388" y="235"/>
                                </a:lnTo>
                                <a:lnTo>
                                  <a:pt x="1380" y="217"/>
                                </a:lnTo>
                                <a:lnTo>
                                  <a:pt x="1372" y="191"/>
                                </a:lnTo>
                                <a:lnTo>
                                  <a:pt x="1358" y="183"/>
                                </a:lnTo>
                                <a:lnTo>
                                  <a:pt x="1346" y="181"/>
                                </a:lnTo>
                                <a:lnTo>
                                  <a:pt x="1335" y="184"/>
                                </a:lnTo>
                                <a:lnTo>
                                  <a:pt x="1347" y="204"/>
                                </a:lnTo>
                                <a:lnTo>
                                  <a:pt x="1314" y="207"/>
                                </a:lnTo>
                                <a:lnTo>
                                  <a:pt x="1299" y="197"/>
                                </a:lnTo>
                                <a:lnTo>
                                  <a:pt x="1270" y="203"/>
                                </a:lnTo>
                                <a:lnTo>
                                  <a:pt x="1248" y="219"/>
                                </a:lnTo>
                                <a:lnTo>
                                  <a:pt x="1248" y="228"/>
                                </a:lnTo>
                                <a:lnTo>
                                  <a:pt x="1257" y="242"/>
                                </a:lnTo>
                                <a:lnTo>
                                  <a:pt x="1291" y="246"/>
                                </a:lnTo>
                                <a:lnTo>
                                  <a:pt x="1318" y="264"/>
                                </a:lnTo>
                                <a:lnTo>
                                  <a:pt x="1365" y="312"/>
                                </a:lnTo>
                                <a:lnTo>
                                  <a:pt x="1384" y="344"/>
                                </a:lnTo>
                                <a:lnTo>
                                  <a:pt x="1387" y="377"/>
                                </a:lnTo>
                                <a:lnTo>
                                  <a:pt x="1383" y="405"/>
                                </a:lnTo>
                                <a:lnTo>
                                  <a:pt x="1372" y="405"/>
                                </a:lnTo>
                                <a:lnTo>
                                  <a:pt x="1359" y="395"/>
                                </a:lnTo>
                                <a:lnTo>
                                  <a:pt x="1342" y="408"/>
                                </a:lnTo>
                                <a:lnTo>
                                  <a:pt x="1324" y="419"/>
                                </a:lnTo>
                                <a:lnTo>
                                  <a:pt x="1321" y="441"/>
                                </a:lnTo>
                                <a:lnTo>
                                  <a:pt x="1340" y="464"/>
                                </a:lnTo>
                                <a:lnTo>
                                  <a:pt x="1328" y="483"/>
                                </a:lnTo>
                                <a:lnTo>
                                  <a:pt x="1324" y="515"/>
                                </a:lnTo>
                                <a:lnTo>
                                  <a:pt x="1347" y="535"/>
                                </a:lnTo>
                                <a:lnTo>
                                  <a:pt x="1373" y="541"/>
                                </a:lnTo>
                                <a:lnTo>
                                  <a:pt x="1401" y="563"/>
                                </a:lnTo>
                                <a:lnTo>
                                  <a:pt x="1424" y="592"/>
                                </a:lnTo>
                                <a:lnTo>
                                  <a:pt x="1425" y="636"/>
                                </a:lnTo>
                                <a:lnTo>
                                  <a:pt x="1417" y="656"/>
                                </a:lnTo>
                                <a:lnTo>
                                  <a:pt x="1392" y="673"/>
                                </a:lnTo>
                                <a:lnTo>
                                  <a:pt x="1362" y="682"/>
                                </a:lnTo>
                                <a:lnTo>
                                  <a:pt x="1343" y="695"/>
                                </a:lnTo>
                                <a:lnTo>
                                  <a:pt x="1332" y="688"/>
                                </a:lnTo>
                                <a:lnTo>
                                  <a:pt x="1322" y="695"/>
                                </a:lnTo>
                                <a:lnTo>
                                  <a:pt x="1320" y="727"/>
                                </a:lnTo>
                                <a:lnTo>
                                  <a:pt x="1326" y="746"/>
                                </a:lnTo>
                                <a:lnTo>
                                  <a:pt x="1357" y="768"/>
                                </a:lnTo>
                                <a:lnTo>
                                  <a:pt x="1369" y="789"/>
                                </a:lnTo>
                                <a:lnTo>
                                  <a:pt x="1379" y="803"/>
                                </a:lnTo>
                                <a:lnTo>
                                  <a:pt x="1376" y="826"/>
                                </a:lnTo>
                                <a:lnTo>
                                  <a:pt x="1357" y="845"/>
                                </a:lnTo>
                                <a:lnTo>
                                  <a:pt x="1336" y="845"/>
                                </a:lnTo>
                                <a:lnTo>
                                  <a:pt x="1303" y="817"/>
                                </a:lnTo>
                                <a:lnTo>
                                  <a:pt x="1280" y="807"/>
                                </a:lnTo>
                                <a:lnTo>
                                  <a:pt x="1270" y="801"/>
                                </a:lnTo>
                                <a:lnTo>
                                  <a:pt x="1261" y="816"/>
                                </a:lnTo>
                                <a:lnTo>
                                  <a:pt x="1263" y="836"/>
                                </a:lnTo>
                                <a:lnTo>
                                  <a:pt x="1272" y="852"/>
                                </a:lnTo>
                                <a:lnTo>
                                  <a:pt x="1277" y="877"/>
                                </a:lnTo>
                                <a:lnTo>
                                  <a:pt x="1298" y="885"/>
                                </a:lnTo>
                                <a:lnTo>
                                  <a:pt x="1291" y="898"/>
                                </a:lnTo>
                                <a:lnTo>
                                  <a:pt x="1292" y="917"/>
                                </a:lnTo>
                                <a:lnTo>
                                  <a:pt x="1299" y="936"/>
                                </a:lnTo>
                                <a:lnTo>
                                  <a:pt x="1285" y="935"/>
                                </a:lnTo>
                                <a:lnTo>
                                  <a:pt x="1270" y="913"/>
                                </a:lnTo>
                                <a:lnTo>
                                  <a:pt x="1272" y="890"/>
                                </a:lnTo>
                                <a:lnTo>
                                  <a:pt x="1266" y="882"/>
                                </a:lnTo>
                                <a:lnTo>
                                  <a:pt x="1261" y="856"/>
                                </a:lnTo>
                                <a:lnTo>
                                  <a:pt x="1254" y="849"/>
                                </a:lnTo>
                                <a:lnTo>
                                  <a:pt x="1251" y="813"/>
                                </a:lnTo>
                                <a:lnTo>
                                  <a:pt x="1241" y="789"/>
                                </a:lnTo>
                                <a:lnTo>
                                  <a:pt x="1225" y="769"/>
                                </a:lnTo>
                                <a:lnTo>
                                  <a:pt x="1195" y="758"/>
                                </a:lnTo>
                                <a:lnTo>
                                  <a:pt x="1173" y="739"/>
                                </a:lnTo>
                                <a:lnTo>
                                  <a:pt x="1163" y="724"/>
                                </a:lnTo>
                                <a:lnTo>
                                  <a:pt x="1148" y="708"/>
                                </a:lnTo>
                                <a:lnTo>
                                  <a:pt x="1125" y="672"/>
                                </a:lnTo>
                                <a:lnTo>
                                  <a:pt x="1104" y="675"/>
                                </a:lnTo>
                                <a:lnTo>
                                  <a:pt x="1077" y="692"/>
                                </a:lnTo>
                                <a:lnTo>
                                  <a:pt x="1065" y="707"/>
                                </a:lnTo>
                                <a:lnTo>
                                  <a:pt x="1040" y="734"/>
                                </a:lnTo>
                                <a:lnTo>
                                  <a:pt x="1022" y="763"/>
                                </a:lnTo>
                                <a:lnTo>
                                  <a:pt x="1015" y="774"/>
                                </a:lnTo>
                                <a:lnTo>
                                  <a:pt x="1022" y="808"/>
                                </a:lnTo>
                                <a:lnTo>
                                  <a:pt x="1021" y="842"/>
                                </a:lnTo>
                                <a:lnTo>
                                  <a:pt x="999" y="865"/>
                                </a:lnTo>
                                <a:lnTo>
                                  <a:pt x="986" y="866"/>
                                </a:lnTo>
                                <a:lnTo>
                                  <a:pt x="960" y="819"/>
                                </a:lnTo>
                                <a:lnTo>
                                  <a:pt x="940" y="784"/>
                                </a:lnTo>
                                <a:lnTo>
                                  <a:pt x="899" y="720"/>
                                </a:lnTo>
                                <a:lnTo>
                                  <a:pt x="897" y="695"/>
                                </a:lnTo>
                                <a:lnTo>
                                  <a:pt x="888" y="683"/>
                                </a:lnTo>
                                <a:lnTo>
                                  <a:pt x="881" y="699"/>
                                </a:lnTo>
                                <a:lnTo>
                                  <a:pt x="845" y="663"/>
                                </a:lnTo>
                                <a:lnTo>
                                  <a:pt x="797" y="636"/>
                                </a:lnTo>
                                <a:lnTo>
                                  <a:pt x="767" y="641"/>
                                </a:lnTo>
                                <a:lnTo>
                                  <a:pt x="723" y="638"/>
                                </a:lnTo>
                                <a:lnTo>
                                  <a:pt x="703" y="618"/>
                                </a:lnTo>
                                <a:lnTo>
                                  <a:pt x="679" y="621"/>
                                </a:lnTo>
                                <a:lnTo>
                                  <a:pt x="646" y="612"/>
                                </a:lnTo>
                                <a:lnTo>
                                  <a:pt x="578" y="544"/>
                                </a:lnTo>
                                <a:lnTo>
                                  <a:pt x="582" y="572"/>
                                </a:lnTo>
                                <a:lnTo>
                                  <a:pt x="602" y="611"/>
                                </a:lnTo>
                                <a:lnTo>
                                  <a:pt x="626" y="638"/>
                                </a:lnTo>
                                <a:lnTo>
                                  <a:pt x="650" y="653"/>
                                </a:lnTo>
                                <a:lnTo>
                                  <a:pt x="678" y="641"/>
                                </a:lnTo>
                                <a:lnTo>
                                  <a:pt x="700" y="641"/>
                                </a:lnTo>
                                <a:lnTo>
                                  <a:pt x="729" y="666"/>
                                </a:lnTo>
                                <a:lnTo>
                                  <a:pt x="745" y="685"/>
                                </a:lnTo>
                                <a:lnTo>
                                  <a:pt x="742" y="697"/>
                                </a:lnTo>
                                <a:lnTo>
                                  <a:pt x="693" y="750"/>
                                </a:lnTo>
                                <a:lnTo>
                                  <a:pt x="660" y="771"/>
                                </a:lnTo>
                                <a:lnTo>
                                  <a:pt x="591" y="798"/>
                                </a:lnTo>
                                <a:lnTo>
                                  <a:pt x="571" y="807"/>
                                </a:lnTo>
                                <a:lnTo>
                                  <a:pt x="559" y="798"/>
                                </a:lnTo>
                                <a:lnTo>
                                  <a:pt x="554" y="787"/>
                                </a:lnTo>
                                <a:lnTo>
                                  <a:pt x="553" y="771"/>
                                </a:lnTo>
                                <a:lnTo>
                                  <a:pt x="548" y="755"/>
                                </a:lnTo>
                                <a:lnTo>
                                  <a:pt x="538" y="742"/>
                                </a:lnTo>
                                <a:lnTo>
                                  <a:pt x="530" y="730"/>
                                </a:lnTo>
                                <a:lnTo>
                                  <a:pt x="517" y="714"/>
                                </a:lnTo>
                                <a:lnTo>
                                  <a:pt x="511" y="704"/>
                                </a:lnTo>
                                <a:lnTo>
                                  <a:pt x="505" y="691"/>
                                </a:lnTo>
                                <a:lnTo>
                                  <a:pt x="495" y="679"/>
                                </a:lnTo>
                                <a:lnTo>
                                  <a:pt x="480" y="650"/>
                                </a:lnTo>
                                <a:lnTo>
                                  <a:pt x="472" y="638"/>
                                </a:lnTo>
                                <a:lnTo>
                                  <a:pt x="461" y="623"/>
                                </a:lnTo>
                                <a:lnTo>
                                  <a:pt x="443" y="601"/>
                                </a:lnTo>
                                <a:lnTo>
                                  <a:pt x="434" y="588"/>
                                </a:lnTo>
                                <a:lnTo>
                                  <a:pt x="426" y="579"/>
                                </a:lnTo>
                                <a:lnTo>
                                  <a:pt x="416" y="560"/>
                                </a:lnTo>
                                <a:lnTo>
                                  <a:pt x="445" y="543"/>
                                </a:lnTo>
                                <a:lnTo>
                                  <a:pt x="457" y="505"/>
                                </a:lnTo>
                                <a:lnTo>
                                  <a:pt x="430" y="495"/>
                                </a:lnTo>
                                <a:lnTo>
                                  <a:pt x="391" y="501"/>
                                </a:lnTo>
                                <a:lnTo>
                                  <a:pt x="383" y="496"/>
                                </a:lnTo>
                                <a:lnTo>
                                  <a:pt x="379" y="496"/>
                                </a:lnTo>
                                <a:lnTo>
                                  <a:pt x="373" y="496"/>
                                </a:lnTo>
                                <a:lnTo>
                                  <a:pt x="369" y="496"/>
                                </a:lnTo>
                                <a:lnTo>
                                  <a:pt x="368" y="489"/>
                                </a:lnTo>
                                <a:lnTo>
                                  <a:pt x="365" y="483"/>
                                </a:lnTo>
                                <a:lnTo>
                                  <a:pt x="365" y="471"/>
                                </a:lnTo>
                                <a:lnTo>
                                  <a:pt x="358" y="466"/>
                                </a:lnTo>
                                <a:lnTo>
                                  <a:pt x="357" y="458"/>
                                </a:lnTo>
                                <a:lnTo>
                                  <a:pt x="353" y="457"/>
                                </a:lnTo>
                                <a:lnTo>
                                  <a:pt x="349" y="451"/>
                                </a:lnTo>
                                <a:lnTo>
                                  <a:pt x="347" y="445"/>
                                </a:lnTo>
                                <a:lnTo>
                                  <a:pt x="345" y="440"/>
                                </a:lnTo>
                                <a:lnTo>
                                  <a:pt x="342" y="434"/>
                                </a:lnTo>
                                <a:lnTo>
                                  <a:pt x="334" y="434"/>
                                </a:lnTo>
                                <a:lnTo>
                                  <a:pt x="328" y="434"/>
                                </a:lnTo>
                                <a:lnTo>
                                  <a:pt x="325" y="434"/>
                                </a:lnTo>
                                <a:lnTo>
                                  <a:pt x="324" y="444"/>
                                </a:lnTo>
                                <a:lnTo>
                                  <a:pt x="324" y="451"/>
                                </a:lnTo>
                                <a:lnTo>
                                  <a:pt x="324" y="460"/>
                                </a:lnTo>
                                <a:lnTo>
                                  <a:pt x="324" y="469"/>
                                </a:lnTo>
                                <a:lnTo>
                                  <a:pt x="324" y="474"/>
                                </a:lnTo>
                                <a:lnTo>
                                  <a:pt x="317" y="477"/>
                                </a:lnTo>
                                <a:lnTo>
                                  <a:pt x="312" y="483"/>
                                </a:lnTo>
                                <a:lnTo>
                                  <a:pt x="303" y="474"/>
                                </a:lnTo>
                                <a:lnTo>
                                  <a:pt x="298" y="463"/>
                                </a:lnTo>
                                <a:lnTo>
                                  <a:pt x="299" y="450"/>
                                </a:lnTo>
                                <a:lnTo>
                                  <a:pt x="291" y="429"/>
                                </a:lnTo>
                                <a:lnTo>
                                  <a:pt x="287" y="418"/>
                                </a:lnTo>
                                <a:lnTo>
                                  <a:pt x="277" y="410"/>
                                </a:lnTo>
                                <a:lnTo>
                                  <a:pt x="266" y="403"/>
                                </a:lnTo>
                                <a:lnTo>
                                  <a:pt x="261" y="393"/>
                                </a:lnTo>
                                <a:lnTo>
                                  <a:pt x="257" y="386"/>
                                </a:lnTo>
                                <a:lnTo>
                                  <a:pt x="247" y="384"/>
                                </a:lnTo>
                                <a:lnTo>
                                  <a:pt x="244" y="380"/>
                                </a:lnTo>
                                <a:lnTo>
                                  <a:pt x="238" y="380"/>
                                </a:lnTo>
                                <a:lnTo>
                                  <a:pt x="232" y="387"/>
                                </a:lnTo>
                                <a:lnTo>
                                  <a:pt x="227" y="393"/>
                                </a:lnTo>
                                <a:lnTo>
                                  <a:pt x="239" y="400"/>
                                </a:lnTo>
                                <a:lnTo>
                                  <a:pt x="246" y="410"/>
                                </a:lnTo>
                                <a:lnTo>
                                  <a:pt x="258" y="424"/>
                                </a:lnTo>
                                <a:lnTo>
                                  <a:pt x="264" y="429"/>
                                </a:lnTo>
                                <a:lnTo>
                                  <a:pt x="273" y="434"/>
                                </a:lnTo>
                                <a:lnTo>
                                  <a:pt x="280" y="445"/>
                                </a:lnTo>
                                <a:lnTo>
                                  <a:pt x="272" y="456"/>
                                </a:lnTo>
                                <a:lnTo>
                                  <a:pt x="271" y="451"/>
                                </a:lnTo>
                                <a:lnTo>
                                  <a:pt x="271" y="445"/>
                                </a:lnTo>
                                <a:lnTo>
                                  <a:pt x="266" y="458"/>
                                </a:lnTo>
                                <a:lnTo>
                                  <a:pt x="265" y="470"/>
                                </a:lnTo>
                                <a:lnTo>
                                  <a:pt x="257" y="473"/>
                                </a:lnTo>
                                <a:lnTo>
                                  <a:pt x="260" y="458"/>
                                </a:lnTo>
                                <a:lnTo>
                                  <a:pt x="258" y="451"/>
                                </a:lnTo>
                                <a:lnTo>
                                  <a:pt x="249" y="447"/>
                                </a:lnTo>
                                <a:lnTo>
                                  <a:pt x="244" y="444"/>
                                </a:lnTo>
                                <a:lnTo>
                                  <a:pt x="240" y="438"/>
                                </a:lnTo>
                                <a:lnTo>
                                  <a:pt x="232" y="432"/>
                                </a:lnTo>
                                <a:lnTo>
                                  <a:pt x="227" y="428"/>
                                </a:lnTo>
                                <a:lnTo>
                                  <a:pt x="221" y="419"/>
                                </a:lnTo>
                                <a:lnTo>
                                  <a:pt x="214" y="415"/>
                                </a:lnTo>
                                <a:lnTo>
                                  <a:pt x="210" y="406"/>
                                </a:lnTo>
                                <a:lnTo>
                                  <a:pt x="209" y="399"/>
                                </a:lnTo>
                                <a:lnTo>
                                  <a:pt x="203" y="396"/>
                                </a:lnTo>
                                <a:lnTo>
                                  <a:pt x="198" y="392"/>
                                </a:lnTo>
                                <a:lnTo>
                                  <a:pt x="187" y="392"/>
                                </a:lnTo>
                                <a:lnTo>
                                  <a:pt x="177" y="393"/>
                                </a:lnTo>
                                <a:lnTo>
                                  <a:pt x="166" y="392"/>
                                </a:lnTo>
                                <a:lnTo>
                                  <a:pt x="147" y="393"/>
                                </a:lnTo>
                                <a:lnTo>
                                  <a:pt x="133" y="395"/>
                                </a:lnTo>
                                <a:lnTo>
                                  <a:pt x="129" y="397"/>
                                </a:lnTo>
                                <a:lnTo>
                                  <a:pt x="128" y="406"/>
                                </a:lnTo>
                                <a:lnTo>
                                  <a:pt x="128" y="416"/>
                                </a:lnTo>
                                <a:lnTo>
                                  <a:pt x="120" y="426"/>
                                </a:lnTo>
                                <a:lnTo>
                                  <a:pt x="114" y="431"/>
                                </a:lnTo>
                                <a:lnTo>
                                  <a:pt x="111" y="434"/>
                                </a:lnTo>
                                <a:lnTo>
                                  <a:pt x="107" y="444"/>
                                </a:lnTo>
                                <a:lnTo>
                                  <a:pt x="105" y="450"/>
                                </a:lnTo>
                                <a:lnTo>
                                  <a:pt x="109" y="454"/>
                                </a:lnTo>
                                <a:lnTo>
                                  <a:pt x="109" y="463"/>
                                </a:lnTo>
                                <a:lnTo>
                                  <a:pt x="107" y="467"/>
                                </a:lnTo>
                                <a:lnTo>
                                  <a:pt x="105" y="473"/>
                                </a:lnTo>
                                <a:lnTo>
                                  <a:pt x="98" y="483"/>
                                </a:lnTo>
                                <a:lnTo>
                                  <a:pt x="94" y="479"/>
                                </a:lnTo>
                                <a:lnTo>
                                  <a:pt x="90" y="482"/>
                                </a:lnTo>
                                <a:lnTo>
                                  <a:pt x="84" y="486"/>
                                </a:lnTo>
                                <a:lnTo>
                                  <a:pt x="76" y="487"/>
                                </a:lnTo>
                                <a:lnTo>
                                  <a:pt x="68" y="495"/>
                                </a:lnTo>
                                <a:lnTo>
                                  <a:pt x="59" y="496"/>
                                </a:lnTo>
                                <a:lnTo>
                                  <a:pt x="51" y="496"/>
                                </a:lnTo>
                                <a:lnTo>
                                  <a:pt x="43" y="496"/>
                                </a:lnTo>
                                <a:lnTo>
                                  <a:pt x="25" y="501"/>
                                </a:lnTo>
                                <a:lnTo>
                                  <a:pt x="17" y="501"/>
                                </a:lnTo>
                                <a:lnTo>
                                  <a:pt x="13" y="490"/>
                                </a:lnTo>
                                <a:lnTo>
                                  <a:pt x="9" y="477"/>
                                </a:lnTo>
                                <a:lnTo>
                                  <a:pt x="6" y="466"/>
                                </a:lnTo>
                                <a:lnTo>
                                  <a:pt x="5" y="454"/>
                                </a:lnTo>
                                <a:lnTo>
                                  <a:pt x="5" y="440"/>
                                </a:lnTo>
                                <a:lnTo>
                                  <a:pt x="0" y="419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</p:grpSp>
                  <p:grpSp>
                    <p:nvGrpSpPr>
                      <p:cNvPr id="58564" name="Group 16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03" y="2102"/>
                        <a:ext cx="817" cy="1033"/>
                        <a:chOff x="1803" y="2102"/>
                        <a:chExt cx="817" cy="1033"/>
                      </a:xfrm>
                    </p:grpSpPr>
                    <p:sp>
                      <p:nvSpPr>
                        <p:cNvPr id="58565" name="Freeform 166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803" y="3062"/>
                          <a:ext cx="205" cy="68"/>
                        </a:xfrm>
                        <a:custGeom>
                          <a:avLst/>
                          <a:gdLst>
                            <a:gd name="T0" fmla="*/ 3 w 410"/>
                            <a:gd name="T1" fmla="*/ 1 h 137"/>
                            <a:gd name="T2" fmla="*/ 4 w 410"/>
                            <a:gd name="T3" fmla="*/ 1 h 137"/>
                            <a:gd name="T4" fmla="*/ 5 w 410"/>
                            <a:gd name="T5" fmla="*/ 1 h 137"/>
                            <a:gd name="T6" fmla="*/ 5 w 410"/>
                            <a:gd name="T7" fmla="*/ 1 h 137"/>
                            <a:gd name="T8" fmla="*/ 6 w 410"/>
                            <a:gd name="T9" fmla="*/ 1 h 137"/>
                            <a:gd name="T10" fmla="*/ 7 w 410"/>
                            <a:gd name="T11" fmla="*/ 0 h 137"/>
                            <a:gd name="T12" fmla="*/ 8 w 410"/>
                            <a:gd name="T13" fmla="*/ 0 h 137"/>
                            <a:gd name="T14" fmla="*/ 9 w 410"/>
                            <a:gd name="T15" fmla="*/ 0 h 137"/>
                            <a:gd name="T16" fmla="*/ 10 w 410"/>
                            <a:gd name="T17" fmla="*/ 0 h 137"/>
                            <a:gd name="T18" fmla="*/ 11 w 410"/>
                            <a:gd name="T19" fmla="*/ 1 h 137"/>
                            <a:gd name="T20" fmla="*/ 12 w 410"/>
                            <a:gd name="T21" fmla="*/ 0 h 137"/>
                            <a:gd name="T22" fmla="*/ 13 w 410"/>
                            <a:gd name="T23" fmla="*/ 0 h 137"/>
                            <a:gd name="T24" fmla="*/ 13 w 410"/>
                            <a:gd name="T25" fmla="*/ 0 h 137"/>
                            <a:gd name="T26" fmla="*/ 13 w 410"/>
                            <a:gd name="T27" fmla="*/ 0 h 137"/>
                            <a:gd name="T28" fmla="*/ 12 w 410"/>
                            <a:gd name="T29" fmla="*/ 1 h 137"/>
                            <a:gd name="T30" fmla="*/ 11 w 410"/>
                            <a:gd name="T31" fmla="*/ 1 h 137"/>
                            <a:gd name="T32" fmla="*/ 11 w 410"/>
                            <a:gd name="T33" fmla="*/ 2 h 137"/>
                            <a:gd name="T34" fmla="*/ 10 w 410"/>
                            <a:gd name="T35" fmla="*/ 2 h 137"/>
                            <a:gd name="T36" fmla="*/ 9 w 410"/>
                            <a:gd name="T37" fmla="*/ 2 h 137"/>
                            <a:gd name="T38" fmla="*/ 9 w 410"/>
                            <a:gd name="T39" fmla="*/ 2 h 137"/>
                            <a:gd name="T40" fmla="*/ 8 w 410"/>
                            <a:gd name="T41" fmla="*/ 3 h 137"/>
                            <a:gd name="T42" fmla="*/ 7 w 410"/>
                            <a:gd name="T43" fmla="*/ 3 h 137"/>
                            <a:gd name="T44" fmla="*/ 6 w 410"/>
                            <a:gd name="T45" fmla="*/ 3 h 137"/>
                            <a:gd name="T46" fmla="*/ 5 w 410"/>
                            <a:gd name="T47" fmla="*/ 4 h 137"/>
                            <a:gd name="T48" fmla="*/ 4 w 410"/>
                            <a:gd name="T49" fmla="*/ 4 h 137"/>
                            <a:gd name="T50" fmla="*/ 3 w 410"/>
                            <a:gd name="T51" fmla="*/ 4 h 137"/>
                            <a:gd name="T52" fmla="*/ 2 w 410"/>
                            <a:gd name="T53" fmla="*/ 4 h 137"/>
                            <a:gd name="T54" fmla="*/ 2 w 410"/>
                            <a:gd name="T55" fmla="*/ 3 h 137"/>
                            <a:gd name="T56" fmla="*/ 1 w 410"/>
                            <a:gd name="T57" fmla="*/ 3 h 137"/>
                            <a:gd name="T58" fmla="*/ 2 w 410"/>
                            <a:gd name="T59" fmla="*/ 2 h 137"/>
                            <a:gd name="T60" fmla="*/ 2 w 410"/>
                            <a:gd name="T61" fmla="*/ 2 h 137"/>
                            <a:gd name="T62" fmla="*/ 3 w 410"/>
                            <a:gd name="T63" fmla="*/ 2 h 137"/>
                            <a:gd name="T64" fmla="*/ 3 w 410"/>
                            <a:gd name="T65" fmla="*/ 3 h 137"/>
                            <a:gd name="T66" fmla="*/ 3 w 410"/>
                            <a:gd name="T67" fmla="*/ 3 h 137"/>
                            <a:gd name="T68" fmla="*/ 4 w 410"/>
                            <a:gd name="T69" fmla="*/ 2 h 137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60000 65536"/>
                            <a:gd name="T82" fmla="*/ 0 60000 65536"/>
                            <a:gd name="T83" fmla="*/ 0 60000 65536"/>
                            <a:gd name="T84" fmla="*/ 0 60000 65536"/>
                            <a:gd name="T85" fmla="*/ 0 60000 65536"/>
                            <a:gd name="T86" fmla="*/ 0 60000 65536"/>
                            <a:gd name="T87" fmla="*/ 0 60000 65536"/>
                            <a:gd name="T88" fmla="*/ 0 60000 65536"/>
                            <a:gd name="T89" fmla="*/ 0 60000 65536"/>
                            <a:gd name="T90" fmla="*/ 0 60000 65536"/>
                            <a:gd name="T91" fmla="*/ 0 60000 65536"/>
                            <a:gd name="T92" fmla="*/ 0 60000 65536"/>
                            <a:gd name="T93" fmla="*/ 0 60000 65536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w 410"/>
                            <a:gd name="T106" fmla="*/ 0 h 137"/>
                            <a:gd name="T107" fmla="*/ 410 w 410"/>
                            <a:gd name="T108" fmla="*/ 137 h 137"/>
                          </a:gdLst>
                          <a:ahLst/>
                          <a:cxnLst>
                            <a:cxn ang="T70">
                              <a:pos x="T0" y="T1"/>
                            </a:cxn>
                            <a:cxn ang="T71">
                              <a:pos x="T2" y="T3"/>
                            </a:cxn>
                            <a:cxn ang="T72">
                              <a:pos x="T4" y="T5"/>
                            </a:cxn>
                            <a:cxn ang="T73">
                              <a:pos x="T6" y="T7"/>
                            </a:cxn>
                            <a:cxn ang="T74">
                              <a:pos x="T8" y="T9"/>
                            </a:cxn>
                            <a:cxn ang="T75">
                              <a:pos x="T10" y="T11"/>
                            </a:cxn>
                            <a:cxn ang="T76">
                              <a:pos x="T12" y="T13"/>
                            </a:cxn>
                            <a:cxn ang="T77">
                              <a:pos x="T14" y="T15"/>
                            </a:cxn>
                            <a:cxn ang="T78">
                              <a:pos x="T16" y="T17"/>
                            </a:cxn>
                            <a:cxn ang="T79">
                              <a:pos x="T18" y="T19"/>
                            </a:cxn>
                            <a:cxn ang="T80">
                              <a:pos x="T20" y="T21"/>
                            </a:cxn>
                            <a:cxn ang="T81">
                              <a:pos x="T22" y="T23"/>
                            </a:cxn>
                            <a:cxn ang="T82">
                              <a:pos x="T24" y="T25"/>
                            </a:cxn>
                            <a:cxn ang="T83">
                              <a:pos x="T26" y="T27"/>
                            </a:cxn>
                            <a:cxn ang="T84">
                              <a:pos x="T28" y="T29"/>
                            </a:cxn>
                            <a:cxn ang="T85">
                              <a:pos x="T30" y="T31"/>
                            </a:cxn>
                            <a:cxn ang="T86">
                              <a:pos x="T32" y="T33"/>
                            </a:cxn>
                            <a:cxn ang="T87">
                              <a:pos x="T34" y="T35"/>
                            </a:cxn>
                            <a:cxn ang="T88">
                              <a:pos x="T36" y="T37"/>
                            </a:cxn>
                            <a:cxn ang="T89">
                              <a:pos x="T38" y="T39"/>
                            </a:cxn>
                            <a:cxn ang="T90">
                              <a:pos x="T40" y="T41"/>
                            </a:cxn>
                            <a:cxn ang="T91">
                              <a:pos x="T42" y="T43"/>
                            </a:cxn>
                            <a:cxn ang="T92">
                              <a:pos x="T44" y="T45"/>
                            </a:cxn>
                            <a:cxn ang="T93">
                              <a:pos x="T46" y="T47"/>
                            </a:cxn>
                            <a:cxn ang="T94">
                              <a:pos x="T48" y="T49"/>
                            </a:cxn>
                            <a:cxn ang="T95">
                              <a:pos x="T50" y="T51"/>
                            </a:cxn>
                            <a:cxn ang="T96">
                              <a:pos x="T52" y="T53"/>
                            </a:cxn>
                            <a:cxn ang="T97">
                              <a:pos x="T54" y="T55"/>
                            </a:cxn>
                            <a:cxn ang="T98">
                              <a:pos x="T56" y="T57"/>
                            </a:cxn>
                            <a:cxn ang="T99">
                              <a:pos x="T58" y="T59"/>
                            </a:cxn>
                            <a:cxn ang="T100">
                              <a:pos x="T60" y="T61"/>
                            </a:cxn>
                            <a:cxn ang="T101">
                              <a:pos x="T62" y="T63"/>
                            </a:cxn>
                            <a:cxn ang="T102">
                              <a:pos x="T64" y="T65"/>
                            </a:cxn>
                            <a:cxn ang="T103">
                              <a:pos x="T66" y="T67"/>
                            </a:cxn>
                            <a:cxn ang="T104">
                              <a:pos x="T68" y="T69"/>
                            </a:cxn>
                          </a:cxnLst>
                          <a:rect l="T105" t="T106" r="T107" b="T108"/>
                          <a:pathLst>
                            <a:path w="410" h="137">
                              <a:moveTo>
                                <a:pt x="86" y="65"/>
                              </a:moveTo>
                              <a:lnTo>
                                <a:pt x="85" y="51"/>
                              </a:lnTo>
                              <a:lnTo>
                                <a:pt x="93" y="48"/>
                              </a:lnTo>
                              <a:lnTo>
                                <a:pt x="106" y="52"/>
                              </a:lnTo>
                              <a:lnTo>
                                <a:pt x="121" y="57"/>
                              </a:lnTo>
                              <a:lnTo>
                                <a:pt x="133" y="44"/>
                              </a:lnTo>
                              <a:lnTo>
                                <a:pt x="132" y="35"/>
                              </a:lnTo>
                              <a:lnTo>
                                <a:pt x="151" y="41"/>
                              </a:lnTo>
                              <a:lnTo>
                                <a:pt x="159" y="41"/>
                              </a:lnTo>
                              <a:lnTo>
                                <a:pt x="167" y="42"/>
                              </a:lnTo>
                              <a:lnTo>
                                <a:pt x="182" y="31"/>
                              </a:lnTo>
                              <a:lnTo>
                                <a:pt x="200" y="26"/>
                              </a:lnTo>
                              <a:lnTo>
                                <a:pt x="218" y="26"/>
                              </a:lnTo>
                              <a:lnTo>
                                <a:pt x="229" y="22"/>
                              </a:lnTo>
                              <a:lnTo>
                                <a:pt x="247" y="23"/>
                              </a:lnTo>
                              <a:lnTo>
                                <a:pt x="262" y="23"/>
                              </a:lnTo>
                              <a:lnTo>
                                <a:pt x="276" y="22"/>
                              </a:lnTo>
                              <a:lnTo>
                                <a:pt x="298" y="23"/>
                              </a:lnTo>
                              <a:lnTo>
                                <a:pt x="307" y="22"/>
                              </a:lnTo>
                              <a:lnTo>
                                <a:pt x="328" y="32"/>
                              </a:lnTo>
                              <a:lnTo>
                                <a:pt x="347" y="29"/>
                              </a:lnTo>
                              <a:lnTo>
                                <a:pt x="359" y="16"/>
                              </a:lnTo>
                              <a:lnTo>
                                <a:pt x="370" y="13"/>
                              </a:lnTo>
                              <a:lnTo>
                                <a:pt x="387" y="1"/>
                              </a:lnTo>
                              <a:lnTo>
                                <a:pt x="410" y="0"/>
                              </a:lnTo>
                              <a:lnTo>
                                <a:pt x="402" y="10"/>
                              </a:lnTo>
                              <a:lnTo>
                                <a:pt x="394" y="16"/>
                              </a:lnTo>
                              <a:lnTo>
                                <a:pt x="385" y="25"/>
                              </a:lnTo>
                              <a:lnTo>
                                <a:pt x="373" y="33"/>
                              </a:lnTo>
                              <a:lnTo>
                                <a:pt x="366" y="42"/>
                              </a:lnTo>
                              <a:lnTo>
                                <a:pt x="355" y="48"/>
                              </a:lnTo>
                              <a:lnTo>
                                <a:pt x="347" y="54"/>
                              </a:lnTo>
                              <a:lnTo>
                                <a:pt x="339" y="58"/>
                              </a:lnTo>
                              <a:lnTo>
                                <a:pt x="332" y="64"/>
                              </a:lnTo>
                              <a:lnTo>
                                <a:pt x="321" y="65"/>
                              </a:lnTo>
                              <a:lnTo>
                                <a:pt x="313" y="70"/>
                              </a:lnTo>
                              <a:lnTo>
                                <a:pt x="304" y="76"/>
                              </a:lnTo>
                              <a:lnTo>
                                <a:pt x="288" y="84"/>
                              </a:lnTo>
                              <a:lnTo>
                                <a:pt x="276" y="87"/>
                              </a:lnTo>
                              <a:lnTo>
                                <a:pt x="262" y="94"/>
                              </a:lnTo>
                              <a:lnTo>
                                <a:pt x="248" y="99"/>
                              </a:lnTo>
                              <a:lnTo>
                                <a:pt x="236" y="105"/>
                              </a:lnTo>
                              <a:lnTo>
                                <a:pt x="222" y="109"/>
                              </a:lnTo>
                              <a:lnTo>
                                <a:pt x="208" y="115"/>
                              </a:lnTo>
                              <a:lnTo>
                                <a:pt x="196" y="118"/>
                              </a:lnTo>
                              <a:lnTo>
                                <a:pt x="184" y="121"/>
                              </a:lnTo>
                              <a:lnTo>
                                <a:pt x="171" y="125"/>
                              </a:lnTo>
                              <a:lnTo>
                                <a:pt x="155" y="128"/>
                              </a:lnTo>
                              <a:lnTo>
                                <a:pt x="140" y="129"/>
                              </a:lnTo>
                              <a:lnTo>
                                <a:pt x="126" y="134"/>
                              </a:lnTo>
                              <a:lnTo>
                                <a:pt x="110" y="137"/>
                              </a:lnTo>
                              <a:lnTo>
                                <a:pt x="95" y="137"/>
                              </a:lnTo>
                              <a:lnTo>
                                <a:pt x="80" y="135"/>
                              </a:lnTo>
                              <a:lnTo>
                                <a:pt x="64" y="137"/>
                              </a:lnTo>
                              <a:lnTo>
                                <a:pt x="51" y="129"/>
                              </a:lnTo>
                              <a:lnTo>
                                <a:pt x="38" y="123"/>
                              </a:lnTo>
                              <a:lnTo>
                                <a:pt x="26" y="116"/>
                              </a:lnTo>
                              <a:lnTo>
                                <a:pt x="12" y="105"/>
                              </a:lnTo>
                              <a:lnTo>
                                <a:pt x="0" y="96"/>
                              </a:lnTo>
                              <a:lnTo>
                                <a:pt x="36" y="91"/>
                              </a:lnTo>
                              <a:lnTo>
                                <a:pt x="41" y="91"/>
                              </a:lnTo>
                              <a:lnTo>
                                <a:pt x="44" y="89"/>
                              </a:lnTo>
                              <a:lnTo>
                                <a:pt x="55" y="87"/>
                              </a:lnTo>
                              <a:lnTo>
                                <a:pt x="66" y="91"/>
                              </a:lnTo>
                              <a:lnTo>
                                <a:pt x="74" y="99"/>
                              </a:lnTo>
                              <a:lnTo>
                                <a:pt x="78" y="99"/>
                              </a:lnTo>
                              <a:lnTo>
                                <a:pt x="84" y="103"/>
                              </a:lnTo>
                              <a:lnTo>
                                <a:pt x="92" y="99"/>
                              </a:lnTo>
                              <a:lnTo>
                                <a:pt x="95" y="87"/>
                              </a:lnTo>
                              <a:lnTo>
                                <a:pt x="97" y="77"/>
                              </a:lnTo>
                              <a:lnTo>
                                <a:pt x="86" y="6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66" name="Freeform 167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69" y="3014"/>
                          <a:ext cx="209" cy="121"/>
                        </a:xfrm>
                        <a:custGeom>
                          <a:avLst/>
                          <a:gdLst>
                            <a:gd name="T0" fmla="*/ 6 w 419"/>
                            <a:gd name="T1" fmla="*/ 1 h 241"/>
                            <a:gd name="T2" fmla="*/ 5 w 419"/>
                            <a:gd name="T3" fmla="*/ 2 h 241"/>
                            <a:gd name="T4" fmla="*/ 5 w 419"/>
                            <a:gd name="T5" fmla="*/ 2 h 241"/>
                            <a:gd name="T6" fmla="*/ 6 w 419"/>
                            <a:gd name="T7" fmla="*/ 3 h 241"/>
                            <a:gd name="T8" fmla="*/ 6 w 419"/>
                            <a:gd name="T9" fmla="*/ 4 h 241"/>
                            <a:gd name="T10" fmla="*/ 6 w 419"/>
                            <a:gd name="T11" fmla="*/ 5 h 241"/>
                            <a:gd name="T12" fmla="*/ 5 w 419"/>
                            <a:gd name="T13" fmla="*/ 6 h 241"/>
                            <a:gd name="T14" fmla="*/ 4 w 419"/>
                            <a:gd name="T15" fmla="*/ 6 h 241"/>
                            <a:gd name="T16" fmla="*/ 4 w 419"/>
                            <a:gd name="T17" fmla="*/ 6 h 241"/>
                            <a:gd name="T18" fmla="*/ 4 w 419"/>
                            <a:gd name="T19" fmla="*/ 6 h 241"/>
                            <a:gd name="T20" fmla="*/ 4 w 419"/>
                            <a:gd name="T21" fmla="*/ 6 h 241"/>
                            <a:gd name="T22" fmla="*/ 6 w 419"/>
                            <a:gd name="T23" fmla="*/ 7 h 241"/>
                            <a:gd name="T24" fmla="*/ 8 w 419"/>
                            <a:gd name="T25" fmla="*/ 7 h 241"/>
                            <a:gd name="T26" fmla="*/ 9 w 419"/>
                            <a:gd name="T27" fmla="*/ 6 h 241"/>
                            <a:gd name="T28" fmla="*/ 10 w 419"/>
                            <a:gd name="T29" fmla="*/ 6 h 241"/>
                            <a:gd name="T30" fmla="*/ 10 w 419"/>
                            <a:gd name="T31" fmla="*/ 5 h 241"/>
                            <a:gd name="T32" fmla="*/ 11 w 419"/>
                            <a:gd name="T33" fmla="*/ 5 h 241"/>
                            <a:gd name="T34" fmla="*/ 12 w 419"/>
                            <a:gd name="T35" fmla="*/ 5 h 241"/>
                            <a:gd name="T36" fmla="*/ 12 w 419"/>
                            <a:gd name="T37" fmla="*/ 6 h 241"/>
                            <a:gd name="T38" fmla="*/ 11 w 419"/>
                            <a:gd name="T39" fmla="*/ 6 h 241"/>
                            <a:gd name="T40" fmla="*/ 11 w 419"/>
                            <a:gd name="T41" fmla="*/ 7 h 241"/>
                            <a:gd name="T42" fmla="*/ 10 w 419"/>
                            <a:gd name="T43" fmla="*/ 7 h 241"/>
                            <a:gd name="T44" fmla="*/ 8 w 419"/>
                            <a:gd name="T45" fmla="*/ 8 h 241"/>
                            <a:gd name="T46" fmla="*/ 7 w 419"/>
                            <a:gd name="T47" fmla="*/ 8 h 241"/>
                            <a:gd name="T48" fmla="*/ 5 w 419"/>
                            <a:gd name="T49" fmla="*/ 8 h 241"/>
                            <a:gd name="T50" fmla="*/ 4 w 419"/>
                            <a:gd name="T51" fmla="*/ 8 h 241"/>
                            <a:gd name="T52" fmla="*/ 3 w 419"/>
                            <a:gd name="T53" fmla="*/ 7 h 241"/>
                            <a:gd name="T54" fmla="*/ 2 w 419"/>
                            <a:gd name="T55" fmla="*/ 7 h 241"/>
                            <a:gd name="T56" fmla="*/ 1 w 419"/>
                            <a:gd name="T57" fmla="*/ 7 h 241"/>
                            <a:gd name="T58" fmla="*/ 1 w 419"/>
                            <a:gd name="T59" fmla="*/ 6 h 241"/>
                            <a:gd name="T60" fmla="*/ 0 w 419"/>
                            <a:gd name="T61" fmla="*/ 6 h 241"/>
                            <a:gd name="T62" fmla="*/ 0 w 419"/>
                            <a:gd name="T63" fmla="*/ 5 h 241"/>
                            <a:gd name="T64" fmla="*/ 0 w 419"/>
                            <a:gd name="T65" fmla="*/ 5 h 241"/>
                            <a:gd name="T66" fmla="*/ 0 w 419"/>
                            <a:gd name="T67" fmla="*/ 5 h 241"/>
                            <a:gd name="T68" fmla="*/ 1 w 419"/>
                            <a:gd name="T69" fmla="*/ 4 h 241"/>
                            <a:gd name="T70" fmla="*/ 2 w 419"/>
                            <a:gd name="T71" fmla="*/ 4 h 241"/>
                            <a:gd name="T72" fmla="*/ 2 w 419"/>
                            <a:gd name="T73" fmla="*/ 4 h 241"/>
                            <a:gd name="T74" fmla="*/ 3 w 419"/>
                            <a:gd name="T75" fmla="*/ 4 h 241"/>
                            <a:gd name="T76" fmla="*/ 3 w 419"/>
                            <a:gd name="T77" fmla="*/ 5 h 241"/>
                            <a:gd name="T78" fmla="*/ 4 w 419"/>
                            <a:gd name="T79" fmla="*/ 4 h 241"/>
                            <a:gd name="T80" fmla="*/ 5 w 419"/>
                            <a:gd name="T81" fmla="*/ 4 h 241"/>
                            <a:gd name="T82" fmla="*/ 4 w 419"/>
                            <a:gd name="T83" fmla="*/ 4 h 241"/>
                            <a:gd name="T84" fmla="*/ 4 w 419"/>
                            <a:gd name="T85" fmla="*/ 4 h 241"/>
                            <a:gd name="T86" fmla="*/ 4 w 419"/>
                            <a:gd name="T87" fmla="*/ 3 h 241"/>
                            <a:gd name="T88" fmla="*/ 5 w 419"/>
                            <a:gd name="T89" fmla="*/ 3 h 241"/>
                            <a:gd name="T90" fmla="*/ 5 w 419"/>
                            <a:gd name="T91" fmla="*/ 2 h 241"/>
                            <a:gd name="T92" fmla="*/ 5 w 419"/>
                            <a:gd name="T93" fmla="*/ 2 h 241"/>
                            <a:gd name="T94" fmla="*/ 5 w 419"/>
                            <a:gd name="T95" fmla="*/ 1 h 241"/>
                            <a:gd name="T96" fmla="*/ 5 w 419"/>
                            <a:gd name="T97" fmla="*/ 1 h 241"/>
                            <a:gd name="T98" fmla="*/ 6 w 419"/>
                            <a:gd name="T99" fmla="*/ 1 h 241"/>
                            <a:gd name="T100" fmla="*/ 6 w 419"/>
                            <a:gd name="T101" fmla="*/ 1 h 241"/>
                            <a:gd name="T102" fmla="*/ 7 w 419"/>
                            <a:gd name="T103" fmla="*/ 1 h 241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w 419"/>
                            <a:gd name="T157" fmla="*/ 0 h 241"/>
                            <a:gd name="T158" fmla="*/ 419 w 419"/>
                            <a:gd name="T159" fmla="*/ 241 h 241"/>
                          </a:gdLst>
                          <a:ahLst/>
                          <a:cxnLst>
                            <a:cxn ang="T104">
                              <a:pos x="T0" y="T1"/>
                            </a:cxn>
                            <a:cxn ang="T105">
                              <a:pos x="T2" y="T3"/>
                            </a:cxn>
                            <a:cxn ang="T106">
                              <a:pos x="T4" y="T5"/>
                            </a:cxn>
                            <a:cxn ang="T107">
                              <a:pos x="T6" y="T7"/>
                            </a:cxn>
                            <a:cxn ang="T108">
                              <a:pos x="T8" y="T9"/>
                            </a:cxn>
                            <a:cxn ang="T109">
                              <a:pos x="T10" y="T11"/>
                            </a:cxn>
                            <a:cxn ang="T110">
                              <a:pos x="T12" y="T13"/>
                            </a:cxn>
                            <a:cxn ang="T111">
                              <a:pos x="T14" y="T15"/>
                            </a:cxn>
                            <a:cxn ang="T112">
                              <a:pos x="T16" y="T17"/>
                            </a:cxn>
                            <a:cxn ang="T113">
                              <a:pos x="T18" y="T19"/>
                            </a:cxn>
                            <a:cxn ang="T114">
                              <a:pos x="T20" y="T21"/>
                            </a:cxn>
                            <a:cxn ang="T115">
                              <a:pos x="T22" y="T23"/>
                            </a:cxn>
                            <a:cxn ang="T116">
                              <a:pos x="T24" y="T25"/>
                            </a:cxn>
                            <a:cxn ang="T117">
                              <a:pos x="T26" y="T27"/>
                            </a:cxn>
                            <a:cxn ang="T118">
                              <a:pos x="T28" y="T29"/>
                            </a:cxn>
                            <a:cxn ang="T119">
                              <a:pos x="T30" y="T31"/>
                            </a:cxn>
                            <a:cxn ang="T120">
                              <a:pos x="T32" y="T33"/>
                            </a:cxn>
                            <a:cxn ang="T121">
                              <a:pos x="T34" y="T35"/>
                            </a:cxn>
                            <a:cxn ang="T122">
                              <a:pos x="T36" y="T37"/>
                            </a:cxn>
                            <a:cxn ang="T123">
                              <a:pos x="T38" y="T39"/>
                            </a:cxn>
                            <a:cxn ang="T124">
                              <a:pos x="T40" y="T41"/>
                            </a:cxn>
                            <a:cxn ang="T125">
                              <a:pos x="T42" y="T43"/>
                            </a:cxn>
                            <a:cxn ang="T126">
                              <a:pos x="T44" y="T45"/>
                            </a:cxn>
                            <a:cxn ang="T127">
                              <a:pos x="T46" y="T47"/>
                            </a:cxn>
                            <a:cxn ang="T128">
                              <a:pos x="T48" y="T49"/>
                            </a:cxn>
                            <a:cxn ang="T129">
                              <a:pos x="T50" y="T51"/>
                            </a:cxn>
                            <a:cxn ang="T130">
                              <a:pos x="T52" y="T53"/>
                            </a:cxn>
                            <a:cxn ang="T131">
                              <a:pos x="T54" y="T55"/>
                            </a:cxn>
                            <a:cxn ang="T132">
                              <a:pos x="T56" y="T57"/>
                            </a:cxn>
                            <a:cxn ang="T133">
                              <a:pos x="T58" y="T59"/>
                            </a:cxn>
                            <a:cxn ang="T134">
                              <a:pos x="T60" y="T61"/>
                            </a:cxn>
                            <a:cxn ang="T135">
                              <a:pos x="T62" y="T63"/>
                            </a:cxn>
                            <a:cxn ang="T136">
                              <a:pos x="T64" y="T65"/>
                            </a:cxn>
                            <a:cxn ang="T137">
                              <a:pos x="T66" y="T67"/>
                            </a:cxn>
                            <a:cxn ang="T138">
                              <a:pos x="T68" y="T69"/>
                            </a:cxn>
                            <a:cxn ang="T139">
                              <a:pos x="T70" y="T71"/>
                            </a:cxn>
                            <a:cxn ang="T140">
                              <a:pos x="T72" y="T73"/>
                            </a:cxn>
                            <a:cxn ang="T141">
                              <a:pos x="T74" y="T75"/>
                            </a:cxn>
                            <a:cxn ang="T142">
                              <a:pos x="T76" y="T77"/>
                            </a:cxn>
                            <a:cxn ang="T143">
                              <a:pos x="T78" y="T79"/>
                            </a:cxn>
                            <a:cxn ang="T144">
                              <a:pos x="T80" y="T81"/>
                            </a:cxn>
                            <a:cxn ang="T145">
                              <a:pos x="T82" y="T83"/>
                            </a:cxn>
                            <a:cxn ang="T146">
                              <a:pos x="T84" y="T85"/>
                            </a:cxn>
                            <a:cxn ang="T147">
                              <a:pos x="T86" y="T87"/>
                            </a:cxn>
                            <a:cxn ang="T148">
                              <a:pos x="T88" y="T89"/>
                            </a:cxn>
                            <a:cxn ang="T149">
                              <a:pos x="T90" y="T91"/>
                            </a:cxn>
                            <a:cxn ang="T150">
                              <a:pos x="T92" y="T93"/>
                            </a:cxn>
                            <a:cxn ang="T151">
                              <a:pos x="T94" y="T95"/>
                            </a:cxn>
                            <a:cxn ang="T152">
                              <a:pos x="T96" y="T97"/>
                            </a:cxn>
                            <a:cxn ang="T153">
                              <a:pos x="T98" y="T99"/>
                            </a:cxn>
                            <a:cxn ang="T154">
                              <a:pos x="T100" y="T101"/>
                            </a:cxn>
                            <a:cxn ang="T155">
                              <a:pos x="T102" y="T103"/>
                            </a:cxn>
                          </a:cxnLst>
                          <a:rect l="T156" t="T157" r="T158" b="T159"/>
                          <a:pathLst>
                            <a:path w="419" h="241">
                              <a:moveTo>
                                <a:pt x="229" y="18"/>
                              </a:moveTo>
                              <a:lnTo>
                                <a:pt x="205" y="32"/>
                              </a:lnTo>
                              <a:lnTo>
                                <a:pt x="201" y="40"/>
                              </a:lnTo>
                              <a:lnTo>
                                <a:pt x="191" y="46"/>
                              </a:lnTo>
                              <a:lnTo>
                                <a:pt x="187" y="48"/>
                              </a:lnTo>
                              <a:lnTo>
                                <a:pt x="179" y="52"/>
                              </a:lnTo>
                              <a:lnTo>
                                <a:pt x="188" y="65"/>
                              </a:lnTo>
                              <a:lnTo>
                                <a:pt x="192" y="71"/>
                              </a:lnTo>
                              <a:lnTo>
                                <a:pt x="192" y="81"/>
                              </a:lnTo>
                              <a:lnTo>
                                <a:pt x="211" y="107"/>
                              </a:lnTo>
                              <a:lnTo>
                                <a:pt x="211" y="123"/>
                              </a:lnTo>
                              <a:lnTo>
                                <a:pt x="209" y="138"/>
                              </a:lnTo>
                              <a:lnTo>
                                <a:pt x="184" y="161"/>
                              </a:lnTo>
                              <a:lnTo>
                                <a:pt x="176" y="170"/>
                              </a:lnTo>
                              <a:lnTo>
                                <a:pt x="165" y="174"/>
                              </a:lnTo>
                              <a:lnTo>
                                <a:pt x="147" y="171"/>
                              </a:lnTo>
                              <a:lnTo>
                                <a:pt x="143" y="167"/>
                              </a:lnTo>
                              <a:lnTo>
                                <a:pt x="128" y="170"/>
                              </a:lnTo>
                              <a:lnTo>
                                <a:pt x="133" y="174"/>
                              </a:lnTo>
                              <a:lnTo>
                                <a:pt x="133" y="183"/>
                              </a:lnTo>
                              <a:lnTo>
                                <a:pt x="142" y="191"/>
                              </a:lnTo>
                              <a:lnTo>
                                <a:pt x="147" y="190"/>
                              </a:lnTo>
                              <a:lnTo>
                                <a:pt x="165" y="196"/>
                              </a:lnTo>
                              <a:lnTo>
                                <a:pt x="201" y="196"/>
                              </a:lnTo>
                              <a:lnTo>
                                <a:pt x="206" y="200"/>
                              </a:lnTo>
                              <a:lnTo>
                                <a:pt x="265" y="196"/>
                              </a:lnTo>
                              <a:lnTo>
                                <a:pt x="292" y="185"/>
                              </a:lnTo>
                              <a:lnTo>
                                <a:pt x="307" y="180"/>
                              </a:lnTo>
                              <a:lnTo>
                                <a:pt x="324" y="171"/>
                              </a:lnTo>
                              <a:lnTo>
                                <a:pt x="329" y="165"/>
                              </a:lnTo>
                              <a:lnTo>
                                <a:pt x="335" y="161"/>
                              </a:lnTo>
                              <a:lnTo>
                                <a:pt x="347" y="155"/>
                              </a:lnTo>
                              <a:lnTo>
                                <a:pt x="360" y="146"/>
                              </a:lnTo>
                              <a:lnTo>
                                <a:pt x="377" y="142"/>
                              </a:lnTo>
                              <a:lnTo>
                                <a:pt x="419" y="119"/>
                              </a:lnTo>
                              <a:lnTo>
                                <a:pt x="414" y="138"/>
                              </a:lnTo>
                              <a:lnTo>
                                <a:pt x="406" y="151"/>
                              </a:lnTo>
                              <a:lnTo>
                                <a:pt x="398" y="162"/>
                              </a:lnTo>
                              <a:lnTo>
                                <a:pt x="390" y="172"/>
                              </a:lnTo>
                              <a:lnTo>
                                <a:pt x="376" y="183"/>
                              </a:lnTo>
                              <a:lnTo>
                                <a:pt x="365" y="191"/>
                              </a:lnTo>
                              <a:lnTo>
                                <a:pt x="354" y="200"/>
                              </a:lnTo>
                              <a:lnTo>
                                <a:pt x="339" y="210"/>
                              </a:lnTo>
                              <a:lnTo>
                                <a:pt x="320" y="222"/>
                              </a:lnTo>
                              <a:lnTo>
                                <a:pt x="303" y="229"/>
                              </a:lnTo>
                              <a:lnTo>
                                <a:pt x="287" y="233"/>
                              </a:lnTo>
                              <a:lnTo>
                                <a:pt x="262" y="238"/>
                              </a:lnTo>
                              <a:lnTo>
                                <a:pt x="235" y="241"/>
                              </a:lnTo>
                              <a:lnTo>
                                <a:pt x="210" y="241"/>
                              </a:lnTo>
                              <a:lnTo>
                                <a:pt x="181" y="239"/>
                              </a:lnTo>
                              <a:lnTo>
                                <a:pt x="163" y="236"/>
                              </a:lnTo>
                              <a:lnTo>
                                <a:pt x="139" y="232"/>
                              </a:lnTo>
                              <a:lnTo>
                                <a:pt x="124" y="226"/>
                              </a:lnTo>
                              <a:lnTo>
                                <a:pt x="107" y="216"/>
                              </a:lnTo>
                              <a:lnTo>
                                <a:pt x="91" y="210"/>
                              </a:lnTo>
                              <a:lnTo>
                                <a:pt x="80" y="204"/>
                              </a:lnTo>
                              <a:lnTo>
                                <a:pt x="69" y="199"/>
                              </a:lnTo>
                              <a:lnTo>
                                <a:pt x="61" y="196"/>
                              </a:lnTo>
                              <a:lnTo>
                                <a:pt x="47" y="188"/>
                              </a:lnTo>
                              <a:lnTo>
                                <a:pt x="37" y="181"/>
                              </a:lnTo>
                              <a:lnTo>
                                <a:pt x="29" y="175"/>
                              </a:lnTo>
                              <a:lnTo>
                                <a:pt x="22" y="167"/>
                              </a:lnTo>
                              <a:lnTo>
                                <a:pt x="14" y="159"/>
                              </a:lnTo>
                              <a:lnTo>
                                <a:pt x="7" y="154"/>
                              </a:lnTo>
                              <a:lnTo>
                                <a:pt x="0" y="148"/>
                              </a:lnTo>
                              <a:lnTo>
                                <a:pt x="14" y="135"/>
                              </a:lnTo>
                              <a:lnTo>
                                <a:pt x="22" y="133"/>
                              </a:lnTo>
                              <a:lnTo>
                                <a:pt x="28" y="133"/>
                              </a:lnTo>
                              <a:lnTo>
                                <a:pt x="36" y="132"/>
                              </a:lnTo>
                              <a:lnTo>
                                <a:pt x="47" y="127"/>
                              </a:lnTo>
                              <a:lnTo>
                                <a:pt x="55" y="129"/>
                              </a:lnTo>
                              <a:lnTo>
                                <a:pt x="66" y="126"/>
                              </a:lnTo>
                              <a:lnTo>
                                <a:pt x="80" y="125"/>
                              </a:lnTo>
                              <a:lnTo>
                                <a:pt x="89" y="126"/>
                              </a:lnTo>
                              <a:lnTo>
                                <a:pt x="98" y="127"/>
                              </a:lnTo>
                              <a:lnTo>
                                <a:pt x="105" y="127"/>
                              </a:lnTo>
                              <a:lnTo>
                                <a:pt x="109" y="129"/>
                              </a:lnTo>
                              <a:lnTo>
                                <a:pt x="117" y="129"/>
                              </a:lnTo>
                              <a:lnTo>
                                <a:pt x="121" y="127"/>
                              </a:lnTo>
                              <a:lnTo>
                                <a:pt x="139" y="125"/>
                              </a:lnTo>
                              <a:lnTo>
                                <a:pt x="153" y="123"/>
                              </a:lnTo>
                              <a:lnTo>
                                <a:pt x="161" y="125"/>
                              </a:lnTo>
                              <a:lnTo>
                                <a:pt x="162" y="120"/>
                              </a:lnTo>
                              <a:lnTo>
                                <a:pt x="159" y="114"/>
                              </a:lnTo>
                              <a:lnTo>
                                <a:pt x="157" y="107"/>
                              </a:lnTo>
                              <a:lnTo>
                                <a:pt x="155" y="103"/>
                              </a:lnTo>
                              <a:lnTo>
                                <a:pt x="153" y="97"/>
                              </a:lnTo>
                              <a:lnTo>
                                <a:pt x="159" y="90"/>
                              </a:lnTo>
                              <a:lnTo>
                                <a:pt x="165" y="82"/>
                              </a:lnTo>
                              <a:lnTo>
                                <a:pt x="172" y="71"/>
                              </a:lnTo>
                              <a:lnTo>
                                <a:pt x="165" y="66"/>
                              </a:lnTo>
                              <a:lnTo>
                                <a:pt x="163" y="62"/>
                              </a:lnTo>
                              <a:lnTo>
                                <a:pt x="159" y="58"/>
                              </a:lnTo>
                              <a:lnTo>
                                <a:pt x="165" y="48"/>
                              </a:lnTo>
                              <a:lnTo>
                                <a:pt x="170" y="39"/>
                              </a:lnTo>
                              <a:lnTo>
                                <a:pt x="174" y="29"/>
                              </a:lnTo>
                              <a:lnTo>
                                <a:pt x="180" y="21"/>
                              </a:lnTo>
                              <a:lnTo>
                                <a:pt x="184" y="20"/>
                              </a:lnTo>
                              <a:lnTo>
                                <a:pt x="191" y="10"/>
                              </a:lnTo>
                              <a:lnTo>
                                <a:pt x="196" y="7"/>
                              </a:lnTo>
                              <a:lnTo>
                                <a:pt x="201" y="7"/>
                              </a:lnTo>
                              <a:lnTo>
                                <a:pt x="210" y="1"/>
                              </a:lnTo>
                              <a:lnTo>
                                <a:pt x="216" y="0"/>
                              </a:lnTo>
                              <a:lnTo>
                                <a:pt x="224" y="1"/>
                              </a:lnTo>
                              <a:lnTo>
                                <a:pt x="229" y="1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67" name="Freeform 16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61" y="2141"/>
                          <a:ext cx="447" cy="406"/>
                        </a:xfrm>
                        <a:custGeom>
                          <a:avLst/>
                          <a:gdLst>
                            <a:gd name="T0" fmla="*/ 3 w 892"/>
                            <a:gd name="T1" fmla="*/ 4 h 813"/>
                            <a:gd name="T2" fmla="*/ 2 w 892"/>
                            <a:gd name="T3" fmla="*/ 3 h 813"/>
                            <a:gd name="T4" fmla="*/ 4 w 892"/>
                            <a:gd name="T5" fmla="*/ 2 h 813"/>
                            <a:gd name="T6" fmla="*/ 5 w 892"/>
                            <a:gd name="T7" fmla="*/ 1 h 813"/>
                            <a:gd name="T8" fmla="*/ 7 w 892"/>
                            <a:gd name="T9" fmla="*/ 1 h 813"/>
                            <a:gd name="T10" fmla="*/ 12 w 892"/>
                            <a:gd name="T11" fmla="*/ 1 h 813"/>
                            <a:gd name="T12" fmla="*/ 15 w 892"/>
                            <a:gd name="T13" fmla="*/ 1 h 813"/>
                            <a:gd name="T14" fmla="*/ 14 w 892"/>
                            <a:gd name="T15" fmla="*/ 1 h 813"/>
                            <a:gd name="T16" fmla="*/ 13 w 892"/>
                            <a:gd name="T17" fmla="*/ 0 h 813"/>
                            <a:gd name="T18" fmla="*/ 15 w 892"/>
                            <a:gd name="T19" fmla="*/ 0 h 813"/>
                            <a:gd name="T20" fmla="*/ 16 w 892"/>
                            <a:gd name="T21" fmla="*/ 0 h 813"/>
                            <a:gd name="T22" fmla="*/ 17 w 892"/>
                            <a:gd name="T23" fmla="*/ 1 h 813"/>
                            <a:gd name="T24" fmla="*/ 17 w 892"/>
                            <a:gd name="T25" fmla="*/ 0 h 813"/>
                            <a:gd name="T26" fmla="*/ 20 w 892"/>
                            <a:gd name="T27" fmla="*/ 1 h 813"/>
                            <a:gd name="T28" fmla="*/ 20 w 892"/>
                            <a:gd name="T29" fmla="*/ 2 h 813"/>
                            <a:gd name="T30" fmla="*/ 19 w 892"/>
                            <a:gd name="T31" fmla="*/ 3 h 813"/>
                            <a:gd name="T32" fmla="*/ 18 w 892"/>
                            <a:gd name="T33" fmla="*/ 5 h 813"/>
                            <a:gd name="T34" fmla="*/ 21 w 892"/>
                            <a:gd name="T35" fmla="*/ 6 h 813"/>
                            <a:gd name="T36" fmla="*/ 21 w 892"/>
                            <a:gd name="T37" fmla="*/ 7 h 813"/>
                            <a:gd name="T38" fmla="*/ 22 w 892"/>
                            <a:gd name="T39" fmla="*/ 6 h 813"/>
                            <a:gd name="T40" fmla="*/ 22 w 892"/>
                            <a:gd name="T41" fmla="*/ 4 h 813"/>
                            <a:gd name="T42" fmla="*/ 24 w 892"/>
                            <a:gd name="T43" fmla="*/ 4 h 813"/>
                            <a:gd name="T44" fmla="*/ 25 w 892"/>
                            <a:gd name="T45" fmla="*/ 4 h 813"/>
                            <a:gd name="T46" fmla="*/ 27 w 892"/>
                            <a:gd name="T47" fmla="*/ 5 h 813"/>
                            <a:gd name="T48" fmla="*/ 28 w 892"/>
                            <a:gd name="T49" fmla="*/ 7 h 813"/>
                            <a:gd name="T50" fmla="*/ 27 w 892"/>
                            <a:gd name="T51" fmla="*/ 7 h 813"/>
                            <a:gd name="T52" fmla="*/ 25 w 892"/>
                            <a:gd name="T53" fmla="*/ 8 h 813"/>
                            <a:gd name="T54" fmla="*/ 27 w 892"/>
                            <a:gd name="T55" fmla="*/ 8 h 813"/>
                            <a:gd name="T56" fmla="*/ 27 w 892"/>
                            <a:gd name="T57" fmla="*/ 10 h 813"/>
                            <a:gd name="T58" fmla="*/ 27 w 892"/>
                            <a:gd name="T59" fmla="*/ 10 h 813"/>
                            <a:gd name="T60" fmla="*/ 26 w 892"/>
                            <a:gd name="T61" fmla="*/ 10 h 813"/>
                            <a:gd name="T62" fmla="*/ 25 w 892"/>
                            <a:gd name="T63" fmla="*/ 12 h 813"/>
                            <a:gd name="T64" fmla="*/ 24 w 892"/>
                            <a:gd name="T65" fmla="*/ 13 h 813"/>
                            <a:gd name="T66" fmla="*/ 23 w 892"/>
                            <a:gd name="T67" fmla="*/ 16 h 813"/>
                            <a:gd name="T68" fmla="*/ 23 w 892"/>
                            <a:gd name="T69" fmla="*/ 18 h 813"/>
                            <a:gd name="T70" fmla="*/ 23 w 892"/>
                            <a:gd name="T71" fmla="*/ 17 h 813"/>
                            <a:gd name="T72" fmla="*/ 21 w 892"/>
                            <a:gd name="T73" fmla="*/ 16 h 813"/>
                            <a:gd name="T74" fmla="*/ 20 w 892"/>
                            <a:gd name="T75" fmla="*/ 16 h 813"/>
                            <a:gd name="T76" fmla="*/ 18 w 892"/>
                            <a:gd name="T77" fmla="*/ 17 h 813"/>
                            <a:gd name="T78" fmla="*/ 17 w 892"/>
                            <a:gd name="T79" fmla="*/ 18 h 813"/>
                            <a:gd name="T80" fmla="*/ 19 w 892"/>
                            <a:gd name="T81" fmla="*/ 21 h 813"/>
                            <a:gd name="T82" fmla="*/ 20 w 892"/>
                            <a:gd name="T83" fmla="*/ 19 h 813"/>
                            <a:gd name="T84" fmla="*/ 21 w 892"/>
                            <a:gd name="T85" fmla="*/ 20 h 813"/>
                            <a:gd name="T86" fmla="*/ 22 w 892"/>
                            <a:gd name="T87" fmla="*/ 22 h 813"/>
                            <a:gd name="T88" fmla="*/ 22 w 892"/>
                            <a:gd name="T89" fmla="*/ 23 h 813"/>
                            <a:gd name="T90" fmla="*/ 24 w 892"/>
                            <a:gd name="T91" fmla="*/ 24 h 813"/>
                            <a:gd name="T92" fmla="*/ 26 w 892"/>
                            <a:gd name="T93" fmla="*/ 24 h 813"/>
                            <a:gd name="T94" fmla="*/ 24 w 892"/>
                            <a:gd name="T95" fmla="*/ 25 h 813"/>
                            <a:gd name="T96" fmla="*/ 22 w 892"/>
                            <a:gd name="T97" fmla="*/ 24 h 813"/>
                            <a:gd name="T98" fmla="*/ 21 w 892"/>
                            <a:gd name="T99" fmla="*/ 23 h 813"/>
                            <a:gd name="T100" fmla="*/ 19 w 892"/>
                            <a:gd name="T101" fmla="*/ 22 h 813"/>
                            <a:gd name="T102" fmla="*/ 17 w 892"/>
                            <a:gd name="T103" fmla="*/ 21 h 813"/>
                            <a:gd name="T104" fmla="*/ 14 w 892"/>
                            <a:gd name="T105" fmla="*/ 19 h 813"/>
                            <a:gd name="T106" fmla="*/ 12 w 892"/>
                            <a:gd name="T107" fmla="*/ 15 h 813"/>
                            <a:gd name="T108" fmla="*/ 12 w 892"/>
                            <a:gd name="T109" fmla="*/ 19 h 813"/>
                            <a:gd name="T110" fmla="*/ 11 w 892"/>
                            <a:gd name="T111" fmla="*/ 16 h 813"/>
                            <a:gd name="T112" fmla="*/ 9 w 892"/>
                            <a:gd name="T113" fmla="*/ 12 h 813"/>
                            <a:gd name="T114" fmla="*/ 9 w 892"/>
                            <a:gd name="T115" fmla="*/ 9 h 813"/>
                            <a:gd name="T116" fmla="*/ 9 w 892"/>
                            <a:gd name="T117" fmla="*/ 6 h 813"/>
                            <a:gd name="T118" fmla="*/ 8 w 892"/>
                            <a:gd name="T119" fmla="*/ 5 h 813"/>
                            <a:gd name="T120" fmla="*/ 7 w 892"/>
                            <a:gd name="T121" fmla="*/ 4 h 813"/>
                            <a:gd name="T122" fmla="*/ 5 w 892"/>
                            <a:gd name="T123" fmla="*/ 4 h 813"/>
                            <a:gd name="T124" fmla="*/ 3 w 892"/>
                            <a:gd name="T125" fmla="*/ 5 h 813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60000 65536"/>
                            <a:gd name="T157" fmla="*/ 0 60000 65536"/>
                            <a:gd name="T158" fmla="*/ 0 60000 65536"/>
                            <a:gd name="T159" fmla="*/ 0 60000 65536"/>
                            <a:gd name="T160" fmla="*/ 0 60000 65536"/>
                            <a:gd name="T161" fmla="*/ 0 60000 65536"/>
                            <a:gd name="T162" fmla="*/ 0 60000 65536"/>
                            <a:gd name="T163" fmla="*/ 0 60000 65536"/>
                            <a:gd name="T164" fmla="*/ 0 60000 65536"/>
                            <a:gd name="T165" fmla="*/ 0 60000 65536"/>
                            <a:gd name="T166" fmla="*/ 0 60000 65536"/>
                            <a:gd name="T167" fmla="*/ 0 60000 65536"/>
                            <a:gd name="T168" fmla="*/ 0 60000 65536"/>
                            <a:gd name="T169" fmla="*/ 0 60000 65536"/>
                            <a:gd name="T170" fmla="*/ 0 60000 65536"/>
                            <a:gd name="T171" fmla="*/ 0 60000 65536"/>
                            <a:gd name="T172" fmla="*/ 0 60000 65536"/>
                            <a:gd name="T173" fmla="*/ 0 60000 65536"/>
                            <a:gd name="T174" fmla="*/ 0 60000 65536"/>
                            <a:gd name="T175" fmla="*/ 0 60000 65536"/>
                            <a:gd name="T176" fmla="*/ 0 60000 65536"/>
                            <a:gd name="T177" fmla="*/ 0 60000 65536"/>
                            <a:gd name="T178" fmla="*/ 0 60000 65536"/>
                            <a:gd name="T179" fmla="*/ 0 60000 65536"/>
                            <a:gd name="T180" fmla="*/ 0 60000 65536"/>
                            <a:gd name="T181" fmla="*/ 0 60000 65536"/>
                            <a:gd name="T182" fmla="*/ 0 60000 65536"/>
                            <a:gd name="T183" fmla="*/ 0 60000 65536"/>
                            <a:gd name="T184" fmla="*/ 0 60000 65536"/>
                            <a:gd name="T185" fmla="*/ 0 60000 65536"/>
                            <a:gd name="T186" fmla="*/ 0 60000 65536"/>
                            <a:gd name="T187" fmla="*/ 0 60000 65536"/>
                            <a:gd name="T188" fmla="*/ 0 60000 65536"/>
                            <a:gd name="T189" fmla="*/ 0 w 892"/>
                            <a:gd name="T190" fmla="*/ 0 h 813"/>
                            <a:gd name="T191" fmla="*/ 892 w 892"/>
                            <a:gd name="T192" fmla="*/ 813 h 813"/>
                          </a:gdLst>
                          <a:ahLst/>
                          <a:cxnLst>
                            <a:cxn ang="T126">
                              <a:pos x="T0" y="T1"/>
                            </a:cxn>
                            <a:cxn ang="T127">
                              <a:pos x="T2" y="T3"/>
                            </a:cxn>
                            <a:cxn ang="T128">
                              <a:pos x="T4" y="T5"/>
                            </a:cxn>
                            <a:cxn ang="T129">
                              <a:pos x="T6" y="T7"/>
                            </a:cxn>
                            <a:cxn ang="T130">
                              <a:pos x="T8" y="T9"/>
                            </a:cxn>
                            <a:cxn ang="T131">
                              <a:pos x="T10" y="T11"/>
                            </a:cxn>
                            <a:cxn ang="T132">
                              <a:pos x="T12" y="T13"/>
                            </a:cxn>
                            <a:cxn ang="T133">
                              <a:pos x="T14" y="T15"/>
                            </a:cxn>
                            <a:cxn ang="T134">
                              <a:pos x="T16" y="T17"/>
                            </a:cxn>
                            <a:cxn ang="T135">
                              <a:pos x="T18" y="T19"/>
                            </a:cxn>
                            <a:cxn ang="T136">
                              <a:pos x="T20" y="T21"/>
                            </a:cxn>
                            <a:cxn ang="T137">
                              <a:pos x="T22" y="T23"/>
                            </a:cxn>
                            <a:cxn ang="T138">
                              <a:pos x="T24" y="T25"/>
                            </a:cxn>
                            <a:cxn ang="T139">
                              <a:pos x="T26" y="T27"/>
                            </a:cxn>
                            <a:cxn ang="T140">
                              <a:pos x="T28" y="T29"/>
                            </a:cxn>
                            <a:cxn ang="T141">
                              <a:pos x="T30" y="T31"/>
                            </a:cxn>
                            <a:cxn ang="T142">
                              <a:pos x="T32" y="T33"/>
                            </a:cxn>
                            <a:cxn ang="T143">
                              <a:pos x="T34" y="T35"/>
                            </a:cxn>
                            <a:cxn ang="T144">
                              <a:pos x="T36" y="T37"/>
                            </a:cxn>
                            <a:cxn ang="T145">
                              <a:pos x="T38" y="T39"/>
                            </a:cxn>
                            <a:cxn ang="T146">
                              <a:pos x="T40" y="T41"/>
                            </a:cxn>
                            <a:cxn ang="T147">
                              <a:pos x="T42" y="T43"/>
                            </a:cxn>
                            <a:cxn ang="T148">
                              <a:pos x="T44" y="T45"/>
                            </a:cxn>
                            <a:cxn ang="T149">
                              <a:pos x="T46" y="T47"/>
                            </a:cxn>
                            <a:cxn ang="T150">
                              <a:pos x="T48" y="T49"/>
                            </a:cxn>
                            <a:cxn ang="T151">
                              <a:pos x="T50" y="T51"/>
                            </a:cxn>
                            <a:cxn ang="T152">
                              <a:pos x="T52" y="T53"/>
                            </a:cxn>
                            <a:cxn ang="T153">
                              <a:pos x="T54" y="T55"/>
                            </a:cxn>
                            <a:cxn ang="T154">
                              <a:pos x="T56" y="T57"/>
                            </a:cxn>
                            <a:cxn ang="T155">
                              <a:pos x="T58" y="T59"/>
                            </a:cxn>
                            <a:cxn ang="T156">
                              <a:pos x="T60" y="T61"/>
                            </a:cxn>
                            <a:cxn ang="T157">
                              <a:pos x="T62" y="T63"/>
                            </a:cxn>
                            <a:cxn ang="T158">
                              <a:pos x="T64" y="T65"/>
                            </a:cxn>
                            <a:cxn ang="T159">
                              <a:pos x="T66" y="T67"/>
                            </a:cxn>
                            <a:cxn ang="T160">
                              <a:pos x="T68" y="T69"/>
                            </a:cxn>
                            <a:cxn ang="T161">
                              <a:pos x="T70" y="T71"/>
                            </a:cxn>
                            <a:cxn ang="T162">
                              <a:pos x="T72" y="T73"/>
                            </a:cxn>
                            <a:cxn ang="T163">
                              <a:pos x="T74" y="T75"/>
                            </a:cxn>
                            <a:cxn ang="T164">
                              <a:pos x="T76" y="T77"/>
                            </a:cxn>
                            <a:cxn ang="T165">
                              <a:pos x="T78" y="T79"/>
                            </a:cxn>
                            <a:cxn ang="T166">
                              <a:pos x="T80" y="T81"/>
                            </a:cxn>
                            <a:cxn ang="T167">
                              <a:pos x="T82" y="T83"/>
                            </a:cxn>
                            <a:cxn ang="T168">
                              <a:pos x="T84" y="T85"/>
                            </a:cxn>
                            <a:cxn ang="T169">
                              <a:pos x="T86" y="T87"/>
                            </a:cxn>
                            <a:cxn ang="T170">
                              <a:pos x="T88" y="T89"/>
                            </a:cxn>
                            <a:cxn ang="T171">
                              <a:pos x="T90" y="T91"/>
                            </a:cxn>
                            <a:cxn ang="T172">
                              <a:pos x="T92" y="T93"/>
                            </a:cxn>
                            <a:cxn ang="T173">
                              <a:pos x="T94" y="T95"/>
                            </a:cxn>
                            <a:cxn ang="T174">
                              <a:pos x="T96" y="T97"/>
                            </a:cxn>
                            <a:cxn ang="T175">
                              <a:pos x="T98" y="T99"/>
                            </a:cxn>
                            <a:cxn ang="T176">
                              <a:pos x="T100" y="T101"/>
                            </a:cxn>
                            <a:cxn ang="T177">
                              <a:pos x="T102" y="T103"/>
                            </a:cxn>
                            <a:cxn ang="T178">
                              <a:pos x="T104" y="T105"/>
                            </a:cxn>
                            <a:cxn ang="T179">
                              <a:pos x="T106" y="T107"/>
                            </a:cxn>
                            <a:cxn ang="T180">
                              <a:pos x="T108" y="T109"/>
                            </a:cxn>
                            <a:cxn ang="T181">
                              <a:pos x="T110" y="T111"/>
                            </a:cxn>
                            <a:cxn ang="T182">
                              <a:pos x="T112" y="T113"/>
                            </a:cxn>
                            <a:cxn ang="T183">
                              <a:pos x="T114" y="T115"/>
                            </a:cxn>
                            <a:cxn ang="T184">
                              <a:pos x="T116" y="T117"/>
                            </a:cxn>
                            <a:cxn ang="T185">
                              <a:pos x="T118" y="T119"/>
                            </a:cxn>
                            <a:cxn ang="T186">
                              <a:pos x="T120" y="T121"/>
                            </a:cxn>
                            <a:cxn ang="T187">
                              <a:pos x="T122" y="T123"/>
                            </a:cxn>
                            <a:cxn ang="T188">
                              <a:pos x="T124" y="T125"/>
                            </a:cxn>
                          </a:cxnLst>
                          <a:rect l="T189" t="T190" r="T191" b="T192"/>
                          <a:pathLst>
                            <a:path w="892" h="813">
                              <a:moveTo>
                                <a:pt x="0" y="209"/>
                              </a:moveTo>
                              <a:lnTo>
                                <a:pt x="42" y="181"/>
                              </a:lnTo>
                              <a:lnTo>
                                <a:pt x="67" y="170"/>
                              </a:lnTo>
                              <a:lnTo>
                                <a:pt x="71" y="152"/>
                              </a:lnTo>
                              <a:lnTo>
                                <a:pt x="52" y="142"/>
                              </a:lnTo>
                              <a:lnTo>
                                <a:pt x="50" y="122"/>
                              </a:lnTo>
                              <a:lnTo>
                                <a:pt x="59" y="116"/>
                              </a:lnTo>
                              <a:lnTo>
                                <a:pt x="57" y="107"/>
                              </a:lnTo>
                              <a:lnTo>
                                <a:pt x="90" y="104"/>
                              </a:lnTo>
                              <a:lnTo>
                                <a:pt x="98" y="88"/>
                              </a:lnTo>
                              <a:lnTo>
                                <a:pt x="100" y="74"/>
                              </a:lnTo>
                              <a:lnTo>
                                <a:pt x="127" y="69"/>
                              </a:lnTo>
                              <a:lnTo>
                                <a:pt x="130" y="55"/>
                              </a:lnTo>
                              <a:lnTo>
                                <a:pt x="104" y="51"/>
                              </a:lnTo>
                              <a:lnTo>
                                <a:pt x="116" y="40"/>
                              </a:lnTo>
                              <a:lnTo>
                                <a:pt x="159" y="40"/>
                              </a:lnTo>
                              <a:lnTo>
                                <a:pt x="171" y="29"/>
                              </a:lnTo>
                              <a:lnTo>
                                <a:pt x="189" y="27"/>
                              </a:lnTo>
                              <a:lnTo>
                                <a:pt x="200" y="17"/>
                              </a:lnTo>
                              <a:lnTo>
                                <a:pt x="214" y="35"/>
                              </a:lnTo>
                              <a:lnTo>
                                <a:pt x="267" y="32"/>
                              </a:lnTo>
                              <a:lnTo>
                                <a:pt x="292" y="49"/>
                              </a:lnTo>
                              <a:lnTo>
                                <a:pt x="371" y="45"/>
                              </a:lnTo>
                              <a:lnTo>
                                <a:pt x="384" y="36"/>
                              </a:lnTo>
                              <a:lnTo>
                                <a:pt x="414" y="51"/>
                              </a:lnTo>
                              <a:lnTo>
                                <a:pt x="445" y="64"/>
                              </a:lnTo>
                              <a:lnTo>
                                <a:pt x="461" y="58"/>
                              </a:lnTo>
                              <a:lnTo>
                                <a:pt x="470" y="51"/>
                              </a:lnTo>
                              <a:lnTo>
                                <a:pt x="496" y="55"/>
                              </a:lnTo>
                              <a:lnTo>
                                <a:pt x="478" y="45"/>
                              </a:lnTo>
                              <a:lnTo>
                                <a:pt x="462" y="46"/>
                              </a:lnTo>
                              <a:lnTo>
                                <a:pt x="437" y="49"/>
                              </a:lnTo>
                              <a:lnTo>
                                <a:pt x="425" y="35"/>
                              </a:lnTo>
                              <a:lnTo>
                                <a:pt x="411" y="27"/>
                              </a:lnTo>
                              <a:lnTo>
                                <a:pt x="411" y="14"/>
                              </a:lnTo>
                              <a:lnTo>
                                <a:pt x="415" y="1"/>
                              </a:lnTo>
                              <a:lnTo>
                                <a:pt x="426" y="0"/>
                              </a:lnTo>
                              <a:lnTo>
                                <a:pt x="441" y="11"/>
                              </a:lnTo>
                              <a:lnTo>
                                <a:pt x="445" y="6"/>
                              </a:lnTo>
                              <a:lnTo>
                                <a:pt x="458" y="0"/>
                              </a:lnTo>
                              <a:lnTo>
                                <a:pt x="473" y="8"/>
                              </a:lnTo>
                              <a:lnTo>
                                <a:pt x="481" y="1"/>
                              </a:lnTo>
                              <a:lnTo>
                                <a:pt x="489" y="13"/>
                              </a:lnTo>
                              <a:lnTo>
                                <a:pt x="491" y="22"/>
                              </a:lnTo>
                              <a:lnTo>
                                <a:pt x="513" y="32"/>
                              </a:lnTo>
                              <a:lnTo>
                                <a:pt x="504" y="40"/>
                              </a:lnTo>
                              <a:lnTo>
                                <a:pt x="504" y="52"/>
                              </a:lnTo>
                              <a:lnTo>
                                <a:pt x="541" y="55"/>
                              </a:lnTo>
                              <a:lnTo>
                                <a:pt x="551" y="40"/>
                              </a:lnTo>
                              <a:lnTo>
                                <a:pt x="544" y="33"/>
                              </a:lnTo>
                              <a:lnTo>
                                <a:pt x="528" y="35"/>
                              </a:lnTo>
                              <a:lnTo>
                                <a:pt x="532" y="17"/>
                              </a:lnTo>
                              <a:lnTo>
                                <a:pt x="565" y="27"/>
                              </a:lnTo>
                              <a:lnTo>
                                <a:pt x="572" y="39"/>
                              </a:lnTo>
                              <a:lnTo>
                                <a:pt x="599" y="39"/>
                              </a:lnTo>
                              <a:lnTo>
                                <a:pt x="626" y="53"/>
                              </a:lnTo>
                              <a:lnTo>
                                <a:pt x="640" y="51"/>
                              </a:lnTo>
                              <a:lnTo>
                                <a:pt x="655" y="64"/>
                              </a:lnTo>
                              <a:lnTo>
                                <a:pt x="640" y="81"/>
                              </a:lnTo>
                              <a:lnTo>
                                <a:pt x="628" y="68"/>
                              </a:lnTo>
                              <a:lnTo>
                                <a:pt x="620" y="72"/>
                              </a:lnTo>
                              <a:lnTo>
                                <a:pt x="607" y="83"/>
                              </a:lnTo>
                              <a:lnTo>
                                <a:pt x="588" y="91"/>
                              </a:lnTo>
                              <a:lnTo>
                                <a:pt x="598" y="104"/>
                              </a:lnTo>
                              <a:lnTo>
                                <a:pt x="581" y="106"/>
                              </a:lnTo>
                              <a:lnTo>
                                <a:pt x="567" y="123"/>
                              </a:lnTo>
                              <a:lnTo>
                                <a:pt x="554" y="145"/>
                              </a:lnTo>
                              <a:lnTo>
                                <a:pt x="574" y="164"/>
                              </a:lnTo>
                              <a:lnTo>
                                <a:pt x="591" y="186"/>
                              </a:lnTo>
                              <a:lnTo>
                                <a:pt x="622" y="189"/>
                              </a:lnTo>
                              <a:lnTo>
                                <a:pt x="650" y="186"/>
                              </a:lnTo>
                              <a:lnTo>
                                <a:pt x="662" y="197"/>
                              </a:lnTo>
                              <a:lnTo>
                                <a:pt x="657" y="203"/>
                              </a:lnTo>
                              <a:lnTo>
                                <a:pt x="648" y="215"/>
                              </a:lnTo>
                              <a:lnTo>
                                <a:pt x="661" y="235"/>
                              </a:lnTo>
                              <a:lnTo>
                                <a:pt x="665" y="249"/>
                              </a:lnTo>
                              <a:lnTo>
                                <a:pt x="680" y="257"/>
                              </a:lnTo>
                              <a:lnTo>
                                <a:pt x="700" y="244"/>
                              </a:lnTo>
                              <a:lnTo>
                                <a:pt x="695" y="225"/>
                              </a:lnTo>
                              <a:lnTo>
                                <a:pt x="677" y="209"/>
                              </a:lnTo>
                              <a:lnTo>
                                <a:pt x="698" y="190"/>
                              </a:lnTo>
                              <a:lnTo>
                                <a:pt x="680" y="158"/>
                              </a:lnTo>
                              <a:lnTo>
                                <a:pt x="663" y="145"/>
                              </a:lnTo>
                              <a:lnTo>
                                <a:pt x="677" y="133"/>
                              </a:lnTo>
                              <a:lnTo>
                                <a:pt x="674" y="116"/>
                              </a:lnTo>
                              <a:lnTo>
                                <a:pt x="684" y="106"/>
                              </a:lnTo>
                              <a:lnTo>
                                <a:pt x="700" y="116"/>
                              </a:lnTo>
                              <a:lnTo>
                                <a:pt x="739" y="154"/>
                              </a:lnTo>
                              <a:lnTo>
                                <a:pt x="762" y="159"/>
                              </a:lnTo>
                              <a:lnTo>
                                <a:pt x="769" y="149"/>
                              </a:lnTo>
                              <a:lnTo>
                                <a:pt x="764" y="129"/>
                              </a:lnTo>
                              <a:lnTo>
                                <a:pt x="777" y="132"/>
                              </a:lnTo>
                              <a:lnTo>
                                <a:pt x="801" y="155"/>
                              </a:lnTo>
                              <a:lnTo>
                                <a:pt x="805" y="168"/>
                              </a:lnTo>
                              <a:lnTo>
                                <a:pt x="818" y="177"/>
                              </a:lnTo>
                              <a:lnTo>
                                <a:pt x="846" y="187"/>
                              </a:lnTo>
                              <a:lnTo>
                                <a:pt x="860" y="206"/>
                              </a:lnTo>
                              <a:lnTo>
                                <a:pt x="880" y="219"/>
                              </a:lnTo>
                              <a:lnTo>
                                <a:pt x="891" y="223"/>
                              </a:lnTo>
                              <a:lnTo>
                                <a:pt x="892" y="235"/>
                              </a:lnTo>
                              <a:lnTo>
                                <a:pt x="876" y="242"/>
                              </a:lnTo>
                              <a:lnTo>
                                <a:pt x="866" y="234"/>
                              </a:lnTo>
                              <a:lnTo>
                                <a:pt x="858" y="235"/>
                              </a:lnTo>
                              <a:lnTo>
                                <a:pt x="855" y="254"/>
                              </a:lnTo>
                              <a:lnTo>
                                <a:pt x="842" y="258"/>
                              </a:lnTo>
                              <a:lnTo>
                                <a:pt x="827" y="248"/>
                              </a:lnTo>
                              <a:lnTo>
                                <a:pt x="795" y="248"/>
                              </a:lnTo>
                              <a:lnTo>
                                <a:pt x="791" y="270"/>
                              </a:lnTo>
                              <a:lnTo>
                                <a:pt x="799" y="283"/>
                              </a:lnTo>
                              <a:lnTo>
                                <a:pt x="812" y="276"/>
                              </a:lnTo>
                              <a:lnTo>
                                <a:pt x="824" y="273"/>
                              </a:lnTo>
                              <a:lnTo>
                                <a:pt x="836" y="280"/>
                              </a:lnTo>
                              <a:lnTo>
                                <a:pt x="820" y="296"/>
                              </a:lnTo>
                              <a:lnTo>
                                <a:pt x="836" y="310"/>
                              </a:lnTo>
                              <a:lnTo>
                                <a:pt x="858" y="315"/>
                              </a:lnTo>
                              <a:lnTo>
                                <a:pt x="855" y="324"/>
                              </a:lnTo>
                              <a:lnTo>
                                <a:pt x="847" y="325"/>
                              </a:lnTo>
                              <a:lnTo>
                                <a:pt x="827" y="374"/>
                              </a:lnTo>
                              <a:lnTo>
                                <a:pt x="828" y="342"/>
                              </a:lnTo>
                              <a:lnTo>
                                <a:pt x="838" y="326"/>
                              </a:lnTo>
                              <a:lnTo>
                                <a:pt x="827" y="319"/>
                              </a:lnTo>
                              <a:lnTo>
                                <a:pt x="814" y="329"/>
                              </a:lnTo>
                              <a:lnTo>
                                <a:pt x="821" y="338"/>
                              </a:lnTo>
                              <a:lnTo>
                                <a:pt x="812" y="344"/>
                              </a:lnTo>
                              <a:lnTo>
                                <a:pt x="802" y="351"/>
                              </a:lnTo>
                              <a:lnTo>
                                <a:pt x="803" y="373"/>
                              </a:lnTo>
                              <a:lnTo>
                                <a:pt x="790" y="382"/>
                              </a:lnTo>
                              <a:lnTo>
                                <a:pt x="770" y="385"/>
                              </a:lnTo>
                              <a:lnTo>
                                <a:pt x="777" y="396"/>
                              </a:lnTo>
                              <a:lnTo>
                                <a:pt x="770" y="409"/>
                              </a:lnTo>
                              <a:lnTo>
                                <a:pt x="777" y="419"/>
                              </a:lnTo>
                              <a:lnTo>
                                <a:pt x="766" y="441"/>
                              </a:lnTo>
                              <a:lnTo>
                                <a:pt x="762" y="462"/>
                              </a:lnTo>
                              <a:lnTo>
                                <a:pt x="746" y="473"/>
                              </a:lnTo>
                              <a:lnTo>
                                <a:pt x="725" y="505"/>
                              </a:lnTo>
                              <a:lnTo>
                                <a:pt x="722" y="527"/>
                              </a:lnTo>
                              <a:lnTo>
                                <a:pt x="729" y="544"/>
                              </a:lnTo>
                              <a:lnTo>
                                <a:pt x="739" y="566"/>
                              </a:lnTo>
                              <a:lnTo>
                                <a:pt x="744" y="589"/>
                              </a:lnTo>
                              <a:lnTo>
                                <a:pt x="735" y="599"/>
                              </a:lnTo>
                              <a:lnTo>
                                <a:pt x="722" y="592"/>
                              </a:lnTo>
                              <a:lnTo>
                                <a:pt x="725" y="581"/>
                              </a:lnTo>
                              <a:lnTo>
                                <a:pt x="718" y="554"/>
                              </a:lnTo>
                              <a:lnTo>
                                <a:pt x="710" y="550"/>
                              </a:lnTo>
                              <a:lnTo>
                                <a:pt x="705" y="534"/>
                              </a:lnTo>
                              <a:lnTo>
                                <a:pt x="694" y="534"/>
                              </a:lnTo>
                              <a:lnTo>
                                <a:pt x="681" y="525"/>
                              </a:lnTo>
                              <a:lnTo>
                                <a:pt x="668" y="528"/>
                              </a:lnTo>
                              <a:lnTo>
                                <a:pt x="655" y="522"/>
                              </a:lnTo>
                              <a:lnTo>
                                <a:pt x="640" y="530"/>
                              </a:lnTo>
                              <a:lnTo>
                                <a:pt x="613" y="524"/>
                              </a:lnTo>
                              <a:lnTo>
                                <a:pt x="631" y="543"/>
                              </a:lnTo>
                              <a:lnTo>
                                <a:pt x="607" y="541"/>
                              </a:lnTo>
                              <a:lnTo>
                                <a:pt x="591" y="527"/>
                              </a:lnTo>
                              <a:lnTo>
                                <a:pt x="563" y="527"/>
                              </a:lnTo>
                              <a:lnTo>
                                <a:pt x="567" y="550"/>
                              </a:lnTo>
                              <a:lnTo>
                                <a:pt x="547" y="543"/>
                              </a:lnTo>
                              <a:lnTo>
                                <a:pt x="536" y="566"/>
                              </a:lnTo>
                              <a:lnTo>
                                <a:pt x="544" y="576"/>
                              </a:lnTo>
                              <a:lnTo>
                                <a:pt x="536" y="604"/>
                              </a:lnTo>
                              <a:lnTo>
                                <a:pt x="546" y="636"/>
                              </a:lnTo>
                              <a:lnTo>
                                <a:pt x="557" y="658"/>
                              </a:lnTo>
                              <a:lnTo>
                                <a:pt x="569" y="678"/>
                              </a:lnTo>
                              <a:lnTo>
                                <a:pt x="607" y="676"/>
                              </a:lnTo>
                              <a:lnTo>
                                <a:pt x="624" y="672"/>
                              </a:lnTo>
                              <a:lnTo>
                                <a:pt x="626" y="658"/>
                              </a:lnTo>
                              <a:lnTo>
                                <a:pt x="618" y="646"/>
                              </a:lnTo>
                              <a:lnTo>
                                <a:pt x="620" y="636"/>
                              </a:lnTo>
                              <a:lnTo>
                                <a:pt x="643" y="639"/>
                              </a:lnTo>
                              <a:lnTo>
                                <a:pt x="666" y="633"/>
                              </a:lnTo>
                              <a:lnTo>
                                <a:pt x="666" y="646"/>
                              </a:lnTo>
                              <a:lnTo>
                                <a:pt x="659" y="665"/>
                              </a:lnTo>
                              <a:lnTo>
                                <a:pt x="648" y="679"/>
                              </a:lnTo>
                              <a:lnTo>
                                <a:pt x="646" y="700"/>
                              </a:lnTo>
                              <a:lnTo>
                                <a:pt x="661" y="708"/>
                              </a:lnTo>
                              <a:lnTo>
                                <a:pt x="681" y="705"/>
                              </a:lnTo>
                              <a:lnTo>
                                <a:pt x="694" y="713"/>
                              </a:lnTo>
                              <a:lnTo>
                                <a:pt x="705" y="710"/>
                              </a:lnTo>
                              <a:lnTo>
                                <a:pt x="709" y="723"/>
                              </a:lnTo>
                              <a:lnTo>
                                <a:pt x="699" y="743"/>
                              </a:lnTo>
                              <a:lnTo>
                                <a:pt x="707" y="755"/>
                              </a:lnTo>
                              <a:lnTo>
                                <a:pt x="709" y="778"/>
                              </a:lnTo>
                              <a:lnTo>
                                <a:pt x="722" y="794"/>
                              </a:lnTo>
                              <a:lnTo>
                                <a:pt x="740" y="798"/>
                              </a:lnTo>
                              <a:lnTo>
                                <a:pt x="753" y="794"/>
                              </a:lnTo>
                              <a:lnTo>
                                <a:pt x="758" y="795"/>
                              </a:lnTo>
                              <a:lnTo>
                                <a:pt x="781" y="795"/>
                              </a:lnTo>
                              <a:lnTo>
                                <a:pt x="802" y="797"/>
                              </a:lnTo>
                              <a:lnTo>
                                <a:pt x="807" y="787"/>
                              </a:lnTo>
                              <a:lnTo>
                                <a:pt x="790" y="804"/>
                              </a:lnTo>
                              <a:lnTo>
                                <a:pt x="777" y="803"/>
                              </a:lnTo>
                              <a:lnTo>
                                <a:pt x="765" y="804"/>
                              </a:lnTo>
                              <a:lnTo>
                                <a:pt x="740" y="813"/>
                              </a:lnTo>
                              <a:lnTo>
                                <a:pt x="720" y="801"/>
                              </a:lnTo>
                              <a:lnTo>
                                <a:pt x="700" y="794"/>
                              </a:lnTo>
                              <a:lnTo>
                                <a:pt x="692" y="795"/>
                              </a:lnTo>
                              <a:lnTo>
                                <a:pt x="694" y="785"/>
                              </a:lnTo>
                              <a:lnTo>
                                <a:pt x="692" y="769"/>
                              </a:lnTo>
                              <a:lnTo>
                                <a:pt x="676" y="755"/>
                              </a:lnTo>
                              <a:lnTo>
                                <a:pt x="642" y="746"/>
                              </a:lnTo>
                              <a:lnTo>
                                <a:pt x="636" y="739"/>
                              </a:lnTo>
                              <a:lnTo>
                                <a:pt x="626" y="740"/>
                              </a:lnTo>
                              <a:lnTo>
                                <a:pt x="617" y="733"/>
                              </a:lnTo>
                              <a:lnTo>
                                <a:pt x="602" y="726"/>
                              </a:lnTo>
                              <a:lnTo>
                                <a:pt x="585" y="705"/>
                              </a:lnTo>
                              <a:lnTo>
                                <a:pt x="566" y="700"/>
                              </a:lnTo>
                              <a:lnTo>
                                <a:pt x="555" y="713"/>
                              </a:lnTo>
                              <a:lnTo>
                                <a:pt x="543" y="703"/>
                              </a:lnTo>
                              <a:lnTo>
                                <a:pt x="528" y="703"/>
                              </a:lnTo>
                              <a:lnTo>
                                <a:pt x="498" y="695"/>
                              </a:lnTo>
                              <a:lnTo>
                                <a:pt x="443" y="660"/>
                              </a:lnTo>
                              <a:lnTo>
                                <a:pt x="439" y="624"/>
                              </a:lnTo>
                              <a:lnTo>
                                <a:pt x="433" y="610"/>
                              </a:lnTo>
                              <a:lnTo>
                                <a:pt x="423" y="599"/>
                              </a:lnTo>
                              <a:lnTo>
                                <a:pt x="411" y="579"/>
                              </a:lnTo>
                              <a:lnTo>
                                <a:pt x="354" y="509"/>
                              </a:lnTo>
                              <a:lnTo>
                                <a:pt x="354" y="536"/>
                              </a:lnTo>
                              <a:lnTo>
                                <a:pt x="389" y="582"/>
                              </a:lnTo>
                              <a:lnTo>
                                <a:pt x="404" y="621"/>
                              </a:lnTo>
                              <a:lnTo>
                                <a:pt x="382" y="613"/>
                              </a:lnTo>
                              <a:lnTo>
                                <a:pt x="378" y="589"/>
                              </a:lnTo>
                              <a:lnTo>
                                <a:pt x="349" y="575"/>
                              </a:lnTo>
                              <a:lnTo>
                                <a:pt x="366" y="566"/>
                              </a:lnTo>
                              <a:lnTo>
                                <a:pt x="327" y="541"/>
                              </a:lnTo>
                              <a:lnTo>
                                <a:pt x="343" y="527"/>
                              </a:lnTo>
                              <a:lnTo>
                                <a:pt x="329" y="498"/>
                              </a:lnTo>
                              <a:lnTo>
                                <a:pt x="282" y="437"/>
                              </a:lnTo>
                              <a:lnTo>
                                <a:pt x="277" y="402"/>
                              </a:lnTo>
                              <a:lnTo>
                                <a:pt x="279" y="373"/>
                              </a:lnTo>
                              <a:lnTo>
                                <a:pt x="292" y="344"/>
                              </a:lnTo>
                              <a:lnTo>
                                <a:pt x="292" y="315"/>
                              </a:lnTo>
                              <a:lnTo>
                                <a:pt x="282" y="297"/>
                              </a:lnTo>
                              <a:lnTo>
                                <a:pt x="308" y="292"/>
                              </a:lnTo>
                              <a:lnTo>
                                <a:pt x="277" y="257"/>
                              </a:lnTo>
                              <a:lnTo>
                                <a:pt x="278" y="241"/>
                              </a:lnTo>
                              <a:lnTo>
                                <a:pt x="264" y="219"/>
                              </a:lnTo>
                              <a:lnTo>
                                <a:pt x="270" y="206"/>
                              </a:lnTo>
                              <a:lnTo>
                                <a:pt x="260" y="199"/>
                              </a:lnTo>
                              <a:lnTo>
                                <a:pt x="259" y="184"/>
                              </a:lnTo>
                              <a:lnTo>
                                <a:pt x="249" y="173"/>
                              </a:lnTo>
                              <a:lnTo>
                                <a:pt x="260" y="162"/>
                              </a:lnTo>
                              <a:lnTo>
                                <a:pt x="245" y="155"/>
                              </a:lnTo>
                              <a:lnTo>
                                <a:pt x="233" y="165"/>
                              </a:lnTo>
                              <a:lnTo>
                                <a:pt x="215" y="145"/>
                              </a:lnTo>
                              <a:lnTo>
                                <a:pt x="196" y="139"/>
                              </a:lnTo>
                              <a:lnTo>
                                <a:pt x="168" y="139"/>
                              </a:lnTo>
                              <a:lnTo>
                                <a:pt x="151" y="158"/>
                              </a:lnTo>
                              <a:lnTo>
                                <a:pt x="142" y="152"/>
                              </a:lnTo>
                              <a:lnTo>
                                <a:pt x="157" y="128"/>
                              </a:lnTo>
                              <a:lnTo>
                                <a:pt x="144" y="132"/>
                              </a:lnTo>
                              <a:lnTo>
                                <a:pt x="116" y="158"/>
                              </a:lnTo>
                              <a:lnTo>
                                <a:pt x="88" y="181"/>
                              </a:lnTo>
                              <a:lnTo>
                                <a:pt x="61" y="187"/>
                              </a:lnTo>
                              <a:lnTo>
                                <a:pt x="18" y="210"/>
                              </a:lnTo>
                              <a:lnTo>
                                <a:pt x="0" y="20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68" name="Freeform 16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81" y="2102"/>
                          <a:ext cx="151" cy="107"/>
                        </a:xfrm>
                        <a:custGeom>
                          <a:avLst/>
                          <a:gdLst>
                            <a:gd name="T0" fmla="*/ 0 w 303"/>
                            <a:gd name="T1" fmla="*/ 2 h 213"/>
                            <a:gd name="T2" fmla="*/ 0 w 303"/>
                            <a:gd name="T3" fmla="*/ 1 h 213"/>
                            <a:gd name="T4" fmla="*/ 0 w 303"/>
                            <a:gd name="T5" fmla="*/ 1 h 213"/>
                            <a:gd name="T6" fmla="*/ 0 w 303"/>
                            <a:gd name="T7" fmla="*/ 0 h 213"/>
                            <a:gd name="T8" fmla="*/ 2 w 303"/>
                            <a:gd name="T9" fmla="*/ 1 h 213"/>
                            <a:gd name="T10" fmla="*/ 5 w 303"/>
                            <a:gd name="T11" fmla="*/ 1 h 213"/>
                            <a:gd name="T12" fmla="*/ 6 w 303"/>
                            <a:gd name="T13" fmla="*/ 2 h 213"/>
                            <a:gd name="T14" fmla="*/ 7 w 303"/>
                            <a:gd name="T15" fmla="*/ 2 h 213"/>
                            <a:gd name="T16" fmla="*/ 8 w 303"/>
                            <a:gd name="T17" fmla="*/ 3 h 213"/>
                            <a:gd name="T18" fmla="*/ 9 w 303"/>
                            <a:gd name="T19" fmla="*/ 4 h 213"/>
                            <a:gd name="T20" fmla="*/ 9 w 303"/>
                            <a:gd name="T21" fmla="*/ 4 h 213"/>
                            <a:gd name="T22" fmla="*/ 9 w 303"/>
                            <a:gd name="T23" fmla="*/ 4 h 213"/>
                            <a:gd name="T24" fmla="*/ 8 w 303"/>
                            <a:gd name="T25" fmla="*/ 4 h 213"/>
                            <a:gd name="T26" fmla="*/ 8 w 303"/>
                            <a:gd name="T27" fmla="*/ 5 h 213"/>
                            <a:gd name="T28" fmla="*/ 8 w 303"/>
                            <a:gd name="T29" fmla="*/ 5 h 213"/>
                            <a:gd name="T30" fmla="*/ 8 w 303"/>
                            <a:gd name="T31" fmla="*/ 5 h 213"/>
                            <a:gd name="T32" fmla="*/ 8 w 303"/>
                            <a:gd name="T33" fmla="*/ 6 h 213"/>
                            <a:gd name="T34" fmla="*/ 8 w 303"/>
                            <a:gd name="T35" fmla="*/ 6 h 213"/>
                            <a:gd name="T36" fmla="*/ 9 w 303"/>
                            <a:gd name="T37" fmla="*/ 7 h 213"/>
                            <a:gd name="T38" fmla="*/ 9 w 303"/>
                            <a:gd name="T39" fmla="*/ 7 h 213"/>
                            <a:gd name="T40" fmla="*/ 9 w 303"/>
                            <a:gd name="T41" fmla="*/ 7 h 213"/>
                            <a:gd name="T42" fmla="*/ 8 w 303"/>
                            <a:gd name="T43" fmla="*/ 7 h 213"/>
                            <a:gd name="T44" fmla="*/ 8 w 303"/>
                            <a:gd name="T45" fmla="*/ 7 h 213"/>
                            <a:gd name="T46" fmla="*/ 7 w 303"/>
                            <a:gd name="T47" fmla="*/ 7 h 213"/>
                            <a:gd name="T48" fmla="*/ 7 w 303"/>
                            <a:gd name="T49" fmla="*/ 7 h 213"/>
                            <a:gd name="T50" fmla="*/ 7 w 303"/>
                            <a:gd name="T51" fmla="*/ 6 h 213"/>
                            <a:gd name="T52" fmla="*/ 7 w 303"/>
                            <a:gd name="T53" fmla="*/ 6 h 213"/>
                            <a:gd name="T54" fmla="*/ 6 w 303"/>
                            <a:gd name="T55" fmla="*/ 6 h 213"/>
                            <a:gd name="T56" fmla="*/ 6 w 303"/>
                            <a:gd name="T57" fmla="*/ 5 h 213"/>
                            <a:gd name="T58" fmla="*/ 5 w 303"/>
                            <a:gd name="T59" fmla="*/ 5 h 213"/>
                            <a:gd name="T60" fmla="*/ 5 w 303"/>
                            <a:gd name="T61" fmla="*/ 5 h 213"/>
                            <a:gd name="T62" fmla="*/ 4 w 303"/>
                            <a:gd name="T63" fmla="*/ 4 h 213"/>
                            <a:gd name="T64" fmla="*/ 4 w 303"/>
                            <a:gd name="T65" fmla="*/ 4 h 213"/>
                            <a:gd name="T66" fmla="*/ 5 w 303"/>
                            <a:gd name="T67" fmla="*/ 4 h 213"/>
                            <a:gd name="T68" fmla="*/ 4 w 303"/>
                            <a:gd name="T69" fmla="*/ 3 h 213"/>
                            <a:gd name="T70" fmla="*/ 4 w 303"/>
                            <a:gd name="T71" fmla="*/ 4 h 213"/>
                            <a:gd name="T72" fmla="*/ 4 w 303"/>
                            <a:gd name="T73" fmla="*/ 3 h 213"/>
                            <a:gd name="T74" fmla="*/ 4 w 303"/>
                            <a:gd name="T75" fmla="*/ 3 h 213"/>
                            <a:gd name="T76" fmla="*/ 3 w 303"/>
                            <a:gd name="T77" fmla="*/ 3 h 213"/>
                            <a:gd name="T78" fmla="*/ 3 w 303"/>
                            <a:gd name="T79" fmla="*/ 3 h 213"/>
                            <a:gd name="T80" fmla="*/ 3 w 303"/>
                            <a:gd name="T81" fmla="*/ 3 h 213"/>
                            <a:gd name="T82" fmla="*/ 3 w 303"/>
                            <a:gd name="T83" fmla="*/ 3 h 213"/>
                            <a:gd name="T84" fmla="*/ 3 w 303"/>
                            <a:gd name="T85" fmla="*/ 3 h 213"/>
                            <a:gd name="T86" fmla="*/ 2 w 303"/>
                            <a:gd name="T87" fmla="*/ 2 h 213"/>
                            <a:gd name="T88" fmla="*/ 2 w 303"/>
                            <a:gd name="T89" fmla="*/ 2 h 213"/>
                            <a:gd name="T90" fmla="*/ 2 w 303"/>
                            <a:gd name="T91" fmla="*/ 2 h 213"/>
                            <a:gd name="T92" fmla="*/ 1 w 303"/>
                            <a:gd name="T93" fmla="*/ 2 h 213"/>
                            <a:gd name="T94" fmla="*/ 0 w 303"/>
                            <a:gd name="T95" fmla="*/ 2 h 213"/>
                            <a:gd name="T96" fmla="*/ 0 w 303"/>
                            <a:gd name="T97" fmla="*/ 2 h 213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w 303"/>
                            <a:gd name="T148" fmla="*/ 0 h 213"/>
                            <a:gd name="T149" fmla="*/ 303 w 303"/>
                            <a:gd name="T150" fmla="*/ 213 h 213"/>
                          </a:gdLst>
                          <a:ahLst/>
                          <a:cxnLst>
                            <a:cxn ang="T98">
                              <a:pos x="T0" y="T1"/>
                            </a:cxn>
                            <a:cxn ang="T99">
                              <a:pos x="T2" y="T3"/>
                            </a:cxn>
                            <a:cxn ang="T100">
                              <a:pos x="T4" y="T5"/>
                            </a:cxn>
                            <a:cxn ang="T101">
                              <a:pos x="T6" y="T7"/>
                            </a:cxn>
                            <a:cxn ang="T102">
                              <a:pos x="T8" y="T9"/>
                            </a:cxn>
                            <a:cxn ang="T103">
                              <a:pos x="T10" y="T11"/>
                            </a:cxn>
                            <a:cxn ang="T104">
                              <a:pos x="T12" y="T13"/>
                            </a:cxn>
                            <a:cxn ang="T105">
                              <a:pos x="T14" y="T15"/>
                            </a:cxn>
                            <a:cxn ang="T106">
                              <a:pos x="T16" y="T17"/>
                            </a:cxn>
                            <a:cxn ang="T107">
                              <a:pos x="T18" y="T19"/>
                            </a:cxn>
                            <a:cxn ang="T108">
                              <a:pos x="T20" y="T21"/>
                            </a:cxn>
                            <a:cxn ang="T109">
                              <a:pos x="T22" y="T23"/>
                            </a:cxn>
                            <a:cxn ang="T110">
                              <a:pos x="T24" y="T25"/>
                            </a:cxn>
                            <a:cxn ang="T111">
                              <a:pos x="T26" y="T27"/>
                            </a:cxn>
                            <a:cxn ang="T112">
                              <a:pos x="T28" y="T29"/>
                            </a:cxn>
                            <a:cxn ang="T113">
                              <a:pos x="T30" y="T31"/>
                            </a:cxn>
                            <a:cxn ang="T114">
                              <a:pos x="T32" y="T33"/>
                            </a:cxn>
                            <a:cxn ang="T115">
                              <a:pos x="T34" y="T35"/>
                            </a:cxn>
                            <a:cxn ang="T116">
                              <a:pos x="T36" y="T37"/>
                            </a:cxn>
                            <a:cxn ang="T117">
                              <a:pos x="T38" y="T39"/>
                            </a:cxn>
                            <a:cxn ang="T118">
                              <a:pos x="T40" y="T41"/>
                            </a:cxn>
                            <a:cxn ang="T119">
                              <a:pos x="T42" y="T43"/>
                            </a:cxn>
                            <a:cxn ang="T120">
                              <a:pos x="T44" y="T45"/>
                            </a:cxn>
                            <a:cxn ang="T121">
                              <a:pos x="T46" y="T47"/>
                            </a:cxn>
                            <a:cxn ang="T122">
                              <a:pos x="T48" y="T49"/>
                            </a:cxn>
                            <a:cxn ang="T123">
                              <a:pos x="T50" y="T51"/>
                            </a:cxn>
                            <a:cxn ang="T124">
                              <a:pos x="T52" y="T53"/>
                            </a:cxn>
                            <a:cxn ang="T125">
                              <a:pos x="T54" y="T55"/>
                            </a:cxn>
                            <a:cxn ang="T126">
                              <a:pos x="T56" y="T57"/>
                            </a:cxn>
                            <a:cxn ang="T127">
                              <a:pos x="T58" y="T59"/>
                            </a:cxn>
                            <a:cxn ang="T128">
                              <a:pos x="T60" y="T61"/>
                            </a:cxn>
                            <a:cxn ang="T129">
                              <a:pos x="T62" y="T63"/>
                            </a:cxn>
                            <a:cxn ang="T130">
                              <a:pos x="T64" y="T65"/>
                            </a:cxn>
                            <a:cxn ang="T131">
                              <a:pos x="T66" y="T67"/>
                            </a:cxn>
                            <a:cxn ang="T132">
                              <a:pos x="T68" y="T69"/>
                            </a:cxn>
                            <a:cxn ang="T133">
                              <a:pos x="T70" y="T71"/>
                            </a:cxn>
                            <a:cxn ang="T134">
                              <a:pos x="T72" y="T73"/>
                            </a:cxn>
                            <a:cxn ang="T135">
                              <a:pos x="T74" y="T75"/>
                            </a:cxn>
                            <a:cxn ang="T136">
                              <a:pos x="T76" y="T77"/>
                            </a:cxn>
                            <a:cxn ang="T137">
                              <a:pos x="T78" y="T79"/>
                            </a:cxn>
                            <a:cxn ang="T138">
                              <a:pos x="T80" y="T81"/>
                            </a:cxn>
                            <a:cxn ang="T139">
                              <a:pos x="T82" y="T83"/>
                            </a:cxn>
                            <a:cxn ang="T140">
                              <a:pos x="T84" y="T85"/>
                            </a:cxn>
                            <a:cxn ang="T141">
                              <a:pos x="T86" y="T87"/>
                            </a:cxn>
                            <a:cxn ang="T142">
                              <a:pos x="T88" y="T89"/>
                            </a:cxn>
                            <a:cxn ang="T143">
                              <a:pos x="T90" y="T91"/>
                            </a:cxn>
                            <a:cxn ang="T144">
                              <a:pos x="T92" y="T93"/>
                            </a:cxn>
                            <a:cxn ang="T145">
                              <a:pos x="T94" y="T95"/>
                            </a:cxn>
                            <a:cxn ang="T146">
                              <a:pos x="T96" y="T97"/>
                            </a:cxn>
                          </a:cxnLst>
                          <a:rect l="T147" t="T148" r="T149" b="T150"/>
                          <a:pathLst>
                            <a:path w="303" h="213">
                              <a:moveTo>
                                <a:pt x="0" y="43"/>
                              </a:moveTo>
                              <a:lnTo>
                                <a:pt x="7" y="27"/>
                              </a:lnTo>
                              <a:lnTo>
                                <a:pt x="7" y="16"/>
                              </a:lnTo>
                              <a:lnTo>
                                <a:pt x="18" y="0"/>
                              </a:lnTo>
                              <a:lnTo>
                                <a:pt x="72" y="10"/>
                              </a:lnTo>
                              <a:lnTo>
                                <a:pt x="167" y="29"/>
                              </a:lnTo>
                              <a:lnTo>
                                <a:pt x="204" y="45"/>
                              </a:lnTo>
                              <a:lnTo>
                                <a:pt x="253" y="59"/>
                              </a:lnTo>
                              <a:lnTo>
                                <a:pt x="278" y="87"/>
                              </a:lnTo>
                              <a:lnTo>
                                <a:pt x="303" y="101"/>
                              </a:lnTo>
                              <a:lnTo>
                                <a:pt x="293" y="112"/>
                              </a:lnTo>
                              <a:lnTo>
                                <a:pt x="293" y="125"/>
                              </a:lnTo>
                              <a:lnTo>
                                <a:pt x="284" y="128"/>
                              </a:lnTo>
                              <a:lnTo>
                                <a:pt x="275" y="139"/>
                              </a:lnTo>
                              <a:lnTo>
                                <a:pt x="284" y="151"/>
                              </a:lnTo>
                              <a:lnTo>
                                <a:pt x="282" y="160"/>
                              </a:lnTo>
                              <a:lnTo>
                                <a:pt x="273" y="171"/>
                              </a:lnTo>
                              <a:lnTo>
                                <a:pt x="274" y="183"/>
                              </a:lnTo>
                              <a:lnTo>
                                <a:pt x="291" y="194"/>
                              </a:lnTo>
                              <a:lnTo>
                                <a:pt x="292" y="206"/>
                              </a:lnTo>
                              <a:lnTo>
                                <a:pt x="288" y="212"/>
                              </a:lnTo>
                              <a:lnTo>
                                <a:pt x="271" y="213"/>
                              </a:lnTo>
                              <a:lnTo>
                                <a:pt x="259" y="207"/>
                              </a:lnTo>
                              <a:lnTo>
                                <a:pt x="245" y="193"/>
                              </a:lnTo>
                              <a:lnTo>
                                <a:pt x="240" y="193"/>
                              </a:lnTo>
                              <a:lnTo>
                                <a:pt x="233" y="187"/>
                              </a:lnTo>
                              <a:lnTo>
                                <a:pt x="226" y="170"/>
                              </a:lnTo>
                              <a:lnTo>
                                <a:pt x="218" y="164"/>
                              </a:lnTo>
                              <a:lnTo>
                                <a:pt x="200" y="155"/>
                              </a:lnTo>
                              <a:lnTo>
                                <a:pt x="185" y="149"/>
                              </a:lnTo>
                              <a:lnTo>
                                <a:pt x="163" y="133"/>
                              </a:lnTo>
                              <a:lnTo>
                                <a:pt x="153" y="122"/>
                              </a:lnTo>
                              <a:lnTo>
                                <a:pt x="155" y="113"/>
                              </a:lnTo>
                              <a:lnTo>
                                <a:pt x="164" y="106"/>
                              </a:lnTo>
                              <a:lnTo>
                                <a:pt x="156" y="96"/>
                              </a:lnTo>
                              <a:lnTo>
                                <a:pt x="148" y="101"/>
                              </a:lnTo>
                              <a:lnTo>
                                <a:pt x="134" y="87"/>
                              </a:lnTo>
                              <a:lnTo>
                                <a:pt x="131" y="94"/>
                              </a:lnTo>
                              <a:lnTo>
                                <a:pt x="119" y="94"/>
                              </a:lnTo>
                              <a:lnTo>
                                <a:pt x="116" y="88"/>
                              </a:lnTo>
                              <a:lnTo>
                                <a:pt x="116" y="78"/>
                              </a:lnTo>
                              <a:lnTo>
                                <a:pt x="111" y="72"/>
                              </a:lnTo>
                              <a:lnTo>
                                <a:pt x="103" y="74"/>
                              </a:lnTo>
                              <a:lnTo>
                                <a:pt x="92" y="58"/>
                              </a:lnTo>
                              <a:lnTo>
                                <a:pt x="83" y="56"/>
                              </a:lnTo>
                              <a:lnTo>
                                <a:pt x="71" y="49"/>
                              </a:lnTo>
                              <a:lnTo>
                                <a:pt x="45" y="51"/>
                              </a:lnTo>
                              <a:lnTo>
                                <a:pt x="19" y="49"/>
                              </a:lnTo>
                              <a:lnTo>
                                <a:pt x="0" y="4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69" name="Freeform 17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49" y="2140"/>
                          <a:ext cx="98" cy="55"/>
                        </a:xfrm>
                        <a:custGeom>
                          <a:avLst/>
                          <a:gdLst>
                            <a:gd name="T0" fmla="*/ 0 w 198"/>
                            <a:gd name="T1" fmla="*/ 0 h 111"/>
                            <a:gd name="T2" fmla="*/ 0 w 198"/>
                            <a:gd name="T3" fmla="*/ 0 h 111"/>
                            <a:gd name="T4" fmla="*/ 0 w 198"/>
                            <a:gd name="T5" fmla="*/ 0 h 111"/>
                            <a:gd name="T6" fmla="*/ 0 w 198"/>
                            <a:gd name="T7" fmla="*/ 0 h 111"/>
                            <a:gd name="T8" fmla="*/ 0 w 198"/>
                            <a:gd name="T9" fmla="*/ 0 h 111"/>
                            <a:gd name="T10" fmla="*/ 0 w 198"/>
                            <a:gd name="T11" fmla="*/ 1 h 111"/>
                            <a:gd name="T12" fmla="*/ 1 w 198"/>
                            <a:gd name="T13" fmla="*/ 1 h 111"/>
                            <a:gd name="T14" fmla="*/ 1 w 198"/>
                            <a:gd name="T15" fmla="*/ 0 h 111"/>
                            <a:gd name="T16" fmla="*/ 1 w 198"/>
                            <a:gd name="T17" fmla="*/ 0 h 111"/>
                            <a:gd name="T18" fmla="*/ 1 w 198"/>
                            <a:gd name="T19" fmla="*/ 1 h 111"/>
                            <a:gd name="T20" fmla="*/ 2 w 198"/>
                            <a:gd name="T21" fmla="*/ 1 h 111"/>
                            <a:gd name="T22" fmla="*/ 2 w 198"/>
                            <a:gd name="T23" fmla="*/ 1 h 111"/>
                            <a:gd name="T24" fmla="*/ 2 w 198"/>
                            <a:gd name="T25" fmla="*/ 1 h 111"/>
                            <a:gd name="T26" fmla="*/ 3 w 198"/>
                            <a:gd name="T27" fmla="*/ 1 h 111"/>
                            <a:gd name="T28" fmla="*/ 3 w 198"/>
                            <a:gd name="T29" fmla="*/ 1 h 111"/>
                            <a:gd name="T30" fmla="*/ 3 w 198"/>
                            <a:gd name="T31" fmla="*/ 2 h 111"/>
                            <a:gd name="T32" fmla="*/ 3 w 198"/>
                            <a:gd name="T33" fmla="*/ 2 h 111"/>
                            <a:gd name="T34" fmla="*/ 3 w 198"/>
                            <a:gd name="T35" fmla="*/ 2 h 111"/>
                            <a:gd name="T36" fmla="*/ 3 w 198"/>
                            <a:gd name="T37" fmla="*/ 2 h 111"/>
                            <a:gd name="T38" fmla="*/ 3 w 198"/>
                            <a:gd name="T39" fmla="*/ 2 h 111"/>
                            <a:gd name="T40" fmla="*/ 3 w 198"/>
                            <a:gd name="T41" fmla="*/ 2 h 111"/>
                            <a:gd name="T42" fmla="*/ 3 w 198"/>
                            <a:gd name="T43" fmla="*/ 2 h 111"/>
                            <a:gd name="T44" fmla="*/ 3 w 198"/>
                            <a:gd name="T45" fmla="*/ 2 h 111"/>
                            <a:gd name="T46" fmla="*/ 3 w 198"/>
                            <a:gd name="T47" fmla="*/ 2 h 111"/>
                            <a:gd name="T48" fmla="*/ 4 w 198"/>
                            <a:gd name="T49" fmla="*/ 2 h 111"/>
                            <a:gd name="T50" fmla="*/ 4 w 198"/>
                            <a:gd name="T51" fmla="*/ 2 h 111"/>
                            <a:gd name="T52" fmla="*/ 4 w 198"/>
                            <a:gd name="T53" fmla="*/ 3 h 111"/>
                            <a:gd name="T54" fmla="*/ 4 w 198"/>
                            <a:gd name="T55" fmla="*/ 3 h 111"/>
                            <a:gd name="T56" fmla="*/ 4 w 198"/>
                            <a:gd name="T57" fmla="*/ 3 h 111"/>
                            <a:gd name="T58" fmla="*/ 5 w 198"/>
                            <a:gd name="T59" fmla="*/ 3 h 111"/>
                            <a:gd name="T60" fmla="*/ 5 w 198"/>
                            <a:gd name="T61" fmla="*/ 3 h 111"/>
                            <a:gd name="T62" fmla="*/ 5 w 198"/>
                            <a:gd name="T63" fmla="*/ 3 h 111"/>
                            <a:gd name="T64" fmla="*/ 5 w 198"/>
                            <a:gd name="T65" fmla="*/ 3 h 111"/>
                            <a:gd name="T66" fmla="*/ 5 w 198"/>
                            <a:gd name="T67" fmla="*/ 3 h 111"/>
                            <a:gd name="T68" fmla="*/ 5 w 198"/>
                            <a:gd name="T69" fmla="*/ 3 h 111"/>
                            <a:gd name="T70" fmla="*/ 6 w 198"/>
                            <a:gd name="T71" fmla="*/ 3 h 111"/>
                            <a:gd name="T72" fmla="*/ 5 w 198"/>
                            <a:gd name="T73" fmla="*/ 2 h 111"/>
                            <a:gd name="T74" fmla="*/ 5 w 198"/>
                            <a:gd name="T75" fmla="*/ 2 h 111"/>
                            <a:gd name="T76" fmla="*/ 5 w 198"/>
                            <a:gd name="T77" fmla="*/ 2 h 111"/>
                            <a:gd name="T78" fmla="*/ 5 w 198"/>
                            <a:gd name="T79" fmla="*/ 2 h 111"/>
                            <a:gd name="T80" fmla="*/ 5 w 198"/>
                            <a:gd name="T81" fmla="*/ 2 h 111"/>
                            <a:gd name="T82" fmla="*/ 6 w 198"/>
                            <a:gd name="T83" fmla="*/ 2 h 111"/>
                            <a:gd name="T84" fmla="*/ 6 w 198"/>
                            <a:gd name="T85" fmla="*/ 2 h 111"/>
                            <a:gd name="T86" fmla="*/ 5 w 198"/>
                            <a:gd name="T87" fmla="*/ 2 h 111"/>
                            <a:gd name="T88" fmla="*/ 5 w 198"/>
                            <a:gd name="T89" fmla="*/ 2 h 111"/>
                            <a:gd name="T90" fmla="*/ 5 w 198"/>
                            <a:gd name="T91" fmla="*/ 1 h 111"/>
                            <a:gd name="T92" fmla="*/ 4 w 198"/>
                            <a:gd name="T93" fmla="*/ 1 h 111"/>
                            <a:gd name="T94" fmla="*/ 4 w 198"/>
                            <a:gd name="T95" fmla="*/ 1 h 111"/>
                            <a:gd name="T96" fmla="*/ 3 w 198"/>
                            <a:gd name="T97" fmla="*/ 1 h 111"/>
                            <a:gd name="T98" fmla="*/ 3 w 198"/>
                            <a:gd name="T99" fmla="*/ 0 h 111"/>
                            <a:gd name="T100" fmla="*/ 3 w 198"/>
                            <a:gd name="T101" fmla="*/ 0 h 111"/>
                            <a:gd name="T102" fmla="*/ 3 w 198"/>
                            <a:gd name="T103" fmla="*/ 0 h 111"/>
                            <a:gd name="T104" fmla="*/ 3 w 198"/>
                            <a:gd name="T105" fmla="*/ 0 h 111"/>
                            <a:gd name="T106" fmla="*/ 2 w 198"/>
                            <a:gd name="T107" fmla="*/ 0 h 111"/>
                            <a:gd name="T108" fmla="*/ 2 w 198"/>
                            <a:gd name="T109" fmla="*/ 0 h 111"/>
                            <a:gd name="T110" fmla="*/ 2 w 198"/>
                            <a:gd name="T111" fmla="*/ 0 h 111"/>
                            <a:gd name="T112" fmla="*/ 1 w 198"/>
                            <a:gd name="T113" fmla="*/ 0 h 111"/>
                            <a:gd name="T114" fmla="*/ 1 w 198"/>
                            <a:gd name="T115" fmla="*/ 0 h 111"/>
                            <a:gd name="T116" fmla="*/ 1 w 198"/>
                            <a:gd name="T117" fmla="*/ 0 h 111"/>
                            <a:gd name="T118" fmla="*/ 1 w 198"/>
                            <a:gd name="T119" fmla="*/ 0 h 111"/>
                            <a:gd name="T120" fmla="*/ 0 w 198"/>
                            <a:gd name="T121" fmla="*/ 0 h 111"/>
                            <a:gd name="T122" fmla="*/ 0 w 198"/>
                            <a:gd name="T123" fmla="*/ 0 h 111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60000 65536"/>
                            <a:gd name="T157" fmla="*/ 0 60000 65536"/>
                            <a:gd name="T158" fmla="*/ 0 60000 65536"/>
                            <a:gd name="T159" fmla="*/ 0 60000 65536"/>
                            <a:gd name="T160" fmla="*/ 0 60000 65536"/>
                            <a:gd name="T161" fmla="*/ 0 60000 65536"/>
                            <a:gd name="T162" fmla="*/ 0 60000 65536"/>
                            <a:gd name="T163" fmla="*/ 0 60000 65536"/>
                            <a:gd name="T164" fmla="*/ 0 60000 65536"/>
                            <a:gd name="T165" fmla="*/ 0 60000 65536"/>
                            <a:gd name="T166" fmla="*/ 0 60000 65536"/>
                            <a:gd name="T167" fmla="*/ 0 60000 65536"/>
                            <a:gd name="T168" fmla="*/ 0 60000 65536"/>
                            <a:gd name="T169" fmla="*/ 0 60000 65536"/>
                            <a:gd name="T170" fmla="*/ 0 60000 65536"/>
                            <a:gd name="T171" fmla="*/ 0 60000 65536"/>
                            <a:gd name="T172" fmla="*/ 0 60000 65536"/>
                            <a:gd name="T173" fmla="*/ 0 60000 65536"/>
                            <a:gd name="T174" fmla="*/ 0 60000 65536"/>
                            <a:gd name="T175" fmla="*/ 0 60000 65536"/>
                            <a:gd name="T176" fmla="*/ 0 60000 65536"/>
                            <a:gd name="T177" fmla="*/ 0 60000 65536"/>
                            <a:gd name="T178" fmla="*/ 0 60000 65536"/>
                            <a:gd name="T179" fmla="*/ 0 60000 65536"/>
                            <a:gd name="T180" fmla="*/ 0 60000 65536"/>
                            <a:gd name="T181" fmla="*/ 0 60000 65536"/>
                            <a:gd name="T182" fmla="*/ 0 60000 65536"/>
                            <a:gd name="T183" fmla="*/ 0 60000 65536"/>
                            <a:gd name="T184" fmla="*/ 0 60000 65536"/>
                            <a:gd name="T185" fmla="*/ 0 60000 65536"/>
                            <a:gd name="T186" fmla="*/ 0 w 198"/>
                            <a:gd name="T187" fmla="*/ 0 h 111"/>
                            <a:gd name="T188" fmla="*/ 198 w 198"/>
                            <a:gd name="T189" fmla="*/ 111 h 111"/>
                          </a:gdLst>
                          <a:ahLst/>
                          <a:cxnLst>
                            <a:cxn ang="T124">
                              <a:pos x="T0" y="T1"/>
                            </a:cxn>
                            <a:cxn ang="T125">
                              <a:pos x="T2" y="T3"/>
                            </a:cxn>
                            <a:cxn ang="T126">
                              <a:pos x="T4" y="T5"/>
                            </a:cxn>
                            <a:cxn ang="T127">
                              <a:pos x="T6" y="T7"/>
                            </a:cxn>
                            <a:cxn ang="T128">
                              <a:pos x="T8" y="T9"/>
                            </a:cxn>
                            <a:cxn ang="T129">
                              <a:pos x="T10" y="T11"/>
                            </a:cxn>
                            <a:cxn ang="T130">
                              <a:pos x="T12" y="T13"/>
                            </a:cxn>
                            <a:cxn ang="T131">
                              <a:pos x="T14" y="T15"/>
                            </a:cxn>
                            <a:cxn ang="T132">
                              <a:pos x="T16" y="T17"/>
                            </a:cxn>
                            <a:cxn ang="T133">
                              <a:pos x="T18" y="T19"/>
                            </a:cxn>
                            <a:cxn ang="T134">
                              <a:pos x="T20" y="T21"/>
                            </a:cxn>
                            <a:cxn ang="T135">
                              <a:pos x="T22" y="T23"/>
                            </a:cxn>
                            <a:cxn ang="T136">
                              <a:pos x="T24" y="T25"/>
                            </a:cxn>
                            <a:cxn ang="T137">
                              <a:pos x="T26" y="T27"/>
                            </a:cxn>
                            <a:cxn ang="T138">
                              <a:pos x="T28" y="T29"/>
                            </a:cxn>
                            <a:cxn ang="T139">
                              <a:pos x="T30" y="T31"/>
                            </a:cxn>
                            <a:cxn ang="T140">
                              <a:pos x="T32" y="T33"/>
                            </a:cxn>
                            <a:cxn ang="T141">
                              <a:pos x="T34" y="T35"/>
                            </a:cxn>
                            <a:cxn ang="T142">
                              <a:pos x="T36" y="T37"/>
                            </a:cxn>
                            <a:cxn ang="T143">
                              <a:pos x="T38" y="T39"/>
                            </a:cxn>
                            <a:cxn ang="T144">
                              <a:pos x="T40" y="T41"/>
                            </a:cxn>
                            <a:cxn ang="T145">
                              <a:pos x="T42" y="T43"/>
                            </a:cxn>
                            <a:cxn ang="T146">
                              <a:pos x="T44" y="T45"/>
                            </a:cxn>
                            <a:cxn ang="T147">
                              <a:pos x="T46" y="T47"/>
                            </a:cxn>
                            <a:cxn ang="T148">
                              <a:pos x="T48" y="T49"/>
                            </a:cxn>
                            <a:cxn ang="T149">
                              <a:pos x="T50" y="T51"/>
                            </a:cxn>
                            <a:cxn ang="T150">
                              <a:pos x="T52" y="T53"/>
                            </a:cxn>
                            <a:cxn ang="T151">
                              <a:pos x="T54" y="T55"/>
                            </a:cxn>
                            <a:cxn ang="T152">
                              <a:pos x="T56" y="T57"/>
                            </a:cxn>
                            <a:cxn ang="T153">
                              <a:pos x="T58" y="T59"/>
                            </a:cxn>
                            <a:cxn ang="T154">
                              <a:pos x="T60" y="T61"/>
                            </a:cxn>
                            <a:cxn ang="T155">
                              <a:pos x="T62" y="T63"/>
                            </a:cxn>
                            <a:cxn ang="T156">
                              <a:pos x="T64" y="T65"/>
                            </a:cxn>
                            <a:cxn ang="T157">
                              <a:pos x="T66" y="T67"/>
                            </a:cxn>
                            <a:cxn ang="T158">
                              <a:pos x="T68" y="T69"/>
                            </a:cxn>
                            <a:cxn ang="T159">
                              <a:pos x="T70" y="T71"/>
                            </a:cxn>
                            <a:cxn ang="T160">
                              <a:pos x="T72" y="T73"/>
                            </a:cxn>
                            <a:cxn ang="T161">
                              <a:pos x="T74" y="T75"/>
                            </a:cxn>
                            <a:cxn ang="T162">
                              <a:pos x="T76" y="T77"/>
                            </a:cxn>
                            <a:cxn ang="T163">
                              <a:pos x="T78" y="T79"/>
                            </a:cxn>
                            <a:cxn ang="T164">
                              <a:pos x="T80" y="T81"/>
                            </a:cxn>
                            <a:cxn ang="T165">
                              <a:pos x="T82" y="T83"/>
                            </a:cxn>
                            <a:cxn ang="T166">
                              <a:pos x="T84" y="T85"/>
                            </a:cxn>
                            <a:cxn ang="T167">
                              <a:pos x="T86" y="T87"/>
                            </a:cxn>
                            <a:cxn ang="T168">
                              <a:pos x="T88" y="T89"/>
                            </a:cxn>
                            <a:cxn ang="T169">
                              <a:pos x="T90" y="T91"/>
                            </a:cxn>
                            <a:cxn ang="T170">
                              <a:pos x="T92" y="T93"/>
                            </a:cxn>
                            <a:cxn ang="T171">
                              <a:pos x="T94" y="T95"/>
                            </a:cxn>
                            <a:cxn ang="T172">
                              <a:pos x="T96" y="T97"/>
                            </a:cxn>
                            <a:cxn ang="T173">
                              <a:pos x="T98" y="T99"/>
                            </a:cxn>
                            <a:cxn ang="T174">
                              <a:pos x="T100" y="T101"/>
                            </a:cxn>
                            <a:cxn ang="T175">
                              <a:pos x="T102" y="T103"/>
                            </a:cxn>
                            <a:cxn ang="T176">
                              <a:pos x="T104" y="T105"/>
                            </a:cxn>
                            <a:cxn ang="T177">
                              <a:pos x="T106" y="T107"/>
                            </a:cxn>
                            <a:cxn ang="T178">
                              <a:pos x="T108" y="T109"/>
                            </a:cxn>
                            <a:cxn ang="T179">
                              <a:pos x="T110" y="T111"/>
                            </a:cxn>
                            <a:cxn ang="T180">
                              <a:pos x="T112" y="T113"/>
                            </a:cxn>
                            <a:cxn ang="T181">
                              <a:pos x="T114" y="T115"/>
                            </a:cxn>
                            <a:cxn ang="T182">
                              <a:pos x="T116" y="T117"/>
                            </a:cxn>
                            <a:cxn ang="T183">
                              <a:pos x="T118" y="T119"/>
                            </a:cxn>
                            <a:cxn ang="T184">
                              <a:pos x="T120" y="T121"/>
                            </a:cxn>
                            <a:cxn ang="T185">
                              <a:pos x="T122" y="T123"/>
                            </a:cxn>
                          </a:cxnLst>
                          <a:rect l="T186" t="T187" r="T188" b="T189"/>
                          <a:pathLst>
                            <a:path w="198" h="111">
                              <a:moveTo>
                                <a:pt x="7" y="0"/>
                              </a:moveTo>
                              <a:lnTo>
                                <a:pt x="0" y="9"/>
                              </a:lnTo>
                              <a:lnTo>
                                <a:pt x="0" y="19"/>
                              </a:lnTo>
                              <a:lnTo>
                                <a:pt x="14" y="31"/>
                              </a:lnTo>
                              <a:lnTo>
                                <a:pt x="22" y="28"/>
                              </a:lnTo>
                              <a:lnTo>
                                <a:pt x="25" y="32"/>
                              </a:lnTo>
                              <a:lnTo>
                                <a:pt x="36" y="34"/>
                              </a:lnTo>
                              <a:lnTo>
                                <a:pt x="41" y="26"/>
                              </a:lnTo>
                              <a:lnTo>
                                <a:pt x="61" y="28"/>
                              </a:lnTo>
                              <a:lnTo>
                                <a:pt x="63" y="35"/>
                              </a:lnTo>
                              <a:lnTo>
                                <a:pt x="70" y="38"/>
                              </a:lnTo>
                              <a:lnTo>
                                <a:pt x="87" y="37"/>
                              </a:lnTo>
                              <a:lnTo>
                                <a:pt x="92" y="41"/>
                              </a:lnTo>
                              <a:lnTo>
                                <a:pt x="100" y="45"/>
                              </a:lnTo>
                              <a:lnTo>
                                <a:pt x="107" y="54"/>
                              </a:lnTo>
                              <a:lnTo>
                                <a:pt x="107" y="66"/>
                              </a:lnTo>
                              <a:lnTo>
                                <a:pt x="102" y="69"/>
                              </a:lnTo>
                              <a:lnTo>
                                <a:pt x="105" y="73"/>
                              </a:lnTo>
                              <a:lnTo>
                                <a:pt x="96" y="80"/>
                              </a:lnTo>
                              <a:lnTo>
                                <a:pt x="96" y="90"/>
                              </a:lnTo>
                              <a:lnTo>
                                <a:pt x="109" y="92"/>
                              </a:lnTo>
                              <a:lnTo>
                                <a:pt x="116" y="89"/>
                              </a:lnTo>
                              <a:lnTo>
                                <a:pt x="118" y="85"/>
                              </a:lnTo>
                              <a:lnTo>
                                <a:pt x="122" y="89"/>
                              </a:lnTo>
                              <a:lnTo>
                                <a:pt x="129" y="86"/>
                              </a:lnTo>
                              <a:lnTo>
                                <a:pt x="144" y="92"/>
                              </a:lnTo>
                              <a:lnTo>
                                <a:pt x="154" y="102"/>
                              </a:lnTo>
                              <a:lnTo>
                                <a:pt x="157" y="102"/>
                              </a:lnTo>
                              <a:lnTo>
                                <a:pt x="158" y="108"/>
                              </a:lnTo>
                              <a:lnTo>
                                <a:pt x="168" y="111"/>
                              </a:lnTo>
                              <a:lnTo>
                                <a:pt x="179" y="111"/>
                              </a:lnTo>
                              <a:lnTo>
                                <a:pt x="172" y="105"/>
                              </a:lnTo>
                              <a:lnTo>
                                <a:pt x="174" y="99"/>
                              </a:lnTo>
                              <a:lnTo>
                                <a:pt x="183" y="105"/>
                              </a:lnTo>
                              <a:lnTo>
                                <a:pt x="192" y="106"/>
                              </a:lnTo>
                              <a:lnTo>
                                <a:pt x="194" y="98"/>
                              </a:lnTo>
                              <a:lnTo>
                                <a:pt x="184" y="90"/>
                              </a:lnTo>
                              <a:lnTo>
                                <a:pt x="177" y="90"/>
                              </a:lnTo>
                              <a:lnTo>
                                <a:pt x="168" y="83"/>
                              </a:lnTo>
                              <a:lnTo>
                                <a:pt x="177" y="83"/>
                              </a:lnTo>
                              <a:lnTo>
                                <a:pt x="184" y="87"/>
                              </a:lnTo>
                              <a:lnTo>
                                <a:pt x="198" y="87"/>
                              </a:lnTo>
                              <a:lnTo>
                                <a:pt x="195" y="79"/>
                              </a:lnTo>
                              <a:lnTo>
                                <a:pt x="183" y="70"/>
                              </a:lnTo>
                              <a:lnTo>
                                <a:pt x="174" y="69"/>
                              </a:lnTo>
                              <a:lnTo>
                                <a:pt x="162" y="58"/>
                              </a:lnTo>
                              <a:lnTo>
                                <a:pt x="147" y="55"/>
                              </a:lnTo>
                              <a:lnTo>
                                <a:pt x="135" y="51"/>
                              </a:lnTo>
                              <a:lnTo>
                                <a:pt x="125" y="38"/>
                              </a:lnTo>
                              <a:lnTo>
                                <a:pt x="118" y="21"/>
                              </a:lnTo>
                              <a:lnTo>
                                <a:pt x="109" y="21"/>
                              </a:lnTo>
                              <a:lnTo>
                                <a:pt x="106" y="16"/>
                              </a:lnTo>
                              <a:lnTo>
                                <a:pt x="100" y="18"/>
                              </a:lnTo>
                              <a:lnTo>
                                <a:pt x="91" y="10"/>
                              </a:lnTo>
                              <a:lnTo>
                                <a:pt x="74" y="8"/>
                              </a:lnTo>
                              <a:lnTo>
                                <a:pt x="68" y="12"/>
                              </a:lnTo>
                              <a:lnTo>
                                <a:pt x="52" y="8"/>
                              </a:lnTo>
                              <a:lnTo>
                                <a:pt x="43" y="8"/>
                              </a:lnTo>
                              <a:lnTo>
                                <a:pt x="39" y="2"/>
                              </a:lnTo>
                              <a:lnTo>
                                <a:pt x="33" y="0"/>
                              </a:lnTo>
                              <a:lnTo>
                                <a:pt x="25" y="2"/>
                              </a:lnTo>
                              <a:lnTo>
                                <a:pt x="7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70" name="Freeform 171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05" y="2447"/>
                          <a:ext cx="69" cy="24"/>
                        </a:xfrm>
                        <a:custGeom>
                          <a:avLst/>
                          <a:gdLst>
                            <a:gd name="T0" fmla="*/ 0 w 138"/>
                            <a:gd name="T1" fmla="*/ 0 h 49"/>
                            <a:gd name="T2" fmla="*/ 1 w 138"/>
                            <a:gd name="T3" fmla="*/ 0 h 49"/>
                            <a:gd name="T4" fmla="*/ 1 w 138"/>
                            <a:gd name="T5" fmla="*/ 0 h 49"/>
                            <a:gd name="T6" fmla="*/ 1 w 138"/>
                            <a:gd name="T7" fmla="*/ 0 h 49"/>
                            <a:gd name="T8" fmla="*/ 2 w 138"/>
                            <a:gd name="T9" fmla="*/ 0 h 49"/>
                            <a:gd name="T10" fmla="*/ 2 w 138"/>
                            <a:gd name="T11" fmla="*/ 0 h 49"/>
                            <a:gd name="T12" fmla="*/ 2 w 138"/>
                            <a:gd name="T13" fmla="*/ 0 h 49"/>
                            <a:gd name="T14" fmla="*/ 2 w 138"/>
                            <a:gd name="T15" fmla="*/ 0 h 49"/>
                            <a:gd name="T16" fmla="*/ 2 w 138"/>
                            <a:gd name="T17" fmla="*/ 0 h 49"/>
                            <a:gd name="T18" fmla="*/ 3 w 138"/>
                            <a:gd name="T19" fmla="*/ 0 h 49"/>
                            <a:gd name="T20" fmla="*/ 3 w 138"/>
                            <a:gd name="T21" fmla="*/ 0 h 49"/>
                            <a:gd name="T22" fmla="*/ 3 w 138"/>
                            <a:gd name="T23" fmla="*/ 0 h 49"/>
                            <a:gd name="T24" fmla="*/ 3 w 138"/>
                            <a:gd name="T25" fmla="*/ 0 h 49"/>
                            <a:gd name="T26" fmla="*/ 3 w 138"/>
                            <a:gd name="T27" fmla="*/ 0 h 49"/>
                            <a:gd name="T28" fmla="*/ 3 w 138"/>
                            <a:gd name="T29" fmla="*/ 1 h 49"/>
                            <a:gd name="T30" fmla="*/ 4 w 138"/>
                            <a:gd name="T31" fmla="*/ 1 h 49"/>
                            <a:gd name="T32" fmla="*/ 4 w 138"/>
                            <a:gd name="T33" fmla="*/ 1 h 49"/>
                            <a:gd name="T34" fmla="*/ 5 w 138"/>
                            <a:gd name="T35" fmla="*/ 1 h 49"/>
                            <a:gd name="T36" fmla="*/ 5 w 138"/>
                            <a:gd name="T37" fmla="*/ 1 h 49"/>
                            <a:gd name="T38" fmla="*/ 5 w 138"/>
                            <a:gd name="T39" fmla="*/ 1 h 49"/>
                            <a:gd name="T40" fmla="*/ 5 w 138"/>
                            <a:gd name="T41" fmla="*/ 1 h 49"/>
                            <a:gd name="T42" fmla="*/ 5 w 138"/>
                            <a:gd name="T43" fmla="*/ 1 h 49"/>
                            <a:gd name="T44" fmla="*/ 4 w 138"/>
                            <a:gd name="T45" fmla="*/ 1 h 49"/>
                            <a:gd name="T46" fmla="*/ 4 w 138"/>
                            <a:gd name="T47" fmla="*/ 1 h 49"/>
                            <a:gd name="T48" fmla="*/ 4 w 138"/>
                            <a:gd name="T49" fmla="*/ 1 h 49"/>
                            <a:gd name="T50" fmla="*/ 3 w 138"/>
                            <a:gd name="T51" fmla="*/ 1 h 49"/>
                            <a:gd name="T52" fmla="*/ 3 w 138"/>
                            <a:gd name="T53" fmla="*/ 1 h 49"/>
                            <a:gd name="T54" fmla="*/ 3 w 138"/>
                            <a:gd name="T55" fmla="*/ 1 h 49"/>
                            <a:gd name="T56" fmla="*/ 3 w 138"/>
                            <a:gd name="T57" fmla="*/ 1 h 49"/>
                            <a:gd name="T58" fmla="*/ 3 w 138"/>
                            <a:gd name="T59" fmla="*/ 0 h 49"/>
                            <a:gd name="T60" fmla="*/ 2 w 138"/>
                            <a:gd name="T61" fmla="*/ 0 h 49"/>
                            <a:gd name="T62" fmla="*/ 2 w 138"/>
                            <a:gd name="T63" fmla="*/ 0 h 49"/>
                            <a:gd name="T64" fmla="*/ 2 w 138"/>
                            <a:gd name="T65" fmla="*/ 0 h 49"/>
                            <a:gd name="T66" fmla="*/ 2 w 138"/>
                            <a:gd name="T67" fmla="*/ 0 h 49"/>
                            <a:gd name="T68" fmla="*/ 2 w 138"/>
                            <a:gd name="T69" fmla="*/ 0 h 49"/>
                            <a:gd name="T70" fmla="*/ 2 w 138"/>
                            <a:gd name="T71" fmla="*/ 0 h 49"/>
                            <a:gd name="T72" fmla="*/ 2 w 138"/>
                            <a:gd name="T73" fmla="*/ 0 h 49"/>
                            <a:gd name="T74" fmla="*/ 1 w 138"/>
                            <a:gd name="T75" fmla="*/ 0 h 49"/>
                            <a:gd name="T76" fmla="*/ 1 w 138"/>
                            <a:gd name="T77" fmla="*/ 0 h 49"/>
                            <a:gd name="T78" fmla="*/ 1 w 138"/>
                            <a:gd name="T79" fmla="*/ 0 h 49"/>
                            <a:gd name="T80" fmla="*/ 0 w 138"/>
                            <a:gd name="T81" fmla="*/ 0 h 49"/>
                            <a:gd name="T82" fmla="*/ 0 60000 65536"/>
                            <a:gd name="T83" fmla="*/ 0 60000 65536"/>
                            <a:gd name="T84" fmla="*/ 0 60000 65536"/>
                            <a:gd name="T85" fmla="*/ 0 60000 65536"/>
                            <a:gd name="T86" fmla="*/ 0 60000 65536"/>
                            <a:gd name="T87" fmla="*/ 0 60000 65536"/>
                            <a:gd name="T88" fmla="*/ 0 60000 65536"/>
                            <a:gd name="T89" fmla="*/ 0 60000 65536"/>
                            <a:gd name="T90" fmla="*/ 0 60000 65536"/>
                            <a:gd name="T91" fmla="*/ 0 60000 65536"/>
                            <a:gd name="T92" fmla="*/ 0 60000 65536"/>
                            <a:gd name="T93" fmla="*/ 0 60000 65536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w 138"/>
                            <a:gd name="T124" fmla="*/ 0 h 49"/>
                            <a:gd name="T125" fmla="*/ 138 w 138"/>
                            <a:gd name="T126" fmla="*/ 49 h 49"/>
                          </a:gdLst>
                          <a:ahLst/>
                          <a:cxnLst>
                            <a:cxn ang="T82">
                              <a:pos x="T0" y="T1"/>
                            </a:cxn>
                            <a:cxn ang="T83">
                              <a:pos x="T2" y="T3"/>
                            </a:cxn>
                            <a:cxn ang="T84">
                              <a:pos x="T4" y="T5"/>
                            </a:cxn>
                            <a:cxn ang="T85">
                              <a:pos x="T6" y="T7"/>
                            </a:cxn>
                            <a:cxn ang="T86">
                              <a:pos x="T8" y="T9"/>
                            </a:cxn>
                            <a:cxn ang="T87">
                              <a:pos x="T10" y="T11"/>
                            </a:cxn>
                            <a:cxn ang="T88">
                              <a:pos x="T12" y="T13"/>
                            </a:cxn>
                            <a:cxn ang="T89">
                              <a:pos x="T14" y="T15"/>
                            </a:cxn>
                            <a:cxn ang="T90">
                              <a:pos x="T16" y="T17"/>
                            </a:cxn>
                            <a:cxn ang="T91">
                              <a:pos x="T18" y="T19"/>
                            </a:cxn>
                            <a:cxn ang="T92">
                              <a:pos x="T20" y="T21"/>
                            </a:cxn>
                            <a:cxn ang="T93">
                              <a:pos x="T22" y="T23"/>
                            </a:cxn>
                            <a:cxn ang="T94">
                              <a:pos x="T24" y="T25"/>
                            </a:cxn>
                            <a:cxn ang="T95">
                              <a:pos x="T26" y="T27"/>
                            </a:cxn>
                            <a:cxn ang="T96">
                              <a:pos x="T28" y="T29"/>
                            </a:cxn>
                            <a:cxn ang="T97">
                              <a:pos x="T30" y="T31"/>
                            </a:cxn>
                            <a:cxn ang="T98">
                              <a:pos x="T32" y="T33"/>
                            </a:cxn>
                            <a:cxn ang="T99">
                              <a:pos x="T34" y="T35"/>
                            </a:cxn>
                            <a:cxn ang="T100">
                              <a:pos x="T36" y="T37"/>
                            </a:cxn>
                            <a:cxn ang="T101">
                              <a:pos x="T38" y="T39"/>
                            </a:cxn>
                            <a:cxn ang="T102">
                              <a:pos x="T40" y="T41"/>
                            </a:cxn>
                            <a:cxn ang="T103">
                              <a:pos x="T42" y="T43"/>
                            </a:cxn>
                            <a:cxn ang="T104">
                              <a:pos x="T44" y="T45"/>
                            </a:cxn>
                            <a:cxn ang="T105">
                              <a:pos x="T46" y="T47"/>
                            </a:cxn>
                            <a:cxn ang="T106">
                              <a:pos x="T48" y="T49"/>
                            </a:cxn>
                            <a:cxn ang="T107">
                              <a:pos x="T50" y="T51"/>
                            </a:cxn>
                            <a:cxn ang="T108">
                              <a:pos x="T52" y="T53"/>
                            </a:cxn>
                            <a:cxn ang="T109">
                              <a:pos x="T54" y="T55"/>
                            </a:cxn>
                            <a:cxn ang="T110">
                              <a:pos x="T56" y="T57"/>
                            </a:cxn>
                            <a:cxn ang="T111">
                              <a:pos x="T58" y="T59"/>
                            </a:cxn>
                            <a:cxn ang="T112">
                              <a:pos x="T60" y="T61"/>
                            </a:cxn>
                            <a:cxn ang="T113">
                              <a:pos x="T62" y="T63"/>
                            </a:cxn>
                            <a:cxn ang="T114">
                              <a:pos x="T64" y="T65"/>
                            </a:cxn>
                            <a:cxn ang="T115">
                              <a:pos x="T66" y="T67"/>
                            </a:cxn>
                            <a:cxn ang="T116">
                              <a:pos x="T68" y="T69"/>
                            </a:cxn>
                            <a:cxn ang="T117">
                              <a:pos x="T70" y="T71"/>
                            </a:cxn>
                            <a:cxn ang="T118">
                              <a:pos x="T72" y="T73"/>
                            </a:cxn>
                            <a:cxn ang="T119">
                              <a:pos x="T74" y="T75"/>
                            </a:cxn>
                            <a:cxn ang="T120">
                              <a:pos x="T76" y="T77"/>
                            </a:cxn>
                            <a:cxn ang="T121">
                              <a:pos x="T78" y="T79"/>
                            </a:cxn>
                            <a:cxn ang="T122">
                              <a:pos x="T80" y="T81"/>
                            </a:cxn>
                          </a:cxnLst>
                          <a:rect l="T123" t="T124" r="T125" b="T126"/>
                          <a:pathLst>
                            <a:path w="138" h="49">
                              <a:moveTo>
                                <a:pt x="0" y="25"/>
                              </a:moveTo>
                              <a:lnTo>
                                <a:pt x="12" y="10"/>
                              </a:lnTo>
                              <a:lnTo>
                                <a:pt x="18" y="10"/>
                              </a:lnTo>
                              <a:lnTo>
                                <a:pt x="27" y="3"/>
                              </a:lnTo>
                              <a:lnTo>
                                <a:pt x="38" y="3"/>
                              </a:lnTo>
                              <a:lnTo>
                                <a:pt x="41" y="2"/>
                              </a:lnTo>
                              <a:lnTo>
                                <a:pt x="45" y="0"/>
                              </a:lnTo>
                              <a:lnTo>
                                <a:pt x="59" y="9"/>
                              </a:lnTo>
                              <a:lnTo>
                                <a:pt x="63" y="15"/>
                              </a:lnTo>
                              <a:lnTo>
                                <a:pt x="66" y="12"/>
                              </a:lnTo>
                              <a:lnTo>
                                <a:pt x="77" y="17"/>
                              </a:lnTo>
                              <a:lnTo>
                                <a:pt x="83" y="17"/>
                              </a:lnTo>
                              <a:lnTo>
                                <a:pt x="89" y="22"/>
                              </a:lnTo>
                              <a:lnTo>
                                <a:pt x="99" y="25"/>
                              </a:lnTo>
                              <a:lnTo>
                                <a:pt x="99" y="32"/>
                              </a:lnTo>
                              <a:lnTo>
                                <a:pt x="116" y="32"/>
                              </a:lnTo>
                              <a:lnTo>
                                <a:pt x="120" y="39"/>
                              </a:lnTo>
                              <a:lnTo>
                                <a:pt x="131" y="39"/>
                              </a:lnTo>
                              <a:lnTo>
                                <a:pt x="138" y="48"/>
                              </a:lnTo>
                              <a:lnTo>
                                <a:pt x="134" y="49"/>
                              </a:lnTo>
                              <a:lnTo>
                                <a:pt x="131" y="47"/>
                              </a:lnTo>
                              <a:lnTo>
                                <a:pt x="130" y="45"/>
                              </a:lnTo>
                              <a:lnTo>
                                <a:pt x="120" y="47"/>
                              </a:lnTo>
                              <a:lnTo>
                                <a:pt x="118" y="48"/>
                              </a:lnTo>
                              <a:lnTo>
                                <a:pt x="109" y="49"/>
                              </a:lnTo>
                              <a:lnTo>
                                <a:pt x="97" y="49"/>
                              </a:lnTo>
                              <a:lnTo>
                                <a:pt x="89" y="49"/>
                              </a:lnTo>
                              <a:lnTo>
                                <a:pt x="89" y="45"/>
                              </a:lnTo>
                              <a:lnTo>
                                <a:pt x="77" y="33"/>
                              </a:lnTo>
                              <a:lnTo>
                                <a:pt x="77" y="26"/>
                              </a:lnTo>
                              <a:lnTo>
                                <a:pt x="63" y="26"/>
                              </a:lnTo>
                              <a:lnTo>
                                <a:pt x="57" y="22"/>
                              </a:lnTo>
                              <a:lnTo>
                                <a:pt x="53" y="26"/>
                              </a:lnTo>
                              <a:lnTo>
                                <a:pt x="49" y="20"/>
                              </a:lnTo>
                              <a:lnTo>
                                <a:pt x="45" y="20"/>
                              </a:lnTo>
                              <a:lnTo>
                                <a:pt x="45" y="13"/>
                              </a:lnTo>
                              <a:lnTo>
                                <a:pt x="41" y="10"/>
                              </a:lnTo>
                              <a:lnTo>
                                <a:pt x="29" y="12"/>
                              </a:lnTo>
                              <a:lnTo>
                                <a:pt x="20" y="20"/>
                              </a:lnTo>
                              <a:lnTo>
                                <a:pt x="11" y="22"/>
                              </a:lnTo>
                              <a:lnTo>
                                <a:pt x="0" y="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71" name="Freeform 172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66" y="2465"/>
                          <a:ext cx="44" cy="21"/>
                        </a:xfrm>
                        <a:custGeom>
                          <a:avLst/>
                          <a:gdLst>
                            <a:gd name="T0" fmla="*/ 0 w 88"/>
                            <a:gd name="T1" fmla="*/ 1 h 42"/>
                            <a:gd name="T2" fmla="*/ 1 w 88"/>
                            <a:gd name="T3" fmla="*/ 2 h 42"/>
                            <a:gd name="T4" fmla="*/ 1 w 88"/>
                            <a:gd name="T5" fmla="*/ 1 h 42"/>
                            <a:gd name="T6" fmla="*/ 2 w 88"/>
                            <a:gd name="T7" fmla="*/ 2 h 42"/>
                            <a:gd name="T8" fmla="*/ 2 w 88"/>
                            <a:gd name="T9" fmla="*/ 2 h 42"/>
                            <a:gd name="T10" fmla="*/ 2 w 88"/>
                            <a:gd name="T11" fmla="*/ 1 h 42"/>
                            <a:gd name="T12" fmla="*/ 2 w 88"/>
                            <a:gd name="T13" fmla="*/ 1 h 42"/>
                            <a:gd name="T14" fmla="*/ 2 w 88"/>
                            <a:gd name="T15" fmla="*/ 1 h 42"/>
                            <a:gd name="T16" fmla="*/ 3 w 88"/>
                            <a:gd name="T17" fmla="*/ 1 h 42"/>
                            <a:gd name="T18" fmla="*/ 3 w 88"/>
                            <a:gd name="T19" fmla="*/ 1 h 42"/>
                            <a:gd name="T20" fmla="*/ 3 w 88"/>
                            <a:gd name="T21" fmla="*/ 1 h 42"/>
                            <a:gd name="T22" fmla="*/ 3 w 88"/>
                            <a:gd name="T23" fmla="*/ 1 h 42"/>
                            <a:gd name="T24" fmla="*/ 3 w 88"/>
                            <a:gd name="T25" fmla="*/ 1 h 42"/>
                            <a:gd name="T26" fmla="*/ 3 w 88"/>
                            <a:gd name="T27" fmla="*/ 1 h 42"/>
                            <a:gd name="T28" fmla="*/ 3 w 88"/>
                            <a:gd name="T29" fmla="*/ 1 h 42"/>
                            <a:gd name="T30" fmla="*/ 3 w 88"/>
                            <a:gd name="T31" fmla="*/ 1 h 42"/>
                            <a:gd name="T32" fmla="*/ 3 w 88"/>
                            <a:gd name="T33" fmla="*/ 1 h 42"/>
                            <a:gd name="T34" fmla="*/ 2 w 88"/>
                            <a:gd name="T35" fmla="*/ 1 h 42"/>
                            <a:gd name="T36" fmla="*/ 2 w 88"/>
                            <a:gd name="T37" fmla="*/ 1 h 42"/>
                            <a:gd name="T38" fmla="*/ 2 w 88"/>
                            <a:gd name="T39" fmla="*/ 1 h 42"/>
                            <a:gd name="T40" fmla="*/ 1 w 88"/>
                            <a:gd name="T41" fmla="*/ 0 h 42"/>
                            <a:gd name="T42" fmla="*/ 1 w 88"/>
                            <a:gd name="T43" fmla="*/ 1 h 42"/>
                            <a:gd name="T44" fmla="*/ 1 w 88"/>
                            <a:gd name="T45" fmla="*/ 1 h 42"/>
                            <a:gd name="T46" fmla="*/ 1 w 88"/>
                            <a:gd name="T47" fmla="*/ 1 h 42"/>
                            <a:gd name="T48" fmla="*/ 1 w 88"/>
                            <a:gd name="T49" fmla="*/ 1 h 42"/>
                            <a:gd name="T50" fmla="*/ 1 w 88"/>
                            <a:gd name="T51" fmla="*/ 1 h 42"/>
                            <a:gd name="T52" fmla="*/ 0 w 88"/>
                            <a:gd name="T53" fmla="*/ 1 h 42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88"/>
                            <a:gd name="T82" fmla="*/ 0 h 42"/>
                            <a:gd name="T83" fmla="*/ 88 w 88"/>
                            <a:gd name="T84" fmla="*/ 42 h 42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88" h="42">
                              <a:moveTo>
                                <a:pt x="0" y="32"/>
                              </a:moveTo>
                              <a:lnTo>
                                <a:pt x="8" y="34"/>
                              </a:lnTo>
                              <a:lnTo>
                                <a:pt x="27" y="32"/>
                              </a:lnTo>
                              <a:lnTo>
                                <a:pt x="35" y="41"/>
                              </a:lnTo>
                              <a:lnTo>
                                <a:pt x="46" y="42"/>
                              </a:lnTo>
                              <a:lnTo>
                                <a:pt x="52" y="32"/>
                              </a:lnTo>
                              <a:lnTo>
                                <a:pt x="49" y="29"/>
                              </a:lnTo>
                              <a:lnTo>
                                <a:pt x="55" y="25"/>
                              </a:lnTo>
                              <a:lnTo>
                                <a:pt x="66" y="32"/>
                              </a:lnTo>
                              <a:lnTo>
                                <a:pt x="74" y="32"/>
                              </a:lnTo>
                              <a:lnTo>
                                <a:pt x="74" y="28"/>
                              </a:lnTo>
                              <a:lnTo>
                                <a:pt x="79" y="28"/>
                              </a:lnTo>
                              <a:lnTo>
                                <a:pt x="88" y="21"/>
                              </a:lnTo>
                              <a:lnTo>
                                <a:pt x="82" y="19"/>
                              </a:lnTo>
                              <a:lnTo>
                                <a:pt x="82" y="12"/>
                              </a:lnTo>
                              <a:lnTo>
                                <a:pt x="82" y="6"/>
                              </a:lnTo>
                              <a:lnTo>
                                <a:pt x="70" y="5"/>
                              </a:lnTo>
                              <a:lnTo>
                                <a:pt x="60" y="6"/>
                              </a:lnTo>
                              <a:lnTo>
                                <a:pt x="52" y="6"/>
                              </a:lnTo>
                              <a:lnTo>
                                <a:pt x="40" y="5"/>
                              </a:lnTo>
                              <a:lnTo>
                                <a:pt x="30" y="0"/>
                              </a:lnTo>
                              <a:lnTo>
                                <a:pt x="27" y="5"/>
                              </a:lnTo>
                              <a:lnTo>
                                <a:pt x="26" y="13"/>
                              </a:lnTo>
                              <a:lnTo>
                                <a:pt x="16" y="13"/>
                              </a:lnTo>
                              <a:lnTo>
                                <a:pt x="14" y="21"/>
                              </a:lnTo>
                              <a:lnTo>
                                <a:pt x="8" y="24"/>
                              </a:lnTo>
                              <a:lnTo>
                                <a:pt x="0" y="3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72" name="Freeform 17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38" y="2526"/>
                          <a:ext cx="282" cy="444"/>
                        </a:xfrm>
                        <a:custGeom>
                          <a:avLst/>
                          <a:gdLst>
                            <a:gd name="T0" fmla="*/ 2 w 563"/>
                            <a:gd name="T1" fmla="*/ 1 h 887"/>
                            <a:gd name="T2" fmla="*/ 4 w 563"/>
                            <a:gd name="T3" fmla="*/ 1 h 887"/>
                            <a:gd name="T4" fmla="*/ 3 w 563"/>
                            <a:gd name="T5" fmla="*/ 1 h 887"/>
                            <a:gd name="T6" fmla="*/ 4 w 563"/>
                            <a:gd name="T7" fmla="*/ 1 h 887"/>
                            <a:gd name="T8" fmla="*/ 4 w 563"/>
                            <a:gd name="T9" fmla="*/ 1 h 887"/>
                            <a:gd name="T10" fmla="*/ 5 w 563"/>
                            <a:gd name="T11" fmla="*/ 2 h 887"/>
                            <a:gd name="T12" fmla="*/ 8 w 563"/>
                            <a:gd name="T13" fmla="*/ 2 h 887"/>
                            <a:gd name="T14" fmla="*/ 9 w 563"/>
                            <a:gd name="T15" fmla="*/ 3 h 887"/>
                            <a:gd name="T16" fmla="*/ 10 w 563"/>
                            <a:gd name="T17" fmla="*/ 3 h 887"/>
                            <a:gd name="T18" fmla="*/ 12 w 563"/>
                            <a:gd name="T19" fmla="*/ 4 h 887"/>
                            <a:gd name="T20" fmla="*/ 13 w 563"/>
                            <a:gd name="T21" fmla="*/ 6 h 887"/>
                            <a:gd name="T22" fmla="*/ 18 w 563"/>
                            <a:gd name="T23" fmla="*/ 7 h 887"/>
                            <a:gd name="T24" fmla="*/ 18 w 563"/>
                            <a:gd name="T25" fmla="*/ 10 h 887"/>
                            <a:gd name="T26" fmla="*/ 17 w 563"/>
                            <a:gd name="T27" fmla="*/ 11 h 887"/>
                            <a:gd name="T28" fmla="*/ 16 w 563"/>
                            <a:gd name="T29" fmla="*/ 13 h 887"/>
                            <a:gd name="T30" fmla="*/ 16 w 563"/>
                            <a:gd name="T31" fmla="*/ 14 h 887"/>
                            <a:gd name="T32" fmla="*/ 15 w 563"/>
                            <a:gd name="T33" fmla="*/ 15 h 887"/>
                            <a:gd name="T34" fmla="*/ 13 w 563"/>
                            <a:gd name="T35" fmla="*/ 15 h 887"/>
                            <a:gd name="T36" fmla="*/ 12 w 563"/>
                            <a:gd name="T37" fmla="*/ 17 h 887"/>
                            <a:gd name="T38" fmla="*/ 12 w 563"/>
                            <a:gd name="T39" fmla="*/ 18 h 887"/>
                            <a:gd name="T40" fmla="*/ 11 w 563"/>
                            <a:gd name="T41" fmla="*/ 19 h 887"/>
                            <a:gd name="T42" fmla="*/ 10 w 563"/>
                            <a:gd name="T43" fmla="*/ 20 h 887"/>
                            <a:gd name="T44" fmla="*/ 10 w 563"/>
                            <a:gd name="T45" fmla="*/ 20 h 887"/>
                            <a:gd name="T46" fmla="*/ 10 w 563"/>
                            <a:gd name="T47" fmla="*/ 21 h 887"/>
                            <a:gd name="T48" fmla="*/ 8 w 563"/>
                            <a:gd name="T49" fmla="*/ 22 h 887"/>
                            <a:gd name="T50" fmla="*/ 7 w 563"/>
                            <a:gd name="T51" fmla="*/ 22 h 887"/>
                            <a:gd name="T52" fmla="*/ 7 w 563"/>
                            <a:gd name="T53" fmla="*/ 23 h 887"/>
                            <a:gd name="T54" fmla="*/ 7 w 563"/>
                            <a:gd name="T55" fmla="*/ 24 h 887"/>
                            <a:gd name="T56" fmla="*/ 7 w 563"/>
                            <a:gd name="T57" fmla="*/ 25 h 887"/>
                            <a:gd name="T58" fmla="*/ 6 w 563"/>
                            <a:gd name="T59" fmla="*/ 25 h 887"/>
                            <a:gd name="T60" fmla="*/ 6 w 563"/>
                            <a:gd name="T61" fmla="*/ 27 h 887"/>
                            <a:gd name="T62" fmla="*/ 7 w 563"/>
                            <a:gd name="T63" fmla="*/ 28 h 887"/>
                            <a:gd name="T64" fmla="*/ 5 w 563"/>
                            <a:gd name="T65" fmla="*/ 27 h 887"/>
                            <a:gd name="T66" fmla="*/ 5 w 563"/>
                            <a:gd name="T67" fmla="*/ 26 h 887"/>
                            <a:gd name="T68" fmla="*/ 5 w 563"/>
                            <a:gd name="T69" fmla="*/ 22 h 887"/>
                            <a:gd name="T70" fmla="*/ 4 w 563"/>
                            <a:gd name="T71" fmla="*/ 20 h 887"/>
                            <a:gd name="T72" fmla="*/ 4 w 563"/>
                            <a:gd name="T73" fmla="*/ 19 h 887"/>
                            <a:gd name="T74" fmla="*/ 5 w 563"/>
                            <a:gd name="T75" fmla="*/ 17 h 887"/>
                            <a:gd name="T76" fmla="*/ 5 w 563"/>
                            <a:gd name="T77" fmla="*/ 15 h 887"/>
                            <a:gd name="T78" fmla="*/ 5 w 563"/>
                            <a:gd name="T79" fmla="*/ 13 h 887"/>
                            <a:gd name="T80" fmla="*/ 4 w 563"/>
                            <a:gd name="T81" fmla="*/ 12 h 887"/>
                            <a:gd name="T82" fmla="*/ 2 w 563"/>
                            <a:gd name="T83" fmla="*/ 11 h 887"/>
                            <a:gd name="T84" fmla="*/ 2 w 563"/>
                            <a:gd name="T85" fmla="*/ 9 h 887"/>
                            <a:gd name="T86" fmla="*/ 1 w 563"/>
                            <a:gd name="T87" fmla="*/ 8 h 887"/>
                            <a:gd name="T88" fmla="*/ 1 w 563"/>
                            <a:gd name="T89" fmla="*/ 7 h 887"/>
                            <a:gd name="T90" fmla="*/ 1 w 563"/>
                            <a:gd name="T91" fmla="*/ 6 h 887"/>
                            <a:gd name="T92" fmla="*/ 2 w 563"/>
                            <a:gd name="T93" fmla="*/ 3 h 887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w 563"/>
                            <a:gd name="T142" fmla="*/ 0 h 887"/>
                            <a:gd name="T143" fmla="*/ 563 w 563"/>
                            <a:gd name="T144" fmla="*/ 887 h 887"/>
                          </a:gdLst>
                          <a:ahLst/>
                          <a:cxnLst>
                            <a:cxn ang="T94">
                              <a:pos x="T0" y="T1"/>
                            </a:cxn>
                            <a:cxn ang="T95">
                              <a:pos x="T2" y="T3"/>
                            </a:cxn>
                            <a:cxn ang="T96">
                              <a:pos x="T4" y="T5"/>
                            </a:cxn>
                            <a:cxn ang="T97">
                              <a:pos x="T6" y="T7"/>
                            </a:cxn>
                            <a:cxn ang="T98">
                              <a:pos x="T8" y="T9"/>
                            </a:cxn>
                            <a:cxn ang="T99">
                              <a:pos x="T10" y="T11"/>
                            </a:cxn>
                            <a:cxn ang="T100">
                              <a:pos x="T12" y="T13"/>
                            </a:cxn>
                            <a:cxn ang="T101">
                              <a:pos x="T14" y="T15"/>
                            </a:cxn>
                            <a:cxn ang="T102">
                              <a:pos x="T16" y="T17"/>
                            </a:cxn>
                            <a:cxn ang="T103">
                              <a:pos x="T18" y="T19"/>
                            </a:cxn>
                            <a:cxn ang="T104">
                              <a:pos x="T20" y="T21"/>
                            </a:cxn>
                            <a:cxn ang="T105">
                              <a:pos x="T22" y="T23"/>
                            </a:cxn>
                            <a:cxn ang="T106">
                              <a:pos x="T24" y="T25"/>
                            </a:cxn>
                            <a:cxn ang="T107">
                              <a:pos x="T26" y="T27"/>
                            </a:cxn>
                            <a:cxn ang="T108">
                              <a:pos x="T28" y="T29"/>
                            </a:cxn>
                            <a:cxn ang="T109">
                              <a:pos x="T30" y="T31"/>
                            </a:cxn>
                            <a:cxn ang="T110">
                              <a:pos x="T32" y="T33"/>
                            </a:cxn>
                            <a:cxn ang="T111">
                              <a:pos x="T34" y="T35"/>
                            </a:cxn>
                            <a:cxn ang="T112">
                              <a:pos x="T36" y="T37"/>
                            </a:cxn>
                            <a:cxn ang="T113">
                              <a:pos x="T38" y="T39"/>
                            </a:cxn>
                            <a:cxn ang="T114">
                              <a:pos x="T40" y="T41"/>
                            </a:cxn>
                            <a:cxn ang="T115">
                              <a:pos x="T42" y="T43"/>
                            </a:cxn>
                            <a:cxn ang="T116">
                              <a:pos x="T44" y="T45"/>
                            </a:cxn>
                            <a:cxn ang="T117">
                              <a:pos x="T46" y="T47"/>
                            </a:cxn>
                            <a:cxn ang="T118">
                              <a:pos x="T48" y="T49"/>
                            </a:cxn>
                            <a:cxn ang="T119">
                              <a:pos x="T50" y="T51"/>
                            </a:cxn>
                            <a:cxn ang="T120">
                              <a:pos x="T52" y="T53"/>
                            </a:cxn>
                            <a:cxn ang="T121">
                              <a:pos x="T54" y="T55"/>
                            </a:cxn>
                            <a:cxn ang="T122">
                              <a:pos x="T56" y="T57"/>
                            </a:cxn>
                            <a:cxn ang="T123">
                              <a:pos x="T58" y="T59"/>
                            </a:cxn>
                            <a:cxn ang="T124">
                              <a:pos x="T60" y="T61"/>
                            </a:cxn>
                            <a:cxn ang="T125">
                              <a:pos x="T62" y="T63"/>
                            </a:cxn>
                            <a:cxn ang="T126">
                              <a:pos x="T64" y="T65"/>
                            </a:cxn>
                            <a:cxn ang="T127">
                              <a:pos x="T66" y="T67"/>
                            </a:cxn>
                            <a:cxn ang="T128">
                              <a:pos x="T68" y="T69"/>
                            </a:cxn>
                            <a:cxn ang="T129">
                              <a:pos x="T70" y="T71"/>
                            </a:cxn>
                            <a:cxn ang="T130">
                              <a:pos x="T72" y="T73"/>
                            </a:cxn>
                            <a:cxn ang="T131">
                              <a:pos x="T74" y="T75"/>
                            </a:cxn>
                            <a:cxn ang="T132">
                              <a:pos x="T76" y="T77"/>
                            </a:cxn>
                            <a:cxn ang="T133">
                              <a:pos x="T78" y="T79"/>
                            </a:cxn>
                            <a:cxn ang="T134">
                              <a:pos x="T80" y="T81"/>
                            </a:cxn>
                            <a:cxn ang="T135">
                              <a:pos x="T82" y="T83"/>
                            </a:cxn>
                            <a:cxn ang="T136">
                              <a:pos x="T84" y="T85"/>
                            </a:cxn>
                            <a:cxn ang="T137">
                              <a:pos x="T86" y="T87"/>
                            </a:cxn>
                            <a:cxn ang="T138">
                              <a:pos x="T88" y="T89"/>
                            </a:cxn>
                            <a:cxn ang="T139">
                              <a:pos x="T90" y="T91"/>
                            </a:cxn>
                            <a:cxn ang="T140">
                              <a:pos x="T92" y="T93"/>
                            </a:cxn>
                          </a:cxnLst>
                          <a:rect l="T141" t="T142" r="T143" b="T144"/>
                          <a:pathLst>
                            <a:path w="563" h="887">
                              <a:moveTo>
                                <a:pt x="43" y="39"/>
                              </a:moveTo>
                              <a:lnTo>
                                <a:pt x="50" y="29"/>
                              </a:lnTo>
                              <a:lnTo>
                                <a:pt x="64" y="14"/>
                              </a:lnTo>
                              <a:lnTo>
                                <a:pt x="85" y="6"/>
                              </a:lnTo>
                              <a:lnTo>
                                <a:pt x="96" y="0"/>
                              </a:lnTo>
                              <a:lnTo>
                                <a:pt x="107" y="1"/>
                              </a:lnTo>
                              <a:lnTo>
                                <a:pt x="104" y="9"/>
                              </a:lnTo>
                              <a:lnTo>
                                <a:pt x="91" y="16"/>
                              </a:lnTo>
                              <a:lnTo>
                                <a:pt x="89" y="30"/>
                              </a:lnTo>
                              <a:lnTo>
                                <a:pt x="91" y="42"/>
                              </a:lnTo>
                              <a:lnTo>
                                <a:pt x="102" y="42"/>
                              </a:lnTo>
                              <a:lnTo>
                                <a:pt x="107" y="29"/>
                              </a:lnTo>
                              <a:lnTo>
                                <a:pt x="109" y="16"/>
                              </a:lnTo>
                              <a:lnTo>
                                <a:pt x="116" y="20"/>
                              </a:lnTo>
                              <a:lnTo>
                                <a:pt x="124" y="27"/>
                              </a:lnTo>
                              <a:lnTo>
                                <a:pt x="138" y="24"/>
                              </a:lnTo>
                              <a:lnTo>
                                <a:pt x="146" y="30"/>
                              </a:lnTo>
                              <a:lnTo>
                                <a:pt x="149" y="38"/>
                              </a:lnTo>
                              <a:lnTo>
                                <a:pt x="170" y="35"/>
                              </a:lnTo>
                              <a:lnTo>
                                <a:pt x="211" y="30"/>
                              </a:lnTo>
                              <a:lnTo>
                                <a:pt x="226" y="54"/>
                              </a:lnTo>
                              <a:lnTo>
                                <a:pt x="252" y="65"/>
                              </a:lnTo>
                              <a:lnTo>
                                <a:pt x="251" y="75"/>
                              </a:lnTo>
                              <a:lnTo>
                                <a:pt x="262" y="70"/>
                              </a:lnTo>
                              <a:lnTo>
                                <a:pt x="274" y="70"/>
                              </a:lnTo>
                              <a:lnTo>
                                <a:pt x="289" y="80"/>
                              </a:lnTo>
                              <a:lnTo>
                                <a:pt x="307" y="78"/>
                              </a:lnTo>
                              <a:lnTo>
                                <a:pt x="322" y="80"/>
                              </a:lnTo>
                              <a:lnTo>
                                <a:pt x="347" y="99"/>
                              </a:lnTo>
                              <a:lnTo>
                                <a:pt x="373" y="122"/>
                              </a:lnTo>
                              <a:lnTo>
                                <a:pt x="384" y="148"/>
                              </a:lnTo>
                              <a:lnTo>
                                <a:pt x="377" y="168"/>
                              </a:lnTo>
                              <a:lnTo>
                                <a:pt x="408" y="176"/>
                              </a:lnTo>
                              <a:lnTo>
                                <a:pt x="460" y="186"/>
                              </a:lnTo>
                              <a:lnTo>
                                <a:pt x="514" y="197"/>
                              </a:lnTo>
                              <a:lnTo>
                                <a:pt x="548" y="221"/>
                              </a:lnTo>
                              <a:lnTo>
                                <a:pt x="563" y="242"/>
                              </a:lnTo>
                              <a:lnTo>
                                <a:pt x="563" y="270"/>
                              </a:lnTo>
                              <a:lnTo>
                                <a:pt x="549" y="295"/>
                              </a:lnTo>
                              <a:lnTo>
                                <a:pt x="534" y="308"/>
                              </a:lnTo>
                              <a:lnTo>
                                <a:pt x="525" y="316"/>
                              </a:lnTo>
                              <a:lnTo>
                                <a:pt x="514" y="335"/>
                              </a:lnTo>
                              <a:lnTo>
                                <a:pt x="512" y="351"/>
                              </a:lnTo>
                              <a:lnTo>
                                <a:pt x="514" y="372"/>
                              </a:lnTo>
                              <a:lnTo>
                                <a:pt x="508" y="392"/>
                              </a:lnTo>
                              <a:lnTo>
                                <a:pt x="500" y="396"/>
                              </a:lnTo>
                              <a:lnTo>
                                <a:pt x="497" y="408"/>
                              </a:lnTo>
                              <a:lnTo>
                                <a:pt x="488" y="417"/>
                              </a:lnTo>
                              <a:lnTo>
                                <a:pt x="486" y="427"/>
                              </a:lnTo>
                              <a:lnTo>
                                <a:pt x="474" y="438"/>
                              </a:lnTo>
                              <a:lnTo>
                                <a:pt x="455" y="459"/>
                              </a:lnTo>
                              <a:lnTo>
                                <a:pt x="438" y="464"/>
                              </a:lnTo>
                              <a:lnTo>
                                <a:pt x="427" y="463"/>
                              </a:lnTo>
                              <a:lnTo>
                                <a:pt x="407" y="473"/>
                              </a:lnTo>
                              <a:lnTo>
                                <a:pt x="386" y="496"/>
                              </a:lnTo>
                              <a:lnTo>
                                <a:pt x="382" y="505"/>
                              </a:lnTo>
                              <a:lnTo>
                                <a:pt x="382" y="517"/>
                              </a:lnTo>
                              <a:lnTo>
                                <a:pt x="386" y="530"/>
                              </a:lnTo>
                              <a:lnTo>
                                <a:pt x="377" y="543"/>
                              </a:lnTo>
                              <a:lnTo>
                                <a:pt x="377" y="553"/>
                              </a:lnTo>
                              <a:lnTo>
                                <a:pt x="360" y="565"/>
                              </a:lnTo>
                              <a:lnTo>
                                <a:pt x="348" y="573"/>
                              </a:lnTo>
                              <a:lnTo>
                                <a:pt x="338" y="586"/>
                              </a:lnTo>
                              <a:lnTo>
                                <a:pt x="334" y="600"/>
                              </a:lnTo>
                              <a:lnTo>
                                <a:pt x="320" y="615"/>
                              </a:lnTo>
                              <a:lnTo>
                                <a:pt x="315" y="613"/>
                              </a:lnTo>
                              <a:lnTo>
                                <a:pt x="304" y="613"/>
                              </a:lnTo>
                              <a:lnTo>
                                <a:pt x="290" y="618"/>
                              </a:lnTo>
                              <a:lnTo>
                                <a:pt x="300" y="626"/>
                              </a:lnTo>
                              <a:lnTo>
                                <a:pt x="300" y="640"/>
                              </a:lnTo>
                              <a:lnTo>
                                <a:pt x="299" y="652"/>
                              </a:lnTo>
                              <a:lnTo>
                                <a:pt x="292" y="661"/>
                              </a:lnTo>
                              <a:lnTo>
                                <a:pt x="274" y="662"/>
                              </a:lnTo>
                              <a:lnTo>
                                <a:pt x="260" y="666"/>
                              </a:lnTo>
                              <a:lnTo>
                                <a:pt x="253" y="675"/>
                              </a:lnTo>
                              <a:lnTo>
                                <a:pt x="253" y="690"/>
                              </a:lnTo>
                              <a:lnTo>
                                <a:pt x="237" y="694"/>
                              </a:lnTo>
                              <a:lnTo>
                                <a:pt x="223" y="690"/>
                              </a:lnTo>
                              <a:lnTo>
                                <a:pt x="219" y="698"/>
                              </a:lnTo>
                              <a:lnTo>
                                <a:pt x="226" y="704"/>
                              </a:lnTo>
                              <a:lnTo>
                                <a:pt x="222" y="726"/>
                              </a:lnTo>
                              <a:lnTo>
                                <a:pt x="216" y="745"/>
                              </a:lnTo>
                              <a:lnTo>
                                <a:pt x="198" y="745"/>
                              </a:lnTo>
                              <a:lnTo>
                                <a:pt x="193" y="752"/>
                              </a:lnTo>
                              <a:lnTo>
                                <a:pt x="194" y="767"/>
                              </a:lnTo>
                              <a:lnTo>
                                <a:pt x="204" y="767"/>
                              </a:lnTo>
                              <a:lnTo>
                                <a:pt x="211" y="775"/>
                              </a:lnTo>
                              <a:lnTo>
                                <a:pt x="207" y="790"/>
                              </a:lnTo>
                              <a:lnTo>
                                <a:pt x="197" y="791"/>
                              </a:lnTo>
                              <a:lnTo>
                                <a:pt x="182" y="797"/>
                              </a:lnTo>
                              <a:lnTo>
                                <a:pt x="178" y="809"/>
                              </a:lnTo>
                              <a:lnTo>
                                <a:pt x="177" y="826"/>
                              </a:lnTo>
                              <a:lnTo>
                                <a:pt x="167" y="835"/>
                              </a:lnTo>
                              <a:lnTo>
                                <a:pt x="201" y="864"/>
                              </a:lnTo>
                              <a:lnTo>
                                <a:pt x="211" y="878"/>
                              </a:lnTo>
                              <a:lnTo>
                                <a:pt x="205" y="887"/>
                              </a:lnTo>
                              <a:lnTo>
                                <a:pt x="190" y="881"/>
                              </a:lnTo>
                              <a:lnTo>
                                <a:pt x="178" y="870"/>
                              </a:lnTo>
                              <a:lnTo>
                                <a:pt x="160" y="861"/>
                              </a:lnTo>
                              <a:lnTo>
                                <a:pt x="144" y="846"/>
                              </a:lnTo>
                              <a:lnTo>
                                <a:pt x="133" y="829"/>
                              </a:lnTo>
                              <a:lnTo>
                                <a:pt x="131" y="814"/>
                              </a:lnTo>
                              <a:lnTo>
                                <a:pt x="134" y="803"/>
                              </a:lnTo>
                              <a:lnTo>
                                <a:pt x="133" y="708"/>
                              </a:lnTo>
                              <a:lnTo>
                                <a:pt x="129" y="690"/>
                              </a:lnTo>
                              <a:lnTo>
                                <a:pt x="116" y="672"/>
                              </a:lnTo>
                              <a:lnTo>
                                <a:pt x="116" y="656"/>
                              </a:lnTo>
                              <a:lnTo>
                                <a:pt x="124" y="637"/>
                              </a:lnTo>
                              <a:lnTo>
                                <a:pt x="131" y="614"/>
                              </a:lnTo>
                              <a:lnTo>
                                <a:pt x="129" y="591"/>
                              </a:lnTo>
                              <a:lnTo>
                                <a:pt x="127" y="581"/>
                              </a:lnTo>
                              <a:lnTo>
                                <a:pt x="126" y="568"/>
                              </a:lnTo>
                              <a:lnTo>
                                <a:pt x="130" y="562"/>
                              </a:lnTo>
                              <a:lnTo>
                                <a:pt x="133" y="536"/>
                              </a:lnTo>
                              <a:lnTo>
                                <a:pt x="130" y="523"/>
                              </a:lnTo>
                              <a:lnTo>
                                <a:pt x="135" y="491"/>
                              </a:lnTo>
                              <a:lnTo>
                                <a:pt x="130" y="463"/>
                              </a:lnTo>
                              <a:lnTo>
                                <a:pt x="134" y="449"/>
                              </a:lnTo>
                              <a:lnTo>
                                <a:pt x="141" y="421"/>
                              </a:lnTo>
                              <a:lnTo>
                                <a:pt x="134" y="403"/>
                              </a:lnTo>
                              <a:lnTo>
                                <a:pt x="120" y="390"/>
                              </a:lnTo>
                              <a:lnTo>
                                <a:pt x="116" y="376"/>
                              </a:lnTo>
                              <a:lnTo>
                                <a:pt x="101" y="363"/>
                              </a:lnTo>
                              <a:lnTo>
                                <a:pt x="85" y="354"/>
                              </a:lnTo>
                              <a:lnTo>
                                <a:pt x="61" y="350"/>
                              </a:lnTo>
                              <a:lnTo>
                                <a:pt x="50" y="329"/>
                              </a:lnTo>
                              <a:lnTo>
                                <a:pt x="35" y="311"/>
                              </a:lnTo>
                              <a:lnTo>
                                <a:pt x="34" y="295"/>
                              </a:lnTo>
                              <a:lnTo>
                                <a:pt x="33" y="280"/>
                              </a:lnTo>
                              <a:lnTo>
                                <a:pt x="28" y="270"/>
                              </a:lnTo>
                              <a:lnTo>
                                <a:pt x="20" y="258"/>
                              </a:lnTo>
                              <a:lnTo>
                                <a:pt x="9" y="252"/>
                              </a:lnTo>
                              <a:lnTo>
                                <a:pt x="1" y="241"/>
                              </a:lnTo>
                              <a:lnTo>
                                <a:pt x="11" y="231"/>
                              </a:lnTo>
                              <a:lnTo>
                                <a:pt x="11" y="206"/>
                              </a:lnTo>
                              <a:lnTo>
                                <a:pt x="5" y="193"/>
                              </a:lnTo>
                              <a:lnTo>
                                <a:pt x="0" y="180"/>
                              </a:lnTo>
                              <a:lnTo>
                                <a:pt x="5" y="161"/>
                              </a:lnTo>
                              <a:lnTo>
                                <a:pt x="27" y="115"/>
                              </a:lnTo>
                              <a:lnTo>
                                <a:pt x="28" y="94"/>
                              </a:lnTo>
                              <a:lnTo>
                                <a:pt x="41" y="72"/>
                              </a:lnTo>
                              <a:lnTo>
                                <a:pt x="41" y="61"/>
                              </a:lnTo>
                              <a:lnTo>
                                <a:pt x="43" y="3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</p:grpSp>
                </p:grpSp>
              </p:grpSp>
              <p:sp>
                <p:nvSpPr>
                  <p:cNvPr id="58526" name="AutoShape 174"/>
                  <p:cNvSpPr>
                    <a:spLocks noChangeArrowheads="1"/>
                  </p:cNvSpPr>
                  <p:nvPr/>
                </p:nvSpPr>
                <p:spPr bwMode="auto">
                  <a:xfrm>
                    <a:off x="3891" y="929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27" name="AutoShape 175"/>
                  <p:cNvSpPr>
                    <a:spLocks noChangeArrowheads="1"/>
                  </p:cNvSpPr>
                  <p:nvPr/>
                </p:nvSpPr>
                <p:spPr bwMode="auto">
                  <a:xfrm>
                    <a:off x="3923" y="940"/>
                    <a:ext cx="26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28" name="AutoShape 176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881"/>
                    <a:ext cx="28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29" name="AutoShape 177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952"/>
                    <a:ext cx="28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0" name="AutoShape 178"/>
                  <p:cNvSpPr>
                    <a:spLocks noChangeArrowheads="1"/>
                  </p:cNvSpPr>
                  <p:nvPr/>
                </p:nvSpPr>
                <p:spPr bwMode="auto">
                  <a:xfrm>
                    <a:off x="4283" y="921"/>
                    <a:ext cx="26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1" name="AutoShape 179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17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2" name="AutoShape 180"/>
                  <p:cNvSpPr>
                    <a:spLocks noChangeArrowheads="1"/>
                  </p:cNvSpPr>
                  <p:nvPr/>
                </p:nvSpPr>
                <p:spPr bwMode="auto">
                  <a:xfrm>
                    <a:off x="4051" y="1126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3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4674" y="117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4" name="AutoShape 182"/>
                  <p:cNvSpPr>
                    <a:spLocks noChangeArrowheads="1"/>
                  </p:cNvSpPr>
                  <p:nvPr/>
                </p:nvSpPr>
                <p:spPr bwMode="auto">
                  <a:xfrm>
                    <a:off x="4572" y="995"/>
                    <a:ext cx="25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5" name="AutoShape 183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871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6" name="AutoShape 184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92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7" name="AutoShape 185"/>
                  <p:cNvSpPr>
                    <a:spLocks noChangeArrowheads="1"/>
                  </p:cNvSpPr>
                  <p:nvPr/>
                </p:nvSpPr>
                <p:spPr bwMode="auto">
                  <a:xfrm>
                    <a:off x="3886" y="100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8" name="AutoShape 186"/>
                  <p:cNvSpPr>
                    <a:spLocks noChangeArrowheads="1"/>
                  </p:cNvSpPr>
                  <p:nvPr/>
                </p:nvSpPr>
                <p:spPr bwMode="auto">
                  <a:xfrm>
                    <a:off x="3869" y="963"/>
                    <a:ext cx="28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9" name="AutoShape 187"/>
                  <p:cNvSpPr>
                    <a:spLocks noChangeArrowheads="1"/>
                  </p:cNvSpPr>
                  <p:nvPr/>
                </p:nvSpPr>
                <p:spPr bwMode="auto">
                  <a:xfrm>
                    <a:off x="4066" y="1136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0" name="AutoShape 188"/>
                  <p:cNvSpPr>
                    <a:spLocks noChangeArrowheads="1"/>
                  </p:cNvSpPr>
                  <p:nvPr/>
                </p:nvSpPr>
                <p:spPr bwMode="auto">
                  <a:xfrm>
                    <a:off x="4020" y="119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1" name="AutoShape 189"/>
                  <p:cNvSpPr>
                    <a:spLocks noChangeArrowheads="1"/>
                  </p:cNvSpPr>
                  <p:nvPr/>
                </p:nvSpPr>
                <p:spPr bwMode="auto">
                  <a:xfrm>
                    <a:off x="4350" y="908"/>
                    <a:ext cx="28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2" name="AutoShape 190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100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3" name="AutoShape 191"/>
                  <p:cNvSpPr>
                    <a:spLocks noChangeArrowheads="1"/>
                  </p:cNvSpPr>
                  <p:nvPr/>
                </p:nvSpPr>
                <p:spPr bwMode="auto">
                  <a:xfrm>
                    <a:off x="4560" y="967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4" name="AutoShape 192"/>
                  <p:cNvSpPr>
                    <a:spLocks noChangeArrowheads="1"/>
                  </p:cNvSpPr>
                  <p:nvPr/>
                </p:nvSpPr>
                <p:spPr bwMode="auto">
                  <a:xfrm>
                    <a:off x="4655" y="1190"/>
                    <a:ext cx="24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5" name="AutoShape 193"/>
                  <p:cNvSpPr>
                    <a:spLocks noChangeArrowheads="1"/>
                  </p:cNvSpPr>
                  <p:nvPr/>
                </p:nvSpPr>
                <p:spPr bwMode="auto">
                  <a:xfrm>
                    <a:off x="4401" y="871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6" name="AutoShape 194"/>
                  <p:cNvSpPr>
                    <a:spLocks noChangeArrowheads="1"/>
                  </p:cNvSpPr>
                  <p:nvPr/>
                </p:nvSpPr>
                <p:spPr bwMode="auto">
                  <a:xfrm>
                    <a:off x="3952" y="934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7" name="AutoShape 195"/>
                  <p:cNvSpPr>
                    <a:spLocks noChangeArrowheads="1"/>
                  </p:cNvSpPr>
                  <p:nvPr/>
                </p:nvSpPr>
                <p:spPr bwMode="auto">
                  <a:xfrm>
                    <a:off x="3855" y="929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8" name="AutoShape 196"/>
                  <p:cNvSpPr>
                    <a:spLocks noChangeArrowheads="1"/>
                  </p:cNvSpPr>
                  <p:nvPr/>
                </p:nvSpPr>
                <p:spPr bwMode="auto">
                  <a:xfrm>
                    <a:off x="3949" y="967"/>
                    <a:ext cx="26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9" name="AutoShape 197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207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0" name="AutoShape 198"/>
                  <p:cNvSpPr>
                    <a:spLocks noChangeArrowheads="1"/>
                  </p:cNvSpPr>
                  <p:nvPr/>
                </p:nvSpPr>
                <p:spPr bwMode="auto">
                  <a:xfrm>
                    <a:off x="4283" y="871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1" name="AutoShape 199"/>
                  <p:cNvSpPr>
                    <a:spLocks noChangeArrowheads="1"/>
                  </p:cNvSpPr>
                  <p:nvPr/>
                </p:nvSpPr>
                <p:spPr bwMode="auto">
                  <a:xfrm>
                    <a:off x="4252" y="92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2" name="AutoShape 200"/>
                  <p:cNvSpPr>
                    <a:spLocks noChangeArrowheads="1"/>
                  </p:cNvSpPr>
                  <p:nvPr/>
                </p:nvSpPr>
                <p:spPr bwMode="auto">
                  <a:xfrm>
                    <a:off x="4379" y="908"/>
                    <a:ext cx="29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3" name="AutoShape 201"/>
                  <p:cNvSpPr>
                    <a:spLocks noChangeArrowheads="1"/>
                  </p:cNvSpPr>
                  <p:nvPr/>
                </p:nvSpPr>
                <p:spPr bwMode="auto">
                  <a:xfrm>
                    <a:off x="4293" y="1017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4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4611" y="979"/>
                    <a:ext cx="29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5" name="AutoShape 203"/>
                  <p:cNvSpPr>
                    <a:spLocks noChangeArrowheads="1"/>
                  </p:cNvSpPr>
                  <p:nvPr/>
                </p:nvSpPr>
                <p:spPr bwMode="auto">
                  <a:xfrm>
                    <a:off x="4695" y="1180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6" name="AutoShape 204"/>
                  <p:cNvSpPr>
                    <a:spLocks noChangeArrowheads="1"/>
                  </p:cNvSpPr>
                  <p:nvPr/>
                </p:nvSpPr>
                <p:spPr bwMode="auto">
                  <a:xfrm>
                    <a:off x="4436" y="1108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7" name="AutoShape 205"/>
                  <p:cNvSpPr>
                    <a:spLocks noChangeArrowheads="1"/>
                  </p:cNvSpPr>
                  <p:nvPr/>
                </p:nvSpPr>
                <p:spPr bwMode="auto">
                  <a:xfrm>
                    <a:off x="4043" y="1194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8" name="AutoShape 206"/>
                  <p:cNvSpPr>
                    <a:spLocks noChangeArrowheads="1"/>
                  </p:cNvSpPr>
                  <p:nvPr/>
                </p:nvSpPr>
                <p:spPr bwMode="auto">
                  <a:xfrm>
                    <a:off x="4250" y="1057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9" name="AutoShape 207"/>
                  <p:cNvSpPr>
                    <a:spLocks noChangeArrowheads="1"/>
                  </p:cNvSpPr>
                  <p:nvPr/>
                </p:nvSpPr>
                <p:spPr bwMode="auto">
                  <a:xfrm>
                    <a:off x="3913" y="967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</p:grpSp>
          </p:grpSp>
          <p:sp>
            <p:nvSpPr>
              <p:cNvPr id="58451" name="Rectangle 208"/>
              <p:cNvSpPr>
                <a:spLocks noChangeArrowheads="1"/>
              </p:cNvSpPr>
              <p:nvPr/>
            </p:nvSpPr>
            <p:spPr bwMode="auto">
              <a:xfrm>
                <a:off x="4575" y="2735"/>
                <a:ext cx="8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pt-BR"/>
                  <a:t>Mercado</a:t>
                </a:r>
              </a:p>
            </p:txBody>
          </p:sp>
        </p:grpSp>
      </p:grpSp>
      <p:grpSp>
        <p:nvGrpSpPr>
          <p:cNvPr id="58376" name="Group 209"/>
          <p:cNvGrpSpPr>
            <a:grpSpLocks/>
          </p:cNvGrpSpPr>
          <p:nvPr/>
        </p:nvGrpSpPr>
        <p:grpSpPr bwMode="auto">
          <a:xfrm>
            <a:off x="1960563" y="4570413"/>
            <a:ext cx="6015037" cy="1836737"/>
            <a:chOff x="1235" y="2879"/>
            <a:chExt cx="3789" cy="1157"/>
          </a:xfrm>
        </p:grpSpPr>
        <p:sp useBgFill="1">
          <p:nvSpPr>
            <p:cNvPr id="58439" name="Oval 210"/>
            <p:cNvSpPr>
              <a:spLocks noChangeArrowheads="1"/>
            </p:cNvSpPr>
            <p:nvPr/>
          </p:nvSpPr>
          <p:spPr bwMode="auto">
            <a:xfrm rot="-5400000">
              <a:off x="2812" y="1825"/>
              <a:ext cx="745" cy="3678"/>
            </a:xfrm>
            <a:prstGeom prst="ellipse">
              <a:avLst/>
            </a:prstGeom>
            <a:ln w="12700">
              <a:solidFill>
                <a:srgbClr val="7A7AD4"/>
              </a:solidFill>
              <a:round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pt-BR" sz="2800"/>
                <a:t>Estratégia Tecnológica</a:t>
              </a:r>
            </a:p>
          </p:txBody>
        </p:sp>
        <p:sp>
          <p:nvSpPr>
            <p:cNvPr id="58440" name="AutoShape 211"/>
            <p:cNvSpPr>
              <a:spLocks noChangeArrowheads="1"/>
            </p:cNvSpPr>
            <p:nvPr/>
          </p:nvSpPr>
          <p:spPr bwMode="auto">
            <a:xfrm rot="-7035679">
              <a:off x="1132" y="3270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1" name="AutoShape 212"/>
            <p:cNvSpPr>
              <a:spLocks noChangeArrowheads="1"/>
            </p:cNvSpPr>
            <p:nvPr/>
          </p:nvSpPr>
          <p:spPr bwMode="auto">
            <a:xfrm rot="-6523264">
              <a:off x="1502" y="3098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2" name="AutoShape 213"/>
            <p:cNvSpPr>
              <a:spLocks noChangeArrowheads="1"/>
            </p:cNvSpPr>
            <p:nvPr/>
          </p:nvSpPr>
          <p:spPr bwMode="auto">
            <a:xfrm rot="-6042606">
              <a:off x="1865" y="3003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3" name="AutoShape 214"/>
            <p:cNvSpPr>
              <a:spLocks noChangeArrowheads="1"/>
            </p:cNvSpPr>
            <p:nvPr/>
          </p:nvSpPr>
          <p:spPr bwMode="auto">
            <a:xfrm rot="-5425129">
              <a:off x="2284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4" name="AutoShape 215"/>
            <p:cNvSpPr>
              <a:spLocks noChangeArrowheads="1"/>
            </p:cNvSpPr>
            <p:nvPr/>
          </p:nvSpPr>
          <p:spPr bwMode="auto">
            <a:xfrm rot="-5305128">
              <a:off x="2729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5" name="AutoShape 216"/>
            <p:cNvSpPr>
              <a:spLocks noChangeArrowheads="1"/>
            </p:cNvSpPr>
            <p:nvPr/>
          </p:nvSpPr>
          <p:spPr bwMode="auto">
            <a:xfrm rot="-5350101">
              <a:off x="3113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6" name="AutoShape 217"/>
            <p:cNvSpPr>
              <a:spLocks noChangeArrowheads="1"/>
            </p:cNvSpPr>
            <p:nvPr/>
          </p:nvSpPr>
          <p:spPr bwMode="auto">
            <a:xfrm rot="-5350101">
              <a:off x="3545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7" name="Group 218"/>
          <p:cNvGrpSpPr>
            <a:grpSpLocks/>
          </p:cNvGrpSpPr>
          <p:nvPr/>
        </p:nvGrpSpPr>
        <p:grpSpPr bwMode="auto">
          <a:xfrm>
            <a:off x="1884363" y="1090613"/>
            <a:ext cx="5924550" cy="1914525"/>
            <a:chOff x="1187" y="687"/>
            <a:chExt cx="3732" cy="1206"/>
          </a:xfrm>
        </p:grpSpPr>
        <p:sp useBgFill="1">
          <p:nvSpPr>
            <p:cNvPr id="58431" name="Oval 219"/>
            <p:cNvSpPr>
              <a:spLocks noChangeArrowheads="1"/>
            </p:cNvSpPr>
            <p:nvPr/>
          </p:nvSpPr>
          <p:spPr bwMode="auto">
            <a:xfrm rot="5400000">
              <a:off x="2702" y="-758"/>
              <a:ext cx="772" cy="3662"/>
            </a:xfrm>
            <a:prstGeom prst="ellipse">
              <a:avLst/>
            </a:prstGeom>
            <a:ln w="12700">
              <a:solidFill>
                <a:srgbClr val="7A7AD4"/>
              </a:solidFill>
              <a:round/>
              <a:headEnd/>
              <a:tailEnd/>
            </a:ln>
          </p:spPr>
          <p:txBody>
            <a:bodyPr rot="10800000" vert="eaVert"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pt-BR" sz="2800"/>
                <a:t>Estratégia de Produto / Mercado</a:t>
              </a:r>
            </a:p>
          </p:txBody>
        </p:sp>
        <p:sp>
          <p:nvSpPr>
            <p:cNvPr id="58432" name="AutoShape 220"/>
            <p:cNvSpPr>
              <a:spLocks noChangeArrowheads="1"/>
            </p:cNvSpPr>
            <p:nvPr/>
          </p:nvSpPr>
          <p:spPr bwMode="auto">
            <a:xfrm rot="7035679" flipV="1">
              <a:off x="1084" y="1179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3" name="AutoShape 221"/>
            <p:cNvSpPr>
              <a:spLocks noChangeArrowheads="1"/>
            </p:cNvSpPr>
            <p:nvPr/>
          </p:nvSpPr>
          <p:spPr bwMode="auto">
            <a:xfrm rot="6523264" flipV="1">
              <a:off x="1358" y="132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4" name="AutoShape 222"/>
            <p:cNvSpPr>
              <a:spLocks noChangeArrowheads="1"/>
            </p:cNvSpPr>
            <p:nvPr/>
          </p:nvSpPr>
          <p:spPr bwMode="auto">
            <a:xfrm rot="6042606" flipV="1">
              <a:off x="1774" y="1460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5" name="AutoShape 223"/>
            <p:cNvSpPr>
              <a:spLocks noChangeArrowheads="1"/>
            </p:cNvSpPr>
            <p:nvPr/>
          </p:nvSpPr>
          <p:spPr bwMode="auto">
            <a:xfrm rot="5425129" flipV="1">
              <a:off x="2284" y="1551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6" name="AutoShape 224"/>
            <p:cNvSpPr>
              <a:spLocks noChangeArrowheads="1"/>
            </p:cNvSpPr>
            <p:nvPr/>
          </p:nvSpPr>
          <p:spPr bwMode="auto">
            <a:xfrm rot="5305128" flipV="1">
              <a:off x="2729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7" name="AutoShape 225"/>
            <p:cNvSpPr>
              <a:spLocks noChangeArrowheads="1"/>
            </p:cNvSpPr>
            <p:nvPr/>
          </p:nvSpPr>
          <p:spPr bwMode="auto">
            <a:xfrm rot="5350101" flipV="1">
              <a:off x="3113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8" name="AutoShape 226"/>
            <p:cNvSpPr>
              <a:spLocks noChangeArrowheads="1"/>
            </p:cNvSpPr>
            <p:nvPr/>
          </p:nvSpPr>
          <p:spPr bwMode="auto">
            <a:xfrm rot="5350101" flipV="1">
              <a:off x="3545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sp>
        <p:nvSpPr>
          <p:cNvPr id="58378" name="AutoShape 227"/>
          <p:cNvSpPr>
            <a:spLocks noChangeArrowheads="1"/>
          </p:cNvSpPr>
          <p:nvPr/>
        </p:nvSpPr>
        <p:spPr bwMode="auto">
          <a:xfrm>
            <a:off x="381000" y="3260725"/>
            <a:ext cx="6351588" cy="1006475"/>
          </a:xfrm>
          <a:prstGeom prst="rightArrow">
            <a:avLst>
              <a:gd name="adj1" fmla="val 73500"/>
              <a:gd name="adj2" fmla="val 93843"/>
            </a:avLst>
          </a:prstGeom>
          <a:solidFill>
            <a:srgbClr val="CCFFFF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pt-BR" sz="4000">
                <a:solidFill>
                  <a:schemeClr val="tx2"/>
                </a:solidFill>
              </a:rPr>
              <a:t>Product pipeline</a:t>
            </a:r>
          </a:p>
        </p:txBody>
      </p:sp>
      <p:grpSp>
        <p:nvGrpSpPr>
          <p:cNvPr id="58379" name="Group 228"/>
          <p:cNvGrpSpPr>
            <a:grpSpLocks/>
          </p:cNvGrpSpPr>
          <p:nvPr/>
        </p:nvGrpSpPr>
        <p:grpSpPr bwMode="auto">
          <a:xfrm rot="-2261450">
            <a:off x="4375150" y="4141788"/>
            <a:ext cx="3089275" cy="4325937"/>
            <a:chOff x="2181" y="1183"/>
            <a:chExt cx="1419" cy="1966"/>
          </a:xfrm>
        </p:grpSpPr>
        <p:grpSp>
          <p:nvGrpSpPr>
            <p:cNvPr id="58380" name="Group 229"/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58417" name="Group 230"/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58423" name="Group 231"/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58429" name="Freeform 232"/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30" name="Freeform 233"/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58424" name="Group 234"/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58425" name="Freeform 235"/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26" name="Freeform 236"/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27" name="Freeform 237"/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28" name="Freeform 238"/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58418" name="Oval 239"/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US" altLang="pt-BR"/>
              </a:p>
            </p:txBody>
          </p:sp>
          <p:grpSp>
            <p:nvGrpSpPr>
              <p:cNvPr id="58419" name="Group 240"/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58420" name="Oval 241"/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21" name="Oval 242"/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22" name="Oval 243"/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</p:grpSp>
        </p:grpSp>
        <p:grpSp>
          <p:nvGrpSpPr>
            <p:cNvPr id="58381" name="Group 244"/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58382" name="Freeform 245"/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3" name="Arc 246"/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lnTo>
                      <a:pt x="877" y="27692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4" name="Arc 247"/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lnTo>
                      <a:pt x="138" y="24038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5" name="Freeform 248"/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6" name="Arc 249"/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lnTo>
                      <a:pt x="806" y="26092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7" name="Arc 250"/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lnTo>
                      <a:pt x="729" y="27167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58388" name="Group 251"/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58412" name="Group 252"/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58414" name="Arc 253"/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15" name="Arc 254"/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531" y="2365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16" name="Arc 255"/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lnTo>
                          <a:pt x="602" y="26668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58413" name="Arc 256"/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89" name="Group 257"/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58407" name="Group 258"/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58409" name="Arc 259"/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lnTo>
                          <a:pt x="475" y="26108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10" name="Arc 260"/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475" y="23399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11" name="Arc 261"/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58408" name="Arc 262"/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lnTo>
                        <a:pt x="531" y="2636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90" name="Group 263"/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58405" name="Arc 264"/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8406" name="Arc 265"/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lnTo>
                        <a:pt x="423" y="23144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91" name="Group 266"/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58403" name="Arc 267"/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8404" name="Arc 268"/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92" name="Group 269"/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58401" name="Line 270"/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8402" name="Line 271"/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93" name="Group 272"/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58396" name="Group 273"/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58399" name="Arc 274"/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lnTo>
                          <a:pt x="373" y="25596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00" name="Arc 275"/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373" y="22887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58397" name="Arc 276"/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8398" name="Arc 277"/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58394" name="Freeform 278"/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95" name="Oval 279"/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US" altLang="pt-BR"/>
              </a:p>
            </p:txBody>
          </p:sp>
        </p:grpSp>
      </p:grpSp>
    </p:spTree>
  </p:cSld>
  <p:clrMapOvr>
    <a:masterClrMapping/>
  </p:clrMapOvr>
  <p:transition>
    <p:checker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25" y="2084388"/>
            <a:ext cx="6996113" cy="307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8" name="CaixaDeTexto 2"/>
          <p:cNvSpPr txBox="1">
            <a:spLocks noChangeArrowheads="1"/>
          </p:cNvSpPr>
          <p:nvPr/>
        </p:nvSpPr>
        <p:spPr bwMode="auto">
          <a:xfrm>
            <a:off x="596900" y="1143000"/>
            <a:ext cx="8305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/>
              <a:t>Planejamento de produtos (Criação de mapa tecnológico)  </a:t>
            </a:r>
          </a:p>
        </p:txBody>
      </p:sp>
      <p:sp>
        <p:nvSpPr>
          <p:cNvPr id="60419" name="CaixaDeTexto 3"/>
          <p:cNvSpPr txBox="1">
            <a:spLocks noChangeArrowheads="1"/>
          </p:cNvSpPr>
          <p:nvPr/>
        </p:nvSpPr>
        <p:spPr bwMode="auto">
          <a:xfrm>
            <a:off x="1689100" y="5321300"/>
            <a:ext cx="5702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/>
              <a:t>Fonte: Phaal et al (2004)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98" y="980728"/>
            <a:ext cx="8256658" cy="5584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139952" y="116632"/>
            <a:ext cx="5349280" cy="432048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>
                <a:solidFill>
                  <a:schemeClr val="bg1">
                    <a:lumMod val="50000"/>
                  </a:schemeClr>
                </a:solidFill>
              </a:rPr>
              <a:t>3. Processo de planejamento do produto</a:t>
            </a:r>
            <a:endParaRPr lang="pt-BR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7504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87350"/>
            <a:ext cx="7215708" cy="634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82788"/>
            <a:ext cx="8991600" cy="263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6" name="CaixaDeTexto 2"/>
          <p:cNvSpPr txBox="1">
            <a:spLocks noChangeArrowheads="1"/>
          </p:cNvSpPr>
          <p:nvPr/>
        </p:nvSpPr>
        <p:spPr bwMode="auto">
          <a:xfrm>
            <a:off x="1854200" y="1270000"/>
            <a:ext cx="5626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/>
              <a:t>Exemplo de mapeamento tecnológico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56" y="526589"/>
            <a:ext cx="8234292" cy="5926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59014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20688"/>
            <a:ext cx="8424936" cy="5833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24745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93" y="836712"/>
            <a:ext cx="8046855" cy="5629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12465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5" y="332656"/>
            <a:ext cx="9087445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28423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76672"/>
            <a:ext cx="8451209" cy="6172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49969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3087662"/>
            <a:ext cx="8147248" cy="348687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pt-BR" sz="2400" dirty="0"/>
              <a:t>O </a:t>
            </a:r>
            <a:r>
              <a:rPr lang="pt-BR" sz="2400" dirty="0">
                <a:solidFill>
                  <a:srgbClr val="FF0000"/>
                </a:solidFill>
              </a:rPr>
              <a:t>PLANEJAMENTO DO PROJETO </a:t>
            </a:r>
            <a:r>
              <a:rPr lang="pt-BR" sz="2400" dirty="0"/>
              <a:t>inicia com a ideia definida no planejamento do produto e estabelece os requisitos para conduzir o projeto (</a:t>
            </a:r>
            <a:r>
              <a:rPr lang="pt-BR" sz="2400" i="1" dirty="0" err="1"/>
              <a:t>project</a:t>
            </a:r>
            <a:r>
              <a:rPr lang="pt-BR" sz="2400" dirty="0"/>
              <a:t>) de forma eficiente e eficaz</a:t>
            </a:r>
          </a:p>
          <a:p>
            <a:pPr algn="just">
              <a:lnSpc>
                <a:spcPct val="150000"/>
              </a:lnSpc>
            </a:pPr>
            <a:r>
              <a:rPr lang="pt-BR" sz="2400" dirty="0"/>
              <a:t>O </a:t>
            </a:r>
            <a:r>
              <a:rPr lang="pt-BR" sz="2400" dirty="0">
                <a:solidFill>
                  <a:srgbClr val="FF0000"/>
                </a:solidFill>
              </a:rPr>
              <a:t>PLANEJAMENTO DO PROJETO </a:t>
            </a:r>
            <a:r>
              <a:rPr lang="pt-BR" sz="2400" dirty="0"/>
              <a:t>fornece as informações necessárias para a execução do processo de projeto e implantação do produto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404664"/>
            <a:ext cx="6486525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05713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5" ma:contentTypeDescription="Crie um novo documento." ma:contentTypeScope="" ma:versionID="03a2bb3a47b51376378bf08e532d75c6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fa73517d4a9523936914bab2fc4498b3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8F68A0-6746-470B-9802-44DAB36CA5F0}">
  <ds:schemaRefs>
    <ds:schemaRef ds:uri="http://schemas.microsoft.com/office/2006/metadata/properties"/>
    <ds:schemaRef ds:uri="http://schemas.microsoft.com/office/infopath/2007/PartnerControls"/>
    <ds:schemaRef ds:uri="http://purl.org/dc/elements/1.1/"/>
    <ds:schemaRef ds:uri="0616edac-8b85-431d-b1bb-a5cc9cdccc91"/>
    <ds:schemaRef ds:uri="http://schemas.microsoft.com/office/2006/documentManagement/types"/>
    <ds:schemaRef ds:uri="http://purl.org/dc/dcmitype/"/>
    <ds:schemaRef ds:uri="http://www.w3.org/XML/1998/namespace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6905FB3-AA58-4807-86FB-0A1EEC0C799F}"/>
</file>

<file path=customXml/itemProps3.xml><?xml version="1.0" encoding="utf-8"?>
<ds:datastoreItem xmlns:ds="http://schemas.openxmlformats.org/officeDocument/2006/customXml" ds:itemID="{87A3C69A-E1A4-431D-9D04-B154A0FED26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553</TotalTime>
  <Words>1647</Words>
  <Application>Microsoft Macintosh PowerPoint</Application>
  <PresentationFormat>Apresentação na tela (4:3)</PresentationFormat>
  <Paragraphs>164</Paragraphs>
  <Slides>54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64" baseType="lpstr">
      <vt:lpstr>#PCMyungjo</vt:lpstr>
      <vt:lpstr>Arial</vt:lpstr>
      <vt:lpstr>Calibri</vt:lpstr>
      <vt:lpstr>Georgia</vt:lpstr>
      <vt:lpstr>Times New Roman</vt:lpstr>
      <vt:lpstr>Trebuchet MS</vt:lpstr>
      <vt:lpstr>Verdana</vt:lpstr>
      <vt:lpstr>Wingdings</vt:lpstr>
      <vt:lpstr>Wingdings 2</vt:lpstr>
      <vt:lpstr>Urbano</vt:lpstr>
      <vt:lpstr>Universidade de Brasília Departamento de Engenharia de Produção Disciplina: Engenharia de Produto    </vt:lpstr>
      <vt:lpstr>Planejamento do produto</vt:lpstr>
      <vt:lpstr>De modo geral existem diversas abordagens para este tema</vt:lpstr>
      <vt:lpstr>A ênfase dada ao processo de planejamento de produtos – considerando processos, métodos e ferramentas para orientar e apoiar a identificação e a seleção de idéias de produtos inovadores </vt:lpstr>
      <vt:lpstr>Apresentação do PowerPoint</vt:lpstr>
      <vt:lpstr>Apresentação do PowerPoint</vt:lpstr>
      <vt:lpstr>Desafios do planejamento de produtos</vt:lpstr>
      <vt:lpstr>Desafios do planejamento de produtos</vt:lpstr>
      <vt:lpstr>Desafios do planejamento de produtos</vt:lpstr>
      <vt:lpstr>Desafios do planejamento de produtos</vt:lpstr>
      <vt:lpstr>O PLANEJAMENTO DO PRODUTO busca, em essência, responder a seguinte questão: o que será desenvolvido em função das estratégias da organização?  • Esse processo se relaciona com: • as atividades do planejamento estratégico da organização; • as atividades de inteligência competitiva e prospecção tecnológica; • as atividades de marketing; • as atividades de planejamento de projetos; e • as atividades do projeto informacional de produtos</vt:lpstr>
      <vt:lpstr>4. Metodologias gerais de APOIO ao planejamento de produtos</vt:lpstr>
      <vt:lpstr>4.1 Gestão do conhecimento</vt:lpstr>
      <vt:lpstr>4.1 Gestão do conhecimento </vt:lpstr>
      <vt:lpstr>4.2 Inteligência competitiva</vt:lpstr>
      <vt:lpstr>4.2 Inteligência competitiva</vt:lpstr>
      <vt:lpstr>2. Idéia do produto</vt:lpstr>
      <vt:lpstr>Apresentação do PowerPoint</vt:lpstr>
      <vt:lpstr>3. Processo de planejamento do produto</vt:lpstr>
      <vt:lpstr>Modelo genérico de planejamento de produto (Adaptado de Sidén, Lindstrom e Paul, 2000)</vt:lpstr>
      <vt:lpstr>Modelo genérico de planejamento de produto (Adaptado de Sidén, Lindstrom e Paul, 2000)</vt:lpstr>
      <vt:lpstr>Modelo genérico de planejamento de produto (Adaptado de Sidén, Lindstrom e Paul, 2000)</vt:lpstr>
      <vt:lpstr>Modelo genérico de planejamento de produto (Adaptado de Sidén, Lindstrom e Paul, 2000)</vt:lpstr>
      <vt:lpstr>3. Processo de planejamento do produto</vt:lpstr>
      <vt:lpstr>Apresentação do PowerPoint</vt:lpstr>
      <vt:lpstr>Apresentação do PowerPoint</vt:lpstr>
      <vt:lpstr>4.3 Gestão da Inovação de produtos</vt:lpstr>
      <vt:lpstr>4.3 Gestão da Inovação de produtos</vt:lpstr>
      <vt:lpstr>4.3 Gestão da Inovação de produtos</vt:lpstr>
      <vt:lpstr>4.3 Gerenciamento de inovação</vt:lpstr>
      <vt:lpstr>5. Métodos e Ferramentas de apoio ao planejamento de produtos</vt:lpstr>
      <vt:lpstr>Elementos da Estratégia de Produto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5.2 – Métodos e ferramentas de apoio a gestão da tecnologia de produtos. </vt:lpstr>
      <vt:lpstr>Elementos da Estratégia de Produto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Universidade de Brasília Departamento de Engenharia de Produção Disciplina: Engenharia de Produto</dc:title>
  <dc:creator>Rafael Ernesto Kieckbusch</dc:creator>
  <cp:lastModifiedBy>Andrea Cristina Dos Santos</cp:lastModifiedBy>
  <cp:revision>46</cp:revision>
  <dcterms:created xsi:type="dcterms:W3CDTF">2014-08-31T21:03:40Z</dcterms:created>
  <dcterms:modified xsi:type="dcterms:W3CDTF">2023-09-18T19:11:59Z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