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5"/>
  </p:notesMasterIdLst>
  <p:handoutMasterIdLst>
    <p:handoutMasterId r:id="rId66"/>
  </p:handoutMasterIdLst>
  <p:sldIdLst>
    <p:sldId id="752" r:id="rId5"/>
    <p:sldId id="808" r:id="rId6"/>
    <p:sldId id="749" r:id="rId7"/>
    <p:sldId id="807" r:id="rId8"/>
    <p:sldId id="732" r:id="rId9"/>
    <p:sldId id="733" r:id="rId10"/>
    <p:sldId id="809" r:id="rId11"/>
    <p:sldId id="810" r:id="rId12"/>
    <p:sldId id="811" r:id="rId13"/>
    <p:sldId id="812" r:id="rId14"/>
    <p:sldId id="813" r:id="rId15"/>
    <p:sldId id="814" r:id="rId16"/>
    <p:sldId id="815" r:id="rId17"/>
    <p:sldId id="723" r:id="rId18"/>
    <p:sldId id="734" r:id="rId19"/>
    <p:sldId id="735" r:id="rId20"/>
    <p:sldId id="753" r:id="rId21"/>
    <p:sldId id="738" r:id="rId22"/>
    <p:sldId id="750" r:id="rId23"/>
    <p:sldId id="751" r:id="rId24"/>
    <p:sldId id="739" r:id="rId25"/>
    <p:sldId id="740" r:id="rId26"/>
    <p:sldId id="742" r:id="rId27"/>
    <p:sldId id="743" r:id="rId28"/>
    <p:sldId id="758" r:id="rId29"/>
    <p:sldId id="759" r:id="rId30"/>
    <p:sldId id="760" r:id="rId31"/>
    <p:sldId id="761" r:id="rId32"/>
    <p:sldId id="762" r:id="rId33"/>
    <p:sldId id="763" r:id="rId34"/>
    <p:sldId id="764" r:id="rId35"/>
    <p:sldId id="816" r:id="rId36"/>
    <p:sldId id="817" r:id="rId37"/>
    <p:sldId id="765" r:id="rId38"/>
    <p:sldId id="766" r:id="rId39"/>
    <p:sldId id="767" r:id="rId40"/>
    <p:sldId id="768" r:id="rId41"/>
    <p:sldId id="769" r:id="rId42"/>
    <p:sldId id="770" r:id="rId43"/>
    <p:sldId id="771" r:id="rId44"/>
    <p:sldId id="772" r:id="rId45"/>
    <p:sldId id="773" r:id="rId46"/>
    <p:sldId id="774" r:id="rId47"/>
    <p:sldId id="775" r:id="rId48"/>
    <p:sldId id="776" r:id="rId49"/>
    <p:sldId id="777" r:id="rId50"/>
    <p:sldId id="778" r:id="rId51"/>
    <p:sldId id="779" r:id="rId52"/>
    <p:sldId id="780" r:id="rId53"/>
    <p:sldId id="781" r:id="rId54"/>
    <p:sldId id="782" r:id="rId55"/>
    <p:sldId id="783" r:id="rId56"/>
    <p:sldId id="784" r:id="rId57"/>
    <p:sldId id="785" r:id="rId58"/>
    <p:sldId id="786" r:id="rId59"/>
    <p:sldId id="787" r:id="rId60"/>
    <p:sldId id="788" r:id="rId61"/>
    <p:sldId id="789" r:id="rId62"/>
    <p:sldId id="790" r:id="rId63"/>
    <p:sldId id="791" r:id="rId64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F2673-6FAA-DF4C-BA73-E8294DC4ABC6}" v="45" dt="2024-12-03T19:47:08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7" autoAdjust="0"/>
    <p:restoredTop sz="87231" autoAdjust="0"/>
  </p:normalViewPr>
  <p:slideViewPr>
    <p:cSldViewPr snapToGrid="0" showGuides="1">
      <p:cViewPr varScale="1">
        <p:scale>
          <a:sx n="108" d="100"/>
          <a:sy n="108" d="100"/>
        </p:scale>
        <p:origin x="2016" y="184"/>
      </p:cViewPr>
      <p:guideLst>
        <p:guide orient="horz" pos="21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DE2F2673-6FAA-DF4C-BA73-E8294DC4ABC6}"/>
    <pc:docChg chg="undo custSel addSld delSld modSld">
      <pc:chgData name="Andrea Cristina Dos Santos" userId="c1f965dc-8845-4afc-9e32-8f70830fffd6" providerId="ADAL" clId="{DE2F2673-6FAA-DF4C-BA73-E8294DC4ABC6}" dt="2024-12-03T19:49:51.374" v="469" actId="113"/>
      <pc:docMkLst>
        <pc:docMk/>
      </pc:docMkLst>
      <pc:sldChg chg="modSp mod">
        <pc:chgData name="Andrea Cristina Dos Santos" userId="c1f965dc-8845-4afc-9e32-8f70830fffd6" providerId="ADAL" clId="{DE2F2673-6FAA-DF4C-BA73-E8294DC4ABC6}" dt="2024-12-03T19:20:05.615" v="311" actId="207"/>
        <pc:sldMkLst>
          <pc:docMk/>
          <pc:sldMk cId="0" sldId="723"/>
        </pc:sldMkLst>
        <pc:spChg chg="mod">
          <ac:chgData name="Andrea Cristina Dos Santos" userId="c1f965dc-8845-4afc-9e32-8f70830fffd6" providerId="ADAL" clId="{DE2F2673-6FAA-DF4C-BA73-E8294DC4ABC6}" dt="2024-12-03T19:20:05.615" v="311" actId="207"/>
          <ac:spMkLst>
            <pc:docMk/>
            <pc:sldMk cId="0" sldId="723"/>
            <ac:spMk id="25602" creationId="{0201F3F3-BF99-459A-EC5C-911857866F71}"/>
          </ac:spMkLst>
        </pc:spChg>
      </pc:sldChg>
      <pc:sldChg chg="modSp mod">
        <pc:chgData name="Andrea Cristina Dos Santos" userId="c1f965dc-8845-4afc-9e32-8f70830fffd6" providerId="ADAL" clId="{DE2F2673-6FAA-DF4C-BA73-E8294DC4ABC6}" dt="2024-12-03T19:46:53.371" v="463" actId="20577"/>
        <pc:sldMkLst>
          <pc:docMk/>
          <pc:sldMk cId="0" sldId="733"/>
        </pc:sldMkLst>
        <pc:spChg chg="mod">
          <ac:chgData name="Andrea Cristina Dos Santos" userId="c1f965dc-8845-4afc-9e32-8f70830fffd6" providerId="ADAL" clId="{DE2F2673-6FAA-DF4C-BA73-E8294DC4ABC6}" dt="2024-12-03T19:45:40.583" v="395" actId="14100"/>
          <ac:spMkLst>
            <pc:docMk/>
            <pc:sldMk cId="0" sldId="733"/>
            <ac:spMk id="23556" creationId="{6B6A4191-E403-386D-B6A6-1CCC2A2E4C7D}"/>
          </ac:spMkLst>
        </pc:spChg>
        <pc:spChg chg="mod">
          <ac:chgData name="Andrea Cristina Dos Santos" userId="c1f965dc-8845-4afc-9e32-8f70830fffd6" providerId="ADAL" clId="{DE2F2673-6FAA-DF4C-BA73-E8294DC4ABC6}" dt="2024-12-03T19:46:53.371" v="463" actId="20577"/>
          <ac:spMkLst>
            <pc:docMk/>
            <pc:sldMk cId="0" sldId="733"/>
            <ac:spMk id="23557" creationId="{09FA0E88-86F2-DBC9-EA67-1CD1FFC38DF4}"/>
          </ac:spMkLst>
        </pc:spChg>
      </pc:sldChg>
      <pc:sldChg chg="addSp modSp mod">
        <pc:chgData name="Andrea Cristina Dos Santos" userId="c1f965dc-8845-4afc-9e32-8f70830fffd6" providerId="ADAL" clId="{DE2F2673-6FAA-DF4C-BA73-E8294DC4ABC6}" dt="2024-12-03T19:20:23.763" v="322" actId="20577"/>
        <pc:sldMkLst>
          <pc:docMk/>
          <pc:sldMk cId="0" sldId="734"/>
        </pc:sldMkLst>
        <pc:spChg chg="add mod">
          <ac:chgData name="Andrea Cristina Dos Santos" userId="c1f965dc-8845-4afc-9e32-8f70830fffd6" providerId="ADAL" clId="{DE2F2673-6FAA-DF4C-BA73-E8294DC4ABC6}" dt="2024-12-03T19:20:23.763" v="322" actId="20577"/>
          <ac:spMkLst>
            <pc:docMk/>
            <pc:sldMk cId="0" sldId="734"/>
            <ac:spMk id="5" creationId="{1CE41AB7-B033-6E8D-D520-205DFD874871}"/>
          </ac:spMkLst>
        </pc:spChg>
        <pc:spChg chg="mod">
          <ac:chgData name="Andrea Cristina Dos Santos" userId="c1f965dc-8845-4afc-9e32-8f70830fffd6" providerId="ADAL" clId="{DE2F2673-6FAA-DF4C-BA73-E8294DC4ABC6}" dt="2024-12-03T19:19:10.818" v="292" actId="255"/>
          <ac:spMkLst>
            <pc:docMk/>
            <pc:sldMk cId="0" sldId="734"/>
            <ac:spMk id="26625" creationId="{0B06DAB7-2766-5612-224D-BD9BC37831F4}"/>
          </ac:spMkLst>
        </pc:spChg>
        <pc:spChg chg="mod">
          <ac:chgData name="Andrea Cristina Dos Santos" userId="c1f965dc-8845-4afc-9e32-8f70830fffd6" providerId="ADAL" clId="{DE2F2673-6FAA-DF4C-BA73-E8294DC4ABC6}" dt="2024-12-03T19:19:03.178" v="290" actId="1076"/>
          <ac:spMkLst>
            <pc:docMk/>
            <pc:sldMk cId="0" sldId="734"/>
            <ac:spMk id="223245" creationId="{2766367C-97DC-DE97-6647-5061A2FEC06D}"/>
          </ac:spMkLst>
        </pc:spChg>
      </pc:sldChg>
      <pc:sldChg chg="addSp delSp modSp mod">
        <pc:chgData name="Andrea Cristina Dos Santos" userId="c1f965dc-8845-4afc-9e32-8f70830fffd6" providerId="ADAL" clId="{DE2F2673-6FAA-DF4C-BA73-E8294DC4ABC6}" dt="2024-12-03T19:21:11.317" v="344" actId="20577"/>
        <pc:sldMkLst>
          <pc:docMk/>
          <pc:sldMk cId="0" sldId="735"/>
        </pc:sldMkLst>
        <pc:spChg chg="add del mod">
          <ac:chgData name="Andrea Cristina Dos Santos" userId="c1f965dc-8845-4afc-9e32-8f70830fffd6" providerId="ADAL" clId="{DE2F2673-6FAA-DF4C-BA73-E8294DC4ABC6}" dt="2024-12-03T19:20:47.897" v="327" actId="478"/>
          <ac:spMkLst>
            <pc:docMk/>
            <pc:sldMk cId="0" sldId="735"/>
            <ac:spMk id="3" creationId="{C7016AFE-BA68-D016-826F-F30DDC4979C9}"/>
          </ac:spMkLst>
        </pc:spChg>
        <pc:spChg chg="add mod">
          <ac:chgData name="Andrea Cristina Dos Santos" userId="c1f965dc-8845-4afc-9e32-8f70830fffd6" providerId="ADAL" clId="{DE2F2673-6FAA-DF4C-BA73-E8294DC4ABC6}" dt="2024-12-03T19:20:43.784" v="326"/>
          <ac:spMkLst>
            <pc:docMk/>
            <pc:sldMk cId="0" sldId="735"/>
            <ac:spMk id="4" creationId="{36BD2868-3870-8D7B-CC8F-2BD24CB48592}"/>
          </ac:spMkLst>
        </pc:spChg>
        <pc:spChg chg="del mod">
          <ac:chgData name="Andrea Cristina Dos Santos" userId="c1f965dc-8845-4afc-9e32-8f70830fffd6" providerId="ADAL" clId="{DE2F2673-6FAA-DF4C-BA73-E8294DC4ABC6}" dt="2024-12-03T19:20:36.633" v="325" actId="478"/>
          <ac:spMkLst>
            <pc:docMk/>
            <pc:sldMk cId="0" sldId="735"/>
            <ac:spMk id="28673" creationId="{0047E8B0-26B4-A812-9B71-C9914E28B416}"/>
          </ac:spMkLst>
        </pc:spChg>
        <pc:spChg chg="mod">
          <ac:chgData name="Andrea Cristina Dos Santos" userId="c1f965dc-8845-4afc-9e32-8f70830fffd6" providerId="ADAL" clId="{DE2F2673-6FAA-DF4C-BA73-E8294DC4ABC6}" dt="2024-12-03T19:21:11.317" v="344" actId="20577"/>
          <ac:spMkLst>
            <pc:docMk/>
            <pc:sldMk cId="0" sldId="735"/>
            <ac:spMk id="28700" creationId="{13BDAC78-4C76-ED98-7595-CCF72928C156}"/>
          </ac:spMkLst>
        </pc:spChg>
        <pc:grpChg chg="mod">
          <ac:chgData name="Andrea Cristina Dos Santos" userId="c1f965dc-8845-4afc-9e32-8f70830fffd6" providerId="ADAL" clId="{DE2F2673-6FAA-DF4C-BA73-E8294DC4ABC6}" dt="2024-12-03T19:21:08.695" v="343" actId="14100"/>
          <ac:grpSpMkLst>
            <pc:docMk/>
            <pc:sldMk cId="0" sldId="735"/>
            <ac:grpSpMk id="13" creationId="{2083AFAD-EB31-0B88-F169-79208A4F349C}"/>
          </ac:grpSpMkLst>
        </pc:grpChg>
      </pc:sldChg>
      <pc:sldChg chg="modSp mod">
        <pc:chgData name="Andrea Cristina Dos Santos" userId="c1f965dc-8845-4afc-9e32-8f70830fffd6" providerId="ADAL" clId="{DE2F2673-6FAA-DF4C-BA73-E8294DC4ABC6}" dt="2024-12-03T19:45:15.245" v="390" actId="207"/>
        <pc:sldMkLst>
          <pc:docMk/>
          <pc:sldMk cId="0" sldId="749"/>
        </pc:sldMkLst>
        <pc:spChg chg="mod">
          <ac:chgData name="Andrea Cristina Dos Santos" userId="c1f965dc-8845-4afc-9e32-8f70830fffd6" providerId="ADAL" clId="{DE2F2673-6FAA-DF4C-BA73-E8294DC4ABC6}" dt="2024-12-03T19:45:15.245" v="390" actId="207"/>
          <ac:spMkLst>
            <pc:docMk/>
            <pc:sldMk cId="0" sldId="749"/>
            <ac:spMk id="19457" creationId="{7AC53E8D-D0DB-588F-754D-A8A4BDF994E4}"/>
          </ac:spMkLst>
        </pc:spChg>
      </pc:sldChg>
      <pc:sldChg chg="modSp mod">
        <pc:chgData name="Andrea Cristina Dos Santos" userId="c1f965dc-8845-4afc-9e32-8f70830fffd6" providerId="ADAL" clId="{DE2F2673-6FAA-DF4C-BA73-E8294DC4ABC6}" dt="2024-12-03T19:22:01.490" v="345" actId="20577"/>
        <pc:sldMkLst>
          <pc:docMk/>
          <pc:sldMk cId="0" sldId="758"/>
        </pc:sldMkLst>
        <pc:spChg chg="mod">
          <ac:chgData name="Andrea Cristina Dos Santos" userId="c1f965dc-8845-4afc-9e32-8f70830fffd6" providerId="ADAL" clId="{DE2F2673-6FAA-DF4C-BA73-E8294DC4ABC6}" dt="2024-12-03T19:22:01.490" v="345" actId="20577"/>
          <ac:spMkLst>
            <pc:docMk/>
            <pc:sldMk cId="0" sldId="758"/>
            <ac:spMk id="44033" creationId="{DFC70FEB-C540-64F1-0C1E-89F4B5C2411D}"/>
          </ac:spMkLst>
        </pc:spChg>
      </pc:sldChg>
      <pc:sldChg chg="modSp">
        <pc:chgData name="Andrea Cristina Dos Santos" userId="c1f965dc-8845-4afc-9e32-8f70830fffd6" providerId="ADAL" clId="{DE2F2673-6FAA-DF4C-BA73-E8294DC4ABC6}" dt="2024-12-03T19:30:03.736" v="347" actId="14100"/>
        <pc:sldMkLst>
          <pc:docMk/>
          <pc:sldMk cId="0" sldId="764"/>
        </pc:sldMkLst>
        <pc:picChg chg="mod">
          <ac:chgData name="Andrea Cristina Dos Santos" userId="c1f965dc-8845-4afc-9e32-8f70830fffd6" providerId="ADAL" clId="{DE2F2673-6FAA-DF4C-BA73-E8294DC4ABC6}" dt="2024-12-03T19:30:03.736" v="347" actId="14100"/>
          <ac:picMkLst>
            <pc:docMk/>
            <pc:sldMk cId="0" sldId="764"/>
            <ac:picMk id="50178" creationId="{216892A1-6157-9175-45D6-2C170854850D}"/>
          </ac:picMkLst>
        </pc:picChg>
      </pc:sldChg>
      <pc:sldChg chg="new del">
        <pc:chgData name="Andrea Cristina Dos Santos" userId="c1f965dc-8845-4afc-9e32-8f70830fffd6" providerId="ADAL" clId="{DE2F2673-6FAA-DF4C-BA73-E8294DC4ABC6}" dt="2024-12-03T18:51:45.162" v="1" actId="680"/>
        <pc:sldMkLst>
          <pc:docMk/>
          <pc:sldMk cId="2533315635" sldId="808"/>
        </pc:sldMkLst>
      </pc:sldChg>
      <pc:sldChg chg="addSp modSp new mod modAnim">
        <pc:chgData name="Andrea Cristina Dos Santos" userId="c1f965dc-8845-4afc-9e32-8f70830fffd6" providerId="ADAL" clId="{DE2F2673-6FAA-DF4C-BA73-E8294DC4ABC6}" dt="2024-12-03T18:52:52.070" v="4" actId="1076"/>
        <pc:sldMkLst>
          <pc:docMk/>
          <pc:sldMk cId="3413483173" sldId="808"/>
        </pc:sldMkLst>
        <pc:spChg chg="add mod">
          <ac:chgData name="Andrea Cristina Dos Santos" userId="c1f965dc-8845-4afc-9e32-8f70830fffd6" providerId="ADAL" clId="{DE2F2673-6FAA-DF4C-BA73-E8294DC4ABC6}" dt="2024-12-03T18:52:40.369" v="3"/>
          <ac:spMkLst>
            <pc:docMk/>
            <pc:sldMk cId="3413483173" sldId="808"/>
            <ac:spMk id="3" creationId="{A613F7D3-6C3E-B743-0BBD-20FFB3C5C417}"/>
          </ac:spMkLst>
        </pc:spChg>
        <pc:spChg chg="add mod">
          <ac:chgData name="Andrea Cristina Dos Santos" userId="c1f965dc-8845-4afc-9e32-8f70830fffd6" providerId="ADAL" clId="{DE2F2673-6FAA-DF4C-BA73-E8294DC4ABC6}" dt="2024-12-03T18:52:40.369" v="3"/>
          <ac:spMkLst>
            <pc:docMk/>
            <pc:sldMk cId="3413483173" sldId="808"/>
            <ac:spMk id="4" creationId="{0C538552-F8F4-3346-EE7B-28A4C90C763C}"/>
          </ac:spMkLst>
        </pc:spChg>
        <pc:spChg chg="add mod">
          <ac:chgData name="Andrea Cristina Dos Santos" userId="c1f965dc-8845-4afc-9e32-8f70830fffd6" providerId="ADAL" clId="{DE2F2673-6FAA-DF4C-BA73-E8294DC4ABC6}" dt="2024-12-03T18:52:40.369" v="3"/>
          <ac:spMkLst>
            <pc:docMk/>
            <pc:sldMk cId="3413483173" sldId="808"/>
            <ac:spMk id="5" creationId="{F7D6EAF1-4792-84E3-66F3-193DB8B91316}"/>
          </ac:spMkLst>
        </pc:spChg>
        <pc:spChg chg="add mod">
          <ac:chgData name="Andrea Cristina Dos Santos" userId="c1f965dc-8845-4afc-9e32-8f70830fffd6" providerId="ADAL" clId="{DE2F2673-6FAA-DF4C-BA73-E8294DC4ABC6}" dt="2024-12-03T18:52:52.070" v="4" actId="1076"/>
          <ac:spMkLst>
            <pc:docMk/>
            <pc:sldMk cId="3413483173" sldId="808"/>
            <ac:spMk id="6" creationId="{89470127-7D1E-3E0E-1335-A2ABE9A75871}"/>
          </ac:spMkLst>
        </pc:spChg>
        <pc:picChg chg="add mod">
          <ac:chgData name="Andrea Cristina Dos Santos" userId="c1f965dc-8845-4afc-9e32-8f70830fffd6" providerId="ADAL" clId="{DE2F2673-6FAA-DF4C-BA73-E8294DC4ABC6}" dt="2024-12-03T18:52:40.369" v="3"/>
          <ac:picMkLst>
            <pc:docMk/>
            <pc:sldMk cId="3413483173" sldId="808"/>
            <ac:picMk id="2" creationId="{50816F06-9ECC-5926-BCE3-FD67661E6FB6}"/>
          </ac:picMkLst>
        </pc:picChg>
      </pc:sldChg>
      <pc:sldChg chg="addSp delSp modSp new mod">
        <pc:chgData name="Andrea Cristina Dos Santos" userId="c1f965dc-8845-4afc-9e32-8f70830fffd6" providerId="ADAL" clId="{DE2F2673-6FAA-DF4C-BA73-E8294DC4ABC6}" dt="2024-12-03T19:47:12.821" v="467" actId="113"/>
        <pc:sldMkLst>
          <pc:docMk/>
          <pc:sldMk cId="2678834142" sldId="809"/>
        </pc:sldMkLst>
        <pc:spChg chg="mod">
          <ac:chgData name="Andrea Cristina Dos Santos" userId="c1f965dc-8845-4afc-9e32-8f70830fffd6" providerId="ADAL" clId="{DE2F2673-6FAA-DF4C-BA73-E8294DC4ABC6}" dt="2024-12-03T19:47:12.821" v="467" actId="113"/>
          <ac:spMkLst>
            <pc:docMk/>
            <pc:sldMk cId="2678834142" sldId="809"/>
            <ac:spMk id="2" creationId="{8A15B253-774E-07C1-C85D-EE7ED682D7B5}"/>
          </ac:spMkLst>
        </pc:spChg>
        <pc:spChg chg="del">
          <ac:chgData name="Andrea Cristina Dos Santos" userId="c1f965dc-8845-4afc-9e32-8f70830fffd6" providerId="ADAL" clId="{DE2F2673-6FAA-DF4C-BA73-E8294DC4ABC6}" dt="2024-12-03T18:53:48.609" v="30" actId="478"/>
          <ac:spMkLst>
            <pc:docMk/>
            <pc:sldMk cId="2678834142" sldId="809"/>
            <ac:spMk id="3" creationId="{D6CA4EF4-86E8-7DBF-79F3-A2B04B312D0D}"/>
          </ac:spMkLst>
        </pc:spChg>
        <pc:spChg chg="del">
          <ac:chgData name="Andrea Cristina Dos Santos" userId="c1f965dc-8845-4afc-9e32-8f70830fffd6" providerId="ADAL" clId="{DE2F2673-6FAA-DF4C-BA73-E8294DC4ABC6}" dt="2024-12-03T18:53:51.086" v="31" actId="478"/>
          <ac:spMkLst>
            <pc:docMk/>
            <pc:sldMk cId="2678834142" sldId="809"/>
            <ac:spMk id="4" creationId="{8BAE2FF1-66FF-5A47-957D-17D38DC5EAEC}"/>
          </ac:spMkLst>
        </pc:spChg>
        <pc:spChg chg="add mod">
          <ac:chgData name="Andrea Cristina Dos Santos" userId="c1f965dc-8845-4afc-9e32-8f70830fffd6" providerId="ADAL" clId="{DE2F2673-6FAA-DF4C-BA73-E8294DC4ABC6}" dt="2024-12-03T19:01:50.723" v="56" actId="1076"/>
          <ac:spMkLst>
            <pc:docMk/>
            <pc:sldMk cId="2678834142" sldId="809"/>
            <ac:spMk id="6" creationId="{5DA92BB3-8804-0477-B9B2-88CA7A8DBDF3}"/>
          </ac:spMkLst>
        </pc:spChg>
        <pc:spChg chg="add mod">
          <ac:chgData name="Andrea Cristina Dos Santos" userId="c1f965dc-8845-4afc-9e32-8f70830fffd6" providerId="ADAL" clId="{DE2F2673-6FAA-DF4C-BA73-E8294DC4ABC6}" dt="2024-12-03T19:01:54.110" v="57" actId="1076"/>
          <ac:spMkLst>
            <pc:docMk/>
            <pc:sldMk cId="2678834142" sldId="809"/>
            <ac:spMk id="8" creationId="{93B3CD2E-827D-4BFB-D4D6-63A063CF60B3}"/>
          </ac:spMkLst>
        </pc:spChg>
      </pc:sldChg>
      <pc:sldChg chg="addSp delSp modSp new mod">
        <pc:chgData name="Andrea Cristina Dos Santos" userId="c1f965dc-8845-4afc-9e32-8f70830fffd6" providerId="ADAL" clId="{DE2F2673-6FAA-DF4C-BA73-E8294DC4ABC6}" dt="2024-12-03T19:49:51.374" v="469" actId="113"/>
        <pc:sldMkLst>
          <pc:docMk/>
          <pc:sldMk cId="4214073932" sldId="810"/>
        </pc:sldMkLst>
        <pc:spChg chg="mod">
          <ac:chgData name="Andrea Cristina Dos Santos" userId="c1f965dc-8845-4afc-9e32-8f70830fffd6" providerId="ADAL" clId="{DE2F2673-6FAA-DF4C-BA73-E8294DC4ABC6}" dt="2024-12-03T19:49:51.374" v="469" actId="113"/>
          <ac:spMkLst>
            <pc:docMk/>
            <pc:sldMk cId="4214073932" sldId="810"/>
            <ac:spMk id="2" creationId="{5EDE1527-F950-90F1-A79C-19D620D480FB}"/>
          </ac:spMkLst>
        </pc:spChg>
        <pc:spChg chg="del mod">
          <ac:chgData name="Andrea Cristina Dos Santos" userId="c1f965dc-8845-4afc-9e32-8f70830fffd6" providerId="ADAL" clId="{DE2F2673-6FAA-DF4C-BA73-E8294DC4ABC6}" dt="2024-12-03T19:02:54.744" v="81" actId="478"/>
          <ac:spMkLst>
            <pc:docMk/>
            <pc:sldMk cId="4214073932" sldId="810"/>
            <ac:spMk id="3" creationId="{14E4E353-291C-CBF0-47C4-7711A8F74F7D}"/>
          </ac:spMkLst>
        </pc:spChg>
        <pc:spChg chg="del">
          <ac:chgData name="Andrea Cristina Dos Santos" userId="c1f965dc-8845-4afc-9e32-8f70830fffd6" providerId="ADAL" clId="{DE2F2673-6FAA-DF4C-BA73-E8294DC4ABC6}" dt="2024-12-03T19:02:56.888" v="82" actId="478"/>
          <ac:spMkLst>
            <pc:docMk/>
            <pc:sldMk cId="4214073932" sldId="810"/>
            <ac:spMk id="4" creationId="{D3B2779D-8E2A-C7E2-2145-1C594CD6E0A7}"/>
          </ac:spMkLst>
        </pc:spChg>
        <pc:spChg chg="add mod">
          <ac:chgData name="Andrea Cristina Dos Santos" userId="c1f965dc-8845-4afc-9e32-8f70830fffd6" providerId="ADAL" clId="{DE2F2673-6FAA-DF4C-BA73-E8294DC4ABC6}" dt="2024-12-03T19:04:59.644" v="102" actId="1076"/>
          <ac:spMkLst>
            <pc:docMk/>
            <pc:sldMk cId="4214073932" sldId="810"/>
            <ac:spMk id="6" creationId="{BF594794-2C0F-F69C-5A51-A59F27A3A324}"/>
          </ac:spMkLst>
        </pc:spChg>
      </pc:sldChg>
      <pc:sldChg chg="addSp delSp modSp new mod">
        <pc:chgData name="Andrea Cristina Dos Santos" userId="c1f965dc-8845-4afc-9e32-8f70830fffd6" providerId="ADAL" clId="{DE2F2673-6FAA-DF4C-BA73-E8294DC4ABC6}" dt="2024-12-03T19:06:07.855" v="128" actId="20577"/>
        <pc:sldMkLst>
          <pc:docMk/>
          <pc:sldMk cId="2549217213" sldId="811"/>
        </pc:sldMkLst>
        <pc:spChg chg="del">
          <ac:chgData name="Andrea Cristina Dos Santos" userId="c1f965dc-8845-4afc-9e32-8f70830fffd6" providerId="ADAL" clId="{DE2F2673-6FAA-DF4C-BA73-E8294DC4ABC6}" dt="2024-12-03T19:05:11.730" v="105" actId="478"/>
          <ac:spMkLst>
            <pc:docMk/>
            <pc:sldMk cId="2549217213" sldId="811"/>
            <ac:spMk id="2" creationId="{118FF67A-86AF-11D3-8D92-9A5F2FB031CD}"/>
          </ac:spMkLst>
        </pc:spChg>
        <pc:spChg chg="del">
          <ac:chgData name="Andrea Cristina Dos Santos" userId="c1f965dc-8845-4afc-9e32-8f70830fffd6" providerId="ADAL" clId="{DE2F2673-6FAA-DF4C-BA73-E8294DC4ABC6}" dt="2024-12-03T19:05:04.980" v="103" actId="478"/>
          <ac:spMkLst>
            <pc:docMk/>
            <pc:sldMk cId="2549217213" sldId="811"/>
            <ac:spMk id="3" creationId="{F06DA3FE-9D0E-AAD0-04A1-D3E7D5F23168}"/>
          </ac:spMkLst>
        </pc:spChg>
        <pc:spChg chg="del">
          <ac:chgData name="Andrea Cristina Dos Santos" userId="c1f965dc-8845-4afc-9e32-8f70830fffd6" providerId="ADAL" clId="{DE2F2673-6FAA-DF4C-BA73-E8294DC4ABC6}" dt="2024-12-03T19:05:06.928" v="104" actId="478"/>
          <ac:spMkLst>
            <pc:docMk/>
            <pc:sldMk cId="2549217213" sldId="811"/>
            <ac:spMk id="4" creationId="{D7ABAB9D-E597-63EB-F209-DEBBA66AE10E}"/>
          </ac:spMkLst>
        </pc:spChg>
        <pc:spChg chg="add mod">
          <ac:chgData name="Andrea Cristina Dos Santos" userId="c1f965dc-8845-4afc-9e32-8f70830fffd6" providerId="ADAL" clId="{DE2F2673-6FAA-DF4C-BA73-E8294DC4ABC6}" dt="2024-12-03T19:06:07.855" v="128" actId="20577"/>
          <ac:spMkLst>
            <pc:docMk/>
            <pc:sldMk cId="2549217213" sldId="811"/>
            <ac:spMk id="6" creationId="{491F3613-1214-007A-2D47-5A2F455AC99E}"/>
          </ac:spMkLst>
        </pc:spChg>
        <pc:spChg chg="add mod">
          <ac:chgData name="Andrea Cristina Dos Santos" userId="c1f965dc-8845-4afc-9e32-8f70830fffd6" providerId="ADAL" clId="{DE2F2673-6FAA-DF4C-BA73-E8294DC4ABC6}" dt="2024-12-03T19:06:05.098" v="127" actId="20577"/>
          <ac:spMkLst>
            <pc:docMk/>
            <pc:sldMk cId="2549217213" sldId="811"/>
            <ac:spMk id="8" creationId="{4E7B1B4F-A68A-C59E-AE1B-DFEAD388FCFA}"/>
          </ac:spMkLst>
        </pc:spChg>
      </pc:sldChg>
      <pc:sldChg chg="addSp delSp modSp new mod">
        <pc:chgData name="Andrea Cristina Dos Santos" userId="c1f965dc-8845-4afc-9e32-8f70830fffd6" providerId="ADAL" clId="{DE2F2673-6FAA-DF4C-BA73-E8294DC4ABC6}" dt="2024-12-03T19:08:03.706" v="146" actId="207"/>
        <pc:sldMkLst>
          <pc:docMk/>
          <pc:sldMk cId="1715454676" sldId="812"/>
        </pc:sldMkLst>
        <pc:spChg chg="del">
          <ac:chgData name="Andrea Cristina Dos Santos" userId="c1f965dc-8845-4afc-9e32-8f70830fffd6" providerId="ADAL" clId="{DE2F2673-6FAA-DF4C-BA73-E8294DC4ABC6}" dt="2024-12-03T19:07:06.733" v="131" actId="478"/>
          <ac:spMkLst>
            <pc:docMk/>
            <pc:sldMk cId="1715454676" sldId="812"/>
            <ac:spMk id="3" creationId="{DA01A711-0967-33E3-1C41-02620B3B023D}"/>
          </ac:spMkLst>
        </pc:spChg>
        <pc:spChg chg="del">
          <ac:chgData name="Andrea Cristina Dos Santos" userId="c1f965dc-8845-4afc-9e32-8f70830fffd6" providerId="ADAL" clId="{DE2F2673-6FAA-DF4C-BA73-E8294DC4ABC6}" dt="2024-12-03T19:07:04.082" v="130" actId="478"/>
          <ac:spMkLst>
            <pc:docMk/>
            <pc:sldMk cId="1715454676" sldId="812"/>
            <ac:spMk id="4" creationId="{10B848C4-174D-91E2-D2F6-CD605DFCE0CA}"/>
          </ac:spMkLst>
        </pc:spChg>
        <pc:spChg chg="add mod">
          <ac:chgData name="Andrea Cristina Dos Santos" userId="c1f965dc-8845-4afc-9e32-8f70830fffd6" providerId="ADAL" clId="{DE2F2673-6FAA-DF4C-BA73-E8294DC4ABC6}" dt="2024-12-03T19:08:03.706" v="146" actId="207"/>
          <ac:spMkLst>
            <pc:docMk/>
            <pc:sldMk cId="1715454676" sldId="812"/>
            <ac:spMk id="6" creationId="{BA16240C-6C4C-16D6-2388-7019564779E3}"/>
          </ac:spMkLst>
        </pc:spChg>
      </pc:sldChg>
      <pc:sldChg chg="addSp delSp modSp new mod modClrScheme chgLayout">
        <pc:chgData name="Andrea Cristina Dos Santos" userId="c1f965dc-8845-4afc-9e32-8f70830fffd6" providerId="ADAL" clId="{DE2F2673-6FAA-DF4C-BA73-E8294DC4ABC6}" dt="2024-12-03T19:13:54.285" v="166" actId="1076"/>
        <pc:sldMkLst>
          <pc:docMk/>
          <pc:sldMk cId="447249451" sldId="813"/>
        </pc:sldMkLst>
        <pc:spChg chg="del">
          <ac:chgData name="Andrea Cristina Dos Santos" userId="c1f965dc-8845-4afc-9e32-8f70830fffd6" providerId="ADAL" clId="{DE2F2673-6FAA-DF4C-BA73-E8294DC4ABC6}" dt="2024-12-03T19:12:46.937" v="148" actId="700"/>
          <ac:spMkLst>
            <pc:docMk/>
            <pc:sldMk cId="447249451" sldId="813"/>
            <ac:spMk id="2" creationId="{351AF56F-DB23-7156-1C76-A1F9EC24F7F7}"/>
          </ac:spMkLst>
        </pc:spChg>
        <pc:spChg chg="del">
          <ac:chgData name="Andrea Cristina Dos Santos" userId="c1f965dc-8845-4afc-9e32-8f70830fffd6" providerId="ADAL" clId="{DE2F2673-6FAA-DF4C-BA73-E8294DC4ABC6}" dt="2024-12-03T19:12:46.937" v="148" actId="700"/>
          <ac:spMkLst>
            <pc:docMk/>
            <pc:sldMk cId="447249451" sldId="813"/>
            <ac:spMk id="3" creationId="{DCE466E9-9F07-E258-5978-91B6792D6C94}"/>
          </ac:spMkLst>
        </pc:spChg>
        <pc:spChg chg="del">
          <ac:chgData name="Andrea Cristina Dos Santos" userId="c1f965dc-8845-4afc-9e32-8f70830fffd6" providerId="ADAL" clId="{DE2F2673-6FAA-DF4C-BA73-E8294DC4ABC6}" dt="2024-12-03T19:12:46.937" v="148" actId="700"/>
          <ac:spMkLst>
            <pc:docMk/>
            <pc:sldMk cId="447249451" sldId="813"/>
            <ac:spMk id="4" creationId="{ABA4EC91-B22C-6805-3CA4-4C1619594496}"/>
          </ac:spMkLst>
        </pc:spChg>
        <pc:spChg chg="add mod">
          <ac:chgData name="Andrea Cristina Dos Santos" userId="c1f965dc-8845-4afc-9e32-8f70830fffd6" providerId="ADAL" clId="{DE2F2673-6FAA-DF4C-BA73-E8294DC4ABC6}" dt="2024-12-03T19:13:54.285" v="166" actId="1076"/>
          <ac:spMkLst>
            <pc:docMk/>
            <pc:sldMk cId="447249451" sldId="813"/>
            <ac:spMk id="6" creationId="{CA614DB2-14FA-9503-D294-4DC956929D0B}"/>
          </ac:spMkLst>
        </pc:spChg>
        <pc:spChg chg="add mod">
          <ac:chgData name="Andrea Cristina Dos Santos" userId="c1f965dc-8845-4afc-9e32-8f70830fffd6" providerId="ADAL" clId="{DE2F2673-6FAA-DF4C-BA73-E8294DC4ABC6}" dt="2024-12-03T19:13:40.403" v="162" actId="207"/>
          <ac:spMkLst>
            <pc:docMk/>
            <pc:sldMk cId="447249451" sldId="813"/>
            <ac:spMk id="8" creationId="{13FA3F62-2669-CE4A-3094-B0A3F5F20376}"/>
          </ac:spMkLst>
        </pc:spChg>
      </pc:sldChg>
      <pc:sldChg chg="addSp modSp new mod">
        <pc:chgData name="Andrea Cristina Dos Santos" userId="c1f965dc-8845-4afc-9e32-8f70830fffd6" providerId="ADAL" clId="{DE2F2673-6FAA-DF4C-BA73-E8294DC4ABC6}" dt="2024-12-03T19:16:26.434" v="190" actId="1076"/>
        <pc:sldMkLst>
          <pc:docMk/>
          <pc:sldMk cId="1248587737" sldId="814"/>
        </pc:sldMkLst>
        <pc:spChg chg="add mod">
          <ac:chgData name="Andrea Cristina Dos Santos" userId="c1f965dc-8845-4afc-9e32-8f70830fffd6" providerId="ADAL" clId="{DE2F2673-6FAA-DF4C-BA73-E8294DC4ABC6}" dt="2024-12-03T19:16:26.434" v="190" actId="1076"/>
          <ac:spMkLst>
            <pc:docMk/>
            <pc:sldMk cId="1248587737" sldId="814"/>
            <ac:spMk id="3" creationId="{5EBAC315-9EC5-B689-9197-9531C13AA8CA}"/>
          </ac:spMkLst>
        </pc:spChg>
        <pc:spChg chg="add mod">
          <ac:chgData name="Andrea Cristina Dos Santos" userId="c1f965dc-8845-4afc-9e32-8f70830fffd6" providerId="ADAL" clId="{DE2F2673-6FAA-DF4C-BA73-E8294DC4ABC6}" dt="2024-12-03T19:16:22.896" v="189" actId="20577"/>
          <ac:spMkLst>
            <pc:docMk/>
            <pc:sldMk cId="1248587737" sldId="814"/>
            <ac:spMk id="4" creationId="{6B29D9AD-2836-87C1-766B-1360D4FED19A}"/>
          </ac:spMkLst>
        </pc:spChg>
      </pc:sldChg>
      <pc:sldChg chg="addSp delSp modSp add mod">
        <pc:chgData name="Andrea Cristina Dos Santos" userId="c1f965dc-8845-4afc-9e32-8f70830fffd6" providerId="ADAL" clId="{DE2F2673-6FAA-DF4C-BA73-E8294DC4ABC6}" dt="2024-12-03T19:18:23.916" v="287"/>
        <pc:sldMkLst>
          <pc:docMk/>
          <pc:sldMk cId="2162785594" sldId="815"/>
        </pc:sldMkLst>
        <pc:spChg chg="del mod">
          <ac:chgData name="Andrea Cristina Dos Santos" userId="c1f965dc-8845-4afc-9e32-8f70830fffd6" providerId="ADAL" clId="{DE2F2673-6FAA-DF4C-BA73-E8294DC4ABC6}" dt="2024-12-03T19:17:05.780" v="194" actId="478"/>
          <ac:spMkLst>
            <pc:docMk/>
            <pc:sldMk cId="2162785594" sldId="815"/>
            <ac:spMk id="6" creationId="{C037C1B0-600B-1DE6-8847-CF544C13FE68}"/>
          </ac:spMkLst>
        </pc:spChg>
        <pc:spChg chg="add mod">
          <ac:chgData name="Andrea Cristina Dos Santos" userId="c1f965dc-8845-4afc-9e32-8f70830fffd6" providerId="ADAL" clId="{DE2F2673-6FAA-DF4C-BA73-E8294DC4ABC6}" dt="2024-12-03T19:18:23.916" v="287"/>
          <ac:spMkLst>
            <pc:docMk/>
            <pc:sldMk cId="2162785594" sldId="815"/>
            <ac:spMk id="12" creationId="{8800CBBC-3064-0BBE-772B-D85C7C9D03CD}"/>
          </ac:spMkLst>
        </pc:spChg>
        <pc:cxnChg chg="add mod">
          <ac:chgData name="Andrea Cristina Dos Santos" userId="c1f965dc-8845-4afc-9e32-8f70830fffd6" providerId="ADAL" clId="{DE2F2673-6FAA-DF4C-BA73-E8294DC4ABC6}" dt="2024-12-03T19:18:18.774" v="285" actId="14100"/>
          <ac:cxnSpMkLst>
            <pc:docMk/>
            <pc:sldMk cId="2162785594" sldId="815"/>
            <ac:cxnSpMk id="8" creationId="{B8992FEC-9CC4-D665-1B89-B51FBD72596A}"/>
          </ac:cxnSpMkLst>
        </pc:cxnChg>
      </pc:sldChg>
      <pc:sldChg chg="addSp modSp new mod">
        <pc:chgData name="Andrea Cristina Dos Santos" userId="c1f965dc-8845-4afc-9e32-8f70830fffd6" providerId="ADAL" clId="{DE2F2673-6FAA-DF4C-BA73-E8294DC4ABC6}" dt="2024-12-03T19:33:23.810" v="367" actId="14100"/>
        <pc:sldMkLst>
          <pc:docMk/>
          <pc:sldMk cId="1053269267" sldId="816"/>
        </pc:sldMkLst>
        <pc:spChg chg="add mod">
          <ac:chgData name="Andrea Cristina Dos Santos" userId="c1f965dc-8845-4afc-9e32-8f70830fffd6" providerId="ADAL" clId="{DE2F2673-6FAA-DF4C-BA73-E8294DC4ABC6}" dt="2024-12-03T19:33:23.810" v="367" actId="14100"/>
          <ac:spMkLst>
            <pc:docMk/>
            <pc:sldMk cId="1053269267" sldId="816"/>
            <ac:spMk id="3" creationId="{6C294B19-B218-6F2D-388D-C026CCA28D6C}"/>
          </ac:spMkLst>
        </pc:spChg>
      </pc:sldChg>
      <pc:sldChg chg="addSp delSp modSp new mod modAnim">
        <pc:chgData name="Andrea Cristina Dos Santos" userId="c1f965dc-8845-4afc-9e32-8f70830fffd6" providerId="ADAL" clId="{DE2F2673-6FAA-DF4C-BA73-E8294DC4ABC6}" dt="2024-12-03T19:45:05.390" v="389" actId="1076"/>
        <pc:sldMkLst>
          <pc:docMk/>
          <pc:sldMk cId="2036225845" sldId="817"/>
        </pc:sldMkLst>
        <pc:spChg chg="add mod">
          <ac:chgData name="Andrea Cristina Dos Santos" userId="c1f965dc-8845-4afc-9e32-8f70830fffd6" providerId="ADAL" clId="{DE2F2673-6FAA-DF4C-BA73-E8294DC4ABC6}" dt="2024-12-03T19:41:55.963" v="369"/>
          <ac:spMkLst>
            <pc:docMk/>
            <pc:sldMk cId="2036225845" sldId="817"/>
            <ac:spMk id="3" creationId="{08501E73-4C66-9996-D578-628B0B17DE88}"/>
          </ac:spMkLst>
        </pc:spChg>
        <pc:spChg chg="add mod">
          <ac:chgData name="Andrea Cristina Dos Santos" userId="c1f965dc-8845-4afc-9e32-8f70830fffd6" providerId="ADAL" clId="{DE2F2673-6FAA-DF4C-BA73-E8294DC4ABC6}" dt="2024-12-03T19:41:55.963" v="369"/>
          <ac:spMkLst>
            <pc:docMk/>
            <pc:sldMk cId="2036225845" sldId="817"/>
            <ac:spMk id="4" creationId="{A472E372-5A2F-DD7F-33B6-9F5040AB4DBC}"/>
          </ac:spMkLst>
        </pc:spChg>
        <pc:spChg chg="add mod">
          <ac:chgData name="Andrea Cristina Dos Santos" userId="c1f965dc-8845-4afc-9e32-8f70830fffd6" providerId="ADAL" clId="{DE2F2673-6FAA-DF4C-BA73-E8294DC4ABC6}" dt="2024-12-03T19:43:12.412" v="385" actId="5793"/>
          <ac:spMkLst>
            <pc:docMk/>
            <pc:sldMk cId="2036225845" sldId="817"/>
            <ac:spMk id="6" creationId="{A9418377-1973-E980-B7CA-AC0E60B4FDB5}"/>
          </ac:spMkLst>
        </pc:spChg>
        <pc:spChg chg="add mod">
          <ac:chgData name="Andrea Cristina Dos Santos" userId="c1f965dc-8845-4afc-9e32-8f70830fffd6" providerId="ADAL" clId="{DE2F2673-6FAA-DF4C-BA73-E8294DC4ABC6}" dt="2024-12-03T19:45:05.390" v="389" actId="1076"/>
          <ac:spMkLst>
            <pc:docMk/>
            <pc:sldMk cId="2036225845" sldId="817"/>
            <ac:spMk id="7" creationId="{5D060CAA-02BF-F83D-A660-D0372524F5EB}"/>
          </ac:spMkLst>
        </pc:spChg>
        <pc:picChg chg="add mod">
          <ac:chgData name="Andrea Cristina Dos Santos" userId="c1f965dc-8845-4afc-9e32-8f70830fffd6" providerId="ADAL" clId="{DE2F2673-6FAA-DF4C-BA73-E8294DC4ABC6}" dt="2024-12-03T19:45:00.341" v="388" actId="1076"/>
          <ac:picMkLst>
            <pc:docMk/>
            <pc:sldMk cId="2036225845" sldId="817"/>
            <ac:picMk id="2" creationId="{F410ADAD-031A-3782-F59C-280F5CEBC7D2}"/>
          </ac:picMkLst>
        </pc:picChg>
        <pc:cxnChg chg="add del mod">
          <ac:chgData name="Andrea Cristina Dos Santos" userId="c1f965dc-8845-4afc-9e32-8f70830fffd6" providerId="ADAL" clId="{DE2F2673-6FAA-DF4C-BA73-E8294DC4ABC6}" dt="2024-12-03T19:41:59.936" v="370" actId="478"/>
          <ac:cxnSpMkLst>
            <pc:docMk/>
            <pc:sldMk cId="2036225845" sldId="817"/>
            <ac:cxnSpMk id="5" creationId="{BB1EA3AD-BFA3-3425-D0B6-766098488640}"/>
          </ac:cxnSpMkLst>
        </pc:cxnChg>
      </pc:sldChg>
    </pc:docChg>
  </pc:docChgLst>
  <pc:docChgLst>
    <pc:chgData name="Andrea Cristina Dos Santos" userId="c1f965dc-8845-4afc-9e32-8f70830fffd6" providerId="ADAL" clId="{7BD60047-CE84-494E-B1FD-E62EAC60548F}"/>
    <pc:docChg chg="modSld">
      <pc:chgData name="Andrea Cristina Dos Santos" userId="c1f965dc-8845-4afc-9e32-8f70830fffd6" providerId="ADAL" clId="{7BD60047-CE84-494E-B1FD-E62EAC60548F}" dt="2023-10-09T20:10:25.132" v="0" actId="13926"/>
      <pc:docMkLst>
        <pc:docMk/>
      </pc:docMkLst>
      <pc:sldChg chg="modSp mod">
        <pc:chgData name="Andrea Cristina Dos Santos" userId="c1f965dc-8845-4afc-9e32-8f70830fffd6" providerId="ADAL" clId="{7BD60047-CE84-494E-B1FD-E62EAC60548F}" dt="2023-10-09T20:10:25.132" v="0" actId="13926"/>
        <pc:sldMkLst>
          <pc:docMk/>
          <pc:sldMk cId="0" sldId="7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A52A4EE9-5A87-7E13-8FC7-0B4C9ED313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86995E9-3072-99E1-4E23-DFE39E704D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fld id="{BA4636F7-9ECF-AA4F-8C8F-0E0356A64143}" type="datetimeFigureOut">
              <a:rPr lang="pt-BR"/>
              <a:pPr>
                <a:defRPr/>
              </a:pPr>
              <a:t>03/12/2024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CC328F-8A67-61C3-6277-9032BEE5B7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B1F67F2-2034-F648-1545-91C81E6176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/>
            </a:lvl1pPr>
          </a:lstStyle>
          <a:p>
            <a:pPr>
              <a:defRPr/>
            </a:pPr>
            <a:fld id="{255085BE-06E8-4546-9937-BD39010DA85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F365072-0DC1-A51F-7BA7-F14E793B7D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391ED66-9169-4E06-1066-53C5386D297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43CD516A-329B-F63E-DBD0-800931A321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5186A941-2A67-2F0D-5EC0-DB7E2FD0446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95F80E63-4F70-D1D0-F8CC-A89407F5C4D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2C7C7FB7-6B79-8898-D61C-4CD69DE770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57DDE5C4-596E-2B44-9AEF-782A237B897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D262AB80-9DF4-EF55-0BF2-AC1ED7B7E7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88BC59-7AF4-624D-9FDC-F5CE5FECE7BA}" type="slidenum">
              <a:rPr lang="pt-BR" altLang="pt-BR" sz="1300" smtClean="0"/>
              <a:pPr/>
              <a:t>5</a:t>
            </a:fld>
            <a:endParaRPr lang="pt-BR" altLang="pt-BR" sz="13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903DFF67-B2A0-FA27-F8B1-AD6FEBEF78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F5E8592-7173-1EA3-E30D-095CD392A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026E8B12-57C7-0B90-19D6-D05AE801DF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0A8A4F-0464-7F4D-912A-48B5F017BB60}" type="slidenum">
              <a:rPr lang="pt-BR" altLang="pt-BR" sz="1300" smtClean="0"/>
              <a:pPr/>
              <a:t>6</a:t>
            </a:fld>
            <a:endParaRPr lang="pt-BR" altLang="pt-BR" sz="13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242A280-1F33-A01C-7F9E-725ECC476E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FF809E4-187F-CA7A-3CBD-4E946D83E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DDE5C4-596E-2B44-9AEF-782A237B8976}" type="slidenum">
              <a:rPr lang="pt-BR" altLang="pt-BR" smtClean="0"/>
              <a:pPr>
                <a:defRPr/>
              </a:pPr>
              <a:t>9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08407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F872ADC4-277B-4152-0776-2A5CCCFB6F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F1E1DF-6EAB-9845-B4E8-B6E12F549DD6}" type="slidenum">
              <a:rPr lang="pt-BR" altLang="pt-BR" sz="1300" smtClean="0"/>
              <a:pPr/>
              <a:t>15</a:t>
            </a:fld>
            <a:endParaRPr lang="pt-BR" altLang="pt-BR" sz="13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DC2227B1-9415-9ACD-EFE0-5C01EDC6E1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A282FA4-A679-ACCF-E618-97550D879E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9237D8AF-9559-4934-3125-8EC5A5BC6A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6C4D57-E9DF-F145-A77A-3B2CB3284361}" type="slidenum">
              <a:rPr lang="pt-BR" altLang="pt-BR" sz="1300" smtClean="0"/>
              <a:pPr/>
              <a:t>16</a:t>
            </a:fld>
            <a:endParaRPr lang="pt-BR" altLang="pt-BR" sz="13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4BE75BC5-AE50-4D03-2841-C669ED95DE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68D4EF6-E614-1C6E-FBAE-AFE4FB4D2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6FE856B1-6E1A-DE94-0E5D-E53DECA8F9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4B0AC6-E7C9-EB44-8867-72531A45C784}" type="slidenum">
              <a:rPr lang="pt-BR" altLang="pt-BR" sz="1300" smtClean="0"/>
              <a:pPr/>
              <a:t>18</a:t>
            </a:fld>
            <a:endParaRPr lang="pt-BR" altLang="pt-BR" sz="13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9CAE720-38DF-C224-80BD-B93C859AD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C6F9478-259C-70C2-876E-DF1361DC12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E0F3D7CF-AF6C-2430-702F-B53DE61A29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9B5BEB-4E7C-AC4D-8BD2-01EE3F566C62}" type="slidenum">
              <a:rPr lang="pt-BR" altLang="pt-BR" sz="1300" smtClean="0"/>
              <a:pPr/>
              <a:t>21</a:t>
            </a:fld>
            <a:endParaRPr lang="pt-BR" altLang="pt-BR" sz="13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A7ACFCDC-BF62-0C82-5873-0B04701DC5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C037C31-9DEA-9F6C-2B60-060F3B7F40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59FEFCE9-A04F-7151-8C32-DA5579A2D1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D6DFE3-3160-3945-9AD7-D2662B37E6B2}" type="slidenum">
              <a:rPr lang="pt-BR" altLang="pt-BR" sz="1300" smtClean="0"/>
              <a:pPr/>
              <a:t>22</a:t>
            </a:fld>
            <a:endParaRPr lang="pt-BR" altLang="pt-BR" sz="13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BBFD2AFC-8C7A-A114-1AFE-C733E2CD4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02C5EEC-3B03-2061-AD21-2416B272E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A175EB10-6A7C-980E-40B9-1E3EDC1AEF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72B308-CC91-5748-AD59-6042D23E40D6}" type="slidenum">
              <a:rPr lang="pt-BR" altLang="pt-BR" sz="1300" smtClean="0"/>
              <a:pPr/>
              <a:t>23</a:t>
            </a:fld>
            <a:endParaRPr lang="pt-BR" altLang="pt-BR" sz="130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4EA22CE1-921A-0397-5A72-20CE056FB0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7377522-8C5D-7B62-17B7-9B449E88C4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4C541CFF-E40A-B8D5-534C-69AC376DF5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437711-F356-124E-87DB-035224A9664F}" type="slidenum">
              <a:rPr lang="pt-BR" altLang="pt-BR" sz="1300" smtClean="0"/>
              <a:pPr/>
              <a:t>24</a:t>
            </a:fld>
            <a:endParaRPr lang="pt-BR" altLang="pt-BR" sz="13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ACAD16F-93FD-2A5F-8C16-7C5F36066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CFEA364-1668-CB41-1567-27706D76D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15EA1637-9AFD-D3D2-F2B4-0B7834AA40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D9D7EB-59F8-C749-AFE3-3EF5A50C4D2E}" type="slidenum">
              <a:rPr lang="pt-BR" altLang="pt-BR" sz="1300" smtClean="0"/>
              <a:pPr/>
              <a:t>34</a:t>
            </a:fld>
            <a:endParaRPr lang="pt-BR" altLang="pt-BR" sz="13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ACC6F2B1-E107-3D8B-FD40-255E926450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D8F047B-FDBC-AA6A-E8AA-F2C304507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6BD11012-E344-BB69-2007-A8D5419252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B812E0-72C9-EB43-B83A-3663C17876B4}" type="slidenum">
              <a:rPr lang="pt-BR" altLang="pt-BR" sz="1300" smtClean="0"/>
              <a:pPr/>
              <a:t>35</a:t>
            </a:fld>
            <a:endParaRPr lang="pt-BR" altLang="pt-BR" sz="130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3B662796-778F-7288-7978-4804080982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EE8FF5B2-D800-3F6B-DDF7-996B5B0CE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Espaço Reservado para Imagem de Slide 1">
            <a:extLst>
              <a:ext uri="{FF2B5EF4-FFF2-40B4-BE49-F238E27FC236}">
                <a16:creationId xmlns:a16="http://schemas.microsoft.com/office/drawing/2014/main" id="{B129061C-8BD5-D3EC-F01E-6495D9AC74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4" name="Espaço Reservado para Anotações 2">
            <a:extLst>
              <a:ext uri="{FF2B5EF4-FFF2-40B4-BE49-F238E27FC236}">
                <a16:creationId xmlns:a16="http://schemas.microsoft.com/office/drawing/2014/main" id="{CE327B5D-643B-6515-A575-BFEEF9EB6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69635" name="Espaço Reservado para Número de Slide 3">
            <a:extLst>
              <a:ext uri="{FF2B5EF4-FFF2-40B4-BE49-F238E27FC236}">
                <a16:creationId xmlns:a16="http://schemas.microsoft.com/office/drawing/2014/main" id="{0B956B7A-FDFC-C1FF-4625-A4D2B3650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A32B6E-D545-5141-919F-E2C079A2CE39}" type="slidenum">
              <a:rPr lang="pt-BR" altLang="pt-BR" sz="1300" smtClean="0"/>
              <a:pPr/>
              <a:t>49</a:t>
            </a:fld>
            <a:endParaRPr lang="pt-BR" altLang="pt-BR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8742B3-4C0E-30E9-D898-04507C5C5B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3E1FB50-C51A-5023-25EF-AAE2BEB13B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2EC5D3-2B8E-3AC9-C3B8-A8C9F92594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BD6A2-F2AC-DF47-BD74-C51F2B5DD4E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598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7D9A70-01C1-A71B-AB8A-BB9A2366EA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4AAD5B-7EFA-3040-FE60-E59BBC57E4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CB32A0-59B8-9F7A-22BD-9309332AD5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12FA89-A77E-BE42-8A5C-50CFE86EED1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3066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657684-E03D-3134-A9F5-49678DA245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F2CCC5-33E7-2956-327A-FCC459C45E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5DD5B-50AB-CF61-7E00-F61AF579D2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5EB84E-281D-A649-9A64-5F81E7C41EB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9091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3E3D1-8815-1D22-039B-D78E552460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C53891-F9CC-6ABC-F985-C58C324D41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72E683-B34C-C1F0-B58F-74E49CD08A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1C637-3B3B-5640-8B78-A49D96D6802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6026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F5F094-25FE-584C-4927-53F34EA7E4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4E5D23E-9505-E943-ACC5-D6CD878686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9847A56-0046-F720-33FB-D684EEB958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9C501E-D318-8543-8EAF-D5BE738DA23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2931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5F79536-9414-F2FC-AE1D-46EC0E5A62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3FC2C41-74A7-4942-19CE-6057657A09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F939B51-5070-DACE-922C-6D372B4FF7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04C96-0ACE-9E47-8A2A-C5104F41596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3239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8F22A3E-E418-4C14-3D13-806493525D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7D39580-1326-0F8D-4B8C-D254ECEC7E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D843358-DC82-A567-6DD5-928907B99C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DD248-60F0-F045-B767-6946FD766C1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05620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6EB859-A4BD-C5D8-8D35-26F74B1868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8E6BE2-E749-AAF7-F793-186681DC4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F37764-EAE0-816F-818E-914142AAB7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44CD3-6938-244B-85A2-373881CF37C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94087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BAB321-3C1F-C7BA-B96D-CA0795D39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611D58-BE38-AC07-FD22-FC4B9D48DB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F81A30-BD4F-3A09-E759-22A3DEE175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10B0C-85C0-F846-9B92-1D6A216D70C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8158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E7A2DF-53CC-5936-79FE-30F64A4DF0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2A195B-903A-460A-EF9E-4AEF275319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0FA37F0-BC98-1DE3-1E98-07B3B321A3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E832D-81C2-8F47-9206-CC3CF5354F3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6535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75331F-44FF-9F28-8C9F-C818792682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EC9F9E-FA7F-82C0-3DB7-2F54633A55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9851F9-16F7-C5E1-6B48-1FF9F29F40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07ED7-60E4-F748-B66B-CB17FB30E38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96563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ítulo, text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Gráfico 3"/>
          <p:cNvSpPr>
            <a:spLocks noGrp="1"/>
          </p:cNvSpPr>
          <p:nvPr>
            <p:ph type="chart"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9228E5-90A8-F999-0B88-B55E899D65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B2C93-BB43-1513-351D-70B9D0AC2A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89D38-A319-2D24-1FBD-05309B645D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43551C-3496-CA46-8439-3E348226E05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90429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39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30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D3C743-DD64-9E18-5718-74CB16AC8A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7E6381-B9DC-3140-0D02-C91E20F81D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655E5B-02D5-EE46-A50A-03B369DB7D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1733F-FD52-C54D-8F7C-46E7BD9D7A2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05169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ítulo, conteúd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30750" y="1484313"/>
            <a:ext cx="4038600" cy="45259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136FA3-92BA-25C3-5055-26D543C4E4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9ADCA-9202-7235-FADF-4844ACAA34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D5723-75CB-981B-921B-CAB869892A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12CE76-4021-9248-AEFF-6610C0951C9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2658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21F38BB-81EE-6A0D-9EFB-FDE3D4ACD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31081C3-D18E-84EF-ADC4-2484EE5F14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771B829-9BA7-222F-515D-88A6D8E82F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4284E3A-B864-6083-44C3-3B5B9D9118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9831BCC-276C-1BE7-0B75-3308981ABFA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D2D7601-72CE-3F41-B19B-1F9517BA7DB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FF146E57-A635-50BC-82F1-33BB0107D57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6464BF"/>
              </a:gs>
              <a:gs pos="100000">
                <a:srgbClr val="000096"/>
              </a:gs>
            </a:gsLst>
            <a:lin ang="0" scaled="1"/>
          </a:gradFill>
          <a:ln>
            <a:noFill/>
          </a:ln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0000"/>
              </a:lnSpc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pic>
        <p:nvPicPr>
          <p:cNvPr id="1032" name="Picture 9">
            <a:extLst>
              <a:ext uri="{FF2B5EF4-FFF2-40B4-BE49-F238E27FC236}">
                <a16:creationId xmlns:a16="http://schemas.microsoft.com/office/drawing/2014/main" id="{BC6A5F7F-9F80-6FAC-64CE-51D8E5FBE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asantos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38.xml"/><Relationship Id="rId3" Type="http://schemas.openxmlformats.org/officeDocument/2006/relationships/slide" Target="slide31.xml"/><Relationship Id="rId7" Type="http://schemas.openxmlformats.org/officeDocument/2006/relationships/slide" Target="slide37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36.xml"/><Relationship Id="rId5" Type="http://schemas.openxmlformats.org/officeDocument/2006/relationships/slide" Target="slide35.xml"/><Relationship Id="rId4" Type="http://schemas.openxmlformats.org/officeDocument/2006/relationships/slide" Target="slide3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3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CaixaDeTexto 2">
            <a:extLst>
              <a:ext uri="{FF2B5EF4-FFF2-40B4-BE49-F238E27FC236}">
                <a16:creationId xmlns:a16="http://schemas.microsoft.com/office/drawing/2014/main" id="{B6BD5C19-935E-6F98-2400-1A1D7004C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3587750"/>
            <a:ext cx="754062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rgbClr val="002060"/>
                </a:solidFill>
              </a:rPr>
              <a:t>Prof. Andréa Cristina dos Santos, Dr. Eng.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  <a:hlinkClick r:id="rId2"/>
              </a:rPr>
              <a:t>andreasantos@unb.</a:t>
            </a:r>
            <a:r>
              <a:rPr lang="pt-BR" altLang="pt-BR">
                <a:solidFill>
                  <a:srgbClr val="002060"/>
                </a:solidFill>
              </a:rPr>
              <a:t>br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>
              <a:solidFill>
                <a:srgbClr val="002060"/>
              </a:solidFill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</a:rPr>
              <a:t>4. PROJETO INFORMACIONAL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</a:rPr>
              <a:t>¾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>
              <a:solidFill>
                <a:srgbClr val="002060"/>
              </a:solidFill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</a:rPr>
              <a:t>Aula 12 </a:t>
            </a:r>
          </a:p>
        </p:txBody>
      </p:sp>
      <p:sp>
        <p:nvSpPr>
          <p:cNvPr id="18434" name="CaixaDeTexto 1">
            <a:extLst>
              <a:ext uri="{FF2B5EF4-FFF2-40B4-BE49-F238E27FC236}">
                <a16:creationId xmlns:a16="http://schemas.microsoft.com/office/drawing/2014/main" id="{B953DA17-7AC3-8F7A-7F95-A4486C186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454150"/>
            <a:ext cx="7575550" cy="18161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Universidade de Brasília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Faculdade de Tecnologia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Depart. de Engenharia de Produção 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Disciplina Engenharia de Produto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Imagem4">
            <a:extLst>
              <a:ext uri="{FF2B5EF4-FFF2-40B4-BE49-F238E27FC236}">
                <a16:creationId xmlns:a16="http://schemas.microsoft.com/office/drawing/2014/main" id="{50816F06-9ECC-5926-BCE3-FD67661E6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188" y="1646238"/>
            <a:ext cx="6308725" cy="4200525"/>
          </a:xfrm>
          <a:prstGeom prst="rect">
            <a:avLst/>
          </a:prstGeom>
          <a:noFill/>
        </p:spPr>
      </p:pic>
      <p:sp>
        <p:nvSpPr>
          <p:cNvPr id="3" name="Freeform 11">
            <a:extLst>
              <a:ext uri="{FF2B5EF4-FFF2-40B4-BE49-F238E27FC236}">
                <a16:creationId xmlns:a16="http://schemas.microsoft.com/office/drawing/2014/main" id="{A613F7D3-6C3E-B743-0BBD-20FFB3C5C417}"/>
              </a:ext>
            </a:extLst>
          </p:cNvPr>
          <p:cNvSpPr>
            <a:spLocks/>
          </p:cNvSpPr>
          <p:nvPr/>
        </p:nvSpPr>
        <p:spPr bwMode="auto">
          <a:xfrm>
            <a:off x="1054100" y="1249363"/>
            <a:ext cx="5946775" cy="4979987"/>
          </a:xfrm>
          <a:custGeom>
            <a:avLst/>
            <a:gdLst>
              <a:gd name="T0" fmla="*/ 2147483646 w 3746"/>
              <a:gd name="T1" fmla="*/ 2147483646 h 3137"/>
              <a:gd name="T2" fmla="*/ 2147483646 w 3746"/>
              <a:gd name="T3" fmla="*/ 2147483646 h 3137"/>
              <a:gd name="T4" fmla="*/ 2147483646 w 3746"/>
              <a:gd name="T5" fmla="*/ 2147483646 h 3137"/>
              <a:gd name="T6" fmla="*/ 2147483646 w 3746"/>
              <a:gd name="T7" fmla="*/ 2147483646 h 3137"/>
              <a:gd name="T8" fmla="*/ 2147483646 w 3746"/>
              <a:gd name="T9" fmla="*/ 2147483646 h 3137"/>
              <a:gd name="T10" fmla="*/ 2147483646 w 3746"/>
              <a:gd name="T11" fmla="*/ 2147483646 h 3137"/>
              <a:gd name="T12" fmla="*/ 2147483646 w 3746"/>
              <a:gd name="T13" fmla="*/ 2147483646 h 3137"/>
              <a:gd name="T14" fmla="*/ 2147483646 w 3746"/>
              <a:gd name="T15" fmla="*/ 2147483646 h 3137"/>
              <a:gd name="T16" fmla="*/ 2147483646 w 3746"/>
              <a:gd name="T17" fmla="*/ 2147483646 h 3137"/>
              <a:gd name="T18" fmla="*/ 2147483646 w 3746"/>
              <a:gd name="T19" fmla="*/ 2147483646 h 31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746"/>
              <a:gd name="T31" fmla="*/ 0 h 3137"/>
              <a:gd name="T32" fmla="*/ 3746 w 3746"/>
              <a:gd name="T33" fmla="*/ 3137 h 313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746" h="3137">
                <a:moveTo>
                  <a:pt x="766" y="3051"/>
                </a:moveTo>
                <a:cubicBezTo>
                  <a:pt x="494" y="3045"/>
                  <a:pt x="309" y="2989"/>
                  <a:pt x="183" y="2794"/>
                </a:cubicBezTo>
                <a:cubicBezTo>
                  <a:pt x="57" y="2599"/>
                  <a:pt x="11" y="2216"/>
                  <a:pt x="9" y="1878"/>
                </a:cubicBezTo>
                <a:cubicBezTo>
                  <a:pt x="7" y="1540"/>
                  <a:pt x="0" y="1064"/>
                  <a:pt x="169" y="768"/>
                </a:cubicBezTo>
                <a:cubicBezTo>
                  <a:pt x="338" y="472"/>
                  <a:pt x="494" y="202"/>
                  <a:pt x="1022" y="101"/>
                </a:cubicBezTo>
                <a:cubicBezTo>
                  <a:pt x="1550" y="0"/>
                  <a:pt x="2934" y="14"/>
                  <a:pt x="3340" y="164"/>
                </a:cubicBezTo>
                <a:cubicBezTo>
                  <a:pt x="3746" y="314"/>
                  <a:pt x="3715" y="830"/>
                  <a:pt x="3458" y="1003"/>
                </a:cubicBezTo>
                <a:cubicBezTo>
                  <a:pt x="3201" y="1176"/>
                  <a:pt x="2074" y="901"/>
                  <a:pt x="1800" y="1205"/>
                </a:cubicBezTo>
                <a:cubicBezTo>
                  <a:pt x="1526" y="1509"/>
                  <a:pt x="1985" y="2521"/>
                  <a:pt x="1813" y="2829"/>
                </a:cubicBezTo>
                <a:cubicBezTo>
                  <a:pt x="1641" y="3137"/>
                  <a:pt x="1038" y="3057"/>
                  <a:pt x="766" y="3051"/>
                </a:cubicBezTo>
                <a:close/>
              </a:path>
            </a:pathLst>
          </a:custGeom>
          <a:noFill/>
          <a:ln w="28575" cmpd="sng">
            <a:solidFill>
              <a:srgbClr val="B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0C538552-F8F4-3346-EE7B-28A4C90C7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</a:t>
            </a: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F7D6EAF1-4792-84E3-66F3-193DB8B91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5032375"/>
            <a:ext cx="189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470127-7D1E-3E0E-1335-A2ABE9A75871}"/>
              </a:ext>
            </a:extLst>
          </p:cNvPr>
          <p:cNvSpPr/>
          <p:nvPr/>
        </p:nvSpPr>
        <p:spPr bwMode="auto">
          <a:xfrm>
            <a:off x="1635041" y="3268662"/>
            <a:ext cx="2232025" cy="1943100"/>
          </a:xfrm>
          <a:prstGeom prst="ellipse">
            <a:avLst/>
          </a:prstGeom>
          <a:noFill/>
          <a:ln w="571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48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CaixaDeTexto 1">
            <a:extLst>
              <a:ext uri="{FF2B5EF4-FFF2-40B4-BE49-F238E27FC236}">
                <a16:creationId xmlns:a16="http://schemas.microsoft.com/office/drawing/2014/main" id="{7AC53E8D-D0DB-588F-754D-A8A4BDF99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275" y="2097088"/>
            <a:ext cx="6999288" cy="331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3600" b="1" dirty="0">
                <a:solidFill>
                  <a:srgbClr val="00B050"/>
                </a:solidFill>
              </a:rPr>
              <a:t>REQUISITOS DOS CLIENTES</a:t>
            </a:r>
            <a:r>
              <a:rPr lang="pt-BR" altLang="pt-BR" sz="3600" dirty="0">
                <a:solidFill>
                  <a:srgbClr val="00B050"/>
                </a:solidFill>
              </a:rPr>
              <a:t>: </a:t>
            </a:r>
            <a:r>
              <a:rPr lang="pt-BR" altLang="pt-BR" sz="3600" dirty="0"/>
              <a:t>necessidades dos clientes organizadas, categorizadas e estruturadas.  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CaixaDeTexto 1">
            <a:extLst>
              <a:ext uri="{FF2B5EF4-FFF2-40B4-BE49-F238E27FC236}">
                <a16:creationId xmlns:a16="http://schemas.microsoft.com/office/drawing/2014/main" id="{DD2DD9D2-B0BB-ACBA-5B69-FBAD5466C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8" y="339725"/>
            <a:ext cx="76549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</a:rPr>
              <a:t>TIPOS DE REQUISITOS</a:t>
            </a:r>
          </a:p>
        </p:txBody>
      </p:sp>
      <p:sp>
        <p:nvSpPr>
          <p:cNvPr id="20482" name="CaixaDeTexto 2">
            <a:extLst>
              <a:ext uri="{FF2B5EF4-FFF2-40B4-BE49-F238E27FC236}">
                <a16:creationId xmlns:a16="http://schemas.microsoft.com/office/drawing/2014/main" id="{153CCE48-17D5-8283-D0A3-8E0D832E5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8" y="1303338"/>
            <a:ext cx="8201025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</a:rPr>
              <a:t>REQUISITOS CLIENTES: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002060"/>
                </a:solidFill>
              </a:rPr>
              <a:t>S</a:t>
            </a:r>
            <a:r>
              <a:rPr lang="en-US" altLang="pt-BR" sz="2000">
                <a:solidFill>
                  <a:srgbClr val="002060"/>
                </a:solidFill>
              </a:rPr>
              <a:t>ão declarações que definem as expectativas do cliente do produto ou sistema em termos de missão, objetivos, funções, desempenho, ambiente e restrições. </a:t>
            </a:r>
            <a:endParaRPr lang="pt-BR" altLang="pt-BR" sz="20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20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20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0D9B8D76-45D6-1787-A13A-E5D9C25D30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4788"/>
            <a:ext cx="8875713" cy="706437"/>
          </a:xfrm>
        </p:spPr>
        <p:txBody>
          <a:bodyPr/>
          <a:lstStyle/>
          <a:p>
            <a:pPr eaLnBrk="1" hangingPunct="1"/>
            <a:r>
              <a:rPr lang="pt-BR" altLang="pt-BR" sz="2800"/>
              <a:t>3. </a:t>
            </a:r>
            <a:r>
              <a:rPr lang="pt-BR" altLang="pt-BR" sz="2800" b="1"/>
              <a:t>DEFINIR REQUISITOS DOS </a:t>
            </a:r>
            <a:r>
              <a:rPr lang="pt-BR" altLang="pt-BR" b="1"/>
              <a:t>CLIENTES</a:t>
            </a:r>
            <a:endParaRPr lang="pt-BR" altLang="pt-BR" sz="2800" b="1"/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E7CC3B94-C201-A9C5-7169-E4FCE897822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49250" y="1076325"/>
            <a:ext cx="4210050" cy="5238750"/>
          </a:xfrm>
        </p:spPr>
        <p:txBody>
          <a:bodyPr/>
          <a:lstStyle/>
          <a:p>
            <a:pPr eaLnBrk="1" hangingPunct="1"/>
            <a:r>
              <a:rPr lang="pt-BR" altLang="pt-BR" u="sng"/>
              <a:t>Converter necessidades em </a:t>
            </a:r>
            <a:r>
              <a:rPr lang="pt-BR" altLang="pt-BR" u="sng">
                <a:solidFill>
                  <a:srgbClr val="B40000"/>
                </a:solidFill>
              </a:rPr>
              <a:t>requisitos</a:t>
            </a:r>
            <a:r>
              <a:rPr lang="pt-BR" altLang="pt-BR" u="sng"/>
              <a:t> relacionados com </a:t>
            </a:r>
            <a:r>
              <a:rPr lang="pt-BR" altLang="pt-BR" u="sng">
                <a:solidFill>
                  <a:srgbClr val="B40000"/>
                </a:solidFill>
              </a:rPr>
              <a:t>vários aspectos</a:t>
            </a:r>
            <a:r>
              <a:rPr lang="pt-BR" altLang="pt-BR" u="sng"/>
              <a:t>:</a:t>
            </a:r>
          </a:p>
          <a:p>
            <a:pPr lvl="1" eaLnBrk="1" hangingPunct="1"/>
            <a:r>
              <a:rPr lang="pt-BR" altLang="pt-BR" sz="2800"/>
              <a:t>Desempenho funcional.</a:t>
            </a:r>
          </a:p>
          <a:p>
            <a:pPr lvl="1" eaLnBrk="1" hangingPunct="1"/>
            <a:r>
              <a:rPr lang="pt-BR" altLang="pt-BR" sz="2800"/>
              <a:t>Fatores humanos.</a:t>
            </a:r>
          </a:p>
          <a:p>
            <a:pPr lvl="1" eaLnBrk="1" hangingPunct="1"/>
            <a:r>
              <a:rPr lang="pt-BR" altLang="pt-BR" sz="2800"/>
              <a:t>Propriedades e espaço.</a:t>
            </a:r>
          </a:p>
          <a:p>
            <a:pPr lvl="1" eaLnBrk="1" hangingPunct="1"/>
            <a:r>
              <a:rPr lang="pt-BR" altLang="pt-BR" sz="2800"/>
              <a:t>Confiabilidade.</a:t>
            </a:r>
          </a:p>
          <a:p>
            <a:pPr eaLnBrk="1" hangingPunct="1">
              <a:buFontTx/>
              <a:buNone/>
            </a:pPr>
            <a:endParaRPr lang="pt-BR" altLang="pt-BR"/>
          </a:p>
        </p:txBody>
      </p:sp>
      <p:sp>
        <p:nvSpPr>
          <p:cNvPr id="214022" name="Rectangle 6">
            <a:extLst>
              <a:ext uri="{FF2B5EF4-FFF2-40B4-BE49-F238E27FC236}">
                <a16:creationId xmlns:a16="http://schemas.microsoft.com/office/drawing/2014/main" id="{33B792AA-6E42-319A-66C3-3E3F53FF3F8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86288" y="1123950"/>
            <a:ext cx="4211637" cy="5238750"/>
          </a:xfrm>
        </p:spPr>
        <p:txBody>
          <a:bodyPr/>
          <a:lstStyle/>
          <a:p>
            <a:pPr lvl="1" eaLnBrk="1" hangingPunct="1"/>
            <a:r>
              <a:rPr lang="pt-BR" altLang="pt-BR" sz="2800"/>
              <a:t>Ciclo de vida.</a:t>
            </a:r>
          </a:p>
          <a:p>
            <a:pPr lvl="1" eaLnBrk="1" hangingPunct="1"/>
            <a:r>
              <a:rPr lang="pt-BR" altLang="pt-BR" sz="2800"/>
              <a:t>Recursos e manufatura (fabricação).</a:t>
            </a:r>
          </a:p>
          <a:p>
            <a:pPr eaLnBrk="1" hangingPunct="1"/>
            <a:r>
              <a:rPr lang="pt-BR" altLang="pt-BR">
                <a:solidFill>
                  <a:srgbClr val="B40000"/>
                </a:solidFill>
              </a:rPr>
              <a:t>Eliminar redundantes</a:t>
            </a:r>
            <a:r>
              <a:rPr lang="pt-BR" altLang="pt-BR"/>
              <a:t> e </a:t>
            </a:r>
            <a:r>
              <a:rPr lang="pt-BR" altLang="pt-BR">
                <a:solidFill>
                  <a:srgbClr val="B40000"/>
                </a:solidFill>
              </a:rPr>
              <a:t>classificar hierarquicamente.</a:t>
            </a:r>
          </a:p>
        </p:txBody>
      </p:sp>
      <p:sp>
        <p:nvSpPr>
          <p:cNvPr id="214020" name="Rectangle 4">
            <a:extLst>
              <a:ext uri="{FF2B5EF4-FFF2-40B4-BE49-F238E27FC236}">
                <a16:creationId xmlns:a16="http://schemas.microsoft.com/office/drawing/2014/main" id="{B1DFA37C-BA10-ABC4-3641-26156AE6A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E70BD1B0-D454-E365-44E1-CEAFE1B22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Definir Req. Dos Clientes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D534EF58-A9CE-F888-7F49-77A1A1628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9938" y="33338"/>
            <a:ext cx="7388225" cy="706437"/>
          </a:xfrm>
        </p:spPr>
        <p:txBody>
          <a:bodyPr/>
          <a:lstStyle/>
          <a:p>
            <a:pPr eaLnBrk="1" hangingPunct="1"/>
            <a:r>
              <a:rPr lang="pt-BR" altLang="pt-BR" sz="3200"/>
              <a:t>Requisitos dos Clientes</a:t>
            </a:r>
          </a:p>
        </p:txBody>
      </p:sp>
      <p:sp>
        <p:nvSpPr>
          <p:cNvPr id="221188" name="Rectangle 4">
            <a:extLst>
              <a:ext uri="{FF2B5EF4-FFF2-40B4-BE49-F238E27FC236}">
                <a16:creationId xmlns:a16="http://schemas.microsoft.com/office/drawing/2014/main" id="{57D5F921-6EA7-2A96-61E6-B63847807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23555" name="Text Box 5">
            <a:extLst>
              <a:ext uri="{FF2B5EF4-FFF2-40B4-BE49-F238E27FC236}">
                <a16:creationId xmlns:a16="http://schemas.microsoft.com/office/drawing/2014/main" id="{F23A5FB1-EC91-3091-F87C-569293E9F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Definir Req. Dos Clientes</a:t>
            </a:r>
          </a:p>
        </p:txBody>
      </p:sp>
      <p:sp>
        <p:nvSpPr>
          <p:cNvPr id="23556" name="Espaço Reservado para Conteúdo 1">
            <a:extLst>
              <a:ext uri="{FF2B5EF4-FFF2-40B4-BE49-F238E27FC236}">
                <a16:creationId xmlns:a16="http://schemas.microsoft.com/office/drawing/2014/main" id="{6B6A4191-E403-386D-B6A6-1CCC2A2E4C7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7949" y="1527175"/>
            <a:ext cx="8323531" cy="2320925"/>
          </a:xfrm>
        </p:spPr>
        <p:txBody>
          <a:bodyPr/>
          <a:lstStyle/>
          <a:p>
            <a:r>
              <a:rPr lang="pt-BR" altLang="pt-BR" dirty="0"/>
              <a:t>Formas de agrupar as necessidades dos clientes</a:t>
            </a:r>
          </a:p>
        </p:txBody>
      </p:sp>
      <p:sp>
        <p:nvSpPr>
          <p:cNvPr id="23557" name="Espaço Reservado para Conteúdo 2">
            <a:extLst>
              <a:ext uri="{FF2B5EF4-FFF2-40B4-BE49-F238E27FC236}">
                <a16:creationId xmlns:a16="http://schemas.microsoft.com/office/drawing/2014/main" id="{09FA0E88-86F2-DBC9-EA67-1CD1FFC38DF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1132350" y="2687637"/>
            <a:ext cx="6911975" cy="2238375"/>
          </a:xfrm>
        </p:spPr>
        <p:txBody>
          <a:bodyPr/>
          <a:lstStyle/>
          <a:p>
            <a:r>
              <a:rPr lang="pt-BR" altLang="pt-BR" sz="2400" dirty="0">
                <a:solidFill>
                  <a:srgbClr val="00B050"/>
                </a:solidFill>
              </a:rPr>
              <a:t>Matriz de Atributos</a:t>
            </a:r>
          </a:p>
          <a:p>
            <a:endParaRPr lang="pt-BR" altLang="pt-BR" sz="2400" dirty="0"/>
          </a:p>
          <a:p>
            <a:r>
              <a:rPr lang="pt-BR" altLang="pt-BR" sz="2400" dirty="0">
                <a:solidFill>
                  <a:srgbClr val="00B050"/>
                </a:solidFill>
              </a:rPr>
              <a:t>Técnica de cenários (Melhoria da redação/mesmo termo)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5B253-774E-07C1-C85D-EE7ED682D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10" y="87439"/>
            <a:ext cx="7388225" cy="706438"/>
          </a:xfrm>
        </p:spPr>
        <p:txBody>
          <a:bodyPr/>
          <a:lstStyle/>
          <a:p>
            <a:r>
              <a:rPr lang="pt-BR" b="1" dirty="0">
                <a:solidFill>
                  <a:srgbClr val="0070C0"/>
                </a:solidFill>
              </a:rPr>
              <a:t>ATRIBUTOS DO PRODUTO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A92BB3-8804-0477-B9B2-88CA7A8DBDF3}"/>
              </a:ext>
            </a:extLst>
          </p:cNvPr>
          <p:cNvSpPr txBox="1"/>
          <p:nvPr/>
        </p:nvSpPr>
        <p:spPr>
          <a:xfrm>
            <a:off x="347473" y="992649"/>
            <a:ext cx="85360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Atributos do produto</a:t>
            </a:r>
            <a:r>
              <a:rPr lang="pt-BR" dirty="0"/>
              <a:t> são características ou propriedades que descrevem e diferenciam um produto, podendo influenciar a percepção, escolha e satisfação do consumidor. Esses atributos podem ser divididos em diferentes categorias: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3B3CD2E-827D-4BFB-D4D6-63A063CF60B3}"/>
              </a:ext>
            </a:extLst>
          </p:cNvPr>
          <p:cNvSpPr txBox="1"/>
          <p:nvPr/>
        </p:nvSpPr>
        <p:spPr>
          <a:xfrm>
            <a:off x="477710" y="2096632"/>
            <a:ext cx="81885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>
                <a:solidFill>
                  <a:srgbClr val="00B050"/>
                </a:solidFill>
              </a:rPr>
              <a:t>Funcionais: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Relacionados à funcionalidade e desempenho do produto, como durabilidade, velocidade, eficiência e capacidade.</a:t>
            </a:r>
          </a:p>
          <a:p>
            <a:pPr>
              <a:buFont typeface="+mj-lt"/>
              <a:buAutoNum type="arabicPeriod"/>
            </a:pP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>
                <a:solidFill>
                  <a:srgbClr val="00B050"/>
                </a:solidFill>
              </a:rPr>
              <a:t>Estéticos: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Envolvem aparência, design, cor, textura e outros elementos sensoriais.</a:t>
            </a:r>
          </a:p>
          <a:p>
            <a:pPr>
              <a:buFont typeface="+mj-lt"/>
              <a:buAutoNum type="arabicPeriod"/>
            </a:pP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>
                <a:solidFill>
                  <a:srgbClr val="00B050"/>
                </a:solidFill>
              </a:rPr>
              <a:t>Psicológicos</a:t>
            </a:r>
            <a:r>
              <a:rPr lang="pt-BR" b="1" dirty="0"/>
              <a:t>:</a:t>
            </a:r>
            <a:r>
              <a:rPr lang="pt-BR" dirty="0"/>
              <a:t> Ligados às emoções e valores associados ao produto, como status, exclusividade ou identidade cultural.</a:t>
            </a:r>
          </a:p>
          <a:p>
            <a:pPr>
              <a:buFont typeface="+mj-lt"/>
              <a:buAutoNum type="arabicPeriod"/>
            </a:pP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>
                <a:solidFill>
                  <a:srgbClr val="00B050"/>
                </a:solidFill>
              </a:rPr>
              <a:t>Simbolismo e Marca</a:t>
            </a:r>
            <a:r>
              <a:rPr lang="pt-BR" b="1" dirty="0"/>
              <a:t>:</a:t>
            </a:r>
            <a:r>
              <a:rPr lang="pt-BR" dirty="0"/>
              <a:t> Incluem reputação da marca, confiabilidade e associações de valor.</a:t>
            </a:r>
          </a:p>
          <a:p>
            <a:pPr>
              <a:buFont typeface="+mj-lt"/>
              <a:buAutoNum type="arabicPeriod"/>
            </a:pP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>
                <a:solidFill>
                  <a:srgbClr val="00B050"/>
                </a:solidFill>
              </a:rPr>
              <a:t>Preço e Custo: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O valor percebido em relação ao custo do produto.</a:t>
            </a:r>
          </a:p>
        </p:txBody>
      </p:sp>
    </p:spTree>
    <p:extLst>
      <p:ext uri="{BB962C8B-B14F-4D97-AF65-F5344CB8AC3E}">
        <p14:creationId xmlns:p14="http://schemas.microsoft.com/office/powerpoint/2010/main" val="2678834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DE1527-F950-90F1-A79C-19D620D4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09" y="1097280"/>
            <a:ext cx="7388225" cy="706438"/>
          </a:xfrm>
        </p:spPr>
        <p:txBody>
          <a:bodyPr/>
          <a:lstStyle/>
          <a:p>
            <a:r>
              <a:rPr lang="pt-BR" b="1" dirty="0">
                <a:solidFill>
                  <a:srgbClr val="00B050"/>
                </a:solidFill>
              </a:rPr>
              <a:t>ATRIBUTOS TÉCNICOS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594794-2C0F-F69C-5A51-A59F27A3A324}"/>
              </a:ext>
            </a:extLst>
          </p:cNvPr>
          <p:cNvSpPr txBox="1"/>
          <p:nvPr/>
        </p:nvSpPr>
        <p:spPr>
          <a:xfrm>
            <a:off x="816165" y="1803718"/>
            <a:ext cx="795070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Desempenho:</a:t>
            </a:r>
            <a:r>
              <a:rPr lang="pt-BR" dirty="0"/>
              <a:t> Eficiência, potência, velocidade, capacidade de carga, precisão.</a:t>
            </a:r>
          </a:p>
          <a:p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Durabilidade:</a:t>
            </a:r>
            <a:r>
              <a:rPr lang="pt-BR" dirty="0"/>
              <a:t> Vida útil, resistência ao desgaste, manutenção.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Segurança:</a:t>
            </a:r>
            <a:r>
              <a:rPr lang="pt-BR" dirty="0"/>
              <a:t> Conformidade com normas, prevenção de falhas, proteção ao usuário.</a:t>
            </a:r>
          </a:p>
          <a:p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Confiabilidade:</a:t>
            </a:r>
            <a:r>
              <a:rPr lang="pt-BR" dirty="0"/>
              <a:t> Taxa de falhas, continuidade de funcionamento.</a:t>
            </a:r>
          </a:p>
          <a:p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Sustentabilidade:</a:t>
            </a:r>
            <a:r>
              <a:rPr lang="pt-BR" dirty="0"/>
              <a:t> Uso eficiente de recursos, impacto ambiental, reciclabilidade.</a:t>
            </a:r>
          </a:p>
        </p:txBody>
      </p:sp>
    </p:spTree>
    <p:extLst>
      <p:ext uri="{BB962C8B-B14F-4D97-AF65-F5344CB8AC3E}">
        <p14:creationId xmlns:p14="http://schemas.microsoft.com/office/powerpoint/2010/main" val="421407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91F3613-1214-007A-2D47-5A2F455AC99E}"/>
              </a:ext>
            </a:extLst>
          </p:cNvPr>
          <p:cNvSpPr txBox="1"/>
          <p:nvPr/>
        </p:nvSpPr>
        <p:spPr>
          <a:xfrm>
            <a:off x="585216" y="1083438"/>
            <a:ext cx="79735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dirty="0">
              <a:solidFill>
                <a:srgbClr val="0070C0"/>
              </a:solidFill>
            </a:endParaRPr>
          </a:p>
          <a:p>
            <a:endParaRPr lang="pt-BR" b="1" dirty="0">
              <a:solidFill>
                <a:srgbClr val="0070C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Adequação ao uso:</a:t>
            </a:r>
            <a:r>
              <a:rPr lang="pt-BR" dirty="0"/>
              <a:t> Capacidade de atender às necessidades específicas do usuário ou aplicação.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Compatibilidade:</a:t>
            </a:r>
            <a:r>
              <a:rPr lang="pt-BR" dirty="0"/>
              <a:t> Integração com outros sistemas ou tecnologias.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Flexibilidade:</a:t>
            </a:r>
            <a:r>
              <a:rPr lang="pt-BR" dirty="0"/>
              <a:t> Capacidade de adaptação a diferentes condições ou demandas.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7B1B4F-A68A-C59E-AE1B-DFEAD388FCFA}"/>
              </a:ext>
            </a:extLst>
          </p:cNvPr>
          <p:cNvSpPr txBox="1"/>
          <p:nvPr/>
        </p:nvSpPr>
        <p:spPr>
          <a:xfrm>
            <a:off x="585216" y="26628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ATRIBUTOS FUNCIONAIS:</a:t>
            </a:r>
          </a:p>
        </p:txBody>
      </p:sp>
    </p:spTree>
    <p:extLst>
      <p:ext uri="{BB962C8B-B14F-4D97-AF65-F5344CB8AC3E}">
        <p14:creationId xmlns:p14="http://schemas.microsoft.com/office/powerpoint/2010/main" val="2549217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C3FD7-9699-29B2-15E0-982A7077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A16240C-6C4C-16D6-2388-7019564779E3}"/>
              </a:ext>
            </a:extLst>
          </p:cNvPr>
          <p:cNvSpPr txBox="1"/>
          <p:nvPr/>
        </p:nvSpPr>
        <p:spPr>
          <a:xfrm>
            <a:off x="461644" y="1175094"/>
            <a:ext cx="81885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3. ATRIBUTOS ESTÉTICOS E ERGONÔMICOS:</a:t>
            </a:r>
          </a:p>
          <a:p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Design Industrial:</a:t>
            </a:r>
            <a:r>
              <a:rPr lang="pt-BR" dirty="0"/>
              <a:t> Aparência, formas, e percepção visual.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Usabilidade:</a:t>
            </a:r>
            <a:r>
              <a:rPr lang="pt-BR" dirty="0"/>
              <a:t> Facilidade de manuseio, acessibilidade, ergonomia.</a:t>
            </a:r>
          </a:p>
          <a:p>
            <a:endParaRPr lang="pt-BR" b="1" dirty="0"/>
          </a:p>
          <a:p>
            <a:r>
              <a:rPr lang="pt-BR" b="1" dirty="0">
                <a:solidFill>
                  <a:srgbClr val="0070C0"/>
                </a:solidFill>
              </a:rPr>
              <a:t>4. ATRIBUTOS ECONÔMICOS: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Custo-benefício:</a:t>
            </a:r>
            <a:r>
              <a:rPr lang="pt-BR" dirty="0"/>
              <a:t> Relação entre o preço e as funcionalidades oferecidas.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Manutenibilidade:</a:t>
            </a:r>
            <a:r>
              <a:rPr lang="pt-BR" dirty="0"/>
              <a:t> Facilidade e custo de manutenção.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  <a:p>
            <a:r>
              <a:rPr lang="pt-BR" b="1" dirty="0">
                <a:solidFill>
                  <a:srgbClr val="0070C0"/>
                </a:solidFill>
              </a:rPr>
              <a:t>5. ATRIBUTOS DE CONFORMIDADE: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Normas e Regulamentações:</a:t>
            </a:r>
            <a:r>
              <a:rPr lang="pt-BR" dirty="0"/>
              <a:t> Atende requisitos legais e normas técnicas específicas (ex.: ISO, NR).</a:t>
            </a:r>
          </a:p>
        </p:txBody>
      </p:sp>
    </p:spTree>
    <p:extLst>
      <p:ext uri="{BB962C8B-B14F-4D97-AF65-F5344CB8AC3E}">
        <p14:creationId xmlns:p14="http://schemas.microsoft.com/office/powerpoint/2010/main" val="1715454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A614DB2-14FA-9503-D294-4DC956929D0B}"/>
              </a:ext>
            </a:extLst>
          </p:cNvPr>
          <p:cNvSpPr txBox="1"/>
          <p:nvPr/>
        </p:nvSpPr>
        <p:spPr>
          <a:xfrm>
            <a:off x="585216" y="913680"/>
            <a:ext cx="83393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Refere-se a uma característica de produtos, sistemas ou processos que permite sua divisão em módulos ou componentes independentes, mas que funcionam de forma integrada quando combinados. </a:t>
            </a:r>
          </a:p>
          <a:p>
            <a:r>
              <a:rPr lang="pt-BR" dirty="0"/>
              <a:t>Esse atributo é amplamente utilizado na engenharia, design de produtos e gestão de sistemas, pois facilita a personalização, manutenção e escalabilidade.</a:t>
            </a:r>
          </a:p>
          <a:p>
            <a:endParaRPr lang="pt-BR" dirty="0"/>
          </a:p>
          <a:p>
            <a:r>
              <a:rPr lang="pt-BR" b="1" dirty="0"/>
              <a:t>Principais características do atributo modular: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Independência dos módulos:</a:t>
            </a:r>
            <a:r>
              <a:rPr lang="pt-BR" dirty="0"/>
              <a:t> Cada módulo desempenha uma função específica e pode ser desenvolvido ou alterado de forma autônoma.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Interoperabilidade:</a:t>
            </a:r>
            <a:r>
              <a:rPr lang="pt-BR" dirty="0"/>
              <a:t> Os módulos devem se conectar e interagir por meio de interfaces padronizadas.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Flexibilidade:</a:t>
            </a:r>
            <a:r>
              <a:rPr lang="pt-BR" dirty="0"/>
              <a:t> Permite substituições ou atualizações de módulos sem impactar o sistema como um todo.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Reutilização:</a:t>
            </a:r>
            <a:r>
              <a:rPr lang="pt-BR" dirty="0"/>
              <a:t> Um módulo pode ser utilizado em diferentes produtos ou sistemas, reduzindo custos e tempo de desenvolvimento.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Escalabilidade:</a:t>
            </a:r>
            <a:r>
              <a:rPr lang="pt-BR" dirty="0"/>
              <a:t> Torna mais fácil expandir ou adaptar o sistema.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FA3F62-2669-CE4A-3094-B0A3F5F20376}"/>
              </a:ext>
            </a:extLst>
          </p:cNvPr>
          <p:cNvSpPr txBox="1"/>
          <p:nvPr/>
        </p:nvSpPr>
        <p:spPr>
          <a:xfrm>
            <a:off x="804672" y="31200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ATRIBUTO MODULAR</a:t>
            </a:r>
            <a:r>
              <a:rPr lang="pt-BR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724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EBAC315-9EC5-B689-9197-9531C13AA8CA}"/>
              </a:ext>
            </a:extLst>
          </p:cNvPr>
          <p:cNvSpPr txBox="1"/>
          <p:nvPr/>
        </p:nvSpPr>
        <p:spPr>
          <a:xfrm>
            <a:off x="501732" y="1226925"/>
            <a:ext cx="814053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dirty="0"/>
          </a:p>
          <a:p>
            <a:pPr>
              <a:buFont typeface="+mj-lt"/>
              <a:buAutoNum type="arabicPeriod"/>
            </a:pPr>
            <a:r>
              <a:rPr lang="pt-BR" b="1" dirty="0"/>
              <a:t>Resistência a falhas:</a:t>
            </a:r>
            <a:r>
              <a:rPr lang="pt-BR" dirty="0"/>
              <a:t> Capacidade de continuar funcionando, total ou parcialmente, mesmo quando submetido a falhas ou defeitos.</a:t>
            </a:r>
          </a:p>
          <a:p>
            <a:pPr>
              <a:buFont typeface="+mj-lt"/>
              <a:buAutoNum type="arabicPeriod"/>
            </a:pP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/>
              <a:t>Tolerância a variações:</a:t>
            </a:r>
            <a:r>
              <a:rPr lang="pt-BR" dirty="0"/>
              <a:t> Desempenho consistente mesmo diante de alterações nas condições de uso (ex.: temperatura, pressão, vibração).</a:t>
            </a:r>
          </a:p>
          <a:p>
            <a:pPr>
              <a:buFont typeface="+mj-lt"/>
              <a:buAutoNum type="arabicPeriod"/>
            </a:pP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/>
              <a:t>Durabilidade:</a:t>
            </a:r>
            <a:r>
              <a:rPr lang="pt-BR" dirty="0"/>
              <a:t> Vida útil prolongada, com resistência ao desgaste ou degradação ao longo do tempo.</a:t>
            </a:r>
          </a:p>
          <a:p>
            <a:pPr>
              <a:buFont typeface="+mj-lt"/>
              <a:buAutoNum type="arabicPeriod"/>
            </a:pP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/>
              <a:t>Simplicidade na manutenção:</a:t>
            </a:r>
            <a:r>
              <a:rPr lang="pt-BR" dirty="0"/>
              <a:t> Facilita reparos e ajustes, reduzindo o impacto de falhas.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29D9AD-2836-87C1-766B-1360D4FED19A}"/>
              </a:ext>
            </a:extLst>
          </p:cNvPr>
          <p:cNvSpPr txBox="1"/>
          <p:nvPr/>
        </p:nvSpPr>
        <p:spPr>
          <a:xfrm>
            <a:off x="804672" y="31200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ATRIBUTO ROBUSTEZ</a:t>
            </a:r>
            <a:endParaRPr lang="pt-BR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58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0439C-2A8E-CDFB-7F19-539850BD2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Imagem4">
            <a:extLst>
              <a:ext uri="{FF2B5EF4-FFF2-40B4-BE49-F238E27FC236}">
                <a16:creationId xmlns:a16="http://schemas.microsoft.com/office/drawing/2014/main" id="{47D86BB5-1471-4889-7C59-D7022FC0C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188" y="1646238"/>
            <a:ext cx="6308725" cy="4200525"/>
          </a:xfrm>
          <a:prstGeom prst="rect">
            <a:avLst/>
          </a:prstGeom>
          <a:noFill/>
        </p:spPr>
      </p:pic>
      <p:sp>
        <p:nvSpPr>
          <p:cNvPr id="3" name="Freeform 11">
            <a:extLst>
              <a:ext uri="{FF2B5EF4-FFF2-40B4-BE49-F238E27FC236}">
                <a16:creationId xmlns:a16="http://schemas.microsoft.com/office/drawing/2014/main" id="{CEC5F6BD-8DA5-5964-16C9-4994D97C686F}"/>
              </a:ext>
            </a:extLst>
          </p:cNvPr>
          <p:cNvSpPr>
            <a:spLocks/>
          </p:cNvSpPr>
          <p:nvPr/>
        </p:nvSpPr>
        <p:spPr bwMode="auto">
          <a:xfrm>
            <a:off x="1054100" y="1249363"/>
            <a:ext cx="5946775" cy="4979987"/>
          </a:xfrm>
          <a:custGeom>
            <a:avLst/>
            <a:gdLst>
              <a:gd name="T0" fmla="*/ 2147483646 w 3746"/>
              <a:gd name="T1" fmla="*/ 2147483646 h 3137"/>
              <a:gd name="T2" fmla="*/ 2147483646 w 3746"/>
              <a:gd name="T3" fmla="*/ 2147483646 h 3137"/>
              <a:gd name="T4" fmla="*/ 2147483646 w 3746"/>
              <a:gd name="T5" fmla="*/ 2147483646 h 3137"/>
              <a:gd name="T6" fmla="*/ 2147483646 w 3746"/>
              <a:gd name="T7" fmla="*/ 2147483646 h 3137"/>
              <a:gd name="T8" fmla="*/ 2147483646 w 3746"/>
              <a:gd name="T9" fmla="*/ 2147483646 h 3137"/>
              <a:gd name="T10" fmla="*/ 2147483646 w 3746"/>
              <a:gd name="T11" fmla="*/ 2147483646 h 3137"/>
              <a:gd name="T12" fmla="*/ 2147483646 w 3746"/>
              <a:gd name="T13" fmla="*/ 2147483646 h 3137"/>
              <a:gd name="T14" fmla="*/ 2147483646 w 3746"/>
              <a:gd name="T15" fmla="*/ 2147483646 h 3137"/>
              <a:gd name="T16" fmla="*/ 2147483646 w 3746"/>
              <a:gd name="T17" fmla="*/ 2147483646 h 3137"/>
              <a:gd name="T18" fmla="*/ 2147483646 w 3746"/>
              <a:gd name="T19" fmla="*/ 2147483646 h 31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746"/>
              <a:gd name="T31" fmla="*/ 0 h 3137"/>
              <a:gd name="T32" fmla="*/ 3746 w 3746"/>
              <a:gd name="T33" fmla="*/ 3137 h 313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746" h="3137">
                <a:moveTo>
                  <a:pt x="766" y="3051"/>
                </a:moveTo>
                <a:cubicBezTo>
                  <a:pt x="494" y="3045"/>
                  <a:pt x="309" y="2989"/>
                  <a:pt x="183" y="2794"/>
                </a:cubicBezTo>
                <a:cubicBezTo>
                  <a:pt x="57" y="2599"/>
                  <a:pt x="11" y="2216"/>
                  <a:pt x="9" y="1878"/>
                </a:cubicBezTo>
                <a:cubicBezTo>
                  <a:pt x="7" y="1540"/>
                  <a:pt x="0" y="1064"/>
                  <a:pt x="169" y="768"/>
                </a:cubicBezTo>
                <a:cubicBezTo>
                  <a:pt x="338" y="472"/>
                  <a:pt x="494" y="202"/>
                  <a:pt x="1022" y="101"/>
                </a:cubicBezTo>
                <a:cubicBezTo>
                  <a:pt x="1550" y="0"/>
                  <a:pt x="2934" y="14"/>
                  <a:pt x="3340" y="164"/>
                </a:cubicBezTo>
                <a:cubicBezTo>
                  <a:pt x="3746" y="314"/>
                  <a:pt x="3715" y="830"/>
                  <a:pt x="3458" y="1003"/>
                </a:cubicBezTo>
                <a:cubicBezTo>
                  <a:pt x="3201" y="1176"/>
                  <a:pt x="2074" y="901"/>
                  <a:pt x="1800" y="1205"/>
                </a:cubicBezTo>
                <a:cubicBezTo>
                  <a:pt x="1526" y="1509"/>
                  <a:pt x="1985" y="2521"/>
                  <a:pt x="1813" y="2829"/>
                </a:cubicBezTo>
                <a:cubicBezTo>
                  <a:pt x="1641" y="3137"/>
                  <a:pt x="1038" y="3057"/>
                  <a:pt x="766" y="3051"/>
                </a:cubicBezTo>
                <a:close/>
              </a:path>
            </a:pathLst>
          </a:custGeom>
          <a:noFill/>
          <a:ln w="28575" cmpd="sng">
            <a:solidFill>
              <a:srgbClr val="B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9D125353-B181-D02B-D475-348BC04AD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</a:t>
            </a: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989AED1B-AE6A-571B-CB24-505668C54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5032375"/>
            <a:ext cx="189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8992FEC-9CC4-D665-1B89-B51FBD72596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990994" y="4822460"/>
            <a:ext cx="2117581" cy="1103678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00CBBC-3064-0BBE-772B-D85C7C9D03CD}"/>
              </a:ext>
            </a:extLst>
          </p:cNvPr>
          <p:cNvSpPr txBox="1"/>
          <p:nvPr/>
        </p:nvSpPr>
        <p:spPr>
          <a:xfrm>
            <a:off x="5320145" y="5308270"/>
            <a:ext cx="29332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70C0"/>
                </a:solidFill>
              </a:rPr>
              <a:t>MÉTODOS:</a:t>
            </a:r>
          </a:p>
          <a:p>
            <a:pPr marL="342900" indent="-342900">
              <a:buFontTx/>
              <a:buChar char="-"/>
            </a:pPr>
            <a:r>
              <a:rPr lang="pt-BR" dirty="0"/>
              <a:t>Matriz de atributos</a:t>
            </a:r>
          </a:p>
          <a:p>
            <a:pPr marL="342900" indent="-342900">
              <a:buFontTx/>
              <a:buChar char="-"/>
            </a:pPr>
            <a:r>
              <a:rPr lang="pt-BR" dirty="0"/>
              <a:t>Cenários</a:t>
            </a:r>
          </a:p>
        </p:txBody>
      </p:sp>
    </p:spTree>
    <p:extLst>
      <p:ext uri="{BB962C8B-B14F-4D97-AF65-F5344CB8AC3E}">
        <p14:creationId xmlns:p14="http://schemas.microsoft.com/office/powerpoint/2010/main" val="216278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2">
            <a:extLst>
              <a:ext uri="{FF2B5EF4-FFF2-40B4-BE49-F238E27FC236}">
                <a16:creationId xmlns:a16="http://schemas.microsoft.com/office/drawing/2014/main" id="{C9387BB3-5C08-BC24-89C4-156257B4B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609725"/>
            <a:ext cx="8774112" cy="434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2" name="CaixaDeTexto 3">
            <a:extLst>
              <a:ext uri="{FF2B5EF4-FFF2-40B4-BE49-F238E27FC236}">
                <a16:creationId xmlns:a16="http://schemas.microsoft.com/office/drawing/2014/main" id="{0201F3F3-BF99-459A-EC5C-911857866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284163"/>
            <a:ext cx="72517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 dirty="0">
                <a:solidFill>
                  <a:srgbClr val="0070C0"/>
                </a:solidFill>
              </a:rPr>
              <a:t>MATRIZ DE ATRIBUSTOS </a:t>
            </a:r>
          </a:p>
        </p:txBody>
      </p:sp>
      <p:sp>
        <p:nvSpPr>
          <p:cNvPr id="25603" name="Texto explicativo em elipse 5">
            <a:extLst>
              <a:ext uri="{FF2B5EF4-FFF2-40B4-BE49-F238E27FC236}">
                <a16:creationId xmlns:a16="http://schemas.microsoft.com/office/drawing/2014/main" id="{F3CACC4B-D424-69EE-278F-619DEBDB8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49463"/>
            <a:ext cx="1828800" cy="476250"/>
          </a:xfrm>
          <a:prstGeom prst="wedgeEllipseCallout">
            <a:avLst>
              <a:gd name="adj1" fmla="val 41398"/>
              <a:gd name="adj2" fmla="val -148065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25604" name="CaixaDeTexto 6">
            <a:extLst>
              <a:ext uri="{FF2B5EF4-FFF2-40B4-BE49-F238E27FC236}">
                <a16:creationId xmlns:a16="http://schemas.microsoft.com/office/drawing/2014/main" id="{F289F915-2F34-C2CC-740A-FECE70B76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0763" y="882650"/>
            <a:ext cx="30432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FF0000"/>
                </a:solidFill>
              </a:rPr>
              <a:t>2. Definir quais serão os atributos básicos do projeto do produto   </a:t>
            </a:r>
          </a:p>
        </p:txBody>
      </p:sp>
      <p:sp>
        <p:nvSpPr>
          <p:cNvPr id="25605" name="Texto explicativo em elipse 7">
            <a:extLst>
              <a:ext uri="{FF2B5EF4-FFF2-40B4-BE49-F238E27FC236}">
                <a16:creationId xmlns:a16="http://schemas.microsoft.com/office/drawing/2014/main" id="{FDEA8739-62E2-E9BC-BA3D-7F1E21F41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1571625"/>
            <a:ext cx="3784600" cy="476250"/>
          </a:xfrm>
          <a:prstGeom prst="wedgeEllipseCallout">
            <a:avLst>
              <a:gd name="adj1" fmla="val 41398"/>
              <a:gd name="adj2" fmla="val -148065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25606" name="CaixaDeTexto 9">
            <a:extLst>
              <a:ext uri="{FF2B5EF4-FFF2-40B4-BE49-F238E27FC236}">
                <a16:creationId xmlns:a16="http://schemas.microsoft.com/office/drawing/2014/main" id="{BE573222-EB1D-C432-8BFE-279637C4C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830263"/>
            <a:ext cx="30416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FF0000"/>
                </a:solidFill>
              </a:rPr>
              <a:t>1. Quais são as fases do ciclo de vida do produto em desenvolvimento</a:t>
            </a:r>
          </a:p>
        </p:txBody>
      </p:sp>
      <p:sp>
        <p:nvSpPr>
          <p:cNvPr id="25607" name="Texto explicativo em elipse 10">
            <a:extLst>
              <a:ext uri="{FF2B5EF4-FFF2-40B4-BE49-F238E27FC236}">
                <a16:creationId xmlns:a16="http://schemas.microsoft.com/office/drawing/2014/main" id="{F435AB35-FC22-FB29-5311-842242000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6035675"/>
            <a:ext cx="3721100" cy="822325"/>
          </a:xfrm>
          <a:prstGeom prst="wedgeEllipseCallout">
            <a:avLst>
              <a:gd name="adj1" fmla="val -112375"/>
              <a:gd name="adj2" fmla="val -156435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FF0000"/>
                </a:solidFill>
              </a:rPr>
              <a:t>3.Necessidades dos clientes agrupadas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0B06DAB7-2766-5612-224D-BD9BC3783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8325" y="997434"/>
            <a:ext cx="7388225" cy="706438"/>
          </a:xfrm>
        </p:spPr>
        <p:txBody>
          <a:bodyPr/>
          <a:lstStyle/>
          <a:p>
            <a:pPr eaLnBrk="1" hangingPunct="1"/>
            <a:r>
              <a:rPr lang="pt-BR" altLang="pt-BR" dirty="0"/>
              <a:t>Conversão dos Dados </a:t>
            </a:r>
            <a:br>
              <a:rPr lang="pt-BR" altLang="pt-BR" dirty="0"/>
            </a:br>
            <a:r>
              <a:rPr lang="pt-BR" altLang="pt-BR" dirty="0"/>
              <a:t>Originais em </a:t>
            </a:r>
            <a:r>
              <a:rPr lang="pt-BR" altLang="pt-BR" dirty="0" err="1"/>
              <a:t>Req</a:t>
            </a:r>
            <a:r>
              <a:rPr lang="pt-BR" altLang="pt-BR" dirty="0"/>
              <a:t>. dos Clientes</a:t>
            </a:r>
          </a:p>
        </p:txBody>
      </p:sp>
      <p:sp>
        <p:nvSpPr>
          <p:cNvPr id="223236" name="Rectangle 4">
            <a:extLst>
              <a:ext uri="{FF2B5EF4-FFF2-40B4-BE49-F238E27FC236}">
                <a16:creationId xmlns:a16="http://schemas.microsoft.com/office/drawing/2014/main" id="{8AD0AAB6-97A5-5740-BA92-138DF1AB9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26627" name="Text Box 5">
            <a:extLst>
              <a:ext uri="{FF2B5EF4-FFF2-40B4-BE49-F238E27FC236}">
                <a16:creationId xmlns:a16="http://schemas.microsoft.com/office/drawing/2014/main" id="{21E0CC15-4880-5347-F382-C8BF91EC5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Definir Req. Dos Clientes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8294B9A1-07CD-C4A4-F970-6877EBBF6419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2832100"/>
            <a:ext cx="1600200" cy="1676400"/>
            <a:chOff x="2544" y="1536"/>
            <a:chExt cx="1008" cy="1056"/>
          </a:xfrm>
        </p:grpSpPr>
        <p:sp>
          <p:nvSpPr>
            <p:cNvPr id="26637" name="Rectangle 7">
              <a:extLst>
                <a:ext uri="{FF2B5EF4-FFF2-40B4-BE49-F238E27FC236}">
                  <a16:creationId xmlns:a16="http://schemas.microsoft.com/office/drawing/2014/main" id="{AB5AC85B-0509-E696-9DB7-7D18D2174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536"/>
              <a:ext cx="336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26638" name="Rectangle 8">
              <a:extLst>
                <a:ext uri="{FF2B5EF4-FFF2-40B4-BE49-F238E27FC236}">
                  <a16:creationId xmlns:a16="http://schemas.microsoft.com/office/drawing/2014/main" id="{5BA62365-E4BF-A41B-F395-48C959F2C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536"/>
              <a:ext cx="336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26639" name="Rectangle 9">
              <a:extLst>
                <a:ext uri="{FF2B5EF4-FFF2-40B4-BE49-F238E27FC236}">
                  <a16:creationId xmlns:a16="http://schemas.microsoft.com/office/drawing/2014/main" id="{41CF50A4-AD69-7D8B-C236-EA0C8B20C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36"/>
              <a:ext cx="336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26640" name="Rectangle 10">
              <a:extLst>
                <a:ext uri="{FF2B5EF4-FFF2-40B4-BE49-F238E27FC236}">
                  <a16:creationId xmlns:a16="http://schemas.microsoft.com/office/drawing/2014/main" id="{BBEA6BAD-21DE-AE40-93DF-26272E32C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336" cy="91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26641" name="Rectangle 11">
              <a:extLst>
                <a:ext uri="{FF2B5EF4-FFF2-40B4-BE49-F238E27FC236}">
                  <a16:creationId xmlns:a16="http://schemas.microsoft.com/office/drawing/2014/main" id="{1F06BB77-BE69-4B66-D76D-67EAAF4C4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680"/>
              <a:ext cx="336" cy="91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26642" name="Rectangle 12">
              <a:extLst>
                <a:ext uri="{FF2B5EF4-FFF2-40B4-BE49-F238E27FC236}">
                  <a16:creationId xmlns:a16="http://schemas.microsoft.com/office/drawing/2014/main" id="{2BE7E2C8-52C7-E748-95F2-109DD69D4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680"/>
              <a:ext cx="336" cy="91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</p:grpSp>
      <p:sp>
        <p:nvSpPr>
          <p:cNvPr id="223245" name="Text Box 13">
            <a:extLst>
              <a:ext uri="{FF2B5EF4-FFF2-40B4-BE49-F238E27FC236}">
                <a16:creationId xmlns:a16="http://schemas.microsoft.com/office/drawing/2014/main" id="{2766367C-97DC-DE97-6647-5061A2FEC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213" y="1981839"/>
            <a:ext cx="5940425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lang="en-US" altLang="pt-BR" sz="2400" dirty="0" err="1">
                <a:solidFill>
                  <a:srgbClr val="B40000"/>
                </a:solidFill>
                <a:latin typeface="Verdana" panose="020B0604030504040204" pitchFamily="34" charset="0"/>
              </a:rPr>
              <a:t>Matriz</a:t>
            </a:r>
            <a:r>
              <a:rPr lang="en-US" altLang="pt-BR" sz="2400" dirty="0">
                <a:solidFill>
                  <a:srgbClr val="B40000"/>
                </a:solidFill>
                <a:latin typeface="Verdana" panose="020B0604030504040204" pitchFamily="34" charset="0"/>
              </a:rPr>
              <a:t> de </a:t>
            </a:r>
            <a:r>
              <a:rPr lang="en-US" altLang="pt-BR" sz="2400" dirty="0" err="1">
                <a:solidFill>
                  <a:srgbClr val="B40000"/>
                </a:solidFill>
                <a:latin typeface="Verdana" panose="020B0604030504040204" pitchFamily="34" charset="0"/>
              </a:rPr>
              <a:t>Transformação</a:t>
            </a:r>
            <a:r>
              <a:rPr lang="en-US" altLang="pt-BR" sz="2400" dirty="0">
                <a:solidFill>
                  <a:srgbClr val="B40000"/>
                </a:solidFill>
                <a:latin typeface="Verdana" panose="020B0604030504040204" pitchFamily="34" charset="0"/>
              </a:rPr>
              <a:t> de Dados </a:t>
            </a:r>
            <a:r>
              <a:rPr lang="en-US" altLang="pt-BR" sz="2400" dirty="0" err="1">
                <a:solidFill>
                  <a:srgbClr val="B40000"/>
                </a:solidFill>
                <a:latin typeface="Verdana" panose="020B0604030504040204" pitchFamily="34" charset="0"/>
              </a:rPr>
              <a:t>Originais</a:t>
            </a:r>
            <a:r>
              <a:rPr lang="en-US" altLang="pt-BR" sz="2400" dirty="0">
                <a:solidFill>
                  <a:srgbClr val="B40000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400" dirty="0" err="1">
                <a:solidFill>
                  <a:srgbClr val="B40000"/>
                </a:solidFill>
                <a:latin typeface="Verdana" panose="020B0604030504040204" pitchFamily="34" charset="0"/>
              </a:rPr>
              <a:t>em</a:t>
            </a:r>
            <a:r>
              <a:rPr lang="en-US" altLang="pt-BR" sz="2400" dirty="0">
                <a:solidFill>
                  <a:srgbClr val="B40000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400" dirty="0" err="1">
                <a:solidFill>
                  <a:srgbClr val="B40000"/>
                </a:solidFill>
                <a:latin typeface="Verdana" panose="020B0604030504040204" pitchFamily="34" charset="0"/>
              </a:rPr>
              <a:t>Requisitos</a:t>
            </a:r>
            <a:endParaRPr lang="en-US" altLang="pt-BR" sz="2400" dirty="0">
              <a:solidFill>
                <a:srgbClr val="B4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514A1FB9-0EC2-DED1-1239-E56F61A19896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4941888"/>
            <a:ext cx="7050087" cy="638175"/>
            <a:chOff x="281" y="3216"/>
            <a:chExt cx="5143" cy="480"/>
          </a:xfrm>
        </p:grpSpPr>
        <p:sp>
          <p:nvSpPr>
            <p:cNvPr id="26634" name="Rectangle 15">
              <a:extLst>
                <a:ext uri="{FF2B5EF4-FFF2-40B4-BE49-F238E27FC236}">
                  <a16:creationId xmlns:a16="http://schemas.microsoft.com/office/drawing/2014/main" id="{DD3E4E80-B186-087A-6CCE-9A21B6D89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" y="3216"/>
              <a:ext cx="1687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en-US" altLang="pt-BR" sz="2400">
                  <a:solidFill>
                    <a:srgbClr val="006699"/>
                  </a:solidFill>
                  <a:latin typeface="Verdana" panose="020B0604030504040204" pitchFamily="34" charset="0"/>
                </a:rPr>
                <a:t>Dado Original</a:t>
              </a:r>
            </a:p>
          </p:txBody>
        </p:sp>
        <p:sp>
          <p:nvSpPr>
            <p:cNvPr id="26635" name="Rectangle 16">
              <a:extLst>
                <a:ext uri="{FF2B5EF4-FFF2-40B4-BE49-F238E27FC236}">
                  <a16:creationId xmlns:a16="http://schemas.microsoft.com/office/drawing/2014/main" id="{00E1E4B0-19A5-3490-5465-8C1412E2C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216"/>
              <a:ext cx="1632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en-US" altLang="pt-BR" sz="2400">
                  <a:solidFill>
                    <a:srgbClr val="006699"/>
                  </a:solidFill>
                  <a:latin typeface="Verdana" panose="020B0604030504040204" pitchFamily="34" charset="0"/>
                </a:rPr>
                <a:t>Cenas</a:t>
              </a:r>
            </a:p>
          </p:txBody>
        </p:sp>
        <p:sp>
          <p:nvSpPr>
            <p:cNvPr id="26636" name="Rectangle 17">
              <a:extLst>
                <a:ext uri="{FF2B5EF4-FFF2-40B4-BE49-F238E27FC236}">
                  <a16:creationId xmlns:a16="http://schemas.microsoft.com/office/drawing/2014/main" id="{62E696B6-3799-6FB6-E66A-88326CE39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216"/>
              <a:ext cx="1824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FontTx/>
                <a:buNone/>
              </a:pPr>
              <a:r>
                <a:rPr lang="en-US" altLang="pt-BR" sz="2400">
                  <a:solidFill>
                    <a:srgbClr val="006699"/>
                  </a:solidFill>
                  <a:latin typeface="Verdana" panose="020B0604030504040204" pitchFamily="34" charset="0"/>
                </a:rPr>
                <a:t>Requisito</a:t>
              </a:r>
            </a:p>
          </p:txBody>
        </p:sp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E24DC532-4D14-26FC-BFAC-2E96147AB33D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2708275"/>
            <a:ext cx="4681537" cy="2592388"/>
            <a:chOff x="480" y="1488"/>
            <a:chExt cx="3456" cy="1968"/>
          </a:xfrm>
        </p:grpSpPr>
        <p:sp>
          <p:nvSpPr>
            <p:cNvPr id="26632" name="Rectangle 19">
              <a:extLst>
                <a:ext uri="{FF2B5EF4-FFF2-40B4-BE49-F238E27FC236}">
                  <a16:creationId xmlns:a16="http://schemas.microsoft.com/office/drawing/2014/main" id="{28122960-2C9D-51C6-AD91-110D0D914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88"/>
              <a:ext cx="1728" cy="336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cxnSp>
          <p:nvCxnSpPr>
            <p:cNvPr id="26633" name="AutoShape 20">
              <a:extLst>
                <a:ext uri="{FF2B5EF4-FFF2-40B4-BE49-F238E27FC236}">
                  <a16:creationId xmlns:a16="http://schemas.microsoft.com/office/drawing/2014/main" id="{C3FA0C5B-979E-4BB3-E212-7D91B11A770F}"/>
                </a:ext>
              </a:extLst>
            </p:cNvPr>
            <p:cNvCxnSpPr>
              <a:cxnSpLocks noChangeShapeType="1"/>
              <a:stCxn id="26632" idx="1"/>
              <a:endCxn id="26634" idx="1"/>
            </p:cNvCxnSpPr>
            <p:nvPr/>
          </p:nvCxnSpPr>
          <p:spPr bwMode="auto">
            <a:xfrm rot="10800000" flipV="1">
              <a:off x="480" y="1656"/>
              <a:ext cx="1728" cy="1800"/>
            </a:xfrm>
            <a:prstGeom prst="bentConnector3">
              <a:avLst>
                <a:gd name="adj1" fmla="val 108333"/>
              </a:avLst>
            </a:prstGeom>
            <a:noFill/>
            <a:ln w="38100">
              <a:solidFill>
                <a:srgbClr val="FF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CaixaDeTexto 3">
            <a:extLst>
              <a:ext uri="{FF2B5EF4-FFF2-40B4-BE49-F238E27FC236}">
                <a16:creationId xmlns:a16="http://schemas.microsoft.com/office/drawing/2014/main" id="{1CE41AB7-B033-6E8D-D520-205DFD874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284163"/>
            <a:ext cx="72517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 dirty="0">
                <a:solidFill>
                  <a:srgbClr val="0070C0"/>
                </a:solidFill>
              </a:rPr>
              <a:t>CENÁRIOS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6" grpId="0" animBg="1"/>
      <p:bldP spid="2232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6" name="Rectangle 4">
            <a:extLst>
              <a:ext uri="{FF2B5EF4-FFF2-40B4-BE49-F238E27FC236}">
                <a16:creationId xmlns:a16="http://schemas.microsoft.com/office/drawing/2014/main" id="{141D1F6A-E34D-6708-28EE-C1B190D8B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28675" name="Text Box 5">
            <a:extLst>
              <a:ext uri="{FF2B5EF4-FFF2-40B4-BE49-F238E27FC236}">
                <a16:creationId xmlns:a16="http://schemas.microsoft.com/office/drawing/2014/main" id="{E6FDBB53-2267-2745-AE27-F535F0C7E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Definir Req. Dos Clientes</a:t>
            </a:r>
          </a:p>
        </p:txBody>
      </p:sp>
      <p:grpSp>
        <p:nvGrpSpPr>
          <p:cNvPr id="2" name="Group 141">
            <a:extLst>
              <a:ext uri="{FF2B5EF4-FFF2-40B4-BE49-F238E27FC236}">
                <a16:creationId xmlns:a16="http://schemas.microsoft.com/office/drawing/2014/main" id="{CD68B1CB-9F0D-9448-81A5-57E966EA8672}"/>
              </a:ext>
            </a:extLst>
          </p:cNvPr>
          <p:cNvGrpSpPr>
            <a:grpSpLocks/>
          </p:cNvGrpSpPr>
          <p:nvPr/>
        </p:nvGrpSpPr>
        <p:grpSpPr bwMode="auto">
          <a:xfrm>
            <a:off x="1455738" y="2420938"/>
            <a:ext cx="4992687" cy="3556000"/>
            <a:chOff x="917" y="1525"/>
            <a:chExt cx="3145" cy="2240"/>
          </a:xfrm>
        </p:grpSpPr>
        <p:grpSp>
          <p:nvGrpSpPr>
            <p:cNvPr id="28717" name="Group 140">
              <a:extLst>
                <a:ext uri="{FF2B5EF4-FFF2-40B4-BE49-F238E27FC236}">
                  <a16:creationId xmlns:a16="http://schemas.microsoft.com/office/drawing/2014/main" id="{0864FF03-473B-827D-29D5-61102134CC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7" y="1525"/>
              <a:ext cx="3145" cy="2240"/>
              <a:chOff x="917" y="1525"/>
              <a:chExt cx="3145" cy="2240"/>
            </a:xfrm>
          </p:grpSpPr>
          <p:grpSp>
            <p:nvGrpSpPr>
              <p:cNvPr id="28719" name="Group 14">
                <a:extLst>
                  <a:ext uri="{FF2B5EF4-FFF2-40B4-BE49-F238E27FC236}">
                    <a16:creationId xmlns:a16="http://schemas.microsoft.com/office/drawing/2014/main" id="{CA6D2628-0726-D929-AAAB-A9E99C52E7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0" y="2659"/>
                <a:ext cx="1056" cy="1104"/>
                <a:chOff x="1344" y="3216"/>
                <a:chExt cx="1056" cy="864"/>
              </a:xfrm>
            </p:grpSpPr>
            <p:sp>
              <p:nvSpPr>
                <p:cNvPr id="28738" name="Rectangle 15">
                  <a:extLst>
                    <a:ext uri="{FF2B5EF4-FFF2-40B4-BE49-F238E27FC236}">
                      <a16:creationId xmlns:a16="http://schemas.microsoft.com/office/drawing/2014/main" id="{0E3E1E89-DE01-F22C-5A4B-0BC6A4C1ED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3216"/>
                  <a:ext cx="1056" cy="192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/>
                <a:lstStyle>
                  <a:lvl1pPr defTabSz="76200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solidFill>
                        <a:srgbClr val="000000"/>
                      </a:solidFill>
                      <a:latin typeface="Verdana" panose="020B0604030504040204" pitchFamily="34" charset="0"/>
                    </a:rPr>
                    <a:t>Cena</a:t>
                  </a:r>
                </a:p>
              </p:txBody>
            </p:sp>
            <p:sp>
              <p:nvSpPr>
                <p:cNvPr id="28739" name="Rectangle 16">
                  <a:extLst>
                    <a:ext uri="{FF2B5EF4-FFF2-40B4-BE49-F238E27FC236}">
                      <a16:creationId xmlns:a16="http://schemas.microsoft.com/office/drawing/2014/main" id="{008C781F-A8A6-6C39-37F3-4E26792BD2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3408"/>
                  <a:ext cx="1056" cy="672"/>
                </a:xfrm>
                <a:prstGeom prst="rect">
                  <a:avLst/>
                </a:prstGeom>
                <a:solidFill>
                  <a:schemeClr val="accent2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/>
                <a:lstStyle>
                  <a:lvl1pPr defTabSz="76200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>
                      <a:solidFill>
                        <a:schemeClr val="bg1"/>
                      </a:solidFill>
                      <a:latin typeface="Verdana" panose="020B0604030504040204" pitchFamily="34" charset="0"/>
                    </a:rPr>
                    <a:t>Operador que nunca havia operado o produto consegue instalar</a:t>
                  </a:r>
                </a:p>
              </p:txBody>
            </p:sp>
          </p:grpSp>
          <p:sp>
            <p:nvSpPr>
              <p:cNvPr id="28720" name="Freeform 17">
                <a:extLst>
                  <a:ext uri="{FF2B5EF4-FFF2-40B4-BE49-F238E27FC236}">
                    <a16:creationId xmlns:a16="http://schemas.microsoft.com/office/drawing/2014/main" id="{E2B43081-5504-B1D0-541E-4CABAD00C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1" y="2354"/>
                <a:ext cx="1185" cy="301"/>
              </a:xfrm>
              <a:custGeom>
                <a:avLst/>
                <a:gdLst>
                  <a:gd name="T0" fmla="*/ 857 w 1185"/>
                  <a:gd name="T1" fmla="*/ 0 h 301"/>
                  <a:gd name="T2" fmla="*/ 0 w 1185"/>
                  <a:gd name="T3" fmla="*/ 301 h 301"/>
                  <a:gd name="T4" fmla="*/ 1035 w 1185"/>
                  <a:gd name="T5" fmla="*/ 298 h 301"/>
                  <a:gd name="T6" fmla="*/ 1185 w 1185"/>
                  <a:gd name="T7" fmla="*/ 1 h 301"/>
                  <a:gd name="T8" fmla="*/ 857 w 1185"/>
                  <a:gd name="T9" fmla="*/ 0 h 3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85"/>
                  <a:gd name="T16" fmla="*/ 0 h 301"/>
                  <a:gd name="T17" fmla="*/ 1185 w 1185"/>
                  <a:gd name="T18" fmla="*/ 301 h 30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85" h="301">
                    <a:moveTo>
                      <a:pt x="857" y="0"/>
                    </a:moveTo>
                    <a:lnTo>
                      <a:pt x="0" y="301"/>
                    </a:lnTo>
                    <a:lnTo>
                      <a:pt x="1035" y="298"/>
                    </a:lnTo>
                    <a:lnTo>
                      <a:pt x="1185" y="1"/>
                    </a:lnTo>
                    <a:lnTo>
                      <a:pt x="85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grpSp>
            <p:nvGrpSpPr>
              <p:cNvPr id="28721" name="Group 18">
                <a:extLst>
                  <a:ext uri="{FF2B5EF4-FFF2-40B4-BE49-F238E27FC236}">
                    <a16:creationId xmlns:a16="http://schemas.microsoft.com/office/drawing/2014/main" id="{10A1DEE8-4DB7-3ECC-896B-AF2F0F2D0C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28" y="1525"/>
                <a:ext cx="336" cy="829"/>
                <a:chOff x="2880" y="1536"/>
                <a:chExt cx="336" cy="1056"/>
              </a:xfrm>
            </p:grpSpPr>
            <p:sp>
              <p:nvSpPr>
                <p:cNvPr id="28736" name="Rectangle 19">
                  <a:extLst>
                    <a:ext uri="{FF2B5EF4-FFF2-40B4-BE49-F238E27FC236}">
                      <a16:creationId xmlns:a16="http://schemas.microsoft.com/office/drawing/2014/main" id="{4C6C515C-B3A6-2E8F-3141-9B64099A88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1536"/>
                  <a:ext cx="336" cy="144"/>
                </a:xfrm>
                <a:prstGeom prst="rect">
                  <a:avLst/>
                </a:prstGeom>
                <a:solidFill>
                  <a:schemeClr val="accent2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737" name="Rectangle 20">
                  <a:extLst>
                    <a:ext uri="{FF2B5EF4-FFF2-40B4-BE49-F238E27FC236}">
                      <a16:creationId xmlns:a16="http://schemas.microsoft.com/office/drawing/2014/main" id="{1EB6872D-63E3-496A-95A0-23D3F7B1A0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1680"/>
                  <a:ext cx="336" cy="912"/>
                </a:xfrm>
                <a:prstGeom prst="rect">
                  <a:avLst/>
                </a:prstGeom>
                <a:solidFill>
                  <a:schemeClr val="accent2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</p:grpSp>
          <p:grpSp>
            <p:nvGrpSpPr>
              <p:cNvPr id="28722" name="Group 22">
                <a:extLst>
                  <a:ext uri="{FF2B5EF4-FFF2-40B4-BE49-F238E27FC236}">
                    <a16:creationId xmlns:a16="http://schemas.microsoft.com/office/drawing/2014/main" id="{BDCA2CB0-3440-AE5A-7775-DBE5205BCF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7" y="2661"/>
                <a:ext cx="1056" cy="1104"/>
                <a:chOff x="288" y="3216"/>
                <a:chExt cx="1056" cy="864"/>
              </a:xfrm>
            </p:grpSpPr>
            <p:sp>
              <p:nvSpPr>
                <p:cNvPr id="28734" name="Rectangle 23">
                  <a:extLst>
                    <a:ext uri="{FF2B5EF4-FFF2-40B4-BE49-F238E27FC236}">
                      <a16:creationId xmlns:a16="http://schemas.microsoft.com/office/drawing/2014/main" id="{D8A56C62-C778-632F-206D-FC9B095118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3216"/>
                  <a:ext cx="1056" cy="192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/>
                <a:lstStyle>
                  <a:lvl1pPr defTabSz="76200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solidFill>
                        <a:srgbClr val="000000"/>
                      </a:solidFill>
                      <a:latin typeface="Verdana" panose="020B0604030504040204" pitchFamily="34" charset="0"/>
                    </a:rPr>
                    <a:t>Dado Original</a:t>
                  </a:r>
                </a:p>
              </p:txBody>
            </p:sp>
            <p:sp>
              <p:nvSpPr>
                <p:cNvPr id="28735" name="Rectangle 24">
                  <a:extLst>
                    <a:ext uri="{FF2B5EF4-FFF2-40B4-BE49-F238E27FC236}">
                      <a16:creationId xmlns:a16="http://schemas.microsoft.com/office/drawing/2014/main" id="{66F91E0F-C6C2-175F-6297-FD2CB996AE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3408"/>
                  <a:ext cx="1056" cy="672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/>
                <a:lstStyle>
                  <a:lvl1pPr defTabSz="76200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400">
                      <a:solidFill>
                        <a:srgbClr val="000000"/>
                      </a:solidFill>
                      <a:latin typeface="Verdana" panose="020B0604030504040204" pitchFamily="34" charset="0"/>
                    </a:rPr>
                    <a:t>Ser fácil de usar</a:t>
                  </a:r>
                </a:p>
              </p:txBody>
            </p:sp>
          </p:grpSp>
          <p:sp>
            <p:nvSpPr>
              <p:cNvPr id="28723" name="Freeform 25">
                <a:extLst>
                  <a:ext uri="{FF2B5EF4-FFF2-40B4-BE49-F238E27FC236}">
                    <a16:creationId xmlns:a16="http://schemas.microsoft.com/office/drawing/2014/main" id="{799630AA-D153-AAB8-2D7D-D728DA4EC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2352"/>
                <a:ext cx="1902" cy="306"/>
              </a:xfrm>
              <a:custGeom>
                <a:avLst/>
                <a:gdLst>
                  <a:gd name="T0" fmla="*/ 1902 w 1902"/>
                  <a:gd name="T1" fmla="*/ 3 h 306"/>
                  <a:gd name="T2" fmla="*/ 1047 w 1902"/>
                  <a:gd name="T3" fmla="*/ 303 h 306"/>
                  <a:gd name="T4" fmla="*/ 0 w 1902"/>
                  <a:gd name="T5" fmla="*/ 306 h 306"/>
                  <a:gd name="T6" fmla="*/ 1578 w 1902"/>
                  <a:gd name="T7" fmla="*/ 0 h 306"/>
                  <a:gd name="T8" fmla="*/ 1902 w 1902"/>
                  <a:gd name="T9" fmla="*/ 3 h 3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02"/>
                  <a:gd name="T16" fmla="*/ 0 h 306"/>
                  <a:gd name="T17" fmla="*/ 1902 w 1902"/>
                  <a:gd name="T18" fmla="*/ 306 h 3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02" h="306">
                    <a:moveTo>
                      <a:pt x="1902" y="3"/>
                    </a:moveTo>
                    <a:lnTo>
                      <a:pt x="1047" y="303"/>
                    </a:lnTo>
                    <a:lnTo>
                      <a:pt x="0" y="306"/>
                    </a:lnTo>
                    <a:lnTo>
                      <a:pt x="1578" y="0"/>
                    </a:lnTo>
                    <a:lnTo>
                      <a:pt x="1902" y="3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grpSp>
            <p:nvGrpSpPr>
              <p:cNvPr id="28724" name="Group 26">
                <a:extLst>
                  <a:ext uri="{FF2B5EF4-FFF2-40B4-BE49-F238E27FC236}">
                    <a16:creationId xmlns:a16="http://schemas.microsoft.com/office/drawing/2014/main" id="{992AE166-33AD-FA28-A563-04F21FB78F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9" y="1525"/>
                <a:ext cx="336" cy="829"/>
                <a:chOff x="2544" y="1536"/>
                <a:chExt cx="336" cy="1056"/>
              </a:xfrm>
            </p:grpSpPr>
            <p:sp>
              <p:nvSpPr>
                <p:cNvPr id="28732" name="Rectangle 27">
                  <a:extLst>
                    <a:ext uri="{FF2B5EF4-FFF2-40B4-BE49-F238E27FC236}">
                      <a16:creationId xmlns:a16="http://schemas.microsoft.com/office/drawing/2014/main" id="{2B10ACA9-6B04-BA0B-5DC4-3BD82EC526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1536"/>
                  <a:ext cx="336" cy="144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733" name="Rectangle 28">
                  <a:extLst>
                    <a:ext uri="{FF2B5EF4-FFF2-40B4-BE49-F238E27FC236}">
                      <a16:creationId xmlns:a16="http://schemas.microsoft.com/office/drawing/2014/main" id="{080F8235-F7E4-527C-00DC-34AA8093C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1680"/>
                  <a:ext cx="336" cy="912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</p:grpSp>
          <p:grpSp>
            <p:nvGrpSpPr>
              <p:cNvPr id="28725" name="Group 30">
                <a:extLst>
                  <a:ext uri="{FF2B5EF4-FFF2-40B4-BE49-F238E27FC236}">
                    <a16:creationId xmlns:a16="http://schemas.microsoft.com/office/drawing/2014/main" id="{96C7D74E-AC20-B423-D297-7D932487F5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03" y="2659"/>
                <a:ext cx="1056" cy="1104"/>
                <a:chOff x="2400" y="3216"/>
                <a:chExt cx="1056" cy="864"/>
              </a:xfrm>
            </p:grpSpPr>
            <p:sp>
              <p:nvSpPr>
                <p:cNvPr id="28730" name="Rectangle 31">
                  <a:extLst>
                    <a:ext uri="{FF2B5EF4-FFF2-40B4-BE49-F238E27FC236}">
                      <a16:creationId xmlns:a16="http://schemas.microsoft.com/office/drawing/2014/main" id="{114847A9-1003-E960-CF2B-33773D032E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216"/>
                  <a:ext cx="1056" cy="192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/>
                <a:lstStyle>
                  <a:lvl1pPr defTabSz="76200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2000">
                      <a:solidFill>
                        <a:srgbClr val="000000"/>
                      </a:solidFill>
                      <a:latin typeface="Verdana" panose="020B0604030504040204" pitchFamily="34" charset="0"/>
                    </a:rPr>
                    <a:t>Requisito</a:t>
                  </a:r>
                  <a:endParaRPr lang="pt-BR" altLang="pt-BR" sz="1600">
                    <a:solidFill>
                      <a:srgbClr val="000000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28731" name="Rectangle 32">
                  <a:extLst>
                    <a:ext uri="{FF2B5EF4-FFF2-40B4-BE49-F238E27FC236}">
                      <a16:creationId xmlns:a16="http://schemas.microsoft.com/office/drawing/2014/main" id="{671513A7-BAD3-1679-E059-37AD142F14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408"/>
                  <a:ext cx="1056" cy="672"/>
                </a:xfrm>
                <a:prstGeom prst="rect">
                  <a:avLst/>
                </a:prstGeom>
                <a:solidFill>
                  <a:srgbClr val="33CC33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anchor="ctr"/>
                <a:lstStyle>
                  <a:lvl1pPr defTabSz="76200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76200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7620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solidFill>
                        <a:srgbClr val="000000"/>
                      </a:solidFill>
                      <a:latin typeface="Verdana" panose="020B0604030504040204" pitchFamily="34" charset="0"/>
                    </a:rPr>
                    <a:t>Procedimento simples para serviço rotineiro</a:t>
                  </a:r>
                </a:p>
              </p:txBody>
            </p:sp>
          </p:grpSp>
          <p:sp>
            <p:nvSpPr>
              <p:cNvPr id="28726" name="Freeform 33">
                <a:extLst>
                  <a:ext uri="{FF2B5EF4-FFF2-40B4-BE49-F238E27FC236}">
                    <a16:creationId xmlns:a16="http://schemas.microsoft.com/office/drawing/2014/main" id="{F87AE227-FE73-6A6F-308B-0DF88C6B5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352"/>
                <a:ext cx="1056" cy="303"/>
              </a:xfrm>
              <a:custGeom>
                <a:avLst/>
                <a:gdLst>
                  <a:gd name="T0" fmla="*/ 147 w 1056"/>
                  <a:gd name="T1" fmla="*/ 3 h 303"/>
                  <a:gd name="T2" fmla="*/ 0 w 1056"/>
                  <a:gd name="T3" fmla="*/ 303 h 303"/>
                  <a:gd name="T4" fmla="*/ 1056 w 1056"/>
                  <a:gd name="T5" fmla="*/ 303 h 303"/>
                  <a:gd name="T6" fmla="*/ 480 w 1056"/>
                  <a:gd name="T7" fmla="*/ 0 h 303"/>
                  <a:gd name="T8" fmla="*/ 147 w 1056"/>
                  <a:gd name="T9" fmla="*/ 3 h 3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56"/>
                  <a:gd name="T16" fmla="*/ 0 h 303"/>
                  <a:gd name="T17" fmla="*/ 1056 w 1056"/>
                  <a:gd name="T18" fmla="*/ 303 h 30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56" h="303">
                    <a:moveTo>
                      <a:pt x="147" y="3"/>
                    </a:moveTo>
                    <a:lnTo>
                      <a:pt x="0" y="303"/>
                    </a:lnTo>
                    <a:lnTo>
                      <a:pt x="1056" y="303"/>
                    </a:lnTo>
                    <a:lnTo>
                      <a:pt x="480" y="0"/>
                    </a:lnTo>
                    <a:lnTo>
                      <a:pt x="147" y="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CC33"/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grpSp>
            <p:nvGrpSpPr>
              <p:cNvPr id="28727" name="Group 34">
                <a:extLst>
                  <a:ext uri="{FF2B5EF4-FFF2-40B4-BE49-F238E27FC236}">
                    <a16:creationId xmlns:a16="http://schemas.microsoft.com/office/drawing/2014/main" id="{B6715CBF-357E-49F3-3EB7-ADFF5B03F7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52" y="1525"/>
                <a:ext cx="336" cy="829"/>
                <a:chOff x="3216" y="1536"/>
                <a:chExt cx="336" cy="1056"/>
              </a:xfrm>
            </p:grpSpPr>
            <p:sp>
              <p:nvSpPr>
                <p:cNvPr id="28728" name="Rectangle 35">
                  <a:extLst>
                    <a:ext uri="{FF2B5EF4-FFF2-40B4-BE49-F238E27FC236}">
                      <a16:creationId xmlns:a16="http://schemas.microsoft.com/office/drawing/2014/main" id="{15D6E30B-CB7F-DC1C-3AFB-49D45B3765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1536"/>
                  <a:ext cx="336" cy="144"/>
                </a:xfrm>
                <a:prstGeom prst="rect">
                  <a:avLst/>
                </a:prstGeom>
                <a:solidFill>
                  <a:srgbClr val="33CC33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729" name="Rectangle 36">
                  <a:extLst>
                    <a:ext uri="{FF2B5EF4-FFF2-40B4-BE49-F238E27FC236}">
                      <a16:creationId xmlns:a16="http://schemas.microsoft.com/office/drawing/2014/main" id="{57E5607F-DE97-286D-BA25-89066233C1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1680"/>
                  <a:ext cx="336" cy="912"/>
                </a:xfrm>
                <a:prstGeom prst="rect">
                  <a:avLst/>
                </a:prstGeom>
                <a:solidFill>
                  <a:srgbClr val="33CC33"/>
                </a:solidFill>
                <a:ln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</p:grpSp>
        </p:grpSp>
        <p:sp>
          <p:nvSpPr>
            <p:cNvPr id="28718" name="AutoShape 55">
              <a:extLst>
                <a:ext uri="{FF2B5EF4-FFF2-40B4-BE49-F238E27FC236}">
                  <a16:creationId xmlns:a16="http://schemas.microsoft.com/office/drawing/2014/main" id="{DF24C8D3-3F51-F277-78CA-89FCE9C58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661"/>
              <a:ext cx="408" cy="632"/>
            </a:xfrm>
            <a:prstGeom prst="rightArrow">
              <a:avLst>
                <a:gd name="adj1" fmla="val 50000"/>
                <a:gd name="adj2" fmla="val 53644"/>
              </a:avLst>
            </a:prstGeom>
            <a:solidFill>
              <a:srgbClr val="3366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</p:grpSp>
      <p:grpSp>
        <p:nvGrpSpPr>
          <p:cNvPr id="10" name="Group 77">
            <a:extLst>
              <a:ext uri="{FF2B5EF4-FFF2-40B4-BE49-F238E27FC236}">
                <a16:creationId xmlns:a16="http://schemas.microsoft.com/office/drawing/2014/main" id="{81882AB5-DFBA-F190-559C-BEB76EEE9D0C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2565400"/>
            <a:ext cx="1584325" cy="1362075"/>
            <a:chOff x="144" y="1200"/>
            <a:chExt cx="1680" cy="1584"/>
          </a:xfrm>
        </p:grpSpPr>
        <p:grpSp>
          <p:nvGrpSpPr>
            <p:cNvPr id="28701" name="Group 78">
              <a:extLst>
                <a:ext uri="{FF2B5EF4-FFF2-40B4-BE49-F238E27FC236}">
                  <a16:creationId xmlns:a16="http://schemas.microsoft.com/office/drawing/2014/main" id="{7CCFF23E-1365-C449-FD1F-6546E1EFDA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1200"/>
              <a:ext cx="432" cy="1152"/>
              <a:chOff x="528" y="1200"/>
              <a:chExt cx="432" cy="1152"/>
            </a:xfrm>
          </p:grpSpPr>
          <p:sp>
            <p:nvSpPr>
              <p:cNvPr id="28715" name="AutoShape 79">
                <a:extLst>
                  <a:ext uri="{FF2B5EF4-FFF2-40B4-BE49-F238E27FC236}">
                    <a16:creationId xmlns:a16="http://schemas.microsoft.com/office/drawing/2014/main" id="{8E617875-79EA-EB57-38EF-B2EFADE90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2112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16" name="AutoShape 80">
                <a:extLst>
                  <a:ext uri="{FF2B5EF4-FFF2-40B4-BE49-F238E27FC236}">
                    <a16:creationId xmlns:a16="http://schemas.microsoft.com/office/drawing/2014/main" id="{8CE20BB1-9DF5-33FE-3965-D37042B1F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1200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</p:grpSp>
        <p:grpSp>
          <p:nvGrpSpPr>
            <p:cNvPr id="28702" name="Group 81">
              <a:extLst>
                <a:ext uri="{FF2B5EF4-FFF2-40B4-BE49-F238E27FC236}">
                  <a16:creationId xmlns:a16="http://schemas.microsoft.com/office/drawing/2014/main" id="{6E65F19A-761D-E30B-8B0A-96D4DA2397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344"/>
              <a:ext cx="1680" cy="1440"/>
              <a:chOff x="144" y="1344"/>
              <a:chExt cx="1680" cy="1440"/>
            </a:xfrm>
          </p:grpSpPr>
          <p:sp>
            <p:nvSpPr>
              <p:cNvPr id="28703" name="AutoShape 82">
                <a:extLst>
                  <a:ext uri="{FF2B5EF4-FFF2-40B4-BE49-F238E27FC236}">
                    <a16:creationId xmlns:a16="http://schemas.microsoft.com/office/drawing/2014/main" id="{698A6A6E-498E-3814-1D3F-CFEC69021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1728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04" name="AutoShape 83">
                <a:extLst>
                  <a:ext uri="{FF2B5EF4-FFF2-40B4-BE49-F238E27FC236}">
                    <a16:creationId xmlns:a16="http://schemas.microsoft.com/office/drawing/2014/main" id="{827F4462-DF67-41C7-55BA-85A442137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2400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05" name="AutoShape 84">
                <a:extLst>
                  <a:ext uri="{FF2B5EF4-FFF2-40B4-BE49-F238E27FC236}">
                    <a16:creationId xmlns:a16="http://schemas.microsoft.com/office/drawing/2014/main" id="{95E961E0-735A-2B6F-537F-8B203FB26F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1536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06" name="AutoShape 85">
                <a:extLst>
                  <a:ext uri="{FF2B5EF4-FFF2-40B4-BE49-F238E27FC236}">
                    <a16:creationId xmlns:a16="http://schemas.microsoft.com/office/drawing/2014/main" id="{1A83F888-FEFE-86C7-CD33-ECF63217E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1680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07" name="AutoShape 86">
                <a:extLst>
                  <a:ext uri="{FF2B5EF4-FFF2-40B4-BE49-F238E27FC236}">
                    <a16:creationId xmlns:a16="http://schemas.microsoft.com/office/drawing/2014/main" id="{03D9457E-0E46-1C39-98FC-010E6944D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112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08" name="AutoShape 87">
                <a:extLst>
                  <a:ext uri="{FF2B5EF4-FFF2-40B4-BE49-F238E27FC236}">
                    <a16:creationId xmlns:a16="http://schemas.microsoft.com/office/drawing/2014/main" id="{8B41B52C-6E72-C44A-1EA8-9F7328A364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09" name="AutoShape 88">
                <a:extLst>
                  <a:ext uri="{FF2B5EF4-FFF2-40B4-BE49-F238E27FC236}">
                    <a16:creationId xmlns:a16="http://schemas.microsoft.com/office/drawing/2014/main" id="{11622E31-4A5B-175D-7CCA-B445A645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344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10" name="AutoShape 89">
                <a:extLst>
                  <a:ext uri="{FF2B5EF4-FFF2-40B4-BE49-F238E27FC236}">
                    <a16:creationId xmlns:a16="http://schemas.microsoft.com/office/drawing/2014/main" id="{2560F63D-0E34-8DFC-5559-91C129AE8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872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11" name="AutoShape 90">
                <a:extLst>
                  <a:ext uri="{FF2B5EF4-FFF2-40B4-BE49-F238E27FC236}">
                    <a16:creationId xmlns:a16="http://schemas.microsoft.com/office/drawing/2014/main" id="{53CED7EF-C9C0-271D-539F-8D31E3A81F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344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12" name="AutoShape 91">
                <a:extLst>
                  <a:ext uri="{FF2B5EF4-FFF2-40B4-BE49-F238E27FC236}">
                    <a16:creationId xmlns:a16="http://schemas.microsoft.com/office/drawing/2014/main" id="{9B016E66-F98E-E3E1-CB86-CB7A59A86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544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13" name="AutoShape 92">
                <a:extLst>
                  <a:ext uri="{FF2B5EF4-FFF2-40B4-BE49-F238E27FC236}">
                    <a16:creationId xmlns:a16="http://schemas.microsoft.com/office/drawing/2014/main" id="{387B15C3-E1CD-35BE-2CE4-C8D27E1B9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2016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sp>
            <p:nvSpPr>
              <p:cNvPr id="28714" name="AutoShape 93">
                <a:extLst>
                  <a:ext uri="{FF2B5EF4-FFF2-40B4-BE49-F238E27FC236}">
                    <a16:creationId xmlns:a16="http://schemas.microsoft.com/office/drawing/2014/main" id="{8A7D0818-CCA3-CB3C-80DC-4C170C965D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2352"/>
                <a:ext cx="240" cy="240"/>
              </a:xfrm>
              <a:prstGeom prst="foldedCorner">
                <a:avLst>
                  <a:gd name="adj" fmla="val 37500"/>
                </a:avLst>
              </a:prstGeom>
              <a:solidFill>
                <a:srgbClr val="FFFF00"/>
              </a:solidFill>
              <a:ln w="12700">
                <a:solidFill>
                  <a:srgbClr val="00336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</p:grpSp>
      </p:grpSp>
      <p:sp>
        <p:nvSpPr>
          <p:cNvPr id="228453" name="AutoShape 101">
            <a:extLst>
              <a:ext uri="{FF2B5EF4-FFF2-40B4-BE49-F238E27FC236}">
                <a16:creationId xmlns:a16="http://schemas.microsoft.com/office/drawing/2014/main" id="{E2ADA079-3FEA-F0A5-071D-A419FC3D0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557338"/>
            <a:ext cx="1225550" cy="863600"/>
          </a:xfrm>
          <a:prstGeom prst="can">
            <a:avLst>
              <a:gd name="adj" fmla="val 25000"/>
            </a:avLst>
          </a:prstGeom>
          <a:solidFill>
            <a:srgbClr val="996633"/>
          </a:solidFill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pt-BR" sz="1600">
                <a:solidFill>
                  <a:srgbClr val="FFFFCC"/>
                </a:solidFill>
                <a:latin typeface="Verdana" panose="020B0604030504040204" pitchFamily="34" charset="0"/>
              </a:rPr>
              <a:t>Dados Originais</a:t>
            </a:r>
          </a:p>
        </p:txBody>
      </p:sp>
      <p:grpSp>
        <p:nvGrpSpPr>
          <p:cNvPr id="13" name="Group 143">
            <a:extLst>
              <a:ext uri="{FF2B5EF4-FFF2-40B4-BE49-F238E27FC236}">
                <a16:creationId xmlns:a16="http://schemas.microsoft.com/office/drawing/2014/main" id="{2083AFAD-EB31-0B88-F169-79208A4F349C}"/>
              </a:ext>
            </a:extLst>
          </p:cNvPr>
          <p:cNvGrpSpPr>
            <a:grpSpLocks/>
          </p:cNvGrpSpPr>
          <p:nvPr/>
        </p:nvGrpSpPr>
        <p:grpSpPr bwMode="auto">
          <a:xfrm>
            <a:off x="7164388" y="4149725"/>
            <a:ext cx="1676400" cy="2232025"/>
            <a:chOff x="4513" y="2614"/>
            <a:chExt cx="817" cy="1043"/>
          </a:xfrm>
        </p:grpSpPr>
        <p:sp>
          <p:nvSpPr>
            <p:cNvPr id="28699" name="AutoShape 120">
              <a:extLst>
                <a:ext uri="{FF2B5EF4-FFF2-40B4-BE49-F238E27FC236}">
                  <a16:creationId xmlns:a16="http://schemas.microsoft.com/office/drawing/2014/main" id="{5790E89C-B3EB-B66F-CCE3-3B203D7DEC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716" y="2502"/>
              <a:ext cx="408" cy="632"/>
            </a:xfrm>
            <a:prstGeom prst="rightArrow">
              <a:avLst>
                <a:gd name="adj1" fmla="val 50000"/>
                <a:gd name="adj2" fmla="val 53644"/>
              </a:avLst>
            </a:prstGeom>
            <a:solidFill>
              <a:srgbClr val="3366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28700" name="AutoShape 121">
              <a:extLst>
                <a:ext uri="{FF2B5EF4-FFF2-40B4-BE49-F238E27FC236}">
                  <a16:creationId xmlns:a16="http://schemas.microsoft.com/office/drawing/2014/main" id="{13BDAC78-4C76-ED98-7595-CCF72928C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3113"/>
              <a:ext cx="817" cy="544"/>
            </a:xfrm>
            <a:prstGeom prst="can">
              <a:avLst>
                <a:gd name="adj" fmla="val 25000"/>
              </a:avLst>
            </a:prstGeom>
            <a:solidFill>
              <a:srgbClr val="996633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anchor="ctr"/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pt-BR" sz="1600" dirty="0" err="1">
                  <a:solidFill>
                    <a:srgbClr val="FFFFCC"/>
                  </a:solidFill>
                  <a:latin typeface="Verdana" panose="020B0604030504040204" pitchFamily="34" charset="0"/>
                </a:rPr>
                <a:t>Requisitos</a:t>
              </a:r>
              <a:endParaRPr lang="en-US" altLang="pt-BR" sz="1600" dirty="0">
                <a:solidFill>
                  <a:srgbClr val="FFFFCC"/>
                </a:solidFill>
                <a:latin typeface="Verdana" panose="020B0604030504040204" pitchFamily="34" charset="0"/>
              </a:endParaRP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pt-BR" sz="1600" dirty="0" err="1">
                  <a:solidFill>
                    <a:srgbClr val="FFFFCC"/>
                  </a:solidFill>
                  <a:latin typeface="Verdana" panose="020B0604030504040204" pitchFamily="34" charset="0"/>
                </a:rPr>
                <a:t>Clientes</a:t>
              </a:r>
              <a:endParaRPr lang="en-US" altLang="pt-BR" sz="1600" dirty="0">
                <a:solidFill>
                  <a:srgbClr val="FFFFCC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14" name="Group 142">
            <a:extLst>
              <a:ext uri="{FF2B5EF4-FFF2-40B4-BE49-F238E27FC236}">
                <a16:creationId xmlns:a16="http://schemas.microsoft.com/office/drawing/2014/main" id="{E8E04226-9D7F-A722-F0D9-AB412F44E81F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2565400"/>
            <a:ext cx="2665412" cy="1362075"/>
            <a:chOff x="3651" y="1616"/>
            <a:chExt cx="1679" cy="858"/>
          </a:xfrm>
        </p:grpSpPr>
        <p:sp>
          <p:nvSpPr>
            <p:cNvPr id="28681" name="AutoShape 119">
              <a:extLst>
                <a:ext uri="{FF2B5EF4-FFF2-40B4-BE49-F238E27FC236}">
                  <a16:creationId xmlns:a16="http://schemas.microsoft.com/office/drawing/2014/main" id="{732EC446-4499-1BAF-87EE-94C290321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661"/>
              <a:ext cx="408" cy="632"/>
            </a:xfrm>
            <a:prstGeom prst="rightArrow">
              <a:avLst>
                <a:gd name="adj1" fmla="val 50000"/>
                <a:gd name="adj2" fmla="val 53644"/>
              </a:avLst>
            </a:prstGeom>
            <a:solidFill>
              <a:srgbClr val="3366FF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grpSp>
          <p:nvGrpSpPr>
            <p:cNvPr id="28682" name="Group 123">
              <a:extLst>
                <a:ext uri="{FF2B5EF4-FFF2-40B4-BE49-F238E27FC236}">
                  <a16:creationId xmlns:a16="http://schemas.microsoft.com/office/drawing/2014/main" id="{3BF256DC-63A6-8A68-7F73-72C3972309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616"/>
              <a:ext cx="998" cy="858"/>
              <a:chOff x="144" y="1200"/>
              <a:chExt cx="1680" cy="1584"/>
            </a:xfrm>
          </p:grpSpPr>
          <p:grpSp>
            <p:nvGrpSpPr>
              <p:cNvPr id="28683" name="Group 124">
                <a:extLst>
                  <a:ext uri="{FF2B5EF4-FFF2-40B4-BE49-F238E27FC236}">
                    <a16:creationId xmlns:a16="http://schemas.microsoft.com/office/drawing/2014/main" id="{9C81988D-CEC2-B63A-B99A-9F05B5776D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200"/>
                <a:ext cx="432" cy="1152"/>
                <a:chOff x="528" y="1200"/>
                <a:chExt cx="432" cy="1152"/>
              </a:xfrm>
            </p:grpSpPr>
            <p:sp>
              <p:nvSpPr>
                <p:cNvPr id="28697" name="AutoShape 125">
                  <a:extLst>
                    <a:ext uri="{FF2B5EF4-FFF2-40B4-BE49-F238E27FC236}">
                      <a16:creationId xmlns:a16="http://schemas.microsoft.com/office/drawing/2014/main" id="{53071908-AC89-AB23-8120-AEA4797A3D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2112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98" name="AutoShape 126">
                  <a:extLst>
                    <a:ext uri="{FF2B5EF4-FFF2-40B4-BE49-F238E27FC236}">
                      <a16:creationId xmlns:a16="http://schemas.microsoft.com/office/drawing/2014/main" id="{44D41BBC-7BB2-4FDB-D42D-9B5EF76A6F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1200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</p:grpSp>
          <p:grpSp>
            <p:nvGrpSpPr>
              <p:cNvPr id="28684" name="Group 127">
                <a:extLst>
                  <a:ext uri="{FF2B5EF4-FFF2-40B4-BE49-F238E27FC236}">
                    <a16:creationId xmlns:a16="http://schemas.microsoft.com/office/drawing/2014/main" id="{31CF7171-FAFB-F0EF-C402-13C526FCE9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4" y="1344"/>
                <a:ext cx="1680" cy="1440"/>
                <a:chOff x="144" y="1344"/>
                <a:chExt cx="1680" cy="1440"/>
              </a:xfrm>
            </p:grpSpPr>
            <p:sp>
              <p:nvSpPr>
                <p:cNvPr id="28685" name="AutoShape 128">
                  <a:extLst>
                    <a:ext uri="{FF2B5EF4-FFF2-40B4-BE49-F238E27FC236}">
                      <a16:creationId xmlns:a16="http://schemas.microsoft.com/office/drawing/2014/main" id="{40C4F8AD-8605-4058-389E-83A021C6F4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1728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86" name="AutoShape 129">
                  <a:extLst>
                    <a:ext uri="{FF2B5EF4-FFF2-40B4-BE49-F238E27FC236}">
                      <a16:creationId xmlns:a16="http://schemas.microsoft.com/office/drawing/2014/main" id="{873780D3-D64E-CC5B-6360-945AC64858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400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87" name="AutoShape 130">
                  <a:extLst>
                    <a:ext uri="{FF2B5EF4-FFF2-40B4-BE49-F238E27FC236}">
                      <a16:creationId xmlns:a16="http://schemas.microsoft.com/office/drawing/2014/main" id="{AED19B36-1FAC-3652-170C-BD2273E5CE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" y="1536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88" name="AutoShape 131">
                  <a:extLst>
                    <a:ext uri="{FF2B5EF4-FFF2-40B4-BE49-F238E27FC236}">
                      <a16:creationId xmlns:a16="http://schemas.microsoft.com/office/drawing/2014/main" id="{D127E490-F25D-AC5D-9756-ACC565834B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680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89" name="AutoShape 132">
                  <a:extLst>
                    <a:ext uri="{FF2B5EF4-FFF2-40B4-BE49-F238E27FC236}">
                      <a16:creationId xmlns:a16="http://schemas.microsoft.com/office/drawing/2014/main" id="{1861F247-F7F1-73DE-6B98-11266070B6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112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90" name="AutoShape 133">
                  <a:extLst>
                    <a:ext uri="{FF2B5EF4-FFF2-40B4-BE49-F238E27FC236}">
                      <a16:creationId xmlns:a16="http://schemas.microsoft.com/office/drawing/2014/main" id="{7D0BD977-2A81-0775-2413-6AB0100CFB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91" name="AutoShape 134">
                  <a:extLst>
                    <a:ext uri="{FF2B5EF4-FFF2-40B4-BE49-F238E27FC236}">
                      <a16:creationId xmlns:a16="http://schemas.microsoft.com/office/drawing/2014/main" id="{423AD978-3A24-1232-E5D4-356BCC4952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1344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92" name="AutoShape 135">
                  <a:extLst>
                    <a:ext uri="{FF2B5EF4-FFF2-40B4-BE49-F238E27FC236}">
                      <a16:creationId xmlns:a16="http://schemas.microsoft.com/office/drawing/2014/main" id="{1C60958D-B84E-EBF0-09E3-E8428A0C4F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84" y="1872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93" name="AutoShape 136">
                  <a:extLst>
                    <a:ext uri="{FF2B5EF4-FFF2-40B4-BE49-F238E27FC236}">
                      <a16:creationId xmlns:a16="http://schemas.microsoft.com/office/drawing/2014/main" id="{7C409404-D2E5-00C4-CD95-6870A5D092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1344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94" name="AutoShape 137">
                  <a:extLst>
                    <a:ext uri="{FF2B5EF4-FFF2-40B4-BE49-F238E27FC236}">
                      <a16:creationId xmlns:a16="http://schemas.microsoft.com/office/drawing/2014/main" id="{41EED1D4-0B20-DA85-BCE4-B6A1D976EB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2" y="2544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95" name="AutoShape 138">
                  <a:extLst>
                    <a:ext uri="{FF2B5EF4-FFF2-40B4-BE49-F238E27FC236}">
                      <a16:creationId xmlns:a16="http://schemas.microsoft.com/office/drawing/2014/main" id="{B558BFF3-AAD1-C9E5-9CC5-9210779CBE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" y="2016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28696" name="AutoShape 139">
                  <a:extLst>
                    <a:ext uri="{FF2B5EF4-FFF2-40B4-BE49-F238E27FC236}">
                      <a16:creationId xmlns:a16="http://schemas.microsoft.com/office/drawing/2014/main" id="{A7CA66F1-20D1-EBC7-DCBF-AA566482A1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" y="2352"/>
                  <a:ext cx="240" cy="240"/>
                </a:xfrm>
                <a:prstGeom prst="foldedCorner">
                  <a:avLst>
                    <a:gd name="adj" fmla="val 37500"/>
                  </a:avLst>
                </a:prstGeom>
                <a:solidFill>
                  <a:schemeClr val="folHlink"/>
                </a:solidFill>
                <a:ln w="12700">
                  <a:solidFill>
                    <a:srgbClr val="003366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</p:grpSp>
        </p:grp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BD2868-3870-8D7B-CC8F-2BD24CB48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284163"/>
            <a:ext cx="72517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 dirty="0">
                <a:solidFill>
                  <a:srgbClr val="0070C0"/>
                </a:solidFill>
              </a:rPr>
              <a:t>CENÁRIOS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6" grpId="0" animBg="1"/>
      <p:bldP spid="22845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B69212-5E27-721D-CF2A-5C744F6F3430}"/>
              </a:ext>
            </a:extLst>
          </p:cNvPr>
          <p:cNvSpPr txBox="1">
            <a:spLocks/>
          </p:cNvSpPr>
          <p:nvPr/>
        </p:nvSpPr>
        <p:spPr bwMode="auto">
          <a:xfrm>
            <a:off x="404813" y="1530350"/>
            <a:ext cx="8569325" cy="706438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pt-BR" sz="3600" kern="0" dirty="0"/>
              <a:t>MUITOS REQUISITOS DOS CLIENTES</a:t>
            </a:r>
          </a:p>
        </p:txBody>
      </p:sp>
      <p:pic>
        <p:nvPicPr>
          <p:cNvPr id="30722" name="Imagem 4">
            <a:extLst>
              <a:ext uri="{FF2B5EF4-FFF2-40B4-BE49-F238E27FC236}">
                <a16:creationId xmlns:a16="http://schemas.microsoft.com/office/drawing/2014/main" id="{E7D6CCB2-ABF4-1FE0-2289-69BC7FCE4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0" y="2413000"/>
            <a:ext cx="360045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A4A4CC98-9832-9E08-27A4-22027EE2E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9961562" cy="1143000"/>
          </a:xfrm>
        </p:spPr>
        <p:txBody>
          <a:bodyPr/>
          <a:lstStyle/>
          <a:p>
            <a:pPr eaLnBrk="1" hangingPunct="1"/>
            <a:r>
              <a:rPr lang="pt-BR" altLang="pt-BR" sz="4000"/>
              <a:t>Valorar Requisitos </a:t>
            </a:r>
            <a:br>
              <a:rPr lang="pt-BR" altLang="pt-BR" sz="4000"/>
            </a:br>
            <a:r>
              <a:rPr lang="pt-BR" altLang="pt-BR" sz="4000"/>
              <a:t>dos Clientes</a:t>
            </a:r>
          </a:p>
        </p:txBody>
      </p:sp>
      <p:sp>
        <p:nvSpPr>
          <p:cNvPr id="235523" name="Rectangle 3">
            <a:extLst>
              <a:ext uri="{FF2B5EF4-FFF2-40B4-BE49-F238E27FC236}">
                <a16:creationId xmlns:a16="http://schemas.microsoft.com/office/drawing/2014/main" id="{EDD6C6D2-B4A4-62C8-AA04-0775CD23AF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773238"/>
            <a:ext cx="5967412" cy="1917700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pt-BR" altLang="pt-BR">
                <a:solidFill>
                  <a:srgbClr val="002060"/>
                </a:solidFill>
              </a:rPr>
              <a:t>Diagrama de Kano.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pt-BR" altLang="pt-BR">
                <a:solidFill>
                  <a:srgbClr val="002060"/>
                </a:solidFill>
              </a:rPr>
              <a:t>Benchmarking.</a:t>
            </a:r>
          </a:p>
          <a:p>
            <a:pPr marL="457200" indent="-457200" eaLnBrk="1" hangingPunct="1">
              <a:lnSpc>
                <a:spcPct val="90000"/>
              </a:lnSpc>
              <a:buFontTx/>
              <a:buAutoNum type="arabicPeriod"/>
            </a:pPr>
            <a:r>
              <a:rPr lang="pt-BR" altLang="pt-BR">
                <a:solidFill>
                  <a:srgbClr val="002060"/>
                </a:solidFill>
              </a:rPr>
              <a:t>Diagrama de Mudge.</a:t>
            </a:r>
          </a:p>
          <a:p>
            <a:pPr marL="457200" indent="-457200" eaLnBrk="1" hangingPunct="1">
              <a:buFontTx/>
              <a:buNone/>
            </a:pPr>
            <a:endParaRPr lang="pt-BR" altLang="pt-BR">
              <a:solidFill>
                <a:srgbClr val="002060"/>
              </a:solidFill>
            </a:endParaRPr>
          </a:p>
        </p:txBody>
      </p:sp>
      <p:sp>
        <p:nvSpPr>
          <p:cNvPr id="235525" name="Rectangle 5">
            <a:extLst>
              <a:ext uri="{FF2B5EF4-FFF2-40B4-BE49-F238E27FC236}">
                <a16:creationId xmlns:a16="http://schemas.microsoft.com/office/drawing/2014/main" id="{9D96AA3C-B620-458F-06D5-9F98BF614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31748" name="Text Box 6">
            <a:extLst>
              <a:ext uri="{FF2B5EF4-FFF2-40B4-BE49-F238E27FC236}">
                <a16:creationId xmlns:a16="http://schemas.microsoft.com/office/drawing/2014/main" id="{2334471A-5951-C9C9-AD47-7AA6E7334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Valorar Req. Dos Clientes</a:t>
            </a:r>
          </a:p>
        </p:txBody>
      </p:sp>
      <p:pic>
        <p:nvPicPr>
          <p:cNvPr id="235528" name="Picture 8" descr="polegares">
            <a:extLst>
              <a:ext uri="{FF2B5EF4-FFF2-40B4-BE49-F238E27FC236}">
                <a16:creationId xmlns:a16="http://schemas.microsoft.com/office/drawing/2014/main" id="{91295D7B-5FF3-0ED4-C8D8-2810BF1C538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14988" y="1619250"/>
            <a:ext cx="2989262" cy="32067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CaixaDeTexto 1">
            <a:extLst>
              <a:ext uri="{FF2B5EF4-FFF2-40B4-BE49-F238E27FC236}">
                <a16:creationId xmlns:a16="http://schemas.microsoft.com/office/drawing/2014/main" id="{10EB743F-462B-2A8F-35A2-3CC3CC0E4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268288"/>
            <a:ext cx="54864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/>
              <a:t>1. DIAGRAMA KANO</a:t>
            </a:r>
          </a:p>
        </p:txBody>
      </p:sp>
      <p:sp>
        <p:nvSpPr>
          <p:cNvPr id="33794" name="CaixaDeTexto 2">
            <a:extLst>
              <a:ext uri="{FF2B5EF4-FFF2-40B4-BE49-F238E27FC236}">
                <a16:creationId xmlns:a16="http://schemas.microsoft.com/office/drawing/2014/main" id="{38075B46-DAA5-02DB-5A38-31D75847C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1055688"/>
            <a:ext cx="8418512" cy="600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rgbClr val="002060"/>
                </a:solidFill>
              </a:rPr>
              <a:t>É  um gráfico considerando a satisfação do cliente versus o desempenho do produto.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 u="sng"/>
              <a:t>REQUISITOS BÁSICOS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pt-BR" altLang="pt-BR" sz="2000"/>
              <a:t> Existem determinados requisitos do produto qualificados como </a:t>
            </a:r>
            <a:r>
              <a:rPr lang="pt-BR" altLang="pt-BR" sz="2000">
                <a:solidFill>
                  <a:srgbClr val="FF0000"/>
                </a:solidFill>
              </a:rPr>
              <a:t>básicos, </a:t>
            </a:r>
            <a:r>
              <a:rPr lang="pt-BR" altLang="pt-BR" sz="2000"/>
              <a:t>que não geram um incremento satisfação suficiente para os clientes,</a:t>
            </a:r>
            <a:r>
              <a:rPr lang="pt-BR" altLang="pt-BR" sz="2000">
                <a:solidFill>
                  <a:srgbClr val="FF0000"/>
                </a:solidFill>
              </a:rPr>
              <a:t> pois esses consideram que </a:t>
            </a:r>
            <a:r>
              <a:rPr lang="pt-BR" altLang="pt-BR" sz="2000" u="sng">
                <a:solidFill>
                  <a:srgbClr val="FF0000"/>
                </a:solidFill>
              </a:rPr>
              <a:t>tais requisitos necessariamente tem de estar no produto.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pt-BR" altLang="pt-BR" sz="2000"/>
              <a:t> Não são verbalizados pelos clientes, mas não estiverem implementados no produto final os consumidores ficarão insatisfeitos.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pt-BR" altLang="pt-BR" sz="2000"/>
              <a:t> Se esse são incluídos, os clientes ficarão neutros. 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u="sng">
                <a:solidFill>
                  <a:srgbClr val="FF0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CaixaDeTexto 1">
            <a:extLst>
              <a:ext uri="{FF2B5EF4-FFF2-40B4-BE49-F238E27FC236}">
                <a16:creationId xmlns:a16="http://schemas.microsoft.com/office/drawing/2014/main" id="{4F296471-0E3E-D0DF-0122-0EC226B0D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268288"/>
            <a:ext cx="54864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/>
              <a:t>1.DIAGRAMA KANO</a:t>
            </a:r>
          </a:p>
        </p:txBody>
      </p:sp>
      <p:sp>
        <p:nvSpPr>
          <p:cNvPr id="34818" name="CaixaDeTexto 2">
            <a:extLst>
              <a:ext uri="{FF2B5EF4-FFF2-40B4-BE49-F238E27FC236}">
                <a16:creationId xmlns:a16="http://schemas.microsoft.com/office/drawing/2014/main" id="{130DEED1-4E7F-17E7-04DF-C1DE18D99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763588"/>
            <a:ext cx="8420100" cy="609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 u="sng" dirty="0"/>
              <a:t>REQUISITOS DE DESEMPENHO ESPERADO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pt-BR" altLang="pt-BR" sz="2000" dirty="0"/>
              <a:t> Aqueles requisitos verbalizados pelos clientes e que, quanto melhor o seu desempenho, maior será a satisfação do clientes. </a:t>
            </a:r>
            <a:r>
              <a:rPr lang="pt-BR" altLang="pt-BR" sz="2000" u="sng" dirty="0">
                <a:solidFill>
                  <a:srgbClr val="FF0000"/>
                </a:solidFill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2000" b="1" u="sng" dirty="0"/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 u="sng" dirty="0"/>
              <a:t>REQUISITOS SURPREENDAM OS CLIENTES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pt-BR" altLang="pt-BR" sz="2000" b="1" u="sng" dirty="0"/>
              <a:t> </a:t>
            </a:r>
            <a:r>
              <a:rPr lang="pt-BR" altLang="pt-BR" sz="2000" dirty="0"/>
              <a:t>O principal objetivo de determinar o que os clientes esperam do produto (voz dos clientes) é achar os requisitos que realmente agradam e </a:t>
            </a:r>
            <a:r>
              <a:rPr lang="pt-BR" altLang="pt-BR" sz="2000" dirty="0" err="1"/>
              <a:t>supreendam</a:t>
            </a:r>
            <a:r>
              <a:rPr lang="pt-BR" altLang="pt-BR" sz="2000" dirty="0"/>
              <a:t> favoravelmente  os clientes, pois geram benefícios que os clientes não esperavam.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pt-BR" altLang="pt-BR" sz="2000" dirty="0"/>
              <a:t>Esses requisitos que causam impacto nos clientes agrupam características e qualidade do produto não verbalizadas na maioria das vezes pelos clientes.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2000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F02D689E-6588-5F10-B5FE-557C7E857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1. Diagrama de Kano</a:t>
            </a:r>
            <a:endParaRPr lang="pt-BR" altLang="pt-BR"/>
          </a:p>
        </p:txBody>
      </p:sp>
      <p:pic>
        <p:nvPicPr>
          <p:cNvPr id="35842" name="Picture 3" descr="satisfied">
            <a:extLst>
              <a:ext uri="{FF2B5EF4-FFF2-40B4-BE49-F238E27FC236}">
                <a16:creationId xmlns:a16="http://schemas.microsoft.com/office/drawing/2014/main" id="{57AAF37C-C138-95D6-FE28-0C2198DA115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1250" y="1268413"/>
            <a:ext cx="4422775" cy="4537075"/>
          </a:xfrm>
          <a:noFill/>
        </p:spPr>
      </p:pic>
      <p:sp>
        <p:nvSpPr>
          <p:cNvPr id="187397" name="Rectangle 5">
            <a:extLst>
              <a:ext uri="{FF2B5EF4-FFF2-40B4-BE49-F238E27FC236}">
                <a16:creationId xmlns:a16="http://schemas.microsoft.com/office/drawing/2014/main" id="{974A3F7B-867E-4005-3BD3-7A49F90D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1446213"/>
            <a:ext cx="26670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6699"/>
                </a:solidFill>
                <a:latin typeface="Verdana" panose="020B0604030504040204" pitchFamily="34" charset="0"/>
              </a:rPr>
              <a:t>O cliente não esperava, é surpreendido. Causam impacto.</a:t>
            </a:r>
          </a:p>
        </p:txBody>
      </p:sp>
      <p:sp>
        <p:nvSpPr>
          <p:cNvPr id="187398" name="Rectangle 6">
            <a:extLst>
              <a:ext uri="{FF2B5EF4-FFF2-40B4-BE49-F238E27FC236}">
                <a16:creationId xmlns:a16="http://schemas.microsoft.com/office/drawing/2014/main" id="{A81EC287-9243-00AB-F2A1-1CC89B33F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4149725"/>
            <a:ext cx="2232025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6699"/>
                </a:solidFill>
                <a:latin typeface="Verdana" panose="020B0604030504040204" pitchFamily="34" charset="0"/>
              </a:rPr>
              <a:t>O cliente não verbaliza, mas se faltar ele ficará insatisfeito (conhecido também como óbvio)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400">
              <a:solidFill>
                <a:srgbClr val="006699"/>
              </a:solidFill>
              <a:latin typeface="Verdana" panose="020B0604030504040204" pitchFamily="34" charset="0"/>
            </a:endParaRPr>
          </a:p>
        </p:txBody>
      </p:sp>
      <p:sp>
        <p:nvSpPr>
          <p:cNvPr id="187399" name="Rectangle 7">
            <a:extLst>
              <a:ext uri="{FF2B5EF4-FFF2-40B4-BE49-F238E27FC236}">
                <a16:creationId xmlns:a16="http://schemas.microsoft.com/office/drawing/2014/main" id="{85FD2278-EE05-6922-3ED2-D927570CB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0" y="1160463"/>
            <a:ext cx="22320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>
                <a:solidFill>
                  <a:srgbClr val="006699"/>
                </a:solidFill>
                <a:latin typeface="Verdana" panose="020B0604030504040204" pitchFamily="34" charset="0"/>
              </a:rPr>
              <a:t>Quanto maior o desempenho, maior a satisfação</a:t>
            </a:r>
          </a:p>
        </p:txBody>
      </p:sp>
      <p:sp>
        <p:nvSpPr>
          <p:cNvPr id="187400" name="Rectangle 8">
            <a:extLst>
              <a:ext uri="{FF2B5EF4-FFF2-40B4-BE49-F238E27FC236}">
                <a16:creationId xmlns:a16="http://schemas.microsoft.com/office/drawing/2014/main" id="{15324CF7-CEDE-1CF9-8865-FB26A0AA2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35847" name="Text Box 11">
            <a:extLst>
              <a:ext uri="{FF2B5EF4-FFF2-40B4-BE49-F238E27FC236}">
                <a16:creationId xmlns:a16="http://schemas.microsoft.com/office/drawing/2014/main" id="{DCF7FE1A-AAB8-28D6-7D0E-D725CDF62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Valorar Req. Dos Clientes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7" grpId="0"/>
      <p:bldP spid="187398" grpId="0"/>
      <p:bldP spid="187399" grpId="0"/>
      <p:bldP spid="18740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FDDC37A0-3557-E58E-C773-D54D489F2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9413" y="0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pt-BR"/>
              <a:t>Diagrama de Kano</a:t>
            </a:r>
          </a:p>
        </p:txBody>
      </p:sp>
      <p:pic>
        <p:nvPicPr>
          <p:cNvPr id="37890" name="Picture 3" descr="2913_MotImage">
            <a:extLst>
              <a:ext uri="{FF2B5EF4-FFF2-40B4-BE49-F238E27FC236}">
                <a16:creationId xmlns:a16="http://schemas.microsoft.com/office/drawing/2014/main" id="{1F800689-C63D-15A4-0EB2-59406A582D3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196975"/>
            <a:ext cx="5292725" cy="5292725"/>
          </a:xfrm>
          <a:noFill/>
        </p:spPr>
      </p:pic>
      <p:sp>
        <p:nvSpPr>
          <p:cNvPr id="188420" name="Rectangle 4">
            <a:extLst>
              <a:ext uri="{FF2B5EF4-FFF2-40B4-BE49-F238E27FC236}">
                <a16:creationId xmlns:a16="http://schemas.microsoft.com/office/drawing/2014/main" id="{1BFBB780-873A-F688-C316-A214799D51D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altLang="pt-BR" sz="1800"/>
              <a:t>Básico: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1600"/>
              <a:t>Falar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1600"/>
              <a:t>Exibir número de quem liga.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1600"/>
              <a:t>…</a:t>
            </a:r>
          </a:p>
          <a:p>
            <a:pPr eaLnBrk="1" hangingPunct="1">
              <a:lnSpc>
                <a:spcPct val="80000"/>
              </a:lnSpc>
            </a:pPr>
            <a:r>
              <a:rPr lang="pt-BR" altLang="pt-BR" sz="1800"/>
              <a:t>Esperado: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1600"/>
              <a:t>Leveza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1600"/>
              <a:t>Beleza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1600"/>
              <a:t>…</a:t>
            </a:r>
          </a:p>
          <a:p>
            <a:pPr eaLnBrk="1" hangingPunct="1">
              <a:lnSpc>
                <a:spcPct val="80000"/>
              </a:lnSpc>
            </a:pPr>
            <a:r>
              <a:rPr lang="pt-BR" altLang="pt-BR" sz="1800"/>
              <a:t>Excitação: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1600"/>
              <a:t>Tirar fotos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1600"/>
              <a:t>Servir como TV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1600"/>
              <a:t>…</a:t>
            </a:r>
          </a:p>
        </p:txBody>
      </p:sp>
      <p:sp>
        <p:nvSpPr>
          <p:cNvPr id="188422" name="Rectangle 6">
            <a:extLst>
              <a:ext uri="{FF2B5EF4-FFF2-40B4-BE49-F238E27FC236}">
                <a16:creationId xmlns:a16="http://schemas.microsoft.com/office/drawing/2014/main" id="{6AB23D2A-4914-49B9-A782-147EE8A42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37893" name="Text Box 9">
            <a:extLst>
              <a:ext uri="{FF2B5EF4-FFF2-40B4-BE49-F238E27FC236}">
                <a16:creationId xmlns:a16="http://schemas.microsoft.com/office/drawing/2014/main" id="{A206381D-12F2-AE91-FF47-1CFE1379F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Valorar Req. Dos Clientes</a:t>
            </a:r>
          </a:p>
        </p:txBody>
      </p:sp>
      <p:sp>
        <p:nvSpPr>
          <p:cNvPr id="37894" name="CaixaDeTexto 6">
            <a:extLst>
              <a:ext uri="{FF2B5EF4-FFF2-40B4-BE49-F238E27FC236}">
                <a16:creationId xmlns:a16="http://schemas.microsoft.com/office/drawing/2014/main" id="{1BDEB9BA-964F-9506-3A90-A5241B65E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3" y="1150938"/>
            <a:ext cx="46196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EXEMPLO....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6">
            <a:extLst>
              <a:ext uri="{FF2B5EF4-FFF2-40B4-BE49-F238E27FC236}">
                <a16:creationId xmlns:a16="http://schemas.microsoft.com/office/drawing/2014/main" id="{AF60959D-77C5-8C63-162E-7FA37B1B6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9413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pt-BR"/>
              <a:t>2. BENCHMARKING</a:t>
            </a:r>
            <a:endParaRPr lang="pt-BR" altLang="pt-BR"/>
          </a:p>
        </p:txBody>
      </p:sp>
      <p:sp>
        <p:nvSpPr>
          <p:cNvPr id="189447" name="Rectangle 7">
            <a:extLst>
              <a:ext uri="{FF2B5EF4-FFF2-40B4-BE49-F238E27FC236}">
                <a16:creationId xmlns:a16="http://schemas.microsoft.com/office/drawing/2014/main" id="{98050022-28DB-A660-9A55-8C6DAA26C55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50838" y="1260475"/>
            <a:ext cx="4678362" cy="4733925"/>
          </a:xfrm>
        </p:spPr>
        <p:txBody>
          <a:bodyPr/>
          <a:lstStyle/>
          <a:p>
            <a:pPr eaLnBrk="1" hangingPunct="1"/>
            <a:r>
              <a:rPr lang="pt-BR" altLang="pt-BR" sz="2400"/>
              <a:t>Os </a:t>
            </a:r>
            <a:r>
              <a:rPr lang="pt-BR" altLang="pt-BR" sz="2400">
                <a:solidFill>
                  <a:srgbClr val="B40000"/>
                </a:solidFill>
              </a:rPr>
              <a:t>produtos</a:t>
            </a:r>
            <a:r>
              <a:rPr lang="pt-BR" altLang="pt-BR" sz="2400"/>
              <a:t> dos </a:t>
            </a:r>
            <a:r>
              <a:rPr lang="pt-BR" altLang="pt-BR" sz="2400">
                <a:solidFill>
                  <a:srgbClr val="B40000"/>
                </a:solidFill>
              </a:rPr>
              <a:t>concorrentes</a:t>
            </a:r>
            <a:r>
              <a:rPr lang="pt-BR" altLang="pt-BR" sz="2400"/>
              <a:t> são </a:t>
            </a:r>
            <a:r>
              <a:rPr lang="pt-BR" altLang="pt-BR" sz="2400">
                <a:solidFill>
                  <a:srgbClr val="B40000"/>
                </a:solidFill>
              </a:rPr>
              <a:t>avaliados</a:t>
            </a:r>
            <a:r>
              <a:rPr lang="pt-BR" altLang="pt-BR" sz="2400"/>
              <a:t>.</a:t>
            </a:r>
          </a:p>
          <a:p>
            <a:pPr lvl="1" eaLnBrk="1" hangingPunct="1"/>
            <a:r>
              <a:rPr lang="pt-BR" altLang="pt-BR" sz="2000"/>
              <a:t>Pede-se para o cliente para avaliar os </a:t>
            </a:r>
            <a:r>
              <a:rPr lang="pt-BR" altLang="pt-BR" sz="2000">
                <a:solidFill>
                  <a:srgbClr val="B40000"/>
                </a:solidFill>
              </a:rPr>
              <a:t>produtos dos concorrentes</a:t>
            </a:r>
            <a:r>
              <a:rPr lang="pt-BR" altLang="pt-BR" sz="2000"/>
              <a:t> ...</a:t>
            </a:r>
          </a:p>
          <a:p>
            <a:pPr lvl="1" eaLnBrk="1" hangingPunct="1"/>
            <a:r>
              <a:rPr lang="pt-BR" altLang="pt-BR" sz="2000"/>
              <a:t>... e os </a:t>
            </a:r>
            <a:r>
              <a:rPr lang="pt-BR" altLang="pt-BR" sz="2000">
                <a:solidFill>
                  <a:srgbClr val="B40000"/>
                </a:solidFill>
              </a:rPr>
              <a:t>produtos atuais da empresa</a:t>
            </a:r>
            <a:r>
              <a:rPr lang="pt-BR" altLang="pt-BR" sz="2000"/>
              <a:t> (para verificar o quanto se deve melhorar – quando for o caso)</a:t>
            </a:r>
          </a:p>
          <a:p>
            <a:pPr eaLnBrk="1" hangingPunct="1"/>
            <a:r>
              <a:rPr lang="pt-BR" altLang="pt-BR" sz="2400"/>
              <a:t>Deve-se </a:t>
            </a:r>
            <a:r>
              <a:rPr lang="pt-BR" altLang="pt-BR" sz="2400">
                <a:solidFill>
                  <a:srgbClr val="B40000"/>
                </a:solidFill>
              </a:rPr>
              <a:t>evitar</a:t>
            </a:r>
            <a:r>
              <a:rPr lang="pt-BR" altLang="pt-BR" sz="2400"/>
              <a:t> a </a:t>
            </a:r>
            <a:r>
              <a:rPr lang="pt-BR" altLang="pt-BR" sz="2400">
                <a:solidFill>
                  <a:srgbClr val="B40000"/>
                </a:solidFill>
              </a:rPr>
              <a:t>qualidade exagerada</a:t>
            </a:r>
            <a:r>
              <a:rPr lang="pt-BR" altLang="pt-BR" sz="2400"/>
              <a:t>!</a:t>
            </a:r>
          </a:p>
        </p:txBody>
      </p:sp>
      <p:sp>
        <p:nvSpPr>
          <p:cNvPr id="189445" name="Rectangle 5">
            <a:extLst>
              <a:ext uri="{FF2B5EF4-FFF2-40B4-BE49-F238E27FC236}">
                <a16:creationId xmlns:a16="http://schemas.microsoft.com/office/drawing/2014/main" id="{A7ED7C05-8A7B-C405-670A-1575896A4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189449" name="Picture 9" descr="Untitled-1">
            <a:extLst>
              <a:ext uri="{FF2B5EF4-FFF2-40B4-BE49-F238E27FC236}">
                <a16:creationId xmlns:a16="http://schemas.microsoft.com/office/drawing/2014/main" id="{811C543A-C3C7-5F82-25C5-A642DA2989F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80063" y="1989138"/>
            <a:ext cx="2381250" cy="3343275"/>
          </a:xfrm>
          <a:noFill/>
        </p:spPr>
      </p:pic>
      <p:sp>
        <p:nvSpPr>
          <p:cNvPr id="39941" name="Text Box 12">
            <a:extLst>
              <a:ext uri="{FF2B5EF4-FFF2-40B4-BE49-F238E27FC236}">
                <a16:creationId xmlns:a16="http://schemas.microsoft.com/office/drawing/2014/main" id="{8A837109-A8BA-C061-0852-35056B6D8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Valorar Req. Dos Clientes</a:t>
            </a:r>
          </a:p>
        </p:txBody>
      </p:sp>
      <p:sp>
        <p:nvSpPr>
          <p:cNvPr id="39942" name="CaixaDeTexto 1">
            <a:extLst>
              <a:ext uri="{FF2B5EF4-FFF2-40B4-BE49-F238E27FC236}">
                <a16:creationId xmlns:a16="http://schemas.microsoft.com/office/drawing/2014/main" id="{C8F4E540-3809-EC27-F49E-A0DDCB0C8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8" y="5551488"/>
            <a:ext cx="5059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b="1" dirty="0">
                <a:solidFill>
                  <a:srgbClr val="002060"/>
                </a:solidFill>
                <a:highlight>
                  <a:srgbClr val="FFFF00"/>
                </a:highlight>
              </a:rPr>
              <a:t>AQUI SERÁ VISTO NO QFD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982C7BF8-5F7D-38F8-5153-3CC98BD65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0"/>
            <a:ext cx="7388225" cy="706438"/>
          </a:xfrm>
        </p:spPr>
        <p:txBody>
          <a:bodyPr/>
          <a:lstStyle/>
          <a:p>
            <a:pPr eaLnBrk="1" hangingPunct="1"/>
            <a:r>
              <a:rPr lang="en-US" altLang="pt-BR"/>
              <a:t>3. DIAGRAMA DE MUDGE</a:t>
            </a:r>
            <a:endParaRPr lang="pt-BR" altLang="pt-BR"/>
          </a:p>
        </p:txBody>
      </p:sp>
      <p:sp>
        <p:nvSpPr>
          <p:cNvPr id="193542" name="Rectangle 6">
            <a:extLst>
              <a:ext uri="{FF2B5EF4-FFF2-40B4-BE49-F238E27FC236}">
                <a16:creationId xmlns:a16="http://schemas.microsoft.com/office/drawing/2014/main" id="{49481747-3637-515B-4A0B-9366BAACC4C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61950" y="1238250"/>
            <a:ext cx="4210050" cy="5238750"/>
          </a:xfrm>
        </p:spPr>
        <p:txBody>
          <a:bodyPr/>
          <a:lstStyle/>
          <a:p>
            <a:pPr eaLnBrk="1" hangingPunct="1"/>
            <a:r>
              <a:rPr lang="pt-BR" altLang="pt-BR"/>
              <a:t>Os </a:t>
            </a:r>
            <a:r>
              <a:rPr lang="pt-BR" altLang="pt-BR">
                <a:solidFill>
                  <a:srgbClr val="B40000"/>
                </a:solidFill>
              </a:rPr>
              <a:t>requisitos</a:t>
            </a:r>
            <a:r>
              <a:rPr lang="pt-BR" altLang="pt-BR"/>
              <a:t> dos clientes são </a:t>
            </a:r>
            <a:r>
              <a:rPr lang="pt-BR" altLang="pt-BR">
                <a:solidFill>
                  <a:srgbClr val="B40000"/>
                </a:solidFill>
              </a:rPr>
              <a:t>comparados aos pares</a:t>
            </a:r>
            <a:r>
              <a:rPr lang="pt-BR" altLang="pt-BR"/>
              <a:t>.</a:t>
            </a:r>
          </a:p>
        </p:txBody>
      </p:sp>
      <p:sp>
        <p:nvSpPr>
          <p:cNvPr id="193543" name="Rectangle 7">
            <a:extLst>
              <a:ext uri="{FF2B5EF4-FFF2-40B4-BE49-F238E27FC236}">
                <a16:creationId xmlns:a16="http://schemas.microsoft.com/office/drawing/2014/main" id="{EC2AF511-5F3F-B898-6A87-9EBD3CD52DA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222750" y="1962150"/>
            <a:ext cx="4452938" cy="3797300"/>
          </a:xfrm>
        </p:spPr>
        <p:txBody>
          <a:bodyPr/>
          <a:lstStyle/>
          <a:p>
            <a:pPr eaLnBrk="1" hangingPunct="1"/>
            <a:r>
              <a:rPr lang="pt-BR" altLang="pt-BR"/>
              <a:t>Em cada comparação </a:t>
            </a:r>
            <a:r>
              <a:rPr lang="pt-BR" altLang="pt-BR">
                <a:solidFill>
                  <a:srgbClr val="B40000"/>
                </a:solidFill>
              </a:rPr>
              <a:t>duas perguntas</a:t>
            </a:r>
            <a:r>
              <a:rPr lang="pt-BR" altLang="pt-BR"/>
              <a:t>:</a:t>
            </a:r>
          </a:p>
          <a:p>
            <a:pPr lvl="1" eaLnBrk="1" hangingPunct="1"/>
            <a:r>
              <a:rPr lang="pt-BR" altLang="pt-BR">
                <a:solidFill>
                  <a:srgbClr val="B40000"/>
                </a:solidFill>
              </a:rPr>
              <a:t>Qual</a:t>
            </a:r>
            <a:r>
              <a:rPr lang="pt-BR" altLang="pt-BR"/>
              <a:t> requisito é </a:t>
            </a:r>
            <a:r>
              <a:rPr lang="pt-BR" altLang="pt-BR">
                <a:solidFill>
                  <a:srgbClr val="B40000"/>
                </a:solidFill>
              </a:rPr>
              <a:t>mais importante</a:t>
            </a:r>
            <a:r>
              <a:rPr lang="pt-BR" altLang="pt-BR"/>
              <a:t> para o sucesso do produto?</a:t>
            </a:r>
          </a:p>
          <a:p>
            <a:pPr lvl="1" eaLnBrk="1" hangingPunct="1"/>
            <a:r>
              <a:rPr lang="pt-BR" altLang="pt-BR">
                <a:solidFill>
                  <a:srgbClr val="B40000"/>
                </a:solidFill>
              </a:rPr>
              <a:t>Quanto mais importante</a:t>
            </a:r>
            <a:r>
              <a:rPr lang="pt-BR" altLang="pt-BR"/>
              <a:t> é este requisito?</a:t>
            </a:r>
          </a:p>
          <a:p>
            <a:pPr eaLnBrk="1" hangingPunct="1"/>
            <a:endParaRPr lang="pt-BR" altLang="pt-BR" sz="3200"/>
          </a:p>
        </p:txBody>
      </p:sp>
      <p:sp>
        <p:nvSpPr>
          <p:cNvPr id="193541" name="Rectangle 5">
            <a:extLst>
              <a:ext uri="{FF2B5EF4-FFF2-40B4-BE49-F238E27FC236}">
                <a16:creationId xmlns:a16="http://schemas.microsoft.com/office/drawing/2014/main" id="{08934C4E-1545-78E1-D2F3-A95A931D9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193550" name="Picture 14" descr="Untitled-8">
            <a:extLst>
              <a:ext uri="{FF2B5EF4-FFF2-40B4-BE49-F238E27FC236}">
                <a16:creationId xmlns:a16="http://schemas.microsoft.com/office/drawing/2014/main" id="{8D17826C-1A44-4355-B6EA-A8B871E9E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3308350"/>
            <a:ext cx="2308225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Text Box 15">
            <a:extLst>
              <a:ext uri="{FF2B5EF4-FFF2-40B4-BE49-F238E27FC236}">
                <a16:creationId xmlns:a16="http://schemas.microsoft.com/office/drawing/2014/main" id="{1006A3ED-BB4D-49CC-9B56-E183779A8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Valorar Req. Dos Clientes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2" grpId="0" build="p"/>
      <p:bldP spid="19354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tângulo 1">
            <a:extLst>
              <a:ext uri="{FF2B5EF4-FFF2-40B4-BE49-F238E27FC236}">
                <a16:creationId xmlns:a16="http://schemas.microsoft.com/office/drawing/2014/main" id="{DFC70FEB-C540-64F1-0C1E-89F4B5C24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13" y="255588"/>
            <a:ext cx="7753350" cy="622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3200" b="1" i="1" dirty="0"/>
              <a:t>Diagrama de </a:t>
            </a:r>
            <a:r>
              <a:rPr lang="pt-BR" altLang="pt-BR" sz="3200" b="1" i="1" dirty="0" err="1"/>
              <a:t>Mudge</a:t>
            </a:r>
            <a:endParaRPr lang="pt-BR" altLang="pt-BR" sz="3200" b="1" i="1" dirty="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 dirty="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 dirty="0"/>
          </a:p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 dirty="0"/>
              <a:t>Esta avaliação é obtida através da comparação direta entre duas</a:t>
            </a:r>
          </a:p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 dirty="0"/>
              <a:t>funções, de modo a avaliar </a:t>
            </a:r>
            <a:r>
              <a:rPr lang="pt-BR" altLang="pt-BR" sz="2000" dirty="0">
                <a:solidFill>
                  <a:srgbClr val="FF0000"/>
                </a:solidFill>
              </a:rPr>
              <a:t>qual destas é mais importan</a:t>
            </a:r>
            <a:r>
              <a:rPr lang="pt-BR" altLang="pt-BR" sz="2000" dirty="0"/>
              <a:t>te.</a:t>
            </a:r>
          </a:p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endParaRPr lang="pt-BR" altLang="pt-BR" sz="2000" dirty="0"/>
          </a:p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 dirty="0"/>
              <a:t>Esta comparação deve ser realizada pelo cliente (usuário ou</a:t>
            </a:r>
          </a:p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 dirty="0"/>
              <a:t>consumidor) e resultará em quatro respostas, baseadas no</a:t>
            </a:r>
          </a:p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 dirty="0"/>
              <a:t>critério abaixo:</a:t>
            </a:r>
          </a:p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endParaRPr lang="pt-BR" altLang="pt-BR" sz="2000" dirty="0"/>
          </a:p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endParaRPr lang="pt-BR" altLang="pt-BR" sz="2000" dirty="0"/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 dirty="0">
                <a:solidFill>
                  <a:srgbClr val="002060"/>
                </a:solidFill>
              </a:rPr>
              <a:t>Um requisito é considerada </a:t>
            </a:r>
            <a:r>
              <a:rPr lang="pt-BR" altLang="pt-BR" sz="1800" b="1" dirty="0">
                <a:solidFill>
                  <a:srgbClr val="FF0000"/>
                </a:solidFill>
              </a:rPr>
              <a:t>muito mais importante </a:t>
            </a:r>
            <a:r>
              <a:rPr lang="pt-BR" altLang="pt-BR" sz="1800" b="1" dirty="0">
                <a:solidFill>
                  <a:srgbClr val="002060"/>
                </a:solidFill>
              </a:rPr>
              <a:t>do que a outra (valor: 5);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 dirty="0">
                <a:solidFill>
                  <a:srgbClr val="002060"/>
                </a:solidFill>
              </a:rPr>
              <a:t>Um requisito é considerada </a:t>
            </a:r>
            <a:r>
              <a:rPr lang="pt-BR" altLang="pt-BR" sz="1800" b="1" dirty="0">
                <a:solidFill>
                  <a:srgbClr val="FF0000"/>
                </a:solidFill>
              </a:rPr>
              <a:t>mais importante </a:t>
            </a:r>
            <a:r>
              <a:rPr lang="pt-BR" altLang="pt-BR" sz="1800" b="1" dirty="0">
                <a:solidFill>
                  <a:srgbClr val="002060"/>
                </a:solidFill>
              </a:rPr>
              <a:t>do que a outra (valor: 3);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 dirty="0">
                <a:solidFill>
                  <a:srgbClr val="002060"/>
                </a:solidFill>
              </a:rPr>
              <a:t>Uma função é considerada </a:t>
            </a:r>
            <a:r>
              <a:rPr lang="pt-BR" altLang="pt-BR" sz="1800" b="1" dirty="0">
                <a:solidFill>
                  <a:srgbClr val="FF0000"/>
                </a:solidFill>
              </a:rPr>
              <a:t>pouco mais importante </a:t>
            </a:r>
            <a:r>
              <a:rPr lang="pt-BR" altLang="pt-BR" sz="1800" b="1" dirty="0">
                <a:solidFill>
                  <a:srgbClr val="002060"/>
                </a:solidFill>
              </a:rPr>
              <a:t>do que a outra (valor: 1);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 dirty="0">
                <a:solidFill>
                  <a:srgbClr val="002060"/>
                </a:solidFill>
              </a:rPr>
              <a:t> As funções são consideradas de </a:t>
            </a:r>
            <a:r>
              <a:rPr lang="pt-BR" altLang="pt-BR" sz="1800" b="1" dirty="0">
                <a:solidFill>
                  <a:srgbClr val="FF0000"/>
                </a:solidFill>
              </a:rPr>
              <a:t>igual importância </a:t>
            </a:r>
            <a:r>
              <a:rPr lang="pt-BR" altLang="pt-BR" sz="1800" b="1" dirty="0">
                <a:solidFill>
                  <a:srgbClr val="002060"/>
                </a:solidFill>
              </a:rPr>
              <a:t>(valor: 0).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tângulo 1">
            <a:extLst>
              <a:ext uri="{FF2B5EF4-FFF2-40B4-BE49-F238E27FC236}">
                <a16:creationId xmlns:a16="http://schemas.microsoft.com/office/drawing/2014/main" id="{CD8ACEC3-530E-9011-AE36-E811B4B59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1751013"/>
            <a:ext cx="4572000" cy="260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/>
              <a:t>A- Divertir o usuário;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/>
              <a:t>B- Lançar o boneco;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/>
              <a:t>C- Receber o boneco;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/>
              <a:t>D- Girar os chapéus;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/>
              <a:t>E- Oferecer segurança ao usuário;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/>
              <a:t>F- Permitir troca de bateria;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/>
              <a:t>G- Ligar e desligar o brinquedo;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2000"/>
              <a:t>H- Permitir transporte.</a:t>
            </a:r>
          </a:p>
        </p:txBody>
      </p:sp>
      <p:sp>
        <p:nvSpPr>
          <p:cNvPr id="45058" name="CaixaDeTexto 2">
            <a:extLst>
              <a:ext uri="{FF2B5EF4-FFF2-40B4-BE49-F238E27FC236}">
                <a16:creationId xmlns:a16="http://schemas.microsoft.com/office/drawing/2014/main" id="{34A05FA2-F5F5-757B-638C-CFF227F34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1214438"/>
            <a:ext cx="51387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Requisito do cliente</a:t>
            </a:r>
          </a:p>
        </p:txBody>
      </p:sp>
      <p:sp>
        <p:nvSpPr>
          <p:cNvPr id="45059" name="CaixaDeTexto 3">
            <a:extLst>
              <a:ext uri="{FF2B5EF4-FFF2-40B4-BE49-F238E27FC236}">
                <a16:creationId xmlns:a16="http://schemas.microsoft.com/office/drawing/2014/main" id="{3FE98DEB-B8DD-F0AC-1A86-C15700743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3" y="425450"/>
            <a:ext cx="4999037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/>
              <a:t>Exemplo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3">
            <a:extLst>
              <a:ext uri="{FF2B5EF4-FFF2-40B4-BE49-F238E27FC236}">
                <a16:creationId xmlns:a16="http://schemas.microsoft.com/office/drawing/2014/main" id="{A9668799-D783-ED16-65BE-8AF82E621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439738"/>
            <a:ext cx="7394575" cy="586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2" name="Retângulo 3">
            <a:extLst>
              <a:ext uri="{FF2B5EF4-FFF2-40B4-BE49-F238E27FC236}">
                <a16:creationId xmlns:a16="http://schemas.microsoft.com/office/drawing/2014/main" id="{48387D66-0481-5FF9-5E99-8C69A990B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1238"/>
            <a:ext cx="2868613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A- Divertir o usuário;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B- Lançar o boneco;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C- Receber o boneco;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D- Girar os chapéus;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E- Oferecer segurança ao usuário;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F- Permitir troca de bateria;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G- Ligar e desligar o brinquedo;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H- Permitir transporte.</a:t>
            </a:r>
          </a:p>
        </p:txBody>
      </p:sp>
      <p:sp>
        <p:nvSpPr>
          <p:cNvPr id="46083" name="Retângulo 4">
            <a:extLst>
              <a:ext uri="{FF2B5EF4-FFF2-40B4-BE49-F238E27FC236}">
                <a16:creationId xmlns:a16="http://schemas.microsoft.com/office/drawing/2014/main" id="{965335F9-239A-69E7-B164-379F20299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8913" y="3641725"/>
            <a:ext cx="2711451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muito mais importante </a:t>
            </a:r>
            <a:r>
              <a:rPr lang="pt-BR" altLang="pt-BR" sz="1800" b="1">
                <a:solidFill>
                  <a:srgbClr val="002060"/>
                </a:solidFill>
              </a:rPr>
              <a:t>do que a outra (valor: 5);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mais importante </a:t>
            </a:r>
            <a:r>
              <a:rPr lang="pt-BR" altLang="pt-BR" sz="1800" b="1">
                <a:solidFill>
                  <a:srgbClr val="002060"/>
                </a:solidFill>
              </a:rPr>
              <a:t>do que a outra (valor: 3);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pouco mais importante </a:t>
            </a:r>
            <a:r>
              <a:rPr lang="pt-BR" altLang="pt-BR" sz="1800" b="1">
                <a:solidFill>
                  <a:srgbClr val="002060"/>
                </a:solidFill>
              </a:rPr>
              <a:t>do que a outra (valor: 1)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igual importância </a:t>
            </a:r>
            <a:r>
              <a:rPr lang="pt-BR" altLang="pt-BR" sz="1800" b="1">
                <a:solidFill>
                  <a:srgbClr val="002060"/>
                </a:solidFill>
              </a:rPr>
              <a:t>(valor: 0).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1800" b="1">
              <a:solidFill>
                <a:srgbClr val="002060"/>
              </a:solidFill>
            </a:endParaRP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1800" b="1">
              <a:solidFill>
                <a:srgbClr val="002060"/>
              </a:solidFill>
            </a:endParaRPr>
          </a:p>
          <a:p>
            <a:pPr algn="r">
              <a:lnSpc>
                <a:spcPct val="80000"/>
              </a:lnSpc>
              <a:spcBef>
                <a:spcPct val="0"/>
              </a:spcBef>
            </a:pPr>
            <a:endParaRPr lang="pt-BR" altLang="pt-BR" sz="1800"/>
          </a:p>
        </p:txBody>
      </p:sp>
      <p:sp>
        <p:nvSpPr>
          <p:cNvPr id="46084" name="Elipse 5">
            <a:extLst>
              <a:ext uri="{FF2B5EF4-FFF2-40B4-BE49-F238E27FC236}">
                <a16:creationId xmlns:a16="http://schemas.microsoft.com/office/drawing/2014/main" id="{BC9D0A7A-BA36-A68F-FB0C-17D9B96EC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75" y="1339850"/>
            <a:ext cx="331788" cy="47625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cxnSp>
        <p:nvCxnSpPr>
          <p:cNvPr id="46085" name="Conector reto 7">
            <a:extLst>
              <a:ext uri="{FF2B5EF4-FFF2-40B4-BE49-F238E27FC236}">
                <a16:creationId xmlns:a16="http://schemas.microsoft.com/office/drawing/2014/main" id="{C4C425E9-B081-161B-341F-670A23D68E5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634581" y="2135982"/>
            <a:ext cx="1355725" cy="6778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086" name="CaixaDeTexto 8">
            <a:extLst>
              <a:ext uri="{FF2B5EF4-FFF2-40B4-BE49-F238E27FC236}">
                <a16:creationId xmlns:a16="http://schemas.microsoft.com/office/drawing/2014/main" id="{344EDBC2-B318-9736-A6CB-4B36916EC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3136900"/>
            <a:ext cx="3106738" cy="831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(A)Divertir o usuário é (D) é mais relevante do que girar os chapéus</a:t>
            </a:r>
          </a:p>
        </p:txBody>
      </p:sp>
      <p:sp>
        <p:nvSpPr>
          <p:cNvPr id="46087" name="Elipse 11">
            <a:extLst>
              <a:ext uri="{FF2B5EF4-FFF2-40B4-BE49-F238E27FC236}">
                <a16:creationId xmlns:a16="http://schemas.microsoft.com/office/drawing/2014/main" id="{FC076891-F9A8-013B-51A6-6FD3C83D3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150" y="1350963"/>
            <a:ext cx="330200" cy="476250"/>
          </a:xfrm>
          <a:prstGeom prst="ellips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cxnSp>
        <p:nvCxnSpPr>
          <p:cNvPr id="46088" name="Conector reto 13">
            <a:extLst>
              <a:ext uri="{FF2B5EF4-FFF2-40B4-BE49-F238E27FC236}">
                <a16:creationId xmlns:a16="http://schemas.microsoft.com/office/drawing/2014/main" id="{95E17FF4-C2FA-8A36-99AC-F6C31AA7E672}"/>
              </a:ext>
            </a:extLst>
          </p:cNvPr>
          <p:cNvCxnSpPr>
            <a:cxnSpLocks noChangeShapeType="1"/>
            <a:stCxn id="46087" idx="4"/>
          </p:cNvCxnSpPr>
          <p:nvPr/>
        </p:nvCxnSpPr>
        <p:spPr bwMode="auto">
          <a:xfrm rot="16200000" flipH="1">
            <a:off x="5250656" y="1497807"/>
            <a:ext cx="206375" cy="865188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089" name="CaixaDeTexto 14">
            <a:extLst>
              <a:ext uri="{FF2B5EF4-FFF2-40B4-BE49-F238E27FC236}">
                <a16:creationId xmlns:a16="http://schemas.microsoft.com/office/drawing/2014/main" id="{52443F93-3D5E-EB94-AA06-5E7ABCFA9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8175" y="1681163"/>
            <a:ext cx="3105150" cy="10779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(A)Divertir o usuário é um </a:t>
            </a:r>
            <a:r>
              <a:rPr lang="pt-BR" altLang="pt-BR" sz="2000">
                <a:solidFill>
                  <a:srgbClr val="FF0000"/>
                </a:solidFill>
              </a:rPr>
              <a:t>pouco mais importante (1)</a:t>
            </a:r>
            <a:r>
              <a:rPr lang="pt-BR" altLang="pt-BR" sz="2000"/>
              <a:t> do que (D) Girar os chapéus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5" name="Picture 3">
            <a:extLst>
              <a:ext uri="{FF2B5EF4-FFF2-40B4-BE49-F238E27FC236}">
                <a16:creationId xmlns:a16="http://schemas.microsoft.com/office/drawing/2014/main" id="{CAC5FC9F-1687-793B-7EE9-74547F080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439738"/>
            <a:ext cx="7394575" cy="586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6" name="Retângulo 3">
            <a:extLst>
              <a:ext uri="{FF2B5EF4-FFF2-40B4-BE49-F238E27FC236}">
                <a16:creationId xmlns:a16="http://schemas.microsoft.com/office/drawing/2014/main" id="{3291B905-B9B0-C767-6C19-889AA6045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1238"/>
            <a:ext cx="2868613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A- Divertir o usuário;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B- Lançar o boneco;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C- Receber o boneco;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D- Girar os chapéus;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E- Oferecer segurança ao usuário;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F- Permitir troca de bateria;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G- Ligar e desligar o brinquedo;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H- Permitir transporte.</a:t>
            </a:r>
          </a:p>
        </p:txBody>
      </p:sp>
      <p:sp>
        <p:nvSpPr>
          <p:cNvPr id="47107" name="Retângulo 4">
            <a:extLst>
              <a:ext uri="{FF2B5EF4-FFF2-40B4-BE49-F238E27FC236}">
                <a16:creationId xmlns:a16="http://schemas.microsoft.com/office/drawing/2014/main" id="{2767C89F-86BC-FA44-8F97-323395FEF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8913" y="3641725"/>
            <a:ext cx="2711451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muito mais importante </a:t>
            </a:r>
            <a:r>
              <a:rPr lang="pt-BR" altLang="pt-BR" sz="1800" b="1">
                <a:solidFill>
                  <a:srgbClr val="002060"/>
                </a:solidFill>
              </a:rPr>
              <a:t>do que a outra (valor: 5);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mais importante </a:t>
            </a:r>
            <a:r>
              <a:rPr lang="pt-BR" altLang="pt-BR" sz="1800" b="1">
                <a:solidFill>
                  <a:srgbClr val="002060"/>
                </a:solidFill>
              </a:rPr>
              <a:t>do que a outra (valor: 3);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pouco mais importante </a:t>
            </a:r>
            <a:r>
              <a:rPr lang="pt-BR" altLang="pt-BR" sz="1800" b="1">
                <a:solidFill>
                  <a:srgbClr val="002060"/>
                </a:solidFill>
              </a:rPr>
              <a:t>do que a outra (valor: 1)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igual importância </a:t>
            </a:r>
            <a:r>
              <a:rPr lang="pt-BR" altLang="pt-BR" sz="1800" b="1">
                <a:solidFill>
                  <a:srgbClr val="002060"/>
                </a:solidFill>
              </a:rPr>
              <a:t>(valor: 0).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1800" b="1">
              <a:solidFill>
                <a:srgbClr val="002060"/>
              </a:solidFill>
            </a:endParaRP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1800" b="1">
              <a:solidFill>
                <a:srgbClr val="002060"/>
              </a:solidFill>
            </a:endParaRPr>
          </a:p>
          <a:p>
            <a:pPr algn="r">
              <a:lnSpc>
                <a:spcPct val="80000"/>
              </a:lnSpc>
              <a:spcBef>
                <a:spcPct val="0"/>
              </a:spcBef>
            </a:pPr>
            <a:endParaRPr lang="pt-BR" altLang="pt-BR" sz="1800"/>
          </a:p>
        </p:txBody>
      </p:sp>
      <p:sp>
        <p:nvSpPr>
          <p:cNvPr id="47108" name="Elipse 10">
            <a:extLst>
              <a:ext uri="{FF2B5EF4-FFF2-40B4-BE49-F238E27FC236}">
                <a16:creationId xmlns:a16="http://schemas.microsoft.com/office/drawing/2014/main" id="{1118CA74-8FBC-9100-4686-CA631042A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1419225"/>
            <a:ext cx="757237" cy="3937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cxnSp>
        <p:nvCxnSpPr>
          <p:cNvPr id="47109" name="Conector de seta reta 15">
            <a:extLst>
              <a:ext uri="{FF2B5EF4-FFF2-40B4-BE49-F238E27FC236}">
                <a16:creationId xmlns:a16="http://schemas.microsoft.com/office/drawing/2014/main" id="{418C8525-02F6-CC5B-C44A-142B0FE1CD84}"/>
              </a:ext>
            </a:extLst>
          </p:cNvPr>
          <p:cNvCxnSpPr>
            <a:cxnSpLocks noChangeShapeType="1"/>
            <a:stCxn id="47108" idx="3"/>
          </p:cNvCxnSpPr>
          <p:nvPr/>
        </p:nvCxnSpPr>
        <p:spPr bwMode="auto">
          <a:xfrm rot="5400000">
            <a:off x="5300663" y="2098675"/>
            <a:ext cx="2705100" cy="201930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10" name="CaixaDeTexto 16">
            <a:extLst>
              <a:ext uri="{FF2B5EF4-FFF2-40B4-BE49-F238E27FC236}">
                <a16:creationId xmlns:a16="http://schemas.microsoft.com/office/drawing/2014/main" id="{20AC30D7-47E6-B0D2-A26E-5BBBD2C78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556125"/>
            <a:ext cx="3657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FF0000"/>
                </a:solidFill>
              </a:rPr>
              <a:t>A = 3+3+1+1+5+5+3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FF0000"/>
                </a:solidFill>
              </a:rPr>
              <a:t>A = 21 </a:t>
            </a:r>
          </a:p>
        </p:txBody>
      </p:sp>
      <p:sp>
        <p:nvSpPr>
          <p:cNvPr id="47111" name="Elipse 17">
            <a:extLst>
              <a:ext uri="{FF2B5EF4-FFF2-40B4-BE49-F238E27FC236}">
                <a16:creationId xmlns:a16="http://schemas.microsoft.com/office/drawing/2014/main" id="{7184C5CA-D8CE-6849-8A49-D607940AF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1214438"/>
            <a:ext cx="4160838" cy="755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cxnSp>
        <p:nvCxnSpPr>
          <p:cNvPr id="47112" name="Conector de seta reta 19">
            <a:extLst>
              <a:ext uri="{FF2B5EF4-FFF2-40B4-BE49-F238E27FC236}">
                <a16:creationId xmlns:a16="http://schemas.microsoft.com/office/drawing/2014/main" id="{9311CA57-2AB7-67DB-2D0E-49984AC6E54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41725" y="1466850"/>
            <a:ext cx="3925888" cy="15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3" name="Conector de seta reta 23">
            <a:extLst>
              <a:ext uri="{FF2B5EF4-FFF2-40B4-BE49-F238E27FC236}">
                <a16:creationId xmlns:a16="http://schemas.microsoft.com/office/drawing/2014/main" id="{ACB861D7-517D-D17C-8476-BAD8675B249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510756" y="1781969"/>
            <a:ext cx="430213" cy="95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3">
            <a:extLst>
              <a:ext uri="{FF2B5EF4-FFF2-40B4-BE49-F238E27FC236}">
                <a16:creationId xmlns:a16="http://schemas.microsoft.com/office/drawing/2014/main" id="{72D2D461-0BA2-B1B9-924F-FD51FABD0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439738"/>
            <a:ext cx="7394575" cy="586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0" name="Retângulo 3">
            <a:extLst>
              <a:ext uri="{FF2B5EF4-FFF2-40B4-BE49-F238E27FC236}">
                <a16:creationId xmlns:a16="http://schemas.microsoft.com/office/drawing/2014/main" id="{F70BBBF5-356B-FC80-6FDF-BB6AD1DE6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1238"/>
            <a:ext cx="2868613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A- Divertir o usuário;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B- Lançar o boneco;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C- Receber o boneco;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D- Girar os chapéus;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E- Oferecer segurança ao usuário;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F- Permitir troca de bateria;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G- Ligar e desligar o brinquedo;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H- Permitir transporte.</a:t>
            </a:r>
          </a:p>
        </p:txBody>
      </p:sp>
      <p:sp>
        <p:nvSpPr>
          <p:cNvPr id="48131" name="Retângulo 4">
            <a:extLst>
              <a:ext uri="{FF2B5EF4-FFF2-40B4-BE49-F238E27FC236}">
                <a16:creationId xmlns:a16="http://schemas.microsoft.com/office/drawing/2014/main" id="{D148F21C-B220-3F70-0389-BA34BE043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8913" y="3641725"/>
            <a:ext cx="2711451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muito mais importante </a:t>
            </a:r>
            <a:r>
              <a:rPr lang="pt-BR" altLang="pt-BR" sz="1800" b="1">
                <a:solidFill>
                  <a:srgbClr val="002060"/>
                </a:solidFill>
              </a:rPr>
              <a:t>do que a outra (valor: 5);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mais importante </a:t>
            </a:r>
            <a:r>
              <a:rPr lang="pt-BR" altLang="pt-BR" sz="1800" b="1">
                <a:solidFill>
                  <a:srgbClr val="002060"/>
                </a:solidFill>
              </a:rPr>
              <a:t>do que a outra (valor: 3);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pouco mais importante </a:t>
            </a:r>
            <a:r>
              <a:rPr lang="pt-BR" altLang="pt-BR" sz="1800" b="1">
                <a:solidFill>
                  <a:srgbClr val="002060"/>
                </a:solidFill>
              </a:rPr>
              <a:t>do que a outra (valor: 1)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altLang="pt-BR" sz="1800" b="1">
                <a:solidFill>
                  <a:srgbClr val="FF0000"/>
                </a:solidFill>
              </a:rPr>
              <a:t>igual importância </a:t>
            </a:r>
            <a:r>
              <a:rPr lang="pt-BR" altLang="pt-BR" sz="1800" b="1">
                <a:solidFill>
                  <a:srgbClr val="002060"/>
                </a:solidFill>
              </a:rPr>
              <a:t>(valor: 0).</a:t>
            </a: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1800" b="1">
              <a:solidFill>
                <a:srgbClr val="002060"/>
              </a:solidFill>
            </a:endParaRPr>
          </a:p>
          <a:p>
            <a:pPr algn="r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pt-BR" altLang="pt-BR" sz="1800" b="1">
              <a:solidFill>
                <a:srgbClr val="002060"/>
              </a:solidFill>
            </a:endParaRPr>
          </a:p>
          <a:p>
            <a:pPr algn="r">
              <a:lnSpc>
                <a:spcPct val="80000"/>
              </a:lnSpc>
              <a:spcBef>
                <a:spcPct val="0"/>
              </a:spcBef>
            </a:pPr>
            <a:endParaRPr lang="pt-BR" altLang="pt-BR" sz="1800"/>
          </a:p>
        </p:txBody>
      </p:sp>
      <p:sp>
        <p:nvSpPr>
          <p:cNvPr id="48132" name="CaixaDeTexto 8">
            <a:extLst>
              <a:ext uri="{FF2B5EF4-FFF2-40B4-BE49-F238E27FC236}">
                <a16:creationId xmlns:a16="http://schemas.microsoft.com/office/drawing/2014/main" id="{EC1D7735-EF2A-21BD-3E89-DC5E53E7D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4100" y="4587875"/>
            <a:ext cx="310673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48133" name="CaixaDeTexto 10">
            <a:extLst>
              <a:ext uri="{FF2B5EF4-FFF2-40B4-BE49-F238E27FC236}">
                <a16:creationId xmlns:a16="http://schemas.microsoft.com/office/drawing/2014/main" id="{40851B5F-8481-ADFB-FCD4-B0F13BB0A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430713"/>
            <a:ext cx="2144713" cy="584200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D = 1+ 1+ 1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D = 3  </a:t>
            </a:r>
          </a:p>
        </p:txBody>
      </p:sp>
      <p:sp>
        <p:nvSpPr>
          <p:cNvPr id="48134" name="Elipse 12">
            <a:extLst>
              <a:ext uri="{FF2B5EF4-FFF2-40B4-BE49-F238E27FC236}">
                <a16:creationId xmlns:a16="http://schemas.microsoft.com/office/drawing/2014/main" id="{A08C44B5-A355-B9E7-DFBB-1013D7556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2900363"/>
            <a:ext cx="900112" cy="536575"/>
          </a:xfrm>
          <a:prstGeom prst="ellipse">
            <a:avLst/>
          </a:prstGeom>
          <a:noFill/>
          <a:ln w="9525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cxnSp>
        <p:nvCxnSpPr>
          <p:cNvPr id="48135" name="Conector de seta reta 16">
            <a:extLst>
              <a:ext uri="{FF2B5EF4-FFF2-40B4-BE49-F238E27FC236}">
                <a16:creationId xmlns:a16="http://schemas.microsoft.com/office/drawing/2014/main" id="{BB82464D-2849-BD86-5229-356D36A4D36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940969" y="1955006"/>
            <a:ext cx="2033588" cy="15875"/>
          </a:xfrm>
          <a:prstGeom prst="straightConnector1">
            <a:avLst/>
          </a:prstGeom>
          <a:noFill/>
          <a:ln w="9525">
            <a:solidFill>
              <a:srgbClr val="00CC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36" name="CaixaDeTexto 20">
            <a:extLst>
              <a:ext uri="{FF2B5EF4-FFF2-40B4-BE49-F238E27FC236}">
                <a16:creationId xmlns:a16="http://schemas.microsoft.com/office/drawing/2014/main" id="{1D3E4C68-1191-CB15-30C6-7E89EF6CD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75" y="2995613"/>
            <a:ext cx="1009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600"/>
              <a:t>=0</a:t>
            </a:r>
          </a:p>
        </p:txBody>
      </p:sp>
      <p:cxnSp>
        <p:nvCxnSpPr>
          <p:cNvPr id="48137" name="Conector de seta reta 21">
            <a:extLst>
              <a:ext uri="{FF2B5EF4-FFF2-40B4-BE49-F238E27FC236}">
                <a16:creationId xmlns:a16="http://schemas.microsoft.com/office/drawing/2014/main" id="{B0A72BD6-7B21-C5E7-F302-2D9F2E7CBC7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49888" y="2974975"/>
            <a:ext cx="2038350" cy="20638"/>
          </a:xfrm>
          <a:prstGeom prst="straightConnector1">
            <a:avLst/>
          </a:prstGeom>
          <a:noFill/>
          <a:ln w="9525">
            <a:solidFill>
              <a:srgbClr val="00CC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3">
            <a:extLst>
              <a:ext uri="{FF2B5EF4-FFF2-40B4-BE49-F238E27FC236}">
                <a16:creationId xmlns:a16="http://schemas.microsoft.com/office/drawing/2014/main" id="{A66964DD-E497-6FD0-9235-1B3B3A4F6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439738"/>
            <a:ext cx="7394575" cy="586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4" name="Retângulo 3">
            <a:extLst>
              <a:ext uri="{FF2B5EF4-FFF2-40B4-BE49-F238E27FC236}">
                <a16:creationId xmlns:a16="http://schemas.microsoft.com/office/drawing/2014/main" id="{12211E8F-B821-576F-8DB1-0FAAF9B87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11238"/>
            <a:ext cx="2868613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A- Divertir o usuário;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B- Lançar o boneco;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C- Receber o boneco;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D- Girar os chapéus;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E- Oferecer segurança ao usuário;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F- Permitir troca de bateria;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G- Ligar e desligar o brinquedo;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pt-BR" altLang="pt-BR" sz="1600"/>
              <a:t>H- Permitir transporte.</a:t>
            </a:r>
          </a:p>
        </p:txBody>
      </p:sp>
      <p:sp>
        <p:nvSpPr>
          <p:cNvPr id="49155" name="CaixaDeTexto 4">
            <a:extLst>
              <a:ext uri="{FF2B5EF4-FFF2-40B4-BE49-F238E27FC236}">
                <a16:creationId xmlns:a16="http://schemas.microsoft.com/office/drawing/2014/main" id="{EB285D9F-27CC-7A9E-3A1D-96D2EAEE5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4100" y="4587875"/>
            <a:ext cx="310673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49156" name="CaixaDeTexto 5">
            <a:extLst>
              <a:ext uri="{FF2B5EF4-FFF2-40B4-BE49-F238E27FC236}">
                <a16:creationId xmlns:a16="http://schemas.microsoft.com/office/drawing/2014/main" id="{E7F669ED-5B75-30AE-0CEA-5F86F6CD4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100" y="5470525"/>
            <a:ext cx="2143125" cy="584200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H= 3+3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H= 6</a:t>
            </a:r>
          </a:p>
        </p:txBody>
      </p:sp>
      <p:sp>
        <p:nvSpPr>
          <p:cNvPr id="49157" name="Elipse 6">
            <a:extLst>
              <a:ext uri="{FF2B5EF4-FFF2-40B4-BE49-F238E27FC236}">
                <a16:creationId xmlns:a16="http://schemas.microsoft.com/office/drawing/2014/main" id="{46C4C0E2-AA54-4B9B-85A8-F19682EA9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8" y="4981575"/>
            <a:ext cx="1041400" cy="476250"/>
          </a:xfrm>
          <a:prstGeom prst="ellipse">
            <a:avLst/>
          </a:prstGeom>
          <a:noFill/>
          <a:ln w="9525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cxnSp>
        <p:nvCxnSpPr>
          <p:cNvPr id="49158" name="Conector de seta reta 7">
            <a:extLst>
              <a:ext uri="{FF2B5EF4-FFF2-40B4-BE49-F238E27FC236}">
                <a16:creationId xmlns:a16="http://schemas.microsoft.com/office/drawing/2014/main" id="{C1407411-109B-F035-45CC-F749D6B47AB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478462" y="3128963"/>
            <a:ext cx="3800475" cy="63500"/>
          </a:xfrm>
          <a:prstGeom prst="straightConnector1">
            <a:avLst/>
          </a:prstGeom>
          <a:noFill/>
          <a:ln w="9525">
            <a:solidFill>
              <a:srgbClr val="00CC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59" name="CaixaDeTexto 8">
            <a:extLst>
              <a:ext uri="{FF2B5EF4-FFF2-40B4-BE49-F238E27FC236}">
                <a16:creationId xmlns:a16="http://schemas.microsoft.com/office/drawing/2014/main" id="{1CFC5CCE-5C4F-3215-AEDC-0011056CD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75" y="2995613"/>
            <a:ext cx="1009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600"/>
              <a:t>=0</a:t>
            </a:r>
          </a:p>
        </p:txBody>
      </p:sp>
      <p:cxnSp>
        <p:nvCxnSpPr>
          <p:cNvPr id="49160" name="Conector de seta reta 9">
            <a:extLst>
              <a:ext uri="{FF2B5EF4-FFF2-40B4-BE49-F238E27FC236}">
                <a16:creationId xmlns:a16="http://schemas.microsoft.com/office/drawing/2014/main" id="{AA023E3A-046C-A70A-95E4-72207C37550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84563" y="5140325"/>
            <a:ext cx="3498850" cy="0"/>
          </a:xfrm>
          <a:prstGeom prst="straightConnector1">
            <a:avLst/>
          </a:prstGeom>
          <a:noFill/>
          <a:ln w="9525">
            <a:solidFill>
              <a:srgbClr val="00CC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2">
            <a:extLst>
              <a:ext uri="{FF2B5EF4-FFF2-40B4-BE49-F238E27FC236}">
                <a16:creationId xmlns:a16="http://schemas.microsoft.com/office/drawing/2014/main" id="{62DA1855-CE97-DF47-9EEF-C3A7E332C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4325"/>
            <a:ext cx="4524375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8" name="Picture 3">
            <a:extLst>
              <a:ext uri="{FF2B5EF4-FFF2-40B4-BE49-F238E27FC236}">
                <a16:creationId xmlns:a16="http://schemas.microsoft.com/office/drawing/2014/main" id="{216892A1-6157-9175-45D6-2C1708548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119" y="1834356"/>
            <a:ext cx="5276167" cy="3030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CaixaDeTexto 3">
            <a:extLst>
              <a:ext uri="{FF2B5EF4-FFF2-40B4-BE49-F238E27FC236}">
                <a16:creationId xmlns:a16="http://schemas.microsoft.com/office/drawing/2014/main" id="{D4F57F7C-1021-742D-B56C-ED48A22F3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946150"/>
            <a:ext cx="6669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</a:rPr>
              <a:t>GRÁFICO DE PARETO DOS REQUISITOS DOS CLIENTES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C294B19-B218-6F2D-388D-C026CCA28D6C}"/>
              </a:ext>
            </a:extLst>
          </p:cNvPr>
          <p:cNvSpPr txBox="1"/>
          <p:nvPr/>
        </p:nvSpPr>
        <p:spPr>
          <a:xfrm>
            <a:off x="603504" y="1682478"/>
            <a:ext cx="80650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rgbClr val="002060"/>
                </a:solidFill>
              </a:rPr>
              <a:t>Para montar um gráfico de Pareto a partir do </a:t>
            </a:r>
            <a:r>
              <a:rPr lang="pt-BR" sz="2400" b="1" dirty="0">
                <a:solidFill>
                  <a:srgbClr val="002060"/>
                </a:solidFill>
              </a:rPr>
              <a:t>Diagrama de </a:t>
            </a:r>
            <a:r>
              <a:rPr lang="pt-BR" sz="2400" b="1" dirty="0" err="1">
                <a:solidFill>
                  <a:srgbClr val="002060"/>
                </a:solidFill>
              </a:rPr>
              <a:t>Mudge</a:t>
            </a:r>
            <a:r>
              <a:rPr lang="pt-BR" sz="2400" dirty="0">
                <a:solidFill>
                  <a:srgbClr val="002060"/>
                </a:solidFill>
              </a:rPr>
              <a:t>, você deve seguir alguns passos lógicos. </a:t>
            </a:r>
          </a:p>
          <a:p>
            <a:pPr algn="just"/>
            <a:endParaRPr lang="pt-BR" sz="2400" dirty="0">
              <a:solidFill>
                <a:srgbClr val="002060"/>
              </a:solidFill>
            </a:endParaRPr>
          </a:p>
          <a:p>
            <a:pPr algn="just"/>
            <a:r>
              <a:rPr lang="pt-BR" sz="2400" dirty="0">
                <a:solidFill>
                  <a:srgbClr val="002060"/>
                </a:solidFill>
              </a:rPr>
              <a:t>O Diagrama de </a:t>
            </a:r>
            <a:r>
              <a:rPr lang="pt-BR" sz="2400" dirty="0" err="1">
                <a:solidFill>
                  <a:srgbClr val="002060"/>
                </a:solidFill>
              </a:rPr>
              <a:t>Mudge</a:t>
            </a:r>
            <a:r>
              <a:rPr lang="pt-BR" sz="2400" dirty="0">
                <a:solidFill>
                  <a:srgbClr val="002060"/>
                </a:solidFill>
              </a:rPr>
              <a:t> mostra as interdependências entre os atributos de um sistema. </a:t>
            </a:r>
          </a:p>
          <a:p>
            <a:pPr algn="just"/>
            <a:endParaRPr lang="pt-BR" sz="2400" dirty="0">
              <a:solidFill>
                <a:srgbClr val="002060"/>
              </a:solidFill>
            </a:endParaRPr>
          </a:p>
          <a:p>
            <a:pPr algn="just"/>
            <a:r>
              <a:rPr lang="pt-BR" sz="2400" dirty="0">
                <a:solidFill>
                  <a:srgbClr val="002060"/>
                </a:solidFill>
              </a:rPr>
              <a:t>O gráfico de Pareto, por sua vez, é uma ferramenta que ajuda a identificar os fatores mais impactantes com base no princípio 80/20 — ou seja, encontrar os 20% dos fatores que causam 80% do impacto.</a:t>
            </a:r>
          </a:p>
        </p:txBody>
      </p:sp>
    </p:spTree>
    <p:extLst>
      <p:ext uri="{BB962C8B-B14F-4D97-AF65-F5344CB8AC3E}">
        <p14:creationId xmlns:p14="http://schemas.microsoft.com/office/powerpoint/2010/main" val="1053269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Imagem4">
            <a:extLst>
              <a:ext uri="{FF2B5EF4-FFF2-40B4-BE49-F238E27FC236}">
                <a16:creationId xmlns:a16="http://schemas.microsoft.com/office/drawing/2014/main" id="{F410ADAD-031A-3782-F59C-280F5CEBC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5087" y="1639093"/>
            <a:ext cx="6308725" cy="4200525"/>
          </a:xfrm>
          <a:prstGeom prst="rect">
            <a:avLst/>
          </a:prstGeom>
          <a:noFill/>
        </p:spPr>
      </p:pic>
      <p:sp>
        <p:nvSpPr>
          <p:cNvPr id="3" name="Freeform 11">
            <a:extLst>
              <a:ext uri="{FF2B5EF4-FFF2-40B4-BE49-F238E27FC236}">
                <a16:creationId xmlns:a16="http://schemas.microsoft.com/office/drawing/2014/main" id="{08501E73-4C66-9996-D578-628B0B17DE88}"/>
              </a:ext>
            </a:extLst>
          </p:cNvPr>
          <p:cNvSpPr>
            <a:spLocks/>
          </p:cNvSpPr>
          <p:nvPr/>
        </p:nvSpPr>
        <p:spPr bwMode="auto">
          <a:xfrm>
            <a:off x="1054100" y="1249363"/>
            <a:ext cx="5946775" cy="4979987"/>
          </a:xfrm>
          <a:custGeom>
            <a:avLst/>
            <a:gdLst>
              <a:gd name="T0" fmla="*/ 2147483646 w 3746"/>
              <a:gd name="T1" fmla="*/ 2147483646 h 3137"/>
              <a:gd name="T2" fmla="*/ 2147483646 w 3746"/>
              <a:gd name="T3" fmla="*/ 2147483646 h 3137"/>
              <a:gd name="T4" fmla="*/ 2147483646 w 3746"/>
              <a:gd name="T5" fmla="*/ 2147483646 h 3137"/>
              <a:gd name="T6" fmla="*/ 2147483646 w 3746"/>
              <a:gd name="T7" fmla="*/ 2147483646 h 3137"/>
              <a:gd name="T8" fmla="*/ 2147483646 w 3746"/>
              <a:gd name="T9" fmla="*/ 2147483646 h 3137"/>
              <a:gd name="T10" fmla="*/ 2147483646 w 3746"/>
              <a:gd name="T11" fmla="*/ 2147483646 h 3137"/>
              <a:gd name="T12" fmla="*/ 2147483646 w 3746"/>
              <a:gd name="T13" fmla="*/ 2147483646 h 3137"/>
              <a:gd name="T14" fmla="*/ 2147483646 w 3746"/>
              <a:gd name="T15" fmla="*/ 2147483646 h 3137"/>
              <a:gd name="T16" fmla="*/ 2147483646 w 3746"/>
              <a:gd name="T17" fmla="*/ 2147483646 h 3137"/>
              <a:gd name="T18" fmla="*/ 2147483646 w 3746"/>
              <a:gd name="T19" fmla="*/ 2147483646 h 31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746"/>
              <a:gd name="T31" fmla="*/ 0 h 3137"/>
              <a:gd name="T32" fmla="*/ 3746 w 3746"/>
              <a:gd name="T33" fmla="*/ 3137 h 313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746" h="3137">
                <a:moveTo>
                  <a:pt x="766" y="3051"/>
                </a:moveTo>
                <a:cubicBezTo>
                  <a:pt x="494" y="3045"/>
                  <a:pt x="309" y="2989"/>
                  <a:pt x="183" y="2794"/>
                </a:cubicBezTo>
                <a:cubicBezTo>
                  <a:pt x="57" y="2599"/>
                  <a:pt x="11" y="2216"/>
                  <a:pt x="9" y="1878"/>
                </a:cubicBezTo>
                <a:cubicBezTo>
                  <a:pt x="7" y="1540"/>
                  <a:pt x="0" y="1064"/>
                  <a:pt x="169" y="768"/>
                </a:cubicBezTo>
                <a:cubicBezTo>
                  <a:pt x="338" y="472"/>
                  <a:pt x="494" y="202"/>
                  <a:pt x="1022" y="101"/>
                </a:cubicBezTo>
                <a:cubicBezTo>
                  <a:pt x="1550" y="0"/>
                  <a:pt x="2934" y="14"/>
                  <a:pt x="3340" y="164"/>
                </a:cubicBezTo>
                <a:cubicBezTo>
                  <a:pt x="3746" y="314"/>
                  <a:pt x="3715" y="830"/>
                  <a:pt x="3458" y="1003"/>
                </a:cubicBezTo>
                <a:cubicBezTo>
                  <a:pt x="3201" y="1176"/>
                  <a:pt x="2074" y="901"/>
                  <a:pt x="1800" y="1205"/>
                </a:cubicBezTo>
                <a:cubicBezTo>
                  <a:pt x="1526" y="1509"/>
                  <a:pt x="1985" y="2521"/>
                  <a:pt x="1813" y="2829"/>
                </a:cubicBezTo>
                <a:cubicBezTo>
                  <a:pt x="1641" y="3137"/>
                  <a:pt x="1038" y="3057"/>
                  <a:pt x="766" y="3051"/>
                </a:cubicBezTo>
                <a:close/>
              </a:path>
            </a:pathLst>
          </a:custGeom>
          <a:noFill/>
          <a:ln w="28575" cmpd="sng">
            <a:solidFill>
              <a:srgbClr val="B4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A472E372-5A2F-DD7F-33B6-9F5040AB4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5032375"/>
            <a:ext cx="189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9418377-1973-E980-B7CA-AC0E60B4FDB5}"/>
              </a:ext>
            </a:extLst>
          </p:cNvPr>
          <p:cNvSpPr txBox="1"/>
          <p:nvPr/>
        </p:nvSpPr>
        <p:spPr>
          <a:xfrm>
            <a:off x="4710606" y="5056157"/>
            <a:ext cx="2933206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B050"/>
                </a:solidFill>
              </a:rPr>
              <a:t>QFD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60CAA-02BF-F83D-A660-D0372524F5EB}"/>
              </a:ext>
            </a:extLst>
          </p:cNvPr>
          <p:cNvSpPr/>
          <p:nvPr/>
        </p:nvSpPr>
        <p:spPr bwMode="auto">
          <a:xfrm>
            <a:off x="1500188" y="3322360"/>
            <a:ext cx="4631376" cy="1742910"/>
          </a:xfrm>
          <a:prstGeom prst="ellips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22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4">
            <a:extLst>
              <a:ext uri="{FF2B5EF4-FFF2-40B4-BE49-F238E27FC236}">
                <a16:creationId xmlns:a16="http://schemas.microsoft.com/office/drawing/2014/main" id="{A800BA99-058D-C5D3-4D7D-A6A1F88148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3700" y="393700"/>
            <a:ext cx="7867650" cy="706438"/>
          </a:xfrm>
        </p:spPr>
        <p:txBody>
          <a:bodyPr/>
          <a:lstStyle/>
          <a:p>
            <a:pPr eaLnBrk="1" hangingPunct="1"/>
            <a:r>
              <a:rPr lang="en-US" altLang="pt-BR" sz="4000"/>
              <a:t>Aplicação na </a:t>
            </a:r>
            <a:br>
              <a:rPr lang="en-US" altLang="pt-BR" sz="4000"/>
            </a:br>
            <a:r>
              <a:rPr lang="en-US" altLang="pt-BR" sz="4000"/>
              <a:t>Casa da Qualidade</a:t>
            </a:r>
            <a:endParaRPr lang="pt-BR" altLang="pt-BR" sz="4000"/>
          </a:p>
        </p:txBody>
      </p:sp>
      <p:pic>
        <p:nvPicPr>
          <p:cNvPr id="51202" name="Picture 6" descr="Figura2">
            <a:extLst>
              <a:ext uri="{FF2B5EF4-FFF2-40B4-BE49-F238E27FC236}">
                <a16:creationId xmlns:a16="http://schemas.microsoft.com/office/drawing/2014/main" id="{53CB52DA-061E-4328-E23E-CC8F108AD6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39875" y="1754188"/>
            <a:ext cx="6229350" cy="3984625"/>
          </a:xfrm>
          <a:noFill/>
        </p:spPr>
      </p:pic>
      <p:sp>
        <p:nvSpPr>
          <p:cNvPr id="112648" name="Rectangle 8">
            <a:extLst>
              <a:ext uri="{FF2B5EF4-FFF2-40B4-BE49-F238E27FC236}">
                <a16:creationId xmlns:a16="http://schemas.microsoft.com/office/drawing/2014/main" id="{21363AD3-14BA-2A2D-7509-73E9AB240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51204" name="Text Box 9">
            <a:extLst>
              <a:ext uri="{FF2B5EF4-FFF2-40B4-BE49-F238E27FC236}">
                <a16:creationId xmlns:a16="http://schemas.microsoft.com/office/drawing/2014/main" id="{F60AEBC4-6824-2C53-DF88-EA1EF93FA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Identificar os Requisitos dos Clientes do Produto </a:t>
            </a:r>
          </a:p>
        </p:txBody>
      </p:sp>
      <p:sp>
        <p:nvSpPr>
          <p:cNvPr id="112650" name="AutoShape 10">
            <a:extLst>
              <a:ext uri="{FF2B5EF4-FFF2-40B4-BE49-F238E27FC236}">
                <a16:creationId xmlns:a16="http://schemas.microsoft.com/office/drawing/2014/main" id="{AE04706A-33CA-BBBE-8AFC-6EEFF9581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1989138"/>
            <a:ext cx="2592387" cy="790575"/>
          </a:xfrm>
          <a:prstGeom prst="wedgeRectCallout">
            <a:avLst>
              <a:gd name="adj1" fmla="val 50120"/>
              <a:gd name="adj2" fmla="val 15261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100">
                <a:latin typeface="Verdana" panose="020B0604030504040204" pitchFamily="34" charset="0"/>
              </a:rPr>
              <a:t>Os requisitos identificados podem ser registrados em uma tabela ou levados diretamente à primeira matriz do QFD.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8" grpId="0" animBg="1"/>
      <p:bldP spid="11265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CA7F38E4-0469-E45D-DC12-4A5837E45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CQ de um Retroprojetor</a:t>
            </a:r>
            <a:endParaRPr lang="pt-BR" altLang="pt-BR"/>
          </a:p>
        </p:txBody>
      </p:sp>
      <p:sp>
        <p:nvSpPr>
          <p:cNvPr id="53250" name="Text Box 6">
            <a:extLst>
              <a:ext uri="{FF2B5EF4-FFF2-40B4-BE49-F238E27FC236}">
                <a16:creationId xmlns:a16="http://schemas.microsoft.com/office/drawing/2014/main" id="{96D958F5-CB59-8424-23DC-9B470E626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Identificar os Requisitos dos Clientes do Produto </a:t>
            </a:r>
          </a:p>
        </p:txBody>
      </p:sp>
      <p:pic>
        <p:nvPicPr>
          <p:cNvPr id="114701" name="Picture 13" descr="Untitled-3">
            <a:extLst>
              <a:ext uri="{FF2B5EF4-FFF2-40B4-BE49-F238E27FC236}">
                <a16:creationId xmlns:a16="http://schemas.microsoft.com/office/drawing/2014/main" id="{D3BB54CD-BBAF-E6E8-78D2-38CCA4105F3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4413" y="1484313"/>
            <a:ext cx="3552825" cy="4176712"/>
          </a:xfrm>
          <a:noFill/>
        </p:spPr>
      </p:pic>
      <p:pic>
        <p:nvPicPr>
          <p:cNvPr id="114703" name="Picture 15" descr="Untitled-4">
            <a:extLst>
              <a:ext uri="{FF2B5EF4-FFF2-40B4-BE49-F238E27FC236}">
                <a16:creationId xmlns:a16="http://schemas.microsoft.com/office/drawing/2014/main" id="{7E88631B-6F0A-65D5-CB42-F51AE734C2F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4600" y="1700213"/>
            <a:ext cx="2640013" cy="3816350"/>
          </a:xfrm>
          <a:noFill/>
        </p:spPr>
      </p:pic>
      <p:sp>
        <p:nvSpPr>
          <p:cNvPr id="114704" name="Rectangle 16">
            <a:extLst>
              <a:ext uri="{FF2B5EF4-FFF2-40B4-BE49-F238E27FC236}">
                <a16:creationId xmlns:a16="http://schemas.microsoft.com/office/drawing/2014/main" id="{99EC2376-B379-66F3-CCF5-5105937C0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0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CaixaDeTexto 1">
            <a:extLst>
              <a:ext uri="{FF2B5EF4-FFF2-40B4-BE49-F238E27FC236}">
                <a16:creationId xmlns:a16="http://schemas.microsoft.com/office/drawing/2014/main" id="{631C0723-1FDC-47CF-2D8F-2E2C49B21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813" y="2286000"/>
            <a:ext cx="69850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FF0000"/>
                </a:solidFill>
              </a:rPr>
              <a:t>DESDOBRAMENTO DA FUNÇÃO QUALIDADE</a:t>
            </a:r>
          </a:p>
        </p:txBody>
      </p:sp>
      <p:sp>
        <p:nvSpPr>
          <p:cNvPr id="55298" name="CaixaDeTexto 2">
            <a:extLst>
              <a:ext uri="{FF2B5EF4-FFF2-40B4-BE49-F238E27FC236}">
                <a16:creationId xmlns:a16="http://schemas.microsoft.com/office/drawing/2014/main" id="{3A9154DC-7C1F-58EA-95E5-D91EF8FA0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3089275"/>
            <a:ext cx="66833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dirty="0" err="1"/>
              <a:t>www.portaldeconhecimentos.org.br</a:t>
            </a:r>
            <a:r>
              <a:rPr lang="pt-BR" altLang="pt-BR" dirty="0"/>
              <a:t> </a:t>
            </a:r>
          </a:p>
        </p:txBody>
      </p:sp>
      <p:sp>
        <p:nvSpPr>
          <p:cNvPr id="55299" name="CaixaDeTexto 3">
            <a:extLst>
              <a:ext uri="{FF2B5EF4-FFF2-40B4-BE49-F238E27FC236}">
                <a16:creationId xmlns:a16="http://schemas.microsoft.com/office/drawing/2014/main" id="{4780CAC9-2D54-A7B3-96C3-D0393889E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0" y="3783013"/>
            <a:ext cx="4460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QFD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ítulo 1">
            <a:extLst>
              <a:ext uri="{FF2B5EF4-FFF2-40B4-BE49-F238E27FC236}">
                <a16:creationId xmlns:a16="http://schemas.microsoft.com/office/drawing/2014/main" id="{8791B9FD-7212-B202-FF88-1A15FB025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Histórico</a:t>
            </a:r>
          </a:p>
        </p:txBody>
      </p:sp>
      <p:sp>
        <p:nvSpPr>
          <p:cNvPr id="56322" name="Espaço Reservado para Conteúdo 2">
            <a:extLst>
              <a:ext uri="{FF2B5EF4-FFF2-40B4-BE49-F238E27FC236}">
                <a16:creationId xmlns:a16="http://schemas.microsoft.com/office/drawing/2014/main" id="{AEB44472-ADEF-30AE-7A08-A2FE472ECA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6113" y="1290638"/>
            <a:ext cx="8072437" cy="4800600"/>
          </a:xfrm>
        </p:spPr>
        <p:txBody>
          <a:bodyPr/>
          <a:lstStyle/>
          <a:p>
            <a:r>
              <a:rPr lang="pt-BR" altLang="pt-BR" sz="2400"/>
              <a:t>Iniciou no final da década de 60, período pós-guerra no Japão, junto com o programas de TQC.</a:t>
            </a:r>
          </a:p>
          <a:p>
            <a:r>
              <a:rPr lang="pt-BR" altLang="pt-BR" sz="2400"/>
              <a:t>1972 foi realizada uma das primeiras aplicações em Estaleiro Mitushibishi Heavy Industry.</a:t>
            </a:r>
          </a:p>
          <a:p>
            <a:r>
              <a:rPr lang="pt-BR" altLang="pt-BR" sz="2400"/>
              <a:t>1978 Mizuno &amp; Akao publicaram sobre o QFD no Japão.</a:t>
            </a:r>
          </a:p>
          <a:p>
            <a:r>
              <a:rPr lang="pt-BR" altLang="pt-BR" sz="2400"/>
              <a:t>1986 Akao introduziu o QFD nos EUA, com um artigo.</a:t>
            </a:r>
          </a:p>
          <a:p>
            <a:r>
              <a:rPr lang="pt-BR" altLang="pt-BR" sz="2400"/>
              <a:t>1988 Akao realizou os primeiros cursos na Europa</a:t>
            </a:r>
          </a:p>
          <a:p>
            <a:r>
              <a:rPr lang="pt-BR" altLang="pt-BR" sz="2400"/>
              <a:t>1989 foi realizado o primeiro Simpósio em Detroid nos EUA  </a:t>
            </a:r>
          </a:p>
          <a:p>
            <a:r>
              <a:rPr lang="pt-BR" altLang="pt-BR" sz="2400"/>
              <a:t>1992 Foi celebrado o primeiro Simpósio Europeu. </a:t>
            </a:r>
          </a:p>
          <a:p>
            <a:r>
              <a:rPr lang="pt-BR" altLang="pt-BR" sz="2400"/>
              <a:t>2001 Prof. Cheng da UFMG promoveu o primeiro congresso de QFD no Brasil.  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ítulo 1">
            <a:extLst>
              <a:ext uri="{FF2B5EF4-FFF2-40B4-BE49-F238E27FC236}">
                <a16:creationId xmlns:a16="http://schemas.microsoft.com/office/drawing/2014/main" id="{861EA412-6795-F260-34FA-210E0B03B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Abrangência</a:t>
            </a:r>
          </a:p>
        </p:txBody>
      </p:sp>
      <p:sp>
        <p:nvSpPr>
          <p:cNvPr id="57346" name="Espaço Reservado para Conteúdo 2">
            <a:extLst>
              <a:ext uri="{FF2B5EF4-FFF2-40B4-BE49-F238E27FC236}">
                <a16:creationId xmlns:a16="http://schemas.microsoft.com/office/drawing/2014/main" id="{952A022F-C5A3-43A6-55A5-15C032A721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1785938"/>
            <a:ext cx="7858125" cy="1643062"/>
          </a:xfrm>
        </p:spPr>
        <p:txBody>
          <a:bodyPr/>
          <a:lstStyle/>
          <a:p>
            <a:r>
              <a:rPr lang="pt-BR" altLang="pt-BR" sz="2400"/>
              <a:t>QFDr (</a:t>
            </a:r>
            <a:r>
              <a:rPr lang="pt-BR" altLang="pt-BR" sz="2400" i="1"/>
              <a:t>Quality function Deployment in a restricted sense</a:t>
            </a:r>
            <a:r>
              <a:rPr lang="pt-BR" altLang="pt-BR" sz="2400"/>
              <a:t>) é conhecido como o processo gerencial de desenvolvimento de produto orientado para o cliente.  Defini as atividades padrões para realizar o desenvolvimento de produto. </a:t>
            </a:r>
          </a:p>
          <a:p>
            <a:endParaRPr lang="pt-BR" altLang="pt-BR" sz="2400"/>
          </a:p>
        </p:txBody>
      </p:sp>
      <p:sp>
        <p:nvSpPr>
          <p:cNvPr id="57347" name="CaixaDeTexto 4">
            <a:extLst>
              <a:ext uri="{FF2B5EF4-FFF2-40B4-BE49-F238E27FC236}">
                <a16:creationId xmlns:a16="http://schemas.microsoft.com/office/drawing/2014/main" id="{7D2D9152-8579-F8C2-7D6A-7F5741432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1285875"/>
            <a:ext cx="3214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/>
              <a:t>QFD = QFDr + </a:t>
            </a:r>
            <a:r>
              <a:rPr lang="pt-BR" altLang="pt-BR">
                <a:solidFill>
                  <a:srgbClr val="002060"/>
                </a:solidFill>
              </a:rPr>
              <a:t>QD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CAA46BC3-2702-54CC-72B5-9120A305A414}"/>
              </a:ext>
            </a:extLst>
          </p:cNvPr>
          <p:cNvSpPr txBox="1">
            <a:spLocks/>
          </p:cNvSpPr>
          <p:nvPr/>
        </p:nvSpPr>
        <p:spPr>
          <a:xfrm>
            <a:off x="1285875" y="3714750"/>
            <a:ext cx="7643813" cy="1357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indent="-283464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r>
              <a:rPr lang="pt-BR" sz="2800" dirty="0">
                <a:latin typeface="+mn-lt"/>
              </a:rPr>
              <a:t>QD:  </a:t>
            </a:r>
            <a:r>
              <a:rPr lang="pt-BR" sz="2400" dirty="0">
                <a:latin typeface="Arial" charset="0"/>
              </a:rPr>
              <a:t>Desdobramento da Qualidade. É o método para desdobrar a voz do cliente em características do produto</a:t>
            </a:r>
            <a:r>
              <a:rPr lang="pt-BR" sz="2200" dirty="0">
                <a:latin typeface="Arial" charset="0"/>
              </a:rPr>
              <a:t>. </a:t>
            </a:r>
          </a:p>
        </p:txBody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id="{04B4F987-D2F5-7825-F87B-984D5095B315}"/>
              </a:ext>
            </a:extLst>
          </p:cNvPr>
          <p:cNvSpPr/>
          <p:nvPr/>
        </p:nvSpPr>
        <p:spPr>
          <a:xfrm>
            <a:off x="1214438" y="3643313"/>
            <a:ext cx="7572375" cy="25717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57350" name="CaixaDeTexto 13">
            <a:extLst>
              <a:ext uri="{FF2B5EF4-FFF2-40B4-BE49-F238E27FC236}">
                <a16:creationId xmlns:a16="http://schemas.microsoft.com/office/drawing/2014/main" id="{84C9104A-2AA7-92C0-ACA7-0F20DB711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313" y="5000625"/>
            <a:ext cx="735806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i="1">
                <a:solidFill>
                  <a:srgbClr val="002060"/>
                </a:solidFill>
              </a:rPr>
              <a:t>Devido a difusão dos métodos  mais tradicionais nos EUA pela (ASI) o termo QFD = QD.  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ítulo 1">
            <a:extLst>
              <a:ext uri="{FF2B5EF4-FFF2-40B4-BE49-F238E27FC236}">
                <a16:creationId xmlns:a16="http://schemas.microsoft.com/office/drawing/2014/main" id="{2F15F7D9-789B-439D-E516-8D26BE9D4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825" y="188913"/>
            <a:ext cx="7388225" cy="706437"/>
          </a:xfrm>
        </p:spPr>
        <p:txBody>
          <a:bodyPr/>
          <a:lstStyle/>
          <a:p>
            <a:r>
              <a:rPr lang="pt-BR" altLang="pt-BR"/>
              <a:t>ABRANGÊNCIA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95270D-30C5-3212-936A-924950B87A6F}"/>
              </a:ext>
            </a:extLst>
          </p:cNvPr>
          <p:cNvSpPr txBox="1">
            <a:spLocks/>
          </p:cNvSpPr>
          <p:nvPr/>
        </p:nvSpPr>
        <p:spPr>
          <a:xfrm>
            <a:off x="817563" y="1501775"/>
            <a:ext cx="7858125" cy="1643063"/>
          </a:xfrm>
          <a:prstGeom prst="rect">
            <a:avLst/>
          </a:prstGeom>
        </p:spPr>
        <p:txBody>
          <a:bodyPr/>
          <a:lstStyle/>
          <a:p>
            <a:pPr marL="365760" indent="-283464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r>
              <a:rPr lang="pt-BR" sz="2400" dirty="0">
                <a:latin typeface="+mn-lt"/>
              </a:rPr>
              <a:t>A primeira matriz do método QFD é conhecida como </a:t>
            </a:r>
            <a:r>
              <a:rPr lang="pt-BR" sz="2400" dirty="0">
                <a:solidFill>
                  <a:srgbClr val="FF0000"/>
                </a:solidFill>
                <a:latin typeface="+mn-lt"/>
              </a:rPr>
              <a:t>Casa da Qualidade</a:t>
            </a:r>
            <a:r>
              <a:rPr lang="pt-BR" sz="2400" dirty="0">
                <a:latin typeface="+mn-lt"/>
              </a:rPr>
              <a:t>, é utilizada principal para tradução das necessidades dos clientes em requisitos de projeto do produto.</a:t>
            </a:r>
          </a:p>
          <a:p>
            <a:pPr marL="365760" indent="-283464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endParaRPr lang="pt-BR" sz="2400" dirty="0">
              <a:latin typeface="+mn-lt"/>
            </a:endParaRPr>
          </a:p>
          <a:p>
            <a:pPr marL="365760" indent="-283464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r>
              <a:rPr lang="pt-BR" sz="2400" dirty="0">
                <a:latin typeface="+mn-lt"/>
              </a:rPr>
              <a:t>Geralmente o QFD é tratado como a casa da qualidade (principalmente no projeto de produto), entretanto é importante ressaltar que o escopo do método </a:t>
            </a:r>
            <a:r>
              <a:rPr lang="pt-BR" sz="2400" dirty="0">
                <a:solidFill>
                  <a:srgbClr val="FF0000"/>
                </a:solidFill>
                <a:latin typeface="+mn-lt"/>
              </a:rPr>
              <a:t>é muito mais abrangente.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ítulo 1">
            <a:extLst>
              <a:ext uri="{FF2B5EF4-FFF2-40B4-BE49-F238E27FC236}">
                <a16:creationId xmlns:a16="http://schemas.microsoft.com/office/drawing/2014/main" id="{96D63A84-7623-4676-BBAB-579DB1D127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Requisitos de Projeto</a:t>
            </a:r>
          </a:p>
        </p:txBody>
      </p:sp>
      <p:sp>
        <p:nvSpPr>
          <p:cNvPr id="59394" name="Espaço Reservado para Conteúdo 2">
            <a:extLst>
              <a:ext uri="{FF2B5EF4-FFF2-40B4-BE49-F238E27FC236}">
                <a16:creationId xmlns:a16="http://schemas.microsoft.com/office/drawing/2014/main" id="{3EB3EEC1-CA81-0ED4-A474-4449D5D67E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5488" y="1082675"/>
            <a:ext cx="8197850" cy="5413375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2400"/>
              <a:t>Compreende-se por requisitos de projeto o conjunto de características que o produto deverá ter </a:t>
            </a:r>
            <a:r>
              <a:rPr lang="pt-BR" altLang="pt-BR" sz="2400" i="1">
                <a:solidFill>
                  <a:srgbClr val="002060"/>
                </a:solidFill>
              </a:rPr>
              <a:t>para atender as necessidades e expectativas dos clientes</a:t>
            </a:r>
            <a:r>
              <a:rPr lang="pt-BR" altLang="pt-BR" sz="2400"/>
              <a:t>.</a:t>
            </a:r>
          </a:p>
        </p:txBody>
      </p:sp>
      <p:pic>
        <p:nvPicPr>
          <p:cNvPr id="59395" name="Picture 6" descr="Untitled-1">
            <a:extLst>
              <a:ext uri="{FF2B5EF4-FFF2-40B4-BE49-F238E27FC236}">
                <a16:creationId xmlns:a16="http://schemas.microsoft.com/office/drawing/2014/main" id="{AA1C9EBB-8B66-50A9-7028-213BF8C58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2857500"/>
            <a:ext cx="4857750" cy="329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5" descr="MCj02338440000[1]">
            <a:extLst>
              <a:ext uri="{FF2B5EF4-FFF2-40B4-BE49-F238E27FC236}">
                <a16:creationId xmlns:a16="http://schemas.microsoft.com/office/drawing/2014/main" id="{FD92CED4-A48C-5D37-213E-AFC8CD4F7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500438"/>
            <a:ext cx="9779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ítulo 1">
            <a:extLst>
              <a:ext uri="{FF2B5EF4-FFF2-40B4-BE49-F238E27FC236}">
                <a16:creationId xmlns:a16="http://schemas.microsoft.com/office/drawing/2014/main" id="{B5E17F33-E172-DF77-FD60-A12240F48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8488" y="220663"/>
            <a:ext cx="7388225" cy="706437"/>
          </a:xfrm>
        </p:spPr>
        <p:txBody>
          <a:bodyPr/>
          <a:lstStyle/>
          <a:p>
            <a:r>
              <a:rPr lang="pt-BR" altLang="pt-BR" sz="2800" b="1"/>
              <a:t>QFD </a:t>
            </a:r>
          </a:p>
        </p:txBody>
      </p:sp>
      <p:sp>
        <p:nvSpPr>
          <p:cNvPr id="60418" name="Espaço Reservado para Conteúdo 2">
            <a:extLst>
              <a:ext uri="{FF2B5EF4-FFF2-40B4-BE49-F238E27FC236}">
                <a16:creationId xmlns:a16="http://schemas.microsoft.com/office/drawing/2014/main" id="{B4D742BE-1953-5BE6-53C6-BCE3A406F3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0" y="1281113"/>
            <a:ext cx="8794750" cy="5238750"/>
          </a:xfrm>
        </p:spPr>
        <p:txBody>
          <a:bodyPr/>
          <a:lstStyle/>
          <a:p>
            <a:r>
              <a:rPr lang="pt-BR" altLang="pt-BR"/>
              <a:t>É um método sistemático que auxilia na tradução das necessidades dos clientes em requisitos de projeto.</a:t>
            </a:r>
          </a:p>
          <a:p>
            <a:endParaRPr lang="pt-BR" altLang="pt-BR"/>
          </a:p>
          <a:p>
            <a:pPr>
              <a:buFontTx/>
              <a:buNone/>
            </a:pPr>
            <a:r>
              <a:rPr lang="pt-BR" altLang="pt-BR"/>
              <a:t> </a:t>
            </a:r>
          </a:p>
        </p:txBody>
      </p:sp>
      <p:pic>
        <p:nvPicPr>
          <p:cNvPr id="9" name="Picture 35" descr="Figura1">
            <a:extLst>
              <a:ext uri="{FF2B5EF4-FFF2-40B4-BE49-F238E27FC236}">
                <a16:creationId xmlns:a16="http://schemas.microsoft.com/office/drawing/2014/main" id="{265FB638-0DFB-C9D6-5DBD-A364BA2B9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0" y="2519363"/>
            <a:ext cx="3594100" cy="380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8746D-FAEB-4099-E5CA-6CF54B747535}"/>
              </a:ext>
            </a:extLst>
          </p:cNvPr>
          <p:cNvSpPr txBox="1">
            <a:spLocks/>
          </p:cNvSpPr>
          <p:nvPr/>
        </p:nvSpPr>
        <p:spPr>
          <a:xfrm>
            <a:off x="153988" y="220663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4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ALGUMAS CONSIDERAÇÕES</a:t>
            </a:r>
          </a:p>
        </p:txBody>
      </p:sp>
      <p:pic>
        <p:nvPicPr>
          <p:cNvPr id="3" name="Picture 35" descr="Figura1">
            <a:extLst>
              <a:ext uri="{FF2B5EF4-FFF2-40B4-BE49-F238E27FC236}">
                <a16:creationId xmlns:a16="http://schemas.microsoft.com/office/drawing/2014/main" id="{AD4E6CEC-2979-87D7-532D-C01B82EB1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713" y="412750"/>
            <a:ext cx="15367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2A439CF-2157-7FDA-F2A2-2A2E07E49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4525963"/>
            <a:ext cx="1214437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  <a:latin typeface="Calibri" panose="020F0502020204030204" pitchFamily="34" charset="0"/>
              </a:rPr>
              <a:t>Concisa!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F916B-ACD9-33A0-4890-31065923E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950" y="2547938"/>
            <a:ext cx="2987675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C456F00-B23B-0FE7-0467-007879FDE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825" y="1566863"/>
            <a:ext cx="23574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  <a:latin typeface="Calibri" panose="020F0502020204030204" pitchFamily="34" charset="0"/>
              </a:rPr>
              <a:t>Equipe multidisciplinar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DB66C96-16C5-42DA-34F2-E6B6CD4EE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1988" y="2333625"/>
            <a:ext cx="30559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  <a:latin typeface="Calibri" panose="020F0502020204030204" pitchFamily="34" charset="0"/>
              </a:rPr>
              <a:t>Favorece a aceitação interna e a probabilidade de sucesso.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9F67230-6188-4D92-1C64-3BF2A2AE4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200" y="3476625"/>
            <a:ext cx="228600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  <a:latin typeface="Calibri" panose="020F0502020204030204" pitchFamily="34" charset="0"/>
              </a:rPr>
              <a:t>Envolve áreas não funcionais e a CS.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35E567-7C0F-ACF8-40DC-B944D17B2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825" y="5119688"/>
            <a:ext cx="5072063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002060"/>
                </a:solidFill>
                <a:latin typeface="Calibri" panose="020F0502020204030204" pitchFamily="34" charset="0"/>
              </a:rPr>
              <a:t>Sobretudo uma ferramenta de comunicação e estimulo ao trabalho multidisciplinar ao longo do projeto.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B21D6D0-59FC-467D-91E0-54A4E53BB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644775"/>
            <a:ext cx="24288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  <a:latin typeface="Calibri" panose="020F0502020204030204" pitchFamily="34" charset="0"/>
              </a:rPr>
              <a:t>Faz com que as pessoas pensem juntas, em uma mesma direção.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12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81CFD031-DBBE-145A-F7D2-471C54B582D4}"/>
              </a:ext>
            </a:extLst>
          </p:cNvPr>
          <p:cNvSpPr>
            <a:spLocks/>
          </p:cNvSpPr>
          <p:nvPr/>
        </p:nvSpPr>
        <p:spPr bwMode="auto">
          <a:xfrm>
            <a:off x="4225925" y="2952750"/>
            <a:ext cx="3048000" cy="1581150"/>
          </a:xfrm>
          <a:custGeom>
            <a:avLst/>
            <a:gdLst>
              <a:gd name="T0" fmla="*/ 2147483646 w 1920"/>
              <a:gd name="T1" fmla="*/ 0 h 996"/>
              <a:gd name="T2" fmla="*/ 2147483646 w 1920"/>
              <a:gd name="T3" fmla="*/ 2147483646 h 996"/>
              <a:gd name="T4" fmla="*/ 2147483646 w 1920"/>
              <a:gd name="T5" fmla="*/ 2147483646 h 996"/>
              <a:gd name="T6" fmla="*/ 0 w 1920"/>
              <a:gd name="T7" fmla="*/ 2147483646 h 996"/>
              <a:gd name="T8" fmla="*/ 2147483646 w 1920"/>
              <a:gd name="T9" fmla="*/ 2147483646 h 996"/>
              <a:gd name="T10" fmla="*/ 2147483646 w 1920"/>
              <a:gd name="T11" fmla="*/ 0 h 9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20"/>
              <a:gd name="T19" fmla="*/ 0 h 996"/>
              <a:gd name="T20" fmla="*/ 1920 w 1920"/>
              <a:gd name="T21" fmla="*/ 996 h 99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20" h="996">
                <a:moveTo>
                  <a:pt x="1253" y="0"/>
                </a:moveTo>
                <a:lnTo>
                  <a:pt x="1920" y="512"/>
                </a:lnTo>
                <a:lnTo>
                  <a:pt x="832" y="996"/>
                </a:lnTo>
                <a:lnTo>
                  <a:pt x="0" y="987"/>
                </a:lnTo>
                <a:lnTo>
                  <a:pt x="18" y="566"/>
                </a:lnTo>
                <a:lnTo>
                  <a:pt x="1253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FFF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B99858CA-398C-03EC-1CC5-05BE67E72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3944938"/>
            <a:ext cx="1554162" cy="792162"/>
          </a:xfrm>
          <a:prstGeom prst="rightArrow">
            <a:avLst>
              <a:gd name="adj1" fmla="val 74269"/>
              <a:gd name="adj2" fmla="val 43426"/>
            </a:avLst>
          </a:prstGeom>
          <a:solidFill>
            <a:srgbClr val="FFFF00"/>
          </a:solidFill>
          <a:ln>
            <a:noFill/>
          </a:ln>
          <a:effectLst>
            <a:prstShdw prst="shdw17" dist="17961" dir="2700000">
              <a:srgbClr val="9999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Características dos componentes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EFBEBB87-8FE4-D57B-A2D0-59CF6CB6CC80}"/>
              </a:ext>
            </a:extLst>
          </p:cNvPr>
          <p:cNvSpPr>
            <a:spLocks/>
          </p:cNvSpPr>
          <p:nvPr/>
        </p:nvSpPr>
        <p:spPr bwMode="auto">
          <a:xfrm>
            <a:off x="3357563" y="2152650"/>
            <a:ext cx="2773362" cy="1277938"/>
          </a:xfrm>
          <a:custGeom>
            <a:avLst/>
            <a:gdLst>
              <a:gd name="T0" fmla="*/ 2147483646 w 1747"/>
              <a:gd name="T1" fmla="*/ 0 h 805"/>
              <a:gd name="T2" fmla="*/ 2147483646 w 1747"/>
              <a:gd name="T3" fmla="*/ 2147483646 h 805"/>
              <a:gd name="T4" fmla="*/ 2147483646 w 1747"/>
              <a:gd name="T5" fmla="*/ 2147483646 h 805"/>
              <a:gd name="T6" fmla="*/ 2147483646 w 1747"/>
              <a:gd name="T7" fmla="*/ 2147483646 h 805"/>
              <a:gd name="T8" fmla="*/ 0 w 1747"/>
              <a:gd name="T9" fmla="*/ 2147483646 h 805"/>
              <a:gd name="T10" fmla="*/ 2147483646 w 1747"/>
              <a:gd name="T11" fmla="*/ 2147483646 h 805"/>
              <a:gd name="T12" fmla="*/ 2147483646 w 1747"/>
              <a:gd name="T13" fmla="*/ 0 h 80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47"/>
              <a:gd name="T22" fmla="*/ 0 h 805"/>
              <a:gd name="T23" fmla="*/ 1747 w 1747"/>
              <a:gd name="T24" fmla="*/ 805 h 80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47" h="805">
                <a:moveTo>
                  <a:pt x="1079" y="0"/>
                </a:moveTo>
                <a:lnTo>
                  <a:pt x="1747" y="512"/>
                </a:lnTo>
                <a:lnTo>
                  <a:pt x="924" y="768"/>
                </a:lnTo>
                <a:lnTo>
                  <a:pt x="10" y="805"/>
                </a:lnTo>
                <a:lnTo>
                  <a:pt x="0" y="759"/>
                </a:lnTo>
                <a:lnTo>
                  <a:pt x="19" y="293"/>
                </a:lnTo>
                <a:lnTo>
                  <a:pt x="1079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FFF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B9371812-7B08-B700-D300-085B53F76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238" y="3368675"/>
            <a:ext cx="1882775" cy="601663"/>
          </a:xfrm>
          <a:prstGeom prst="downArrow">
            <a:avLst>
              <a:gd name="adj1" fmla="val 75935"/>
              <a:gd name="adj2" fmla="val 38102"/>
            </a:avLst>
          </a:prstGeom>
          <a:solidFill>
            <a:srgbClr val="FFFF00"/>
          </a:solidFill>
          <a:ln>
            <a:noFill/>
          </a:ln>
          <a:effectLst>
            <a:prstShdw prst="shdw17" dist="17961" dir="2700000">
              <a:srgbClr val="9999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Características dos componentes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B49F4F3F-6410-A4A3-165D-FE0664B65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0" y="2576513"/>
            <a:ext cx="1412875" cy="889000"/>
          </a:xfrm>
          <a:prstGeom prst="rightArrow">
            <a:avLst>
              <a:gd name="adj1" fmla="val 66843"/>
              <a:gd name="adj2" fmla="val 39732"/>
            </a:avLst>
          </a:prstGeom>
          <a:solidFill>
            <a:srgbClr val="FFCC00"/>
          </a:solidFill>
          <a:ln>
            <a:noFill/>
          </a:ln>
          <a:effectLst>
            <a:prstShdw prst="shdw17" dist="17961" dir="2700000">
              <a:srgbClr val="997A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Requisitos do Produto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4738C81D-D492-6A32-BD68-0F9E66EB8283}"/>
              </a:ext>
            </a:extLst>
          </p:cNvPr>
          <p:cNvSpPr>
            <a:spLocks/>
          </p:cNvSpPr>
          <p:nvPr/>
        </p:nvSpPr>
        <p:spPr bwMode="auto">
          <a:xfrm>
            <a:off x="6580188" y="4040188"/>
            <a:ext cx="1712912" cy="1219200"/>
          </a:xfrm>
          <a:custGeom>
            <a:avLst/>
            <a:gdLst>
              <a:gd name="T0" fmla="*/ 2147483646 w 1079"/>
              <a:gd name="T1" fmla="*/ 0 h 768"/>
              <a:gd name="T2" fmla="*/ 2147483646 w 1079"/>
              <a:gd name="T3" fmla="*/ 2147483646 h 768"/>
              <a:gd name="T4" fmla="*/ 2147483646 w 1079"/>
              <a:gd name="T5" fmla="*/ 2147483646 h 768"/>
              <a:gd name="T6" fmla="*/ 2147483646 w 1079"/>
              <a:gd name="T7" fmla="*/ 2147483646 h 768"/>
              <a:gd name="T8" fmla="*/ 0 w 1079"/>
              <a:gd name="T9" fmla="*/ 2147483646 h 768"/>
              <a:gd name="T10" fmla="*/ 2147483646 w 1079"/>
              <a:gd name="T11" fmla="*/ 0 h 7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9"/>
              <a:gd name="T19" fmla="*/ 0 h 768"/>
              <a:gd name="T20" fmla="*/ 1079 w 1079"/>
              <a:gd name="T21" fmla="*/ 768 h 7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9" h="768">
                <a:moveTo>
                  <a:pt x="348" y="0"/>
                </a:moveTo>
                <a:lnTo>
                  <a:pt x="1042" y="521"/>
                </a:lnTo>
                <a:lnTo>
                  <a:pt x="1079" y="686"/>
                </a:lnTo>
                <a:lnTo>
                  <a:pt x="293" y="768"/>
                </a:lnTo>
                <a:lnTo>
                  <a:pt x="0" y="475"/>
                </a:lnTo>
                <a:lnTo>
                  <a:pt x="348" y="0"/>
                </a:lnTo>
                <a:close/>
              </a:path>
            </a:pathLst>
          </a:custGeom>
          <a:gradFill rotWithShape="0">
            <a:gsLst>
              <a:gs pos="0">
                <a:srgbClr val="FFFF0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30F7C804-4A36-EBB0-ECEA-39784D351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638" y="5735638"/>
            <a:ext cx="1517650" cy="627062"/>
          </a:xfrm>
          <a:prstGeom prst="downArrow">
            <a:avLst>
              <a:gd name="adj1" fmla="val 81639"/>
              <a:gd name="adj2" fmla="val 36722"/>
            </a:avLst>
          </a:prstGeom>
          <a:solidFill>
            <a:srgbClr val="D9D9FF"/>
          </a:solidFill>
          <a:ln>
            <a:noFill/>
          </a:ln>
          <a:effectLst>
            <a:prstShdw prst="shdw17" dist="17961" dir="2700000">
              <a:srgbClr val="828299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Controle das Operações de  Produção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7A4D648C-6E33-4321-3A0B-923E1F45A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163" y="4810125"/>
            <a:ext cx="1439862" cy="863600"/>
          </a:xfrm>
          <a:prstGeom prst="rightArrow">
            <a:avLst>
              <a:gd name="adj1" fmla="val 64065"/>
              <a:gd name="adj2" fmla="val 55082"/>
            </a:avLst>
          </a:prstGeom>
          <a:solidFill>
            <a:schemeClr val="folHlink"/>
          </a:solidFill>
          <a:ln>
            <a:noFill/>
          </a:ln>
          <a:effectLst>
            <a:prstShdw prst="shdw17" dist="17961" dir="2700000">
              <a:srgbClr val="5C7A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Processos-chave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B877CBFF-14A3-094A-A833-A9A72D67AC91}"/>
              </a:ext>
            </a:extLst>
          </p:cNvPr>
          <p:cNvSpPr>
            <a:spLocks/>
          </p:cNvSpPr>
          <p:nvPr/>
        </p:nvSpPr>
        <p:spPr bwMode="auto">
          <a:xfrm>
            <a:off x="2747963" y="1122363"/>
            <a:ext cx="1611312" cy="900112"/>
          </a:xfrm>
          <a:custGeom>
            <a:avLst/>
            <a:gdLst>
              <a:gd name="T0" fmla="*/ 2147483646 w 1015"/>
              <a:gd name="T1" fmla="*/ 0 h 567"/>
              <a:gd name="T2" fmla="*/ 0 w 1015"/>
              <a:gd name="T3" fmla="*/ 2147483646 h 567"/>
              <a:gd name="T4" fmla="*/ 2147483646 w 1015"/>
              <a:gd name="T5" fmla="*/ 2147483646 h 567"/>
              <a:gd name="T6" fmla="*/ 2147483646 w 1015"/>
              <a:gd name="T7" fmla="*/ 2147483646 h 567"/>
              <a:gd name="T8" fmla="*/ 2147483646 w 1015"/>
              <a:gd name="T9" fmla="*/ 2147483646 h 567"/>
              <a:gd name="T10" fmla="*/ 2147483646 w 1015"/>
              <a:gd name="T11" fmla="*/ 0 h 56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15"/>
              <a:gd name="T19" fmla="*/ 0 h 567"/>
              <a:gd name="T20" fmla="*/ 1015 w 1015"/>
              <a:gd name="T21" fmla="*/ 567 h 56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15" h="567">
                <a:moveTo>
                  <a:pt x="960" y="0"/>
                </a:moveTo>
                <a:lnTo>
                  <a:pt x="0" y="92"/>
                </a:lnTo>
                <a:lnTo>
                  <a:pt x="19" y="521"/>
                </a:lnTo>
                <a:lnTo>
                  <a:pt x="732" y="567"/>
                </a:lnTo>
                <a:lnTo>
                  <a:pt x="1015" y="558"/>
                </a:lnTo>
                <a:lnTo>
                  <a:pt x="960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FFF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11DDA47F-4CB1-E711-7EE9-01DDE3F2A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3975" y="2001838"/>
            <a:ext cx="1511300" cy="574675"/>
          </a:xfrm>
          <a:prstGeom prst="downArrow">
            <a:avLst>
              <a:gd name="adj1" fmla="val 76935"/>
              <a:gd name="adj2" fmla="val 34347"/>
            </a:avLst>
          </a:prstGeom>
          <a:solidFill>
            <a:srgbClr val="FFCC00"/>
          </a:solidFill>
          <a:ln>
            <a:noFill/>
          </a:ln>
          <a:effectLst>
            <a:prstShdw prst="shdw17" dist="17961" dir="2700000">
              <a:srgbClr val="997A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Requisitos do Produto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EAE3F26A-4ACD-69E7-C47E-1D32D0D7A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3" y="1281113"/>
            <a:ext cx="1198562" cy="720725"/>
          </a:xfrm>
          <a:prstGeom prst="rightArrow">
            <a:avLst>
              <a:gd name="adj1" fmla="val 73000"/>
              <a:gd name="adj2" fmla="val 33822"/>
            </a:avLst>
          </a:prstGeom>
          <a:solidFill>
            <a:srgbClr val="FF0000"/>
          </a:solidFill>
          <a:ln>
            <a:noFill/>
          </a:ln>
          <a:effectLst>
            <a:prstShdw prst="shdw17" dist="17961" dir="2700000">
              <a:srgbClr val="9900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pt-BR" altLang="pt-BR" sz="1000">
                <a:latin typeface="Verdana" panose="020B0604030504040204" pitchFamily="34" charset="0"/>
              </a:rPr>
              <a:t>Requisitos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pt-BR" altLang="pt-BR" sz="1000">
                <a:latin typeface="Verdana" panose="020B0604030504040204" pitchFamily="34" charset="0"/>
              </a:rPr>
              <a:t>Clientes</a:t>
            </a:r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928F11AD-086A-2610-45BB-4DE6DAE4D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665663"/>
            <a:ext cx="1657350" cy="677862"/>
          </a:xfrm>
          <a:prstGeom prst="downArrow">
            <a:avLst>
              <a:gd name="adj1" fmla="val 81991"/>
              <a:gd name="adj2" fmla="val 39583"/>
            </a:avLst>
          </a:prstGeom>
          <a:solidFill>
            <a:schemeClr val="folHlink"/>
          </a:solidFill>
          <a:ln>
            <a:noFill/>
          </a:ln>
          <a:effectLst>
            <a:prstShdw prst="shdw17" dist="17961" dir="2700000">
              <a:srgbClr val="5C7A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Processos-chave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14" name="Grupo 45">
            <a:extLst>
              <a:ext uri="{FF2B5EF4-FFF2-40B4-BE49-F238E27FC236}">
                <a16:creationId xmlns:a16="http://schemas.microsoft.com/office/drawing/2014/main" id="{EAAF10CC-4D28-BE86-D47C-4B82100B028F}"/>
              </a:ext>
            </a:extLst>
          </p:cNvPr>
          <p:cNvGrpSpPr>
            <a:grpSpLocks/>
          </p:cNvGrpSpPr>
          <p:nvPr/>
        </p:nvGrpSpPr>
        <p:grpSpPr bwMode="auto">
          <a:xfrm>
            <a:off x="4033838" y="1065213"/>
            <a:ext cx="1082675" cy="968375"/>
            <a:chOff x="3563938" y="1393825"/>
            <a:chExt cx="1082675" cy="968375"/>
          </a:xfrm>
        </p:grpSpPr>
        <p:grpSp>
          <p:nvGrpSpPr>
            <p:cNvPr id="62508" name="Group 16">
              <a:extLst>
                <a:ext uri="{FF2B5EF4-FFF2-40B4-BE49-F238E27FC236}">
                  <a16:creationId xmlns:a16="http://schemas.microsoft.com/office/drawing/2014/main" id="{3CB4FF78-45DF-DF9F-6CA9-DAFCC0CD0E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3939" y="1393825"/>
              <a:ext cx="1082676" cy="968377"/>
              <a:chOff x="1728" y="1200"/>
              <a:chExt cx="1344" cy="1488"/>
            </a:xfrm>
          </p:grpSpPr>
          <p:sp>
            <p:nvSpPr>
              <p:cNvPr id="62510" name="Rectangle 17">
                <a:extLst>
                  <a:ext uri="{FF2B5EF4-FFF2-40B4-BE49-F238E27FC236}">
                    <a16:creationId xmlns:a16="http://schemas.microsoft.com/office/drawing/2014/main" id="{630B30B8-37A3-6D6B-108C-81BF870582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440"/>
                <a:ext cx="288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511" name="Rectangle 18">
                <a:extLst>
                  <a:ext uri="{FF2B5EF4-FFF2-40B4-BE49-F238E27FC236}">
                    <a16:creationId xmlns:a16="http://schemas.microsoft.com/office/drawing/2014/main" id="{857EBD75-EF77-1AF4-11C0-A20DB2EF5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440"/>
                <a:ext cx="1056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512" name="Rectangle 19">
                <a:extLst>
                  <a:ext uri="{FF2B5EF4-FFF2-40B4-BE49-F238E27FC236}">
                    <a16:creationId xmlns:a16="http://schemas.microsoft.com/office/drawing/2014/main" id="{78881961-CFB0-0FBE-C32F-256E8C8CD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513" name="Rectangle 20">
                <a:extLst>
                  <a:ext uri="{FF2B5EF4-FFF2-40B4-BE49-F238E27FC236}">
                    <a16:creationId xmlns:a16="http://schemas.microsoft.com/office/drawing/2014/main" id="{707A52F7-6329-CF09-4E48-F7CD12D6D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200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2509" name="Text Box 22">
              <a:extLst>
                <a:ext uri="{FF2B5EF4-FFF2-40B4-BE49-F238E27FC236}">
                  <a16:creationId xmlns:a16="http://schemas.microsoft.com/office/drawing/2014/main" id="{2EE3C494-1EAE-EAEF-1D54-7035D33B8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838" y="1676400"/>
              <a:ext cx="8636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000">
                  <a:latin typeface="Verdana" panose="020B0604030504040204" pitchFamily="34" charset="0"/>
                </a:rPr>
                <a:t>Casa da Qualidade</a:t>
              </a:r>
            </a:p>
          </p:txBody>
        </p:sp>
      </p:grpSp>
      <p:grpSp>
        <p:nvGrpSpPr>
          <p:cNvPr id="16" name="Grupo 46">
            <a:extLst>
              <a:ext uri="{FF2B5EF4-FFF2-40B4-BE49-F238E27FC236}">
                <a16:creationId xmlns:a16="http://schemas.microsoft.com/office/drawing/2014/main" id="{35A6190F-ECE4-AA34-81EB-D119BCF9A855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985963"/>
            <a:ext cx="1781175" cy="984250"/>
            <a:chOff x="3874579" y="2301997"/>
            <a:chExt cx="1780098" cy="996830"/>
          </a:xfrm>
        </p:grpSpPr>
        <p:cxnSp>
          <p:nvCxnSpPr>
            <p:cNvPr id="62501" name="AutoShape 21">
              <a:extLst>
                <a:ext uri="{FF2B5EF4-FFF2-40B4-BE49-F238E27FC236}">
                  <a16:creationId xmlns:a16="http://schemas.microsoft.com/office/drawing/2014/main" id="{A7B7F0B1-6E8B-6DEE-B71A-F202BD9F278C}"/>
                </a:ext>
              </a:extLst>
            </p:cNvPr>
            <p:cNvCxnSpPr>
              <a:cxnSpLocks noChangeShapeType="1"/>
              <a:stCxn id="62512" idx="2"/>
              <a:endCxn id="62504" idx="1"/>
            </p:cNvCxnSpPr>
            <p:nvPr/>
          </p:nvCxnSpPr>
          <p:spPr bwMode="auto">
            <a:xfrm rot="16200000" flipH="1">
              <a:off x="3966969" y="2209607"/>
              <a:ext cx="512641" cy="697422"/>
            </a:xfrm>
            <a:prstGeom prst="bentConnector2">
              <a:avLst/>
            </a:prstGeom>
            <a:noFill/>
            <a:ln w="57150">
              <a:solidFill>
                <a:srgbClr val="FF330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2502" name="Group 23">
              <a:extLst>
                <a:ext uri="{FF2B5EF4-FFF2-40B4-BE49-F238E27FC236}">
                  <a16:creationId xmlns:a16="http://schemas.microsoft.com/office/drawing/2014/main" id="{41E433BC-A2AF-0B39-EEE7-B14E693957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1" y="2330450"/>
              <a:ext cx="1082676" cy="968377"/>
              <a:chOff x="1728" y="1200"/>
              <a:chExt cx="1344" cy="1488"/>
            </a:xfrm>
          </p:grpSpPr>
          <p:sp>
            <p:nvSpPr>
              <p:cNvPr id="62504" name="Rectangle 24">
                <a:extLst>
                  <a:ext uri="{FF2B5EF4-FFF2-40B4-BE49-F238E27FC236}">
                    <a16:creationId xmlns:a16="http://schemas.microsoft.com/office/drawing/2014/main" id="{99879FE4-21C9-BCF3-9650-9FBE99F7D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440"/>
                <a:ext cx="288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505" name="Rectangle 25">
                <a:extLst>
                  <a:ext uri="{FF2B5EF4-FFF2-40B4-BE49-F238E27FC236}">
                    <a16:creationId xmlns:a16="http://schemas.microsoft.com/office/drawing/2014/main" id="{E89A0221-09D3-5453-E116-118B11BC70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440"/>
                <a:ext cx="1056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506" name="Rectangle 26">
                <a:extLst>
                  <a:ext uri="{FF2B5EF4-FFF2-40B4-BE49-F238E27FC236}">
                    <a16:creationId xmlns:a16="http://schemas.microsoft.com/office/drawing/2014/main" id="{857A701F-E56F-1A88-ED87-050588256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507" name="Rectangle 27">
                <a:extLst>
                  <a:ext uri="{FF2B5EF4-FFF2-40B4-BE49-F238E27FC236}">
                    <a16:creationId xmlns:a16="http://schemas.microsoft.com/office/drawing/2014/main" id="{BE24E3DB-7E4E-2DDC-3D12-C7BB6D33F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200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2503" name="Text Box 28">
              <a:extLst>
                <a:ext uri="{FF2B5EF4-FFF2-40B4-BE49-F238E27FC236}">
                  <a16:creationId xmlns:a16="http://schemas.microsoft.com/office/drawing/2014/main" id="{08FAB43A-D856-0234-B2EB-200231E36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900" y="2547938"/>
              <a:ext cx="863600" cy="50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000">
                  <a:latin typeface="Verdana" panose="020B0604030504040204" pitchFamily="34" charset="0"/>
                </a:rPr>
                <a:t>Planejam.   Compo-nentes</a:t>
              </a:r>
            </a:p>
          </p:txBody>
        </p:sp>
      </p:grpSp>
      <p:grpSp>
        <p:nvGrpSpPr>
          <p:cNvPr id="18" name="Grupo 47">
            <a:extLst>
              <a:ext uri="{FF2B5EF4-FFF2-40B4-BE49-F238E27FC236}">
                <a16:creationId xmlns:a16="http://schemas.microsoft.com/office/drawing/2014/main" id="{FE2B7B25-DE86-3E5A-5F96-6AA1DEB8C444}"/>
              </a:ext>
            </a:extLst>
          </p:cNvPr>
          <p:cNvGrpSpPr>
            <a:grpSpLocks/>
          </p:cNvGrpSpPr>
          <p:nvPr/>
        </p:nvGrpSpPr>
        <p:grpSpPr bwMode="auto">
          <a:xfrm>
            <a:off x="5699125" y="2936875"/>
            <a:ext cx="1433513" cy="968375"/>
            <a:chOff x="5229226" y="3265488"/>
            <a:chExt cx="1433512" cy="968375"/>
          </a:xfrm>
        </p:grpSpPr>
        <p:cxnSp>
          <p:nvCxnSpPr>
            <p:cNvPr id="62494" name="AutoShape 29">
              <a:extLst>
                <a:ext uri="{FF2B5EF4-FFF2-40B4-BE49-F238E27FC236}">
                  <a16:creationId xmlns:a16="http://schemas.microsoft.com/office/drawing/2014/main" id="{0D26D540-474A-B4F9-8571-156970689D8D}"/>
                </a:ext>
              </a:extLst>
            </p:cNvPr>
            <p:cNvCxnSpPr>
              <a:cxnSpLocks noChangeShapeType="1"/>
              <a:endCxn id="62497" idx="1"/>
            </p:cNvCxnSpPr>
            <p:nvPr/>
          </p:nvCxnSpPr>
          <p:spPr bwMode="auto">
            <a:xfrm rot="16200000" flipH="1">
              <a:off x="5178425" y="3357563"/>
              <a:ext cx="442913" cy="341312"/>
            </a:xfrm>
            <a:prstGeom prst="bentConnector2">
              <a:avLst/>
            </a:prstGeom>
            <a:noFill/>
            <a:ln w="57150">
              <a:solidFill>
                <a:srgbClr val="FF330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2495" name="Group 30">
              <a:extLst>
                <a:ext uri="{FF2B5EF4-FFF2-40B4-BE49-F238E27FC236}">
                  <a16:creationId xmlns:a16="http://schemas.microsoft.com/office/drawing/2014/main" id="{9F5F15AB-53F4-2679-8F1B-69FA4F5ED3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0064" y="3265488"/>
              <a:ext cx="1082676" cy="968377"/>
              <a:chOff x="1728" y="1200"/>
              <a:chExt cx="1344" cy="1488"/>
            </a:xfrm>
          </p:grpSpPr>
          <p:sp>
            <p:nvSpPr>
              <p:cNvPr id="62497" name="Rectangle 31">
                <a:extLst>
                  <a:ext uri="{FF2B5EF4-FFF2-40B4-BE49-F238E27FC236}">
                    <a16:creationId xmlns:a16="http://schemas.microsoft.com/office/drawing/2014/main" id="{E3F5BD11-0DC4-57D9-2AA7-C6A8D2246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440"/>
                <a:ext cx="288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498" name="Rectangle 32">
                <a:extLst>
                  <a:ext uri="{FF2B5EF4-FFF2-40B4-BE49-F238E27FC236}">
                    <a16:creationId xmlns:a16="http://schemas.microsoft.com/office/drawing/2014/main" id="{D79CF2ED-972A-0189-AB46-2A90A511A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440"/>
                <a:ext cx="1056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499" name="Rectangle 33">
                <a:extLst>
                  <a:ext uri="{FF2B5EF4-FFF2-40B4-BE49-F238E27FC236}">
                    <a16:creationId xmlns:a16="http://schemas.microsoft.com/office/drawing/2014/main" id="{818A44CA-99BE-CA1B-817B-49B326B92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500" name="Rectangle 34">
                <a:extLst>
                  <a:ext uri="{FF2B5EF4-FFF2-40B4-BE49-F238E27FC236}">
                    <a16:creationId xmlns:a16="http://schemas.microsoft.com/office/drawing/2014/main" id="{236A6C89-4E4F-12CC-F3F7-7C4EB3B6F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200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2496" name="Text Box 35">
              <a:extLst>
                <a:ext uri="{FF2B5EF4-FFF2-40B4-BE49-F238E27FC236}">
                  <a16:creationId xmlns:a16="http://schemas.microsoft.com/office/drawing/2014/main" id="{93A5BECC-4241-9EFC-CF53-D8A238BCD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5963" y="3554413"/>
              <a:ext cx="8636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000">
                  <a:latin typeface="Verdana" panose="020B0604030504040204" pitchFamily="34" charset="0"/>
                </a:rPr>
                <a:t>Planejam. Processos</a:t>
              </a:r>
            </a:p>
          </p:txBody>
        </p:sp>
      </p:grpSp>
      <p:grpSp>
        <p:nvGrpSpPr>
          <p:cNvPr id="20" name="Grupo 48">
            <a:extLst>
              <a:ext uri="{FF2B5EF4-FFF2-40B4-BE49-F238E27FC236}">
                <a16:creationId xmlns:a16="http://schemas.microsoft.com/office/drawing/2014/main" id="{7691151B-09D3-1183-38FB-B9F8E219ED77}"/>
              </a:ext>
            </a:extLst>
          </p:cNvPr>
          <p:cNvGrpSpPr>
            <a:grpSpLocks/>
          </p:cNvGrpSpPr>
          <p:nvPr/>
        </p:nvGrpSpPr>
        <p:grpSpPr bwMode="auto">
          <a:xfrm>
            <a:off x="6780213" y="3873500"/>
            <a:ext cx="1433512" cy="968375"/>
            <a:chOff x="6310314" y="4202113"/>
            <a:chExt cx="1433511" cy="968375"/>
          </a:xfrm>
        </p:grpSpPr>
        <p:cxnSp>
          <p:nvCxnSpPr>
            <p:cNvPr id="62487" name="AutoShape 36">
              <a:extLst>
                <a:ext uri="{FF2B5EF4-FFF2-40B4-BE49-F238E27FC236}">
                  <a16:creationId xmlns:a16="http://schemas.microsoft.com/office/drawing/2014/main" id="{AE56CB73-82DC-657B-A0A4-AE435418F1B5}"/>
                </a:ext>
              </a:extLst>
            </p:cNvPr>
            <p:cNvCxnSpPr>
              <a:cxnSpLocks noChangeShapeType="1"/>
              <a:endCxn id="62490" idx="1"/>
            </p:cNvCxnSpPr>
            <p:nvPr/>
          </p:nvCxnSpPr>
          <p:spPr bwMode="auto">
            <a:xfrm rot="16200000" flipH="1">
              <a:off x="6259513" y="4294188"/>
              <a:ext cx="442913" cy="341312"/>
            </a:xfrm>
            <a:prstGeom prst="bentConnector2">
              <a:avLst/>
            </a:prstGeom>
            <a:noFill/>
            <a:ln w="57150">
              <a:solidFill>
                <a:srgbClr val="FF330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2488" name="Group 37">
              <a:extLst>
                <a:ext uri="{FF2B5EF4-FFF2-40B4-BE49-F238E27FC236}">
                  <a16:creationId xmlns:a16="http://schemas.microsoft.com/office/drawing/2014/main" id="{EDABFEDE-AEBD-A7AE-A923-5BE204D144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1151" y="4202113"/>
              <a:ext cx="1082676" cy="968377"/>
              <a:chOff x="1728" y="1200"/>
              <a:chExt cx="1344" cy="1488"/>
            </a:xfrm>
          </p:grpSpPr>
          <p:sp>
            <p:nvSpPr>
              <p:cNvPr id="62490" name="Rectangle 38">
                <a:extLst>
                  <a:ext uri="{FF2B5EF4-FFF2-40B4-BE49-F238E27FC236}">
                    <a16:creationId xmlns:a16="http://schemas.microsoft.com/office/drawing/2014/main" id="{EFC81706-44EC-E530-4FDD-42142FAA2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440"/>
                <a:ext cx="288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491" name="Rectangle 39">
                <a:extLst>
                  <a:ext uri="{FF2B5EF4-FFF2-40B4-BE49-F238E27FC236}">
                    <a16:creationId xmlns:a16="http://schemas.microsoft.com/office/drawing/2014/main" id="{EBB1A00A-49CA-CF9E-DC8D-06B69323B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440"/>
                <a:ext cx="1056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492" name="Rectangle 40">
                <a:extLst>
                  <a:ext uri="{FF2B5EF4-FFF2-40B4-BE49-F238E27FC236}">
                    <a16:creationId xmlns:a16="http://schemas.microsoft.com/office/drawing/2014/main" id="{206F6443-93D2-9EC1-A3AD-9DBAF9F1A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62493" name="Rectangle 41">
                <a:extLst>
                  <a:ext uri="{FF2B5EF4-FFF2-40B4-BE49-F238E27FC236}">
                    <a16:creationId xmlns:a16="http://schemas.microsoft.com/office/drawing/2014/main" id="{F5475A7F-4E8B-70B8-8F5D-C46E17B60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200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62489" name="Text Box 42">
              <a:extLst>
                <a:ext uri="{FF2B5EF4-FFF2-40B4-BE49-F238E27FC236}">
                  <a16:creationId xmlns:a16="http://schemas.microsoft.com/office/drawing/2014/main" id="{7D5EDD77-987A-CFC4-E8B5-4A5232780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7050" y="4429132"/>
              <a:ext cx="863600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000">
                  <a:latin typeface="Verdana" panose="020B0604030504040204" pitchFamily="34" charset="0"/>
                </a:rPr>
                <a:t>Planejam.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000">
                  <a:latin typeface="Verdana" panose="020B0604030504040204" pitchFamily="34" charset="0"/>
                </a:rPr>
                <a:t>Controle Produção</a:t>
              </a:r>
            </a:p>
          </p:txBody>
        </p:sp>
      </p:grpSp>
      <p:sp>
        <p:nvSpPr>
          <p:cNvPr id="45" name="AutoShape 5">
            <a:extLst>
              <a:ext uri="{FF2B5EF4-FFF2-40B4-BE49-F238E27FC236}">
                <a16:creationId xmlns:a16="http://schemas.microsoft.com/office/drawing/2014/main" id="{9428CF8E-B04C-C3BA-A1F3-654BD1401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213" y="885825"/>
            <a:ext cx="1255712" cy="309563"/>
          </a:xfrm>
          <a:prstGeom prst="wedgeRectCallout">
            <a:avLst>
              <a:gd name="adj1" fmla="val -74352"/>
              <a:gd name="adj2" fmla="val 32560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Mais usual</a:t>
            </a:r>
          </a:p>
        </p:txBody>
      </p:sp>
      <p:sp>
        <p:nvSpPr>
          <p:cNvPr id="46" name="AutoShape 5">
            <a:extLst>
              <a:ext uri="{FF2B5EF4-FFF2-40B4-BE49-F238E27FC236}">
                <a16:creationId xmlns:a16="http://schemas.microsoft.com/office/drawing/2014/main" id="{033B26A2-7677-39EA-045F-A316E88C2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138" y="962025"/>
            <a:ext cx="1719262" cy="309563"/>
          </a:xfrm>
          <a:prstGeom prst="wedgeRectCallout">
            <a:avLst>
              <a:gd name="adj1" fmla="val -63287"/>
              <a:gd name="adj2" fmla="val 138199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Planej. do produto</a:t>
            </a:r>
          </a:p>
        </p:txBody>
      </p:sp>
      <p:sp>
        <p:nvSpPr>
          <p:cNvPr id="47" name="AutoShape 5">
            <a:extLst>
              <a:ext uri="{FF2B5EF4-FFF2-40B4-BE49-F238E27FC236}">
                <a16:creationId xmlns:a16="http://schemas.microsoft.com/office/drawing/2014/main" id="{1585B87A-75E3-4908-6CD5-D38534065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0" y="1814513"/>
            <a:ext cx="1719263" cy="309562"/>
          </a:xfrm>
          <a:prstGeom prst="wedgeRectCallout">
            <a:avLst>
              <a:gd name="adj1" fmla="val -63287"/>
              <a:gd name="adj2" fmla="val 138199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Projeto do produto</a:t>
            </a:r>
          </a:p>
        </p:txBody>
      </p:sp>
      <p:sp>
        <p:nvSpPr>
          <p:cNvPr id="48" name="AutoShape 5">
            <a:extLst>
              <a:ext uri="{FF2B5EF4-FFF2-40B4-BE49-F238E27FC236}">
                <a16:creationId xmlns:a16="http://schemas.microsoft.com/office/drawing/2014/main" id="{30AB600C-9AA0-84B9-D013-F4956D75D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1957388"/>
            <a:ext cx="928688" cy="515937"/>
          </a:xfrm>
          <a:prstGeom prst="wedgeRectCallout">
            <a:avLst>
              <a:gd name="adj1" fmla="val 69954"/>
              <a:gd name="adj2" fmla="val -13588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Qualidade Exigida</a:t>
            </a:r>
          </a:p>
        </p:txBody>
      </p:sp>
      <p:sp>
        <p:nvSpPr>
          <p:cNvPr id="49" name="AutoShape 5">
            <a:extLst>
              <a:ext uri="{FF2B5EF4-FFF2-40B4-BE49-F238E27FC236}">
                <a16:creationId xmlns:a16="http://schemas.microsoft.com/office/drawing/2014/main" id="{63B43152-3853-822E-22AF-53E0531C3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2886075"/>
            <a:ext cx="1000125" cy="528638"/>
          </a:xfrm>
          <a:prstGeom prst="wedgeRectCallout">
            <a:avLst>
              <a:gd name="adj1" fmla="val 68009"/>
              <a:gd name="adj2" fmla="val -13685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Qualidade Planejada</a:t>
            </a: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01EE4D6B-1363-3D6F-F43A-E68C74B44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4148138"/>
            <a:ext cx="1076325" cy="534987"/>
          </a:xfrm>
          <a:prstGeom prst="wedgeRectCallout">
            <a:avLst>
              <a:gd name="adj1" fmla="val 68444"/>
              <a:gd name="adj2" fmla="val -15935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Qualidade Projetada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5" grpId="0" animBg="1" autoUpdateAnimBg="0"/>
      <p:bldP spid="6" grpId="0" animBg="1" autoUpdateAnimBg="0"/>
      <p:bldP spid="8" grpId="0" animBg="1" autoUpdateAnimBg="0"/>
      <p:bldP spid="9" grpId="0" animBg="1" autoUpdateAnimBg="0"/>
      <p:bldP spid="11" grpId="0" animBg="1" autoUpdateAnimBg="0"/>
      <p:bldP spid="12" grpId="0" animBg="1" autoUpdateAnimBg="0"/>
      <p:bldP spid="13" grpId="0" animBg="1" autoUpdateAnimBg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ítulo 1">
            <a:extLst>
              <a:ext uri="{FF2B5EF4-FFF2-40B4-BE49-F238E27FC236}">
                <a16:creationId xmlns:a16="http://schemas.microsoft.com/office/drawing/2014/main" id="{F83A19A6-1102-07C4-CC78-63AF2F0C8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75" y="0"/>
            <a:ext cx="7789863" cy="1143000"/>
          </a:xfrm>
        </p:spPr>
        <p:txBody>
          <a:bodyPr/>
          <a:lstStyle/>
          <a:p>
            <a:r>
              <a:rPr lang="pt-BR" altLang="pt-BR"/>
              <a:t>Matriz da Casa da Qualidade do QFD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22379D-6603-52FB-5975-4B4E0AE000B0}"/>
              </a:ext>
            </a:extLst>
          </p:cNvPr>
          <p:cNvSpPr/>
          <p:nvPr/>
        </p:nvSpPr>
        <p:spPr>
          <a:xfrm>
            <a:off x="1714500" y="3500438"/>
            <a:ext cx="1500188" cy="2000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Requisitos dos clientes</a:t>
            </a:r>
          </a:p>
        </p:txBody>
      </p:sp>
      <p:sp>
        <p:nvSpPr>
          <p:cNvPr id="63491" name="CaixaDeTexto 5">
            <a:extLst>
              <a:ext uri="{FF2B5EF4-FFF2-40B4-BE49-F238E27FC236}">
                <a16:creationId xmlns:a16="http://schemas.microsoft.com/office/drawing/2014/main" id="{3D7A1DD6-8C5B-892D-B254-C295C5F3C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700" y="3586163"/>
            <a:ext cx="500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(1)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23C70E3-0B55-8203-0858-C7B39B1AF1F0}"/>
              </a:ext>
            </a:extLst>
          </p:cNvPr>
          <p:cNvSpPr/>
          <p:nvPr/>
        </p:nvSpPr>
        <p:spPr>
          <a:xfrm rot="16200000">
            <a:off x="2536032" y="4250531"/>
            <a:ext cx="2000250" cy="500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Importância</a:t>
            </a:r>
          </a:p>
        </p:txBody>
      </p:sp>
      <p:sp>
        <p:nvSpPr>
          <p:cNvPr id="63493" name="CaixaDeTexto 7">
            <a:extLst>
              <a:ext uri="{FF2B5EF4-FFF2-40B4-BE49-F238E27FC236}">
                <a16:creationId xmlns:a16="http://schemas.microsoft.com/office/drawing/2014/main" id="{56496D97-4D72-6429-68CB-855C93871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0" y="3540125"/>
            <a:ext cx="500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(2)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93865D-9C78-508F-3086-A38DCC06B343}"/>
              </a:ext>
            </a:extLst>
          </p:cNvPr>
          <p:cNvSpPr/>
          <p:nvPr/>
        </p:nvSpPr>
        <p:spPr>
          <a:xfrm>
            <a:off x="6072188" y="3500438"/>
            <a:ext cx="1825625" cy="20002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Benchmarking</a:t>
            </a:r>
          </a:p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Competitivo</a:t>
            </a:r>
          </a:p>
        </p:txBody>
      </p:sp>
      <p:sp>
        <p:nvSpPr>
          <p:cNvPr id="63495" name="CaixaDeTexto 9">
            <a:extLst>
              <a:ext uri="{FF2B5EF4-FFF2-40B4-BE49-F238E27FC236}">
                <a16:creationId xmlns:a16="http://schemas.microsoft.com/office/drawing/2014/main" id="{9B32E219-3D7A-85C4-6C99-4F2AD3850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chemeClr val="bg1"/>
                </a:solidFill>
              </a:rPr>
              <a:t>(3)</a:t>
            </a:r>
          </a:p>
        </p:txBody>
      </p:sp>
      <p:sp>
        <p:nvSpPr>
          <p:cNvPr id="63496" name="CaixaDeTexto 10">
            <a:extLst>
              <a:ext uri="{FF2B5EF4-FFF2-40B4-BE49-F238E27FC236}">
                <a16:creationId xmlns:a16="http://schemas.microsoft.com/office/drawing/2014/main" id="{0CA15669-766A-2C0D-094F-97D677465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100" y="3532188"/>
            <a:ext cx="500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(3)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BB225BC-2CCF-8DAE-E88D-4BD16D4CE3E8}"/>
              </a:ext>
            </a:extLst>
          </p:cNvPr>
          <p:cNvSpPr/>
          <p:nvPr/>
        </p:nvSpPr>
        <p:spPr>
          <a:xfrm>
            <a:off x="3857625" y="3500438"/>
            <a:ext cx="2143125" cy="2000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dirty="0">
                <a:solidFill>
                  <a:schemeClr val="tx1"/>
                </a:solidFill>
              </a:rPr>
              <a:t>Matriz de relacionamentos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BBD5137-DB0F-E0B9-B186-3F63F9916A46}"/>
              </a:ext>
            </a:extLst>
          </p:cNvPr>
          <p:cNvSpPr/>
          <p:nvPr/>
        </p:nvSpPr>
        <p:spPr>
          <a:xfrm>
            <a:off x="3857625" y="2857500"/>
            <a:ext cx="2143125" cy="5619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Requisitos dos Produtos</a:t>
            </a:r>
          </a:p>
        </p:txBody>
      </p:sp>
      <p:sp>
        <p:nvSpPr>
          <p:cNvPr id="63499" name="CaixaDeTexto 13">
            <a:extLst>
              <a:ext uri="{FF2B5EF4-FFF2-40B4-BE49-F238E27FC236}">
                <a16:creationId xmlns:a16="http://schemas.microsoft.com/office/drawing/2014/main" id="{856B962B-E7C1-D594-7CE7-8819981EF47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357813" y="30718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(4)</a:t>
            </a:r>
          </a:p>
        </p:txBody>
      </p:sp>
      <p:sp>
        <p:nvSpPr>
          <p:cNvPr id="63500" name="CaixaDeTexto 14">
            <a:extLst>
              <a:ext uri="{FF2B5EF4-FFF2-40B4-BE49-F238E27FC236}">
                <a16:creationId xmlns:a16="http://schemas.microsoft.com/office/drawing/2014/main" id="{B7CEAEC3-F388-5A56-4AFC-A52B1FD1D99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664075" y="3611563"/>
            <a:ext cx="723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(5)</a:t>
            </a:r>
          </a:p>
        </p:txBody>
      </p:sp>
      <p:sp>
        <p:nvSpPr>
          <p:cNvPr id="16" name="Triângulo isósceles 15">
            <a:extLst>
              <a:ext uri="{FF2B5EF4-FFF2-40B4-BE49-F238E27FC236}">
                <a16:creationId xmlns:a16="http://schemas.microsoft.com/office/drawing/2014/main" id="{D51C4704-88CC-DF1F-0EE1-413036C5070B}"/>
              </a:ext>
            </a:extLst>
          </p:cNvPr>
          <p:cNvSpPr/>
          <p:nvPr/>
        </p:nvSpPr>
        <p:spPr>
          <a:xfrm>
            <a:off x="3857625" y="1643063"/>
            <a:ext cx="2143125" cy="114300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600" dirty="0">
                <a:solidFill>
                  <a:schemeClr val="tx1"/>
                </a:solidFill>
              </a:rPr>
              <a:t>Matriz de correção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3B184CB-AF37-81EE-B1E1-96A8CD9BFE37}"/>
              </a:ext>
            </a:extLst>
          </p:cNvPr>
          <p:cNvSpPr/>
          <p:nvPr/>
        </p:nvSpPr>
        <p:spPr>
          <a:xfrm>
            <a:off x="3810000" y="5572125"/>
            <a:ext cx="2071688" cy="5619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Quantificação dos produtos (6)</a:t>
            </a:r>
          </a:p>
        </p:txBody>
      </p:sp>
      <p:sp>
        <p:nvSpPr>
          <p:cNvPr id="63503" name="CaixaDeTexto 17">
            <a:extLst>
              <a:ext uri="{FF2B5EF4-FFF2-40B4-BE49-F238E27FC236}">
                <a16:creationId xmlns:a16="http://schemas.microsoft.com/office/drawing/2014/main" id="{867860B7-AD67-5411-491C-DD5DF019F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1857375"/>
            <a:ext cx="928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600"/>
              <a:t>(7)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ítulo 1">
            <a:extLst>
              <a:ext uri="{FF2B5EF4-FFF2-40B4-BE49-F238E27FC236}">
                <a16:creationId xmlns:a16="http://schemas.microsoft.com/office/drawing/2014/main" id="{36190DC2-C46B-279D-6EA2-E5A4B3C6F3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513" y="0"/>
            <a:ext cx="5072062" cy="1143000"/>
          </a:xfrm>
        </p:spPr>
        <p:txBody>
          <a:bodyPr/>
          <a:lstStyle/>
          <a:p>
            <a:r>
              <a:rPr lang="pt-BR" altLang="pt-BR" sz="2800"/>
              <a:t>Requisitos dos clientes</a:t>
            </a:r>
          </a:p>
        </p:txBody>
      </p:sp>
      <p:sp>
        <p:nvSpPr>
          <p:cNvPr id="64514" name="CaixaDeTexto 5">
            <a:extLst>
              <a:ext uri="{FF2B5EF4-FFF2-40B4-BE49-F238E27FC236}">
                <a16:creationId xmlns:a16="http://schemas.microsoft.com/office/drawing/2014/main" id="{6B54E535-B39E-CBE9-FCF9-F690B06E3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584325"/>
            <a:ext cx="7500938" cy="172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400"/>
              <a:t>Definir quem são os clientes</a:t>
            </a:r>
          </a:p>
          <a:p>
            <a:pPr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400"/>
              <a:t>Identificar as necessidades dos clientes</a:t>
            </a:r>
          </a:p>
          <a:p>
            <a:pPr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pt-BR" altLang="pt-BR" sz="2400"/>
              <a:t>Converter as necessidades dos clientes em requisitos dos clientes.</a:t>
            </a:r>
          </a:p>
        </p:txBody>
      </p:sp>
      <p:pic>
        <p:nvPicPr>
          <p:cNvPr id="64515" name="Picture 1">
            <a:extLst>
              <a:ext uri="{FF2B5EF4-FFF2-40B4-BE49-F238E27FC236}">
                <a16:creationId xmlns:a16="http://schemas.microsoft.com/office/drawing/2014/main" id="{5A93CC0E-4723-93B8-DEA1-759DE064B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285750"/>
            <a:ext cx="2643187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DEE2DD6C-AD0D-7D58-29E8-86E754005AE5}"/>
              </a:ext>
            </a:extLst>
          </p:cNvPr>
          <p:cNvSpPr/>
          <p:nvPr/>
        </p:nvSpPr>
        <p:spPr>
          <a:xfrm>
            <a:off x="6143625" y="928688"/>
            <a:ext cx="785813" cy="12858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pic>
        <p:nvPicPr>
          <p:cNvPr id="64517" name="Picture 6" descr="Untitled-1">
            <a:extLst>
              <a:ext uri="{FF2B5EF4-FFF2-40B4-BE49-F238E27FC236}">
                <a16:creationId xmlns:a16="http://schemas.microsoft.com/office/drawing/2014/main" id="{A7402AFC-2629-F5CC-BFD8-A691F4856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63" y="3554413"/>
            <a:ext cx="3929062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5" descr="MCj02338440000[1]">
            <a:extLst>
              <a:ext uri="{FF2B5EF4-FFF2-40B4-BE49-F238E27FC236}">
                <a16:creationId xmlns:a16="http://schemas.microsoft.com/office/drawing/2014/main" id="{9DBC173A-5680-497A-FD37-B774D95B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4156075"/>
            <a:ext cx="979488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ítulo 1">
            <a:extLst>
              <a:ext uri="{FF2B5EF4-FFF2-40B4-BE49-F238E27FC236}">
                <a16:creationId xmlns:a16="http://schemas.microsoft.com/office/drawing/2014/main" id="{2CC59ABD-DCCC-02AE-13F0-7B05E067E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1638" y="0"/>
            <a:ext cx="5072062" cy="1143000"/>
          </a:xfrm>
        </p:spPr>
        <p:txBody>
          <a:bodyPr/>
          <a:lstStyle/>
          <a:p>
            <a:r>
              <a:rPr lang="pt-BR" altLang="pt-BR"/>
              <a:t>Requisitos dos clientes</a:t>
            </a:r>
          </a:p>
        </p:txBody>
      </p:sp>
      <p:sp>
        <p:nvSpPr>
          <p:cNvPr id="65538" name="Retângulo 5">
            <a:extLst>
              <a:ext uri="{FF2B5EF4-FFF2-40B4-BE49-F238E27FC236}">
                <a16:creationId xmlns:a16="http://schemas.microsoft.com/office/drawing/2014/main" id="{AE806174-294E-AE58-892A-FD09233F6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1500188"/>
            <a:ext cx="5357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AutoNum type="arabicPeriod"/>
            </a:pPr>
            <a:r>
              <a:rPr lang="pt-BR" altLang="pt-BR" sz="2400">
                <a:cs typeface="Arial" panose="020B0604020202020204" pitchFamily="34" charset="0"/>
              </a:rPr>
              <a:t>Definir quem são os clientes</a:t>
            </a: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9341FEC6-7B29-F697-33FF-F83DA1BE1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graphicFrame>
        <p:nvGraphicFramePr>
          <p:cNvPr id="65540" name="Object 1">
            <a:extLst>
              <a:ext uri="{FF2B5EF4-FFF2-40B4-BE49-F238E27FC236}">
                <a16:creationId xmlns:a16="http://schemas.microsoft.com/office/drawing/2014/main" id="{01D8935D-8169-61BC-A44E-A679A5ED7D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8813" y="2055813"/>
          <a:ext cx="6286500" cy="424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6362700" imgH="4305300" progId="Word.Picture.8">
                  <p:embed/>
                </p:oleObj>
              </mc:Choice>
              <mc:Fallback>
                <p:oleObj name="Picture" r:id="rId2" imgW="6362700" imgH="4305300" progId="Word.Picture.8">
                  <p:embed/>
                  <p:pic>
                    <p:nvPicPr>
                      <p:cNvPr id="65540" name="Object 1">
                        <a:extLst>
                          <a:ext uri="{FF2B5EF4-FFF2-40B4-BE49-F238E27FC236}">
                            <a16:creationId xmlns:a16="http://schemas.microsoft.com/office/drawing/2014/main" id="{01D8935D-8169-61BC-A44E-A679A5ED7D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3" y="2055813"/>
                        <a:ext cx="6286500" cy="424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5541" name="Picture 1">
            <a:extLst>
              <a:ext uri="{FF2B5EF4-FFF2-40B4-BE49-F238E27FC236}">
                <a16:creationId xmlns:a16="http://schemas.microsoft.com/office/drawing/2014/main" id="{31C65890-48B7-8428-CEA5-2E8A7B687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285750"/>
            <a:ext cx="2643187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30D82DD8-E6F9-0B41-B2D9-32DD0D20B8BC}"/>
              </a:ext>
            </a:extLst>
          </p:cNvPr>
          <p:cNvSpPr/>
          <p:nvPr/>
        </p:nvSpPr>
        <p:spPr>
          <a:xfrm>
            <a:off x="6143625" y="928688"/>
            <a:ext cx="785813" cy="12858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ítulo 1">
            <a:extLst>
              <a:ext uri="{FF2B5EF4-FFF2-40B4-BE49-F238E27FC236}">
                <a16:creationId xmlns:a16="http://schemas.microsoft.com/office/drawing/2014/main" id="{29BEE116-5181-496D-E534-E41E17E9E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5072063" cy="1143000"/>
          </a:xfrm>
        </p:spPr>
        <p:txBody>
          <a:bodyPr/>
          <a:lstStyle/>
          <a:p>
            <a:r>
              <a:rPr lang="pt-BR" altLang="pt-BR"/>
              <a:t>Requisitos dos clientes</a:t>
            </a:r>
          </a:p>
        </p:txBody>
      </p:sp>
      <p:sp>
        <p:nvSpPr>
          <p:cNvPr id="66562" name="Retângulo 5">
            <a:extLst>
              <a:ext uri="{FF2B5EF4-FFF2-40B4-BE49-F238E27FC236}">
                <a16:creationId xmlns:a16="http://schemas.microsoft.com/office/drawing/2014/main" id="{55C62984-FF8B-0993-4AB3-50E01967D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" y="1216025"/>
            <a:ext cx="53578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>
                <a:cs typeface="Arial" panose="020B0604020202020204" pitchFamily="34" charset="0"/>
              </a:rPr>
              <a:t>2. Identificar as necessidades dos clientes</a:t>
            </a: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70753FFB-A005-4135-E1E6-1E3540C2D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66564" name="CaixaDeTexto 7">
            <a:extLst>
              <a:ext uri="{FF2B5EF4-FFF2-40B4-BE49-F238E27FC236}">
                <a16:creationId xmlns:a16="http://schemas.microsoft.com/office/drawing/2014/main" id="{826BB540-EB4D-8E99-88B7-3ACE7A589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6143625"/>
            <a:ext cx="3929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FF0000"/>
                </a:solidFill>
              </a:rPr>
              <a:t>Tipos de fontes de dados</a:t>
            </a:r>
          </a:p>
        </p:txBody>
      </p:sp>
      <p:pic>
        <p:nvPicPr>
          <p:cNvPr id="66565" name="Picture 3" descr="FiguraFonte_Cap3_v2">
            <a:extLst>
              <a:ext uri="{FF2B5EF4-FFF2-40B4-BE49-F238E27FC236}">
                <a16:creationId xmlns:a16="http://schemas.microsoft.com/office/drawing/2014/main" id="{E6B04DB5-F970-28D3-6F5A-C80EE1C3D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38" y="2357438"/>
            <a:ext cx="4857750" cy="362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6" name="Picture 1">
            <a:extLst>
              <a:ext uri="{FF2B5EF4-FFF2-40B4-BE49-F238E27FC236}">
                <a16:creationId xmlns:a16="http://schemas.microsoft.com/office/drawing/2014/main" id="{736A1BFC-AEA9-D519-C081-97B736C70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0"/>
            <a:ext cx="2643188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E528B825-91AE-DAE2-D285-76E56F6659FF}"/>
              </a:ext>
            </a:extLst>
          </p:cNvPr>
          <p:cNvSpPr/>
          <p:nvPr/>
        </p:nvSpPr>
        <p:spPr>
          <a:xfrm>
            <a:off x="6215063" y="642938"/>
            <a:ext cx="785812" cy="12858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5" name="Picture 5" descr="0201416395">
            <a:extLst>
              <a:ext uri="{FF2B5EF4-FFF2-40B4-BE49-F238E27FC236}">
                <a16:creationId xmlns:a16="http://schemas.microsoft.com/office/drawing/2014/main" id="{9EF4B23D-FBFF-F2B9-2A8E-4F1BEC09A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413" y="2500313"/>
            <a:ext cx="18859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hlinkClick r:id="rId3" action="ppaction://hlinksldjump"/>
            <a:extLst>
              <a:ext uri="{FF2B5EF4-FFF2-40B4-BE49-F238E27FC236}">
                <a16:creationId xmlns:a16="http://schemas.microsoft.com/office/drawing/2014/main" id="{1D378B3B-9681-4404-34FB-2EA1978BC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938" y="1223963"/>
            <a:ext cx="1366837" cy="288925"/>
          </a:xfrm>
          <a:prstGeom prst="wedgeRectCallout">
            <a:avLst>
              <a:gd name="adj1" fmla="val 54296"/>
              <a:gd name="adj2" fmla="val 375824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1. Desempenho</a:t>
            </a:r>
          </a:p>
        </p:txBody>
      </p:sp>
      <p:sp>
        <p:nvSpPr>
          <p:cNvPr id="4" name="AutoShape 9">
            <a:hlinkClick r:id="rId4" action="ppaction://hlinksldjump"/>
            <a:extLst>
              <a:ext uri="{FF2B5EF4-FFF2-40B4-BE49-F238E27FC236}">
                <a16:creationId xmlns:a16="http://schemas.microsoft.com/office/drawing/2014/main" id="{D6C336F0-FE3D-1CA3-BBCD-1B7B458A1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1728788"/>
            <a:ext cx="1366837" cy="288925"/>
          </a:xfrm>
          <a:prstGeom prst="wedgeRectCallout">
            <a:avLst>
              <a:gd name="adj1" fmla="val 105981"/>
              <a:gd name="adj2" fmla="val 335167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2. Ambiente</a:t>
            </a:r>
          </a:p>
        </p:txBody>
      </p:sp>
      <p:sp>
        <p:nvSpPr>
          <p:cNvPr id="5" name="AutoShape 10">
            <a:hlinkClick r:id="rId5" action="ppaction://hlinksldjump"/>
            <a:extLst>
              <a:ext uri="{FF2B5EF4-FFF2-40B4-BE49-F238E27FC236}">
                <a16:creationId xmlns:a16="http://schemas.microsoft.com/office/drawing/2014/main" id="{D7A9AFC5-AA26-3863-88D3-BBBA1FDD9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2378075"/>
            <a:ext cx="1511300" cy="287338"/>
          </a:xfrm>
          <a:prstGeom prst="wedgeRectCallout">
            <a:avLst>
              <a:gd name="adj1" fmla="val 136028"/>
              <a:gd name="adj2" fmla="val 239505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0000"/>
              </a:lnSpc>
              <a:defRPr/>
            </a:pPr>
            <a:r>
              <a:rPr lang="pt-BR" altLang="x-none" sz="1200" b="1"/>
              <a:t>3. Vida em serviço</a:t>
            </a:r>
          </a:p>
        </p:txBody>
      </p:sp>
      <p:sp>
        <p:nvSpPr>
          <p:cNvPr id="6" name="AutoShape 11">
            <a:hlinkClick r:id="rId6" action="ppaction://hlinksldjump"/>
            <a:extLst>
              <a:ext uri="{FF2B5EF4-FFF2-40B4-BE49-F238E27FC236}">
                <a16:creationId xmlns:a16="http://schemas.microsoft.com/office/drawing/2014/main" id="{65BCAE6D-309C-55F5-54FE-240F22B54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3097213"/>
            <a:ext cx="1296988" cy="287337"/>
          </a:xfrm>
          <a:prstGeom prst="wedgeRectCallout">
            <a:avLst>
              <a:gd name="adj1" fmla="val 170194"/>
              <a:gd name="adj2" fmla="val 90884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4. Eficiência</a:t>
            </a:r>
          </a:p>
        </p:txBody>
      </p:sp>
      <p:sp>
        <p:nvSpPr>
          <p:cNvPr id="7" name="AutoShape 12">
            <a:hlinkClick r:id="rId7" action="ppaction://hlinksldjump"/>
            <a:extLst>
              <a:ext uri="{FF2B5EF4-FFF2-40B4-BE49-F238E27FC236}">
                <a16:creationId xmlns:a16="http://schemas.microsoft.com/office/drawing/2014/main" id="{0F0CE972-02AB-3927-D782-92D7A2590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3673475"/>
            <a:ext cx="1296988" cy="287338"/>
          </a:xfrm>
          <a:prstGeom prst="wedgeRectCallout">
            <a:avLst>
              <a:gd name="adj1" fmla="val 161139"/>
              <a:gd name="adj2" fmla="val -1380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5. Transporte</a:t>
            </a:r>
          </a:p>
        </p:txBody>
      </p:sp>
      <p:sp>
        <p:nvSpPr>
          <p:cNvPr id="8" name="AutoShape 13">
            <a:hlinkClick r:id="rId8" action="ppaction://hlinksldjump"/>
            <a:extLst>
              <a:ext uri="{FF2B5EF4-FFF2-40B4-BE49-F238E27FC236}">
                <a16:creationId xmlns:a16="http://schemas.microsoft.com/office/drawing/2014/main" id="{E41B1F4F-45E8-8D73-CA18-090174B0B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075" y="4322763"/>
            <a:ext cx="1296988" cy="287337"/>
          </a:xfrm>
          <a:prstGeom prst="wedgeRectCallout">
            <a:avLst>
              <a:gd name="adj1" fmla="val 161139"/>
              <a:gd name="adj2" fmla="val -1380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6. Embalagem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ACB296CD-9CB7-53B3-C12A-31C0134FC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513" y="4897438"/>
            <a:ext cx="1296987" cy="287337"/>
          </a:xfrm>
          <a:prstGeom prst="wedgeRectCallout">
            <a:avLst>
              <a:gd name="adj1" fmla="val 157713"/>
              <a:gd name="adj2" fmla="val -83148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7. Quantidade</a:t>
            </a:r>
          </a:p>
        </p:txBody>
      </p:sp>
      <p:sp>
        <p:nvSpPr>
          <p:cNvPr id="10" name="AutoShape 15">
            <a:extLst>
              <a:ext uri="{FF2B5EF4-FFF2-40B4-BE49-F238E27FC236}">
                <a16:creationId xmlns:a16="http://schemas.microsoft.com/office/drawing/2014/main" id="{C44C24D1-36AE-4CD4-1BB1-0DDCB6739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975" y="5402263"/>
            <a:ext cx="1439863" cy="287337"/>
          </a:xfrm>
          <a:prstGeom prst="wedgeRectCallout">
            <a:avLst>
              <a:gd name="adj1" fmla="val 128611"/>
              <a:gd name="adj2" fmla="val -124583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8. </a:t>
            </a:r>
            <a:r>
              <a:rPr lang="pt-BR" sz="1200" b="1" dirty="0" err="1">
                <a:latin typeface="+mn-lt"/>
              </a:rPr>
              <a:t>Infra-estrutura</a:t>
            </a:r>
            <a:endParaRPr lang="pt-BR" sz="1200" b="1" dirty="0">
              <a:latin typeface="+mn-lt"/>
            </a:endParaRPr>
          </a:p>
        </p:txBody>
      </p:sp>
      <p:sp>
        <p:nvSpPr>
          <p:cNvPr id="11" name="AutoShape 16">
            <a:extLst>
              <a:ext uri="{FF2B5EF4-FFF2-40B4-BE49-F238E27FC236}">
                <a16:creationId xmlns:a16="http://schemas.microsoft.com/office/drawing/2014/main" id="{703FD484-B9D6-C6EE-3266-2AABE5DDB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013" y="5905500"/>
            <a:ext cx="1008062" cy="452438"/>
          </a:xfrm>
          <a:prstGeom prst="wedgeRectCallout">
            <a:avLst>
              <a:gd name="adj1" fmla="val 125120"/>
              <a:gd name="adj2" fmla="val -147542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9. Tamanho e peso</a:t>
            </a:r>
          </a:p>
        </p:txBody>
      </p:sp>
      <p:sp>
        <p:nvSpPr>
          <p:cNvPr id="12" name="AutoShape 17">
            <a:extLst>
              <a:ext uri="{FF2B5EF4-FFF2-40B4-BE49-F238E27FC236}">
                <a16:creationId xmlns:a16="http://schemas.microsoft.com/office/drawing/2014/main" id="{B0FF34E2-51C3-65D3-C56F-B1C938931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6151563"/>
            <a:ext cx="1223962" cy="287337"/>
          </a:xfrm>
          <a:prstGeom prst="wedgeRectCallout">
            <a:avLst>
              <a:gd name="adj1" fmla="val 34046"/>
              <a:gd name="adj2" fmla="val -257736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>
                <a:latin typeface="+mn-lt"/>
              </a:rPr>
              <a:t>10. Materiais</a:t>
            </a:r>
          </a:p>
        </p:txBody>
      </p:sp>
      <p:sp>
        <p:nvSpPr>
          <p:cNvPr id="13" name="AutoShape 18">
            <a:extLst>
              <a:ext uri="{FF2B5EF4-FFF2-40B4-BE49-F238E27FC236}">
                <a16:creationId xmlns:a16="http://schemas.microsoft.com/office/drawing/2014/main" id="{274F49B8-9B31-CBEE-1D3E-48FA9DB87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5715000"/>
            <a:ext cx="1296987" cy="287338"/>
          </a:xfrm>
          <a:prstGeom prst="wedgeRectCallout">
            <a:avLst>
              <a:gd name="adj1" fmla="val -81458"/>
              <a:gd name="adj2" fmla="val -118509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>
                <a:latin typeface="+mn-lt"/>
              </a:rPr>
              <a:t>12. Ergonomia</a:t>
            </a:r>
          </a:p>
        </p:txBody>
      </p:sp>
      <p:sp>
        <p:nvSpPr>
          <p:cNvPr id="14" name="AutoShape 19">
            <a:extLst>
              <a:ext uri="{FF2B5EF4-FFF2-40B4-BE49-F238E27FC236}">
                <a16:creationId xmlns:a16="http://schemas.microsoft.com/office/drawing/2014/main" id="{93180BF0-0F70-833E-8DBA-B1BD7877A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6575" y="5000625"/>
            <a:ext cx="2114550" cy="455613"/>
          </a:xfrm>
          <a:prstGeom prst="wedgeRectCallout">
            <a:avLst>
              <a:gd name="adj1" fmla="val -80088"/>
              <a:gd name="adj2" fmla="val -44074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13. Estética, aparência e acabamento</a:t>
            </a:r>
          </a:p>
        </p:txBody>
      </p:sp>
      <p:sp>
        <p:nvSpPr>
          <p:cNvPr id="15" name="AutoShape 20">
            <a:extLst>
              <a:ext uri="{FF2B5EF4-FFF2-40B4-BE49-F238E27FC236}">
                <a16:creationId xmlns:a16="http://schemas.microsoft.com/office/drawing/2014/main" id="{96D7DFD6-C133-4806-B379-2391CAB51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3200" y="6202363"/>
            <a:ext cx="1223963" cy="287337"/>
          </a:xfrm>
          <a:prstGeom prst="wedgeRectCallout">
            <a:avLst>
              <a:gd name="adj1" fmla="val -43125"/>
              <a:gd name="adj2" fmla="val -268231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11. Normas</a:t>
            </a:r>
          </a:p>
        </p:txBody>
      </p:sp>
      <p:sp>
        <p:nvSpPr>
          <p:cNvPr id="16" name="AutoShape 22">
            <a:extLst>
              <a:ext uri="{FF2B5EF4-FFF2-40B4-BE49-F238E27FC236}">
                <a16:creationId xmlns:a16="http://schemas.microsoft.com/office/drawing/2014/main" id="{E1A1CEC1-C058-E3AA-3941-B2083B05A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788" y="2692400"/>
            <a:ext cx="1730375" cy="287338"/>
          </a:xfrm>
          <a:prstGeom prst="wedgeRectCallout">
            <a:avLst>
              <a:gd name="adj1" fmla="val -81375"/>
              <a:gd name="adj2" fmla="val 52213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17. Política do produto</a:t>
            </a:r>
          </a:p>
        </p:txBody>
      </p:sp>
      <p:sp>
        <p:nvSpPr>
          <p:cNvPr id="17" name="AutoShape 23">
            <a:extLst>
              <a:ext uri="{FF2B5EF4-FFF2-40B4-BE49-F238E27FC236}">
                <a16:creationId xmlns:a16="http://schemas.microsoft.com/office/drawing/2014/main" id="{C45F571E-05A6-A0D7-1429-0A4A7CEE6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8075" y="3786188"/>
            <a:ext cx="1296988" cy="287337"/>
          </a:xfrm>
          <a:prstGeom prst="wedgeRectCallout">
            <a:avLst>
              <a:gd name="adj1" fmla="val -123074"/>
              <a:gd name="adj2" fmla="val -17403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>
                <a:latin typeface="+mn-lt"/>
              </a:rPr>
              <a:t>15. Teste</a:t>
            </a:r>
          </a:p>
        </p:txBody>
      </p:sp>
      <p:sp>
        <p:nvSpPr>
          <p:cNvPr id="18" name="AutoShape 24">
            <a:extLst>
              <a:ext uri="{FF2B5EF4-FFF2-40B4-BE49-F238E27FC236}">
                <a16:creationId xmlns:a16="http://schemas.microsoft.com/office/drawing/2014/main" id="{0F070E87-ECA0-28D7-B32B-7D7BE75D4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763" y="3214688"/>
            <a:ext cx="1296987" cy="287337"/>
          </a:xfrm>
          <a:prstGeom prst="wedgeRectCallout">
            <a:avLst>
              <a:gd name="adj1" fmla="val -121972"/>
              <a:gd name="adj2" fmla="val 44477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0000"/>
              </a:lnSpc>
              <a:defRPr/>
            </a:pPr>
            <a:r>
              <a:rPr lang="pt-BR" altLang="x-none" sz="1200" b="1"/>
              <a:t>16. Segurança</a:t>
            </a:r>
          </a:p>
        </p:txBody>
      </p:sp>
      <p:sp>
        <p:nvSpPr>
          <p:cNvPr id="19" name="AutoShape 26">
            <a:extLst>
              <a:ext uri="{FF2B5EF4-FFF2-40B4-BE49-F238E27FC236}">
                <a16:creationId xmlns:a16="http://schemas.microsoft.com/office/drawing/2014/main" id="{45FE9DC9-65F6-62C6-51E8-9CC390BC0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4321175"/>
            <a:ext cx="1987550" cy="455613"/>
          </a:xfrm>
          <a:prstGeom prst="wedgeRectCallout">
            <a:avLst>
              <a:gd name="adj1" fmla="val -100644"/>
              <a:gd name="adj2" fmla="val -50347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14. Armazenamento e vida de prateleira</a:t>
            </a:r>
          </a:p>
        </p:txBody>
      </p:sp>
      <p:sp>
        <p:nvSpPr>
          <p:cNvPr id="20" name="AutoShape 27">
            <a:extLst>
              <a:ext uri="{FF2B5EF4-FFF2-40B4-BE49-F238E27FC236}">
                <a16:creationId xmlns:a16="http://schemas.microsoft.com/office/drawing/2014/main" id="{1A809431-EDEF-6DC0-4953-2D2DABBF9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2071688"/>
            <a:ext cx="1492250" cy="455612"/>
          </a:xfrm>
          <a:prstGeom prst="wedgeRectCallout">
            <a:avLst>
              <a:gd name="adj1" fmla="val -106667"/>
              <a:gd name="adj2" fmla="val 87634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18. Implicações sociais e políticas</a:t>
            </a:r>
          </a:p>
        </p:txBody>
      </p:sp>
      <p:sp>
        <p:nvSpPr>
          <p:cNvPr id="21" name="AutoShape 28">
            <a:extLst>
              <a:ext uri="{FF2B5EF4-FFF2-40B4-BE49-F238E27FC236}">
                <a16:creationId xmlns:a16="http://schemas.microsoft.com/office/drawing/2014/main" id="{98C8FD2B-C955-C796-DE2F-E4E3CE458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1357313"/>
            <a:ext cx="2043113" cy="500062"/>
          </a:xfrm>
          <a:prstGeom prst="wedgeRectCallout">
            <a:avLst>
              <a:gd name="adj1" fmla="val -90134"/>
              <a:gd name="adj2" fmla="val 137023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19. Responsabilidade do produto</a:t>
            </a:r>
          </a:p>
        </p:txBody>
      </p:sp>
      <p:sp>
        <p:nvSpPr>
          <p:cNvPr id="22" name="AutoShape 29">
            <a:extLst>
              <a:ext uri="{FF2B5EF4-FFF2-40B4-BE49-F238E27FC236}">
                <a16:creationId xmlns:a16="http://schemas.microsoft.com/office/drawing/2014/main" id="{BD460BF8-5010-0246-8988-9ACFD7F77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825" y="1000125"/>
            <a:ext cx="1400175" cy="455613"/>
          </a:xfrm>
          <a:prstGeom prst="wedgeRectCallout">
            <a:avLst>
              <a:gd name="adj1" fmla="val -50412"/>
              <a:gd name="adj2" fmla="val 236759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0000"/>
              </a:lnSpc>
              <a:defRPr/>
            </a:pPr>
            <a:r>
              <a:rPr lang="pt-BR" altLang="x-none" sz="1200" b="1"/>
              <a:t>20. Opera</a:t>
            </a:r>
            <a:r>
              <a:rPr lang="en-US" altLang="x-none" sz="1200" b="1"/>
              <a:t>ção e instalação</a:t>
            </a:r>
            <a:endParaRPr lang="pt-BR" altLang="x-none" sz="1200" b="1"/>
          </a:p>
        </p:txBody>
      </p:sp>
      <p:sp>
        <p:nvSpPr>
          <p:cNvPr id="23" name="AutoShape 30">
            <a:extLst>
              <a:ext uri="{FF2B5EF4-FFF2-40B4-BE49-F238E27FC236}">
                <a16:creationId xmlns:a16="http://schemas.microsoft.com/office/drawing/2014/main" id="{93FA469D-8A30-91E6-AD40-B887CEFE7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513" y="1000125"/>
            <a:ext cx="1039812" cy="647700"/>
          </a:xfrm>
          <a:prstGeom prst="wedgeRectCallout">
            <a:avLst>
              <a:gd name="adj1" fmla="val 9250"/>
              <a:gd name="adj2" fmla="val 129903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21. Re-uso, reciclagem e descarte</a:t>
            </a:r>
          </a:p>
        </p:txBody>
      </p:sp>
      <p:sp>
        <p:nvSpPr>
          <p:cNvPr id="67607" name="Text Box 4">
            <a:extLst>
              <a:ext uri="{FF2B5EF4-FFF2-40B4-BE49-F238E27FC236}">
                <a16:creationId xmlns:a16="http://schemas.microsoft.com/office/drawing/2014/main" id="{AF0013D0-BB35-7800-4D04-4E24D7AAD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357188"/>
            <a:ext cx="29289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3200" b="1" i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(Checklist)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ítulo 1">
            <a:extLst>
              <a:ext uri="{FF2B5EF4-FFF2-40B4-BE49-F238E27FC236}">
                <a16:creationId xmlns:a16="http://schemas.microsoft.com/office/drawing/2014/main" id="{EA523435-1341-77F5-FC1B-E57E3F5A3D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638" y="0"/>
            <a:ext cx="5072062" cy="1143000"/>
          </a:xfrm>
        </p:spPr>
        <p:txBody>
          <a:bodyPr/>
          <a:lstStyle/>
          <a:p>
            <a:r>
              <a:rPr lang="pt-BR" altLang="pt-BR"/>
              <a:t>Requisitos dos clientes</a:t>
            </a:r>
          </a:p>
        </p:txBody>
      </p:sp>
      <p:sp>
        <p:nvSpPr>
          <p:cNvPr id="68610" name="Retângulo 5">
            <a:extLst>
              <a:ext uri="{FF2B5EF4-FFF2-40B4-BE49-F238E27FC236}">
                <a16:creationId xmlns:a16="http://schemas.microsoft.com/office/drawing/2014/main" id="{D70CA21D-2719-193D-7B82-8DA53A0B6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1120775"/>
            <a:ext cx="5143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>
                <a:cs typeface="Arial" panose="020B0604020202020204" pitchFamily="34" charset="0"/>
              </a:rPr>
              <a:t>3. Converter as </a:t>
            </a:r>
            <a:r>
              <a:rPr lang="pt-BR" altLang="pt-BR" sz="2400">
                <a:solidFill>
                  <a:srgbClr val="FF0000"/>
                </a:solidFill>
                <a:cs typeface="Arial" panose="020B0604020202020204" pitchFamily="34" charset="0"/>
              </a:rPr>
              <a:t>necessidades </a:t>
            </a:r>
            <a:r>
              <a:rPr lang="pt-BR" altLang="pt-BR" sz="2400">
                <a:cs typeface="Arial" panose="020B0604020202020204" pitchFamily="34" charset="0"/>
              </a:rPr>
              <a:t>clientes em </a:t>
            </a:r>
            <a:r>
              <a:rPr lang="pt-BR" altLang="pt-BR" sz="2400">
                <a:solidFill>
                  <a:srgbClr val="FF0000"/>
                </a:solidFill>
                <a:cs typeface="Arial" panose="020B0604020202020204" pitchFamily="34" charset="0"/>
              </a:rPr>
              <a:t>requisitos</a:t>
            </a:r>
            <a:r>
              <a:rPr lang="pt-BR" altLang="pt-BR" sz="2400">
                <a:cs typeface="Arial" panose="020B0604020202020204" pitchFamily="34" charset="0"/>
              </a:rPr>
              <a:t> dos clientes</a:t>
            </a: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9303CCAE-4A47-F850-9A05-0C4F14B2F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68612" name="CaixaDeTexto 14">
            <a:extLst>
              <a:ext uri="{FF2B5EF4-FFF2-40B4-BE49-F238E27FC236}">
                <a16:creationId xmlns:a16="http://schemas.microsoft.com/office/drawing/2014/main" id="{2C42D001-867A-1859-8499-7DB71D2AB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2714625"/>
            <a:ext cx="2214562" cy="3143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800"/>
              <a:t>VOZ DO CLIENTE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D69C67E9-0191-EC50-1F76-A75B4576F875}"/>
              </a:ext>
            </a:extLst>
          </p:cNvPr>
          <p:cNvCxnSpPr/>
          <p:nvPr/>
        </p:nvCxnSpPr>
        <p:spPr>
          <a:xfrm rot="5400000">
            <a:off x="3929856" y="3571082"/>
            <a:ext cx="1000125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14" name="CaixaDeTexto 17">
            <a:extLst>
              <a:ext uri="{FF2B5EF4-FFF2-40B4-BE49-F238E27FC236}">
                <a16:creationId xmlns:a16="http://schemas.microsoft.com/office/drawing/2014/main" id="{E7C017AD-E6EB-CA3A-3983-3B19639E9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4071938"/>
            <a:ext cx="2928937" cy="7810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800"/>
              <a:t>ITENS QUE SÃO EXIGIDOS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800"/>
              <a:t>(verdadeiras</a:t>
            </a:r>
            <a:r>
              <a:rPr lang="pt-BR" altLang="pt-BR" sz="2000"/>
              <a:t> exigências) </a:t>
            </a:r>
          </a:p>
        </p:txBody>
      </p:sp>
      <p:sp>
        <p:nvSpPr>
          <p:cNvPr id="68615" name="CaixaDeTexto 25">
            <a:extLst>
              <a:ext uri="{FF2B5EF4-FFF2-40B4-BE49-F238E27FC236}">
                <a16:creationId xmlns:a16="http://schemas.microsoft.com/office/drawing/2014/main" id="{9F6659DB-D20B-33E5-6A73-D632FEC2F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2976563"/>
            <a:ext cx="42148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i="1">
                <a:solidFill>
                  <a:srgbClr val="FF0000"/>
                </a:solidFill>
              </a:rPr>
              <a:t>Porque o cliente fez essa exigência?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i="1">
                <a:solidFill>
                  <a:srgbClr val="FF0000"/>
                </a:solidFill>
              </a:rPr>
              <a:t> Desdobramentos das cena:  quem, onde , quando o que como?   </a:t>
            </a: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2179003F-D5A0-C5AD-15A4-4D9297927EF3}"/>
              </a:ext>
            </a:extLst>
          </p:cNvPr>
          <p:cNvCxnSpPr/>
          <p:nvPr/>
        </p:nvCxnSpPr>
        <p:spPr>
          <a:xfrm rot="5400000">
            <a:off x="4287044" y="4856956"/>
            <a:ext cx="2857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D8E2FC1A-5A76-6AE8-0A89-CC165FB9FBC0}"/>
              </a:ext>
            </a:extLst>
          </p:cNvPr>
          <p:cNvCxnSpPr/>
          <p:nvPr/>
        </p:nvCxnSpPr>
        <p:spPr>
          <a:xfrm>
            <a:off x="1857375" y="5000625"/>
            <a:ext cx="6143625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6A1F4070-613A-0A93-FBBB-007F6A4A781A}"/>
              </a:ext>
            </a:extLst>
          </p:cNvPr>
          <p:cNvCxnSpPr/>
          <p:nvPr/>
        </p:nvCxnSpPr>
        <p:spPr>
          <a:xfrm rot="5400000">
            <a:off x="1679575" y="5178425"/>
            <a:ext cx="35718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19" name="CaixaDeTexto 43">
            <a:extLst>
              <a:ext uri="{FF2B5EF4-FFF2-40B4-BE49-F238E27FC236}">
                <a16:creationId xmlns:a16="http://schemas.microsoft.com/office/drawing/2014/main" id="{4A44CDB7-2198-E6DA-A466-B35F15A65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5357813"/>
            <a:ext cx="1643062" cy="6461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Qualidade do produto</a:t>
            </a:r>
          </a:p>
        </p:txBody>
      </p:sp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9CB02444-54D2-F6BF-4FF9-5E5B9E33F204}"/>
              </a:ext>
            </a:extLst>
          </p:cNvPr>
          <p:cNvCxnSpPr/>
          <p:nvPr/>
        </p:nvCxnSpPr>
        <p:spPr>
          <a:xfrm rot="5400000">
            <a:off x="3894138" y="5178425"/>
            <a:ext cx="357188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21" name="CaixaDeTexto 54">
            <a:extLst>
              <a:ext uri="{FF2B5EF4-FFF2-40B4-BE49-F238E27FC236}">
                <a16:creationId xmlns:a16="http://schemas.microsoft.com/office/drawing/2014/main" id="{33C032A0-1B1D-86FE-0B1B-FF71BFBC0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5357813"/>
            <a:ext cx="1643062" cy="36988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Funções</a:t>
            </a:r>
          </a:p>
        </p:txBody>
      </p:sp>
      <p:sp>
        <p:nvSpPr>
          <p:cNvPr id="68622" name="CaixaDeTexto 55">
            <a:extLst>
              <a:ext uri="{FF2B5EF4-FFF2-40B4-BE49-F238E27FC236}">
                <a16:creationId xmlns:a16="http://schemas.microsoft.com/office/drawing/2014/main" id="{9F2D9203-AEFB-7AB6-F935-5A041FA70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5" y="5357813"/>
            <a:ext cx="1643063" cy="3381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Custo</a:t>
            </a:r>
          </a:p>
        </p:txBody>
      </p:sp>
      <p:sp>
        <p:nvSpPr>
          <p:cNvPr id="68623" name="CaixaDeTexto 56">
            <a:extLst>
              <a:ext uri="{FF2B5EF4-FFF2-40B4-BE49-F238E27FC236}">
                <a16:creationId xmlns:a16="http://schemas.microsoft.com/office/drawing/2014/main" id="{8AEA9979-4E5F-BC55-0F54-D3C1B6DA1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188" y="5357813"/>
            <a:ext cx="1643062" cy="64611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Qualidade da empresa</a:t>
            </a:r>
          </a:p>
        </p:txBody>
      </p: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B11E6B80-1C55-C2B1-03BF-F29F4C6EB6E8}"/>
              </a:ext>
            </a:extLst>
          </p:cNvPr>
          <p:cNvCxnSpPr/>
          <p:nvPr/>
        </p:nvCxnSpPr>
        <p:spPr>
          <a:xfrm rot="5400000">
            <a:off x="6037263" y="5178425"/>
            <a:ext cx="357188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66802018-A053-1AD6-047A-600AE75B71E4}"/>
              </a:ext>
            </a:extLst>
          </p:cNvPr>
          <p:cNvCxnSpPr/>
          <p:nvPr/>
        </p:nvCxnSpPr>
        <p:spPr>
          <a:xfrm rot="5400000">
            <a:off x="7823200" y="5178425"/>
            <a:ext cx="35718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626" name="Picture 1">
            <a:extLst>
              <a:ext uri="{FF2B5EF4-FFF2-40B4-BE49-F238E27FC236}">
                <a16:creationId xmlns:a16="http://schemas.microsoft.com/office/drawing/2014/main" id="{15AB87A1-5EE8-7B15-7237-5B08CEE2C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285750"/>
            <a:ext cx="2643187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Elipse 62">
            <a:extLst>
              <a:ext uri="{FF2B5EF4-FFF2-40B4-BE49-F238E27FC236}">
                <a16:creationId xmlns:a16="http://schemas.microsoft.com/office/drawing/2014/main" id="{77C7CD4A-E6E6-AD7F-4972-D10D5A9EC574}"/>
              </a:ext>
            </a:extLst>
          </p:cNvPr>
          <p:cNvSpPr/>
          <p:nvPr/>
        </p:nvSpPr>
        <p:spPr>
          <a:xfrm>
            <a:off x="6143625" y="928688"/>
            <a:ext cx="785813" cy="12858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8">
            <a:extLst>
              <a:ext uri="{FF2B5EF4-FFF2-40B4-BE49-F238E27FC236}">
                <a16:creationId xmlns:a16="http://schemas.microsoft.com/office/drawing/2014/main" id="{E7C426C2-D434-C2D5-3F1C-29985BFCB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338" y="1055688"/>
            <a:ext cx="1366837" cy="441325"/>
          </a:xfrm>
          <a:prstGeom prst="wedgeRectCallout">
            <a:avLst>
              <a:gd name="adj1" fmla="val 73412"/>
              <a:gd name="adj2" fmla="val 326495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1. Potência de 500 a 600W</a:t>
            </a:r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id="{A43A1375-B2BC-ED03-2439-5A16CDFB1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88" y="1627188"/>
            <a:ext cx="1738312" cy="438150"/>
          </a:xfrm>
          <a:prstGeom prst="wedgeRectCallout">
            <a:avLst>
              <a:gd name="adj1" fmla="val 98755"/>
              <a:gd name="adj2" fmla="val 252894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2. Resistência à corrosão (1 dia em câmara salina)</a:t>
            </a:r>
          </a:p>
        </p:txBody>
      </p:sp>
      <p:sp>
        <p:nvSpPr>
          <p:cNvPr id="27" name="AutoShape 10">
            <a:extLst>
              <a:ext uri="{FF2B5EF4-FFF2-40B4-BE49-F238E27FC236}">
                <a16:creationId xmlns:a16="http://schemas.microsoft.com/office/drawing/2014/main" id="{F2AE0E8C-4F74-D223-F0F7-7A6D4F80F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2362200"/>
            <a:ext cx="1511300" cy="442913"/>
          </a:xfrm>
          <a:prstGeom prst="wedgeRectCallout">
            <a:avLst>
              <a:gd name="adj1" fmla="val 132185"/>
              <a:gd name="adj2" fmla="val 149917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pt-BR" altLang="x-none" sz="1200" b="1">
                <a:solidFill>
                  <a:srgbClr val="000000"/>
                </a:solidFill>
                <a:latin typeface="Calibri" charset="0"/>
              </a:rPr>
              <a:t>3. Vida útil mínima de 3 anos em serviço</a:t>
            </a:r>
          </a:p>
        </p:txBody>
      </p:sp>
      <p:sp>
        <p:nvSpPr>
          <p:cNvPr id="28" name="AutoShape 11">
            <a:extLst>
              <a:ext uri="{FF2B5EF4-FFF2-40B4-BE49-F238E27FC236}">
                <a16:creationId xmlns:a16="http://schemas.microsoft.com/office/drawing/2014/main" id="{BE30E07B-B059-3008-3ED8-683197CA9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3055938"/>
            <a:ext cx="1635125" cy="455612"/>
          </a:xfrm>
          <a:prstGeom prst="wedgeRectCallout">
            <a:avLst>
              <a:gd name="adj1" fmla="val 131514"/>
              <a:gd name="adj2" fmla="val 64106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pt-BR" altLang="x-none" sz="1200" b="1">
                <a:solidFill>
                  <a:srgbClr val="000000"/>
                </a:solidFill>
                <a:latin typeface="Calibri" charset="0"/>
              </a:rPr>
              <a:t>4. Todos parafusos c/ mesma cabeça</a:t>
            </a:r>
          </a:p>
        </p:txBody>
      </p:sp>
      <p:sp>
        <p:nvSpPr>
          <p:cNvPr id="29" name="AutoShape 12">
            <a:extLst>
              <a:ext uri="{FF2B5EF4-FFF2-40B4-BE49-F238E27FC236}">
                <a16:creationId xmlns:a16="http://schemas.microsoft.com/office/drawing/2014/main" id="{EE6D738B-2FA5-A51C-15C2-EE98BAE83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3" y="3627438"/>
            <a:ext cx="1296987" cy="469900"/>
          </a:xfrm>
          <a:prstGeom prst="wedgeRectCallout">
            <a:avLst>
              <a:gd name="adj1" fmla="val 154088"/>
              <a:gd name="adj2" fmla="val 41051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pt-BR" altLang="x-none" sz="1200" b="1">
                <a:solidFill>
                  <a:srgbClr val="000000"/>
                </a:solidFill>
                <a:latin typeface="Calibri" charset="0"/>
              </a:rPr>
              <a:t>5. Transporte em caminhões baú</a:t>
            </a:r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C8B8C377-BE2D-8B77-5F5A-3FFD68E91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375" y="4230688"/>
            <a:ext cx="1376363" cy="463550"/>
          </a:xfrm>
          <a:prstGeom prst="wedgeRectCallout">
            <a:avLst>
              <a:gd name="adj1" fmla="val 161139"/>
              <a:gd name="adj2" fmla="val -1380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6. Peso </a:t>
            </a:r>
            <a:r>
              <a:rPr lang="pt-BR" sz="1200" b="1" dirty="0" err="1">
                <a:solidFill>
                  <a:prstClr val="black"/>
                </a:solidFill>
                <a:latin typeface="Calibri"/>
              </a:rPr>
              <a:t>max</a:t>
            </a:r>
            <a:r>
              <a:rPr lang="pt-BR" sz="1200" b="1" dirty="0">
                <a:solidFill>
                  <a:prstClr val="black"/>
                </a:solidFill>
                <a:latin typeface="Calibri"/>
              </a:rPr>
              <a:t>. Embalagem 500 g</a:t>
            </a:r>
          </a:p>
        </p:txBody>
      </p:sp>
      <p:sp>
        <p:nvSpPr>
          <p:cNvPr id="31" name="AutoShape 14">
            <a:extLst>
              <a:ext uri="{FF2B5EF4-FFF2-40B4-BE49-F238E27FC236}">
                <a16:creationId xmlns:a16="http://schemas.microsoft.com/office/drawing/2014/main" id="{059C664C-34C0-BBEB-0EBA-1109BF71D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4860925"/>
            <a:ext cx="1571625" cy="287338"/>
          </a:xfrm>
          <a:prstGeom prst="wedgeRectCallout">
            <a:avLst>
              <a:gd name="adj1" fmla="val 140139"/>
              <a:gd name="adj2" fmla="val -83148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7. </a:t>
            </a:r>
            <a:r>
              <a:rPr lang="pt-BR" sz="1200" b="1" dirty="0">
                <a:solidFill>
                  <a:prstClr val="black"/>
                </a:solidFill>
                <a:latin typeface="Arial"/>
                <a:cs typeface="Arial"/>
              </a:rPr>
              <a:t>~</a:t>
            </a:r>
            <a:r>
              <a:rPr lang="pt-BR" sz="1200" b="1" dirty="0">
                <a:solidFill>
                  <a:prstClr val="black"/>
                </a:solidFill>
                <a:latin typeface="Calibri"/>
              </a:rPr>
              <a:t>50.000 </a:t>
            </a:r>
            <a:r>
              <a:rPr lang="pt-BR" sz="1200" b="1" dirty="0" err="1">
                <a:solidFill>
                  <a:prstClr val="black"/>
                </a:solidFill>
                <a:latin typeface="Calibri"/>
              </a:rPr>
              <a:t>unid</a:t>
            </a:r>
            <a:r>
              <a:rPr lang="pt-BR" sz="1200" b="1" dirty="0">
                <a:solidFill>
                  <a:prstClr val="black"/>
                </a:solidFill>
                <a:latin typeface="Calibri"/>
              </a:rPr>
              <a:t>./mês</a:t>
            </a:r>
          </a:p>
        </p:txBody>
      </p:sp>
      <p:sp>
        <p:nvSpPr>
          <p:cNvPr id="32" name="AutoShape 15">
            <a:extLst>
              <a:ext uri="{FF2B5EF4-FFF2-40B4-BE49-F238E27FC236}">
                <a16:creationId xmlns:a16="http://schemas.microsoft.com/office/drawing/2014/main" id="{986CC57E-3A66-3F92-1C00-1A769ED12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5326063"/>
            <a:ext cx="1735138" cy="455612"/>
          </a:xfrm>
          <a:prstGeom prst="wedgeRectCallout">
            <a:avLst>
              <a:gd name="adj1" fmla="val 117194"/>
              <a:gd name="adj2" fmla="val -101167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8. Utilizar linhas de produção existentes</a:t>
            </a:r>
          </a:p>
        </p:txBody>
      </p:sp>
      <p:sp>
        <p:nvSpPr>
          <p:cNvPr id="33" name="AutoShape 16">
            <a:extLst>
              <a:ext uri="{FF2B5EF4-FFF2-40B4-BE49-F238E27FC236}">
                <a16:creationId xmlns:a16="http://schemas.microsoft.com/office/drawing/2014/main" id="{62440387-5DB7-CF76-480C-6525B6874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13" y="5889625"/>
            <a:ext cx="1008062" cy="452438"/>
          </a:xfrm>
          <a:prstGeom prst="wedgeRectCallout">
            <a:avLst>
              <a:gd name="adj1" fmla="val 125120"/>
              <a:gd name="adj2" fmla="val -147542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9. Peso </a:t>
            </a:r>
            <a:r>
              <a:rPr lang="pt-BR" sz="1200" b="1" dirty="0" err="1">
                <a:solidFill>
                  <a:prstClr val="black"/>
                </a:solidFill>
                <a:latin typeface="Calibri"/>
              </a:rPr>
              <a:t>max</a:t>
            </a:r>
            <a:r>
              <a:rPr lang="pt-BR" sz="1200" b="1" dirty="0">
                <a:solidFill>
                  <a:prstClr val="black"/>
                </a:solidFill>
                <a:latin typeface="Calibri"/>
              </a:rPr>
              <a:t>. 4,5 Kg</a:t>
            </a:r>
          </a:p>
        </p:txBody>
      </p:sp>
      <p:sp>
        <p:nvSpPr>
          <p:cNvPr id="34" name="AutoShape 17">
            <a:extLst>
              <a:ext uri="{FF2B5EF4-FFF2-40B4-BE49-F238E27FC236}">
                <a16:creationId xmlns:a16="http://schemas.microsoft.com/office/drawing/2014/main" id="{D4998C79-9684-D93D-BBEF-1007DA450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7088" y="5819775"/>
            <a:ext cx="1223962" cy="466725"/>
          </a:xfrm>
          <a:prstGeom prst="wedgeRectCallout">
            <a:avLst>
              <a:gd name="adj1" fmla="val 31972"/>
              <a:gd name="adj2" fmla="val -203310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10. Não utilizar PVC (inc. emb.)</a:t>
            </a:r>
          </a:p>
        </p:txBody>
      </p:sp>
      <p:sp>
        <p:nvSpPr>
          <p:cNvPr id="35" name="AutoShape 18">
            <a:extLst>
              <a:ext uri="{FF2B5EF4-FFF2-40B4-BE49-F238E27FC236}">
                <a16:creationId xmlns:a16="http://schemas.microsoft.com/office/drawing/2014/main" id="{237831DA-9815-3853-90B8-A053DDE72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643563"/>
            <a:ext cx="1662112" cy="452437"/>
          </a:xfrm>
          <a:prstGeom prst="wedgeRectCallout">
            <a:avLst>
              <a:gd name="adj1" fmla="val -94940"/>
              <a:gd name="adj2" fmla="val -149046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12. Escala graduada em litros e xícaras</a:t>
            </a:r>
          </a:p>
        </p:txBody>
      </p:sp>
      <p:sp>
        <p:nvSpPr>
          <p:cNvPr id="36" name="AutoShape 19">
            <a:extLst>
              <a:ext uri="{FF2B5EF4-FFF2-40B4-BE49-F238E27FC236}">
                <a16:creationId xmlns:a16="http://schemas.microsoft.com/office/drawing/2014/main" id="{7A455B0F-9E70-9FF5-F3A6-1E0C64A38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438" y="4929188"/>
            <a:ext cx="1730375" cy="455612"/>
          </a:xfrm>
          <a:prstGeom prst="wedgeRectCallout">
            <a:avLst>
              <a:gd name="adj1" fmla="val -94769"/>
              <a:gd name="adj2" fmla="val -66375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13. Carcaça em aço escovado</a:t>
            </a:r>
          </a:p>
        </p:txBody>
      </p:sp>
      <p:sp>
        <p:nvSpPr>
          <p:cNvPr id="37" name="AutoShape 20">
            <a:extLst>
              <a:ext uri="{FF2B5EF4-FFF2-40B4-BE49-F238E27FC236}">
                <a16:creationId xmlns:a16="http://schemas.microsoft.com/office/drawing/2014/main" id="{D2265663-CDF0-B173-3828-A52E5978A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188" y="5819775"/>
            <a:ext cx="1389062" cy="450850"/>
          </a:xfrm>
          <a:prstGeom prst="wedgeRectCallout">
            <a:avLst>
              <a:gd name="adj1" fmla="val -36069"/>
              <a:gd name="adj2" fmla="val -202125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11. Atender à NBR NM 60335-1:2006</a:t>
            </a:r>
          </a:p>
        </p:txBody>
      </p:sp>
      <p:sp>
        <p:nvSpPr>
          <p:cNvPr id="38" name="AutoShape 22">
            <a:extLst>
              <a:ext uri="{FF2B5EF4-FFF2-40B4-BE49-F238E27FC236}">
                <a16:creationId xmlns:a16="http://schemas.microsoft.com/office/drawing/2014/main" id="{8A49EB21-E986-190B-6463-DAA8148A6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850" y="2597150"/>
            <a:ext cx="1730375" cy="287338"/>
          </a:xfrm>
          <a:prstGeom prst="wedgeRectCallout">
            <a:avLst>
              <a:gd name="adj1" fmla="val -91287"/>
              <a:gd name="adj2" fmla="val 84255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17. Garantia de 2 anos</a:t>
            </a:r>
          </a:p>
        </p:txBody>
      </p:sp>
      <p:sp>
        <p:nvSpPr>
          <p:cNvPr id="39" name="AutoShape 23">
            <a:extLst>
              <a:ext uri="{FF2B5EF4-FFF2-40B4-BE49-F238E27FC236}">
                <a16:creationId xmlns:a16="http://schemas.microsoft.com/office/drawing/2014/main" id="{27848BCD-AB48-2EE5-9EBB-AC2AD0054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725" y="3627438"/>
            <a:ext cx="1731963" cy="468312"/>
          </a:xfrm>
          <a:prstGeom prst="wedgeRectCallout">
            <a:avLst>
              <a:gd name="adj1" fmla="val -88833"/>
              <a:gd name="adj2" fmla="val 7398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15. Resistir queda de 2 metros</a:t>
            </a:r>
          </a:p>
        </p:txBody>
      </p:sp>
      <p:sp>
        <p:nvSpPr>
          <p:cNvPr id="40" name="AutoShape 24">
            <a:extLst>
              <a:ext uri="{FF2B5EF4-FFF2-40B4-BE49-F238E27FC236}">
                <a16:creationId xmlns:a16="http://schemas.microsoft.com/office/drawing/2014/main" id="{F6344FF6-7FA1-8CE2-24D7-9F71D6CFF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288" y="3055938"/>
            <a:ext cx="1801812" cy="428625"/>
          </a:xfrm>
          <a:prstGeom prst="wedgeRectCallout">
            <a:avLst>
              <a:gd name="adj1" fmla="val -95014"/>
              <a:gd name="adj2" fmla="val 31144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16. Lâminas com arestas pouco cortantes</a:t>
            </a:r>
          </a:p>
        </p:txBody>
      </p:sp>
      <p:sp>
        <p:nvSpPr>
          <p:cNvPr id="41" name="AutoShape 26">
            <a:extLst>
              <a:ext uri="{FF2B5EF4-FFF2-40B4-BE49-F238E27FC236}">
                <a16:creationId xmlns:a16="http://schemas.microsoft.com/office/drawing/2014/main" id="{BE4F3D79-C688-62A5-12F4-D66DB9A21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850" y="4305300"/>
            <a:ext cx="1730375" cy="455613"/>
          </a:xfrm>
          <a:prstGeom prst="wedgeRectCallout">
            <a:avLst>
              <a:gd name="adj1" fmla="val -100644"/>
              <a:gd name="adj2" fmla="val -50347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14. Vida de prateleira mínima de 5 anos</a:t>
            </a:r>
          </a:p>
        </p:txBody>
      </p:sp>
      <p:sp>
        <p:nvSpPr>
          <p:cNvPr id="42" name="AutoShape 27">
            <a:extLst>
              <a:ext uri="{FF2B5EF4-FFF2-40B4-BE49-F238E27FC236}">
                <a16:creationId xmlns:a16="http://schemas.microsoft.com/office/drawing/2014/main" id="{6550C764-1423-83EB-CCB3-DB96C3A99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5" y="1973263"/>
            <a:ext cx="1730375" cy="455612"/>
          </a:xfrm>
          <a:prstGeom prst="wedgeRectCallout">
            <a:avLst>
              <a:gd name="adj1" fmla="val -101560"/>
              <a:gd name="adj2" fmla="val 98782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18. Marketing vinculado à alimentação natural</a:t>
            </a:r>
          </a:p>
        </p:txBody>
      </p:sp>
      <p:sp>
        <p:nvSpPr>
          <p:cNvPr id="43" name="AutoShape 28">
            <a:extLst>
              <a:ext uri="{FF2B5EF4-FFF2-40B4-BE49-F238E27FC236}">
                <a16:creationId xmlns:a16="http://schemas.microsoft.com/office/drawing/2014/main" id="{71D601F0-6AE4-6C47-36F3-21CB819F5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071563"/>
            <a:ext cx="1249362" cy="647700"/>
          </a:xfrm>
          <a:prstGeom prst="wedgeRectCallout">
            <a:avLst>
              <a:gd name="adj1" fmla="val -98347"/>
              <a:gd name="adj2" fmla="val 140866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19. Conjunto base do copo e lâminas único</a:t>
            </a:r>
          </a:p>
        </p:txBody>
      </p:sp>
      <p:sp>
        <p:nvSpPr>
          <p:cNvPr id="44" name="AutoShape 29">
            <a:extLst>
              <a:ext uri="{FF2B5EF4-FFF2-40B4-BE49-F238E27FC236}">
                <a16:creationId xmlns:a16="http://schemas.microsoft.com/office/drawing/2014/main" id="{0380111D-4DE3-8D6A-08EE-277F8103B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350" y="973138"/>
            <a:ext cx="835025" cy="527050"/>
          </a:xfrm>
          <a:prstGeom prst="wedgeRectCallout">
            <a:avLst>
              <a:gd name="adj1" fmla="val -59014"/>
              <a:gd name="adj2" fmla="val 216782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20. </a:t>
            </a:r>
            <a:r>
              <a:rPr lang="pt-BR" sz="1200" b="1" i="1" dirty="0" err="1">
                <a:solidFill>
                  <a:prstClr val="black"/>
                </a:solidFill>
                <a:latin typeface="Calibri"/>
              </a:rPr>
              <a:t>Plug</a:t>
            </a:r>
            <a:r>
              <a:rPr lang="pt-BR" sz="1200" b="1" i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pt-BR" sz="1200" b="1" i="1" dirty="0" err="1">
                <a:solidFill>
                  <a:prstClr val="black"/>
                </a:solidFill>
                <a:latin typeface="Calibri"/>
              </a:rPr>
              <a:t>and</a:t>
            </a:r>
            <a:r>
              <a:rPr lang="pt-BR" sz="1200" b="1" i="1" dirty="0">
                <a:solidFill>
                  <a:prstClr val="black"/>
                </a:solidFill>
                <a:latin typeface="Calibri"/>
              </a:rPr>
              <a:t> Play</a:t>
            </a:r>
          </a:p>
        </p:txBody>
      </p:sp>
      <p:sp>
        <p:nvSpPr>
          <p:cNvPr id="45" name="AutoShape 30">
            <a:extLst>
              <a:ext uri="{FF2B5EF4-FFF2-40B4-BE49-F238E27FC236}">
                <a16:creationId xmlns:a16="http://schemas.microsoft.com/office/drawing/2014/main" id="{85444A30-7569-D72D-720A-99BD49CBD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663" y="928688"/>
            <a:ext cx="1227137" cy="647700"/>
          </a:xfrm>
          <a:prstGeom prst="wedgeRectCallout">
            <a:avLst>
              <a:gd name="adj1" fmla="val 21269"/>
              <a:gd name="adj2" fmla="val 166338"/>
            </a:avLst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solidFill>
                  <a:prstClr val="black"/>
                </a:solidFill>
                <a:latin typeface="Calibri"/>
              </a:rPr>
              <a:t>21. Embalagem em materiais reciclados</a:t>
            </a:r>
          </a:p>
        </p:txBody>
      </p:sp>
      <p:pic>
        <p:nvPicPr>
          <p:cNvPr id="70678" name="Picture 3">
            <a:extLst>
              <a:ext uri="{FF2B5EF4-FFF2-40B4-BE49-F238E27FC236}">
                <a16:creationId xmlns:a16="http://schemas.microsoft.com/office/drawing/2014/main" id="{A2E8A450-3165-D816-DB7E-5F5214254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38" y="2428875"/>
            <a:ext cx="1946275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79" name="CaixaDeTexto 1">
            <a:extLst>
              <a:ext uri="{FF2B5EF4-FFF2-40B4-BE49-F238E27FC236}">
                <a16:creationId xmlns:a16="http://schemas.microsoft.com/office/drawing/2014/main" id="{79627892-9B9B-47D9-9EEF-9ECB11D82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269875"/>
            <a:ext cx="65674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ESPECIFICAÇÃO COMPLETA PRODUTO EXISTENTE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ítulo 1">
            <a:extLst>
              <a:ext uri="{FF2B5EF4-FFF2-40B4-BE49-F238E27FC236}">
                <a16:creationId xmlns:a16="http://schemas.microsoft.com/office/drawing/2014/main" id="{696BE38D-4B8D-0AC0-2D10-BF822588C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013" y="0"/>
            <a:ext cx="5072062" cy="1143000"/>
          </a:xfrm>
        </p:spPr>
        <p:txBody>
          <a:bodyPr/>
          <a:lstStyle/>
          <a:p>
            <a:r>
              <a:rPr lang="pt-BR" altLang="pt-BR"/>
              <a:t>Requisitos dos clientes</a:t>
            </a:r>
          </a:p>
        </p:txBody>
      </p:sp>
      <p:sp>
        <p:nvSpPr>
          <p:cNvPr id="71682" name="CaixaDeTexto 10">
            <a:extLst>
              <a:ext uri="{FF2B5EF4-FFF2-40B4-BE49-F238E27FC236}">
                <a16:creationId xmlns:a16="http://schemas.microsoft.com/office/drawing/2014/main" id="{B7373252-9630-0A14-1D73-A2287057B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8" y="963613"/>
            <a:ext cx="52705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/>
              <a:t>Exemplo de um retroprojetor</a:t>
            </a:r>
          </a:p>
        </p:txBody>
      </p:sp>
      <p:sp>
        <p:nvSpPr>
          <p:cNvPr id="71683" name="CaixaDeTexto 12">
            <a:extLst>
              <a:ext uri="{FF2B5EF4-FFF2-40B4-BE49-F238E27FC236}">
                <a16:creationId xmlns:a16="http://schemas.microsoft.com/office/drawing/2014/main" id="{8D1EA792-76D0-4D18-2104-B7D2881AF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1377950"/>
            <a:ext cx="16430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/>
              <a:t>Nível primário</a:t>
            </a:r>
          </a:p>
        </p:txBody>
      </p:sp>
      <p:sp>
        <p:nvSpPr>
          <p:cNvPr id="71684" name="CaixaDeTexto 13">
            <a:extLst>
              <a:ext uri="{FF2B5EF4-FFF2-40B4-BE49-F238E27FC236}">
                <a16:creationId xmlns:a16="http://schemas.microsoft.com/office/drawing/2014/main" id="{1D8FC439-8F5D-29DD-BC33-5F90F3E1A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0" y="1362075"/>
            <a:ext cx="2395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Nível secundário</a:t>
            </a:r>
          </a:p>
        </p:txBody>
      </p:sp>
      <p:sp>
        <p:nvSpPr>
          <p:cNvPr id="71685" name="CaixaDeTexto 14">
            <a:extLst>
              <a:ext uri="{FF2B5EF4-FFF2-40B4-BE49-F238E27FC236}">
                <a16:creationId xmlns:a16="http://schemas.microsoft.com/office/drawing/2014/main" id="{B35673F1-7003-29FD-2337-AC43F18E0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8888" y="1377950"/>
            <a:ext cx="31924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/>
              <a:t>Nível terciário</a:t>
            </a:r>
          </a:p>
        </p:txBody>
      </p:sp>
      <p:sp>
        <p:nvSpPr>
          <p:cNvPr id="71686" name="CaixaDeTexto 15">
            <a:extLst>
              <a:ext uri="{FF2B5EF4-FFF2-40B4-BE49-F238E27FC236}">
                <a16:creationId xmlns:a16="http://schemas.microsoft.com/office/drawing/2014/main" id="{CC17BC1E-1ECA-7C1A-4D26-BA4070867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2268538"/>
            <a:ext cx="18208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 Bom funcionamento </a:t>
            </a:r>
          </a:p>
        </p:txBody>
      </p:sp>
      <p:sp>
        <p:nvSpPr>
          <p:cNvPr id="71687" name="CaixaDeTexto 16">
            <a:extLst>
              <a:ext uri="{FF2B5EF4-FFF2-40B4-BE49-F238E27FC236}">
                <a16:creationId xmlns:a16="http://schemas.microsoft.com/office/drawing/2014/main" id="{C26AF648-A35F-6D95-F2FF-6897BECC5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700" y="2092325"/>
            <a:ext cx="20716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 1 Alta fidelidade de reprodução </a:t>
            </a:r>
          </a:p>
        </p:txBody>
      </p:sp>
      <p:sp>
        <p:nvSpPr>
          <p:cNvPr id="71688" name="CaixaDeTexto 17">
            <a:extLst>
              <a:ext uri="{FF2B5EF4-FFF2-40B4-BE49-F238E27FC236}">
                <a16:creationId xmlns:a16="http://schemas.microsoft.com/office/drawing/2014/main" id="{DD5BE564-9676-029D-4DE5-E5505E70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163" y="1743075"/>
            <a:ext cx="4414837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1.1.1 Imagem projetada com Nitidez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1.1.2 Imagem projetada com clareza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1.1.3 Projeta imagem completa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1.1.4 Ampliação uniforme da imagem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1.1.5 Mantêm cores do original  </a:t>
            </a:r>
          </a:p>
        </p:txBody>
      </p:sp>
      <p:sp>
        <p:nvSpPr>
          <p:cNvPr id="71689" name="CaixaDeTexto 18">
            <a:extLst>
              <a:ext uri="{FF2B5EF4-FFF2-40B4-BE49-F238E27FC236}">
                <a16:creationId xmlns:a16="http://schemas.microsoft.com/office/drawing/2014/main" id="{7107FC25-3097-4C1E-74B1-D40C995E4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3376613"/>
            <a:ext cx="2343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1.2 Funcionamento uniforme</a:t>
            </a:r>
          </a:p>
        </p:txBody>
      </p:sp>
      <p:sp>
        <p:nvSpPr>
          <p:cNvPr id="71690" name="CaixaDeTexto 19">
            <a:extLst>
              <a:ext uri="{FF2B5EF4-FFF2-40B4-BE49-F238E27FC236}">
                <a16:creationId xmlns:a16="http://schemas.microsoft.com/office/drawing/2014/main" id="{6DCC92F2-7F16-165D-B320-CA8591BCD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3194050"/>
            <a:ext cx="36433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1.2.1 Funciona sem interrupção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1.2.2 Funciona silenciosamente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1.2.3 Funciona sem trepidar</a:t>
            </a:r>
          </a:p>
        </p:txBody>
      </p:sp>
      <p:sp>
        <p:nvSpPr>
          <p:cNvPr id="71691" name="CaixaDeTexto 20">
            <a:extLst>
              <a:ext uri="{FF2B5EF4-FFF2-40B4-BE49-F238E27FC236}">
                <a16:creationId xmlns:a16="http://schemas.microsoft.com/office/drawing/2014/main" id="{528A0CDD-37E6-FFBA-E685-F7878D913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4418013"/>
            <a:ext cx="16430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 Fácil operação</a:t>
            </a:r>
          </a:p>
        </p:txBody>
      </p:sp>
      <p:sp>
        <p:nvSpPr>
          <p:cNvPr id="71692" name="CaixaDeTexto 21">
            <a:extLst>
              <a:ext uri="{FF2B5EF4-FFF2-40B4-BE49-F238E27FC236}">
                <a16:creationId xmlns:a16="http://schemas.microsoft.com/office/drawing/2014/main" id="{F670AC90-5CBF-568A-57AD-FD4F1E0B1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9663" y="4170363"/>
            <a:ext cx="20716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2.1  Fácil de ligar e desligar </a:t>
            </a:r>
          </a:p>
        </p:txBody>
      </p:sp>
      <p:sp>
        <p:nvSpPr>
          <p:cNvPr id="71693" name="CaixaDeTexto 22">
            <a:extLst>
              <a:ext uri="{FF2B5EF4-FFF2-40B4-BE49-F238E27FC236}">
                <a16:creationId xmlns:a16="http://schemas.microsoft.com/office/drawing/2014/main" id="{1E9D816C-934D-79DE-6ECC-9FD39B634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050" y="4130675"/>
            <a:ext cx="4189413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>
                <a:cs typeface="Arial" panose="020B0604020202020204" pitchFamily="34" charset="0"/>
              </a:rPr>
              <a:t>2.1.1 Fácil acesso ao comando Liga/desliga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2.1.2 Acionamento rápido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2.1.3 Acionamento sem esforço </a:t>
            </a:r>
          </a:p>
        </p:txBody>
      </p:sp>
      <p:sp>
        <p:nvSpPr>
          <p:cNvPr id="71694" name="CaixaDeTexto 23">
            <a:extLst>
              <a:ext uri="{FF2B5EF4-FFF2-40B4-BE49-F238E27FC236}">
                <a16:creationId xmlns:a16="http://schemas.microsoft.com/office/drawing/2014/main" id="{DFE218F5-2FF6-62D7-D515-881687422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788" y="5113338"/>
            <a:ext cx="20716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2.2  Fácil de focalizar</a:t>
            </a:r>
          </a:p>
        </p:txBody>
      </p:sp>
      <p:sp>
        <p:nvSpPr>
          <p:cNvPr id="71695" name="CaixaDeTexto 24">
            <a:extLst>
              <a:ext uri="{FF2B5EF4-FFF2-40B4-BE49-F238E27FC236}">
                <a16:creationId xmlns:a16="http://schemas.microsoft.com/office/drawing/2014/main" id="{DC02672E-C4AD-D983-D940-286B52DF9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425" y="5026025"/>
            <a:ext cx="4046538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2.2.1 Fácil de entender o modo de focalizar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2.2.2 Focaliza sem esforço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2.2.3 Focaliza rapidamente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2.2.4 Mantêm o foco com o uso prolongado 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1800">
              <a:cs typeface="Arial" panose="020B0604020202020204" pitchFamily="34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8117F9E-979E-418A-3CAD-61AF3D8CBF1D}"/>
              </a:ext>
            </a:extLst>
          </p:cNvPr>
          <p:cNvSpPr/>
          <p:nvPr/>
        </p:nvSpPr>
        <p:spPr>
          <a:xfrm>
            <a:off x="425450" y="1377950"/>
            <a:ext cx="1857375" cy="42862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FB8FCAB-B236-8E16-6EEC-AF42275887AC}"/>
              </a:ext>
            </a:extLst>
          </p:cNvPr>
          <p:cNvSpPr/>
          <p:nvPr/>
        </p:nvSpPr>
        <p:spPr>
          <a:xfrm>
            <a:off x="2282825" y="1377950"/>
            <a:ext cx="2430463" cy="42862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E4ED167-B01B-FAE6-8820-68D065695DA5}"/>
              </a:ext>
            </a:extLst>
          </p:cNvPr>
          <p:cNvSpPr/>
          <p:nvPr/>
        </p:nvSpPr>
        <p:spPr>
          <a:xfrm>
            <a:off x="4713288" y="1377950"/>
            <a:ext cx="4162425" cy="42862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0D1707C-0E62-BF90-2F8F-F2A2E9D3DBBC}"/>
              </a:ext>
            </a:extLst>
          </p:cNvPr>
          <p:cNvSpPr/>
          <p:nvPr/>
        </p:nvSpPr>
        <p:spPr>
          <a:xfrm>
            <a:off x="4824413" y="1743075"/>
            <a:ext cx="4130675" cy="1520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AF6EF1D-2EA6-B4BA-86B6-E6899544448E}"/>
              </a:ext>
            </a:extLst>
          </p:cNvPr>
          <p:cNvSpPr/>
          <p:nvPr/>
        </p:nvSpPr>
        <p:spPr>
          <a:xfrm>
            <a:off x="4745038" y="1812925"/>
            <a:ext cx="4146550" cy="140335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DCE00A1-7F43-4F18-0E7D-D2087386B390}"/>
              </a:ext>
            </a:extLst>
          </p:cNvPr>
          <p:cNvSpPr/>
          <p:nvPr/>
        </p:nvSpPr>
        <p:spPr>
          <a:xfrm>
            <a:off x="4729163" y="4168775"/>
            <a:ext cx="4146550" cy="85725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0039850-64D3-2812-AAC5-DF44D90F20DF}"/>
              </a:ext>
            </a:extLst>
          </p:cNvPr>
          <p:cNvSpPr/>
          <p:nvPr/>
        </p:nvSpPr>
        <p:spPr>
          <a:xfrm>
            <a:off x="4749800" y="4995863"/>
            <a:ext cx="4205288" cy="186213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8D9EBFE-7510-7523-0345-89CD9377A862}"/>
              </a:ext>
            </a:extLst>
          </p:cNvPr>
          <p:cNvSpPr/>
          <p:nvPr/>
        </p:nvSpPr>
        <p:spPr>
          <a:xfrm>
            <a:off x="2282825" y="1806575"/>
            <a:ext cx="2446338" cy="142557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F4AFCCA4-4C17-8BCD-2EA1-16677486D094}"/>
              </a:ext>
            </a:extLst>
          </p:cNvPr>
          <p:cNvSpPr/>
          <p:nvPr/>
        </p:nvSpPr>
        <p:spPr>
          <a:xfrm>
            <a:off x="2298700" y="3248025"/>
            <a:ext cx="2557463" cy="8985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E2938E0-1606-CFCB-AC57-D5C99BA5DB84}"/>
              </a:ext>
            </a:extLst>
          </p:cNvPr>
          <p:cNvSpPr/>
          <p:nvPr/>
        </p:nvSpPr>
        <p:spPr>
          <a:xfrm>
            <a:off x="2282825" y="4138613"/>
            <a:ext cx="2478088" cy="85725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5A81CA89-CE35-95DE-DA12-F0807B2F14B2}"/>
              </a:ext>
            </a:extLst>
          </p:cNvPr>
          <p:cNvSpPr/>
          <p:nvPr/>
        </p:nvSpPr>
        <p:spPr>
          <a:xfrm>
            <a:off x="2298700" y="5011738"/>
            <a:ext cx="2478088" cy="18462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D928577D-9645-58CC-4DDD-CDC377F886D8}"/>
              </a:ext>
            </a:extLst>
          </p:cNvPr>
          <p:cNvSpPr/>
          <p:nvPr/>
        </p:nvSpPr>
        <p:spPr>
          <a:xfrm>
            <a:off x="425450" y="1806575"/>
            <a:ext cx="1857375" cy="233997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DACC1F16-D09C-7F6D-2E20-56133CBAA601}"/>
              </a:ext>
            </a:extLst>
          </p:cNvPr>
          <p:cNvSpPr/>
          <p:nvPr/>
        </p:nvSpPr>
        <p:spPr>
          <a:xfrm>
            <a:off x="441325" y="4168775"/>
            <a:ext cx="1857375" cy="268922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pic>
        <p:nvPicPr>
          <p:cNvPr id="71709" name="Picture 1">
            <a:extLst>
              <a:ext uri="{FF2B5EF4-FFF2-40B4-BE49-F238E27FC236}">
                <a16:creationId xmlns:a16="http://schemas.microsoft.com/office/drawing/2014/main" id="{DAC3C6CD-E471-26F0-7824-68017168E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8" y="0"/>
            <a:ext cx="1812925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Elipse 39">
            <a:extLst>
              <a:ext uri="{FF2B5EF4-FFF2-40B4-BE49-F238E27FC236}">
                <a16:creationId xmlns:a16="http://schemas.microsoft.com/office/drawing/2014/main" id="{624FE357-4583-DF47-D702-F4B057C8B9E5}"/>
              </a:ext>
            </a:extLst>
          </p:cNvPr>
          <p:cNvSpPr/>
          <p:nvPr/>
        </p:nvSpPr>
        <p:spPr>
          <a:xfrm>
            <a:off x="6018213" y="249238"/>
            <a:ext cx="679450" cy="11795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39AB7539-A2D3-B666-BF64-4367E9FC3CBF}"/>
              </a:ext>
            </a:extLst>
          </p:cNvPr>
          <p:cNvSpPr/>
          <p:nvPr/>
        </p:nvSpPr>
        <p:spPr>
          <a:xfrm>
            <a:off x="4713288" y="3221038"/>
            <a:ext cx="4173537" cy="94138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5" name="Picture 2">
            <a:extLst>
              <a:ext uri="{FF2B5EF4-FFF2-40B4-BE49-F238E27FC236}">
                <a16:creationId xmlns:a16="http://schemas.microsoft.com/office/drawing/2014/main" id="{38BB5DE6-F3B9-B1AF-08E2-E987B8DB3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428625"/>
            <a:ext cx="2125662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6" name="Título 1">
            <a:extLst>
              <a:ext uri="{FF2B5EF4-FFF2-40B4-BE49-F238E27FC236}">
                <a16:creationId xmlns:a16="http://schemas.microsoft.com/office/drawing/2014/main" id="{F06B6EE0-17F9-A0D2-70FA-1A6757779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4200" y="768350"/>
            <a:ext cx="5072063" cy="1143000"/>
          </a:xfrm>
        </p:spPr>
        <p:txBody>
          <a:bodyPr/>
          <a:lstStyle/>
          <a:p>
            <a:r>
              <a:rPr lang="pt-BR" altLang="pt-BR"/>
              <a:t>Importância dos requisitos dos clientes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A056496-A84D-4433-6947-C2DB66351E5F}"/>
              </a:ext>
            </a:extLst>
          </p:cNvPr>
          <p:cNvSpPr/>
          <p:nvPr/>
        </p:nvSpPr>
        <p:spPr>
          <a:xfrm>
            <a:off x="6858000" y="714375"/>
            <a:ext cx="642938" cy="12144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D8C8E438-DD46-C54B-6FEB-CC1DF0F2180F}"/>
              </a:ext>
            </a:extLst>
          </p:cNvPr>
          <p:cNvSpPr/>
          <p:nvPr/>
        </p:nvSpPr>
        <p:spPr>
          <a:xfrm>
            <a:off x="1073150" y="1897063"/>
            <a:ext cx="4681538" cy="642937"/>
          </a:xfrm>
          <a:prstGeom prst="rect">
            <a:avLst/>
          </a:prstGeom>
          <a:noFill/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2709" name="CaixaDeTexto 40">
            <a:extLst>
              <a:ext uri="{FF2B5EF4-FFF2-40B4-BE49-F238E27FC236}">
                <a16:creationId xmlns:a16="http://schemas.microsoft.com/office/drawing/2014/main" id="{3E7A2614-B5AD-B315-1667-A413E131A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3163888"/>
            <a:ext cx="7358063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u="sng"/>
              <a:t>Exemplo de ponderação utilizada.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Marque um X no número: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5 Para os itens que considera </a:t>
            </a:r>
            <a:r>
              <a:rPr lang="pt-BR" altLang="pt-BR" sz="2000" b="1"/>
              <a:t>muito importante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4 Para os itens que considera </a:t>
            </a:r>
            <a:r>
              <a:rPr lang="pt-BR" altLang="pt-BR" sz="2000" b="1"/>
              <a:t>importante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3 Para os itens que considera que têm </a:t>
            </a:r>
            <a:r>
              <a:rPr lang="pt-BR" altLang="pt-BR" sz="2000" b="1"/>
              <a:t>alguma importância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2 Para os itens que considera que têm </a:t>
            </a:r>
            <a:r>
              <a:rPr lang="pt-BR" altLang="pt-BR" sz="2000" b="1"/>
              <a:t>pouca importância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1 Para os itens que considera que têm </a:t>
            </a:r>
            <a:r>
              <a:rPr lang="pt-BR" altLang="pt-BR" sz="2000" b="1"/>
              <a:t>nenhuma importância</a:t>
            </a:r>
          </a:p>
        </p:txBody>
      </p:sp>
      <p:sp>
        <p:nvSpPr>
          <p:cNvPr id="72710" name="CaixaDeTexto 41">
            <a:extLst>
              <a:ext uri="{FF2B5EF4-FFF2-40B4-BE49-F238E27FC236}">
                <a16:creationId xmlns:a16="http://schemas.microsoft.com/office/drawing/2014/main" id="{8BEA0C69-1F73-502A-867F-301756483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2071688"/>
            <a:ext cx="40719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Ouvir a voz do cliente = mudge 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ítulo 1">
            <a:extLst>
              <a:ext uri="{FF2B5EF4-FFF2-40B4-BE49-F238E27FC236}">
                <a16:creationId xmlns:a16="http://schemas.microsoft.com/office/drawing/2014/main" id="{9789C4B3-6CFA-7923-7869-40499363F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625475"/>
            <a:ext cx="5072063" cy="1143000"/>
          </a:xfrm>
        </p:spPr>
        <p:txBody>
          <a:bodyPr/>
          <a:lstStyle/>
          <a:p>
            <a:r>
              <a:rPr lang="pt-BR" altLang="pt-BR"/>
              <a:t>BENCHMARKING COMPETITIVO</a:t>
            </a:r>
          </a:p>
        </p:txBody>
      </p:sp>
      <p:sp>
        <p:nvSpPr>
          <p:cNvPr id="73730" name="CaixaDeTexto 42">
            <a:extLst>
              <a:ext uri="{FF2B5EF4-FFF2-40B4-BE49-F238E27FC236}">
                <a16:creationId xmlns:a16="http://schemas.microsoft.com/office/drawing/2014/main" id="{B6F5B090-A00B-09A1-1612-738001DFB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2087563"/>
            <a:ext cx="7429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cs typeface="Arial" panose="020B0604020202020204" pitchFamily="34" charset="0"/>
              </a:rPr>
              <a:t>Ouvindo o cliente compara-se os requisitos em relação ao </a:t>
            </a:r>
            <a:r>
              <a:rPr lang="pt-BR" altLang="pt-BR" sz="2400" b="1">
                <a:cs typeface="Arial" panose="020B0604020202020204" pitchFamily="34" charset="0"/>
              </a:rPr>
              <a:t>desempenho </a:t>
            </a:r>
            <a:r>
              <a:rPr lang="pt-BR" altLang="pt-BR" sz="2400">
                <a:cs typeface="Arial" panose="020B0604020202020204" pitchFamily="34" charset="0"/>
              </a:rPr>
              <a:t>dos produtos existentes no mercado </a:t>
            </a:r>
          </a:p>
        </p:txBody>
      </p:sp>
      <p:sp>
        <p:nvSpPr>
          <p:cNvPr id="73731" name="CaixaDeTexto 43">
            <a:extLst>
              <a:ext uri="{FF2B5EF4-FFF2-40B4-BE49-F238E27FC236}">
                <a16:creationId xmlns:a16="http://schemas.microsoft.com/office/drawing/2014/main" id="{912F0074-CB6E-4FF1-1402-B9EE9FD3C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000500"/>
            <a:ext cx="7572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MARCA X</a:t>
            </a:r>
          </a:p>
        </p:txBody>
      </p:sp>
      <p:sp>
        <p:nvSpPr>
          <p:cNvPr id="73732" name="CaixaDeTexto 44">
            <a:extLst>
              <a:ext uri="{FF2B5EF4-FFF2-40B4-BE49-F238E27FC236}">
                <a16:creationId xmlns:a16="http://schemas.microsoft.com/office/drawing/2014/main" id="{131CCB59-24C8-2C8C-4A8A-2940EF242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4000500"/>
            <a:ext cx="428625" cy="36988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1 </a:t>
            </a:r>
          </a:p>
        </p:txBody>
      </p:sp>
      <p:sp>
        <p:nvSpPr>
          <p:cNvPr id="73733" name="CaixaDeTexto 47">
            <a:extLst>
              <a:ext uri="{FF2B5EF4-FFF2-40B4-BE49-F238E27FC236}">
                <a16:creationId xmlns:a16="http://schemas.microsoft.com/office/drawing/2014/main" id="{7059454A-5181-42E0-CA01-D6C485551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0" y="3643313"/>
            <a:ext cx="12763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péssimo</a:t>
            </a:r>
          </a:p>
        </p:txBody>
      </p:sp>
      <p:sp>
        <p:nvSpPr>
          <p:cNvPr id="73734" name="CaixaDeTexto 48">
            <a:extLst>
              <a:ext uri="{FF2B5EF4-FFF2-40B4-BE49-F238E27FC236}">
                <a16:creationId xmlns:a16="http://schemas.microsoft.com/office/drawing/2014/main" id="{8DF31689-77DD-7846-9FF1-36E337283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4000500"/>
            <a:ext cx="428625" cy="36988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2 </a:t>
            </a:r>
          </a:p>
        </p:txBody>
      </p:sp>
      <p:sp>
        <p:nvSpPr>
          <p:cNvPr id="73735" name="CaixaDeTexto 49">
            <a:extLst>
              <a:ext uri="{FF2B5EF4-FFF2-40B4-BE49-F238E27FC236}">
                <a16:creationId xmlns:a16="http://schemas.microsoft.com/office/drawing/2014/main" id="{71D81875-AE75-438A-A0A4-688A8504E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3643313"/>
            <a:ext cx="107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Ruim</a:t>
            </a:r>
          </a:p>
        </p:txBody>
      </p:sp>
      <p:sp>
        <p:nvSpPr>
          <p:cNvPr id="73736" name="CaixaDeTexto 50">
            <a:extLst>
              <a:ext uri="{FF2B5EF4-FFF2-40B4-BE49-F238E27FC236}">
                <a16:creationId xmlns:a16="http://schemas.microsoft.com/office/drawing/2014/main" id="{DA67A05B-AD60-E4C1-02F5-A69983311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4000500"/>
            <a:ext cx="428625" cy="36988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3 </a:t>
            </a:r>
          </a:p>
        </p:txBody>
      </p:sp>
      <p:sp>
        <p:nvSpPr>
          <p:cNvPr id="73737" name="CaixaDeTexto 51">
            <a:extLst>
              <a:ext uri="{FF2B5EF4-FFF2-40B4-BE49-F238E27FC236}">
                <a16:creationId xmlns:a16="http://schemas.microsoft.com/office/drawing/2014/main" id="{E72547B9-66ED-576E-1EC8-62F5296AD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643313"/>
            <a:ext cx="12207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Regular </a:t>
            </a:r>
          </a:p>
        </p:txBody>
      </p:sp>
      <p:sp>
        <p:nvSpPr>
          <p:cNvPr id="73738" name="CaixaDeTexto 54">
            <a:extLst>
              <a:ext uri="{FF2B5EF4-FFF2-40B4-BE49-F238E27FC236}">
                <a16:creationId xmlns:a16="http://schemas.microsoft.com/office/drawing/2014/main" id="{7CD367BF-1736-3121-316B-700824DE3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4000500"/>
            <a:ext cx="428625" cy="36988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4 </a:t>
            </a:r>
          </a:p>
        </p:txBody>
      </p:sp>
      <p:sp>
        <p:nvSpPr>
          <p:cNvPr id="73739" name="CaixaDeTexto 55">
            <a:extLst>
              <a:ext uri="{FF2B5EF4-FFF2-40B4-BE49-F238E27FC236}">
                <a16:creationId xmlns:a16="http://schemas.microsoft.com/office/drawing/2014/main" id="{B0F9CD34-0CC3-53BF-2B43-C3792EE03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3643313"/>
            <a:ext cx="107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Bom</a:t>
            </a:r>
          </a:p>
        </p:txBody>
      </p:sp>
      <p:sp>
        <p:nvSpPr>
          <p:cNvPr id="73740" name="CaixaDeTexto 56">
            <a:extLst>
              <a:ext uri="{FF2B5EF4-FFF2-40B4-BE49-F238E27FC236}">
                <a16:creationId xmlns:a16="http://schemas.microsoft.com/office/drawing/2014/main" id="{A7951EB4-0C12-840D-0BCA-0895D3408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4000500"/>
            <a:ext cx="428625" cy="36988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5 </a:t>
            </a:r>
          </a:p>
        </p:txBody>
      </p:sp>
      <p:sp>
        <p:nvSpPr>
          <p:cNvPr id="73741" name="CaixaDeTexto 57">
            <a:extLst>
              <a:ext uri="{FF2B5EF4-FFF2-40B4-BE49-F238E27FC236}">
                <a16:creationId xmlns:a16="http://schemas.microsoft.com/office/drawing/2014/main" id="{3618E6B3-4405-CDE0-2BA4-E5E2A98FF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643313"/>
            <a:ext cx="107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Ótimo</a:t>
            </a:r>
          </a:p>
        </p:txBody>
      </p:sp>
      <p:sp>
        <p:nvSpPr>
          <p:cNvPr id="73742" name="CaixaDeTexto 58">
            <a:extLst>
              <a:ext uri="{FF2B5EF4-FFF2-40B4-BE49-F238E27FC236}">
                <a16:creationId xmlns:a16="http://schemas.microsoft.com/office/drawing/2014/main" id="{F471992A-BF75-1C92-8185-B170FA7C7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00563"/>
            <a:ext cx="7572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MARCA Y</a:t>
            </a:r>
          </a:p>
        </p:txBody>
      </p:sp>
      <p:sp>
        <p:nvSpPr>
          <p:cNvPr id="73743" name="CaixaDeTexto 59">
            <a:extLst>
              <a:ext uri="{FF2B5EF4-FFF2-40B4-BE49-F238E27FC236}">
                <a16:creationId xmlns:a16="http://schemas.microsoft.com/office/drawing/2014/main" id="{4E63567D-524E-4178-3FEA-570C4A286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45005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1 </a:t>
            </a:r>
          </a:p>
        </p:txBody>
      </p:sp>
      <p:sp>
        <p:nvSpPr>
          <p:cNvPr id="73744" name="CaixaDeTexto 60">
            <a:extLst>
              <a:ext uri="{FF2B5EF4-FFF2-40B4-BE49-F238E27FC236}">
                <a16:creationId xmlns:a16="http://schemas.microsoft.com/office/drawing/2014/main" id="{04173871-ED70-915A-524B-F13248FAB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45005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2 </a:t>
            </a:r>
          </a:p>
        </p:txBody>
      </p:sp>
      <p:sp>
        <p:nvSpPr>
          <p:cNvPr id="73745" name="CaixaDeTexto 61">
            <a:extLst>
              <a:ext uri="{FF2B5EF4-FFF2-40B4-BE49-F238E27FC236}">
                <a16:creationId xmlns:a16="http://schemas.microsoft.com/office/drawing/2014/main" id="{4341DF02-CB53-CED1-33D2-2D04BD3F4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45005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3 </a:t>
            </a:r>
          </a:p>
        </p:txBody>
      </p:sp>
      <p:sp>
        <p:nvSpPr>
          <p:cNvPr id="73746" name="CaixaDeTexto 62">
            <a:extLst>
              <a:ext uri="{FF2B5EF4-FFF2-40B4-BE49-F238E27FC236}">
                <a16:creationId xmlns:a16="http://schemas.microsoft.com/office/drawing/2014/main" id="{E3D5C7AB-1151-4008-F08C-60832D106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45005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4 </a:t>
            </a:r>
          </a:p>
        </p:txBody>
      </p:sp>
      <p:sp>
        <p:nvSpPr>
          <p:cNvPr id="73747" name="CaixaDeTexto 63">
            <a:extLst>
              <a:ext uri="{FF2B5EF4-FFF2-40B4-BE49-F238E27FC236}">
                <a16:creationId xmlns:a16="http://schemas.microsoft.com/office/drawing/2014/main" id="{74628864-280B-7145-6A99-709C97D32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45005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5 </a:t>
            </a:r>
          </a:p>
        </p:txBody>
      </p:sp>
      <p:sp>
        <p:nvSpPr>
          <p:cNvPr id="73748" name="CaixaDeTexto 64">
            <a:extLst>
              <a:ext uri="{FF2B5EF4-FFF2-40B4-BE49-F238E27FC236}">
                <a16:creationId xmlns:a16="http://schemas.microsoft.com/office/drawing/2014/main" id="{F1C36208-26B1-3DD4-B2FC-D05DE8599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072063"/>
            <a:ext cx="7572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MARCA Z</a:t>
            </a:r>
          </a:p>
        </p:txBody>
      </p:sp>
      <p:sp>
        <p:nvSpPr>
          <p:cNvPr id="73749" name="CaixaDeTexto 65">
            <a:extLst>
              <a:ext uri="{FF2B5EF4-FFF2-40B4-BE49-F238E27FC236}">
                <a16:creationId xmlns:a16="http://schemas.microsoft.com/office/drawing/2014/main" id="{B01D7988-F903-8F1F-FB32-C5B569036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50720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1 </a:t>
            </a:r>
          </a:p>
        </p:txBody>
      </p:sp>
      <p:sp>
        <p:nvSpPr>
          <p:cNvPr id="73750" name="CaixaDeTexto 66">
            <a:extLst>
              <a:ext uri="{FF2B5EF4-FFF2-40B4-BE49-F238E27FC236}">
                <a16:creationId xmlns:a16="http://schemas.microsoft.com/office/drawing/2014/main" id="{5EA21F2A-89AA-C22D-737A-073212095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0720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2 </a:t>
            </a:r>
          </a:p>
        </p:txBody>
      </p:sp>
      <p:sp>
        <p:nvSpPr>
          <p:cNvPr id="73751" name="CaixaDeTexto 67">
            <a:extLst>
              <a:ext uri="{FF2B5EF4-FFF2-40B4-BE49-F238E27FC236}">
                <a16:creationId xmlns:a16="http://schemas.microsoft.com/office/drawing/2014/main" id="{85DA3254-AFAA-0B4D-B7D0-14A66F70A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50720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3 </a:t>
            </a:r>
          </a:p>
        </p:txBody>
      </p:sp>
      <p:sp>
        <p:nvSpPr>
          <p:cNvPr id="73752" name="CaixaDeTexto 68">
            <a:extLst>
              <a:ext uri="{FF2B5EF4-FFF2-40B4-BE49-F238E27FC236}">
                <a16:creationId xmlns:a16="http://schemas.microsoft.com/office/drawing/2014/main" id="{27348940-BB8F-677D-B918-4FD2BDA31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50720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4 </a:t>
            </a:r>
          </a:p>
        </p:txBody>
      </p:sp>
      <p:sp>
        <p:nvSpPr>
          <p:cNvPr id="73753" name="CaixaDeTexto 69">
            <a:extLst>
              <a:ext uri="{FF2B5EF4-FFF2-40B4-BE49-F238E27FC236}">
                <a16:creationId xmlns:a16="http://schemas.microsoft.com/office/drawing/2014/main" id="{32EFD02A-CAE8-BF27-82BF-16FAFA05E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50720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5 </a:t>
            </a:r>
          </a:p>
        </p:txBody>
      </p: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AB1CE4F5-76C8-AB69-DC08-B2AF6748F548}"/>
              </a:ext>
            </a:extLst>
          </p:cNvPr>
          <p:cNvCxnSpPr/>
          <p:nvPr/>
        </p:nvCxnSpPr>
        <p:spPr>
          <a:xfrm>
            <a:off x="6746875" y="5684838"/>
            <a:ext cx="857250" cy="1587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0F99C4F2-E24B-C644-7393-F5C86E89816C}"/>
              </a:ext>
            </a:extLst>
          </p:cNvPr>
          <p:cNvCxnSpPr/>
          <p:nvPr/>
        </p:nvCxnSpPr>
        <p:spPr>
          <a:xfrm rot="10800000">
            <a:off x="2509838" y="5716588"/>
            <a:ext cx="714375" cy="1587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756" name="CaixaDeTexto 83">
            <a:extLst>
              <a:ext uri="{FF2B5EF4-FFF2-40B4-BE49-F238E27FC236}">
                <a16:creationId xmlns:a16="http://schemas.microsoft.com/office/drawing/2014/main" id="{DF1DA5FF-CA47-5315-016D-D1DA78C95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5826125"/>
            <a:ext cx="1857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</a:rPr>
              <a:t>MELHOR </a:t>
            </a:r>
          </a:p>
        </p:txBody>
      </p:sp>
      <p:sp>
        <p:nvSpPr>
          <p:cNvPr id="73757" name="CaixaDeTexto 84">
            <a:extLst>
              <a:ext uri="{FF2B5EF4-FFF2-40B4-BE49-F238E27FC236}">
                <a16:creationId xmlns:a16="http://schemas.microsoft.com/office/drawing/2014/main" id="{9926A13C-AB39-0318-2898-E735AE815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5921375"/>
            <a:ext cx="1857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</a:rPr>
              <a:t>PIOR </a:t>
            </a:r>
          </a:p>
        </p:txBody>
      </p:sp>
      <p:pic>
        <p:nvPicPr>
          <p:cNvPr id="73758" name="Picture 1">
            <a:extLst>
              <a:ext uri="{FF2B5EF4-FFF2-40B4-BE49-F238E27FC236}">
                <a16:creationId xmlns:a16="http://schemas.microsoft.com/office/drawing/2014/main" id="{9D861832-B188-AE43-C610-189C10DEE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0"/>
            <a:ext cx="2643188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Elipse 86">
            <a:extLst>
              <a:ext uri="{FF2B5EF4-FFF2-40B4-BE49-F238E27FC236}">
                <a16:creationId xmlns:a16="http://schemas.microsoft.com/office/drawing/2014/main" id="{32B4465C-4B0B-E429-4A0D-F4C6821310EA}"/>
              </a:ext>
            </a:extLst>
          </p:cNvPr>
          <p:cNvSpPr/>
          <p:nvPr/>
        </p:nvSpPr>
        <p:spPr>
          <a:xfrm>
            <a:off x="8072438" y="642938"/>
            <a:ext cx="785812" cy="12858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ítulo 1">
            <a:extLst>
              <a:ext uri="{FF2B5EF4-FFF2-40B4-BE49-F238E27FC236}">
                <a16:creationId xmlns:a16="http://schemas.microsoft.com/office/drawing/2014/main" id="{9F16593B-7D97-6B8A-97FA-0C88E91FE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513" y="569913"/>
            <a:ext cx="7497762" cy="1143000"/>
          </a:xfrm>
        </p:spPr>
        <p:txBody>
          <a:bodyPr/>
          <a:lstStyle/>
          <a:p>
            <a:r>
              <a:rPr lang="pt-BR" altLang="pt-BR"/>
              <a:t>REQUISITOS DE PROJETO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88A861-DCBE-2C0A-5FF1-9B83DF0549D1}"/>
              </a:ext>
            </a:extLst>
          </p:cNvPr>
          <p:cNvSpPr/>
          <p:nvPr/>
        </p:nvSpPr>
        <p:spPr>
          <a:xfrm>
            <a:off x="1500188" y="3571875"/>
            <a:ext cx="1500187" cy="2000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dirty="0">
                <a:solidFill>
                  <a:schemeClr val="tx1"/>
                </a:solidFill>
              </a:rPr>
              <a:t>Requisitos dos clientes</a:t>
            </a:r>
          </a:p>
        </p:txBody>
      </p:sp>
      <p:sp>
        <p:nvSpPr>
          <p:cNvPr id="74755" name="CaixaDeTexto 4">
            <a:extLst>
              <a:ext uri="{FF2B5EF4-FFF2-40B4-BE49-F238E27FC236}">
                <a16:creationId xmlns:a16="http://schemas.microsoft.com/office/drawing/2014/main" id="{B85FC900-1BA7-788E-B248-0E26AB4D0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838" y="372110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(1)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3DADCFB-CB48-5748-9F83-428DE0E839DD}"/>
              </a:ext>
            </a:extLst>
          </p:cNvPr>
          <p:cNvSpPr/>
          <p:nvPr/>
        </p:nvSpPr>
        <p:spPr>
          <a:xfrm>
            <a:off x="3143250" y="3571875"/>
            <a:ext cx="2143125" cy="2000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B47F827-B96A-D6E5-C230-6F673697ED9F}"/>
              </a:ext>
            </a:extLst>
          </p:cNvPr>
          <p:cNvSpPr/>
          <p:nvPr/>
        </p:nvSpPr>
        <p:spPr>
          <a:xfrm>
            <a:off x="3143250" y="2928938"/>
            <a:ext cx="2143125" cy="5619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dirty="0">
                <a:solidFill>
                  <a:schemeClr val="tx1"/>
                </a:solidFill>
              </a:rPr>
              <a:t>Requisitos dos Produtos</a:t>
            </a:r>
          </a:p>
        </p:txBody>
      </p:sp>
      <p:sp>
        <p:nvSpPr>
          <p:cNvPr id="74758" name="CaixaDeTexto 12">
            <a:extLst>
              <a:ext uri="{FF2B5EF4-FFF2-40B4-BE49-F238E27FC236}">
                <a16:creationId xmlns:a16="http://schemas.microsoft.com/office/drawing/2014/main" id="{04E95B00-06B4-6831-C96C-0D7A0FE8392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643438" y="31432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(4)</a:t>
            </a:r>
          </a:p>
        </p:txBody>
      </p:sp>
      <p:sp>
        <p:nvSpPr>
          <p:cNvPr id="15" name="Triângulo isósceles 14">
            <a:extLst>
              <a:ext uri="{FF2B5EF4-FFF2-40B4-BE49-F238E27FC236}">
                <a16:creationId xmlns:a16="http://schemas.microsoft.com/office/drawing/2014/main" id="{DEF68FEF-D7B7-1C1E-F039-AC29B22E76F1}"/>
              </a:ext>
            </a:extLst>
          </p:cNvPr>
          <p:cNvSpPr/>
          <p:nvPr/>
        </p:nvSpPr>
        <p:spPr>
          <a:xfrm>
            <a:off x="3143250" y="1714500"/>
            <a:ext cx="2143125" cy="114300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600" dirty="0">
                <a:solidFill>
                  <a:schemeClr val="tx1"/>
                </a:solidFill>
              </a:rPr>
              <a:t>Matriz de correção</a:t>
            </a:r>
          </a:p>
        </p:txBody>
      </p:sp>
      <p:sp>
        <p:nvSpPr>
          <p:cNvPr id="74760" name="CaixaDeTexto 16">
            <a:extLst>
              <a:ext uri="{FF2B5EF4-FFF2-40B4-BE49-F238E27FC236}">
                <a16:creationId xmlns:a16="http://schemas.microsoft.com/office/drawing/2014/main" id="{60FE1765-4CA4-B3ED-2A05-781CD6304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1928813"/>
            <a:ext cx="9286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(7)</a:t>
            </a:r>
          </a:p>
        </p:txBody>
      </p:sp>
      <p:sp>
        <p:nvSpPr>
          <p:cNvPr id="19" name="Seta dobrada para cima 18">
            <a:extLst>
              <a:ext uri="{FF2B5EF4-FFF2-40B4-BE49-F238E27FC236}">
                <a16:creationId xmlns:a16="http://schemas.microsoft.com/office/drawing/2014/main" id="{E0C0CE99-F42E-EF6F-C360-891BC4C42BA4}"/>
              </a:ext>
            </a:extLst>
          </p:cNvPr>
          <p:cNvSpPr/>
          <p:nvPr/>
        </p:nvSpPr>
        <p:spPr>
          <a:xfrm>
            <a:off x="3071813" y="3571875"/>
            <a:ext cx="1500187" cy="857250"/>
          </a:xfrm>
          <a:prstGeom prst="bent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4762" name="CaixaDeTexto 33">
            <a:extLst>
              <a:ext uri="{FF2B5EF4-FFF2-40B4-BE49-F238E27FC236}">
                <a16:creationId xmlns:a16="http://schemas.microsoft.com/office/drawing/2014/main" id="{6EF41263-7363-7D97-7440-77767CAE6217}"/>
              </a:ext>
            </a:extLst>
          </p:cNvPr>
          <p:cNvSpPr txBox="1">
            <a:spLocks noChangeArrowheads="1"/>
          </p:cNvSpPr>
          <p:nvPr/>
        </p:nvSpPr>
        <p:spPr bwMode="auto">
          <a:xfrm rot="-1088811">
            <a:off x="3541713" y="4457700"/>
            <a:ext cx="1643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i="1">
                <a:solidFill>
                  <a:srgbClr val="FF0000"/>
                </a:solidFill>
              </a:rPr>
              <a:t>Extração  </a:t>
            </a:r>
          </a:p>
        </p:txBody>
      </p:sp>
      <p:sp>
        <p:nvSpPr>
          <p:cNvPr id="74763" name="CaixaDeTexto 34">
            <a:extLst>
              <a:ext uri="{FF2B5EF4-FFF2-40B4-BE49-F238E27FC236}">
                <a16:creationId xmlns:a16="http://schemas.microsoft.com/office/drawing/2014/main" id="{0EBE2653-5F51-3F8C-98F8-5639061AB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63" y="3071813"/>
            <a:ext cx="321468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/>
              <a:t>Os requisitos de clientes são extraídos  em </a:t>
            </a:r>
            <a:r>
              <a:rPr lang="pt-BR" altLang="pt-BR" sz="2400">
                <a:solidFill>
                  <a:srgbClr val="FF0000"/>
                </a:solidFill>
              </a:rPr>
              <a:t>características técnicas possíveis de ser medidos </a:t>
            </a:r>
            <a:r>
              <a:rPr lang="pt-BR" altLang="pt-BR" sz="2400"/>
              <a:t>por algum sensor.  </a:t>
            </a:r>
          </a:p>
        </p:txBody>
      </p:sp>
      <p:pic>
        <p:nvPicPr>
          <p:cNvPr id="74764" name="Picture 1">
            <a:extLst>
              <a:ext uri="{FF2B5EF4-FFF2-40B4-BE49-F238E27FC236}">
                <a16:creationId xmlns:a16="http://schemas.microsoft.com/office/drawing/2014/main" id="{BCF69781-BC9B-FE31-A73B-B747433CF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285750"/>
            <a:ext cx="2643187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Elipse 36">
            <a:extLst>
              <a:ext uri="{FF2B5EF4-FFF2-40B4-BE49-F238E27FC236}">
                <a16:creationId xmlns:a16="http://schemas.microsoft.com/office/drawing/2014/main" id="{8B36A0A9-7E56-B175-3D2D-DCD3E7448B2F}"/>
              </a:ext>
            </a:extLst>
          </p:cNvPr>
          <p:cNvSpPr/>
          <p:nvPr/>
        </p:nvSpPr>
        <p:spPr>
          <a:xfrm>
            <a:off x="7000875" y="642938"/>
            <a:ext cx="1214438" cy="571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957EF79-4DF4-209A-5437-1A9A000D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1928813"/>
            <a:ext cx="5000625" cy="461962"/>
          </a:xfrm>
        </p:spPr>
        <p:txBody>
          <a:bodyPr rtlCol="0">
            <a:spAutoFit/>
          </a:bodyPr>
          <a:lstStyle/>
          <a:p>
            <a:pPr>
              <a:defRPr/>
            </a:pPr>
            <a:r>
              <a:rPr lang="pt-BR" dirty="0">
                <a:solidFill>
                  <a:schemeClr val="tx1"/>
                </a:solidFill>
                <a:ea typeface="+mn-ea"/>
                <a:cs typeface="Arial" pitchFamily="34" charset="0"/>
              </a:rPr>
              <a:t>Exemplo do retroprojetor</a:t>
            </a:r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4B7D1404-FFAC-1608-9E07-8915A7A9E771}"/>
              </a:ext>
            </a:extLst>
          </p:cNvPr>
          <p:cNvSpPr txBox="1">
            <a:spLocks/>
          </p:cNvSpPr>
          <p:nvPr/>
        </p:nvSpPr>
        <p:spPr>
          <a:xfrm>
            <a:off x="401638" y="0"/>
            <a:ext cx="7497762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3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Requisitos de Projeto</a:t>
            </a:r>
          </a:p>
        </p:txBody>
      </p:sp>
      <p:pic>
        <p:nvPicPr>
          <p:cNvPr id="75779" name="Picture 1">
            <a:extLst>
              <a:ext uri="{FF2B5EF4-FFF2-40B4-BE49-F238E27FC236}">
                <a16:creationId xmlns:a16="http://schemas.microsoft.com/office/drawing/2014/main" id="{B164E57D-B75D-2532-62F2-18E8CBA7F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285750"/>
            <a:ext cx="2643187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Elipse 36">
            <a:extLst>
              <a:ext uri="{FF2B5EF4-FFF2-40B4-BE49-F238E27FC236}">
                <a16:creationId xmlns:a16="http://schemas.microsoft.com/office/drawing/2014/main" id="{C7E65CC4-F7A7-E191-1A00-3034E19E895B}"/>
              </a:ext>
            </a:extLst>
          </p:cNvPr>
          <p:cNvSpPr/>
          <p:nvPr/>
        </p:nvSpPr>
        <p:spPr>
          <a:xfrm>
            <a:off x="7000875" y="642938"/>
            <a:ext cx="1214438" cy="571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pic>
        <p:nvPicPr>
          <p:cNvPr id="75781" name="Picture 2">
            <a:extLst>
              <a:ext uri="{FF2B5EF4-FFF2-40B4-BE49-F238E27FC236}">
                <a16:creationId xmlns:a16="http://schemas.microsoft.com/office/drawing/2014/main" id="{B0FD2E07-7C80-18B4-E165-EED2A8BF6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300" y="2500313"/>
            <a:ext cx="7504113" cy="352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8">
            <a:extLst>
              <a:ext uri="{FF2B5EF4-FFF2-40B4-BE49-F238E27FC236}">
                <a16:creationId xmlns:a16="http://schemas.microsoft.com/office/drawing/2014/main" id="{5DB74FB6-7A6C-8548-B562-6551E230C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25" y="984250"/>
            <a:ext cx="1546225" cy="441325"/>
          </a:xfrm>
          <a:prstGeom prst="wedgeRectCallout">
            <a:avLst>
              <a:gd name="adj1" fmla="val 73412"/>
              <a:gd name="adj2" fmla="val 326495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1. Potência de 500 a 600W</a:t>
            </a:r>
          </a:p>
        </p:txBody>
      </p:sp>
      <p:sp>
        <p:nvSpPr>
          <p:cNvPr id="3" name="AutoShape 9">
            <a:extLst>
              <a:ext uri="{FF2B5EF4-FFF2-40B4-BE49-F238E27FC236}">
                <a16:creationId xmlns:a16="http://schemas.microsoft.com/office/drawing/2014/main" id="{20CE92B5-C4B2-2386-65D4-845110176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5" y="1555750"/>
            <a:ext cx="1966913" cy="438150"/>
          </a:xfrm>
          <a:prstGeom prst="wedgeRectCallout">
            <a:avLst>
              <a:gd name="adj1" fmla="val 98755"/>
              <a:gd name="adj2" fmla="val 252894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2. Resistência à corrosão (1 dia em câmara salina)</a:t>
            </a:r>
          </a:p>
        </p:txBody>
      </p:sp>
      <p:sp>
        <p:nvSpPr>
          <p:cNvPr id="4" name="AutoShape 10">
            <a:extLst>
              <a:ext uri="{FF2B5EF4-FFF2-40B4-BE49-F238E27FC236}">
                <a16:creationId xmlns:a16="http://schemas.microsoft.com/office/drawing/2014/main" id="{9DA59707-D6F9-0468-FE08-1CB25C22D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3" y="2290763"/>
            <a:ext cx="1709737" cy="442912"/>
          </a:xfrm>
          <a:prstGeom prst="wedgeRectCallout">
            <a:avLst>
              <a:gd name="adj1" fmla="val 132185"/>
              <a:gd name="adj2" fmla="val 149917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0000"/>
              </a:lnSpc>
              <a:defRPr/>
            </a:pPr>
            <a:r>
              <a:rPr lang="pt-BR" altLang="x-none" sz="1200" b="1"/>
              <a:t>3. Vida útil mínima de 3 anos em serviço</a:t>
            </a:r>
          </a:p>
        </p:txBody>
      </p:sp>
      <p:sp>
        <p:nvSpPr>
          <p:cNvPr id="5" name="AutoShape 11">
            <a:extLst>
              <a:ext uri="{FF2B5EF4-FFF2-40B4-BE49-F238E27FC236}">
                <a16:creationId xmlns:a16="http://schemas.microsoft.com/office/drawing/2014/main" id="{F8951F94-70EB-7293-4BC5-B9904181D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2984500"/>
            <a:ext cx="1849437" cy="455613"/>
          </a:xfrm>
          <a:prstGeom prst="wedgeRectCallout">
            <a:avLst>
              <a:gd name="adj1" fmla="val 131514"/>
              <a:gd name="adj2" fmla="val 64106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0000"/>
              </a:lnSpc>
              <a:defRPr/>
            </a:pPr>
            <a:r>
              <a:rPr lang="pt-BR" altLang="x-none" sz="1200" b="1"/>
              <a:t>4. Todos parafusos c/ mesma cabeça</a:t>
            </a:r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B7FADCD1-D1FD-DA9E-8D10-10B782623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3556000"/>
            <a:ext cx="1466850" cy="469900"/>
          </a:xfrm>
          <a:prstGeom prst="wedgeRectCallout">
            <a:avLst>
              <a:gd name="adj1" fmla="val 154088"/>
              <a:gd name="adj2" fmla="val 41051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0000"/>
              </a:lnSpc>
              <a:defRPr/>
            </a:pPr>
            <a:r>
              <a:rPr lang="pt-BR" altLang="x-none" sz="1200" b="1"/>
              <a:t>5. Transporte em caminhões baú</a:t>
            </a:r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BB6A995C-06BA-6FD7-677A-C5D51A3C7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4159250"/>
            <a:ext cx="1557337" cy="463550"/>
          </a:xfrm>
          <a:prstGeom prst="wedgeRectCallout">
            <a:avLst>
              <a:gd name="adj1" fmla="val 161139"/>
              <a:gd name="adj2" fmla="val -1380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6. Peso </a:t>
            </a:r>
            <a:r>
              <a:rPr lang="pt-BR" sz="1200" b="1" dirty="0" err="1">
                <a:latin typeface="+mn-lt"/>
              </a:rPr>
              <a:t>max</a:t>
            </a:r>
            <a:r>
              <a:rPr lang="pt-BR" sz="1200" b="1" dirty="0">
                <a:latin typeface="+mn-lt"/>
              </a:rPr>
              <a:t>. Embalagem 500 g</a:t>
            </a:r>
          </a:p>
        </p:txBody>
      </p:sp>
      <p:sp>
        <p:nvSpPr>
          <p:cNvPr id="8" name="AutoShape 14">
            <a:extLst>
              <a:ext uri="{FF2B5EF4-FFF2-40B4-BE49-F238E27FC236}">
                <a16:creationId xmlns:a16="http://schemas.microsoft.com/office/drawing/2014/main" id="{2F507136-932F-1DB0-B685-B0B3F47F5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789488"/>
            <a:ext cx="1778000" cy="287337"/>
          </a:xfrm>
          <a:prstGeom prst="wedgeRectCallout">
            <a:avLst>
              <a:gd name="adj1" fmla="val 140139"/>
              <a:gd name="adj2" fmla="val -83148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7. </a:t>
            </a:r>
            <a:r>
              <a:rPr lang="pt-BR" sz="1200" b="1" dirty="0">
                <a:latin typeface="+mn-lt"/>
                <a:cs typeface="Arial"/>
              </a:rPr>
              <a:t>~</a:t>
            </a:r>
            <a:r>
              <a:rPr lang="pt-BR" sz="1200" b="1" dirty="0">
                <a:latin typeface="+mn-lt"/>
              </a:rPr>
              <a:t>50.000 </a:t>
            </a:r>
            <a:r>
              <a:rPr lang="pt-BR" sz="1200" b="1" dirty="0" err="1">
                <a:latin typeface="+mn-lt"/>
              </a:rPr>
              <a:t>unid</a:t>
            </a:r>
            <a:r>
              <a:rPr lang="pt-BR" sz="1200" b="1" dirty="0">
                <a:latin typeface="+mn-lt"/>
              </a:rPr>
              <a:t>./mês</a:t>
            </a:r>
          </a:p>
        </p:txBody>
      </p:sp>
      <p:sp>
        <p:nvSpPr>
          <p:cNvPr id="9" name="AutoShape 15">
            <a:extLst>
              <a:ext uri="{FF2B5EF4-FFF2-40B4-BE49-F238E27FC236}">
                <a16:creationId xmlns:a16="http://schemas.microsoft.com/office/drawing/2014/main" id="{A6E9CB66-9BB6-0AC4-0E81-FFB877C2C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5254625"/>
            <a:ext cx="1963737" cy="455613"/>
          </a:xfrm>
          <a:prstGeom prst="wedgeRectCallout">
            <a:avLst>
              <a:gd name="adj1" fmla="val 117194"/>
              <a:gd name="adj2" fmla="val -101167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8. Utilizar linhas de produção existentes</a:t>
            </a:r>
          </a:p>
        </p:txBody>
      </p:sp>
      <p:sp>
        <p:nvSpPr>
          <p:cNvPr id="10" name="AutoShape 16">
            <a:extLst>
              <a:ext uri="{FF2B5EF4-FFF2-40B4-BE49-F238E27FC236}">
                <a16:creationId xmlns:a16="http://schemas.microsoft.com/office/drawing/2014/main" id="{4E0475C3-8C24-D8F4-AD1E-4A64FFBC7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0100" y="5818188"/>
            <a:ext cx="1139825" cy="452437"/>
          </a:xfrm>
          <a:prstGeom prst="wedgeRectCallout">
            <a:avLst>
              <a:gd name="adj1" fmla="val 125120"/>
              <a:gd name="adj2" fmla="val -147542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9. Peso </a:t>
            </a:r>
            <a:r>
              <a:rPr lang="pt-BR" sz="1200" b="1" dirty="0" err="1">
                <a:latin typeface="+mn-lt"/>
              </a:rPr>
              <a:t>max</a:t>
            </a:r>
            <a:r>
              <a:rPr lang="pt-BR" sz="1200" b="1" dirty="0">
                <a:latin typeface="+mn-lt"/>
              </a:rPr>
              <a:t>. 4,5 Kg</a:t>
            </a:r>
          </a:p>
        </p:txBody>
      </p:sp>
      <p:sp>
        <p:nvSpPr>
          <p:cNvPr id="11" name="AutoShape 17">
            <a:extLst>
              <a:ext uri="{FF2B5EF4-FFF2-40B4-BE49-F238E27FC236}">
                <a16:creationId xmlns:a16="http://schemas.microsoft.com/office/drawing/2014/main" id="{646E8AC7-3763-82C4-B9FE-78C55DC0B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5962650"/>
            <a:ext cx="1384300" cy="466725"/>
          </a:xfrm>
          <a:prstGeom prst="wedgeRectCallout">
            <a:avLst>
              <a:gd name="adj1" fmla="val 31972"/>
              <a:gd name="adj2" fmla="val -203310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10. Não utilizar PVC (inc. emb.)</a:t>
            </a:r>
          </a:p>
        </p:txBody>
      </p:sp>
      <p:sp>
        <p:nvSpPr>
          <p:cNvPr id="12" name="AutoShape 18">
            <a:extLst>
              <a:ext uri="{FF2B5EF4-FFF2-40B4-BE49-F238E27FC236}">
                <a16:creationId xmlns:a16="http://schemas.microsoft.com/office/drawing/2014/main" id="{641AFA53-DDFF-2420-6104-5E52B4DB9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0" y="5572125"/>
            <a:ext cx="1881188" cy="452438"/>
          </a:xfrm>
          <a:prstGeom prst="wedgeRectCallout">
            <a:avLst>
              <a:gd name="adj1" fmla="val -94940"/>
              <a:gd name="adj2" fmla="val -149046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12. Escala graduada em litros e xícaras</a:t>
            </a:r>
          </a:p>
        </p:txBody>
      </p:sp>
      <p:sp>
        <p:nvSpPr>
          <p:cNvPr id="13" name="AutoShape 19">
            <a:extLst>
              <a:ext uri="{FF2B5EF4-FFF2-40B4-BE49-F238E27FC236}">
                <a16:creationId xmlns:a16="http://schemas.microsoft.com/office/drawing/2014/main" id="{4CAA60F3-1E9A-51BD-1C71-51048716F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5" y="4857750"/>
            <a:ext cx="1957388" cy="455613"/>
          </a:xfrm>
          <a:prstGeom prst="wedgeRectCallout">
            <a:avLst>
              <a:gd name="adj1" fmla="val -94769"/>
              <a:gd name="adj2" fmla="val -66375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13. Carcaça em aço escovado</a:t>
            </a:r>
          </a:p>
        </p:txBody>
      </p:sp>
      <p:sp>
        <p:nvSpPr>
          <p:cNvPr id="14" name="AutoShape 20">
            <a:extLst>
              <a:ext uri="{FF2B5EF4-FFF2-40B4-BE49-F238E27FC236}">
                <a16:creationId xmlns:a16="http://schemas.microsoft.com/office/drawing/2014/main" id="{89125423-454F-7F55-CA99-70057A7EB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5" y="5962650"/>
            <a:ext cx="1571625" cy="450850"/>
          </a:xfrm>
          <a:prstGeom prst="wedgeRectCallout">
            <a:avLst>
              <a:gd name="adj1" fmla="val -36069"/>
              <a:gd name="adj2" fmla="val -202125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11. Atender à NBR NM 60335-1:2006</a:t>
            </a:r>
          </a:p>
        </p:txBody>
      </p:sp>
      <p:sp>
        <p:nvSpPr>
          <p:cNvPr id="15" name="AutoShape 22">
            <a:extLst>
              <a:ext uri="{FF2B5EF4-FFF2-40B4-BE49-F238E27FC236}">
                <a16:creationId xmlns:a16="http://schemas.microsoft.com/office/drawing/2014/main" id="{9F074355-8C91-BB87-98F9-4F179F6B3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538" y="2525713"/>
            <a:ext cx="1957387" cy="287337"/>
          </a:xfrm>
          <a:prstGeom prst="wedgeRectCallout">
            <a:avLst>
              <a:gd name="adj1" fmla="val -91287"/>
              <a:gd name="adj2" fmla="val 84255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17. Garantia de 2 anos</a:t>
            </a:r>
          </a:p>
        </p:txBody>
      </p:sp>
      <p:sp>
        <p:nvSpPr>
          <p:cNvPr id="16" name="AutoShape 23">
            <a:extLst>
              <a:ext uri="{FF2B5EF4-FFF2-40B4-BE49-F238E27FC236}">
                <a16:creationId xmlns:a16="http://schemas.microsoft.com/office/drawing/2014/main" id="{661D28CA-EB8A-C1BD-B98E-A88863719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413" y="3556000"/>
            <a:ext cx="1958975" cy="468313"/>
          </a:xfrm>
          <a:prstGeom prst="wedgeRectCallout">
            <a:avLst>
              <a:gd name="adj1" fmla="val -88833"/>
              <a:gd name="adj2" fmla="val 7398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15. Resistir queda de 2 metros</a:t>
            </a:r>
          </a:p>
        </p:txBody>
      </p:sp>
      <p:sp>
        <p:nvSpPr>
          <p:cNvPr id="17" name="AutoShape 24">
            <a:extLst>
              <a:ext uri="{FF2B5EF4-FFF2-40B4-BE49-F238E27FC236}">
                <a16:creationId xmlns:a16="http://schemas.microsoft.com/office/drawing/2014/main" id="{07CA57CF-1113-71FD-AFD2-E3C5B0B06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2984500"/>
            <a:ext cx="2038350" cy="428625"/>
          </a:xfrm>
          <a:prstGeom prst="wedgeRectCallout">
            <a:avLst>
              <a:gd name="adj1" fmla="val -95014"/>
              <a:gd name="adj2" fmla="val 31144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16. Lâminas com arestas pouco cortantes</a:t>
            </a:r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269800A7-2634-E9F8-AFC4-664A431CD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538" y="4233863"/>
            <a:ext cx="1957387" cy="455612"/>
          </a:xfrm>
          <a:prstGeom prst="wedgeRectCallout">
            <a:avLst>
              <a:gd name="adj1" fmla="val -100644"/>
              <a:gd name="adj2" fmla="val -50347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14. Vida de prateleira mínima de 5 anos</a:t>
            </a:r>
          </a:p>
        </p:txBody>
      </p:sp>
      <p:sp>
        <p:nvSpPr>
          <p:cNvPr id="19" name="AutoShape 27">
            <a:extLst>
              <a:ext uri="{FF2B5EF4-FFF2-40B4-BE49-F238E27FC236}">
                <a16:creationId xmlns:a16="http://schemas.microsoft.com/office/drawing/2014/main" id="{A86FFE55-52C3-9BD8-38D8-7626B8B97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3563" y="1901825"/>
            <a:ext cx="1957387" cy="455613"/>
          </a:xfrm>
          <a:prstGeom prst="wedgeRectCallout">
            <a:avLst>
              <a:gd name="adj1" fmla="val -101560"/>
              <a:gd name="adj2" fmla="val 98782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18. Marketing vinculado à alimentação natural</a:t>
            </a:r>
          </a:p>
        </p:txBody>
      </p:sp>
      <p:sp>
        <p:nvSpPr>
          <p:cNvPr id="20" name="AutoShape 28">
            <a:extLst>
              <a:ext uri="{FF2B5EF4-FFF2-40B4-BE49-F238E27FC236}">
                <a16:creationId xmlns:a16="http://schemas.microsoft.com/office/drawing/2014/main" id="{DE6BB607-4275-CEF0-0BF9-8075332D0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5" y="1000125"/>
            <a:ext cx="1412875" cy="647700"/>
          </a:xfrm>
          <a:prstGeom prst="wedgeRectCallout">
            <a:avLst>
              <a:gd name="adj1" fmla="val -98347"/>
              <a:gd name="adj2" fmla="val 140866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19. Conjunto base do copo e lâminas único</a:t>
            </a:r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3538576D-C3F6-A4EF-51D6-2BDC6D123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0038" y="901700"/>
            <a:ext cx="944562" cy="527050"/>
          </a:xfrm>
          <a:prstGeom prst="wedgeRectCallout">
            <a:avLst>
              <a:gd name="adj1" fmla="val -59014"/>
              <a:gd name="adj2" fmla="val 216782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20. </a:t>
            </a:r>
            <a:r>
              <a:rPr lang="pt-BR" sz="1200" b="1" i="1" dirty="0" err="1">
                <a:latin typeface="+mn-lt"/>
              </a:rPr>
              <a:t>Plug</a:t>
            </a:r>
            <a:r>
              <a:rPr lang="pt-BR" sz="1200" b="1" i="1" dirty="0">
                <a:latin typeface="+mn-lt"/>
              </a:rPr>
              <a:t> </a:t>
            </a:r>
            <a:r>
              <a:rPr lang="pt-BR" sz="1200" b="1" i="1" dirty="0" err="1">
                <a:latin typeface="+mn-lt"/>
              </a:rPr>
              <a:t>and</a:t>
            </a:r>
            <a:r>
              <a:rPr lang="pt-BR" sz="1200" b="1" i="1" dirty="0">
                <a:latin typeface="+mn-lt"/>
              </a:rPr>
              <a:t> Play</a:t>
            </a:r>
          </a:p>
        </p:txBody>
      </p:sp>
      <p:sp>
        <p:nvSpPr>
          <p:cNvPr id="22" name="AutoShape 30">
            <a:extLst>
              <a:ext uri="{FF2B5EF4-FFF2-40B4-BE49-F238E27FC236}">
                <a16:creationId xmlns:a16="http://schemas.microsoft.com/office/drawing/2014/main" id="{E3362453-D7E2-2BBD-8DFB-7325B011B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0" y="857250"/>
            <a:ext cx="1389063" cy="647700"/>
          </a:xfrm>
          <a:prstGeom prst="wedgeRectCallout">
            <a:avLst>
              <a:gd name="adj1" fmla="val 21269"/>
              <a:gd name="adj2" fmla="val 166338"/>
            </a:avLst>
          </a:prstGeom>
          <a:gradFill rotWithShape="1">
            <a:gsLst>
              <a:gs pos="0">
                <a:srgbClr val="F0FFFF"/>
              </a:gs>
              <a:gs pos="64999">
                <a:srgbClr val="DDFEFF"/>
              </a:gs>
              <a:gs pos="100000">
                <a:srgbClr val="CFFFFF"/>
              </a:gs>
            </a:gsLst>
            <a:lin ang="54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200" b="1" dirty="0">
                <a:latin typeface="+mn-lt"/>
              </a:rPr>
              <a:t>21. Embalagem em materiais reciclados</a:t>
            </a:r>
          </a:p>
        </p:txBody>
      </p:sp>
      <p:pic>
        <p:nvPicPr>
          <p:cNvPr id="76822" name="Picture 3">
            <a:extLst>
              <a:ext uri="{FF2B5EF4-FFF2-40B4-BE49-F238E27FC236}">
                <a16:creationId xmlns:a16="http://schemas.microsoft.com/office/drawing/2014/main" id="{E31735C4-DACB-3FDC-2179-235C1FFCC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2357438"/>
            <a:ext cx="2201863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5" name="Picture 2">
            <a:extLst>
              <a:ext uri="{FF2B5EF4-FFF2-40B4-BE49-F238E27FC236}">
                <a16:creationId xmlns:a16="http://schemas.microsoft.com/office/drawing/2014/main" id="{49470400-666C-36F3-B27B-6702C6988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352425"/>
            <a:ext cx="8337550" cy="600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ítulo 1">
            <a:extLst>
              <a:ext uri="{FF2B5EF4-FFF2-40B4-BE49-F238E27FC236}">
                <a16:creationId xmlns:a16="http://schemas.microsoft.com/office/drawing/2014/main" id="{40550D41-57DF-DB24-FC38-9257B3147E78}"/>
              </a:ext>
            </a:extLst>
          </p:cNvPr>
          <p:cNvSpPr txBox="1">
            <a:spLocks/>
          </p:cNvSpPr>
          <p:nvPr/>
        </p:nvSpPr>
        <p:spPr>
          <a:xfrm>
            <a:off x="1071563" y="714375"/>
            <a:ext cx="5286375" cy="1143000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3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Quantificação dos requisitos de projeto de produto</a:t>
            </a:r>
          </a:p>
        </p:txBody>
      </p:sp>
      <p:pic>
        <p:nvPicPr>
          <p:cNvPr id="78850" name="Picture 1">
            <a:extLst>
              <a:ext uri="{FF2B5EF4-FFF2-40B4-BE49-F238E27FC236}">
                <a16:creationId xmlns:a16="http://schemas.microsoft.com/office/drawing/2014/main" id="{84689709-5F0E-77CB-D24C-D0A64F5A1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142875"/>
            <a:ext cx="2643188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Elipse 34">
            <a:extLst>
              <a:ext uri="{FF2B5EF4-FFF2-40B4-BE49-F238E27FC236}">
                <a16:creationId xmlns:a16="http://schemas.microsoft.com/office/drawing/2014/main" id="{56B20FD5-D501-0CEE-BF04-4698C4D3890B}"/>
              </a:ext>
            </a:extLst>
          </p:cNvPr>
          <p:cNvSpPr/>
          <p:nvPr/>
        </p:nvSpPr>
        <p:spPr>
          <a:xfrm>
            <a:off x="7072313" y="1714500"/>
            <a:ext cx="1214437" cy="571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8852" name="CaixaDeTexto 35">
            <a:extLst>
              <a:ext uri="{FF2B5EF4-FFF2-40B4-BE49-F238E27FC236}">
                <a16:creationId xmlns:a16="http://schemas.microsoft.com/office/drawing/2014/main" id="{ED7EA149-B59D-75D5-CBC0-E5B4D697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4214813"/>
            <a:ext cx="17859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Baixo aquecimento</a:t>
            </a:r>
          </a:p>
        </p:txBody>
      </p:sp>
      <p:sp>
        <p:nvSpPr>
          <p:cNvPr id="78853" name="CaixaDeTexto 36">
            <a:extLst>
              <a:ext uri="{FF2B5EF4-FFF2-40B4-BE49-F238E27FC236}">
                <a16:creationId xmlns:a16="http://schemas.microsoft.com/office/drawing/2014/main" id="{3B0DE91D-685D-85E1-1C31-3F6C8669D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4572000"/>
            <a:ext cx="17859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Baixo ruído</a:t>
            </a:r>
          </a:p>
        </p:txBody>
      </p:sp>
      <p:sp>
        <p:nvSpPr>
          <p:cNvPr id="78854" name="CaixaDeTexto 37">
            <a:extLst>
              <a:ext uri="{FF2B5EF4-FFF2-40B4-BE49-F238E27FC236}">
                <a16:creationId xmlns:a16="http://schemas.microsoft.com/office/drawing/2014/main" id="{C335BEA1-2FDD-9AC2-5EA8-397B62486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4929188"/>
            <a:ext cx="17859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Foco homogêneo</a:t>
            </a:r>
          </a:p>
        </p:txBody>
      </p:sp>
      <p:sp>
        <p:nvSpPr>
          <p:cNvPr id="78855" name="CaixaDeTexto 38">
            <a:extLst>
              <a:ext uri="{FF2B5EF4-FFF2-40B4-BE49-F238E27FC236}">
                <a16:creationId xmlns:a16="http://schemas.microsoft.com/office/drawing/2014/main" id="{61DD31DF-AC9D-E07D-CE3E-C93F7AD5C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5286375"/>
            <a:ext cx="17859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Fácil ajuste de foco</a:t>
            </a:r>
          </a:p>
        </p:txBody>
      </p:sp>
      <p:sp>
        <p:nvSpPr>
          <p:cNvPr id="78856" name="CaixaDeTexto 39">
            <a:extLst>
              <a:ext uri="{FF2B5EF4-FFF2-40B4-BE49-F238E27FC236}">
                <a16:creationId xmlns:a16="http://schemas.microsoft.com/office/drawing/2014/main" id="{1610B68D-6C07-E2C5-20CB-6DBB8A8EC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5643563"/>
            <a:ext cx="17859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Boa ampliação</a:t>
            </a:r>
          </a:p>
        </p:txBody>
      </p:sp>
      <p:sp>
        <p:nvSpPr>
          <p:cNvPr id="78857" name="CaixaDeTexto 40">
            <a:extLst>
              <a:ext uri="{FF2B5EF4-FFF2-40B4-BE49-F238E27FC236}">
                <a16:creationId xmlns:a16="http://schemas.microsoft.com/office/drawing/2014/main" id="{EA152DC6-6A38-97F2-1D62-17CDB22788B1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2475707" y="3096419"/>
            <a:ext cx="178593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(-) peso limitado</a:t>
            </a:r>
          </a:p>
        </p:txBody>
      </p:sp>
      <p:sp>
        <p:nvSpPr>
          <p:cNvPr id="78858" name="CaixaDeTexto 41">
            <a:extLst>
              <a:ext uri="{FF2B5EF4-FFF2-40B4-BE49-F238E27FC236}">
                <a16:creationId xmlns:a16="http://schemas.microsoft.com/office/drawing/2014/main" id="{ABC02A06-A5BB-4F59-4C7D-104B2EF18A9E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2940844" y="2988469"/>
            <a:ext cx="1785937" cy="5238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(-) Temperatura externa da carcaça</a:t>
            </a:r>
          </a:p>
        </p:txBody>
      </p:sp>
      <p:sp>
        <p:nvSpPr>
          <p:cNvPr id="78859" name="CaixaDeTexto 42">
            <a:extLst>
              <a:ext uri="{FF2B5EF4-FFF2-40B4-BE49-F238E27FC236}">
                <a16:creationId xmlns:a16="http://schemas.microsoft.com/office/drawing/2014/main" id="{2D6D23CF-9557-951B-A796-A629C8B23FE0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512344" y="2988469"/>
            <a:ext cx="1785937" cy="5238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(-) inexistência de cantos vivos</a:t>
            </a:r>
          </a:p>
        </p:txBody>
      </p:sp>
      <p:sp>
        <p:nvSpPr>
          <p:cNvPr id="78860" name="CaixaDeTexto 43">
            <a:extLst>
              <a:ext uri="{FF2B5EF4-FFF2-40B4-BE49-F238E27FC236}">
                <a16:creationId xmlns:a16="http://schemas.microsoft.com/office/drawing/2014/main" id="{A4EBA3AE-4FC2-454F-A8FA-ED18AE1276AC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012407" y="2988469"/>
            <a:ext cx="1785937" cy="5238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(+) Conjunto de lentes adequado</a:t>
            </a:r>
          </a:p>
        </p:txBody>
      </p:sp>
      <p:sp>
        <p:nvSpPr>
          <p:cNvPr id="78861" name="CaixaDeTexto 44">
            <a:extLst>
              <a:ext uri="{FF2B5EF4-FFF2-40B4-BE49-F238E27FC236}">
                <a16:creationId xmlns:a16="http://schemas.microsoft.com/office/drawing/2014/main" id="{D0FD6602-0ABF-0BA6-53C6-809324B32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4214813"/>
            <a:ext cx="28575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62" name="CaixaDeTexto 45">
            <a:extLst>
              <a:ext uri="{FF2B5EF4-FFF2-40B4-BE49-F238E27FC236}">
                <a16:creationId xmlns:a16="http://schemas.microsoft.com/office/drawing/2014/main" id="{894D8164-A23C-4B0D-1203-FF9C7D198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421481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63" name="CaixaDeTexto 46">
            <a:extLst>
              <a:ext uri="{FF2B5EF4-FFF2-40B4-BE49-F238E27FC236}">
                <a16:creationId xmlns:a16="http://schemas.microsoft.com/office/drawing/2014/main" id="{9883C768-EA28-D914-34A1-E5E9EBFCF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421481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64" name="CaixaDeTexto 47">
            <a:extLst>
              <a:ext uri="{FF2B5EF4-FFF2-40B4-BE49-F238E27FC236}">
                <a16:creationId xmlns:a16="http://schemas.microsoft.com/office/drawing/2014/main" id="{00CFBA14-5083-BA36-4B74-BFFCC965B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21481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65" name="CaixaDeTexto 48">
            <a:extLst>
              <a:ext uri="{FF2B5EF4-FFF2-40B4-BE49-F238E27FC236}">
                <a16:creationId xmlns:a16="http://schemas.microsoft.com/office/drawing/2014/main" id="{7614EF11-3F97-D33A-A6C3-C5B5F3AF6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4572000"/>
            <a:ext cx="28575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66" name="CaixaDeTexto 49">
            <a:extLst>
              <a:ext uri="{FF2B5EF4-FFF2-40B4-BE49-F238E27FC236}">
                <a16:creationId xmlns:a16="http://schemas.microsoft.com/office/drawing/2014/main" id="{53BF7796-A011-0311-1964-A0948F000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4572000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67" name="CaixaDeTexto 50">
            <a:extLst>
              <a:ext uri="{FF2B5EF4-FFF2-40B4-BE49-F238E27FC236}">
                <a16:creationId xmlns:a16="http://schemas.microsoft.com/office/drawing/2014/main" id="{C304938D-0496-2E6A-B3B2-E95A8A3C2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4572000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68" name="CaixaDeTexto 51">
            <a:extLst>
              <a:ext uri="{FF2B5EF4-FFF2-40B4-BE49-F238E27FC236}">
                <a16:creationId xmlns:a16="http://schemas.microsoft.com/office/drawing/2014/main" id="{D6E40941-C210-BEE8-F7C8-C3E0578C2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572000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69" name="CaixaDeTexto 52">
            <a:extLst>
              <a:ext uri="{FF2B5EF4-FFF2-40B4-BE49-F238E27FC236}">
                <a16:creationId xmlns:a16="http://schemas.microsoft.com/office/drawing/2014/main" id="{A722530D-9202-E3F0-979E-060E21785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4929188"/>
            <a:ext cx="28575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70" name="CaixaDeTexto 53">
            <a:extLst>
              <a:ext uri="{FF2B5EF4-FFF2-40B4-BE49-F238E27FC236}">
                <a16:creationId xmlns:a16="http://schemas.microsoft.com/office/drawing/2014/main" id="{4E460E46-31A5-C2D2-9438-E5E7876CA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4929188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71" name="CaixaDeTexto 54">
            <a:extLst>
              <a:ext uri="{FF2B5EF4-FFF2-40B4-BE49-F238E27FC236}">
                <a16:creationId xmlns:a16="http://schemas.microsoft.com/office/drawing/2014/main" id="{76869EF6-DB1E-80E1-0852-2AD336C5C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4929188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72" name="CaixaDeTexto 55">
            <a:extLst>
              <a:ext uri="{FF2B5EF4-FFF2-40B4-BE49-F238E27FC236}">
                <a16:creationId xmlns:a16="http://schemas.microsoft.com/office/drawing/2014/main" id="{349BAA50-B6B3-0D07-52F6-06BF0203F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929188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73" name="CaixaDeTexto 56">
            <a:extLst>
              <a:ext uri="{FF2B5EF4-FFF2-40B4-BE49-F238E27FC236}">
                <a16:creationId xmlns:a16="http://schemas.microsoft.com/office/drawing/2014/main" id="{7A79A8FC-BEDC-BE63-1FB7-F1310641B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5286375"/>
            <a:ext cx="28575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74" name="CaixaDeTexto 57">
            <a:extLst>
              <a:ext uri="{FF2B5EF4-FFF2-40B4-BE49-F238E27FC236}">
                <a16:creationId xmlns:a16="http://schemas.microsoft.com/office/drawing/2014/main" id="{F318853D-C19C-909D-BA82-9475BA0E8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5286375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75" name="CaixaDeTexto 58">
            <a:extLst>
              <a:ext uri="{FF2B5EF4-FFF2-40B4-BE49-F238E27FC236}">
                <a16:creationId xmlns:a16="http://schemas.microsoft.com/office/drawing/2014/main" id="{B6B2531F-7569-C8FC-F7E3-388B47D39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5286375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76" name="CaixaDeTexto 59">
            <a:extLst>
              <a:ext uri="{FF2B5EF4-FFF2-40B4-BE49-F238E27FC236}">
                <a16:creationId xmlns:a16="http://schemas.microsoft.com/office/drawing/2014/main" id="{4E1A4F2D-4AFB-F12C-7E34-F5D65B995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5286375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77" name="CaixaDeTexto 60">
            <a:extLst>
              <a:ext uri="{FF2B5EF4-FFF2-40B4-BE49-F238E27FC236}">
                <a16:creationId xmlns:a16="http://schemas.microsoft.com/office/drawing/2014/main" id="{D6483F6B-B022-0C12-91A9-1A22C279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5643563"/>
            <a:ext cx="28575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78" name="CaixaDeTexto 61">
            <a:extLst>
              <a:ext uri="{FF2B5EF4-FFF2-40B4-BE49-F238E27FC236}">
                <a16:creationId xmlns:a16="http://schemas.microsoft.com/office/drawing/2014/main" id="{B061C14B-8260-03B5-C2E3-EFE4AE1F3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564356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79" name="CaixaDeTexto 62">
            <a:extLst>
              <a:ext uri="{FF2B5EF4-FFF2-40B4-BE49-F238E27FC236}">
                <a16:creationId xmlns:a16="http://schemas.microsoft.com/office/drawing/2014/main" id="{EE18AC05-D72E-65F7-BC10-64B4DB5CA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564356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78880" name="CaixaDeTexto 63">
            <a:extLst>
              <a:ext uri="{FF2B5EF4-FFF2-40B4-BE49-F238E27FC236}">
                <a16:creationId xmlns:a16="http://schemas.microsoft.com/office/drawing/2014/main" id="{C480C206-8004-F888-8457-584B178C5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564356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65" name="Multiplicar 64">
            <a:extLst>
              <a:ext uri="{FF2B5EF4-FFF2-40B4-BE49-F238E27FC236}">
                <a16:creationId xmlns:a16="http://schemas.microsoft.com/office/drawing/2014/main" id="{6BF3B50F-9D70-B6B9-DD31-F90258B93EFF}"/>
              </a:ext>
            </a:extLst>
          </p:cNvPr>
          <p:cNvSpPr/>
          <p:nvPr/>
        </p:nvSpPr>
        <p:spPr>
          <a:xfrm>
            <a:off x="3143250" y="4214813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66" name="Multiplicar 65">
            <a:extLst>
              <a:ext uri="{FF2B5EF4-FFF2-40B4-BE49-F238E27FC236}">
                <a16:creationId xmlns:a16="http://schemas.microsoft.com/office/drawing/2014/main" id="{036F6F31-0BE8-CF56-8614-B1F97B6F5193}"/>
              </a:ext>
            </a:extLst>
          </p:cNvPr>
          <p:cNvSpPr/>
          <p:nvPr/>
        </p:nvSpPr>
        <p:spPr>
          <a:xfrm>
            <a:off x="4143375" y="4214813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67" name="Multiplicar 66">
            <a:extLst>
              <a:ext uri="{FF2B5EF4-FFF2-40B4-BE49-F238E27FC236}">
                <a16:creationId xmlns:a16="http://schemas.microsoft.com/office/drawing/2014/main" id="{70E9EB2F-CF22-8AC1-4A5A-1BC574A53EDE}"/>
              </a:ext>
            </a:extLst>
          </p:cNvPr>
          <p:cNvSpPr/>
          <p:nvPr/>
        </p:nvSpPr>
        <p:spPr>
          <a:xfrm>
            <a:off x="3643313" y="4572000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68" name="Multiplicar 67">
            <a:extLst>
              <a:ext uri="{FF2B5EF4-FFF2-40B4-BE49-F238E27FC236}">
                <a16:creationId xmlns:a16="http://schemas.microsoft.com/office/drawing/2014/main" id="{68C54979-39F2-277A-D774-B3367B41EB9C}"/>
              </a:ext>
            </a:extLst>
          </p:cNvPr>
          <p:cNvSpPr/>
          <p:nvPr/>
        </p:nvSpPr>
        <p:spPr>
          <a:xfrm>
            <a:off x="4214813" y="4572000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69" name="Multiplicar 68">
            <a:extLst>
              <a:ext uri="{FF2B5EF4-FFF2-40B4-BE49-F238E27FC236}">
                <a16:creationId xmlns:a16="http://schemas.microsoft.com/office/drawing/2014/main" id="{787098CF-366F-CB38-C06D-F2484120E18A}"/>
              </a:ext>
            </a:extLst>
          </p:cNvPr>
          <p:cNvSpPr/>
          <p:nvPr/>
        </p:nvSpPr>
        <p:spPr>
          <a:xfrm>
            <a:off x="4786313" y="4572000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0" name="Multiplicar 69">
            <a:extLst>
              <a:ext uri="{FF2B5EF4-FFF2-40B4-BE49-F238E27FC236}">
                <a16:creationId xmlns:a16="http://schemas.microsoft.com/office/drawing/2014/main" id="{DAB1B25E-9775-0E4B-2221-F574CAC3761B}"/>
              </a:ext>
            </a:extLst>
          </p:cNvPr>
          <p:cNvSpPr/>
          <p:nvPr/>
        </p:nvSpPr>
        <p:spPr>
          <a:xfrm>
            <a:off x="3143250" y="4929188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1" name="Multiplicar 70">
            <a:extLst>
              <a:ext uri="{FF2B5EF4-FFF2-40B4-BE49-F238E27FC236}">
                <a16:creationId xmlns:a16="http://schemas.microsoft.com/office/drawing/2014/main" id="{A2D0440E-722A-4171-C920-DD5927292EBF}"/>
              </a:ext>
            </a:extLst>
          </p:cNvPr>
          <p:cNvSpPr/>
          <p:nvPr/>
        </p:nvSpPr>
        <p:spPr>
          <a:xfrm>
            <a:off x="4214813" y="5000625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2" name="Fluxograma: Somador 71">
            <a:extLst>
              <a:ext uri="{FF2B5EF4-FFF2-40B4-BE49-F238E27FC236}">
                <a16:creationId xmlns:a16="http://schemas.microsoft.com/office/drawing/2014/main" id="{D7F86429-237E-CE29-E005-13227C6CD42C}"/>
              </a:ext>
            </a:extLst>
          </p:cNvPr>
          <p:cNvSpPr/>
          <p:nvPr/>
        </p:nvSpPr>
        <p:spPr>
          <a:xfrm>
            <a:off x="3714750" y="4214813"/>
            <a:ext cx="214313" cy="285750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3" name="Fluxograma: Somador 72">
            <a:extLst>
              <a:ext uri="{FF2B5EF4-FFF2-40B4-BE49-F238E27FC236}">
                <a16:creationId xmlns:a16="http://schemas.microsoft.com/office/drawing/2014/main" id="{694493FF-D7E5-3460-7B03-9075E004A435}"/>
              </a:ext>
            </a:extLst>
          </p:cNvPr>
          <p:cNvSpPr/>
          <p:nvPr/>
        </p:nvSpPr>
        <p:spPr>
          <a:xfrm>
            <a:off x="4857750" y="5643563"/>
            <a:ext cx="214313" cy="285750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4" name="Fluxograma: Extrair 73">
            <a:extLst>
              <a:ext uri="{FF2B5EF4-FFF2-40B4-BE49-F238E27FC236}">
                <a16:creationId xmlns:a16="http://schemas.microsoft.com/office/drawing/2014/main" id="{615E1755-367F-A721-D9EF-4813375E98FC}"/>
              </a:ext>
            </a:extLst>
          </p:cNvPr>
          <p:cNvSpPr/>
          <p:nvPr/>
        </p:nvSpPr>
        <p:spPr>
          <a:xfrm>
            <a:off x="4786313" y="4286250"/>
            <a:ext cx="357187" cy="214313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5" name="Fluxograma: Extrair 74">
            <a:extLst>
              <a:ext uri="{FF2B5EF4-FFF2-40B4-BE49-F238E27FC236}">
                <a16:creationId xmlns:a16="http://schemas.microsoft.com/office/drawing/2014/main" id="{1D19E29A-D353-2EF6-E3F7-B9BBD7434FF8}"/>
              </a:ext>
            </a:extLst>
          </p:cNvPr>
          <p:cNvSpPr/>
          <p:nvPr/>
        </p:nvSpPr>
        <p:spPr>
          <a:xfrm>
            <a:off x="3214688" y="4643438"/>
            <a:ext cx="357187" cy="214312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6" name="Fluxograma: Extrair 75">
            <a:extLst>
              <a:ext uri="{FF2B5EF4-FFF2-40B4-BE49-F238E27FC236}">
                <a16:creationId xmlns:a16="http://schemas.microsoft.com/office/drawing/2014/main" id="{D8B5CB6B-A0C8-045B-CB85-E7C0C0EEE612}"/>
              </a:ext>
            </a:extLst>
          </p:cNvPr>
          <p:cNvSpPr/>
          <p:nvPr/>
        </p:nvSpPr>
        <p:spPr>
          <a:xfrm>
            <a:off x="3643313" y="5000625"/>
            <a:ext cx="357187" cy="214313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7" name="Fluxograma: Somador 76">
            <a:extLst>
              <a:ext uri="{FF2B5EF4-FFF2-40B4-BE49-F238E27FC236}">
                <a16:creationId xmlns:a16="http://schemas.microsoft.com/office/drawing/2014/main" id="{EE27B62F-F742-5010-7F64-291D0D0E1B91}"/>
              </a:ext>
            </a:extLst>
          </p:cNvPr>
          <p:cNvSpPr/>
          <p:nvPr/>
        </p:nvSpPr>
        <p:spPr>
          <a:xfrm>
            <a:off x="4857750" y="4929188"/>
            <a:ext cx="214313" cy="285750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8" name="Fluxograma: Extrair 77">
            <a:extLst>
              <a:ext uri="{FF2B5EF4-FFF2-40B4-BE49-F238E27FC236}">
                <a16:creationId xmlns:a16="http://schemas.microsoft.com/office/drawing/2014/main" id="{0B6031B8-F1C4-BCAB-A6FA-3FD5D32D5A8B}"/>
              </a:ext>
            </a:extLst>
          </p:cNvPr>
          <p:cNvSpPr/>
          <p:nvPr/>
        </p:nvSpPr>
        <p:spPr>
          <a:xfrm>
            <a:off x="3214688" y="5357813"/>
            <a:ext cx="357187" cy="214312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9" name="Multiplicar 78">
            <a:extLst>
              <a:ext uri="{FF2B5EF4-FFF2-40B4-BE49-F238E27FC236}">
                <a16:creationId xmlns:a16="http://schemas.microsoft.com/office/drawing/2014/main" id="{8BC36E2E-8930-AFDA-29FD-0C4FA400E301}"/>
              </a:ext>
            </a:extLst>
          </p:cNvPr>
          <p:cNvSpPr/>
          <p:nvPr/>
        </p:nvSpPr>
        <p:spPr>
          <a:xfrm>
            <a:off x="3643313" y="5286375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80" name="Fluxograma: Extrair 79">
            <a:extLst>
              <a:ext uri="{FF2B5EF4-FFF2-40B4-BE49-F238E27FC236}">
                <a16:creationId xmlns:a16="http://schemas.microsoft.com/office/drawing/2014/main" id="{AFE89FB8-53AC-9E7B-E323-6985684CBCE4}"/>
              </a:ext>
            </a:extLst>
          </p:cNvPr>
          <p:cNvSpPr/>
          <p:nvPr/>
        </p:nvSpPr>
        <p:spPr>
          <a:xfrm>
            <a:off x="4214813" y="5286375"/>
            <a:ext cx="357187" cy="214313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81" name="Fluxograma: Conector 80">
            <a:extLst>
              <a:ext uri="{FF2B5EF4-FFF2-40B4-BE49-F238E27FC236}">
                <a16:creationId xmlns:a16="http://schemas.microsoft.com/office/drawing/2014/main" id="{03A7ACD1-0356-D71F-A6E2-346CD2F8A96D}"/>
              </a:ext>
            </a:extLst>
          </p:cNvPr>
          <p:cNvSpPr/>
          <p:nvPr/>
        </p:nvSpPr>
        <p:spPr>
          <a:xfrm>
            <a:off x="4857750" y="5286375"/>
            <a:ext cx="285750" cy="28575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82" name="Fluxograma: Extrair 81">
            <a:extLst>
              <a:ext uri="{FF2B5EF4-FFF2-40B4-BE49-F238E27FC236}">
                <a16:creationId xmlns:a16="http://schemas.microsoft.com/office/drawing/2014/main" id="{993538AE-978D-C1C1-18FF-9C46141344DE}"/>
              </a:ext>
            </a:extLst>
          </p:cNvPr>
          <p:cNvSpPr/>
          <p:nvPr/>
        </p:nvSpPr>
        <p:spPr>
          <a:xfrm>
            <a:off x="3214688" y="5715000"/>
            <a:ext cx="357187" cy="214313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83" name="Multiplicar 82">
            <a:extLst>
              <a:ext uri="{FF2B5EF4-FFF2-40B4-BE49-F238E27FC236}">
                <a16:creationId xmlns:a16="http://schemas.microsoft.com/office/drawing/2014/main" id="{0695B0F2-A241-8FBE-3678-928D736984F6}"/>
              </a:ext>
            </a:extLst>
          </p:cNvPr>
          <p:cNvSpPr/>
          <p:nvPr/>
        </p:nvSpPr>
        <p:spPr>
          <a:xfrm>
            <a:off x="3643313" y="5715000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84" name="Multiplicar 83">
            <a:extLst>
              <a:ext uri="{FF2B5EF4-FFF2-40B4-BE49-F238E27FC236}">
                <a16:creationId xmlns:a16="http://schemas.microsoft.com/office/drawing/2014/main" id="{2AE8A9CB-7E4C-CE23-B2CC-DE72C709101E}"/>
              </a:ext>
            </a:extLst>
          </p:cNvPr>
          <p:cNvSpPr/>
          <p:nvPr/>
        </p:nvSpPr>
        <p:spPr>
          <a:xfrm>
            <a:off x="4214813" y="5715000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8901" name="CaixaDeTexto 84">
            <a:extLst>
              <a:ext uri="{FF2B5EF4-FFF2-40B4-BE49-F238E27FC236}">
                <a16:creationId xmlns:a16="http://schemas.microsoft.com/office/drawing/2014/main" id="{6436E0BF-8FB4-CECE-F599-77873256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1785938"/>
            <a:ext cx="2000250" cy="5238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REQUISITOS DE PROJETO</a:t>
            </a:r>
          </a:p>
        </p:txBody>
      </p:sp>
      <p:sp>
        <p:nvSpPr>
          <p:cNvPr id="78902" name="CaixaDeTexto 85">
            <a:extLst>
              <a:ext uri="{FF2B5EF4-FFF2-40B4-BE49-F238E27FC236}">
                <a16:creationId xmlns:a16="http://schemas.microsoft.com/office/drawing/2014/main" id="{0396F5FB-8F01-06E5-2F41-8E44EA07E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571875"/>
            <a:ext cx="2000250" cy="5238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REQUISITOS DOS CLIENTES </a:t>
            </a:r>
          </a:p>
        </p:txBody>
      </p:sp>
      <p:sp>
        <p:nvSpPr>
          <p:cNvPr id="78903" name="CaixaDeTexto 86">
            <a:extLst>
              <a:ext uri="{FF2B5EF4-FFF2-40B4-BE49-F238E27FC236}">
                <a16:creationId xmlns:a16="http://schemas.microsoft.com/office/drawing/2014/main" id="{72EFA236-3C7F-4E90-5F61-FF372CFE4E16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368801" y="2846387"/>
            <a:ext cx="228600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Valor de importância</a:t>
            </a:r>
          </a:p>
        </p:txBody>
      </p:sp>
      <p:sp>
        <p:nvSpPr>
          <p:cNvPr id="78904" name="CaixaDeTexto 87">
            <a:extLst>
              <a:ext uri="{FF2B5EF4-FFF2-40B4-BE49-F238E27FC236}">
                <a16:creationId xmlns:a16="http://schemas.microsoft.com/office/drawing/2014/main" id="{19663053-02EB-E692-47C4-6A82750ED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4214813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4</a:t>
            </a:r>
          </a:p>
        </p:txBody>
      </p:sp>
      <p:sp>
        <p:nvSpPr>
          <p:cNvPr id="78905" name="CaixaDeTexto 88">
            <a:extLst>
              <a:ext uri="{FF2B5EF4-FFF2-40B4-BE49-F238E27FC236}">
                <a16:creationId xmlns:a16="http://schemas.microsoft.com/office/drawing/2014/main" id="{6EB4E786-F07F-E9DC-C5AB-EA26DE3AA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4643438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4</a:t>
            </a:r>
          </a:p>
        </p:txBody>
      </p:sp>
      <p:sp>
        <p:nvSpPr>
          <p:cNvPr id="78906" name="CaixaDeTexto 89">
            <a:extLst>
              <a:ext uri="{FF2B5EF4-FFF2-40B4-BE49-F238E27FC236}">
                <a16:creationId xmlns:a16="http://schemas.microsoft.com/office/drawing/2014/main" id="{2F2559E8-2AEB-3A67-3A36-06302A683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5000625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5</a:t>
            </a:r>
          </a:p>
        </p:txBody>
      </p:sp>
      <p:sp>
        <p:nvSpPr>
          <p:cNvPr id="78907" name="CaixaDeTexto 90">
            <a:extLst>
              <a:ext uri="{FF2B5EF4-FFF2-40B4-BE49-F238E27FC236}">
                <a16:creationId xmlns:a16="http://schemas.microsoft.com/office/drawing/2014/main" id="{43A66660-851F-CDAE-4862-89C02D3DD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5357813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3</a:t>
            </a:r>
          </a:p>
        </p:txBody>
      </p:sp>
      <p:sp>
        <p:nvSpPr>
          <p:cNvPr id="78908" name="CaixaDeTexto 91">
            <a:extLst>
              <a:ext uri="{FF2B5EF4-FFF2-40B4-BE49-F238E27FC236}">
                <a16:creationId xmlns:a16="http://schemas.microsoft.com/office/drawing/2014/main" id="{2CBF8F36-91B8-45C2-898E-BE8B1678D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5715000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5</a:t>
            </a:r>
          </a:p>
        </p:txBody>
      </p:sp>
      <p:sp>
        <p:nvSpPr>
          <p:cNvPr id="78909" name="CaixaDeTexto 92">
            <a:extLst>
              <a:ext uri="{FF2B5EF4-FFF2-40B4-BE49-F238E27FC236}">
                <a16:creationId xmlns:a16="http://schemas.microsoft.com/office/drawing/2014/main" id="{4075D11C-75A5-F921-9E37-EDE0319C4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6072188"/>
            <a:ext cx="23574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Valor de importância</a:t>
            </a:r>
          </a:p>
        </p:txBody>
      </p:sp>
      <p:sp>
        <p:nvSpPr>
          <p:cNvPr id="78910" name="CaixaDeTexto 93">
            <a:extLst>
              <a:ext uri="{FF2B5EF4-FFF2-40B4-BE49-F238E27FC236}">
                <a16:creationId xmlns:a16="http://schemas.microsoft.com/office/drawing/2014/main" id="{50CB8B87-4A53-2E27-3D94-39928F4D3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6072188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9</a:t>
            </a:r>
          </a:p>
        </p:txBody>
      </p:sp>
      <p:sp>
        <p:nvSpPr>
          <p:cNvPr id="78911" name="CaixaDeTexto 94">
            <a:extLst>
              <a:ext uri="{FF2B5EF4-FFF2-40B4-BE49-F238E27FC236}">
                <a16:creationId xmlns:a16="http://schemas.microsoft.com/office/drawing/2014/main" id="{9B1D979E-083F-1AEE-562F-96A185871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13" y="6072188"/>
            <a:ext cx="500062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25</a:t>
            </a:r>
          </a:p>
        </p:txBody>
      </p:sp>
      <p:sp>
        <p:nvSpPr>
          <p:cNvPr id="78912" name="CaixaDeTexto 95">
            <a:extLst>
              <a:ext uri="{FF2B5EF4-FFF2-40B4-BE49-F238E27FC236}">
                <a16:creationId xmlns:a16="http://schemas.microsoft.com/office/drawing/2014/main" id="{5D7ADE03-C919-648E-D888-288AC6C39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813" y="6072188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3</a:t>
            </a:r>
          </a:p>
        </p:txBody>
      </p:sp>
      <p:sp>
        <p:nvSpPr>
          <p:cNvPr id="78913" name="CaixaDeTexto 96">
            <a:extLst>
              <a:ext uri="{FF2B5EF4-FFF2-40B4-BE49-F238E27FC236}">
                <a16:creationId xmlns:a16="http://schemas.microsoft.com/office/drawing/2014/main" id="{150270AE-0D67-4674-81A0-5E8A3252E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6072188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63</a:t>
            </a:r>
          </a:p>
        </p:txBody>
      </p:sp>
      <p:sp>
        <p:nvSpPr>
          <p:cNvPr id="78914" name="CaixaDeTexto 97">
            <a:extLst>
              <a:ext uri="{FF2B5EF4-FFF2-40B4-BE49-F238E27FC236}">
                <a16:creationId xmlns:a16="http://schemas.microsoft.com/office/drawing/2014/main" id="{0962A479-7DD9-EB8B-F05A-C55C3B25F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188" y="2643188"/>
            <a:ext cx="25003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Conjunto de lentes adequado</a:t>
            </a:r>
          </a:p>
        </p:txBody>
      </p:sp>
      <p:sp>
        <p:nvSpPr>
          <p:cNvPr id="78915" name="CaixaDeTexto 99">
            <a:extLst>
              <a:ext uri="{FF2B5EF4-FFF2-40B4-BE49-F238E27FC236}">
                <a16:creationId xmlns:a16="http://schemas.microsoft.com/office/drawing/2014/main" id="{FC9B829A-338C-DDD9-821C-0A386B14E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3357563"/>
            <a:ext cx="27146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RP = 4X1 + 4X0 + 5X5 +3X3+5X5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RP = 63 </a:t>
            </a:r>
          </a:p>
        </p:txBody>
      </p:sp>
      <p:sp>
        <p:nvSpPr>
          <p:cNvPr id="78916" name="CaixaDeTexto 100">
            <a:extLst>
              <a:ext uri="{FF2B5EF4-FFF2-40B4-BE49-F238E27FC236}">
                <a16:creationId xmlns:a16="http://schemas.microsoft.com/office/drawing/2014/main" id="{35B85A6B-23D2-6B2B-A7B9-B57E02AD1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6429375"/>
            <a:ext cx="23574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Classificação importância</a:t>
            </a:r>
          </a:p>
        </p:txBody>
      </p:sp>
      <p:sp>
        <p:nvSpPr>
          <p:cNvPr id="78917" name="CaixaDeTexto 101">
            <a:extLst>
              <a:ext uri="{FF2B5EF4-FFF2-40B4-BE49-F238E27FC236}">
                <a16:creationId xmlns:a16="http://schemas.microsoft.com/office/drawing/2014/main" id="{2C075046-26BC-DAA8-E729-352B53B99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6429375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3</a:t>
            </a:r>
          </a:p>
        </p:txBody>
      </p:sp>
      <p:sp>
        <p:nvSpPr>
          <p:cNvPr id="78918" name="CaixaDeTexto 102">
            <a:extLst>
              <a:ext uri="{FF2B5EF4-FFF2-40B4-BE49-F238E27FC236}">
                <a16:creationId xmlns:a16="http://schemas.microsoft.com/office/drawing/2014/main" id="{AFDD8958-A94F-B2B8-6F4D-2B1F8B48F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13" y="6429375"/>
            <a:ext cx="500062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2</a:t>
            </a:r>
          </a:p>
        </p:txBody>
      </p:sp>
      <p:sp>
        <p:nvSpPr>
          <p:cNvPr id="78919" name="CaixaDeTexto 103">
            <a:extLst>
              <a:ext uri="{FF2B5EF4-FFF2-40B4-BE49-F238E27FC236}">
                <a16:creationId xmlns:a16="http://schemas.microsoft.com/office/drawing/2014/main" id="{DC0283B8-3ED1-0122-8B27-C5C8C6BC1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813" y="6429375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4</a:t>
            </a:r>
          </a:p>
        </p:txBody>
      </p:sp>
      <p:sp>
        <p:nvSpPr>
          <p:cNvPr id="78920" name="CaixaDeTexto 104">
            <a:extLst>
              <a:ext uri="{FF2B5EF4-FFF2-40B4-BE49-F238E27FC236}">
                <a16:creationId xmlns:a16="http://schemas.microsoft.com/office/drawing/2014/main" id="{C193F4D3-022A-BC81-A4D9-02C4E1F53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6429375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3" name="Picture 2">
            <a:extLst>
              <a:ext uri="{FF2B5EF4-FFF2-40B4-BE49-F238E27FC236}">
                <a16:creationId xmlns:a16="http://schemas.microsoft.com/office/drawing/2014/main" id="{8D7B6493-7A4D-8138-C63E-2A958660A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3" y="239713"/>
            <a:ext cx="8210550" cy="610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4" name="CaixaDeTexto 1">
            <a:extLst>
              <a:ext uri="{FF2B5EF4-FFF2-40B4-BE49-F238E27FC236}">
                <a16:creationId xmlns:a16="http://schemas.microsoft.com/office/drawing/2014/main" id="{D90BEC91-D205-8A15-EAF0-00926BAE5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4475" y="1119188"/>
            <a:ext cx="2470150" cy="400050"/>
          </a:xfrm>
          <a:prstGeom prst="rect">
            <a:avLst/>
          </a:prstGeom>
          <a:solidFill>
            <a:schemeClr val="bg1"/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CORRELAÇÃO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97" name="Grupo 1">
            <a:extLst>
              <a:ext uri="{FF2B5EF4-FFF2-40B4-BE49-F238E27FC236}">
                <a16:creationId xmlns:a16="http://schemas.microsoft.com/office/drawing/2014/main" id="{49DBBBF4-5B77-B653-C0E1-5F32AECE384F}"/>
              </a:ext>
            </a:extLst>
          </p:cNvPr>
          <p:cNvGrpSpPr>
            <a:grpSpLocks/>
          </p:cNvGrpSpPr>
          <p:nvPr/>
        </p:nvGrpSpPr>
        <p:grpSpPr bwMode="auto">
          <a:xfrm>
            <a:off x="3629025" y="369888"/>
            <a:ext cx="2368550" cy="1084262"/>
            <a:chOff x="4714876" y="4143380"/>
            <a:chExt cx="4214842" cy="1928826"/>
          </a:xfrm>
        </p:grpSpPr>
        <p:sp>
          <p:nvSpPr>
            <p:cNvPr id="3" name="Pergaminho vertical 2">
              <a:extLst>
                <a:ext uri="{FF2B5EF4-FFF2-40B4-BE49-F238E27FC236}">
                  <a16:creationId xmlns:a16="http://schemas.microsoft.com/office/drawing/2014/main" id="{F4A4D883-AB5E-8FC4-8BE5-98CED4D77BE7}"/>
                </a:ext>
              </a:extLst>
            </p:cNvPr>
            <p:cNvSpPr/>
            <p:nvPr/>
          </p:nvSpPr>
          <p:spPr>
            <a:xfrm>
              <a:off x="4714876" y="4143380"/>
              <a:ext cx="4214842" cy="1928826"/>
            </a:xfrm>
            <a:prstGeom prst="verticalScroll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sz="900"/>
            </a:p>
          </p:txBody>
        </p:sp>
        <p:pic>
          <p:nvPicPr>
            <p:cNvPr id="80901" name="Picture 8" descr="Untitled-2">
              <a:extLst>
                <a:ext uri="{FF2B5EF4-FFF2-40B4-BE49-F238E27FC236}">
                  <a16:creationId xmlns:a16="http://schemas.microsoft.com/office/drawing/2014/main" id="{EE9959AF-C82B-9D38-FE56-6D51F89BF2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3480" y="4896890"/>
              <a:ext cx="3459048" cy="961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902" name="CaixaDeTexto 7">
              <a:extLst>
                <a:ext uri="{FF2B5EF4-FFF2-40B4-BE49-F238E27FC236}">
                  <a16:creationId xmlns:a16="http://schemas.microsoft.com/office/drawing/2014/main" id="{BCC950E7-81F2-B20F-61D7-2CF975184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6" y="4508200"/>
              <a:ext cx="3214710" cy="465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100">
                  <a:latin typeface="Calibri" panose="020F0502020204030204" pitchFamily="34" charset="0"/>
                </a:rPr>
                <a:t>Lista de Especificações-Meta</a:t>
              </a:r>
            </a:p>
          </p:txBody>
        </p:sp>
      </p:grpSp>
      <p:graphicFrame>
        <p:nvGraphicFramePr>
          <p:cNvPr id="80898" name="Object 3">
            <a:extLst>
              <a:ext uri="{FF2B5EF4-FFF2-40B4-BE49-F238E27FC236}">
                <a16:creationId xmlns:a16="http://schemas.microsoft.com/office/drawing/2014/main" id="{9F2D3B01-3381-0188-6E36-13771C4773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325" y="1811338"/>
          <a:ext cx="8418513" cy="504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18364200" imgH="13042900" progId="Word.Picture.8">
                  <p:embed/>
                </p:oleObj>
              </mc:Choice>
              <mc:Fallback>
                <p:oleObj name="Figura" r:id="rId3" imgW="18364200" imgH="13042900" progId="Word.Picture.8">
                  <p:embed/>
                  <p:pic>
                    <p:nvPicPr>
                      <p:cNvPr id="80898" name="Object 3">
                        <a:extLst>
                          <a:ext uri="{FF2B5EF4-FFF2-40B4-BE49-F238E27FC236}">
                            <a16:creationId xmlns:a16="http://schemas.microsoft.com/office/drawing/2014/main" id="{9F2D3B01-3381-0188-6E36-13771C4773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09" t="2307" r="1146" b="6691"/>
                      <a:stretch>
                        <a:fillRect/>
                      </a:stretch>
                    </p:blipFill>
                    <p:spPr bwMode="auto">
                      <a:xfrm>
                        <a:off x="441325" y="1811338"/>
                        <a:ext cx="8418513" cy="504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0899" name="Picture 4" descr="Untitled-4">
            <a:extLst>
              <a:ext uri="{FF2B5EF4-FFF2-40B4-BE49-F238E27FC236}">
                <a16:creationId xmlns:a16="http://schemas.microsoft.com/office/drawing/2014/main" id="{D555E833-7195-681A-B4D8-AD21292EB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-381000"/>
            <a:ext cx="1571625" cy="22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501904-71EC-46BB-ABE0-4F3923FC8A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AD2776-B02B-4C35-9873-BBF28C60C6A3}">
  <ds:schemaRefs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0616edac-8b85-431d-b1bb-a5cc9cdccc91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D275A2C-6717-462E-97EA-702B0A489D7A}"/>
</file>

<file path=docProps/app.xml><?xml version="1.0" encoding="utf-8"?>
<Properties xmlns="http://schemas.openxmlformats.org/officeDocument/2006/extended-properties" xmlns:vt="http://schemas.openxmlformats.org/officeDocument/2006/docPropsVTypes">
  <TotalTime>4080</TotalTime>
  <Words>3228</Words>
  <Application>Microsoft Macintosh PowerPoint</Application>
  <PresentationFormat>Apresentação na tela (4:3)</PresentationFormat>
  <Paragraphs>548</Paragraphs>
  <Slides>60</Slides>
  <Notes>13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60</vt:i4>
      </vt:variant>
    </vt:vector>
  </HeadingPairs>
  <TitlesOfParts>
    <vt:vector size="68" baseType="lpstr">
      <vt:lpstr>Arial</vt:lpstr>
      <vt:lpstr>Calibri</vt:lpstr>
      <vt:lpstr>Times New Roman</vt:lpstr>
      <vt:lpstr>Verdana</vt:lpstr>
      <vt:lpstr>Wingdings 2</vt:lpstr>
      <vt:lpstr>Design padrão</vt:lpstr>
      <vt:lpstr>Picture</vt:lpstr>
      <vt:lpstr>Figura</vt:lpstr>
      <vt:lpstr>Apresentação do PowerPoint</vt:lpstr>
      <vt:lpstr>Apresentação do PowerPoint</vt:lpstr>
      <vt:lpstr>Apresentação do PowerPoint</vt:lpstr>
      <vt:lpstr>Apresentação do PowerPoint</vt:lpstr>
      <vt:lpstr>3. DEFINIR REQUISITOS DOS CLIENTES</vt:lpstr>
      <vt:lpstr>Requisitos dos Clientes</vt:lpstr>
      <vt:lpstr>ATRIBUTOS DO PRODUTO</vt:lpstr>
      <vt:lpstr>ATRIBUTOS TÉCNICOS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Conversão dos Dados  Originais em Req. dos Clientes</vt:lpstr>
      <vt:lpstr>Apresentação do PowerPoint</vt:lpstr>
      <vt:lpstr>Apresentação do PowerPoint</vt:lpstr>
      <vt:lpstr>Valorar Requisitos  dos Clientes</vt:lpstr>
      <vt:lpstr>Apresentação do PowerPoint</vt:lpstr>
      <vt:lpstr>Apresentação do PowerPoint</vt:lpstr>
      <vt:lpstr>1. Diagrama de Kano</vt:lpstr>
      <vt:lpstr>Diagrama de Kano</vt:lpstr>
      <vt:lpstr>2. BENCHMARKING</vt:lpstr>
      <vt:lpstr>3. DIAGRAMA DE MUDGE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Aplicação na  Casa da Qualidade</vt:lpstr>
      <vt:lpstr>CQ de um Retroprojetor</vt:lpstr>
      <vt:lpstr>Apresentação do PowerPoint</vt:lpstr>
      <vt:lpstr>Histórico</vt:lpstr>
      <vt:lpstr>Abrangência</vt:lpstr>
      <vt:lpstr>ABRANGÊNCIA</vt:lpstr>
      <vt:lpstr>Requisitos de Projeto</vt:lpstr>
      <vt:lpstr>QFD </vt:lpstr>
      <vt:lpstr>Apresentação do PowerPoint</vt:lpstr>
      <vt:lpstr>Apresentação do PowerPoint</vt:lpstr>
      <vt:lpstr>Matriz da Casa da Qualidade do QFD</vt:lpstr>
      <vt:lpstr>Requisitos dos clientes</vt:lpstr>
      <vt:lpstr>Requisitos dos clientes</vt:lpstr>
      <vt:lpstr>Requisitos dos clientes</vt:lpstr>
      <vt:lpstr>Apresentação do PowerPoint</vt:lpstr>
      <vt:lpstr>Requisitos dos clientes</vt:lpstr>
      <vt:lpstr>Apresentação do PowerPoint</vt:lpstr>
      <vt:lpstr>Requisitos dos clientes</vt:lpstr>
      <vt:lpstr>Importância dos requisitos dos clientes</vt:lpstr>
      <vt:lpstr>BENCHMARKING COMPETITIVO</vt:lpstr>
      <vt:lpstr>REQUISITOS DE PROJETO</vt:lpstr>
      <vt:lpstr>Exemplo do retroprojetor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Forcellini</dc:creator>
  <cp:lastModifiedBy>Andrea Cristina dos Santos</cp:lastModifiedBy>
  <cp:revision>300</cp:revision>
  <dcterms:created xsi:type="dcterms:W3CDTF">2005-02-20T23:18:54Z</dcterms:created>
  <dcterms:modified xsi:type="dcterms:W3CDTF">2024-12-03T19:49:59Z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