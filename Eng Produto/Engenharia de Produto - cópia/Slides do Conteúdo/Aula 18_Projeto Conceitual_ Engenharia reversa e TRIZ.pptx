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833" r:id="rId5"/>
    <p:sldId id="1000" r:id="rId6"/>
    <p:sldId id="851" r:id="rId7"/>
    <p:sldId id="1004" r:id="rId8"/>
    <p:sldId id="1005" r:id="rId9"/>
    <p:sldId id="1006" r:id="rId10"/>
    <p:sldId id="1007" r:id="rId11"/>
    <p:sldId id="1008" r:id="rId12"/>
    <p:sldId id="1009" r:id="rId13"/>
    <p:sldId id="901" r:id="rId14"/>
    <p:sldId id="904" r:id="rId15"/>
    <p:sldId id="969" r:id="rId16"/>
    <p:sldId id="970" r:id="rId17"/>
    <p:sldId id="265" r:id="rId18"/>
    <p:sldId id="839" r:id="rId19"/>
    <p:sldId id="840" r:id="rId20"/>
    <p:sldId id="842" r:id="rId21"/>
    <p:sldId id="276" r:id="rId22"/>
    <p:sldId id="308" r:id="rId23"/>
    <p:sldId id="300" r:id="rId24"/>
    <p:sldId id="843" r:id="rId25"/>
    <p:sldId id="264" r:id="rId26"/>
    <p:sldId id="283" r:id="rId27"/>
    <p:sldId id="284" r:id="rId28"/>
    <p:sldId id="285" r:id="rId29"/>
    <p:sldId id="286" r:id="rId30"/>
    <p:sldId id="287" r:id="rId31"/>
    <p:sldId id="309" r:id="rId32"/>
    <p:sldId id="288" r:id="rId33"/>
    <p:sldId id="289" r:id="rId34"/>
    <p:sldId id="290" r:id="rId35"/>
    <p:sldId id="310" r:id="rId36"/>
    <p:sldId id="291" r:id="rId37"/>
    <p:sldId id="292" r:id="rId38"/>
    <p:sldId id="376" r:id="rId39"/>
    <p:sldId id="844" r:id="rId40"/>
    <p:sldId id="1002" r:id="rId41"/>
    <p:sldId id="1003" r:id="rId42"/>
    <p:sldId id="293" r:id="rId43"/>
    <p:sldId id="294" r:id="rId44"/>
    <p:sldId id="847" r:id="rId45"/>
    <p:sldId id="848" r:id="rId46"/>
    <p:sldId id="301" r:id="rId47"/>
    <p:sldId id="295" r:id="rId48"/>
    <p:sldId id="302" r:id="rId49"/>
    <p:sldId id="298" r:id="rId50"/>
    <p:sldId id="305" r:id="rId51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28E9AD-02FD-1B48-AA3A-B68816E9702F}" v="15" dt="2025-06-02T21:04:58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575"/>
  </p:normalViewPr>
  <p:slideViewPr>
    <p:cSldViewPr snapToGrid="0">
      <p:cViewPr varScale="1">
        <p:scale>
          <a:sx n="107" d="100"/>
          <a:sy n="107" d="100"/>
        </p:scale>
        <p:origin x="1768" y="168"/>
      </p:cViewPr>
      <p:guideLst>
        <p:guide orient="horz" pos="21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E7828AA-0121-0F4B-98A3-753450DE21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lnSpc>
                <a:spcPct val="8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BA91E46-38C1-BC45-9AD2-BCFE9AE2DE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C9F3C73F-2B9C-654F-B281-F3F700B3010F}" type="datetimeFigureOut">
              <a:rPr lang="pt-BR" altLang="pt-BR"/>
              <a:pPr>
                <a:defRPr/>
              </a:pPr>
              <a:t>02/06/2025</a:t>
            </a:fld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2BFCC7D-0970-0343-A172-6B99F555B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lnSpc>
                <a:spcPct val="8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5B59125-D402-754D-B176-1997182FA4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 smtClean="0"/>
            </a:lvl1pPr>
          </a:lstStyle>
          <a:p>
            <a:pPr>
              <a:defRPr/>
            </a:pPr>
            <a:fld id="{86E88DDE-AA6A-5146-8194-15A0F05DB2B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076B43F-1CEC-4C40-B286-B85BBB53CE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C938586-214D-8445-8D46-DA171B4EDEB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DCC63E3C-B52B-E546-B37C-8676728B911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BAF5EA93-C6EA-374A-9E56-D9DD6E4129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noProof="0"/>
              <a:t>Clique para editar os estilos do texto mestre</a:t>
            </a:r>
          </a:p>
          <a:p>
            <a:pPr lvl="1"/>
            <a:r>
              <a:rPr lang="pt-BR" altLang="pt-BR" noProof="0"/>
              <a:t>Segundo nível</a:t>
            </a:r>
          </a:p>
          <a:p>
            <a:pPr lvl="2"/>
            <a:r>
              <a:rPr lang="pt-BR" altLang="pt-BR" noProof="0"/>
              <a:t>Terceiro nível</a:t>
            </a:r>
          </a:p>
          <a:p>
            <a:pPr lvl="3"/>
            <a:r>
              <a:rPr lang="pt-BR" altLang="pt-BR" noProof="0"/>
              <a:t>Quarto nível</a:t>
            </a:r>
          </a:p>
          <a:p>
            <a:pPr lvl="4"/>
            <a:r>
              <a:rPr lang="pt-BR" alt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FADB581F-8904-424D-B1A0-DE434E5B3A0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18526430-648D-254B-9894-A392E8F9EB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021EBDD7-747D-4745-BC9D-745D17A225A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6C852CEE-EEED-5844-B81E-2BABABDC7A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3609CD-6309-E14F-B387-1E34CEF62AB7}" type="slidenum">
              <a:rPr lang="pt-BR" altLang="pt-BR" sz="1300" smtClean="0"/>
              <a:pPr/>
              <a:t>10</a:t>
            </a:fld>
            <a:endParaRPr lang="pt-BR" altLang="pt-BR" sz="13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9606518F-F6F7-0C41-8962-2CACD78A21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4224DF54-5530-8B4A-BF1E-DE0C0E912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Espaço Reservado para Imagem de Slide 1">
            <a:extLst>
              <a:ext uri="{FF2B5EF4-FFF2-40B4-BE49-F238E27FC236}">
                <a16:creationId xmlns:a16="http://schemas.microsoft.com/office/drawing/2014/main" id="{3D31657D-90F2-6043-9828-67507CC5D6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Espaço Reservado para Anotações 2">
            <a:extLst>
              <a:ext uri="{FF2B5EF4-FFF2-40B4-BE49-F238E27FC236}">
                <a16:creationId xmlns:a16="http://schemas.microsoft.com/office/drawing/2014/main" id="{B784EC1E-D2D0-FE4B-922C-2CC9344A0B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-Mercedes-Benz apresenta o veículo conceito Bionic Car, com formas inspiradas em um peixe.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-Apresentado durante o Simpósio de Inovação da DaimlerChrysler em 2005.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-Buscou-se na natureza algo que não apenas se aproximasse à idéia de um carro aerodinâmico, seguro, confortável e ambientalmente compatível em termos de detalhes, mas como um conjunto formal e estrutural. 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-O Peixe-Cofre.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   -Este peixe tropical tem marcantes linhas fluidas. 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-Carro compacto funcional com um comprimento de 4,24 metros e espaço para quatro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ocupantes, mais bagagem. 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 -Cd de apenas 0,19 -&gt; este veículo conceito está entre os mais eficientes em sua categoria de tamanho.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-O Peixe-Cofre também é um exemplo primordial de rigidez e peso leve. </a:t>
            </a:r>
          </a:p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      -Carcaça hexagonal, com numerosas placas ósseas que proporcionam máxima resistência com um mínimo de peso e, efetivamente, protegem o animal de ferimentos.</a:t>
            </a:r>
          </a:p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26627" name="Espaço Reservado para Número de Slide 3">
            <a:extLst>
              <a:ext uri="{FF2B5EF4-FFF2-40B4-BE49-F238E27FC236}">
                <a16:creationId xmlns:a16="http://schemas.microsoft.com/office/drawing/2014/main" id="{0438DCEB-A075-C740-B8B6-B6F0B0CC8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8BEFDE-C826-764A-8D43-4E3D921D6D7C}" type="slidenum">
              <a:rPr lang="pt-BR" altLang="pt-BR" sz="1300" smtClean="0"/>
              <a:pPr/>
              <a:t>11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D9CB5184-AEAD-074E-8CFF-0637CAEE1A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91D9029-B9ED-7443-B486-2CEEE80B736D}" type="slidenum">
              <a:rPr lang="pt-BR" altLang="pt-BR" sz="1300"/>
              <a:pPr/>
              <a:t>15</a:t>
            </a:fld>
            <a:endParaRPr lang="pt-BR" altLang="pt-BR" sz="13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5262BD1C-D874-F346-A28C-080E492696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ACEC9ED-372F-DE49-A40C-71206C752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7757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3492F601-F187-A746-9E89-879D02142A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857CF7E-36E8-E642-9DAF-B8C165B84ABF}" type="slidenum">
              <a:rPr lang="pt-BR" altLang="pt-BR" sz="1300"/>
              <a:pPr/>
              <a:t>16</a:t>
            </a:fld>
            <a:endParaRPr lang="pt-BR" altLang="pt-BR" sz="13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930D1F30-E824-2E47-9B7F-904C826F9E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AC16F9F-1073-DC49-A04F-BEF6D9570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8540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A66E31E-B330-1045-A242-A191B6334E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2A66ABA-7128-3648-8DEE-7F912BAA877F}" type="slidenum">
              <a:rPr lang="pt-BR" altLang="pt-BR" sz="1300"/>
              <a:pPr/>
              <a:t>17</a:t>
            </a:fld>
            <a:endParaRPr lang="pt-BR" altLang="pt-BR" sz="13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0AE1976E-EF79-0E47-B09E-C1E1FEE7B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12BB4350-48B7-3D48-914B-48D24738D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8265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5478E96C-78EE-6747-9C99-E021C7ECDC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DE9EC3C-75EA-594D-BB71-EF5DE1EB3C4A}" type="slidenum">
              <a:rPr lang="pt-BR" altLang="pt-BR" sz="1300"/>
              <a:pPr/>
              <a:t>18</a:t>
            </a:fld>
            <a:endParaRPr lang="pt-BR" altLang="pt-BR" sz="13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1AE51A1B-585C-114C-AE00-91015788C9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98B6FDF-392F-8B47-9F0B-7E8E66BD35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2206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A8CC4AAB-5DF1-6247-BE14-726350331A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D6B71E2-6DF1-D840-BD54-36E5FDB5BBF3}" type="slidenum">
              <a:rPr lang="pt-BR" altLang="pt-BR" sz="1300"/>
              <a:pPr/>
              <a:t>19</a:t>
            </a:fld>
            <a:endParaRPr lang="pt-BR" altLang="pt-BR" sz="13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C407AC0E-E32C-A543-B0CB-10FED1C42FB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975787F-0BA3-E940-91C2-EB1333FF1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91224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F4D29210-4D28-504A-A22C-C8B6148E37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505EE09-0A32-3D49-9E60-70D520D63902}" type="slidenum">
              <a:rPr lang="pt-BR" altLang="pt-BR" sz="1300"/>
              <a:pPr/>
              <a:t>20</a:t>
            </a:fld>
            <a:endParaRPr lang="pt-BR" altLang="pt-BR" sz="13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357A56B9-BA7A-AF4F-82AD-1F86CBD0FF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E070DF1-34D1-0D4F-8D68-EE6BE0614F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38657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C5BDE6CB-982A-8748-9E31-0AC43B9497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5AC8EC0-1FFA-AC40-B861-1D38BB6FC335}" type="slidenum">
              <a:rPr lang="pt-BR" altLang="pt-BR" sz="1300"/>
              <a:pPr/>
              <a:t>21</a:t>
            </a:fld>
            <a:endParaRPr lang="pt-BR" altLang="pt-BR" sz="13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A34F1D2-EB24-634C-BBD2-F20BBC9286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720A43B9-778E-364D-8FD5-A2D99B3137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2532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AEF4FA88-73C3-B642-9C56-A5F28E674C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3CFDB9E-D770-9641-9A22-85E9D9D69429}" type="slidenum">
              <a:rPr lang="pt-BR" altLang="pt-BR" sz="1300"/>
              <a:pPr/>
              <a:t>22</a:t>
            </a:fld>
            <a:endParaRPr lang="pt-BR" altLang="pt-BR" sz="13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C46A018A-3BF4-F341-A539-20BC7D9651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B8F1D40-FD50-3541-B9FD-E7DED1B86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69401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D064D8FB-B4F1-0E4D-8DDC-6BECA2AEA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AC28D55-DF39-0A4C-8A94-C66881261B2D}" type="slidenum">
              <a:rPr lang="pt-BR" altLang="pt-BR" sz="1300"/>
              <a:pPr/>
              <a:t>23</a:t>
            </a:fld>
            <a:endParaRPr lang="pt-BR" altLang="pt-BR" sz="13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38D07B1D-F4B0-2847-A607-762420C226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960F4E75-6499-A642-90B8-FB0949513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0684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42D8E8EF-CF2C-1546-B0A7-050F6675D7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AB2B3AA-D091-334D-93F4-DC66A192E033}" type="slidenum">
              <a:rPr lang="pt-BR" altLang="pt-BR" sz="1300"/>
              <a:pPr/>
              <a:t>24</a:t>
            </a:fld>
            <a:endParaRPr lang="pt-BR" altLang="pt-BR" sz="130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ABFB5BDC-F419-EE4A-8028-EA73CF53A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284208F-DEB5-C743-A7EC-CE48E01ED6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57047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151598B6-0733-3B45-8C29-530134A646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C3E5B055-0D03-5444-BB39-98CA69E0BBC8}" type="slidenum">
              <a:rPr lang="pt-BR" altLang="pt-BR" sz="1300"/>
              <a:pPr/>
              <a:t>25</a:t>
            </a:fld>
            <a:endParaRPr lang="pt-BR" altLang="pt-BR" sz="130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F829989A-D5E7-1F40-874C-6974336895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5E73CF6A-96BE-B74E-8AB2-BCCAADD499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88981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FB467EF8-15C4-F547-A32D-9FCCE3A144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D67D816-8093-5B42-977A-FD927C819B11}" type="slidenum">
              <a:rPr lang="pt-BR" altLang="pt-BR" sz="1300"/>
              <a:pPr/>
              <a:t>26</a:t>
            </a:fld>
            <a:endParaRPr lang="pt-BR" altLang="pt-BR" sz="13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B781F694-4F9C-5E41-B71C-8290DFEDC9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FEB2F56-6C9C-8D44-B29A-7C3CD87675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3905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085A755C-2922-CE47-8412-362A77D292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C388A94-1717-FE48-B9E3-494EEFF86519}" type="slidenum">
              <a:rPr lang="pt-BR" altLang="pt-BR" sz="1300"/>
              <a:pPr/>
              <a:t>27</a:t>
            </a:fld>
            <a:endParaRPr lang="pt-BR" altLang="pt-BR" sz="13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16550526-EB22-7848-BAC8-73F50BD806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DD81420-4E31-3440-BDAB-66B975DF4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531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72FAE980-BB3C-F548-8DFD-66D5CDF68D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859D91A-DADE-124A-AFAB-4707252D8994}" type="slidenum">
              <a:rPr lang="pt-BR" altLang="pt-BR" sz="1300"/>
              <a:pPr/>
              <a:t>28</a:t>
            </a:fld>
            <a:endParaRPr lang="pt-BR" altLang="pt-BR" sz="1300"/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C27F35C1-16CF-604D-9A63-CE09C40C5E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29B3185-4F76-A84E-BB1C-A4A5BAE3D4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9815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7ED0974D-9216-3A49-B272-7A1DB89887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F1FCADA-10E2-6142-BC58-F901E29F4678}" type="slidenum">
              <a:rPr lang="pt-BR" altLang="pt-BR" sz="1300"/>
              <a:pPr/>
              <a:t>29</a:t>
            </a:fld>
            <a:endParaRPr lang="pt-BR" altLang="pt-BR" sz="13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2EF1AB9C-F7F4-E546-AD96-B8B2E09E8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348531C-C857-2244-9A21-02B33F3F4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84280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BA61461B-DF12-494D-81C4-F8954DDCDE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34AB053-6A6D-0F47-BB14-6473C2BD2F22}" type="slidenum">
              <a:rPr lang="pt-BR" altLang="pt-BR" sz="1300"/>
              <a:pPr/>
              <a:t>30</a:t>
            </a:fld>
            <a:endParaRPr lang="pt-BR" altLang="pt-BR" sz="13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175AC969-AB50-1048-81AA-AC5C127125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CD24E6E-0B83-2042-BBB3-E0FC45CCC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64222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7331B440-BB8F-7844-8442-61D5D6932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D867F4F-9268-2340-82A0-5E23A657E0DE}" type="slidenum">
              <a:rPr lang="pt-BR" altLang="pt-BR" sz="1300"/>
              <a:pPr/>
              <a:t>31</a:t>
            </a:fld>
            <a:endParaRPr lang="pt-BR" altLang="pt-BR" sz="13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B90D230F-8814-9643-9737-DF2D4194A8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3915EDCF-2A76-AB4E-8BB3-F6F7A44488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664441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368A7C43-0E7B-BD48-89E6-15C0A79256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1D0D37B-737D-1B40-BF7F-D5AD0D7510A7}" type="slidenum">
              <a:rPr lang="pt-BR" altLang="pt-BR" sz="1300"/>
              <a:pPr/>
              <a:t>32</a:t>
            </a:fld>
            <a:endParaRPr lang="pt-BR" altLang="pt-BR" sz="13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898AAA48-56DF-EB41-9CDE-CE415FDDDE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EE47C7E1-BD5A-EE4A-A747-1236DF5B34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4119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5711C8BD-7E15-1843-9385-DEF15CE805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E362727-0CD7-DF48-8E77-8E4D85EBBCFD}" type="slidenum">
              <a:rPr lang="pt-BR" altLang="pt-BR" sz="1300"/>
              <a:pPr/>
              <a:t>33</a:t>
            </a:fld>
            <a:endParaRPr lang="pt-BR" altLang="pt-BR" sz="13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E769CB37-15B7-4949-B951-D096C367E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7B6B33B5-4A5E-6042-849C-C91BA3215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564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A6704E8-1CAD-3245-9A63-B48A63E810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0CA96537-6A88-4B4C-9A36-8F1F178C75FB}" type="slidenum">
              <a:rPr lang="pt-BR" altLang="pt-BR" sz="1300"/>
              <a:pPr/>
              <a:t>34</a:t>
            </a:fld>
            <a:endParaRPr lang="pt-BR" altLang="pt-BR" sz="130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4DD5F530-4E2B-C34E-B114-BE1148C9F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96AE9E6D-3D97-AD46-B55C-6B07AD2B8A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21374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0FB71FAC-AD2F-D640-8DBB-59BFEEFC6B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BC9B63C5-3E9C-A443-80EA-1F89FBD301CD}" type="slidenum">
              <a:rPr lang="pt-BR" altLang="pt-BR" sz="1300"/>
              <a:pPr/>
              <a:t>35</a:t>
            </a:fld>
            <a:endParaRPr lang="pt-BR" altLang="pt-BR" sz="1300"/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E0E83B86-F56C-FB4A-A59F-40FE5A25D1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4F9FD909-660B-4B42-ACB2-EA57F1BB2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24830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B7F4E74A-1D8D-B440-89F4-D214CBF2D7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C01099A-4D26-804F-8E90-5E81AB1D7C26}" type="slidenum">
              <a:rPr lang="pt-BR" altLang="pt-BR" sz="1300"/>
              <a:pPr/>
              <a:t>36</a:t>
            </a:fld>
            <a:endParaRPr lang="pt-BR" altLang="pt-BR" sz="1300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202C1C14-8A0D-7043-95F1-0D20CBF16A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006B7A7C-90C5-0840-9EC4-EE0320FB9E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12848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8B93A515-07E6-D74F-93E9-466F32248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1DE5346-75B4-794F-961B-119FCAC096C4}" type="slidenum">
              <a:rPr lang="pt-BR" altLang="pt-BR" sz="1300"/>
              <a:pPr/>
              <a:t>37</a:t>
            </a:fld>
            <a:endParaRPr lang="pt-BR" altLang="pt-BR" sz="13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79B1BCD7-C304-2F4E-8197-37C6B4F7B8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074EC0DA-4A26-8743-9157-F231A9648D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71707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FEE16C7F-531A-034F-8B26-8DCB819835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F544689-86EE-9648-A7FB-6AC54FB3C6A8}" type="slidenum">
              <a:rPr lang="pt-BR" altLang="pt-BR" sz="1300"/>
              <a:pPr/>
              <a:t>38</a:t>
            </a:fld>
            <a:endParaRPr lang="pt-BR" altLang="pt-BR" sz="1300"/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3F0220AC-3653-184A-B529-F1A4EA2D0B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1EA6150E-C9B3-B446-B1D9-420B3D20B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20356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983A81CE-128A-1149-82A2-946DB3398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425BFE0-0A7D-3143-8588-8ECF784AB4DA}" type="slidenum">
              <a:rPr lang="pt-BR" altLang="pt-BR" sz="1300"/>
              <a:pPr/>
              <a:t>39</a:t>
            </a:fld>
            <a:endParaRPr lang="pt-BR" altLang="pt-BR" sz="130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874B5DE7-171A-0649-A8AB-EE27C6F886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E6113B9-8CFC-724D-ACBA-22B8805FF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7480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59B01334-98EB-884A-B0DD-182574C977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84A7DE7-9A7D-EA4F-B26C-4259A4E7330B}" type="slidenum">
              <a:rPr lang="pt-BR" altLang="pt-BR" sz="1300"/>
              <a:pPr/>
              <a:t>40</a:t>
            </a:fld>
            <a:endParaRPr lang="pt-BR" altLang="pt-BR" sz="130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50435849-62E5-574E-AAC6-58F06E3F9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50B3EE36-290A-DC48-9382-9EF03DFCE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951055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A11AD1EB-2BB4-EF4D-914A-5BEED6A74E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97C4012-FE53-AE4F-8B4F-C33420DA5684}" type="slidenum">
              <a:rPr lang="pt-BR" altLang="pt-BR" sz="1300"/>
              <a:pPr/>
              <a:t>41</a:t>
            </a:fld>
            <a:endParaRPr lang="pt-BR" altLang="pt-BR" sz="130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F622B8F2-1F25-AE45-BCC6-ADB5CF44E8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18660519-FDC9-5A4C-B45B-EF38F0D8DA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82683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450957BB-656C-2F49-954B-3BAD440426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2ADB06B-C1AD-3042-8DF7-338A3B69471E}" type="slidenum">
              <a:rPr lang="pt-BR" altLang="pt-BR" sz="1300"/>
              <a:pPr/>
              <a:t>42</a:t>
            </a:fld>
            <a:endParaRPr lang="pt-BR" altLang="pt-BR" sz="130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24A0E1D1-6BFD-2D4C-BDBF-09CC8D5026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760793A-DD8A-414C-912D-2C027C6AC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942360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F2484112-FA30-6B4E-94AF-EADB4CDF5B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D70A420-577C-FE4F-B790-67530A402BF0}" type="slidenum">
              <a:rPr lang="pt-BR" altLang="pt-BR" sz="1300"/>
              <a:pPr/>
              <a:t>43</a:t>
            </a:fld>
            <a:endParaRPr lang="pt-BR" altLang="pt-BR" sz="1300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B160FCA3-0E2A-9A48-9103-29177D3B3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BF0245B-55D5-BF42-882B-8C13656C09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129734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4806A338-33EC-904D-9FEC-1E2B75458C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236F5CA-B5EB-CC42-BEEF-C41F3346113F}" type="slidenum">
              <a:rPr lang="pt-BR" altLang="pt-BR" sz="1300"/>
              <a:pPr/>
              <a:t>44</a:t>
            </a:fld>
            <a:endParaRPr lang="pt-BR" altLang="pt-BR" sz="1300"/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0FF8348E-A319-CE49-B2D7-6F04FA183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9CB7D162-F05D-BE4F-81D2-9AA2A39BED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91923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CADA552D-20B0-C940-955D-D50948E53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46C853E-69CC-9D4F-8ED2-32CFB029E429}" type="slidenum">
              <a:rPr lang="pt-BR" altLang="pt-BR" sz="1300"/>
              <a:pPr/>
              <a:t>45</a:t>
            </a:fld>
            <a:endParaRPr lang="pt-BR" altLang="pt-BR" sz="1300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767824A2-5724-1148-8EC5-115BA2F162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019E3B31-D35D-2949-A854-CDDF0325D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30505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53241D0B-F68E-0944-93B8-E9E2E00A7C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059A7F2-0B5D-F64A-A3E0-BDF0CD58CC1D}" type="slidenum">
              <a:rPr lang="pt-BR" altLang="pt-BR" sz="1300"/>
              <a:pPr/>
              <a:t>46</a:t>
            </a:fld>
            <a:endParaRPr lang="pt-BR" altLang="pt-BR" sz="1300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06D99424-6C6B-E84F-A6E1-0A0D8F631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034DFE2E-012A-D844-AEAD-677AF8331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23243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9788181E-187D-8744-92DF-1CCB2DC02C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30EE72D-80FC-2D47-AD6A-9519B095ED08}" type="slidenum">
              <a:rPr lang="pt-BR" altLang="pt-BR" sz="1300"/>
              <a:pPr/>
              <a:t>47</a:t>
            </a:fld>
            <a:endParaRPr lang="pt-BR" altLang="pt-BR" sz="13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730D4A96-6BE3-3A45-8AC4-987D4545C4C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7FAA895-5A37-774F-8551-0B2AFC124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9928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62E338-5135-BA47-9F5F-FBBAA7A313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EA4FD6-EB8E-894B-90B5-47B0475D2E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38A2E0-1C6C-9144-935C-0F396C504A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3FB93-AD23-874F-A536-4928158A224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2982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46122A-4116-954A-99A1-E956F992617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79B654-812B-0C49-88FD-6BB33F2AB1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CC7924-0137-4D4B-84AD-E0B933DB6F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37517D-E7D3-1145-B4C7-D8F169D4A5C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2788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3DC4C1-EA3F-0B45-87A8-30866C8F2B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B379CE-069B-2747-8D50-66A7CC2B60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0498805-576A-D44B-9B9E-1C167156EC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251EF-94FC-BF4A-8294-0D5BB909F9A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3338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F5C2F-8200-6A42-A72B-9925BE939C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78CF0F-EF6C-3B4C-AC9B-FC901F642D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71570-2332-344B-930C-EDBE471F77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6B04EB-429E-6C43-90E7-50E4C2C701A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5814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118E83E-EEC0-1B4E-8C55-73B2671FFD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B279FE9-9C0C-6049-84AD-DB04768BD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4962B7-1B4D-1241-8A33-3E36DDF25B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CA671-23D3-6B46-9DFE-C23F9C90DAB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2962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D4B8441-6A0F-AB41-8F2F-BCFCFC4FBC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7883775-73EB-F34E-8F45-97B43E4F5C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3032B5-E1A1-3740-A29A-B04BE668C6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63453-D8C2-014A-BEDE-40710AA44D7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35412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7C67D16-FC4B-6447-8630-64CBF18FF2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9CC78B-777B-2041-8ADF-629D413A00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877A77C-BFA0-5746-B19F-1A7A6A70D6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17DEED-F1D1-4248-8D78-3D120F48908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25211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173BC4-3C78-CA43-9274-39FEAE64BB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793598-7258-0C4B-ABBC-3A271F49E9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8C59A-85FB-5A41-8521-EFE4DA99C7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46D08-F4A2-8C43-9F0E-190E6199B2A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083058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4A7E9B-5066-0A46-8BEF-B8854FBBBE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6A44C0-FA4D-8748-B464-C0A26A44FB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4C8D1D-A062-D24D-8174-E6FB75D42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75261-3A33-7645-A843-F3157191B74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5431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48D9B3-A8B9-4B42-B667-B366E25B79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AF682C-B1D1-0048-B03B-D5B7BE6EEB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1A9E33-5B98-CE44-B582-24BEB6E0DB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6BF83-33E6-BB47-BDC1-E16F3505657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0572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B03EC6A-F7E1-2344-A045-4B0D0D1ED2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E71D6B6-4AF9-A640-AEC1-4B8E8A39AB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7C9AE1-FB78-A148-9017-8F7C27473D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082BD0-64E7-264D-B59D-47017F5C306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657632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ítulo, text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Gráfico 3"/>
          <p:cNvSpPr>
            <a:spLocks noGrp="1"/>
          </p:cNvSpPr>
          <p:nvPr>
            <p:ph type="chart"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1260D-57C3-4544-A4D8-B7C2FB6183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6112BC-6F69-9E48-A095-81D2340AEE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B73F0C-90F2-F747-9602-C2943ADE36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E7FB74-2AA2-4844-A84A-FA13EE19627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62981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6D3DBCD-93F1-7044-9D54-3C4149A7D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535EB6-B50D-FA41-8EE5-043B7C1D9D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9C249D0-F31A-7540-BB18-1BD35A25B6E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17B4800-F30D-464E-9D19-65949A388AD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CCA6ADE-A950-A146-9EEB-CF19FE5DB1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6FBF893F-590C-274E-94A9-F0912AD98C0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318CF63E-BEE3-1F4B-B638-A60590A64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</p:spPr>
        <p:txBody>
          <a:bodyPr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>
              <a:lnSpc>
                <a:spcPct val="80000"/>
              </a:lnSpc>
              <a:defRPr/>
            </a:pPr>
            <a:endParaRPr lang="pt-BR" altLang="pt-BR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27B5A668-33E0-144C-A004-9AFEB5E998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2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13" Type="http://schemas.openxmlformats.org/officeDocument/2006/relationships/oleObject" Target="../embeddings/oleObject13.bin"/><Relationship Id="rId18" Type="http://schemas.openxmlformats.org/officeDocument/2006/relationships/image" Target="../media/image41.emf"/><Relationship Id="rId26" Type="http://schemas.openxmlformats.org/officeDocument/2006/relationships/image" Target="../media/image45.emf"/><Relationship Id="rId3" Type="http://schemas.openxmlformats.org/officeDocument/2006/relationships/oleObject" Target="../embeddings/oleObject8.bin"/><Relationship Id="rId21" Type="http://schemas.openxmlformats.org/officeDocument/2006/relationships/oleObject" Target="../embeddings/oleObject17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38.emf"/><Relationship Id="rId17" Type="http://schemas.openxmlformats.org/officeDocument/2006/relationships/oleObject" Target="../embeddings/oleObject15.bin"/><Relationship Id="rId25" Type="http://schemas.openxmlformats.org/officeDocument/2006/relationships/oleObject" Target="../embeddings/oleObject19.bin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40.emf"/><Relationship Id="rId20" Type="http://schemas.openxmlformats.org/officeDocument/2006/relationships/image" Target="../media/image42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emf"/><Relationship Id="rId11" Type="http://schemas.openxmlformats.org/officeDocument/2006/relationships/oleObject" Target="../embeddings/oleObject12.bin"/><Relationship Id="rId24" Type="http://schemas.openxmlformats.org/officeDocument/2006/relationships/image" Target="../media/image44.emf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23" Type="http://schemas.openxmlformats.org/officeDocument/2006/relationships/oleObject" Target="../embeddings/oleObject18.bin"/><Relationship Id="rId28" Type="http://schemas.openxmlformats.org/officeDocument/2006/relationships/image" Target="../media/image46.emf"/><Relationship Id="rId10" Type="http://schemas.openxmlformats.org/officeDocument/2006/relationships/image" Target="../media/image37.emf"/><Relationship Id="rId19" Type="http://schemas.openxmlformats.org/officeDocument/2006/relationships/oleObject" Target="../embeddings/oleObject16.bin"/><Relationship Id="rId4" Type="http://schemas.openxmlformats.org/officeDocument/2006/relationships/image" Target="../media/image34.e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39.emf"/><Relationship Id="rId22" Type="http://schemas.openxmlformats.org/officeDocument/2006/relationships/image" Target="../media/image43.emf"/><Relationship Id="rId27" Type="http://schemas.openxmlformats.org/officeDocument/2006/relationships/oleObject" Target="../embeddings/oleObject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ítulo 1">
            <a:extLst>
              <a:ext uri="{FF2B5EF4-FFF2-40B4-BE49-F238E27FC236}">
                <a16:creationId xmlns:a16="http://schemas.microsoft.com/office/drawing/2014/main" id="{EA921A49-C1E9-6B45-911B-69DB379231E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700213"/>
            <a:ext cx="8624888" cy="1470025"/>
          </a:xfrm>
        </p:spPr>
        <p:txBody>
          <a:bodyPr/>
          <a:lstStyle/>
          <a:p>
            <a:r>
              <a:rPr lang="pt-BR" altLang="pt-BR" sz="3200">
                <a:ea typeface="ＭＳ Ｐゴシック" panose="020B0600070205080204" pitchFamily="34" charset="-128"/>
              </a:rPr>
              <a:t>Universidade de Brasília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Departamento de Engenharia de Produção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Disciplina: Engenharia de Produto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r>
              <a:rPr lang="pt-BR" altLang="pt-BR" sz="3200">
                <a:ea typeface="ＭＳ Ｐゴシック" panose="020B0600070205080204" pitchFamily="34" charset="-128"/>
              </a:rPr>
              <a:t>  </a:t>
            </a:r>
            <a:br>
              <a:rPr lang="pt-BR" altLang="pt-BR" sz="3200">
                <a:ea typeface="ＭＳ Ｐゴシック" panose="020B0600070205080204" pitchFamily="34" charset="-128"/>
              </a:rPr>
            </a:br>
            <a:endParaRPr lang="pt-BR" altLang="pt-BR" sz="3200">
              <a:ea typeface="ＭＳ Ｐゴシック" panose="020B0600070205080204" pitchFamily="34" charset="-128"/>
            </a:endParaRPr>
          </a:p>
        </p:txBody>
      </p:sp>
      <p:sp>
        <p:nvSpPr>
          <p:cNvPr id="16386" name="Subtítulo 2">
            <a:extLst>
              <a:ext uri="{FF2B5EF4-FFF2-40B4-BE49-F238E27FC236}">
                <a16:creationId xmlns:a16="http://schemas.microsoft.com/office/drawing/2014/main" id="{8B271400-5992-254B-86D6-879EA439F4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3068638"/>
            <a:ext cx="8421688" cy="1752600"/>
          </a:xfrm>
        </p:spPr>
        <p:txBody>
          <a:bodyPr/>
          <a:lstStyle/>
          <a:p>
            <a:r>
              <a:rPr lang="pt-BR" altLang="pt-BR" dirty="0">
                <a:ea typeface="ＭＳ Ｐゴシック" panose="020B0600070205080204" pitchFamily="34" charset="-128"/>
              </a:rPr>
              <a:t>Aula 16  – Projeto Conceitual: </a:t>
            </a:r>
          </a:p>
          <a:p>
            <a:r>
              <a:rPr lang="pt-BR" altLang="pt-BR" dirty="0">
                <a:ea typeface="ＭＳ Ｐゴシック" panose="020B0600070205080204" pitchFamily="34" charset="-128"/>
              </a:rPr>
              <a:t>Síntese Funcional</a:t>
            </a:r>
          </a:p>
          <a:p>
            <a:r>
              <a:rPr lang="pt-BR" altLang="pt-BR" dirty="0">
                <a:ea typeface="ＭＳ Ｐゴシック" panose="020B0600070205080204" pitchFamily="34" charset="-128"/>
              </a:rPr>
              <a:t>Profa. Andréa Santos</a:t>
            </a:r>
          </a:p>
          <a:p>
            <a:endParaRPr lang="pt-BR" altLang="pt-BR" dirty="0">
              <a:ea typeface="ＭＳ Ｐゴシック" panose="020B0600070205080204" pitchFamily="34" charset="-128"/>
            </a:endParaRPr>
          </a:p>
        </p:txBody>
      </p:sp>
      <p:sp>
        <p:nvSpPr>
          <p:cNvPr id="16387" name="CaixaDeTexto 3">
            <a:extLst>
              <a:ext uri="{FF2B5EF4-FFF2-40B4-BE49-F238E27FC236}">
                <a16:creationId xmlns:a16="http://schemas.microsoft.com/office/drawing/2014/main" id="{FB7BE2D4-5CAA-494D-94D0-D001873F6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772025"/>
            <a:ext cx="7056438" cy="197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Fonte: Capítulo 7  -Rozenfeld et al (2006)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/>
              <a:t>               Capítulo  6 – Back  et al (2008)</a:t>
            </a:r>
          </a:p>
          <a:p>
            <a:pPr algn="ctr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000" b="1"/>
              <a:t>Capítulo 7 – Baxter (2003) 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5B8E-A301-FDCD-65D2-192E36AC6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A4439D56-1DBD-A868-F19E-7A42D707E3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7363" y="0"/>
            <a:ext cx="7388225" cy="706438"/>
          </a:xfrm>
        </p:spPr>
        <p:txBody>
          <a:bodyPr/>
          <a:lstStyle/>
          <a:p>
            <a:r>
              <a:rPr lang="en-US" altLang="pt-BR" b="1">
                <a:ea typeface="ＭＳ Ｐゴシック" panose="020B0600070205080204" pitchFamily="34" charset="-128"/>
              </a:rPr>
              <a:t>PROJETO CONCEITUAL</a:t>
            </a:r>
          </a:p>
        </p:txBody>
      </p:sp>
      <p:pic>
        <p:nvPicPr>
          <p:cNvPr id="17410" name="Content Placeholder 3">
            <a:extLst>
              <a:ext uri="{FF2B5EF4-FFF2-40B4-BE49-F238E27FC236}">
                <a16:creationId xmlns:a16="http://schemas.microsoft.com/office/drawing/2014/main" id="{75850EA4-513B-1872-CED2-2CACFC31B1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66" b="266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259692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084E1-6822-1946-9E16-F291705EC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775" y="798285"/>
            <a:ext cx="7388225" cy="706438"/>
          </a:xfrm>
        </p:spPr>
        <p:txBody>
          <a:bodyPr/>
          <a:lstStyle/>
          <a:p>
            <a:r>
              <a:rPr lang="pt-BR" dirty="0"/>
              <a:t>PROJETO CONCEITUAL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16F857-2F5E-6745-9F07-8EF771E15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34" y="1286740"/>
            <a:ext cx="6055859" cy="5238750"/>
          </a:xfrm>
        </p:spPr>
        <p:txBody>
          <a:bodyPr/>
          <a:lstStyle/>
          <a:p>
            <a:pPr marL="0" indent="0">
              <a:buNone/>
            </a:pPr>
            <a:endParaRPr lang="pt-BR" sz="2800" dirty="0"/>
          </a:p>
          <a:p>
            <a:r>
              <a:rPr lang="pt-BR" dirty="0"/>
              <a:t>Métodos de criatividade </a:t>
            </a:r>
            <a:endParaRPr lang="pt-BR" sz="2800" dirty="0"/>
          </a:p>
          <a:p>
            <a:pPr lvl="1"/>
            <a:r>
              <a:rPr lang="pt-BR" sz="2800" dirty="0"/>
              <a:t>Modelagem Funcional /</a:t>
            </a:r>
            <a:r>
              <a:rPr lang="pt-BR" sz="2800" dirty="0" err="1"/>
              <a:t>Sintese</a:t>
            </a:r>
            <a:r>
              <a:rPr lang="pt-BR" sz="2800" dirty="0"/>
              <a:t> Funcional /FAST</a:t>
            </a:r>
          </a:p>
          <a:p>
            <a:pPr lvl="1"/>
            <a:r>
              <a:rPr lang="pt-BR" sz="2800" dirty="0"/>
              <a:t>Matriz Morfológica</a:t>
            </a:r>
          </a:p>
          <a:p>
            <a:pPr lvl="1"/>
            <a:r>
              <a:rPr lang="pt-BR" sz="2800" dirty="0"/>
              <a:t>Biomimética</a:t>
            </a:r>
          </a:p>
          <a:p>
            <a:pPr lvl="1"/>
            <a:r>
              <a:rPr lang="pt-BR" sz="2800" dirty="0"/>
              <a:t>Engenharia Reversa</a:t>
            </a:r>
          </a:p>
          <a:p>
            <a:pPr lvl="1"/>
            <a:r>
              <a:rPr lang="pt-BR" dirty="0"/>
              <a:t>TRIZ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902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43D81-F3F3-0235-D79B-54CE4FA02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1">
            <a:extLst>
              <a:ext uri="{FF2B5EF4-FFF2-40B4-BE49-F238E27FC236}">
                <a16:creationId xmlns:a16="http://schemas.microsoft.com/office/drawing/2014/main" id="{00C1E52C-95CA-711C-0FFA-0012C65D3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36" y="810367"/>
            <a:ext cx="7813963" cy="570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7630454-596C-966B-88F0-61CF249EEC16}"/>
              </a:ext>
            </a:extLst>
          </p:cNvPr>
          <p:cNvSpPr txBox="1"/>
          <p:nvPr/>
        </p:nvSpPr>
        <p:spPr>
          <a:xfrm>
            <a:off x="1080655" y="237506"/>
            <a:ext cx="62820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/>
              <a:t>MODELAGEM FUNCIONAL</a:t>
            </a:r>
          </a:p>
        </p:txBody>
      </p:sp>
    </p:spTree>
    <p:extLst>
      <p:ext uri="{BB962C8B-B14F-4D97-AF65-F5344CB8AC3E}">
        <p14:creationId xmlns:p14="http://schemas.microsoft.com/office/powerpoint/2010/main" val="3442777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4339F-D759-77C8-11EE-6E24993DF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283ADE89-3A48-C84C-1E86-54C6F4F79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38" y="204788"/>
            <a:ext cx="78676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 dirty="0">
                <a:solidFill>
                  <a:srgbClr val="000096"/>
                </a:solidFill>
              </a:rPr>
              <a:t>Representação da Função total e seu desdobramento</a:t>
            </a:r>
          </a:p>
        </p:txBody>
      </p:sp>
      <p:sp>
        <p:nvSpPr>
          <p:cNvPr id="34818" name="Rectangle 5">
            <a:extLst>
              <a:ext uri="{FF2B5EF4-FFF2-40B4-BE49-F238E27FC236}">
                <a16:creationId xmlns:a16="http://schemas.microsoft.com/office/drawing/2014/main" id="{2582B6D0-F7EE-24EF-3D73-6B1E69E8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3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pt-BR" sz="2000"/>
          </a:p>
        </p:txBody>
      </p:sp>
      <p:graphicFrame>
        <p:nvGraphicFramePr>
          <p:cNvPr id="34819" name="Object 2">
            <a:extLst>
              <a:ext uri="{FF2B5EF4-FFF2-40B4-BE49-F238E27FC236}">
                <a16:creationId xmlns:a16="http://schemas.microsoft.com/office/drawing/2014/main" id="{05E7BCAC-3642-EED2-7346-EF3C6FB259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96925" y="1065213"/>
          <a:ext cx="6810375" cy="429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Figura" r:id="rId2" imgW="5270500" imgH="3327400" progId="Word.Picture.8">
                  <p:embed/>
                </p:oleObj>
              </mc:Choice>
              <mc:Fallback>
                <p:oleObj name="Figura" r:id="rId2" imgW="5270500" imgH="3327400" progId="Word.Picture.8">
                  <p:embed/>
                  <p:pic>
                    <p:nvPicPr>
                      <p:cNvPr id="34819" name="Object 2">
                        <a:extLst>
                          <a:ext uri="{FF2B5EF4-FFF2-40B4-BE49-F238E27FC236}">
                            <a16:creationId xmlns:a16="http://schemas.microsoft.com/office/drawing/2014/main" id="{CE77FBAE-96BA-AE45-A413-711AB43B51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6925" y="1065213"/>
                        <a:ext cx="6810375" cy="429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">
            <a:extLst>
              <a:ext uri="{FF2B5EF4-FFF2-40B4-BE49-F238E27FC236}">
                <a16:creationId xmlns:a16="http://schemas.microsoft.com/office/drawing/2014/main" id="{843F9D90-1792-00E5-479C-6F8778839BF9}"/>
              </a:ext>
            </a:extLst>
          </p:cNvPr>
          <p:cNvGrpSpPr>
            <a:grpSpLocks/>
          </p:cNvGrpSpPr>
          <p:nvPr/>
        </p:nvGrpSpPr>
        <p:grpSpPr bwMode="auto">
          <a:xfrm>
            <a:off x="1123950" y="2682875"/>
            <a:ext cx="7840663" cy="3833813"/>
            <a:chOff x="708" y="1690"/>
            <a:chExt cx="4939" cy="2415"/>
          </a:xfrm>
        </p:grpSpPr>
        <p:sp>
          <p:nvSpPr>
            <p:cNvPr id="34821" name="Rectangle 6">
              <a:extLst>
                <a:ext uri="{FF2B5EF4-FFF2-40B4-BE49-F238E27FC236}">
                  <a16:creationId xmlns:a16="http://schemas.microsoft.com/office/drawing/2014/main" id="{0F0F11FF-ED0B-838B-1837-B13DED9094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8" y="1690"/>
              <a:ext cx="3815" cy="186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4822" name="AutoShape 8">
              <a:extLst>
                <a:ext uri="{FF2B5EF4-FFF2-40B4-BE49-F238E27FC236}">
                  <a16:creationId xmlns:a16="http://schemas.microsoft.com/office/drawing/2014/main" id="{578A1933-1E3F-E684-5775-837DF411165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8704195">
              <a:off x="4001" y="3283"/>
              <a:ext cx="918" cy="369"/>
            </a:xfrm>
            <a:prstGeom prst="rightArrow">
              <a:avLst>
                <a:gd name="adj1" fmla="val 50000"/>
                <a:gd name="adj2" fmla="val 62195"/>
              </a:avLst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en-US" altLang="pt-BR" sz="2000"/>
            </a:p>
          </p:txBody>
        </p:sp>
        <p:sp>
          <p:nvSpPr>
            <p:cNvPr id="34823" name="Text Box 7">
              <a:extLst>
                <a:ext uri="{FF2B5EF4-FFF2-40B4-BE49-F238E27FC236}">
                  <a16:creationId xmlns:a16="http://schemas.microsoft.com/office/drawing/2014/main" id="{8062467D-0661-34EF-9F85-972FAC479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3" y="3663"/>
              <a:ext cx="1454" cy="442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FontTx/>
                <a:buNone/>
              </a:pPr>
              <a:r>
                <a:rPr lang="pt-BR" altLang="pt-BR" sz="2000"/>
                <a:t>Funções de menor complexidade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760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45171-6C2C-DDA8-C037-1BF41CD0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5" name="Picture 1">
            <a:extLst>
              <a:ext uri="{FF2B5EF4-FFF2-40B4-BE49-F238E27FC236}">
                <a16:creationId xmlns:a16="http://schemas.microsoft.com/office/drawing/2014/main" id="{6EC082D5-53A8-C997-62F2-966258F38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700"/>
            <a:ext cx="9144000" cy="682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1518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18363-B042-7751-699C-1D4D22916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43582-6F7C-7BF0-1D13-5550AC238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455" y="143336"/>
            <a:ext cx="7388225" cy="706438"/>
          </a:xfrm>
        </p:spPr>
        <p:txBody>
          <a:bodyPr/>
          <a:lstStyle/>
          <a:p>
            <a:r>
              <a:rPr lang="pt-BR" dirty="0"/>
              <a:t>MODELAGEM FUNCIONAL /FAST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70448DE-F8A5-6D32-7A0E-C5F03ED36C58}"/>
              </a:ext>
            </a:extLst>
          </p:cNvPr>
          <p:cNvSpPr txBox="1"/>
          <p:nvPr/>
        </p:nvSpPr>
        <p:spPr>
          <a:xfrm>
            <a:off x="533486" y="2754043"/>
            <a:ext cx="117715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1800" b="1" dirty="0"/>
              <a:t>FUNÇÃO GLOBAL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E6635A-317F-8108-4537-FF2E2A344908}"/>
              </a:ext>
            </a:extLst>
          </p:cNvPr>
          <p:cNvSpPr txBox="1"/>
          <p:nvPr/>
        </p:nvSpPr>
        <p:spPr>
          <a:xfrm>
            <a:off x="3919743" y="1434545"/>
            <a:ext cx="1177159" cy="646331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800" dirty="0"/>
              <a:t>Outras Funções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26F533E-C2C4-815F-5BEA-FA302C279B28}"/>
              </a:ext>
            </a:extLst>
          </p:cNvPr>
          <p:cNvSpPr txBox="1"/>
          <p:nvPr/>
        </p:nvSpPr>
        <p:spPr>
          <a:xfrm>
            <a:off x="2065708" y="2782669"/>
            <a:ext cx="1470471" cy="64633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1800" dirty="0"/>
              <a:t>Função Secundária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AD51A37-4118-B534-E72D-070B671372B5}"/>
              </a:ext>
            </a:extLst>
          </p:cNvPr>
          <p:cNvSpPr txBox="1"/>
          <p:nvPr/>
        </p:nvSpPr>
        <p:spPr>
          <a:xfrm>
            <a:off x="3644845" y="2782668"/>
            <a:ext cx="1470471" cy="64633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800"/>
            </a:lvl1pPr>
          </a:lstStyle>
          <a:p>
            <a:r>
              <a:rPr lang="pt-BR" dirty="0"/>
              <a:t>Função Secundária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406C808-AC97-58FB-56FE-8AFC6EFAF3E0}"/>
              </a:ext>
            </a:extLst>
          </p:cNvPr>
          <p:cNvSpPr txBox="1"/>
          <p:nvPr/>
        </p:nvSpPr>
        <p:spPr>
          <a:xfrm>
            <a:off x="5272683" y="2757851"/>
            <a:ext cx="1470471" cy="64633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800"/>
            </a:lvl1pPr>
          </a:lstStyle>
          <a:p>
            <a:r>
              <a:rPr lang="pt-BR" dirty="0"/>
              <a:t>Função Secundária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CA31456-CDB6-0255-03C3-217BC34492BC}"/>
              </a:ext>
            </a:extLst>
          </p:cNvPr>
          <p:cNvSpPr txBox="1"/>
          <p:nvPr/>
        </p:nvSpPr>
        <p:spPr>
          <a:xfrm>
            <a:off x="6935833" y="2757850"/>
            <a:ext cx="1470471" cy="646331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1800"/>
            </a:lvl1pPr>
          </a:lstStyle>
          <a:p>
            <a:r>
              <a:rPr lang="pt-BR" dirty="0"/>
              <a:t>Função</a:t>
            </a:r>
          </a:p>
          <a:p>
            <a:r>
              <a:rPr lang="pt-BR" dirty="0"/>
              <a:t>Assumida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24639AA-5E7E-0D15-A6FD-6263DF53CCC0}"/>
              </a:ext>
            </a:extLst>
          </p:cNvPr>
          <p:cNvCxnSpPr>
            <a:cxnSpLocks/>
          </p:cNvCxnSpPr>
          <p:nvPr/>
        </p:nvCxnSpPr>
        <p:spPr bwMode="auto">
          <a:xfrm>
            <a:off x="1888176" y="1574752"/>
            <a:ext cx="0" cy="391885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6F4700B4-FF4E-DDAE-92D7-53E5DA07F9F1}"/>
              </a:ext>
            </a:extLst>
          </p:cNvPr>
          <p:cNvCxnSpPr>
            <a:cxnSpLocks/>
          </p:cNvCxnSpPr>
          <p:nvPr/>
        </p:nvCxnSpPr>
        <p:spPr bwMode="auto">
          <a:xfrm>
            <a:off x="6850083" y="1574753"/>
            <a:ext cx="0" cy="391885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DFA9AAC-C9F8-8FE8-A056-DC73104FA5C1}"/>
              </a:ext>
            </a:extLst>
          </p:cNvPr>
          <p:cNvSpPr txBox="1"/>
          <p:nvPr/>
        </p:nvSpPr>
        <p:spPr>
          <a:xfrm>
            <a:off x="368135" y="1175657"/>
            <a:ext cx="1342509" cy="399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COMO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65E30C5E-5934-23C8-AB2E-3D9EA2F69940}"/>
              </a:ext>
            </a:extLst>
          </p:cNvPr>
          <p:cNvSpPr txBox="1"/>
          <p:nvPr/>
        </p:nvSpPr>
        <p:spPr>
          <a:xfrm>
            <a:off x="7218284" y="1116950"/>
            <a:ext cx="16473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</a:rPr>
              <a:t>POR QUÊ?</a:t>
            </a:r>
          </a:p>
        </p:txBody>
      </p:sp>
      <p:sp>
        <p:nvSpPr>
          <p:cNvPr id="17" name="Seta para a Esquerda 16">
            <a:extLst>
              <a:ext uri="{FF2B5EF4-FFF2-40B4-BE49-F238E27FC236}">
                <a16:creationId xmlns:a16="http://schemas.microsoft.com/office/drawing/2014/main" id="{D78E7A25-ADD9-64B0-FA9C-1457C723032E}"/>
              </a:ext>
            </a:extLst>
          </p:cNvPr>
          <p:cNvSpPr/>
          <p:nvPr/>
        </p:nvSpPr>
        <p:spPr bwMode="auto">
          <a:xfrm>
            <a:off x="5869683" y="1087280"/>
            <a:ext cx="1258785" cy="459450"/>
          </a:xfrm>
          <a:prstGeom prst="lef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Seta para a Direita 17">
            <a:extLst>
              <a:ext uri="{FF2B5EF4-FFF2-40B4-BE49-F238E27FC236}">
                <a16:creationId xmlns:a16="http://schemas.microsoft.com/office/drawing/2014/main" id="{E4A97927-CD70-C7CB-C8EE-58FD6FE8A242}"/>
              </a:ext>
            </a:extLst>
          </p:cNvPr>
          <p:cNvSpPr/>
          <p:nvPr/>
        </p:nvSpPr>
        <p:spPr bwMode="auto">
          <a:xfrm>
            <a:off x="1425039" y="1175657"/>
            <a:ext cx="1413164" cy="399095"/>
          </a:xfrm>
          <a:prstGeom prst="rightArrow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68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EC703-2C27-7CCE-4658-E37573A6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F5B66EC8-7045-6E3C-FC7A-61247E753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382" y="1136651"/>
            <a:ext cx="8977745" cy="523220"/>
          </a:xfrm>
        </p:spPr>
        <p:txBody>
          <a:bodyPr/>
          <a:lstStyle/>
          <a:p>
            <a:pPr eaLnBrk="1" hangingPunct="1"/>
            <a:r>
              <a:rPr lang="en-US" altLang="pt-BR" sz="2400" dirty="0" err="1">
                <a:ea typeface="ＭＳ Ｐゴシック" panose="020B0600070205080204" pitchFamily="34" charset="-128"/>
              </a:rPr>
              <a:t>Métodos</a:t>
            </a:r>
            <a:r>
              <a:rPr lang="en-US" altLang="pt-BR" sz="2400" dirty="0">
                <a:ea typeface="ＭＳ Ｐゴシック" panose="020B0600070205080204" pitchFamily="34" charset="-128"/>
              </a:rPr>
              <a:t> p/ </a:t>
            </a:r>
            <a:r>
              <a:rPr lang="en-US" altLang="pt-BR" sz="2400" dirty="0" err="1">
                <a:ea typeface="ＭＳ Ｐゴシック" panose="020B0600070205080204" pitchFamily="34" charset="-128"/>
              </a:rPr>
              <a:t>CombINAÇÃO</a:t>
            </a:r>
            <a:r>
              <a:rPr lang="en-US" altLang="pt-BR" sz="2400" dirty="0">
                <a:ea typeface="ＭＳ Ｐゴシック" panose="020B0600070205080204" pitchFamily="34" charset="-128"/>
              </a:rPr>
              <a:t>  PRINCIPIOS de </a:t>
            </a:r>
            <a:r>
              <a:rPr lang="en-US" altLang="pt-BR" sz="2400" dirty="0" err="1">
                <a:ea typeface="ＭＳ Ｐゴシック" panose="020B0600070205080204" pitchFamily="34" charset="-128"/>
              </a:rPr>
              <a:t>Soluções</a:t>
            </a:r>
            <a:endParaRPr lang="pt-BR" altLang="pt-BR" sz="2400" dirty="0">
              <a:ea typeface="ＭＳ Ｐゴシック" panose="020B0600070205080204" pitchFamily="34" charset="-128"/>
            </a:endParaRPr>
          </a:p>
        </p:txBody>
      </p:sp>
      <p:pic>
        <p:nvPicPr>
          <p:cNvPr id="5" name="Espaço Reservado para Conteúdo 5">
            <a:extLst>
              <a:ext uri="{FF2B5EF4-FFF2-40B4-BE49-F238E27FC236}">
                <a16:creationId xmlns:a16="http://schemas.microsoft.com/office/drawing/2014/main" id="{EFBB2C28-A5DD-14ED-7879-F65EAD8F9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43733" y="1893683"/>
            <a:ext cx="4656534" cy="382766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B889794-BC71-374C-6969-3E308CE7E99C}"/>
              </a:ext>
            </a:extLst>
          </p:cNvPr>
          <p:cNvSpPr txBox="1"/>
          <p:nvPr/>
        </p:nvSpPr>
        <p:spPr>
          <a:xfrm>
            <a:off x="2243733" y="118753"/>
            <a:ext cx="4310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MATRIZ MORFOLÓGICA</a:t>
            </a:r>
          </a:p>
        </p:txBody>
      </p:sp>
    </p:spTree>
    <p:extLst>
      <p:ext uri="{BB962C8B-B14F-4D97-AF65-F5344CB8AC3E}">
        <p14:creationId xmlns:p14="http://schemas.microsoft.com/office/powerpoint/2010/main" val="95270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0626-2722-388A-2EDA-DD78946CC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B27DB14-1DDC-D7D5-DF73-ACDEF8A758E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6"/>
          <a:stretch>
            <a:fillRect/>
          </a:stretch>
        </p:blipFill>
        <p:spPr>
          <a:xfrm>
            <a:off x="1874838" y="857250"/>
            <a:ext cx="4429125" cy="260604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ED509CC-FA79-9C70-ECF9-0DB59C33F4F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" t="569" r="1737"/>
          <a:stretch>
            <a:fillRect/>
          </a:stretch>
        </p:blipFill>
        <p:spPr>
          <a:xfrm>
            <a:off x="1874838" y="3429000"/>
            <a:ext cx="4421029" cy="249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22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246BCEC-E9E7-C84B-B836-3DCDA91F18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8968" y="914400"/>
            <a:ext cx="7388225" cy="706438"/>
          </a:xfrm>
        </p:spPr>
        <p:txBody>
          <a:bodyPr/>
          <a:lstStyle/>
          <a:p>
            <a:pPr eaLnBrk="1" hangingPunct="1"/>
            <a:r>
              <a:rPr lang="pt-BR" altLang="pt-BR" sz="3200" dirty="0"/>
              <a:t>Análise de Sistemas Naturais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8CB3E845-56A2-DE40-BE8C-8135A441D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785938"/>
            <a:ext cx="5440362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BC546809-8332-3E4F-B44B-9C401FE09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90" y="-2682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3200" kern="0" dirty="0"/>
              <a:t>BIOMIMÉTICA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ítulo 1">
            <a:extLst>
              <a:ext uri="{FF2B5EF4-FFF2-40B4-BE49-F238E27FC236}">
                <a16:creationId xmlns:a16="http://schemas.microsoft.com/office/drawing/2014/main" id="{53C60036-5347-3549-A3B3-185A0F791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/>
              <a:t>Bionic Car – Mercedes-Benz</a:t>
            </a:r>
          </a:p>
        </p:txBody>
      </p:sp>
      <p:pic>
        <p:nvPicPr>
          <p:cNvPr id="25602" name="Picture 2">
            <a:extLst>
              <a:ext uri="{FF2B5EF4-FFF2-40B4-BE49-F238E27FC236}">
                <a16:creationId xmlns:a16="http://schemas.microsoft.com/office/drawing/2014/main" id="{1A8F01A1-7DF7-E348-B660-98F49F8E9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3" y="2924175"/>
            <a:ext cx="2278062" cy="249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>
            <a:extLst>
              <a:ext uri="{FF2B5EF4-FFF2-40B4-BE49-F238E27FC236}">
                <a16:creationId xmlns:a16="http://schemas.microsoft.com/office/drawing/2014/main" id="{56E0C2BF-0F74-8D4E-8FB0-8A6343C04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175" y="1084263"/>
            <a:ext cx="2365375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4">
            <a:extLst>
              <a:ext uri="{FF2B5EF4-FFF2-40B4-BE49-F238E27FC236}">
                <a16:creationId xmlns:a16="http://schemas.microsoft.com/office/drawing/2014/main" id="{CCB32106-7B14-CD4E-A167-5F23ADFE2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0" y="1209675"/>
            <a:ext cx="2103438" cy="139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5">
            <a:extLst>
              <a:ext uri="{FF2B5EF4-FFF2-40B4-BE49-F238E27FC236}">
                <a16:creationId xmlns:a16="http://schemas.microsoft.com/office/drawing/2014/main" id="{D3340D2D-055E-5942-80A4-4F3382B82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2736850"/>
            <a:ext cx="2676525" cy="203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7">
            <a:extLst>
              <a:ext uri="{FF2B5EF4-FFF2-40B4-BE49-F238E27FC236}">
                <a16:creationId xmlns:a16="http://schemas.microsoft.com/office/drawing/2014/main" id="{4F6852E2-014D-0B49-BCA4-AE4A3138E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538" y="1146175"/>
            <a:ext cx="1612900" cy="106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7" name="Picture 8">
            <a:extLst>
              <a:ext uri="{FF2B5EF4-FFF2-40B4-BE49-F238E27FC236}">
                <a16:creationId xmlns:a16="http://schemas.microsoft.com/office/drawing/2014/main" id="{E7404319-A75A-F34B-B479-A6AF16DB8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2963" y="2879725"/>
            <a:ext cx="1898650" cy="224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ítulo 1">
            <a:extLst>
              <a:ext uri="{FF2B5EF4-FFF2-40B4-BE49-F238E27FC236}">
                <a16:creationId xmlns:a16="http://schemas.microsoft.com/office/drawing/2014/main" id="{40EA271F-6B73-2047-AD6A-25BFBAC5D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ENGENHARIA REVERSA</a:t>
            </a:r>
          </a:p>
        </p:txBody>
      </p:sp>
      <p:pic>
        <p:nvPicPr>
          <p:cNvPr id="31746" name="Imagem 4">
            <a:extLst>
              <a:ext uri="{FF2B5EF4-FFF2-40B4-BE49-F238E27FC236}">
                <a16:creationId xmlns:a16="http://schemas.microsoft.com/office/drawing/2014/main" id="{EAE2F255-BA56-304A-BA6C-7F84276C6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8438"/>
            <a:ext cx="9144000" cy="515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ítulo 1">
            <a:extLst>
              <a:ext uri="{FF2B5EF4-FFF2-40B4-BE49-F238E27FC236}">
                <a16:creationId xmlns:a16="http://schemas.microsoft.com/office/drawing/2014/main" id="{7410F775-C386-9A4F-881B-8A1489A576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2770" name="Imagem 4">
            <a:extLst>
              <a:ext uri="{FF2B5EF4-FFF2-40B4-BE49-F238E27FC236}">
                <a16:creationId xmlns:a16="http://schemas.microsoft.com/office/drawing/2014/main" id="{4445F058-175A-1245-BB5F-DEC85EAC5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038"/>
            <a:ext cx="9144000" cy="646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9439E-0296-0147-B1CA-97E7EE4A4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8459" y="1888177"/>
            <a:ext cx="3379285" cy="2473878"/>
          </a:xfrm>
        </p:spPr>
        <p:txBody>
          <a:bodyPr vert="horz" wrap="square" lIns="68580" tIns="34290" rIns="68580" bIns="34290" numCol="1" rtlCol="0" anchor="b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3750" dirty="0">
                <a:solidFill>
                  <a:schemeClr val="tx1"/>
                </a:solidFill>
              </a:rPr>
              <a:t>TRIZ – ANÁLISE INVENTIVA DE PROBLEMAS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35B5B8A-92CD-5441-BABA-2D76AB1B5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8459" y="4420420"/>
            <a:ext cx="3065479" cy="860897"/>
          </a:xfrm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endParaRPr lang="en-US" sz="150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857250"/>
            <a:ext cx="5391038" cy="51435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500"/>
          </a:p>
        </p:txBody>
      </p:sp>
      <p:pic>
        <p:nvPicPr>
          <p:cNvPr id="5" name="Picture 4" descr="Lâmpada em tela de fundo amarela com cabo e feixes de luz traçados">
            <a:extLst>
              <a:ext uri="{FF2B5EF4-FFF2-40B4-BE49-F238E27FC236}">
                <a16:creationId xmlns:a16="http://schemas.microsoft.com/office/drawing/2014/main" id="{401B8053-64A1-443B-8F58-411103DDAB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971"/>
          <a:stretch/>
        </p:blipFill>
        <p:spPr>
          <a:xfrm>
            <a:off x="1" y="857257"/>
            <a:ext cx="5271371" cy="5143493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43896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8">
            <a:extLst>
              <a:ext uri="{FF2B5EF4-FFF2-40B4-BE49-F238E27FC236}">
                <a16:creationId xmlns:a16="http://schemas.microsoft.com/office/drawing/2014/main" id="{976AE87D-5487-DA40-8017-BF38A9A86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631" y="2463403"/>
            <a:ext cx="6000750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29">
            <a:extLst>
              <a:ext uri="{FF2B5EF4-FFF2-40B4-BE49-F238E27FC236}">
                <a16:creationId xmlns:a16="http://schemas.microsoft.com/office/drawing/2014/main" id="{0873AD1E-6BC2-4146-AD32-0A3D4542A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1600200"/>
            <a:ext cx="1543050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4050" b="1">
                <a:solidFill>
                  <a:srgbClr val="800000"/>
                </a:solidFill>
                <a:latin typeface="Arial" panose="020B0604020202020204" pitchFamily="34" charset="0"/>
              </a:rPr>
              <a:t>TRIZ </a:t>
            </a:r>
          </a:p>
        </p:txBody>
      </p:sp>
      <p:sp>
        <p:nvSpPr>
          <p:cNvPr id="22532" name="Text Box 31">
            <a:extLst>
              <a:ext uri="{FF2B5EF4-FFF2-40B4-BE49-F238E27FC236}">
                <a16:creationId xmlns:a16="http://schemas.microsoft.com/office/drawing/2014/main" id="{7D98C221-C2E9-0742-806F-CA51B951B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9991" y="2672954"/>
            <a:ext cx="5755230" cy="796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pt-BR" altLang="pt-BR" sz="24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175" b="1">
                <a:latin typeface="Arial" panose="020B0604020202020204" pitchFamily="34" charset="0"/>
              </a:rPr>
              <a:t>Teoria da Solução Inventiva de Problemas</a:t>
            </a:r>
          </a:p>
        </p:txBody>
      </p:sp>
      <p:sp>
        <p:nvSpPr>
          <p:cNvPr id="22534" name="Text Box 47">
            <a:extLst>
              <a:ext uri="{FF2B5EF4-FFF2-40B4-BE49-F238E27FC236}">
                <a16:creationId xmlns:a16="http://schemas.microsoft.com/office/drawing/2014/main" id="{7A6482B6-7833-BE48-B682-B0E42C512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4975" y="1600200"/>
            <a:ext cx="1885950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pt-BR" altLang="pt-BR" sz="4050" b="1">
                <a:solidFill>
                  <a:srgbClr val="800000"/>
                </a:solidFill>
                <a:latin typeface="Arial" panose="020B0604020202020204" pitchFamily="34" charset="0"/>
              </a:rPr>
              <a:t>TIPS</a:t>
            </a:r>
          </a:p>
        </p:txBody>
      </p:sp>
      <p:sp>
        <p:nvSpPr>
          <p:cNvPr id="22535" name="Line 48">
            <a:extLst>
              <a:ext uri="{FF2B5EF4-FFF2-40B4-BE49-F238E27FC236}">
                <a16:creationId xmlns:a16="http://schemas.microsoft.com/office/drawing/2014/main" id="{616006CC-69A1-9D45-9F8C-6DED2A7FD8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775" y="2286000"/>
            <a:ext cx="5657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22536" name="Line 49">
            <a:extLst>
              <a:ext uri="{FF2B5EF4-FFF2-40B4-BE49-F238E27FC236}">
                <a16:creationId xmlns:a16="http://schemas.microsoft.com/office/drawing/2014/main" id="{735AE51B-E907-8E46-ABCE-88BBC817D4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14675" y="11430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22537" name="Line 50">
            <a:extLst>
              <a:ext uri="{FF2B5EF4-FFF2-40B4-BE49-F238E27FC236}">
                <a16:creationId xmlns:a16="http://schemas.microsoft.com/office/drawing/2014/main" id="{59B0D2F9-E712-1A4E-ADD7-17220CDB6A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2175" y="1143000"/>
            <a:ext cx="0" cy="1143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pic>
        <p:nvPicPr>
          <p:cNvPr id="22538" name="Picture 51" descr="chart design 1">
            <a:extLst>
              <a:ext uri="{FF2B5EF4-FFF2-40B4-BE49-F238E27FC236}">
                <a16:creationId xmlns:a16="http://schemas.microsoft.com/office/drawing/2014/main" id="{A7F34543-C683-044D-BF86-B77441ACA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5" y="1143000"/>
            <a:ext cx="26289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9028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1">
            <a:extLst>
              <a:ext uri="{FF2B5EF4-FFF2-40B4-BE49-F238E27FC236}">
                <a16:creationId xmlns:a16="http://schemas.microsoft.com/office/drawing/2014/main" id="{C023DF74-973B-E44F-8221-28881B8BA3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971550"/>
            <a:ext cx="657225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3300" b="1">
                <a:solidFill>
                  <a:srgbClr val="800000"/>
                </a:solidFill>
                <a:latin typeface="Arial" panose="020B0604020202020204" pitchFamily="34" charset="0"/>
              </a:rPr>
              <a:t>R O T E I R O</a:t>
            </a:r>
            <a:endParaRPr lang="pt-BR" altLang="pt-BR" sz="4050" b="1">
              <a:solidFill>
                <a:srgbClr val="800000"/>
              </a:solidFill>
              <a:latin typeface="Arial" panose="020B0604020202020204" pitchFamily="34" charset="0"/>
            </a:endParaRPr>
          </a:p>
        </p:txBody>
      </p:sp>
      <p:sp>
        <p:nvSpPr>
          <p:cNvPr id="24578" name="Text Box 12">
            <a:extLst>
              <a:ext uri="{FF2B5EF4-FFF2-40B4-BE49-F238E27FC236}">
                <a16:creationId xmlns:a16="http://schemas.microsoft.com/office/drawing/2014/main" id="{1C854CCA-E9ED-F14F-8727-B033D9207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1659732"/>
            <a:ext cx="6258893" cy="34256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100">
                <a:latin typeface="Arial" panose="020B0604020202020204" pitchFamily="34" charset="0"/>
              </a:rPr>
              <a:t>1. Introdução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100">
                <a:latin typeface="Arial" panose="020B0604020202020204" pitchFamily="34" charset="0"/>
              </a:rPr>
              <a:t>2. TRIZ: Teoria da Solução Inventiva de Problemas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100">
                <a:latin typeface="Arial" panose="020B0604020202020204" pitchFamily="34" charset="0"/>
              </a:rPr>
              <a:t>3. Ferramentas adicionais da TIPS 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100">
                <a:latin typeface="Arial" panose="020B0604020202020204" pitchFamily="34" charset="0"/>
              </a:rPr>
              <a:t>4. A relação entre a TIPS e o QFD</a:t>
            </a:r>
            <a:br>
              <a:rPr lang="pt-BR" altLang="pt-BR" sz="2100">
                <a:latin typeface="Arial" panose="020B0604020202020204" pitchFamily="34" charset="0"/>
              </a:rPr>
            </a:br>
            <a:r>
              <a:rPr lang="pt-BR" altLang="pt-BR" sz="2100">
                <a:latin typeface="Arial" panose="020B0604020202020204" pitchFamily="34" charset="0"/>
              </a:rPr>
              <a:t>5. O Emprego da TIPS no Processo de Projeto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100">
                <a:latin typeface="Arial" panose="020B0604020202020204" pitchFamily="34" charset="0"/>
              </a:rPr>
              <a:t>6. Exemplo de Aplicação da TIPS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2100">
                <a:latin typeface="Arial" panose="020B0604020202020204" pitchFamily="34" charset="0"/>
              </a:rPr>
              <a:t>7. Considerações Finais</a:t>
            </a:r>
          </a:p>
        </p:txBody>
      </p:sp>
    </p:spTree>
    <p:extLst>
      <p:ext uri="{BB962C8B-B14F-4D97-AF65-F5344CB8AC3E}">
        <p14:creationId xmlns:p14="http://schemas.microsoft.com/office/powerpoint/2010/main" val="2810809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AutoShape 8">
            <a:extLst>
              <a:ext uri="{FF2B5EF4-FFF2-40B4-BE49-F238E27FC236}">
                <a16:creationId xmlns:a16="http://schemas.microsoft.com/office/drawing/2014/main" id="{8E28FD91-B471-FA44-81C0-B4916BD73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3048000"/>
            <a:ext cx="2171700" cy="685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74" name="Text Box 9">
            <a:extLst>
              <a:ext uri="{FF2B5EF4-FFF2-40B4-BE49-F238E27FC236}">
                <a16:creationId xmlns:a16="http://schemas.microsoft.com/office/drawing/2014/main" id="{2663E3DA-C771-6942-9ED8-FA5237707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525" y="3105151"/>
            <a:ext cx="1771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500" b="1">
                <a:latin typeface="Arial" panose="020B0604020202020204" pitchFamily="34" charset="0"/>
              </a:rPr>
              <a:t>Problema padrão</a:t>
            </a:r>
            <a:endParaRPr lang="pt-BR" altLang="pt-BR" sz="1500">
              <a:latin typeface="Arial" panose="020B0604020202020204" pitchFamily="34" charset="0"/>
            </a:endParaRPr>
          </a:p>
        </p:txBody>
      </p:sp>
      <p:sp>
        <p:nvSpPr>
          <p:cNvPr id="28675" name="AutoShape 13">
            <a:extLst>
              <a:ext uri="{FF2B5EF4-FFF2-40B4-BE49-F238E27FC236}">
                <a16:creationId xmlns:a16="http://schemas.microsoft.com/office/drawing/2014/main" id="{9E1967C3-D5CA-3149-B0FC-2B08CC3B1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4238625"/>
            <a:ext cx="2171700" cy="685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76" name="Text Box 14">
            <a:extLst>
              <a:ext uri="{FF2B5EF4-FFF2-40B4-BE49-F238E27FC236}">
                <a16:creationId xmlns:a16="http://schemas.microsoft.com/office/drawing/2014/main" id="{B510EDF2-ADEE-E74F-87D6-F30A47D0B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475" y="4295775"/>
            <a:ext cx="2571750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50" b="1">
                <a:latin typeface="Arial" panose="020B0604020202020204" pitchFamily="34" charset="0"/>
              </a:rPr>
              <a:t>Meu problema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28677" name="AutoShape 20">
            <a:extLst>
              <a:ext uri="{FF2B5EF4-FFF2-40B4-BE49-F238E27FC236}">
                <a16:creationId xmlns:a16="http://schemas.microsoft.com/office/drawing/2014/main" id="{4D2B5456-98D1-8C48-9837-ED4ACC9B7F79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2581275" y="3790950"/>
            <a:ext cx="400050" cy="352425"/>
          </a:xfrm>
          <a:prstGeom prst="downArrow">
            <a:avLst>
              <a:gd name="adj1" fmla="val 51667"/>
              <a:gd name="adj2" fmla="val 541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78" name="Text Box 26">
            <a:extLst>
              <a:ext uri="{FF2B5EF4-FFF2-40B4-BE49-F238E27FC236}">
                <a16:creationId xmlns:a16="http://schemas.microsoft.com/office/drawing/2014/main" id="{6ECD6B14-5541-A44C-8665-1808867AA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71551"/>
            <a:ext cx="6515100" cy="1150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92100" indent="1651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 Dois grupos de problemas:</a:t>
            </a:r>
          </a:p>
          <a:p>
            <a:pPr lvl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pt-BR" altLang="pt-BR" sz="1500">
                <a:latin typeface="Arial" panose="020B0604020202020204" pitchFamily="34" charset="0"/>
              </a:rPr>
              <a:t>Com    soluções    conhecidas                  </a:t>
            </a:r>
            <a:r>
              <a:rPr lang="pt-BR" altLang="pt-BR" sz="1500" b="1">
                <a:solidFill>
                  <a:srgbClr val="FF0000"/>
                </a:solidFill>
                <a:latin typeface="Arial" panose="020B0604020202020204" pitchFamily="34" charset="0"/>
              </a:rPr>
              <a:t>SOLUÇÃO PADRÃO</a:t>
            </a:r>
            <a:endParaRPr lang="pt-BR" altLang="pt-BR" sz="1500">
              <a:latin typeface="Arial" panose="020B0604020202020204" pitchFamily="34" charset="0"/>
            </a:endParaRPr>
          </a:p>
          <a:p>
            <a:pPr lvl="1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pt-BR" altLang="pt-BR" sz="1500">
                <a:latin typeface="Arial" panose="020B0604020202020204" pitchFamily="34" charset="0"/>
              </a:rPr>
              <a:t>Com soluções desconhecidas                  </a:t>
            </a:r>
            <a:r>
              <a:rPr lang="pt-BR" altLang="pt-BR" sz="1500" b="1">
                <a:solidFill>
                  <a:srgbClr val="FF0000"/>
                </a:solidFill>
                <a:latin typeface="Arial" panose="020B0604020202020204" pitchFamily="34" charset="0"/>
              </a:rPr>
              <a:t>SOLUÇÃO INVENTIVA</a:t>
            </a:r>
            <a:r>
              <a:rPr lang="pt-BR" altLang="pt-BR" sz="1800"/>
              <a:t>    </a:t>
            </a:r>
          </a:p>
        </p:txBody>
      </p:sp>
      <p:sp>
        <p:nvSpPr>
          <p:cNvPr id="28679" name="Text Box 27">
            <a:extLst>
              <a:ext uri="{FF2B5EF4-FFF2-40B4-BE49-F238E27FC236}">
                <a16:creationId xmlns:a16="http://schemas.microsoft.com/office/drawing/2014/main" id="{8044470E-1DF1-AC42-B3FE-31DFA8431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2366964"/>
            <a:ext cx="6572250" cy="36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pt-BR" altLang="pt-BR" sz="1500" b="1">
                <a:solidFill>
                  <a:srgbClr val="FF0000"/>
                </a:solidFill>
                <a:latin typeface="Arial" panose="020B0604020202020204" pitchFamily="34" charset="0"/>
              </a:rPr>
              <a:t>S O L U Ç Õ E S        P A D R Ã O </a:t>
            </a:r>
          </a:p>
        </p:txBody>
      </p:sp>
      <p:sp>
        <p:nvSpPr>
          <p:cNvPr id="28680" name="AutoShape 31">
            <a:extLst>
              <a:ext uri="{FF2B5EF4-FFF2-40B4-BE49-F238E27FC236}">
                <a16:creationId xmlns:a16="http://schemas.microsoft.com/office/drawing/2014/main" id="{9EA1EF1A-A70F-2547-9224-5457BBB4A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1478756"/>
            <a:ext cx="571500" cy="171450"/>
          </a:xfrm>
          <a:prstGeom prst="rightArrow">
            <a:avLst>
              <a:gd name="adj1" fmla="val 50000"/>
              <a:gd name="adj2" fmla="val 1166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81" name="AutoShape 32">
            <a:extLst>
              <a:ext uri="{FF2B5EF4-FFF2-40B4-BE49-F238E27FC236}">
                <a16:creationId xmlns:a16="http://schemas.microsoft.com/office/drawing/2014/main" id="{9C7BC362-055C-5749-8449-9CF73B725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1821656"/>
            <a:ext cx="571500" cy="171450"/>
          </a:xfrm>
          <a:prstGeom prst="rightArrow">
            <a:avLst>
              <a:gd name="adj1" fmla="val 50000"/>
              <a:gd name="adj2" fmla="val 1166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82" name="Rectangle 33">
            <a:extLst>
              <a:ext uri="{FF2B5EF4-FFF2-40B4-BE49-F238E27FC236}">
                <a16:creationId xmlns:a16="http://schemas.microsoft.com/office/drawing/2014/main" id="{53D185B1-A6BB-9B43-9048-D92C6FA15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2390775"/>
            <a:ext cx="5314950" cy="342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83" name="AutoShape 34">
            <a:extLst>
              <a:ext uri="{FF2B5EF4-FFF2-40B4-BE49-F238E27FC236}">
                <a16:creationId xmlns:a16="http://schemas.microsoft.com/office/drawing/2014/main" id="{31FEA32D-3F19-5047-8AF6-9B0B5D0C097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572000" y="2905125"/>
            <a:ext cx="228600" cy="857250"/>
          </a:xfrm>
          <a:prstGeom prst="downArrow">
            <a:avLst>
              <a:gd name="adj1" fmla="val 58333"/>
              <a:gd name="adj2" fmla="val 107465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84" name="AutoShape 35">
            <a:extLst>
              <a:ext uri="{FF2B5EF4-FFF2-40B4-BE49-F238E27FC236}">
                <a16:creationId xmlns:a16="http://schemas.microsoft.com/office/drawing/2014/main" id="{30920EFD-0975-4C49-A048-C17B2FE8D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3048000"/>
            <a:ext cx="2114550" cy="685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85" name="Text Box 36">
            <a:extLst>
              <a:ext uri="{FF2B5EF4-FFF2-40B4-BE49-F238E27FC236}">
                <a16:creationId xmlns:a16="http://schemas.microsoft.com/office/drawing/2014/main" id="{4BCC7A82-6458-FA48-86D4-BC46B9545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25" y="3105151"/>
            <a:ext cx="17716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500" b="1">
                <a:latin typeface="Arial" panose="020B0604020202020204" pitchFamily="34" charset="0"/>
              </a:rPr>
              <a:t>Solução padrão</a:t>
            </a:r>
            <a:endParaRPr lang="pt-BR" altLang="pt-BR" sz="1500">
              <a:latin typeface="Arial" panose="020B0604020202020204" pitchFamily="34" charset="0"/>
            </a:endParaRPr>
          </a:p>
        </p:txBody>
      </p:sp>
      <p:sp>
        <p:nvSpPr>
          <p:cNvPr id="28686" name="AutoShape 37">
            <a:extLst>
              <a:ext uri="{FF2B5EF4-FFF2-40B4-BE49-F238E27FC236}">
                <a16:creationId xmlns:a16="http://schemas.microsoft.com/office/drawing/2014/main" id="{0F0CFABF-0D3F-C944-B6A3-8D33F16C6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4238625"/>
            <a:ext cx="2114550" cy="6858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87" name="Text Box 38">
            <a:extLst>
              <a:ext uri="{FF2B5EF4-FFF2-40B4-BE49-F238E27FC236}">
                <a16:creationId xmlns:a16="http://schemas.microsoft.com/office/drawing/2014/main" id="{10503321-F160-A746-9B8B-12BEBD5DA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675" y="4295775"/>
            <a:ext cx="2057400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50" b="1">
                <a:latin typeface="Arial" panose="020B0604020202020204" pitchFamily="34" charset="0"/>
              </a:rPr>
              <a:t>Minha solução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28688" name="AutoShape 39">
            <a:extLst>
              <a:ext uri="{FF2B5EF4-FFF2-40B4-BE49-F238E27FC236}">
                <a16:creationId xmlns:a16="http://schemas.microsoft.com/office/drawing/2014/main" id="{5D633987-8213-7742-8AF5-4B2290F4FA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372225" y="3800475"/>
            <a:ext cx="400050" cy="381000"/>
          </a:xfrm>
          <a:prstGeom prst="downArrow">
            <a:avLst>
              <a:gd name="adj1" fmla="val 51667"/>
              <a:gd name="adj2" fmla="val 541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89" name="Text Box 87">
            <a:extLst>
              <a:ext uri="{FF2B5EF4-FFF2-40B4-BE49-F238E27FC236}">
                <a16:creationId xmlns:a16="http://schemas.microsoft.com/office/drawing/2014/main" id="{E9E9E963-8C19-0F43-9AE4-937CBC4F0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600576"/>
            <a:ext cx="25717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350" b="1">
                <a:latin typeface="Arial" panose="020B0604020202020204" pitchFamily="34" charset="0"/>
              </a:rPr>
              <a:t>x</a:t>
            </a:r>
            <a:r>
              <a:rPr lang="pt-BR" altLang="pt-BR" sz="1350" b="1" baseline="30000">
                <a:latin typeface="Arial" panose="020B0604020202020204" pitchFamily="34" charset="0"/>
              </a:rPr>
              <a:t>2</a:t>
            </a:r>
            <a:r>
              <a:rPr lang="pt-BR" altLang="pt-BR" sz="1350" b="1">
                <a:latin typeface="Arial" panose="020B0604020202020204" pitchFamily="34" charset="0"/>
              </a:rPr>
              <a:t> - 3 x + 4 - 0</a:t>
            </a:r>
            <a:endParaRPr lang="pt-BR" altLang="pt-BR" sz="1350">
              <a:latin typeface="Arial" panose="020B0604020202020204" pitchFamily="34" charset="0"/>
            </a:endParaRPr>
          </a:p>
        </p:txBody>
      </p:sp>
      <p:sp>
        <p:nvSpPr>
          <p:cNvPr id="28690" name="Text Box 88">
            <a:extLst>
              <a:ext uri="{FF2B5EF4-FFF2-40B4-BE49-F238E27FC236}">
                <a16:creationId xmlns:a16="http://schemas.microsoft.com/office/drawing/2014/main" id="{F66FF846-A7B3-B543-A80A-DCD60C6C3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4525" y="3409951"/>
            <a:ext cx="17716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350" b="1">
                <a:latin typeface="Arial" panose="020B0604020202020204" pitchFamily="34" charset="0"/>
              </a:rPr>
              <a:t>a.x</a:t>
            </a:r>
            <a:r>
              <a:rPr lang="pt-BR" altLang="pt-BR" sz="1350" b="1" baseline="30000">
                <a:latin typeface="Arial" panose="020B0604020202020204" pitchFamily="34" charset="0"/>
              </a:rPr>
              <a:t>2</a:t>
            </a:r>
            <a:r>
              <a:rPr lang="pt-BR" altLang="pt-BR" sz="1350" b="1">
                <a:latin typeface="Arial" panose="020B0604020202020204" pitchFamily="34" charset="0"/>
              </a:rPr>
              <a:t> + b.x + c = 0</a:t>
            </a:r>
            <a:endParaRPr lang="pt-BR" altLang="pt-BR" sz="1350">
              <a:latin typeface="Arial" panose="020B0604020202020204" pitchFamily="34" charset="0"/>
            </a:endParaRPr>
          </a:p>
        </p:txBody>
      </p:sp>
      <p:sp>
        <p:nvSpPr>
          <p:cNvPr id="28691" name="Text Box 89">
            <a:extLst>
              <a:ext uri="{FF2B5EF4-FFF2-40B4-BE49-F238E27FC236}">
                <a16:creationId xmlns:a16="http://schemas.microsoft.com/office/drawing/2014/main" id="{34BEFB4C-3F4F-4C47-B877-3519D864B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1150" y="3400426"/>
            <a:ext cx="218122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350" b="1">
                <a:latin typeface="Arial" panose="020B0604020202020204" pitchFamily="34" charset="0"/>
              </a:rPr>
              <a:t>(1/2.a).(-b±(b</a:t>
            </a:r>
            <a:r>
              <a:rPr lang="pt-BR" altLang="pt-BR" sz="1350" b="1" baseline="30000">
                <a:latin typeface="Arial" panose="020B0604020202020204" pitchFamily="34" charset="0"/>
              </a:rPr>
              <a:t>2</a:t>
            </a:r>
            <a:r>
              <a:rPr lang="pt-BR" altLang="pt-BR" sz="1350" b="1">
                <a:latin typeface="Arial" panose="020B0604020202020204" pitchFamily="34" charset="0"/>
              </a:rPr>
              <a:t>-4.ªc))</a:t>
            </a:r>
            <a:r>
              <a:rPr lang="pt-BR" altLang="pt-BR" sz="1350" b="1" baseline="30000">
                <a:latin typeface="Arial" panose="020B0604020202020204" pitchFamily="34" charset="0"/>
              </a:rPr>
              <a:t>1/2</a:t>
            </a:r>
            <a:endParaRPr lang="pt-BR" altLang="pt-BR" sz="1350">
              <a:latin typeface="Arial" panose="020B0604020202020204" pitchFamily="34" charset="0"/>
            </a:endParaRPr>
          </a:p>
        </p:txBody>
      </p:sp>
      <p:sp>
        <p:nvSpPr>
          <p:cNvPr id="28692" name="Text Box 90">
            <a:extLst>
              <a:ext uri="{FF2B5EF4-FFF2-40B4-BE49-F238E27FC236}">
                <a16:creationId xmlns:a16="http://schemas.microsoft.com/office/drawing/2014/main" id="{F723A8BD-C58A-C743-8CF5-979DE8146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675" y="4629151"/>
            <a:ext cx="20574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500" b="1">
                <a:latin typeface="Arial" panose="020B0604020202020204" pitchFamily="34" charset="0"/>
              </a:rPr>
              <a:t>x = - 4; 1</a:t>
            </a:r>
            <a:endParaRPr lang="pt-BR" altLang="pt-BR" sz="1500">
              <a:latin typeface="Arial" panose="020B0604020202020204" pitchFamily="34" charset="0"/>
            </a:endParaRPr>
          </a:p>
        </p:txBody>
      </p:sp>
      <p:sp>
        <p:nvSpPr>
          <p:cNvPr id="28693" name="Text Box 91">
            <a:extLst>
              <a:ext uri="{FF2B5EF4-FFF2-40B4-BE49-F238E27FC236}">
                <a16:creationId xmlns:a16="http://schemas.microsoft.com/office/drawing/2014/main" id="{8025805D-42CA-2447-BC6D-AB1AAF5CD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5329239"/>
            <a:ext cx="6343650" cy="36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pt-BR" altLang="pt-BR" sz="1500" b="1">
                <a:latin typeface="Arial" panose="020B0604020202020204" pitchFamily="34" charset="0"/>
              </a:rPr>
              <a:t>PROBLEMA TRADICIONAL                INÉRCIA PSICOLÓGICA</a:t>
            </a:r>
          </a:p>
        </p:txBody>
      </p:sp>
      <p:sp>
        <p:nvSpPr>
          <p:cNvPr id="28694" name="Rectangle 92">
            <a:extLst>
              <a:ext uri="{FF2B5EF4-FFF2-40B4-BE49-F238E27FC236}">
                <a16:creationId xmlns:a16="http://schemas.microsoft.com/office/drawing/2014/main" id="{55EEAEDC-5278-CD49-B56A-89A8D273B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5353050"/>
            <a:ext cx="5657850" cy="342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28695" name="AutoShape 93">
            <a:extLst>
              <a:ext uri="{FF2B5EF4-FFF2-40B4-BE49-F238E27FC236}">
                <a16:creationId xmlns:a16="http://schemas.microsoft.com/office/drawing/2014/main" id="{675B9591-A00A-B64B-A8C6-26AD1B1D9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5448300"/>
            <a:ext cx="571500" cy="171450"/>
          </a:xfrm>
          <a:prstGeom prst="rightArrow">
            <a:avLst>
              <a:gd name="adj1" fmla="val 50000"/>
              <a:gd name="adj2" fmla="val 83333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</p:spTree>
    <p:extLst>
      <p:ext uri="{BB962C8B-B14F-4D97-AF65-F5344CB8AC3E}">
        <p14:creationId xmlns:p14="http://schemas.microsoft.com/office/powerpoint/2010/main" val="2308516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ext Box 2">
            <a:extLst>
              <a:ext uri="{FF2B5EF4-FFF2-40B4-BE49-F238E27FC236}">
                <a16:creationId xmlns:a16="http://schemas.microsoft.com/office/drawing/2014/main" id="{D9E78042-C95E-8440-9F5E-D6EB5D1A7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1162051"/>
            <a:ext cx="6572250" cy="36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pt-BR" altLang="pt-BR" sz="1500" b="1">
                <a:solidFill>
                  <a:srgbClr val="FF0000"/>
                </a:solidFill>
                <a:latin typeface="Arial" panose="020B0604020202020204" pitchFamily="34" charset="0"/>
              </a:rPr>
              <a:t>P R O B L E M A S      I N V E N T I V O S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41264629-C3A5-984D-A345-1DC750E7A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1185863"/>
            <a:ext cx="5314950" cy="342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30723" name="Text Box 6">
            <a:extLst>
              <a:ext uri="{FF2B5EF4-FFF2-40B4-BE49-F238E27FC236}">
                <a16:creationId xmlns:a16="http://schemas.microsoft.com/office/drawing/2014/main" id="{8AA4987D-81C6-8642-9F1A-1FEA621BB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1692685"/>
            <a:ext cx="6000750" cy="962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pt-BR" altLang="pt-BR" sz="1500" dirty="0">
                <a:latin typeface="Arial" panose="020B0604020202020204" pitchFamily="34" charset="0"/>
              </a:rPr>
              <a:t> Problemas com soluções fora do campo de conhecimento;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pt-BR" altLang="pt-BR" sz="1500" dirty="0">
                <a:latin typeface="Arial" panose="020B0604020202020204" pitchFamily="34" charset="0"/>
              </a:rPr>
              <a:t> Problemas com soluções desconhecidas;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pt-BR" altLang="pt-BR" sz="1500" dirty="0">
                <a:latin typeface="Arial" panose="020B0604020202020204" pitchFamily="34" charset="0"/>
              </a:rPr>
              <a:t> Problemas que contém requisitos contraditórios.</a:t>
            </a:r>
            <a:endParaRPr lang="pt-BR" altLang="pt-BR" sz="1800" dirty="0"/>
          </a:p>
        </p:txBody>
      </p:sp>
      <p:sp>
        <p:nvSpPr>
          <p:cNvPr id="30724" name="Text Box 61">
            <a:extLst>
              <a:ext uri="{FF2B5EF4-FFF2-40B4-BE49-F238E27FC236}">
                <a16:creationId xmlns:a16="http://schemas.microsoft.com/office/drawing/2014/main" id="{DFF160FF-74CA-CB45-8A01-8BFA4AD29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513" y="3053955"/>
            <a:ext cx="7986251" cy="24870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292100" indent="1651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pt-BR" altLang="pt-BR" sz="1500" dirty="0">
                <a:latin typeface="Arial" panose="020B0604020202020204" pitchFamily="34" charset="0"/>
              </a:rPr>
              <a:t> </a:t>
            </a:r>
            <a:r>
              <a:rPr lang="pt-BR" altLang="pt-BR" sz="1500" dirty="0">
                <a:solidFill>
                  <a:srgbClr val="FF0000"/>
                </a:solidFill>
                <a:latin typeface="Arial" panose="020B0604020202020204" pitchFamily="34" charset="0"/>
              </a:rPr>
              <a:t>Problema Inventivo</a:t>
            </a:r>
            <a:r>
              <a:rPr lang="pt-BR" altLang="pt-BR" sz="1500" dirty="0">
                <a:latin typeface="Arial" panose="020B0604020202020204" pitchFamily="34" charset="0"/>
              </a:rPr>
              <a:t> - Aquele no qual a sua solução faz gerar outro problema. 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</a:pPr>
            <a:endParaRPr lang="pt-BR" altLang="pt-BR" sz="1500" i="1" dirty="0">
              <a:latin typeface="Arial" panose="020B0604020202020204" pitchFamily="34" charset="0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pt-BR" altLang="pt-BR" sz="1500" i="1" dirty="0">
                <a:latin typeface="Arial" panose="020B0604020202020204" pitchFamily="34" charset="0"/>
              </a:rPr>
              <a:t>Por exemplo, o aumento da resistência de um prato faz aumentar o seu peso.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</a:pPr>
            <a:endParaRPr lang="pt-BR" altLang="pt-BR" sz="600" i="1" dirty="0">
              <a:latin typeface="Arial" panose="020B0604020202020204" pitchFamily="34" charset="0"/>
            </a:endParaRPr>
          </a:p>
          <a:p>
            <a:pPr lvl="1" algn="just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r>
              <a:rPr lang="pt-BR" altLang="pt-BR" sz="1500" dirty="0">
                <a:latin typeface="Arial" panose="020B0604020202020204" pitchFamily="34" charset="0"/>
              </a:rPr>
              <a:t> Solução </a:t>
            </a:r>
            <a:r>
              <a:rPr lang="ja-JP" altLang="pt-BR" sz="1500">
                <a:latin typeface="Arial" panose="020B0604020202020204" pitchFamily="34" charset="0"/>
              </a:rPr>
              <a:t>“</a:t>
            </a:r>
            <a:r>
              <a:rPr lang="pt-BR" altLang="ja-JP" sz="1500" dirty="0">
                <a:latin typeface="Arial" panose="020B0604020202020204" pitchFamily="34" charset="0"/>
              </a:rPr>
              <a:t>não ideal</a:t>
            </a:r>
            <a:r>
              <a:rPr lang="ja-JP" altLang="pt-BR" sz="1500">
                <a:latin typeface="Arial" panose="020B0604020202020204" pitchFamily="34" charset="0"/>
              </a:rPr>
              <a:t>”</a:t>
            </a:r>
            <a:r>
              <a:rPr lang="pt-BR" altLang="ja-JP" sz="1500" dirty="0">
                <a:latin typeface="Arial" panose="020B0604020202020204" pitchFamily="34" charset="0"/>
              </a:rPr>
              <a:t> do problema requer um </a:t>
            </a:r>
            <a:r>
              <a:rPr lang="ja-JP" altLang="pt-BR" sz="1500">
                <a:latin typeface="Arial" panose="020B0604020202020204" pitchFamily="34" charset="0"/>
              </a:rPr>
              <a:t>“</a:t>
            </a:r>
            <a:r>
              <a:rPr lang="pt-BR" altLang="ja-JP" sz="1500" dirty="0">
                <a:latin typeface="Arial" panose="020B0604020202020204" pitchFamily="34" charset="0"/>
              </a:rPr>
              <a:t>trade-off</a:t>
            </a:r>
            <a:r>
              <a:rPr lang="ja-JP" altLang="pt-BR" sz="1500">
                <a:latin typeface="Arial" panose="020B0604020202020204" pitchFamily="34" charset="0"/>
              </a:rPr>
              <a:t>”</a:t>
            </a:r>
            <a:r>
              <a:rPr lang="pt-BR" altLang="ja-JP" sz="1500" dirty="0">
                <a:latin typeface="Arial" panose="020B0604020202020204" pitchFamily="34" charset="0"/>
              </a:rPr>
              <a:t> entre os parâmetros de projeto.</a:t>
            </a:r>
          </a:p>
          <a:p>
            <a:pPr lvl="1" algn="just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endParaRPr lang="pt-BR" altLang="pt-BR" sz="750" dirty="0">
              <a:latin typeface="Arial" panose="020B0604020202020204" pitchFamily="34" charset="0"/>
            </a:endParaRPr>
          </a:p>
          <a:p>
            <a:pPr lvl="1" algn="just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r>
              <a:rPr lang="pt-BR" altLang="pt-BR" sz="1500" dirty="0">
                <a:latin typeface="Arial" panose="020B0604020202020204" pitchFamily="34" charset="0"/>
              </a:rPr>
              <a:t> Solução </a:t>
            </a:r>
            <a:r>
              <a:rPr lang="ja-JP" altLang="pt-BR" sz="1500">
                <a:latin typeface="Arial" panose="020B0604020202020204" pitchFamily="34" charset="0"/>
              </a:rPr>
              <a:t>“</a:t>
            </a:r>
            <a:r>
              <a:rPr lang="pt-BR" altLang="ja-JP" sz="1500" dirty="0">
                <a:latin typeface="Arial" panose="020B0604020202020204" pitchFamily="34" charset="0"/>
              </a:rPr>
              <a:t>ideal</a:t>
            </a:r>
            <a:r>
              <a:rPr lang="ja-JP" altLang="pt-BR" sz="1500">
                <a:latin typeface="Arial" panose="020B0604020202020204" pitchFamily="34" charset="0"/>
              </a:rPr>
              <a:t>’</a:t>
            </a:r>
            <a:r>
              <a:rPr lang="pt-BR" altLang="ja-JP" sz="1500" dirty="0">
                <a:latin typeface="Arial" panose="020B0604020202020204" pitchFamily="34" charset="0"/>
              </a:rPr>
              <a:t> do problema não requer um </a:t>
            </a:r>
            <a:r>
              <a:rPr lang="ja-JP" altLang="pt-BR" sz="1500">
                <a:latin typeface="Arial" panose="020B0604020202020204" pitchFamily="34" charset="0"/>
              </a:rPr>
              <a:t>“</a:t>
            </a:r>
            <a:r>
              <a:rPr lang="pt-BR" altLang="ja-JP" sz="1500" dirty="0">
                <a:latin typeface="Arial" panose="020B0604020202020204" pitchFamily="34" charset="0"/>
              </a:rPr>
              <a:t>trade-off</a:t>
            </a:r>
            <a:r>
              <a:rPr lang="ja-JP" altLang="pt-BR" sz="1500">
                <a:latin typeface="Arial" panose="020B0604020202020204" pitchFamily="34" charset="0"/>
              </a:rPr>
              <a:t>”</a:t>
            </a:r>
            <a:r>
              <a:rPr lang="pt-BR" altLang="ja-JP" sz="1500" dirty="0">
                <a:latin typeface="Arial" panose="020B0604020202020204" pitchFamily="34" charset="0"/>
              </a:rPr>
              <a:t> entre os parâmetros de projeto.</a:t>
            </a:r>
            <a:r>
              <a:rPr lang="pt-BR" altLang="ja-JP" sz="1800" dirty="0"/>
              <a:t> </a:t>
            </a:r>
            <a:endParaRPr lang="pt-BR" altLang="pt-BR" sz="1800" dirty="0"/>
          </a:p>
        </p:txBody>
      </p:sp>
    </p:spTree>
    <p:extLst>
      <p:ext uri="{BB962C8B-B14F-4D97-AF65-F5344CB8AC3E}">
        <p14:creationId xmlns:p14="http://schemas.microsoft.com/office/powerpoint/2010/main" val="3738337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3076">
            <a:extLst>
              <a:ext uri="{FF2B5EF4-FFF2-40B4-BE49-F238E27FC236}">
                <a16:creationId xmlns:a16="http://schemas.microsoft.com/office/drawing/2014/main" id="{B9336436-3AA8-2445-BBBE-8A3B76C06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9232" y="3714750"/>
            <a:ext cx="6265069" cy="875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A busca por uma solução em campos de conhecimento distintos difícil e complexa, devido a chamada </a:t>
            </a:r>
            <a:r>
              <a:rPr lang="ja-JP" altLang="pt-BR" sz="1350">
                <a:latin typeface="Arial" panose="020B0604020202020204" pitchFamily="34" charset="0"/>
              </a:rPr>
              <a:t>“</a:t>
            </a:r>
            <a:r>
              <a:rPr lang="pt-BR" altLang="ja-JP" sz="1350" b="1">
                <a:latin typeface="Arial" panose="020B0604020202020204" pitchFamily="34" charset="0"/>
              </a:rPr>
              <a:t>INÉRCIA PSICOLÓGICA</a:t>
            </a:r>
            <a:r>
              <a:rPr lang="ja-JP" altLang="pt-BR" sz="1350">
                <a:latin typeface="Arial" panose="020B0604020202020204" pitchFamily="34" charset="0"/>
              </a:rPr>
              <a:t>”</a:t>
            </a:r>
            <a:r>
              <a:rPr lang="pt-BR" altLang="ja-JP" sz="1350">
                <a:latin typeface="Arial" panose="020B0604020202020204" pitchFamily="34" charset="0"/>
              </a:rPr>
              <a:t> das pessoas que, fazem confiar na própria experiência e </a:t>
            </a:r>
            <a:r>
              <a:rPr lang="pt-BR" altLang="ja-JP" sz="1350" b="1">
                <a:latin typeface="Arial" panose="020B0604020202020204" pitchFamily="34" charset="0"/>
              </a:rPr>
              <a:t>não pensar fora da sua especialidade</a:t>
            </a:r>
            <a:r>
              <a:rPr lang="pt-BR" altLang="ja-JP" sz="1350">
                <a:latin typeface="Arial" panose="020B0604020202020204" pitchFamily="34" charset="0"/>
              </a:rPr>
              <a:t>.</a:t>
            </a:r>
            <a:endParaRPr lang="pt-BR" altLang="pt-BR" sz="1500"/>
          </a:p>
        </p:txBody>
      </p:sp>
      <p:sp>
        <p:nvSpPr>
          <p:cNvPr id="32770" name="AutoShape 3077">
            <a:extLst>
              <a:ext uri="{FF2B5EF4-FFF2-40B4-BE49-F238E27FC236}">
                <a16:creationId xmlns:a16="http://schemas.microsoft.com/office/drawing/2014/main" id="{0AEA069A-EAB9-8A47-A305-32FB72FF5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2050" y="5010150"/>
            <a:ext cx="2686050" cy="62865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32771" name="Text Box 3078">
            <a:extLst>
              <a:ext uri="{FF2B5EF4-FFF2-40B4-BE49-F238E27FC236}">
                <a16:creationId xmlns:a16="http://schemas.microsoft.com/office/drawing/2014/main" id="{AD90E94D-38FB-8745-BF2D-A2997DFCF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975" y="5000626"/>
            <a:ext cx="2343150" cy="620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500" b="1">
                <a:latin typeface="Arial" panose="020B0604020202020204" pitchFamily="34" charset="0"/>
              </a:rPr>
              <a:t>Teoria da Solução de Problemas Inventivos</a:t>
            </a:r>
          </a:p>
        </p:txBody>
      </p:sp>
      <p:sp>
        <p:nvSpPr>
          <p:cNvPr id="32772" name="AutoShape 3079">
            <a:extLst>
              <a:ext uri="{FF2B5EF4-FFF2-40B4-BE49-F238E27FC236}">
                <a16:creationId xmlns:a16="http://schemas.microsoft.com/office/drawing/2014/main" id="{599AAC43-93F5-DD4A-A739-AA24C0980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5000625"/>
            <a:ext cx="2647950" cy="657225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32773" name="Text Box 3080">
            <a:extLst>
              <a:ext uri="{FF2B5EF4-FFF2-40B4-BE49-F238E27FC236}">
                <a16:creationId xmlns:a16="http://schemas.microsoft.com/office/drawing/2014/main" id="{28668108-3D34-394C-9D3F-732690C82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4975" y="5048251"/>
            <a:ext cx="2352675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ja-JP" altLang="pt-BR" sz="1650" b="1">
                <a:latin typeface="Arial" panose="020B0604020202020204" pitchFamily="34" charset="0"/>
              </a:rPr>
              <a:t>“</a:t>
            </a:r>
            <a:r>
              <a:rPr lang="pt-BR" altLang="ja-JP" sz="1500" b="1">
                <a:latin typeface="Arial" panose="020B0604020202020204" pitchFamily="34" charset="0"/>
              </a:rPr>
              <a:t>VENCER</a:t>
            </a:r>
            <a:r>
              <a:rPr lang="ja-JP" altLang="pt-BR" sz="1500" b="1">
                <a:latin typeface="Arial" panose="020B0604020202020204" pitchFamily="34" charset="0"/>
              </a:rPr>
              <a:t>”</a:t>
            </a:r>
            <a:endParaRPr lang="pt-BR" altLang="ja-JP" sz="15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500" b="1">
                <a:latin typeface="Arial" panose="020B0604020202020204" pitchFamily="34" charset="0"/>
              </a:rPr>
              <a:t>INÉRCIA PSICOLÓGICA</a:t>
            </a:r>
            <a:r>
              <a:rPr lang="pt-BR" altLang="pt-BR" sz="1650" b="1">
                <a:latin typeface="Arial" panose="020B0604020202020204" pitchFamily="34" charset="0"/>
              </a:rPr>
              <a:t> </a:t>
            </a:r>
            <a:endParaRPr lang="pt-BR" altLang="pt-BR" sz="1800">
              <a:latin typeface="Arial" panose="020B0604020202020204" pitchFamily="34" charset="0"/>
            </a:endParaRPr>
          </a:p>
        </p:txBody>
      </p:sp>
      <p:sp>
        <p:nvSpPr>
          <p:cNvPr id="32774" name="AutoShape 3081">
            <a:extLst>
              <a:ext uri="{FF2B5EF4-FFF2-40B4-BE49-F238E27FC236}">
                <a16:creationId xmlns:a16="http://schemas.microsoft.com/office/drawing/2014/main" id="{2D88410C-F14D-304E-AC69-85DFD773F16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429125" y="5143500"/>
            <a:ext cx="400050" cy="400050"/>
          </a:xfrm>
          <a:prstGeom prst="downArrow">
            <a:avLst>
              <a:gd name="adj1" fmla="val 51667"/>
              <a:gd name="adj2" fmla="val 54167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grpSp>
        <p:nvGrpSpPr>
          <p:cNvPr id="32775" name="Group 3131">
            <a:extLst>
              <a:ext uri="{FF2B5EF4-FFF2-40B4-BE49-F238E27FC236}">
                <a16:creationId xmlns:a16="http://schemas.microsoft.com/office/drawing/2014/main" id="{D456EF3B-8F96-494C-9E3D-56EA7E806B8E}"/>
              </a:ext>
            </a:extLst>
          </p:cNvPr>
          <p:cNvGrpSpPr>
            <a:grpSpLocks/>
          </p:cNvGrpSpPr>
          <p:nvPr/>
        </p:nvGrpSpPr>
        <p:grpSpPr bwMode="auto">
          <a:xfrm>
            <a:off x="2000250" y="981076"/>
            <a:ext cx="5467350" cy="2474119"/>
            <a:chOff x="280" y="0"/>
            <a:chExt cx="4592" cy="2078"/>
          </a:xfrm>
        </p:grpSpPr>
        <p:sp>
          <p:nvSpPr>
            <p:cNvPr id="32776" name="Line 3085">
              <a:extLst>
                <a:ext uri="{FF2B5EF4-FFF2-40B4-BE49-F238E27FC236}">
                  <a16:creationId xmlns:a16="http://schemas.microsoft.com/office/drawing/2014/main" id="{BD41435C-FC0F-F24E-B825-EFB60608E3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4" y="1115"/>
              <a:ext cx="432" cy="64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77" name="Line 3086">
              <a:extLst>
                <a:ext uri="{FF2B5EF4-FFF2-40B4-BE49-F238E27FC236}">
                  <a16:creationId xmlns:a16="http://schemas.microsoft.com/office/drawing/2014/main" id="{04DC60CC-A8E9-B048-BA83-ADBD710065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33" y="1145"/>
              <a:ext cx="283" cy="58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78" name="Line 3087">
              <a:extLst>
                <a:ext uri="{FF2B5EF4-FFF2-40B4-BE49-F238E27FC236}">
                  <a16:creationId xmlns:a16="http://schemas.microsoft.com/office/drawing/2014/main" id="{20A9B6D2-DCF5-EA49-8D51-6E5066A397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8" y="840"/>
              <a:ext cx="0" cy="88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79" name="Line 3088">
              <a:extLst>
                <a:ext uri="{FF2B5EF4-FFF2-40B4-BE49-F238E27FC236}">
                  <a16:creationId xmlns:a16="http://schemas.microsoft.com/office/drawing/2014/main" id="{03BEC559-551C-C642-898E-4981C00CAB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620" y="1755"/>
              <a:ext cx="313" cy="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80" name="AutoShape 3096">
              <a:extLst>
                <a:ext uri="{FF2B5EF4-FFF2-40B4-BE49-F238E27FC236}">
                  <a16:creationId xmlns:a16="http://schemas.microsoft.com/office/drawing/2014/main" id="{75661BE6-6AEC-AB41-9C47-7220A7162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1" y="944"/>
              <a:ext cx="142" cy="306"/>
            </a:xfrm>
            <a:prstGeom prst="upArrow">
              <a:avLst>
                <a:gd name="adj1" fmla="val 50000"/>
                <a:gd name="adj2" fmla="val 53873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32781" name="Text Box 3097">
              <a:extLst>
                <a:ext uri="{FF2B5EF4-FFF2-40B4-BE49-F238E27FC236}">
                  <a16:creationId xmlns:a16="http://schemas.microsoft.com/office/drawing/2014/main" id="{168584E0-F1C0-F548-B820-34485B6C5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2" y="1089"/>
              <a:ext cx="738" cy="4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Vetor inércia psicológica</a:t>
              </a:r>
            </a:p>
          </p:txBody>
        </p:sp>
        <p:sp>
          <p:nvSpPr>
            <p:cNvPr id="32782" name="Oval 3098">
              <a:extLst>
                <a:ext uri="{FF2B5EF4-FFF2-40B4-BE49-F238E27FC236}">
                  <a16:creationId xmlns:a16="http://schemas.microsoft.com/office/drawing/2014/main" id="{F223CD79-B82C-8E45-805C-BFCC912EC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" y="1659"/>
              <a:ext cx="1309" cy="419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Solução do Problema</a:t>
              </a:r>
            </a:p>
          </p:txBody>
        </p:sp>
        <p:sp>
          <p:nvSpPr>
            <p:cNvPr id="32783" name="Oval 3099">
              <a:extLst>
                <a:ext uri="{FF2B5EF4-FFF2-40B4-BE49-F238E27FC236}">
                  <a16:creationId xmlns:a16="http://schemas.microsoft.com/office/drawing/2014/main" id="{A165EBE8-28C8-7D46-9A58-8E57C2C34C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6" y="1725"/>
              <a:ext cx="1189" cy="244"/>
            </a:xfrm>
            <a:prstGeom prst="ellipse">
              <a:avLst/>
            </a:prstGeom>
            <a:solidFill>
              <a:srgbClr val="FFFF00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 b="1">
                  <a:latin typeface="Arial" panose="020B0604020202020204" pitchFamily="34" charset="0"/>
                </a:rPr>
                <a:t>Problema</a:t>
              </a:r>
              <a:endParaRPr lang="pt-BR" altLang="pt-BR" sz="675" b="1">
                <a:latin typeface="Arial" panose="020B0604020202020204" pitchFamily="34" charset="0"/>
              </a:endParaRPr>
            </a:p>
          </p:txBody>
        </p:sp>
        <p:sp>
          <p:nvSpPr>
            <p:cNvPr id="32784" name="Oval 3100">
              <a:extLst>
                <a:ext uri="{FF2B5EF4-FFF2-40B4-BE49-F238E27FC236}">
                  <a16:creationId xmlns:a16="http://schemas.microsoft.com/office/drawing/2014/main" id="{DAF694CE-59D2-1841-8083-0D83215FA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860"/>
              <a:ext cx="1060" cy="3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tIns="8100" rIns="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>
                  <a:latin typeface="Arial" panose="020B0604020202020204" pitchFamily="34" charset="0"/>
                </a:rPr>
                <a:t>Concepção n</a:t>
              </a:r>
            </a:p>
          </p:txBody>
        </p:sp>
        <p:grpSp>
          <p:nvGrpSpPr>
            <p:cNvPr id="32785" name="Group 3101">
              <a:extLst>
                <a:ext uri="{FF2B5EF4-FFF2-40B4-BE49-F238E27FC236}">
                  <a16:creationId xmlns:a16="http://schemas.microsoft.com/office/drawing/2014/main" id="{78E8B5C0-2B9A-D94F-8667-16C838E633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4" y="316"/>
              <a:ext cx="533" cy="567"/>
              <a:chOff x="4656" y="2208"/>
              <a:chExt cx="624" cy="715"/>
            </a:xfrm>
          </p:grpSpPr>
          <p:sp>
            <p:nvSpPr>
              <p:cNvPr id="32808" name="Oval 3102">
                <a:extLst>
                  <a:ext uri="{FF2B5EF4-FFF2-40B4-BE49-F238E27FC236}">
                    <a16:creationId xmlns:a16="http://schemas.microsoft.com/office/drawing/2014/main" id="{6F0DAE18-0ED5-0749-A317-178DE8D60A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4" y="2613"/>
                <a:ext cx="84" cy="136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1800"/>
              </a:p>
            </p:txBody>
          </p:sp>
          <p:sp>
            <p:nvSpPr>
              <p:cNvPr id="32809" name="Line 3103">
                <a:extLst>
                  <a:ext uri="{FF2B5EF4-FFF2-40B4-BE49-F238E27FC236}">
                    <a16:creationId xmlns:a16="http://schemas.microsoft.com/office/drawing/2014/main" id="{E2E5A606-5946-FE40-A22B-A08C42215C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70" y="2694"/>
                <a:ext cx="310" cy="9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500"/>
              </a:p>
            </p:txBody>
          </p:sp>
          <p:sp>
            <p:nvSpPr>
              <p:cNvPr id="32810" name="Line 3104">
                <a:extLst>
                  <a:ext uri="{FF2B5EF4-FFF2-40B4-BE49-F238E27FC236}">
                    <a16:creationId xmlns:a16="http://schemas.microsoft.com/office/drawing/2014/main" id="{2FD93ADF-DF3F-CE49-8010-FA7F45088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70" y="2400"/>
                <a:ext cx="262" cy="25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500"/>
              </a:p>
            </p:txBody>
          </p:sp>
          <p:sp>
            <p:nvSpPr>
              <p:cNvPr id="32811" name="Line 3105">
                <a:extLst>
                  <a:ext uri="{FF2B5EF4-FFF2-40B4-BE49-F238E27FC236}">
                    <a16:creationId xmlns:a16="http://schemas.microsoft.com/office/drawing/2014/main" id="{4DD78133-EE80-5843-BF97-7E12C3E39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769" y="2461"/>
                <a:ext cx="168" cy="19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500"/>
              </a:p>
            </p:txBody>
          </p:sp>
          <p:sp>
            <p:nvSpPr>
              <p:cNvPr id="32812" name="Text Box 3106">
                <a:extLst>
                  <a:ext uri="{FF2B5EF4-FFF2-40B4-BE49-F238E27FC236}">
                    <a16:creationId xmlns:a16="http://schemas.microsoft.com/office/drawing/2014/main" id="{A8E73B56-156F-074A-8B29-6E3DFACDB8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2208"/>
                <a:ext cx="624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pt-BR" altLang="pt-BR" sz="1200" b="1">
                    <a:latin typeface="Arial" panose="020B0604020202020204" pitchFamily="34" charset="0"/>
                  </a:rPr>
                  <a:t>Variante</a:t>
                </a:r>
                <a:endParaRPr lang="pt-BR" altLang="pt-BR" sz="600"/>
              </a:p>
            </p:txBody>
          </p:sp>
          <p:sp>
            <p:nvSpPr>
              <p:cNvPr id="32813" name="Line 3107">
                <a:extLst>
                  <a:ext uri="{FF2B5EF4-FFF2-40B4-BE49-F238E27FC236}">
                    <a16:creationId xmlns:a16="http://schemas.microsoft.com/office/drawing/2014/main" id="{20DB4981-D747-9849-BD02-4F6D7414D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53" y="2692"/>
                <a:ext cx="200" cy="231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 sz="1500"/>
              </a:p>
            </p:txBody>
          </p:sp>
        </p:grpSp>
        <p:sp>
          <p:nvSpPr>
            <p:cNvPr id="32786" name="Oval 3108">
              <a:extLst>
                <a:ext uri="{FF2B5EF4-FFF2-40B4-BE49-F238E27FC236}">
                  <a16:creationId xmlns:a16="http://schemas.microsoft.com/office/drawing/2014/main" id="{0CF22416-AD77-2040-B52E-0C2D6491A8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517"/>
              <a:ext cx="1061" cy="3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tIns="8100" rIns="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>
                  <a:latin typeface="Arial" panose="020B0604020202020204" pitchFamily="34" charset="0"/>
                </a:rPr>
                <a:t>Concepção n</a:t>
              </a:r>
            </a:p>
          </p:txBody>
        </p:sp>
        <p:sp>
          <p:nvSpPr>
            <p:cNvPr id="32787" name="Oval 3109">
              <a:extLst>
                <a:ext uri="{FF2B5EF4-FFF2-40B4-BE49-F238E27FC236}">
                  <a16:creationId xmlns:a16="http://schemas.microsoft.com/office/drawing/2014/main" id="{FEE1A4F8-3C5A-1A4D-92DC-F0562A2EC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3" y="321"/>
              <a:ext cx="72" cy="10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32788" name="Line 3110">
              <a:extLst>
                <a:ext uri="{FF2B5EF4-FFF2-40B4-BE49-F238E27FC236}">
                  <a16:creationId xmlns:a16="http://schemas.microsoft.com/office/drawing/2014/main" id="{A858F63E-3A45-234F-B4A3-175B5B3C93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1" y="343"/>
              <a:ext cx="347" cy="4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89" name="Line 3111">
              <a:extLst>
                <a:ext uri="{FF2B5EF4-FFF2-40B4-BE49-F238E27FC236}">
                  <a16:creationId xmlns:a16="http://schemas.microsoft.com/office/drawing/2014/main" id="{1D8FEA2C-9FB0-0847-A405-F423AB764A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1" y="152"/>
              <a:ext cx="142" cy="20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90" name="Line 3112">
              <a:extLst>
                <a:ext uri="{FF2B5EF4-FFF2-40B4-BE49-F238E27FC236}">
                  <a16:creationId xmlns:a16="http://schemas.microsoft.com/office/drawing/2014/main" id="{FB4E46B9-5F60-144E-BCB5-FA691A48C8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0" y="305"/>
              <a:ext cx="349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91" name="Text Box 3113">
              <a:extLst>
                <a:ext uri="{FF2B5EF4-FFF2-40B4-BE49-F238E27FC236}">
                  <a16:creationId xmlns:a16="http://schemas.microsoft.com/office/drawing/2014/main" id="{15155D81-DE0C-EE48-AF4B-297E9D8B29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3" y="0"/>
              <a:ext cx="53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Variante</a:t>
              </a:r>
              <a:endParaRPr lang="pt-BR" altLang="pt-BR" sz="600"/>
            </a:p>
          </p:txBody>
        </p:sp>
        <p:sp>
          <p:nvSpPr>
            <p:cNvPr id="32792" name="Line 3114">
              <a:extLst>
                <a:ext uri="{FF2B5EF4-FFF2-40B4-BE49-F238E27FC236}">
                  <a16:creationId xmlns:a16="http://schemas.microsoft.com/office/drawing/2014/main" id="{57DD4AB1-D490-3847-8587-A8DB6C755E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29" y="387"/>
              <a:ext cx="8" cy="13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93" name="Oval 3115">
              <a:extLst>
                <a:ext uri="{FF2B5EF4-FFF2-40B4-BE49-F238E27FC236}">
                  <a16:creationId xmlns:a16="http://schemas.microsoft.com/office/drawing/2014/main" id="{0FBAF533-D09E-5149-9346-A028294C0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8" y="898"/>
              <a:ext cx="1060" cy="309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tIns="8100" rIns="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>
                  <a:latin typeface="Arial" panose="020B0604020202020204" pitchFamily="34" charset="0"/>
                </a:rPr>
                <a:t>Concepção n</a:t>
              </a:r>
            </a:p>
          </p:txBody>
        </p:sp>
        <p:sp>
          <p:nvSpPr>
            <p:cNvPr id="32794" name="Oval 3116">
              <a:extLst>
                <a:ext uri="{FF2B5EF4-FFF2-40B4-BE49-F238E27FC236}">
                  <a16:creationId xmlns:a16="http://schemas.microsoft.com/office/drawing/2014/main" id="{595D8E9C-BF9B-A54D-AF3B-F367E45B9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" y="1584"/>
              <a:ext cx="1060" cy="30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lIns="0" tIns="8100" rIns="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>
                  <a:latin typeface="Arial" panose="020B0604020202020204" pitchFamily="34" charset="0"/>
                </a:rPr>
                <a:t>Concepção n</a:t>
              </a:r>
            </a:p>
          </p:txBody>
        </p:sp>
        <p:sp>
          <p:nvSpPr>
            <p:cNvPr id="32795" name="Oval 3117">
              <a:extLst>
                <a:ext uri="{FF2B5EF4-FFF2-40B4-BE49-F238E27FC236}">
                  <a16:creationId xmlns:a16="http://schemas.microsoft.com/office/drawing/2014/main" id="{BD6EF250-CD59-8748-AC7C-BE4295C6E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572"/>
              <a:ext cx="72" cy="10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32796" name="Line 3118">
              <a:extLst>
                <a:ext uri="{FF2B5EF4-FFF2-40B4-BE49-F238E27FC236}">
                  <a16:creationId xmlns:a16="http://schemas.microsoft.com/office/drawing/2014/main" id="{7819EC95-244B-6040-8985-40C13CEB0F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13" y="441"/>
              <a:ext cx="246" cy="19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97" name="Line 3119">
              <a:extLst>
                <a:ext uri="{FF2B5EF4-FFF2-40B4-BE49-F238E27FC236}">
                  <a16:creationId xmlns:a16="http://schemas.microsoft.com/office/drawing/2014/main" id="{CCF49C8B-3560-7747-AE5D-696B3FA0FB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1" y="403"/>
              <a:ext cx="224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98" name="Line 3120">
              <a:extLst>
                <a:ext uri="{FF2B5EF4-FFF2-40B4-BE49-F238E27FC236}">
                  <a16:creationId xmlns:a16="http://schemas.microsoft.com/office/drawing/2014/main" id="{9664AE05-499A-E747-B5B3-BD8522738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3" y="632"/>
              <a:ext cx="246" cy="1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799" name="Text Box 3121">
              <a:extLst>
                <a:ext uri="{FF2B5EF4-FFF2-40B4-BE49-F238E27FC236}">
                  <a16:creationId xmlns:a16="http://schemas.microsoft.com/office/drawing/2014/main" id="{9E0CAF47-3C6E-5C4C-B08B-8A2D28E53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3" y="251"/>
              <a:ext cx="53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Variante</a:t>
              </a:r>
              <a:endParaRPr lang="pt-BR" altLang="pt-BR" sz="600"/>
            </a:p>
          </p:txBody>
        </p:sp>
        <p:sp>
          <p:nvSpPr>
            <p:cNvPr id="32800" name="Line 3122">
              <a:extLst>
                <a:ext uri="{FF2B5EF4-FFF2-40B4-BE49-F238E27FC236}">
                  <a16:creationId xmlns:a16="http://schemas.microsoft.com/office/drawing/2014/main" id="{D9D8EC85-604A-0C49-835D-D84C5015C5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66" y="635"/>
              <a:ext cx="198" cy="30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801" name="Oval 3123">
              <a:extLst>
                <a:ext uri="{FF2B5EF4-FFF2-40B4-BE49-F238E27FC236}">
                  <a16:creationId xmlns:a16="http://schemas.microsoft.com/office/drawing/2014/main" id="{E28E8ADD-C953-0843-9906-919523AC1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" y="1296"/>
              <a:ext cx="72" cy="108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32802" name="Line 3124">
              <a:extLst>
                <a:ext uri="{FF2B5EF4-FFF2-40B4-BE49-F238E27FC236}">
                  <a16:creationId xmlns:a16="http://schemas.microsoft.com/office/drawing/2014/main" id="{F01E24A1-24AE-784D-8168-C65E404FB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1360"/>
              <a:ext cx="265" cy="7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803" name="Line 3125">
              <a:extLst>
                <a:ext uri="{FF2B5EF4-FFF2-40B4-BE49-F238E27FC236}">
                  <a16:creationId xmlns:a16="http://schemas.microsoft.com/office/drawing/2014/main" id="{E338D6B6-BD83-F347-A2BE-A6E7A80C1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" y="1127"/>
              <a:ext cx="224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804" name="Line 3126">
              <a:extLst>
                <a:ext uri="{FF2B5EF4-FFF2-40B4-BE49-F238E27FC236}">
                  <a16:creationId xmlns:a16="http://schemas.microsoft.com/office/drawing/2014/main" id="{115B82CC-79AA-F946-A87B-17856BF51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6" y="1175"/>
              <a:ext cx="144" cy="15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805" name="Text Box 3127">
              <a:extLst>
                <a:ext uri="{FF2B5EF4-FFF2-40B4-BE49-F238E27FC236}">
                  <a16:creationId xmlns:a16="http://schemas.microsoft.com/office/drawing/2014/main" id="{66EC0F7B-3C0D-7147-A34D-2B7CD058A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" y="974"/>
              <a:ext cx="53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Variante</a:t>
              </a:r>
              <a:endParaRPr lang="pt-BR" altLang="pt-BR" sz="600"/>
            </a:p>
          </p:txBody>
        </p:sp>
        <p:sp>
          <p:nvSpPr>
            <p:cNvPr id="32806" name="Line 3128">
              <a:extLst>
                <a:ext uri="{FF2B5EF4-FFF2-40B4-BE49-F238E27FC236}">
                  <a16:creationId xmlns:a16="http://schemas.microsoft.com/office/drawing/2014/main" id="{9C7B8808-5433-F845-BFE9-679CCE5F4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4" y="1358"/>
              <a:ext cx="156" cy="26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32807" name="Line 3129">
              <a:extLst>
                <a:ext uri="{FF2B5EF4-FFF2-40B4-BE49-F238E27FC236}">
                  <a16:creationId xmlns:a16="http://schemas.microsoft.com/office/drawing/2014/main" id="{B104AE58-F547-1946-9BEE-74C76594BB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03" y="1089"/>
              <a:ext cx="82" cy="11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</p:grpSp>
    </p:spTree>
    <p:extLst>
      <p:ext uri="{BB962C8B-B14F-4D97-AF65-F5344CB8AC3E}">
        <p14:creationId xmlns:p14="http://schemas.microsoft.com/office/powerpoint/2010/main" val="4197887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ext Box 1028">
            <a:extLst>
              <a:ext uri="{FF2B5EF4-FFF2-40B4-BE49-F238E27FC236}">
                <a16:creationId xmlns:a16="http://schemas.microsoft.com/office/drawing/2014/main" id="{34F4690E-652E-F144-B229-D507651E6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85725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A    H I S T Ó R I A     D A    T E O R I A</a:t>
            </a:r>
          </a:p>
        </p:txBody>
      </p:sp>
      <p:sp>
        <p:nvSpPr>
          <p:cNvPr id="36866" name="Line 1029">
            <a:extLst>
              <a:ext uri="{FF2B5EF4-FFF2-40B4-BE49-F238E27FC236}">
                <a16:creationId xmlns:a16="http://schemas.microsoft.com/office/drawing/2014/main" id="{C14E7899-4B2E-334E-81B1-D2721A916B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14300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36867" name="Oval 1031">
            <a:extLst>
              <a:ext uri="{FF2B5EF4-FFF2-40B4-BE49-F238E27FC236}">
                <a16:creationId xmlns:a16="http://schemas.microsoft.com/office/drawing/2014/main" id="{D8FDB912-9000-3144-842F-20CFD088F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4007" y="1565672"/>
            <a:ext cx="1826419" cy="628650"/>
          </a:xfrm>
          <a:prstGeom prst="ellipse">
            <a:avLst/>
          </a:pr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lIns="13500" tIns="8100" rIns="13500" bIns="81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500" b="1">
                <a:latin typeface="Arial" panose="020B0604020202020204" pitchFamily="34" charset="0"/>
              </a:rPr>
              <a:t>Solução do Problema</a:t>
            </a:r>
          </a:p>
        </p:txBody>
      </p:sp>
      <p:sp>
        <p:nvSpPr>
          <p:cNvPr id="36868" name="AutoShape 1032">
            <a:extLst>
              <a:ext uri="{FF2B5EF4-FFF2-40B4-BE49-F238E27FC236}">
                <a16:creationId xmlns:a16="http://schemas.microsoft.com/office/drawing/2014/main" id="{4C459E84-953A-3D48-AAC2-2FC3272216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525" y="1565672"/>
            <a:ext cx="2228850" cy="62865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 w="38100">
            <a:solidFill>
              <a:srgbClr val="FF0000"/>
            </a:solidFill>
            <a:round/>
            <a:headEnd/>
            <a:tailEnd/>
          </a:ln>
        </p:spPr>
        <p:txBody>
          <a:bodyPr lIns="13500" tIns="8100" rIns="13500" bIns="810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500" b="1">
                <a:latin typeface="Arial" panose="020B0604020202020204" pitchFamily="34" charset="0"/>
              </a:rPr>
              <a:t>Teoria da Solução de Problemas Inventivos</a:t>
            </a:r>
          </a:p>
        </p:txBody>
      </p:sp>
      <p:sp>
        <p:nvSpPr>
          <p:cNvPr id="36869" name="AutoShape 1033">
            <a:extLst>
              <a:ext uri="{FF2B5EF4-FFF2-40B4-BE49-F238E27FC236}">
                <a16:creationId xmlns:a16="http://schemas.microsoft.com/office/drawing/2014/main" id="{335992B3-2DF6-E142-A75C-BE043ECC4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1875" y="1794272"/>
            <a:ext cx="1714500" cy="171450"/>
          </a:xfrm>
          <a:prstGeom prst="rightArrow">
            <a:avLst>
              <a:gd name="adj1" fmla="val 50000"/>
              <a:gd name="adj2" fmla="val 250000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36870" name="Text Box 1034">
            <a:extLst>
              <a:ext uri="{FF2B5EF4-FFF2-40B4-BE49-F238E27FC236}">
                <a16:creationId xmlns:a16="http://schemas.microsoft.com/office/drawing/2014/main" id="{DDF0BC8A-1999-E14B-B3A3-A7229B8AC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725" y="1519238"/>
            <a:ext cx="1747838" cy="9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Genrich S. Altschuler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750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750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(1946)</a:t>
            </a:r>
          </a:p>
        </p:txBody>
      </p:sp>
      <p:sp>
        <p:nvSpPr>
          <p:cNvPr id="36871" name="Text Box 1035">
            <a:extLst>
              <a:ext uri="{FF2B5EF4-FFF2-40B4-BE49-F238E27FC236}">
                <a16:creationId xmlns:a16="http://schemas.microsoft.com/office/drawing/2014/main" id="{DFB846B2-1570-084A-8F78-5FAAE2E82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2343150"/>
            <a:ext cx="6515100" cy="2006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0500" indent="-1905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Ser sistemática;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Ser um guia;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Apresentar repetibilidade, confiabilidade e não depender de ferramentas psicológicas;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Permitir o acesso ao campo de conhecimento inventivo;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Permitir adicionar ao corpo de conhecimento inventivo;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Ser familiar bastante para os inventores.</a:t>
            </a:r>
            <a:endParaRPr lang="pt-BR" altLang="pt-BR" sz="2100"/>
          </a:p>
        </p:txBody>
      </p:sp>
      <p:sp>
        <p:nvSpPr>
          <p:cNvPr id="36872" name="Text Box 1036">
            <a:extLst>
              <a:ext uri="{FF2B5EF4-FFF2-40B4-BE49-F238E27FC236}">
                <a16:creationId xmlns:a16="http://schemas.microsoft.com/office/drawing/2014/main" id="{1DD040B6-33C9-C443-98D5-AB4078F06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4629150"/>
            <a:ext cx="6400800" cy="1316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</a:pPr>
            <a:r>
              <a:rPr lang="pt-BR" altLang="pt-BR" sz="1500">
                <a:latin typeface="Arial" panose="020B0604020202020204" pitchFamily="34" charset="0"/>
              </a:rPr>
              <a:t> Para desenvolver a Teoria da Solução de Problemas Inventivos, Alschuller pesquisou mais de 1.500.000 patentes, das quais, a maioria mostrou-se pouco inventiva, apresentando apenas resultados de melhoria.</a:t>
            </a:r>
            <a:r>
              <a:rPr lang="pt-BR" altLang="pt-BR"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2304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6EB239E4-1E94-6841-B3AB-8B197CEAB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3371850"/>
            <a:ext cx="5257800" cy="251460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40962" name="Text Box 3">
            <a:extLst>
              <a:ext uri="{FF2B5EF4-FFF2-40B4-BE49-F238E27FC236}">
                <a16:creationId xmlns:a16="http://schemas.microsoft.com/office/drawing/2014/main" id="{A2FE8515-EFF4-DD43-9AC8-D90BC639E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1428751"/>
            <a:ext cx="62293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>
                <a:solidFill>
                  <a:srgbClr val="FF0000"/>
                </a:solidFill>
                <a:latin typeface="Arial" panose="020B0604020202020204" pitchFamily="34" charset="0"/>
              </a:rPr>
              <a:t>LEI DA IDEALIDADE DO PRODUTO</a:t>
            </a:r>
            <a:r>
              <a:rPr lang="pt-BR" altLang="pt-BR" sz="1500">
                <a:latin typeface="Arial" panose="020B0604020202020204" pitchFamily="34" charset="0"/>
              </a:rPr>
              <a:t>: Segundo a TIPS, </a:t>
            </a:r>
            <a:r>
              <a:rPr lang="pt-BR" altLang="pt-BR" sz="1500">
                <a:solidFill>
                  <a:srgbClr val="FF0000"/>
                </a:solidFill>
                <a:latin typeface="Arial" panose="020B0604020202020204" pitchFamily="34" charset="0"/>
              </a:rPr>
              <a:t>o projeto do produto</a:t>
            </a:r>
            <a:r>
              <a:rPr lang="pt-BR" altLang="pt-BR" sz="1500">
                <a:latin typeface="Arial" panose="020B0604020202020204" pitchFamily="34" charset="0"/>
              </a:rPr>
              <a:t> é visto como sendo um processo de </a:t>
            </a:r>
            <a:r>
              <a:rPr lang="pt-BR" altLang="pt-BR" sz="1500">
                <a:solidFill>
                  <a:srgbClr val="FF0000"/>
                </a:solidFill>
                <a:latin typeface="Arial" panose="020B0604020202020204" pitchFamily="34" charset="0"/>
              </a:rPr>
              <a:t>busca de uma solução ideal</a:t>
            </a:r>
            <a:r>
              <a:rPr lang="pt-BR" altLang="pt-BR" sz="1500">
                <a:latin typeface="Arial" panose="020B0604020202020204" pitchFamily="34" charset="0"/>
              </a:rPr>
              <a:t>, para um dado problema.</a:t>
            </a:r>
            <a:endParaRPr lang="pt-BR" altLang="pt-BR" sz="15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40963" name="Group 4">
            <a:extLst>
              <a:ext uri="{FF2B5EF4-FFF2-40B4-BE49-F238E27FC236}">
                <a16:creationId xmlns:a16="http://schemas.microsoft.com/office/drawing/2014/main" id="{873F7AB1-6C43-3344-80B9-C9378A314C3A}"/>
              </a:ext>
            </a:extLst>
          </p:cNvPr>
          <p:cNvGrpSpPr>
            <a:grpSpLocks/>
          </p:cNvGrpSpPr>
          <p:nvPr/>
        </p:nvGrpSpPr>
        <p:grpSpPr bwMode="auto">
          <a:xfrm>
            <a:off x="2657475" y="2353866"/>
            <a:ext cx="3937397" cy="586977"/>
            <a:chOff x="1056" y="1152"/>
            <a:chExt cx="3307" cy="493"/>
          </a:xfrm>
        </p:grpSpPr>
        <p:sp>
          <p:nvSpPr>
            <p:cNvPr id="40976" name="Text Box 5">
              <a:extLst>
                <a:ext uri="{FF2B5EF4-FFF2-40B4-BE49-F238E27FC236}">
                  <a16:creationId xmlns:a16="http://schemas.microsoft.com/office/drawing/2014/main" id="{64CBAFDB-1EBA-DC4F-BFA8-CBD506E4C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152"/>
              <a:ext cx="33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IDEALIDADE = </a:t>
              </a:r>
              <a:r>
                <a:rPr lang="pt-BR" altLang="pt-BR" sz="1350">
                  <a:latin typeface="Arial" panose="020B0604020202020204" pitchFamily="34" charset="0"/>
                  <a:sym typeface="Symbol" pitchFamily="2" charset="2"/>
                </a:rPr>
                <a:t> E</a:t>
              </a:r>
              <a:r>
                <a:rPr lang="pt-BR" altLang="pt-BR" sz="1350">
                  <a:latin typeface="Arial" panose="020B0604020202020204" pitchFamily="34" charset="0"/>
                </a:rPr>
                <a:t>feitos  Benéficos  ao  Produto</a:t>
              </a:r>
            </a:p>
          </p:txBody>
        </p:sp>
        <p:sp>
          <p:nvSpPr>
            <p:cNvPr id="40977" name="Text Box 6">
              <a:extLst>
                <a:ext uri="{FF2B5EF4-FFF2-40B4-BE49-F238E27FC236}">
                  <a16:creationId xmlns:a16="http://schemas.microsoft.com/office/drawing/2014/main" id="{975A9B93-72B3-924C-9622-DAC0BF64C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393"/>
              <a:ext cx="225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  <a:sym typeface="Symbol" pitchFamily="2" charset="2"/>
                </a:rPr>
                <a:t> E</a:t>
              </a:r>
              <a:r>
                <a:rPr lang="pt-BR" altLang="pt-BR" sz="1350">
                  <a:latin typeface="Arial" panose="020B0604020202020204" pitchFamily="34" charset="0"/>
                </a:rPr>
                <a:t>feitos Prejudiciais ao Produto</a:t>
              </a:r>
            </a:p>
          </p:txBody>
        </p:sp>
        <p:sp>
          <p:nvSpPr>
            <p:cNvPr id="40978" name="Line 7">
              <a:extLst>
                <a:ext uri="{FF2B5EF4-FFF2-40B4-BE49-F238E27FC236}">
                  <a16:creationId xmlns:a16="http://schemas.microsoft.com/office/drawing/2014/main" id="{AA82BECB-892E-4043-86B5-C1A3FD9E92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392"/>
              <a:ext cx="21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40979" name="Rectangle 8">
              <a:extLst>
                <a:ext uri="{FF2B5EF4-FFF2-40B4-BE49-F238E27FC236}">
                  <a16:creationId xmlns:a16="http://schemas.microsoft.com/office/drawing/2014/main" id="{6D5965F4-0702-7A40-8C07-197081308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153"/>
              <a:ext cx="3264" cy="4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</p:grpSp>
      <p:sp>
        <p:nvSpPr>
          <p:cNvPr id="40964" name="Text Box 9">
            <a:extLst>
              <a:ext uri="{FF2B5EF4-FFF2-40B4-BE49-F238E27FC236}">
                <a16:creationId xmlns:a16="http://schemas.microsoft.com/office/drawing/2014/main" id="{F490E687-0197-2744-93FC-717AB9DD5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0325" y="2925366"/>
            <a:ext cx="365760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350" i="1">
                <a:latin typeface="Arial" panose="020B0604020202020204" pitchFamily="34" charset="0"/>
              </a:rPr>
              <a:t>Efeito </a:t>
            </a:r>
            <a:r>
              <a:rPr lang="pt-BR" altLang="pt-BR" sz="1350" b="1" i="1">
                <a:latin typeface="Arial" panose="020B0604020202020204" pitchFamily="34" charset="0"/>
                <a:sym typeface="Symbol" pitchFamily="2" charset="2"/>
              </a:rPr>
              <a:t>   </a:t>
            </a:r>
            <a:r>
              <a:rPr lang="pt-BR" altLang="pt-BR" sz="1350" i="1">
                <a:latin typeface="Arial" panose="020B0604020202020204" pitchFamily="34" charset="0"/>
                <a:sym typeface="Symbol" pitchFamily="2" charset="2"/>
              </a:rPr>
              <a:t>Desempenho do Sistema</a:t>
            </a:r>
            <a:endParaRPr lang="pt-BR" altLang="pt-BR" sz="1350" i="1"/>
          </a:p>
        </p:txBody>
      </p:sp>
      <p:sp>
        <p:nvSpPr>
          <p:cNvPr id="40965" name="Text Box 10">
            <a:extLst>
              <a:ext uri="{FF2B5EF4-FFF2-40B4-BE49-F238E27FC236}">
                <a16:creationId xmlns:a16="http://schemas.microsoft.com/office/drawing/2014/main" id="{EAC0E95A-2CC9-C248-9BD0-C3ADD4E169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026" y="3509963"/>
            <a:ext cx="1919115" cy="323165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500">
                <a:latin typeface="Arial" panose="020B0604020202020204" pitchFamily="34" charset="0"/>
              </a:rPr>
              <a:t>Processo de Projeto</a:t>
            </a:r>
          </a:p>
        </p:txBody>
      </p:sp>
      <p:sp>
        <p:nvSpPr>
          <p:cNvPr id="40966" name="Text Box 11">
            <a:extLst>
              <a:ext uri="{FF2B5EF4-FFF2-40B4-BE49-F238E27FC236}">
                <a16:creationId xmlns:a16="http://schemas.microsoft.com/office/drawing/2014/main" id="{8ABB8F93-CD52-E540-83EF-7B6A27940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3226" y="4138613"/>
            <a:ext cx="3300904" cy="3231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500">
                <a:latin typeface="Arial" panose="020B0604020202020204" pitchFamily="34" charset="0"/>
              </a:rPr>
              <a:t>Otimização de Requisitos de Projeto</a:t>
            </a:r>
          </a:p>
        </p:txBody>
      </p:sp>
      <p:sp>
        <p:nvSpPr>
          <p:cNvPr id="40967" name="Text Box 12">
            <a:extLst>
              <a:ext uri="{FF2B5EF4-FFF2-40B4-BE49-F238E27FC236}">
                <a16:creationId xmlns:a16="http://schemas.microsoft.com/office/drawing/2014/main" id="{F4F6EA49-B373-FA48-BBD1-11CDC72C6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6075" y="4767263"/>
            <a:ext cx="3377848" cy="32316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500">
                <a:latin typeface="Arial" panose="020B0604020202020204" pitchFamily="34" charset="0"/>
              </a:rPr>
              <a:t>Contradição de Requisitos de Projeto</a:t>
            </a:r>
          </a:p>
        </p:txBody>
      </p:sp>
      <p:sp>
        <p:nvSpPr>
          <p:cNvPr id="40968" name="AutoShape 13">
            <a:extLst>
              <a:ext uri="{FF2B5EF4-FFF2-40B4-BE49-F238E27FC236}">
                <a16:creationId xmlns:a16="http://schemas.microsoft.com/office/drawing/2014/main" id="{C6CBAB5A-F1D7-0143-BFDF-4D9E1597A167}"/>
              </a:ext>
            </a:extLst>
          </p:cNvPr>
          <p:cNvSpPr>
            <a:spLocks noChangeArrowheads="1"/>
          </p:cNvSpPr>
          <p:nvPr/>
        </p:nvSpPr>
        <p:spPr bwMode="auto">
          <a:xfrm rot="16184648">
            <a:off x="1288256" y="4370697"/>
            <a:ext cx="2319338" cy="550247"/>
          </a:xfrm>
          <a:prstGeom prst="leftArrow">
            <a:avLst>
              <a:gd name="adj1" fmla="val 50000"/>
              <a:gd name="adj2" fmla="val 126823"/>
            </a:avLst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Busca pelo Estado Ideal</a:t>
            </a:r>
          </a:p>
        </p:txBody>
      </p:sp>
      <p:sp>
        <p:nvSpPr>
          <p:cNvPr id="40969" name="Text Box 14">
            <a:extLst>
              <a:ext uri="{FF2B5EF4-FFF2-40B4-BE49-F238E27FC236}">
                <a16:creationId xmlns:a16="http://schemas.microsoft.com/office/drawing/2014/main" id="{EB0958CE-8BA0-A04C-A5A1-545C3EAF1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75" y="5429250"/>
            <a:ext cx="1973617" cy="323165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500">
                <a:latin typeface="Arial" panose="020B0604020202020204" pitchFamily="34" charset="0"/>
              </a:rPr>
              <a:t>Evolução do Produto</a:t>
            </a:r>
          </a:p>
        </p:txBody>
      </p:sp>
      <p:sp>
        <p:nvSpPr>
          <p:cNvPr id="40970" name="AutoShape 15">
            <a:extLst>
              <a:ext uri="{FF2B5EF4-FFF2-40B4-BE49-F238E27FC236}">
                <a16:creationId xmlns:a16="http://schemas.microsoft.com/office/drawing/2014/main" id="{17E85118-9705-EB43-9909-301622B2735C}"/>
              </a:ext>
            </a:extLst>
          </p:cNvPr>
          <p:cNvSpPr>
            <a:spLocks noChangeArrowheads="1"/>
          </p:cNvSpPr>
          <p:nvPr/>
        </p:nvSpPr>
        <p:spPr bwMode="auto">
          <a:xfrm rot="16184648">
            <a:off x="5567362" y="4186091"/>
            <a:ext cx="2319338" cy="917079"/>
          </a:xfrm>
          <a:prstGeom prst="leftArrow">
            <a:avLst>
              <a:gd name="adj1" fmla="val 50000"/>
              <a:gd name="adj2" fmla="val 70376"/>
            </a:avLst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Teoria da Solução de Problemas Inventivos </a:t>
            </a:r>
          </a:p>
        </p:txBody>
      </p:sp>
      <p:sp>
        <p:nvSpPr>
          <p:cNvPr id="40971" name="AutoShape 16">
            <a:extLst>
              <a:ext uri="{FF2B5EF4-FFF2-40B4-BE49-F238E27FC236}">
                <a16:creationId xmlns:a16="http://schemas.microsoft.com/office/drawing/2014/main" id="{5B488E41-02E7-6A45-A7FD-732C44FD7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3886200"/>
            <a:ext cx="742950" cy="171450"/>
          </a:xfrm>
          <a:prstGeom prst="downArrow">
            <a:avLst>
              <a:gd name="adj1" fmla="val 55130"/>
              <a:gd name="adj2" fmla="val 58333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40972" name="AutoShape 17">
            <a:extLst>
              <a:ext uri="{FF2B5EF4-FFF2-40B4-BE49-F238E27FC236}">
                <a16:creationId xmlns:a16="http://schemas.microsoft.com/office/drawing/2014/main" id="{3E1AC720-C0CD-4B44-872C-72CB705BC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5200650"/>
            <a:ext cx="742950" cy="171450"/>
          </a:xfrm>
          <a:prstGeom prst="downArrow">
            <a:avLst>
              <a:gd name="adj1" fmla="val 55130"/>
              <a:gd name="adj2" fmla="val 58333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40973" name="AutoShape 18">
            <a:extLst>
              <a:ext uri="{FF2B5EF4-FFF2-40B4-BE49-F238E27FC236}">
                <a16:creationId xmlns:a16="http://schemas.microsoft.com/office/drawing/2014/main" id="{84D0CD84-5F85-D141-812A-7C797F277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4514850"/>
            <a:ext cx="742950" cy="171450"/>
          </a:xfrm>
          <a:prstGeom prst="downArrow">
            <a:avLst>
              <a:gd name="adj1" fmla="val 55130"/>
              <a:gd name="adj2" fmla="val 58333"/>
            </a:avLst>
          </a:prstGeom>
          <a:solidFill>
            <a:srgbClr val="00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40974" name="Text Box 19">
            <a:extLst>
              <a:ext uri="{FF2B5EF4-FFF2-40B4-BE49-F238E27FC236}">
                <a16:creationId xmlns:a16="http://schemas.microsoft.com/office/drawing/2014/main" id="{3507B3E9-C5F6-4748-B451-9AC005896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0975" name="Line 20">
            <a:extLst>
              <a:ext uri="{FF2B5EF4-FFF2-40B4-BE49-F238E27FC236}">
                <a16:creationId xmlns:a16="http://schemas.microsoft.com/office/drawing/2014/main" id="{227DF186-65DD-C442-9AE5-EB3637513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2815250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09" name="Group 39">
            <a:extLst>
              <a:ext uri="{FF2B5EF4-FFF2-40B4-BE49-F238E27FC236}">
                <a16:creationId xmlns:a16="http://schemas.microsoft.com/office/drawing/2014/main" id="{F958C602-D86E-8E43-A60C-D4CCB73B5FD7}"/>
              </a:ext>
            </a:extLst>
          </p:cNvPr>
          <p:cNvGrpSpPr>
            <a:grpSpLocks/>
          </p:cNvGrpSpPr>
          <p:nvPr/>
        </p:nvGrpSpPr>
        <p:grpSpPr bwMode="auto">
          <a:xfrm>
            <a:off x="1457325" y="2470548"/>
            <a:ext cx="6115050" cy="2787253"/>
            <a:chOff x="144" y="1355"/>
            <a:chExt cx="5136" cy="2341"/>
          </a:xfrm>
        </p:grpSpPr>
        <p:sp>
          <p:nvSpPr>
            <p:cNvPr id="43013" name="Text Box 3">
              <a:extLst>
                <a:ext uri="{FF2B5EF4-FFF2-40B4-BE49-F238E27FC236}">
                  <a16:creationId xmlns:a16="http://schemas.microsoft.com/office/drawing/2014/main" id="{A3C6E31A-574A-5349-9DA2-003BD1099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0" y="3175"/>
              <a:ext cx="1030" cy="511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500" b="1">
                  <a:latin typeface="Arial" panose="020B0604020202020204" pitchFamily="34" charset="0"/>
                </a:rPr>
                <a:t>Minha solução</a:t>
              </a:r>
            </a:p>
          </p:txBody>
        </p:sp>
        <p:sp>
          <p:nvSpPr>
            <p:cNvPr id="43014" name="AutoShape 4">
              <a:extLst>
                <a:ext uri="{FF2B5EF4-FFF2-40B4-BE49-F238E27FC236}">
                  <a16:creationId xmlns:a16="http://schemas.microsoft.com/office/drawing/2014/main" id="{1D427D03-656F-194E-A081-06A1AC646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" y="2132"/>
              <a:ext cx="862" cy="450"/>
            </a:xfrm>
            <a:prstGeom prst="triangle">
              <a:avLst>
                <a:gd name="adj" fmla="val 50000"/>
              </a:avLst>
            </a:prstGeom>
            <a:solidFill>
              <a:srgbClr val="99CC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3015" name="Text Box 5">
              <a:extLst>
                <a:ext uri="{FF2B5EF4-FFF2-40B4-BE49-F238E27FC236}">
                  <a16:creationId xmlns:a16="http://schemas.microsoft.com/office/drawing/2014/main" id="{A2C22CF7-1AB6-8249-AA50-7DFD1089A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135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1</a:t>
              </a:r>
              <a:endParaRPr lang="pt-BR" altLang="pt-BR" sz="750"/>
            </a:p>
          </p:txBody>
        </p:sp>
        <p:sp>
          <p:nvSpPr>
            <p:cNvPr id="43016" name="Text Box 6">
              <a:extLst>
                <a:ext uri="{FF2B5EF4-FFF2-40B4-BE49-F238E27FC236}">
                  <a16:creationId xmlns:a16="http://schemas.microsoft.com/office/drawing/2014/main" id="{91B98D73-69BD-EC41-BFB5-B3E813C506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157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2</a:t>
              </a:r>
            </a:p>
          </p:txBody>
        </p:sp>
        <p:sp>
          <p:nvSpPr>
            <p:cNvPr id="43017" name="Text Box 7">
              <a:extLst>
                <a:ext uri="{FF2B5EF4-FFF2-40B4-BE49-F238E27FC236}">
                  <a16:creationId xmlns:a16="http://schemas.microsoft.com/office/drawing/2014/main" id="{9FF4FAFC-23C1-1C4E-83BD-9AC8427C53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180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3</a:t>
              </a:r>
            </a:p>
          </p:txBody>
        </p:sp>
        <p:sp>
          <p:nvSpPr>
            <p:cNvPr id="43018" name="Text Box 8">
              <a:extLst>
                <a:ext uri="{FF2B5EF4-FFF2-40B4-BE49-F238E27FC236}">
                  <a16:creationId xmlns:a16="http://schemas.microsoft.com/office/drawing/2014/main" id="{A34645C6-717B-4B4C-93E0-9E06D27D98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202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4</a:t>
              </a:r>
            </a:p>
          </p:txBody>
        </p:sp>
        <p:sp>
          <p:nvSpPr>
            <p:cNvPr id="43019" name="Text Box 9">
              <a:extLst>
                <a:ext uri="{FF2B5EF4-FFF2-40B4-BE49-F238E27FC236}">
                  <a16:creationId xmlns:a16="http://schemas.microsoft.com/office/drawing/2014/main" id="{EEDCD764-D948-4348-B45C-2621885BEE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225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5</a:t>
              </a:r>
            </a:p>
          </p:txBody>
        </p:sp>
        <p:sp>
          <p:nvSpPr>
            <p:cNvPr id="43020" name="Text Box 10">
              <a:extLst>
                <a:ext uri="{FF2B5EF4-FFF2-40B4-BE49-F238E27FC236}">
                  <a16:creationId xmlns:a16="http://schemas.microsoft.com/office/drawing/2014/main" id="{F427EA71-448A-474B-8ECB-EFCF5FDC2C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247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6</a:t>
              </a:r>
            </a:p>
          </p:txBody>
        </p:sp>
        <p:sp>
          <p:nvSpPr>
            <p:cNvPr id="43021" name="Text Box 11">
              <a:extLst>
                <a:ext uri="{FF2B5EF4-FFF2-40B4-BE49-F238E27FC236}">
                  <a16:creationId xmlns:a16="http://schemas.microsoft.com/office/drawing/2014/main" id="{4F003282-D421-9044-B01E-1190D3DF1F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270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7</a:t>
              </a:r>
            </a:p>
          </p:txBody>
        </p:sp>
        <p:sp>
          <p:nvSpPr>
            <p:cNvPr id="43022" name="Text Box 12">
              <a:extLst>
                <a:ext uri="{FF2B5EF4-FFF2-40B4-BE49-F238E27FC236}">
                  <a16:creationId xmlns:a16="http://schemas.microsoft.com/office/drawing/2014/main" id="{26342232-85FE-9542-8DAB-CA7C418C7C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3462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n</a:t>
              </a:r>
            </a:p>
          </p:txBody>
        </p:sp>
        <p:sp>
          <p:nvSpPr>
            <p:cNvPr id="43023" name="Text Box 13">
              <a:extLst>
                <a:ext uri="{FF2B5EF4-FFF2-40B4-BE49-F238E27FC236}">
                  <a16:creationId xmlns:a16="http://schemas.microsoft.com/office/drawing/2014/main" id="{7397CB6A-F9A1-A344-AB19-A2EB7530B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5" y="2929"/>
              <a:ext cx="238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/>
                <a:t>.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/>
                <a:t>.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/>
                <a:t>.</a:t>
              </a:r>
              <a:endParaRPr lang="pt-BR" altLang="pt-BR" sz="1350"/>
            </a:p>
          </p:txBody>
        </p:sp>
        <p:sp>
          <p:nvSpPr>
            <p:cNvPr id="43024" name="Text Box 14">
              <a:extLst>
                <a:ext uri="{FF2B5EF4-FFF2-40B4-BE49-F238E27FC236}">
                  <a16:creationId xmlns:a16="http://schemas.microsoft.com/office/drawing/2014/main" id="{F522C729-88C2-2D47-93A5-2F9D59001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135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1</a:t>
              </a:r>
            </a:p>
          </p:txBody>
        </p:sp>
        <p:sp>
          <p:nvSpPr>
            <p:cNvPr id="43025" name="Text Box 15">
              <a:extLst>
                <a:ext uri="{FF2B5EF4-FFF2-40B4-BE49-F238E27FC236}">
                  <a16:creationId xmlns:a16="http://schemas.microsoft.com/office/drawing/2014/main" id="{3B8BAF4E-A67D-354A-A881-C2719FFC4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157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2</a:t>
              </a:r>
            </a:p>
          </p:txBody>
        </p:sp>
        <p:sp>
          <p:nvSpPr>
            <p:cNvPr id="43026" name="Text Box 16">
              <a:extLst>
                <a:ext uri="{FF2B5EF4-FFF2-40B4-BE49-F238E27FC236}">
                  <a16:creationId xmlns:a16="http://schemas.microsoft.com/office/drawing/2014/main" id="{71948855-D657-3543-A90F-81C90F85D5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180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3</a:t>
              </a:r>
            </a:p>
          </p:txBody>
        </p:sp>
        <p:sp>
          <p:nvSpPr>
            <p:cNvPr id="43027" name="Text Box 17">
              <a:extLst>
                <a:ext uri="{FF2B5EF4-FFF2-40B4-BE49-F238E27FC236}">
                  <a16:creationId xmlns:a16="http://schemas.microsoft.com/office/drawing/2014/main" id="{51B18B96-E243-8B46-9D11-714F38717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202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4</a:t>
              </a:r>
            </a:p>
          </p:txBody>
        </p:sp>
        <p:sp>
          <p:nvSpPr>
            <p:cNvPr id="43028" name="Text Box 18">
              <a:extLst>
                <a:ext uri="{FF2B5EF4-FFF2-40B4-BE49-F238E27FC236}">
                  <a16:creationId xmlns:a16="http://schemas.microsoft.com/office/drawing/2014/main" id="{A4F31B5E-1E24-5C43-A14E-948F8AC3A8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225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5</a:t>
              </a:r>
            </a:p>
          </p:txBody>
        </p:sp>
        <p:sp>
          <p:nvSpPr>
            <p:cNvPr id="43029" name="Text Box 19">
              <a:extLst>
                <a:ext uri="{FF2B5EF4-FFF2-40B4-BE49-F238E27FC236}">
                  <a16:creationId xmlns:a16="http://schemas.microsoft.com/office/drawing/2014/main" id="{720C1E6F-0EAB-4B4C-BB0D-80369D5983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2479"/>
              <a:ext cx="238" cy="226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6</a:t>
              </a:r>
            </a:p>
          </p:txBody>
        </p:sp>
        <p:sp>
          <p:nvSpPr>
            <p:cNvPr id="43030" name="Text Box 20">
              <a:extLst>
                <a:ext uri="{FF2B5EF4-FFF2-40B4-BE49-F238E27FC236}">
                  <a16:creationId xmlns:a16="http://schemas.microsoft.com/office/drawing/2014/main" id="{FBF7F9E3-1C62-7D46-8912-5DFEA90AAF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2705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7</a:t>
              </a:r>
            </a:p>
          </p:txBody>
        </p:sp>
        <p:sp>
          <p:nvSpPr>
            <p:cNvPr id="43031" name="Text Box 21">
              <a:extLst>
                <a:ext uri="{FF2B5EF4-FFF2-40B4-BE49-F238E27FC236}">
                  <a16:creationId xmlns:a16="http://schemas.microsoft.com/office/drawing/2014/main" id="{6EA7A76C-092C-6046-8523-EAA4A596A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7" y="3462"/>
              <a:ext cx="238" cy="224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/>
                <a:t>n</a:t>
              </a:r>
            </a:p>
          </p:txBody>
        </p:sp>
        <p:sp>
          <p:nvSpPr>
            <p:cNvPr id="43032" name="Text Box 22">
              <a:extLst>
                <a:ext uri="{FF2B5EF4-FFF2-40B4-BE49-F238E27FC236}">
                  <a16:creationId xmlns:a16="http://schemas.microsoft.com/office/drawing/2014/main" id="{3B7E2170-0A47-3845-8E4D-93A55AF74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5" y="2929"/>
              <a:ext cx="238" cy="5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/>
                <a:t>.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/>
                <a:t>.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/>
                <a:t>.</a:t>
              </a:r>
              <a:endParaRPr lang="pt-BR" altLang="pt-BR" sz="1350"/>
            </a:p>
          </p:txBody>
        </p:sp>
        <p:sp>
          <p:nvSpPr>
            <p:cNvPr id="43033" name="Text Box 23">
              <a:extLst>
                <a:ext uri="{FF2B5EF4-FFF2-40B4-BE49-F238E27FC236}">
                  <a16:creationId xmlns:a16="http://schemas.microsoft.com/office/drawing/2014/main" id="{B0E486B7-0F76-AE4D-B19E-A053B97B26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32"/>
              <a:ext cx="998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Abordagem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da TIPS</a:t>
              </a:r>
              <a:endParaRPr lang="pt-BR" altLang="pt-BR" sz="600"/>
            </a:p>
          </p:txBody>
        </p:sp>
        <p:sp>
          <p:nvSpPr>
            <p:cNvPr id="43034" name="Text Box 24">
              <a:extLst>
                <a:ext uri="{FF2B5EF4-FFF2-40B4-BE49-F238E27FC236}">
                  <a16:creationId xmlns:a16="http://schemas.microsoft.com/office/drawing/2014/main" id="{33C22A13-2455-6347-A996-1ADC740BF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4" y="1376"/>
              <a:ext cx="11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Solução prévia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do problema</a:t>
              </a:r>
              <a:endParaRPr lang="pt-BR" altLang="pt-BR" sz="600"/>
            </a:p>
          </p:txBody>
        </p:sp>
        <p:sp>
          <p:nvSpPr>
            <p:cNvPr id="43035" name="Freeform 25">
              <a:extLst>
                <a:ext uri="{FF2B5EF4-FFF2-40B4-BE49-F238E27FC236}">
                  <a16:creationId xmlns:a16="http://schemas.microsoft.com/office/drawing/2014/main" id="{839C0CCE-B3BF-2C4E-8B07-E7B09973B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1" y="2130"/>
              <a:ext cx="743" cy="452"/>
            </a:xfrm>
            <a:custGeom>
              <a:avLst/>
              <a:gdLst>
                <a:gd name="T0" fmla="*/ 0 w 1052"/>
                <a:gd name="T1" fmla="*/ 0 h 620"/>
                <a:gd name="T2" fmla="*/ 60 w 1052"/>
                <a:gd name="T3" fmla="*/ 0 h 620"/>
                <a:gd name="T4" fmla="*/ 131 w 1052"/>
                <a:gd name="T5" fmla="*/ 93 h 620"/>
                <a:gd name="T6" fmla="*/ 65 w 1052"/>
                <a:gd name="T7" fmla="*/ 93 h 620"/>
                <a:gd name="T8" fmla="*/ 0 w 1052"/>
                <a:gd name="T9" fmla="*/ 0 h 6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52"/>
                <a:gd name="T16" fmla="*/ 0 h 620"/>
                <a:gd name="T17" fmla="*/ 1052 w 1052"/>
                <a:gd name="T18" fmla="*/ 620 h 6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52" h="620">
                  <a:moveTo>
                    <a:pt x="0" y="0"/>
                  </a:moveTo>
                  <a:lnTo>
                    <a:pt x="490" y="0"/>
                  </a:lnTo>
                  <a:lnTo>
                    <a:pt x="1052" y="620"/>
                  </a:lnTo>
                  <a:lnTo>
                    <a:pt x="522" y="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3036" name="Text Box 26">
              <a:extLst>
                <a:ext uri="{FF2B5EF4-FFF2-40B4-BE49-F238E27FC236}">
                  <a16:creationId xmlns:a16="http://schemas.microsoft.com/office/drawing/2014/main" id="{37718570-A004-C741-9D62-EEF65501D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4" y="1376"/>
              <a:ext cx="8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Solução Análoga</a:t>
              </a:r>
            </a:p>
          </p:txBody>
        </p:sp>
        <p:sp>
          <p:nvSpPr>
            <p:cNvPr id="43037" name="Text Box 27">
              <a:extLst>
                <a:ext uri="{FF2B5EF4-FFF2-40B4-BE49-F238E27FC236}">
                  <a16:creationId xmlns:a16="http://schemas.microsoft.com/office/drawing/2014/main" id="{3643D754-C8F0-4A43-AF26-A859C99146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7" y="3185"/>
              <a:ext cx="1030" cy="511"/>
            </a:xfrm>
            <a:prstGeom prst="rect">
              <a:avLst/>
            </a:prstGeom>
            <a:solidFill>
              <a:srgbClr val="FFFF00">
                <a:alpha val="50195"/>
              </a:srgbClr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500" b="1">
                  <a:latin typeface="Arial" panose="020B0604020202020204" pitchFamily="34" charset="0"/>
                </a:rPr>
                <a:t>Meu problema</a:t>
              </a:r>
            </a:p>
          </p:txBody>
        </p:sp>
        <p:sp>
          <p:nvSpPr>
            <p:cNvPr id="43038" name="Line 28">
              <a:extLst>
                <a:ext uri="{FF2B5EF4-FFF2-40B4-BE49-F238E27FC236}">
                  <a16:creationId xmlns:a16="http://schemas.microsoft.com/office/drawing/2014/main" id="{887412EC-8838-6948-8FDF-80643CBD96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65" y="2378"/>
              <a:ext cx="0" cy="79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3039" name="Line 29">
              <a:extLst>
                <a:ext uri="{FF2B5EF4-FFF2-40B4-BE49-F238E27FC236}">
                  <a16:creationId xmlns:a16="http://schemas.microsoft.com/office/drawing/2014/main" id="{03893113-ED73-A04D-89B1-155E2DF11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71" y="2357"/>
              <a:ext cx="159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3040" name="Line 30">
              <a:extLst>
                <a:ext uri="{FF2B5EF4-FFF2-40B4-BE49-F238E27FC236}">
                  <a16:creationId xmlns:a16="http://schemas.microsoft.com/office/drawing/2014/main" id="{2AF5A0C5-9E43-F14A-9E58-EB7E12F45F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4" y="2094"/>
              <a:ext cx="1093" cy="27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3041" name="Line 31">
              <a:extLst>
                <a:ext uri="{FF2B5EF4-FFF2-40B4-BE49-F238E27FC236}">
                  <a16:creationId xmlns:a16="http://schemas.microsoft.com/office/drawing/2014/main" id="{F8FF26C2-51D3-774C-AE3B-B3F7BE9D7B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25" y="1866"/>
              <a:ext cx="753" cy="2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3042" name="Line 32">
              <a:extLst>
                <a:ext uri="{FF2B5EF4-FFF2-40B4-BE49-F238E27FC236}">
                  <a16:creationId xmlns:a16="http://schemas.microsoft.com/office/drawing/2014/main" id="{F878E0C2-BA07-6646-B501-B706D566EA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5" y="2091"/>
              <a:ext cx="753" cy="2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3043" name="Line 33">
              <a:extLst>
                <a:ext uri="{FF2B5EF4-FFF2-40B4-BE49-F238E27FC236}">
                  <a16:creationId xmlns:a16="http://schemas.microsoft.com/office/drawing/2014/main" id="{B5725C2B-15C1-1C4F-8CBC-6A23D7FCAC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5" y="2091"/>
              <a:ext cx="732" cy="71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3044" name="Line 34">
              <a:extLst>
                <a:ext uri="{FF2B5EF4-FFF2-40B4-BE49-F238E27FC236}">
                  <a16:creationId xmlns:a16="http://schemas.microsoft.com/office/drawing/2014/main" id="{8EC43838-604A-BE48-B0C8-B06D79785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5" y="1887"/>
              <a:ext cx="970" cy="49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3045" name="Line 35">
              <a:extLst>
                <a:ext uri="{FF2B5EF4-FFF2-40B4-BE49-F238E27FC236}">
                  <a16:creationId xmlns:a16="http://schemas.microsoft.com/office/drawing/2014/main" id="{E8FD98DE-6B54-B545-B580-BC8D013813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20" y="2582"/>
              <a:ext cx="0" cy="61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</p:grpSp>
      <p:sp>
        <p:nvSpPr>
          <p:cNvPr id="43010" name="Text Box 36">
            <a:extLst>
              <a:ext uri="{FF2B5EF4-FFF2-40B4-BE49-F238E27FC236}">
                <a16:creationId xmlns:a16="http://schemas.microsoft.com/office/drawing/2014/main" id="{1403DA36-6F70-7B47-92B5-224D8138C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1485901"/>
            <a:ext cx="64008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>
                <a:solidFill>
                  <a:srgbClr val="FF0000"/>
                </a:solidFill>
                <a:latin typeface="Arial" panose="020B0604020202020204" pitchFamily="34" charset="0"/>
              </a:rPr>
              <a:t>A ABORDAGEM DA TEORIA DA SOLUÇÃO DE PROBLEMAS INVENTIVOS </a:t>
            </a:r>
          </a:p>
        </p:txBody>
      </p:sp>
      <p:sp>
        <p:nvSpPr>
          <p:cNvPr id="43011" name="Text Box 37">
            <a:extLst>
              <a:ext uri="{FF2B5EF4-FFF2-40B4-BE49-F238E27FC236}">
                <a16:creationId xmlns:a16="http://schemas.microsoft.com/office/drawing/2014/main" id="{567B0EF5-C851-2B44-94F2-E0EC45A1E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3012" name="Line 38">
            <a:extLst>
              <a:ext uri="{FF2B5EF4-FFF2-40B4-BE49-F238E27FC236}">
                <a16:creationId xmlns:a16="http://schemas.microsoft.com/office/drawing/2014/main" id="{CAC60974-8F6A-0841-B115-DB89664EC5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3492726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2">
            <a:extLst>
              <a:ext uri="{FF2B5EF4-FFF2-40B4-BE49-F238E27FC236}">
                <a16:creationId xmlns:a16="http://schemas.microsoft.com/office/drawing/2014/main" id="{99B472F4-BA64-FE4A-83C3-EF3DA5D1A8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1485901"/>
            <a:ext cx="62293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>
                <a:solidFill>
                  <a:srgbClr val="FF0000"/>
                </a:solidFill>
                <a:latin typeface="Arial" panose="020B0604020202020204" pitchFamily="34" charset="0"/>
              </a:rPr>
              <a:t>A  Teoria da TIPS Passo a Passo</a:t>
            </a:r>
          </a:p>
        </p:txBody>
      </p:sp>
      <p:grpSp>
        <p:nvGrpSpPr>
          <p:cNvPr id="45058" name="Group 3">
            <a:extLst>
              <a:ext uri="{FF2B5EF4-FFF2-40B4-BE49-F238E27FC236}">
                <a16:creationId xmlns:a16="http://schemas.microsoft.com/office/drawing/2014/main" id="{B7CC9F82-142A-4F4C-ABE9-96A4486D1964}"/>
              </a:ext>
            </a:extLst>
          </p:cNvPr>
          <p:cNvGrpSpPr>
            <a:grpSpLocks/>
          </p:cNvGrpSpPr>
          <p:nvPr/>
        </p:nvGrpSpPr>
        <p:grpSpPr bwMode="auto">
          <a:xfrm>
            <a:off x="2475310" y="2171700"/>
            <a:ext cx="4108848" cy="3271838"/>
            <a:chOff x="872" y="912"/>
            <a:chExt cx="3451" cy="2748"/>
          </a:xfrm>
        </p:grpSpPr>
        <p:sp>
          <p:nvSpPr>
            <p:cNvPr id="45061" name="Text Box 4">
              <a:extLst>
                <a:ext uri="{FF2B5EF4-FFF2-40B4-BE49-F238E27FC236}">
                  <a16:creationId xmlns:a16="http://schemas.microsoft.com/office/drawing/2014/main" id="{A22BF468-BEDB-DF4F-9A4F-2A6F7841C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6" y="912"/>
              <a:ext cx="2272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Identificar o Problema de Projeto</a:t>
              </a:r>
            </a:p>
          </p:txBody>
        </p:sp>
        <p:sp>
          <p:nvSpPr>
            <p:cNvPr id="45062" name="Text Box 5">
              <a:extLst>
                <a:ext uri="{FF2B5EF4-FFF2-40B4-BE49-F238E27FC236}">
                  <a16:creationId xmlns:a16="http://schemas.microsoft.com/office/drawing/2014/main" id="{FC97E99B-CFA8-4142-9671-21CCD878D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" y="1536"/>
              <a:ext cx="3263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Formular o Problema sob a Abordagem da TIPS</a:t>
              </a:r>
            </a:p>
          </p:txBody>
        </p:sp>
        <p:sp>
          <p:nvSpPr>
            <p:cNvPr id="45063" name="Text Box 6">
              <a:extLst>
                <a:ext uri="{FF2B5EF4-FFF2-40B4-BE49-F238E27FC236}">
                  <a16:creationId xmlns:a16="http://schemas.microsoft.com/office/drawing/2014/main" id="{CD8F3369-C0D8-1F43-941A-FA0587AEA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" y="2160"/>
              <a:ext cx="2845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Determinar os Parâmetros de Engenharia</a:t>
              </a:r>
            </a:p>
          </p:txBody>
        </p:sp>
        <p:sp>
          <p:nvSpPr>
            <p:cNvPr id="45064" name="Text Box 7">
              <a:extLst>
                <a:ext uri="{FF2B5EF4-FFF2-40B4-BE49-F238E27FC236}">
                  <a16:creationId xmlns:a16="http://schemas.microsoft.com/office/drawing/2014/main" id="{F292E99D-6455-9141-8A8B-48A02D4A1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" y="2784"/>
              <a:ext cx="3386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Buscar uma Solução Análoga (Princípio Inventivo)</a:t>
              </a:r>
            </a:p>
          </p:txBody>
        </p:sp>
        <p:sp>
          <p:nvSpPr>
            <p:cNvPr id="45065" name="Text Box 8">
              <a:extLst>
                <a:ext uri="{FF2B5EF4-FFF2-40B4-BE49-F238E27FC236}">
                  <a16:creationId xmlns:a16="http://schemas.microsoft.com/office/drawing/2014/main" id="{40ECF6C1-E007-564B-A57B-1951E8E08F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3408"/>
              <a:ext cx="3451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Adaptar a Solução Análoga ao Projeto em Questão</a:t>
              </a:r>
            </a:p>
          </p:txBody>
        </p:sp>
        <p:sp>
          <p:nvSpPr>
            <p:cNvPr id="45066" name="Line 9">
              <a:extLst>
                <a:ext uri="{FF2B5EF4-FFF2-40B4-BE49-F238E27FC236}">
                  <a16:creationId xmlns:a16="http://schemas.microsoft.com/office/drawing/2014/main" id="{11D4F4CC-01CF-AA44-BBCB-38C6D7BBF2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15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45067" name="Line 10">
              <a:extLst>
                <a:ext uri="{FF2B5EF4-FFF2-40B4-BE49-F238E27FC236}">
                  <a16:creationId xmlns:a16="http://schemas.microsoft.com/office/drawing/2014/main" id="{4095AAB6-E064-454E-BBEE-48D31F2AB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776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45068" name="Line 11">
              <a:extLst>
                <a:ext uri="{FF2B5EF4-FFF2-40B4-BE49-F238E27FC236}">
                  <a16:creationId xmlns:a16="http://schemas.microsoft.com/office/drawing/2014/main" id="{69B59362-42F2-1C48-A134-5A40A3139C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400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45069" name="Line 12">
              <a:extLst>
                <a:ext uri="{FF2B5EF4-FFF2-40B4-BE49-F238E27FC236}">
                  <a16:creationId xmlns:a16="http://schemas.microsoft.com/office/drawing/2014/main" id="{2F5CC7F3-D530-8C4B-A3FF-B2C6F690B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02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</p:grpSp>
      <p:sp>
        <p:nvSpPr>
          <p:cNvPr id="45059" name="Text Box 13">
            <a:extLst>
              <a:ext uri="{FF2B5EF4-FFF2-40B4-BE49-F238E27FC236}">
                <a16:creationId xmlns:a16="http://schemas.microsoft.com/office/drawing/2014/main" id="{EE11B99A-FB42-624A-B741-45A37067F2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5060" name="Line 14">
            <a:extLst>
              <a:ext uri="{FF2B5EF4-FFF2-40B4-BE49-F238E27FC236}">
                <a16:creationId xmlns:a16="http://schemas.microsoft.com/office/drawing/2014/main" id="{61849F9C-91C4-5947-B8E9-B34E41021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3272369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Group 1026">
            <a:extLst>
              <a:ext uri="{FF2B5EF4-FFF2-40B4-BE49-F238E27FC236}">
                <a16:creationId xmlns:a16="http://schemas.microsoft.com/office/drawing/2014/main" id="{6751BEF8-E576-6443-9152-74F896855286}"/>
              </a:ext>
            </a:extLst>
          </p:cNvPr>
          <p:cNvGrpSpPr>
            <a:grpSpLocks/>
          </p:cNvGrpSpPr>
          <p:nvPr/>
        </p:nvGrpSpPr>
        <p:grpSpPr bwMode="auto">
          <a:xfrm>
            <a:off x="6619875" y="1495425"/>
            <a:ext cx="685800" cy="971550"/>
            <a:chOff x="4800" y="352"/>
            <a:chExt cx="576" cy="816"/>
          </a:xfrm>
        </p:grpSpPr>
        <p:sp>
          <p:nvSpPr>
            <p:cNvPr id="47114" name="Line 1027">
              <a:extLst>
                <a:ext uri="{FF2B5EF4-FFF2-40B4-BE49-F238E27FC236}">
                  <a16:creationId xmlns:a16="http://schemas.microsoft.com/office/drawing/2014/main" id="{0E59C4DD-8BD7-2C4F-BA18-9AB10A541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8" y="416"/>
              <a:ext cx="0" cy="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47115" name="Rectangle 1028">
              <a:extLst>
                <a:ext uri="{FF2B5EF4-FFF2-40B4-BE49-F238E27FC236}">
                  <a16:creationId xmlns:a16="http://schemas.microsoft.com/office/drawing/2014/main" id="{A1D7D096-4E1C-0E44-9D5B-E09020A48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352"/>
              <a:ext cx="576" cy="6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7116" name="Rectangle 1029">
              <a:extLst>
                <a:ext uri="{FF2B5EF4-FFF2-40B4-BE49-F238E27FC236}">
                  <a16:creationId xmlns:a16="http://schemas.microsoft.com/office/drawing/2014/main" id="{407C113C-A651-0E4D-86C0-82938ACE7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528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7117" name="Rectangle 1030">
              <a:extLst>
                <a:ext uri="{FF2B5EF4-FFF2-40B4-BE49-F238E27FC236}">
                  <a16:creationId xmlns:a16="http://schemas.microsoft.com/office/drawing/2014/main" id="{C20C4631-85BF-784B-B461-56594D1BC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720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7118" name="Rectangle 1031">
              <a:extLst>
                <a:ext uri="{FF2B5EF4-FFF2-40B4-BE49-F238E27FC236}">
                  <a16:creationId xmlns:a16="http://schemas.microsoft.com/office/drawing/2014/main" id="{DCEC7F46-856B-3841-A807-9E2151488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912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7119" name="Rectangle 1032">
              <a:extLst>
                <a:ext uri="{FF2B5EF4-FFF2-40B4-BE49-F238E27FC236}">
                  <a16:creationId xmlns:a16="http://schemas.microsoft.com/office/drawing/2014/main" id="{E430413A-6370-CB40-A13A-564710DEE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104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</p:grpSp>
      <p:sp>
        <p:nvSpPr>
          <p:cNvPr id="47106" name="Text Box 1033">
            <a:extLst>
              <a:ext uri="{FF2B5EF4-FFF2-40B4-BE49-F238E27FC236}">
                <a16:creationId xmlns:a16="http://schemas.microsoft.com/office/drawing/2014/main" id="{5D78A528-A708-5A45-BEA7-342D991AD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1323976"/>
            <a:ext cx="4629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>
                <a:latin typeface="Arial" panose="020B0604020202020204" pitchFamily="34" charset="0"/>
              </a:rPr>
              <a:t>Passo 1: Identificar o Problema de Projeto</a:t>
            </a:r>
            <a:endParaRPr lang="pt-BR" altLang="pt-BR" sz="15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107" name="Text Box 1034">
            <a:extLst>
              <a:ext uri="{FF2B5EF4-FFF2-40B4-BE49-F238E27FC236}">
                <a16:creationId xmlns:a16="http://schemas.microsoft.com/office/drawing/2014/main" id="{BAA1827C-F334-CA40-AD3A-2E2CFB257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733551"/>
            <a:ext cx="5600700" cy="1565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Buscar o entendimento do problema de projeto;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Identificar as funções principais do produto;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Identificar o ambiente operacional do produto;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Identificar os requisitos de projeto do produto;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Estabelecer o resultado ideal a ser alcançado com o projeto.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Identificar os efeitos indesejáveis</a:t>
            </a:r>
            <a:endParaRPr lang="pt-BR" altLang="pt-BR" sz="135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108" name="Line 1035">
            <a:extLst>
              <a:ext uri="{FF2B5EF4-FFF2-40B4-BE49-F238E27FC236}">
                <a16:creationId xmlns:a16="http://schemas.microsoft.com/office/drawing/2014/main" id="{43F136E2-E67B-1347-A892-A0E2B748AD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775" y="1621631"/>
            <a:ext cx="421481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47109" name="Text Box 1036">
            <a:extLst>
              <a:ext uri="{FF2B5EF4-FFF2-40B4-BE49-F238E27FC236}">
                <a16:creationId xmlns:a16="http://schemas.microsoft.com/office/drawing/2014/main" id="{90B7B457-A17B-644A-84F6-20940B374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455194"/>
            <a:ext cx="4629150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350" i="1">
                <a:latin typeface="Arial" panose="020B0604020202020204" pitchFamily="34" charset="0"/>
              </a:rPr>
              <a:t>Exemplo: Projeto de uma lata de refrigerante</a:t>
            </a:r>
            <a:endParaRPr lang="pt-BR" altLang="pt-BR" sz="135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7110" name="Text Box 1037">
            <a:extLst>
              <a:ext uri="{FF2B5EF4-FFF2-40B4-BE49-F238E27FC236}">
                <a16:creationId xmlns:a16="http://schemas.microsoft.com/office/drawing/2014/main" id="{D80EEB3B-6936-4F42-9F49-40CACF57C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925" y="3800476"/>
            <a:ext cx="6143625" cy="2091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 i="1">
                <a:solidFill>
                  <a:srgbClr val="FF0000"/>
                </a:solidFill>
                <a:latin typeface="Arial" panose="020B0604020202020204" pitchFamily="34" charset="0"/>
              </a:rPr>
              <a:t>Ambiente operacional</a:t>
            </a:r>
            <a:r>
              <a:rPr lang="pt-BR" altLang="pt-BR" sz="1200" i="1">
                <a:latin typeface="Arial" panose="020B0604020202020204" pitchFamily="34" charset="0"/>
              </a:rPr>
              <a:t>: </a:t>
            </a:r>
            <a:r>
              <a:rPr lang="pt-BR" altLang="pt-BR" sz="1200" b="1" i="1">
                <a:latin typeface="Arial" panose="020B0604020202020204" pitchFamily="34" charset="0"/>
              </a:rPr>
              <a:t>O espaço destinado a armazenar as latas;</a:t>
            </a:r>
            <a:endParaRPr lang="pt-BR" altLang="pt-BR" sz="1200" i="1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 i="1">
                <a:solidFill>
                  <a:srgbClr val="FF0000"/>
                </a:solidFill>
                <a:latin typeface="Arial" panose="020B0604020202020204" pitchFamily="34" charset="0"/>
              </a:rPr>
              <a:t>Função principal</a:t>
            </a:r>
            <a:r>
              <a:rPr lang="pt-BR" altLang="pt-BR" sz="1200" i="1">
                <a:latin typeface="Arial" panose="020B0604020202020204" pitchFamily="34" charset="0"/>
              </a:rPr>
              <a:t>: </a:t>
            </a:r>
            <a:r>
              <a:rPr lang="pt-BR" altLang="pt-BR" sz="1200" b="1" i="1">
                <a:latin typeface="Arial" panose="020B0604020202020204" pitchFamily="34" charset="0"/>
              </a:rPr>
              <a:t>Conter bebida;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 i="1">
                <a:solidFill>
                  <a:srgbClr val="FF0000"/>
                </a:solidFill>
                <a:latin typeface="Arial" panose="020B0604020202020204" pitchFamily="34" charset="0"/>
              </a:rPr>
              <a:t>Requisitos de projeto</a:t>
            </a:r>
            <a:r>
              <a:rPr lang="pt-BR" altLang="pt-BR" sz="1200" i="1">
                <a:latin typeface="Arial" panose="020B0604020202020204" pitchFamily="34" charset="0"/>
              </a:rPr>
              <a:t>: </a:t>
            </a:r>
            <a:r>
              <a:rPr lang="pt-BR" altLang="pt-BR" sz="1200" b="1" i="1">
                <a:latin typeface="Arial" panose="020B0604020202020204" pitchFamily="34" charset="0"/>
              </a:rPr>
              <a:t>Espessura da parede da lata;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                                       Resistência ao empilhamento da lata, expressa pela carga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                                       máxima suportadas por uma lata devido ao empilhamento;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 i="1">
                <a:solidFill>
                  <a:srgbClr val="FF0000"/>
                </a:solidFill>
                <a:latin typeface="Arial" panose="020B0604020202020204" pitchFamily="34" charset="0"/>
              </a:rPr>
              <a:t>Efeito indesejável</a:t>
            </a:r>
            <a:r>
              <a:rPr lang="pt-BR" altLang="pt-BR" sz="1200" i="1">
                <a:latin typeface="Arial" panose="020B0604020202020204" pitchFamily="34" charset="0"/>
              </a:rPr>
              <a:t>: </a:t>
            </a:r>
            <a:r>
              <a:rPr lang="pt-BR" altLang="pt-BR" sz="1200" b="1" i="1">
                <a:latin typeface="Arial" panose="020B0604020202020204" pitchFamily="34" charset="0"/>
              </a:rPr>
              <a:t>Custo de material e custo de produção elevado;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                                  Espaço destinado ao armazenamento mal aproveitado;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 i="1">
                <a:solidFill>
                  <a:srgbClr val="FF0000"/>
                </a:solidFill>
                <a:latin typeface="Arial" panose="020B0604020202020204" pitchFamily="34" charset="0"/>
              </a:rPr>
              <a:t>Resultado ideal</a:t>
            </a:r>
            <a:r>
              <a:rPr lang="pt-BR" altLang="pt-BR" sz="1200" i="1">
                <a:latin typeface="Arial" panose="020B0604020202020204" pitchFamily="34" charset="0"/>
              </a:rPr>
              <a:t>: </a:t>
            </a:r>
            <a:r>
              <a:rPr lang="pt-BR" altLang="pt-BR" sz="1200" b="1" i="1">
                <a:latin typeface="Arial" panose="020B0604020202020204" pitchFamily="34" charset="0"/>
              </a:rPr>
              <a:t>Uma lata que pode ser empilhada a uma altura considerável,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                              sem sofrer danos, a um valor de custo adequado.</a:t>
            </a:r>
            <a:r>
              <a:rPr lang="pt-BR" altLang="pt-BR" sz="1350" b="1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7111" name="Line 1038">
            <a:extLst>
              <a:ext uri="{FF2B5EF4-FFF2-40B4-BE49-F238E27FC236}">
                <a16:creationId xmlns:a16="http://schemas.microsoft.com/office/drawing/2014/main" id="{6C7816B9-F062-8143-9705-6D36F670C6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5925" y="3730229"/>
            <a:ext cx="34194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47112" name="Text Box 1039">
            <a:extLst>
              <a:ext uri="{FF2B5EF4-FFF2-40B4-BE49-F238E27FC236}">
                <a16:creationId xmlns:a16="http://schemas.microsoft.com/office/drawing/2014/main" id="{42D8AC14-65D1-0F4F-92CA-DDD14124D3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7113" name="Line 1040">
            <a:extLst>
              <a:ext uri="{FF2B5EF4-FFF2-40B4-BE49-F238E27FC236}">
                <a16:creationId xmlns:a16="http://schemas.microsoft.com/office/drawing/2014/main" id="{CB590389-310F-A348-8EB2-04C949DAC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15990670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3" name="Group 2">
            <a:extLst>
              <a:ext uri="{FF2B5EF4-FFF2-40B4-BE49-F238E27FC236}">
                <a16:creationId xmlns:a16="http://schemas.microsoft.com/office/drawing/2014/main" id="{45AAF02E-F3DB-5B4E-9355-709D229A9BE8}"/>
              </a:ext>
            </a:extLst>
          </p:cNvPr>
          <p:cNvGrpSpPr>
            <a:grpSpLocks/>
          </p:cNvGrpSpPr>
          <p:nvPr/>
        </p:nvGrpSpPr>
        <p:grpSpPr bwMode="auto">
          <a:xfrm>
            <a:off x="6800850" y="1528763"/>
            <a:ext cx="685800" cy="971550"/>
            <a:chOff x="4632" y="576"/>
            <a:chExt cx="576" cy="816"/>
          </a:xfrm>
        </p:grpSpPr>
        <p:sp>
          <p:nvSpPr>
            <p:cNvPr id="49178" name="Line 3">
              <a:extLst>
                <a:ext uri="{FF2B5EF4-FFF2-40B4-BE49-F238E27FC236}">
                  <a16:creationId xmlns:a16="http://schemas.microsoft.com/office/drawing/2014/main" id="{F7997306-D276-3646-BF8F-8322DBA824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0" y="640"/>
              <a:ext cx="0" cy="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49179" name="Rectangle 4">
              <a:extLst>
                <a:ext uri="{FF2B5EF4-FFF2-40B4-BE49-F238E27FC236}">
                  <a16:creationId xmlns:a16="http://schemas.microsoft.com/office/drawing/2014/main" id="{E369064D-461A-AD4B-967E-ED82CD7D2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576"/>
              <a:ext cx="576" cy="6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9180" name="Rectangle 5">
              <a:extLst>
                <a:ext uri="{FF2B5EF4-FFF2-40B4-BE49-F238E27FC236}">
                  <a16:creationId xmlns:a16="http://schemas.microsoft.com/office/drawing/2014/main" id="{CB1DC9C2-C28E-F040-9F88-B480A4E56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752"/>
              <a:ext cx="576" cy="64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9181" name="Rectangle 6">
              <a:extLst>
                <a:ext uri="{FF2B5EF4-FFF2-40B4-BE49-F238E27FC236}">
                  <a16:creationId xmlns:a16="http://schemas.microsoft.com/office/drawing/2014/main" id="{4992C1F4-5A7D-5A4D-AD7E-974BC7E4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944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9182" name="Rectangle 7">
              <a:extLst>
                <a:ext uri="{FF2B5EF4-FFF2-40B4-BE49-F238E27FC236}">
                  <a16:creationId xmlns:a16="http://schemas.microsoft.com/office/drawing/2014/main" id="{E59A102E-D28F-D546-8CC5-1371D10CC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1136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9183" name="Rectangle 8">
              <a:extLst>
                <a:ext uri="{FF2B5EF4-FFF2-40B4-BE49-F238E27FC236}">
                  <a16:creationId xmlns:a16="http://schemas.microsoft.com/office/drawing/2014/main" id="{991DD736-2BEB-EF4C-BDBB-6E51A174C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" y="1328"/>
              <a:ext cx="576" cy="6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</p:grpSp>
      <p:sp>
        <p:nvSpPr>
          <p:cNvPr id="49154" name="Text Box 9">
            <a:extLst>
              <a:ext uri="{FF2B5EF4-FFF2-40B4-BE49-F238E27FC236}">
                <a16:creationId xmlns:a16="http://schemas.microsoft.com/office/drawing/2014/main" id="{02613DE6-39B0-144C-AD41-AA8576294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1452564"/>
            <a:ext cx="5219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>
                <a:latin typeface="Arial" panose="020B0604020202020204" pitchFamily="34" charset="0"/>
              </a:rPr>
              <a:t>Passo 2: Formular o Problema sob o foco da TRIZ</a:t>
            </a:r>
            <a:endParaRPr lang="pt-BR" altLang="pt-BR" sz="15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9155" name="Text Box 10">
            <a:extLst>
              <a:ext uri="{FF2B5EF4-FFF2-40B4-BE49-F238E27FC236}">
                <a16:creationId xmlns:a16="http://schemas.microsoft.com/office/drawing/2014/main" id="{55135B51-6ECA-4D40-9203-C6C0B3F50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862138"/>
            <a:ext cx="6143625" cy="16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Formular / Reformular o problema de problema,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   descrevendo-o em termos de contradições de projeto;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225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Contradição: a melhoria/satisfação de um determinado requisito de projeto, ocasiona problemas com os demais requisitos e/ou faz com que surjam outras dificuldades.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225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Ferramenta:</a:t>
            </a:r>
            <a:r>
              <a:rPr lang="pt-BR" altLang="pt-BR" sz="1350">
                <a:solidFill>
                  <a:srgbClr val="FF0000"/>
                </a:solidFill>
                <a:latin typeface="Arial" panose="020B0604020202020204" pitchFamily="34" charset="0"/>
              </a:rPr>
              <a:t> Telhado da Primeira Matriz do QFD - Matriz de Correlação </a:t>
            </a:r>
          </a:p>
        </p:txBody>
      </p:sp>
      <p:sp>
        <p:nvSpPr>
          <p:cNvPr id="49156" name="Line 11">
            <a:extLst>
              <a:ext uri="{FF2B5EF4-FFF2-40B4-BE49-F238E27FC236}">
                <a16:creationId xmlns:a16="http://schemas.microsoft.com/office/drawing/2014/main" id="{E2A7036E-F77A-F144-B30B-DCFB8E815B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8775" y="1750219"/>
            <a:ext cx="48672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grpSp>
        <p:nvGrpSpPr>
          <p:cNvPr id="49157" name="Group 12">
            <a:extLst>
              <a:ext uri="{FF2B5EF4-FFF2-40B4-BE49-F238E27FC236}">
                <a16:creationId xmlns:a16="http://schemas.microsoft.com/office/drawing/2014/main" id="{D1211B31-0C23-FF44-ACBA-FE22AD451072}"/>
              </a:ext>
            </a:extLst>
          </p:cNvPr>
          <p:cNvGrpSpPr>
            <a:grpSpLocks/>
          </p:cNvGrpSpPr>
          <p:nvPr/>
        </p:nvGrpSpPr>
        <p:grpSpPr bwMode="auto">
          <a:xfrm>
            <a:off x="1404938" y="3936205"/>
            <a:ext cx="4629150" cy="300038"/>
            <a:chOff x="136" y="2478"/>
            <a:chExt cx="3888" cy="252"/>
          </a:xfrm>
        </p:grpSpPr>
        <p:sp>
          <p:nvSpPr>
            <p:cNvPr id="49176" name="Text Box 13">
              <a:extLst>
                <a:ext uri="{FF2B5EF4-FFF2-40B4-BE49-F238E27FC236}">
                  <a16:creationId xmlns:a16="http://schemas.microsoft.com/office/drawing/2014/main" id="{3DDB7D64-F9AE-B945-975A-7D9E84F1B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" y="2478"/>
              <a:ext cx="38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8600" indent="-2286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pt-BR" altLang="pt-BR" sz="1350" i="1">
                  <a:latin typeface="Arial" panose="020B0604020202020204" pitchFamily="34" charset="0"/>
                </a:rPr>
                <a:t>Exemplo: Projeto de uma lata de refrigerante</a:t>
              </a:r>
              <a:endParaRPr lang="pt-BR" altLang="pt-BR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177" name="Line 14">
              <a:extLst>
                <a:ext uri="{FF2B5EF4-FFF2-40B4-BE49-F238E27FC236}">
                  <a16:creationId xmlns:a16="http://schemas.microsoft.com/office/drawing/2014/main" id="{735A15B9-F440-6548-B4E4-64BA0D7C6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709"/>
              <a:ext cx="2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</p:grpSp>
      <p:grpSp>
        <p:nvGrpSpPr>
          <p:cNvPr id="49158" name="Group 33">
            <a:extLst>
              <a:ext uri="{FF2B5EF4-FFF2-40B4-BE49-F238E27FC236}">
                <a16:creationId xmlns:a16="http://schemas.microsoft.com/office/drawing/2014/main" id="{30762E1F-22CE-6D46-A2A8-87BA9BA3640D}"/>
              </a:ext>
            </a:extLst>
          </p:cNvPr>
          <p:cNvGrpSpPr>
            <a:grpSpLocks/>
          </p:cNvGrpSpPr>
          <p:nvPr/>
        </p:nvGrpSpPr>
        <p:grpSpPr bwMode="auto">
          <a:xfrm>
            <a:off x="4793456" y="3684985"/>
            <a:ext cx="2824163" cy="2094309"/>
            <a:chOff x="2946" y="2375"/>
            <a:chExt cx="2372" cy="1759"/>
          </a:xfrm>
        </p:grpSpPr>
        <p:sp>
          <p:nvSpPr>
            <p:cNvPr id="49162" name="Text Box 16">
              <a:extLst>
                <a:ext uri="{FF2B5EF4-FFF2-40B4-BE49-F238E27FC236}">
                  <a16:creationId xmlns:a16="http://schemas.microsoft.com/office/drawing/2014/main" id="{26DD2D8B-37E9-5B4A-A765-5723F9600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825" y="3284"/>
              <a:ext cx="991" cy="44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  Espessura da parede da lata</a:t>
              </a:r>
            </a:p>
          </p:txBody>
        </p:sp>
        <p:sp>
          <p:nvSpPr>
            <p:cNvPr id="49163" name="Text Box 17">
              <a:extLst>
                <a:ext uri="{FF2B5EF4-FFF2-40B4-BE49-F238E27FC236}">
                  <a16:creationId xmlns:a16="http://schemas.microsoft.com/office/drawing/2014/main" id="{C0F3C1BC-524C-654C-8D59-51B9E4DF1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4611" y="3297"/>
              <a:ext cx="991" cy="42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-US" altLang="pt-BR" sz="1200">
                  <a:latin typeface="Arial" panose="020B0604020202020204" pitchFamily="34" charset="0"/>
                </a:rPr>
                <a:t>Resistência ao empilhamento </a:t>
              </a:r>
            </a:p>
          </p:txBody>
        </p:sp>
        <p:sp>
          <p:nvSpPr>
            <p:cNvPr id="49164" name="AutoShape 18">
              <a:extLst>
                <a:ext uri="{FF2B5EF4-FFF2-40B4-BE49-F238E27FC236}">
                  <a16:creationId xmlns:a16="http://schemas.microsoft.com/office/drawing/2014/main" id="{FE2835EA-B0AA-7449-8B44-F37C962101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7" y="2375"/>
              <a:ext cx="1221" cy="637"/>
            </a:xfrm>
            <a:prstGeom prst="triangle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9165" name="Line 19">
              <a:extLst>
                <a:ext uri="{FF2B5EF4-FFF2-40B4-BE49-F238E27FC236}">
                  <a16:creationId xmlns:a16="http://schemas.microsoft.com/office/drawing/2014/main" id="{2AC70E5B-0796-5748-9CB3-EE88072F5E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45" y="2600"/>
              <a:ext cx="381" cy="4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9166" name="Line 20">
              <a:extLst>
                <a:ext uri="{FF2B5EF4-FFF2-40B4-BE49-F238E27FC236}">
                  <a16:creationId xmlns:a16="http://schemas.microsoft.com/office/drawing/2014/main" id="{FA6E5158-0C99-FF48-A5AC-FB9401EE6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0" y="2776"/>
              <a:ext cx="224" cy="23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9167" name="Line 21">
              <a:extLst>
                <a:ext uri="{FF2B5EF4-FFF2-40B4-BE49-F238E27FC236}">
                  <a16:creationId xmlns:a16="http://schemas.microsoft.com/office/drawing/2014/main" id="{2A75DBF3-3E04-E941-815E-1168DF022F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78" y="2620"/>
              <a:ext cx="392" cy="38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9168" name="Line 22">
              <a:extLst>
                <a:ext uri="{FF2B5EF4-FFF2-40B4-BE49-F238E27FC236}">
                  <a16:creationId xmlns:a16="http://schemas.microsoft.com/office/drawing/2014/main" id="{A2203D70-A865-E84A-9A74-0387CC13E9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10" y="2786"/>
              <a:ext cx="235" cy="2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9169" name="Text Box 23">
              <a:extLst>
                <a:ext uri="{FF2B5EF4-FFF2-40B4-BE49-F238E27FC236}">
                  <a16:creationId xmlns:a16="http://schemas.microsoft.com/office/drawing/2014/main" id="{C85BCED3-7F06-4E49-87F0-EA5D45E766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6" y="4003"/>
              <a:ext cx="1151" cy="13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ts val="225"/>
                </a:spcBef>
                <a:spcAft>
                  <a:spcPts val="450"/>
                </a:spcAft>
                <a:buNone/>
              </a:pPr>
              <a:r>
                <a:rPr lang="en-US" altLang="pt-BR" sz="1050">
                  <a:latin typeface="Arial" panose="020B0604020202020204" pitchFamily="34" charset="0"/>
                </a:rPr>
                <a:t>Metas dos requisitos</a:t>
              </a:r>
            </a:p>
          </p:txBody>
        </p:sp>
        <p:sp>
          <p:nvSpPr>
            <p:cNvPr id="49170" name="Text Box 24">
              <a:extLst>
                <a:ext uri="{FF2B5EF4-FFF2-40B4-BE49-F238E27FC236}">
                  <a16:creationId xmlns:a16="http://schemas.microsoft.com/office/drawing/2014/main" id="{0CFB96E3-8AA8-4944-A131-472C77744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7" y="4003"/>
              <a:ext cx="448" cy="13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40000"/>
                </a:lnSpc>
                <a:spcBef>
                  <a:spcPct val="0"/>
                </a:spcBef>
                <a:spcAft>
                  <a:spcPts val="450"/>
                </a:spcAft>
                <a:buNone/>
              </a:pPr>
              <a:r>
                <a:rPr lang="en-US" altLang="pt-BR" sz="2700" b="1"/>
                <a:t>-</a:t>
              </a:r>
              <a:endParaRPr lang="en-US" altLang="pt-BR" sz="1200" b="1"/>
            </a:p>
          </p:txBody>
        </p:sp>
        <p:sp>
          <p:nvSpPr>
            <p:cNvPr id="49171" name="Text Box 25">
              <a:extLst>
                <a:ext uri="{FF2B5EF4-FFF2-40B4-BE49-F238E27FC236}">
                  <a16:creationId xmlns:a16="http://schemas.microsoft.com/office/drawing/2014/main" id="{81EF6A6C-A5DE-2148-B50B-675AB3E766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5" y="4003"/>
              <a:ext cx="381" cy="13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750"/>
            </a:p>
          </p:txBody>
        </p:sp>
        <p:sp>
          <p:nvSpPr>
            <p:cNvPr id="49172" name="Oval 26">
              <a:extLst>
                <a:ext uri="{FF2B5EF4-FFF2-40B4-BE49-F238E27FC236}">
                  <a16:creationId xmlns:a16="http://schemas.microsoft.com/office/drawing/2014/main" id="{1D1A9841-934C-5949-A16D-EA8882F3D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0" y="2572"/>
              <a:ext cx="140" cy="77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49173" name="Line 27">
              <a:extLst>
                <a:ext uri="{FF2B5EF4-FFF2-40B4-BE49-F238E27FC236}">
                  <a16:creationId xmlns:a16="http://schemas.microsoft.com/office/drawing/2014/main" id="{172936A0-533F-0A44-9A1A-155ACDFDD9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8" y="2620"/>
              <a:ext cx="712" cy="34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49174" name="Text Box 28">
              <a:extLst>
                <a:ext uri="{FF2B5EF4-FFF2-40B4-BE49-F238E27FC236}">
                  <a16:creationId xmlns:a16="http://schemas.microsoft.com/office/drawing/2014/main" id="{2DFFE1E6-D722-6247-B128-1B7A35631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966"/>
              <a:ext cx="846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3500" tIns="0" rIns="1350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solidFill>
                    <a:srgbClr val="FF0000"/>
                  </a:solidFill>
                  <a:latin typeface="Arial" panose="020B0604020202020204" pitchFamily="34" charset="0"/>
                </a:rPr>
                <a:t>Contradição 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solidFill>
                    <a:srgbClr val="FF0000"/>
                  </a:solidFill>
                  <a:latin typeface="Arial" panose="020B0604020202020204" pitchFamily="34" charset="0"/>
                </a:rPr>
                <a:t>entre os 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solidFill>
                    <a:srgbClr val="FF0000"/>
                  </a:solidFill>
                  <a:latin typeface="Arial" panose="020B0604020202020204" pitchFamily="34" charset="0"/>
                </a:rPr>
                <a:t>requisitos</a:t>
              </a:r>
              <a:endParaRPr lang="pt-BR" altLang="pt-BR" sz="1200">
                <a:latin typeface="Arial" panose="020B0604020202020204" pitchFamily="34" charset="0"/>
              </a:endParaRPr>
            </a:p>
          </p:txBody>
        </p:sp>
        <p:sp>
          <p:nvSpPr>
            <p:cNvPr id="49175" name="Text Box 29">
              <a:extLst>
                <a:ext uri="{FF2B5EF4-FFF2-40B4-BE49-F238E27FC236}">
                  <a16:creationId xmlns:a16="http://schemas.microsoft.com/office/drawing/2014/main" id="{A4FC9E99-C6FF-C64B-9B5A-5B3D8866C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4003"/>
              <a:ext cx="422" cy="13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0000"/>
                </a:lnSpc>
                <a:spcBef>
                  <a:spcPct val="0"/>
                </a:spcBef>
                <a:spcAft>
                  <a:spcPts val="450"/>
                </a:spcAft>
                <a:buNone/>
              </a:pPr>
              <a:r>
                <a:rPr lang="en-US" altLang="pt-BR" sz="1350" b="1"/>
                <a:t>+</a:t>
              </a:r>
              <a:endParaRPr lang="en-US" altLang="pt-BR" sz="1200" b="1"/>
            </a:p>
          </p:txBody>
        </p:sp>
      </p:grpSp>
      <p:sp>
        <p:nvSpPr>
          <p:cNvPr id="49159" name="Text Box 30">
            <a:extLst>
              <a:ext uri="{FF2B5EF4-FFF2-40B4-BE49-F238E27FC236}">
                <a16:creationId xmlns:a16="http://schemas.microsoft.com/office/drawing/2014/main" id="{D3E1DB9C-3E9B-A048-A2C1-C73CFCFD0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4317208"/>
            <a:ext cx="3057525" cy="1747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200" b="1" i="1">
                <a:solidFill>
                  <a:srgbClr val="FF0000"/>
                </a:solidFill>
                <a:latin typeface="Arial" panose="020B0604020202020204" pitchFamily="34" charset="0"/>
              </a:rPr>
              <a:t>Contradição</a:t>
            </a:r>
            <a:r>
              <a:rPr lang="pt-BR" altLang="pt-BR" sz="1200" i="1">
                <a:latin typeface="Arial" panose="020B0604020202020204" pitchFamily="34" charset="0"/>
              </a:rPr>
              <a:t>: A parede da lata deve ser estreita para minimizar o custo de material e, ao mesmo tempo, espessa para suportar o peso do empilhamento. Se, esta contradição for solucionada, obtém-se um produto ideal.</a:t>
            </a:r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49160" name="Text Box 31">
            <a:extLst>
              <a:ext uri="{FF2B5EF4-FFF2-40B4-BE49-F238E27FC236}">
                <a16:creationId xmlns:a16="http://schemas.microsoft.com/office/drawing/2014/main" id="{F5AE1E6A-DD30-7E46-9F88-111F0E3E54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49161" name="Line 32">
            <a:extLst>
              <a:ext uri="{FF2B5EF4-FFF2-40B4-BE49-F238E27FC236}">
                <a16:creationId xmlns:a16="http://schemas.microsoft.com/office/drawing/2014/main" id="{449B9D65-4BE2-2B44-B8B1-0A95A8C5CD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12065167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Line 2">
            <a:extLst>
              <a:ext uri="{FF2B5EF4-FFF2-40B4-BE49-F238E27FC236}">
                <a16:creationId xmlns:a16="http://schemas.microsoft.com/office/drawing/2014/main" id="{35746D83-20EE-134B-9692-7953FF460A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3750" y="1604963"/>
            <a:ext cx="0" cy="81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29BB27B3-F279-7B4A-AE4E-6BD472625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1528763"/>
            <a:ext cx="685800" cy="7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1203" name="Rectangle 4">
            <a:extLst>
              <a:ext uri="{FF2B5EF4-FFF2-40B4-BE49-F238E27FC236}">
                <a16:creationId xmlns:a16="http://schemas.microsoft.com/office/drawing/2014/main" id="{CCD02EBE-AE16-B741-A4DE-35EC1694E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1738313"/>
            <a:ext cx="685800" cy="7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1204" name="Rectangle 5">
            <a:extLst>
              <a:ext uri="{FF2B5EF4-FFF2-40B4-BE49-F238E27FC236}">
                <a16:creationId xmlns:a16="http://schemas.microsoft.com/office/drawing/2014/main" id="{7E2B0F52-6C69-0848-ACE8-60F16DA96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1966913"/>
            <a:ext cx="685800" cy="762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1205" name="Rectangle 6">
            <a:extLst>
              <a:ext uri="{FF2B5EF4-FFF2-40B4-BE49-F238E27FC236}">
                <a16:creationId xmlns:a16="http://schemas.microsoft.com/office/drawing/2014/main" id="{34379DDF-A86A-D14A-8CDA-85CEB450F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2195513"/>
            <a:ext cx="685800" cy="76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1206" name="Rectangle 7">
            <a:extLst>
              <a:ext uri="{FF2B5EF4-FFF2-40B4-BE49-F238E27FC236}">
                <a16:creationId xmlns:a16="http://schemas.microsoft.com/office/drawing/2014/main" id="{BB9DC23B-1FC8-3449-B451-B8887ECD2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2424113"/>
            <a:ext cx="685800" cy="76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1207" name="Text Box 8">
            <a:extLst>
              <a:ext uri="{FF2B5EF4-FFF2-40B4-BE49-F238E27FC236}">
                <a16:creationId xmlns:a16="http://schemas.microsoft.com/office/drawing/2014/main" id="{441D23E9-D78D-1847-BFD2-526A5A780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452564"/>
            <a:ext cx="5219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>
                <a:latin typeface="Arial" panose="020B0604020202020204" pitchFamily="34" charset="0"/>
              </a:rPr>
              <a:t>Passo 3: Determinar os Parâmetros de Engenharia</a:t>
            </a:r>
            <a:endParaRPr lang="pt-BR" altLang="pt-BR" sz="15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1208" name="Text Box 9">
            <a:extLst>
              <a:ext uri="{FF2B5EF4-FFF2-40B4-BE49-F238E27FC236}">
                <a16:creationId xmlns:a16="http://schemas.microsoft.com/office/drawing/2014/main" id="{F77598F0-B7AA-2B48-A0A6-4AA43411F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1862139"/>
            <a:ext cx="6143625" cy="2036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1549400" indent="508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Associar os requisitos de projeto aos PARÂMETROS DE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    ENGENHARIA da Teoria da Solução de Problemas Inventivos;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Identificar os parâmetros de engenharia a serem satisfeitos;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Identificar os, respectivos, parâmetros de engenharia conflitantes.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Ferramenta:</a:t>
            </a:r>
            <a:r>
              <a:rPr lang="pt-BR" altLang="pt-BR" sz="1350">
                <a:solidFill>
                  <a:srgbClr val="FF0000"/>
                </a:solidFill>
                <a:latin typeface="Arial" panose="020B0604020202020204" pitchFamily="34" charset="0"/>
              </a:rPr>
              <a:t> Os 39 Parâmetros de Engenharia da TRIZ 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350">
                <a:latin typeface="Arial" panose="020B0604020202020204" pitchFamily="34" charset="0"/>
              </a:rPr>
              <a:t> </a:t>
            </a:r>
            <a:r>
              <a:rPr lang="pt-BR" altLang="pt-BR" sz="1200">
                <a:latin typeface="Arial" panose="020B0604020202020204" pitchFamily="34" charset="0"/>
              </a:rPr>
              <a:t>Altshuller, pesquisando as patentes, observou a existência de 39 parâmetros de engenharia, os quais buscam caracterizar o produto.</a:t>
            </a:r>
            <a:r>
              <a:rPr lang="pt-BR" altLang="pt-BR" sz="135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1209" name="Line 10">
            <a:extLst>
              <a:ext uri="{FF2B5EF4-FFF2-40B4-BE49-F238E27FC236}">
                <a16:creationId xmlns:a16="http://schemas.microsoft.com/office/drawing/2014/main" id="{B2AA4FC2-E9B1-3C47-8726-A945325BC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750219"/>
            <a:ext cx="460057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grpSp>
        <p:nvGrpSpPr>
          <p:cNvPr id="51210" name="Group 11">
            <a:extLst>
              <a:ext uri="{FF2B5EF4-FFF2-40B4-BE49-F238E27FC236}">
                <a16:creationId xmlns:a16="http://schemas.microsoft.com/office/drawing/2014/main" id="{8BBFA50D-F27A-6A4E-89C2-45B1066EB065}"/>
              </a:ext>
            </a:extLst>
          </p:cNvPr>
          <p:cNvGrpSpPr>
            <a:grpSpLocks/>
          </p:cNvGrpSpPr>
          <p:nvPr/>
        </p:nvGrpSpPr>
        <p:grpSpPr bwMode="auto">
          <a:xfrm>
            <a:off x="1404938" y="3983830"/>
            <a:ext cx="4629150" cy="300038"/>
            <a:chOff x="136" y="2478"/>
            <a:chExt cx="3888" cy="252"/>
          </a:xfrm>
        </p:grpSpPr>
        <p:sp>
          <p:nvSpPr>
            <p:cNvPr id="51214" name="Text Box 12">
              <a:extLst>
                <a:ext uri="{FF2B5EF4-FFF2-40B4-BE49-F238E27FC236}">
                  <a16:creationId xmlns:a16="http://schemas.microsoft.com/office/drawing/2014/main" id="{C04D40E3-8587-FD40-AF8A-9CAE3F0EB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" y="2478"/>
              <a:ext cx="38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8600" indent="-2286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pt-BR" altLang="pt-BR" sz="1350" i="1">
                  <a:latin typeface="Arial" panose="020B0604020202020204" pitchFamily="34" charset="0"/>
                </a:rPr>
                <a:t>Exemplo: Projeto de uma lata de refrigerante</a:t>
              </a:r>
              <a:endParaRPr lang="pt-BR" altLang="pt-BR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215" name="Line 13">
              <a:extLst>
                <a:ext uri="{FF2B5EF4-FFF2-40B4-BE49-F238E27FC236}">
                  <a16:creationId xmlns:a16="http://schemas.microsoft.com/office/drawing/2014/main" id="{86DE56C1-2A77-324A-9E67-B210987A5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709"/>
              <a:ext cx="2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</p:grpSp>
      <p:sp>
        <p:nvSpPr>
          <p:cNvPr id="51211" name="Text Box 14">
            <a:extLst>
              <a:ext uri="{FF2B5EF4-FFF2-40B4-BE49-F238E27FC236}">
                <a16:creationId xmlns:a16="http://schemas.microsoft.com/office/drawing/2014/main" id="{DF54F97F-A5D2-2A47-8D52-5DCF8C2B3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4317208"/>
            <a:ext cx="6257925" cy="175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solidFill>
                  <a:srgbClr val="FF0000"/>
                </a:solidFill>
                <a:latin typeface="Arial" panose="020B0604020202020204" pitchFamily="34" charset="0"/>
              </a:rPr>
              <a:t>Requisito de projeto:</a:t>
            </a:r>
            <a:r>
              <a:rPr lang="pt-BR" altLang="pt-BR" sz="1350" i="1">
                <a:latin typeface="Arial" panose="020B0604020202020204" pitchFamily="34" charset="0"/>
              </a:rPr>
              <a:t> Espessura da parede da lata.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solidFill>
                  <a:srgbClr val="FF0000"/>
                </a:solidFill>
                <a:latin typeface="Arial" panose="020B0604020202020204" pitchFamily="34" charset="0"/>
              </a:rPr>
              <a:t>Parâmetro de Engenharia:</a:t>
            </a:r>
            <a:r>
              <a:rPr lang="pt-BR" altLang="pt-BR" sz="1350" i="1">
                <a:latin typeface="Arial" panose="020B0604020202020204" pitchFamily="34" charset="0"/>
              </a:rPr>
              <a:t> Comprimento do objeto estático </a:t>
            </a:r>
            <a:r>
              <a:rPr lang="pt-BR" altLang="pt-BR" sz="1200" i="1">
                <a:latin typeface="Arial" panose="020B0604020202020204" pitchFamily="34" charset="0"/>
              </a:rPr>
              <a:t>(Qualquer dimensão linear, não necessariamente a maior, é considerado comprimento do objeto estático).</a:t>
            </a:r>
            <a:endParaRPr lang="pt-BR" altLang="pt-BR" sz="1050" i="1">
              <a:latin typeface="Arial" panose="020B0604020202020204" pitchFamily="34" charset="0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endParaRPr lang="pt-BR" altLang="pt-BR" sz="675" i="1">
              <a:latin typeface="Arial" panose="020B0604020202020204" pitchFamily="34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solidFill>
                  <a:srgbClr val="FF0000"/>
                </a:solidFill>
                <a:latin typeface="Arial" panose="020B0604020202020204" pitchFamily="34" charset="0"/>
              </a:rPr>
              <a:t>Requisito de projeto:</a:t>
            </a:r>
            <a:r>
              <a:rPr lang="pt-BR" altLang="pt-BR" sz="1350" i="1">
                <a:latin typeface="Arial" panose="020B0604020202020204" pitchFamily="34" charset="0"/>
              </a:rPr>
              <a:t> Resistência ao empilhamento da lata.</a:t>
            </a:r>
          </a:p>
          <a:p>
            <a:pPr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solidFill>
                  <a:srgbClr val="FF0000"/>
                </a:solidFill>
                <a:latin typeface="Arial" panose="020B0604020202020204" pitchFamily="34" charset="0"/>
              </a:rPr>
              <a:t>Parâmetro de Engenharia:</a:t>
            </a:r>
            <a:r>
              <a:rPr lang="pt-BR" altLang="pt-BR" sz="1350" i="1">
                <a:latin typeface="Arial" panose="020B0604020202020204" pitchFamily="34" charset="0"/>
              </a:rPr>
              <a:t> Tensão </a:t>
            </a:r>
            <a:r>
              <a:rPr lang="pt-BR" altLang="pt-BR" sz="1200" i="1">
                <a:latin typeface="Arial" panose="020B0604020202020204" pitchFamily="34" charset="0"/>
              </a:rPr>
              <a:t>(Força por unidade de área)</a:t>
            </a:r>
          </a:p>
        </p:txBody>
      </p:sp>
      <p:sp>
        <p:nvSpPr>
          <p:cNvPr id="51212" name="Text Box 15">
            <a:extLst>
              <a:ext uri="{FF2B5EF4-FFF2-40B4-BE49-F238E27FC236}">
                <a16:creationId xmlns:a16="http://schemas.microsoft.com/office/drawing/2014/main" id="{ABE37EB9-2611-824D-A432-1948F60A4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51213" name="Line 16">
            <a:extLst>
              <a:ext uri="{FF2B5EF4-FFF2-40B4-BE49-F238E27FC236}">
                <a16:creationId xmlns:a16="http://schemas.microsoft.com/office/drawing/2014/main" id="{34133F83-CD67-344B-BDD0-A65E8D425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19839084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2">
            <a:extLst>
              <a:ext uri="{FF2B5EF4-FFF2-40B4-BE49-F238E27FC236}">
                <a16:creationId xmlns:a16="http://schemas.microsoft.com/office/drawing/2014/main" id="{E8415CFA-AE75-1243-A3BC-1302DEC25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1725" y="1028701"/>
            <a:ext cx="4114800" cy="3231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500" b="1">
                <a:solidFill>
                  <a:srgbClr val="FF0000"/>
                </a:solidFill>
                <a:latin typeface="Arial" panose="020B0604020202020204" pitchFamily="34" charset="0"/>
              </a:rPr>
              <a:t>Os 39 Parâmetros de Engenharia da TIPS </a:t>
            </a:r>
          </a:p>
        </p:txBody>
      </p:sp>
      <p:graphicFrame>
        <p:nvGraphicFramePr>
          <p:cNvPr id="53250" name="Object 5">
            <a:extLst>
              <a:ext uri="{FF2B5EF4-FFF2-40B4-BE49-F238E27FC236}">
                <a16:creationId xmlns:a16="http://schemas.microsoft.com/office/drawing/2014/main" id="{1D663170-5F4D-1543-8825-C0AE24283B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7375" y="1543051"/>
          <a:ext cx="5200650" cy="4180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22517100" imgH="18338800" progId="Word.Document.8">
                  <p:embed/>
                </p:oleObj>
              </mc:Choice>
              <mc:Fallback>
                <p:oleObj name="Documento" r:id="rId3" imgW="22517100" imgH="18338800" progId="Word.Document.8">
                  <p:embed/>
                  <p:pic>
                    <p:nvPicPr>
                      <p:cNvPr id="53250" name="Object 5">
                        <a:extLst>
                          <a:ext uri="{FF2B5EF4-FFF2-40B4-BE49-F238E27FC236}">
                            <a16:creationId xmlns:a16="http://schemas.microsoft.com/office/drawing/2014/main" id="{1D663170-5F4D-1543-8825-C0AE24283B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75" y="1543051"/>
                        <a:ext cx="5200650" cy="4180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8535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032">
            <a:extLst>
              <a:ext uri="{FF2B5EF4-FFF2-40B4-BE49-F238E27FC236}">
                <a16:creationId xmlns:a16="http://schemas.microsoft.com/office/drawing/2014/main" id="{C83D2611-72D4-6C4B-84B0-016B3762F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452564"/>
            <a:ext cx="5219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i="1">
                <a:solidFill>
                  <a:srgbClr val="FF0000"/>
                </a:solidFill>
                <a:latin typeface="Arial" panose="020B0604020202020204" pitchFamily="34" charset="0"/>
              </a:rPr>
              <a:t>VOLUME DO OBJETO ESTÁTICO</a:t>
            </a:r>
          </a:p>
        </p:txBody>
      </p:sp>
      <p:sp>
        <p:nvSpPr>
          <p:cNvPr id="55298" name="Text Box 1033">
            <a:extLst>
              <a:ext uri="{FF2B5EF4-FFF2-40B4-BE49-F238E27FC236}">
                <a16:creationId xmlns:a16="http://schemas.microsoft.com/office/drawing/2014/main" id="{142CC6B4-48E7-1F47-BE24-65B24583D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1785939"/>
            <a:ext cx="6143625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Medida cúbica do espaço ocupado pelo objeto. </a:t>
            </a:r>
          </a:p>
        </p:txBody>
      </p:sp>
      <p:sp>
        <p:nvSpPr>
          <p:cNvPr id="55299" name="Text Box 1036">
            <a:extLst>
              <a:ext uri="{FF2B5EF4-FFF2-40B4-BE49-F238E27FC236}">
                <a16:creationId xmlns:a16="http://schemas.microsoft.com/office/drawing/2014/main" id="{451C6474-7F3D-F24D-B2A9-991AADCC2C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5" y="3517107"/>
            <a:ext cx="4629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i="1">
                <a:solidFill>
                  <a:srgbClr val="FF0000"/>
                </a:solidFill>
                <a:latin typeface="Arial" panose="020B0604020202020204" pitchFamily="34" charset="0"/>
              </a:rPr>
              <a:t>PRECISÃO DA MEDIDA</a:t>
            </a:r>
          </a:p>
        </p:txBody>
      </p:sp>
      <p:sp>
        <p:nvSpPr>
          <p:cNvPr id="55300" name="Text Box 1038">
            <a:extLst>
              <a:ext uri="{FF2B5EF4-FFF2-40B4-BE49-F238E27FC236}">
                <a16:creationId xmlns:a16="http://schemas.microsoft.com/office/drawing/2014/main" id="{25759F9F-3A65-C047-A9CE-FBB7BAAB87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3821906"/>
            <a:ext cx="2924175" cy="16846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>
                <a:latin typeface="Arial" panose="020B0604020202020204" pitchFamily="34" charset="0"/>
              </a:rPr>
              <a:t>A proximidade entre o valor especificado e o valor medido de uma propriedade do sistema. Reduzindo o erro de uma medida tem-se um aumento da precisão do sistema.</a:t>
            </a:r>
          </a:p>
        </p:txBody>
      </p:sp>
      <p:sp>
        <p:nvSpPr>
          <p:cNvPr id="55301" name="Text Box 1039">
            <a:extLst>
              <a:ext uri="{FF2B5EF4-FFF2-40B4-BE49-F238E27FC236}">
                <a16:creationId xmlns:a16="http://schemas.microsoft.com/office/drawing/2014/main" id="{090158AB-A004-594A-B80D-A19115A4BC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EXEMPLOS DE PARÂMETROS DE ENGENHARIA DA TRIZ</a:t>
            </a:r>
          </a:p>
        </p:txBody>
      </p:sp>
      <p:sp>
        <p:nvSpPr>
          <p:cNvPr id="55302" name="Line 1040">
            <a:extLst>
              <a:ext uri="{FF2B5EF4-FFF2-40B4-BE49-F238E27FC236}">
                <a16:creationId xmlns:a16="http://schemas.microsoft.com/office/drawing/2014/main" id="{63AFE04B-7645-054C-8520-045AAB757D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55303" name="AutoShape 1042">
            <a:extLst>
              <a:ext uri="{FF2B5EF4-FFF2-40B4-BE49-F238E27FC236}">
                <a16:creationId xmlns:a16="http://schemas.microsoft.com/office/drawing/2014/main" id="{1A638AD3-8965-3F4D-8872-153311B0D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333625"/>
            <a:ext cx="895350" cy="600075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5304" name="AutoShape 1043">
            <a:extLst>
              <a:ext uri="{FF2B5EF4-FFF2-40B4-BE49-F238E27FC236}">
                <a16:creationId xmlns:a16="http://schemas.microsoft.com/office/drawing/2014/main" id="{4FCBA560-1948-FF45-8334-A52F5B30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850" y="2447925"/>
            <a:ext cx="581025" cy="533400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graphicFrame>
        <p:nvGraphicFramePr>
          <p:cNvPr id="55305" name="Object 1024">
            <a:extLst>
              <a:ext uri="{FF2B5EF4-FFF2-40B4-BE49-F238E27FC236}">
                <a16:creationId xmlns:a16="http://schemas.microsoft.com/office/drawing/2014/main" id="{EED691E7-2BFB-C148-8014-B642F41E0B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54141" y="3681414"/>
          <a:ext cx="3218259" cy="1818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3" imgW="5829300" imgH="3898900" progId="MSGraph.Chart.8">
                  <p:embed followColorScheme="full"/>
                </p:oleObj>
              </mc:Choice>
              <mc:Fallback>
                <p:oleObj name="Gráfico" r:id="rId3" imgW="5829300" imgH="3898900" progId="MSGraph.Chart.8">
                  <p:embed followColorScheme="full"/>
                  <p:pic>
                    <p:nvPicPr>
                      <p:cNvPr id="55305" name="Object 1024">
                        <a:extLst>
                          <a:ext uri="{FF2B5EF4-FFF2-40B4-BE49-F238E27FC236}">
                            <a16:creationId xmlns:a16="http://schemas.microsoft.com/office/drawing/2014/main" id="{EED691E7-2BFB-C148-8014-B642F41E0B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141" y="3681414"/>
                        <a:ext cx="3218259" cy="1818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6" name="Rectangle 1045">
            <a:extLst>
              <a:ext uri="{FF2B5EF4-FFF2-40B4-BE49-F238E27FC236}">
                <a16:creationId xmlns:a16="http://schemas.microsoft.com/office/drawing/2014/main" id="{1547C9BE-87C5-D848-81F5-EFA7248E9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8294" y="2875360"/>
            <a:ext cx="1090613" cy="29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i="1">
                <a:latin typeface="Arial" panose="020B0604020202020204" pitchFamily="34" charset="0"/>
              </a:rPr>
              <a:t>comprimento</a:t>
            </a:r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55307" name="Rectangle 1047">
            <a:extLst>
              <a:ext uri="{FF2B5EF4-FFF2-40B4-BE49-F238E27FC236}">
                <a16:creationId xmlns:a16="http://schemas.microsoft.com/office/drawing/2014/main" id="{4D938423-0943-694D-877A-B9B6E6428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6995" y="2351485"/>
            <a:ext cx="794147" cy="29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i="1">
                <a:latin typeface="Arial" panose="020B0604020202020204" pitchFamily="34" charset="0"/>
              </a:rPr>
              <a:t>altura</a:t>
            </a:r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55308" name="Rectangle 1048">
            <a:extLst>
              <a:ext uri="{FF2B5EF4-FFF2-40B4-BE49-F238E27FC236}">
                <a16:creationId xmlns:a16="http://schemas.microsoft.com/office/drawing/2014/main" id="{B20EA7D0-2401-0745-9C9C-EF7DF0FA8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0894" y="2482454"/>
            <a:ext cx="108395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350" i="1">
                <a:latin typeface="Arial" panose="020B0604020202020204" pitchFamily="34" charset="0"/>
              </a:rPr>
              <a:t>V = c x l x a</a:t>
            </a:r>
            <a:endParaRPr lang="pt-BR" altLang="pt-BR" sz="1350">
              <a:latin typeface="Arial" panose="020B0604020202020204" pitchFamily="34" charset="0"/>
            </a:endParaRPr>
          </a:p>
        </p:txBody>
      </p:sp>
      <p:sp>
        <p:nvSpPr>
          <p:cNvPr id="55309" name="Rectangle 1049">
            <a:extLst>
              <a:ext uri="{FF2B5EF4-FFF2-40B4-BE49-F238E27FC236}">
                <a16:creationId xmlns:a16="http://schemas.microsoft.com/office/drawing/2014/main" id="{C8812A9D-E06D-E845-98BA-A48E207A9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0320" y="2742010"/>
            <a:ext cx="975122" cy="29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i="1">
                <a:latin typeface="Arial" panose="020B0604020202020204" pitchFamily="34" charset="0"/>
              </a:rPr>
              <a:t>largura</a:t>
            </a:r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55310" name="Rectangle 1050">
            <a:extLst>
              <a:ext uri="{FF2B5EF4-FFF2-40B4-BE49-F238E27FC236}">
                <a16:creationId xmlns:a16="http://schemas.microsoft.com/office/drawing/2014/main" id="{A987DBF3-E354-9A41-BE9E-C09BF8DF1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7295" y="2970610"/>
            <a:ext cx="1098947" cy="29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i="1">
                <a:latin typeface="Arial" panose="020B0604020202020204" pitchFamily="34" charset="0"/>
              </a:rPr>
              <a:t>Área da base</a:t>
            </a:r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55311" name="Rectangle 1051">
            <a:extLst>
              <a:ext uri="{FF2B5EF4-FFF2-40B4-BE49-F238E27FC236}">
                <a16:creationId xmlns:a16="http://schemas.microsoft.com/office/drawing/2014/main" id="{9C26A6F0-4D32-444A-9EA9-EF2C7A766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2645" y="2570560"/>
            <a:ext cx="794147" cy="293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i="1">
                <a:latin typeface="Arial" panose="020B0604020202020204" pitchFamily="34" charset="0"/>
              </a:rPr>
              <a:t>altura</a:t>
            </a:r>
            <a:endParaRPr lang="pt-BR" altLang="pt-BR" sz="1200">
              <a:latin typeface="Arial" panose="020B0604020202020204" pitchFamily="34" charset="0"/>
            </a:endParaRPr>
          </a:p>
        </p:txBody>
      </p:sp>
      <p:sp>
        <p:nvSpPr>
          <p:cNvPr id="55312" name="Rectangle 1052">
            <a:extLst>
              <a:ext uri="{FF2B5EF4-FFF2-40B4-BE49-F238E27FC236}">
                <a16:creationId xmlns:a16="http://schemas.microsoft.com/office/drawing/2014/main" id="{4957A559-FA15-F34A-BA99-85C0F8034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3194" y="2558654"/>
            <a:ext cx="1135247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350" i="1">
                <a:latin typeface="Arial" panose="020B0604020202020204" pitchFamily="34" charset="0"/>
              </a:rPr>
              <a:t>V = A</a:t>
            </a:r>
            <a:r>
              <a:rPr lang="pt-BR" altLang="pt-BR" sz="1350" i="1" baseline="-25000">
                <a:latin typeface="Arial" panose="020B0604020202020204" pitchFamily="34" charset="0"/>
              </a:rPr>
              <a:t>base</a:t>
            </a:r>
            <a:r>
              <a:rPr lang="pt-BR" altLang="pt-BR" sz="1350" i="1">
                <a:latin typeface="Arial" panose="020B0604020202020204" pitchFamily="34" charset="0"/>
              </a:rPr>
              <a:t> x a</a:t>
            </a:r>
            <a:endParaRPr lang="pt-BR" altLang="pt-BR" sz="1350">
              <a:latin typeface="Arial" panose="020B0604020202020204" pitchFamily="34" charset="0"/>
            </a:endParaRPr>
          </a:p>
        </p:txBody>
      </p:sp>
      <p:sp>
        <p:nvSpPr>
          <p:cNvPr id="55313" name="Text Box 1053">
            <a:extLst>
              <a:ext uri="{FF2B5EF4-FFF2-40B4-BE49-F238E27FC236}">
                <a16:creationId xmlns:a16="http://schemas.microsoft.com/office/drawing/2014/main" id="{073C612C-9B05-6C47-86A5-66B84CDD1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069" y="5599510"/>
            <a:ext cx="133882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Precisão maior</a:t>
            </a:r>
          </a:p>
        </p:txBody>
      </p:sp>
      <p:sp>
        <p:nvSpPr>
          <p:cNvPr id="55314" name="AutoShape 1054">
            <a:extLst>
              <a:ext uri="{FF2B5EF4-FFF2-40B4-BE49-F238E27FC236}">
                <a16:creationId xmlns:a16="http://schemas.microsoft.com/office/drawing/2014/main" id="{85440CF1-F082-A142-B826-71E9C2A2F78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5324475" y="5267325"/>
            <a:ext cx="333375" cy="66675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2912 h 21600"/>
              <a:gd name="T14" fmla="*/ 18227 w 21600"/>
              <a:gd name="T15" fmla="*/ 9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5126" y="0"/>
                </a:lnTo>
                <a:lnTo>
                  <a:pt x="15126" y="2912"/>
                </a:lnTo>
                <a:lnTo>
                  <a:pt x="12427" y="2912"/>
                </a:lnTo>
                <a:cubicBezTo>
                  <a:pt x="5564" y="2912"/>
                  <a:pt x="0" y="7052"/>
                  <a:pt x="0" y="12158"/>
                </a:cubicBezTo>
                <a:lnTo>
                  <a:pt x="0" y="21600"/>
                </a:lnTo>
                <a:lnTo>
                  <a:pt x="6474" y="21600"/>
                </a:lnTo>
                <a:lnTo>
                  <a:pt x="6474" y="12158"/>
                </a:lnTo>
                <a:cubicBezTo>
                  <a:pt x="6474" y="10550"/>
                  <a:pt x="9139" y="9246"/>
                  <a:pt x="12427" y="9246"/>
                </a:cubicBezTo>
                <a:lnTo>
                  <a:pt x="15126" y="9246"/>
                </a:lnTo>
                <a:lnTo>
                  <a:pt x="15126" y="12158"/>
                </a:lnTo>
                <a:lnTo>
                  <a:pt x="21600" y="6079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22679698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Line 2">
            <a:extLst>
              <a:ext uri="{FF2B5EF4-FFF2-40B4-BE49-F238E27FC236}">
                <a16:creationId xmlns:a16="http://schemas.microsoft.com/office/drawing/2014/main" id="{5BC7B050-68BE-E64F-8857-1B802C36B5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3750" y="1604963"/>
            <a:ext cx="0" cy="81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57346" name="Rectangle 3">
            <a:extLst>
              <a:ext uri="{FF2B5EF4-FFF2-40B4-BE49-F238E27FC236}">
                <a16:creationId xmlns:a16="http://schemas.microsoft.com/office/drawing/2014/main" id="{A0571CEA-1795-E64C-AF4E-CAC08C6D8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1528763"/>
            <a:ext cx="685800" cy="7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7347" name="Rectangle 4">
            <a:extLst>
              <a:ext uri="{FF2B5EF4-FFF2-40B4-BE49-F238E27FC236}">
                <a16:creationId xmlns:a16="http://schemas.microsoft.com/office/drawing/2014/main" id="{DAC37A5B-C8EA-4F4D-A1D6-BA3C2D875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1738313"/>
            <a:ext cx="685800" cy="7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7348" name="Rectangle 5">
            <a:extLst>
              <a:ext uri="{FF2B5EF4-FFF2-40B4-BE49-F238E27FC236}">
                <a16:creationId xmlns:a16="http://schemas.microsoft.com/office/drawing/2014/main" id="{384E5C9E-71C7-384E-A77D-E2409E390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1966913"/>
            <a:ext cx="685800" cy="7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7349" name="Rectangle 6">
            <a:extLst>
              <a:ext uri="{FF2B5EF4-FFF2-40B4-BE49-F238E27FC236}">
                <a16:creationId xmlns:a16="http://schemas.microsoft.com/office/drawing/2014/main" id="{E955B04F-F5B4-CE4C-85F9-D8D9CB421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2195513"/>
            <a:ext cx="685800" cy="762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7350" name="Rectangle 7">
            <a:extLst>
              <a:ext uri="{FF2B5EF4-FFF2-40B4-BE49-F238E27FC236}">
                <a16:creationId xmlns:a16="http://schemas.microsoft.com/office/drawing/2014/main" id="{1FEA1384-D978-A74F-A2BA-E43BFFB4B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0850" y="2424113"/>
            <a:ext cx="685800" cy="76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57351" name="Text Box 8">
            <a:extLst>
              <a:ext uri="{FF2B5EF4-FFF2-40B4-BE49-F238E27FC236}">
                <a16:creationId xmlns:a16="http://schemas.microsoft.com/office/drawing/2014/main" id="{D6627B74-1D47-CF44-B313-EF7CB9E7E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414464"/>
            <a:ext cx="5219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>
                <a:latin typeface="Arial" panose="020B0604020202020204" pitchFamily="34" charset="0"/>
              </a:rPr>
              <a:t>Passo 4: Buscar uma Solução Análoga</a:t>
            </a:r>
            <a:endParaRPr lang="pt-BR" altLang="pt-BR" sz="15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57352" name="Text Box 9">
            <a:extLst>
              <a:ext uri="{FF2B5EF4-FFF2-40B4-BE49-F238E27FC236}">
                <a16:creationId xmlns:a16="http://schemas.microsoft.com/office/drawing/2014/main" id="{42346435-D6E6-0649-95C0-A96C574C5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1671639"/>
            <a:ext cx="5981700" cy="14128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Altshuller, pesquisando as patentes, observou a existência de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   40 Princípios Inventivos, os quais são orientações e sugestões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   para obter uma solução inventiva para o problema de projeto.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endParaRPr lang="pt-BR" altLang="pt-BR" sz="525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Para auxiliar a busca pelos princípios inventivos, Altshuller desenvolveu a </a:t>
            </a:r>
            <a:r>
              <a:rPr lang="pt-BR" altLang="pt-BR" sz="1350">
                <a:solidFill>
                  <a:srgbClr val="FF0000"/>
                </a:solidFill>
                <a:latin typeface="Arial" panose="020B0604020202020204" pitchFamily="34" charset="0"/>
              </a:rPr>
              <a:t>Matriz de Contradição da TIPS.</a:t>
            </a:r>
            <a:endParaRPr lang="pt-BR" altLang="pt-BR" sz="1350">
              <a:latin typeface="Arial" panose="020B0604020202020204" pitchFamily="34" charset="0"/>
            </a:endParaRPr>
          </a:p>
        </p:txBody>
      </p:sp>
      <p:sp>
        <p:nvSpPr>
          <p:cNvPr id="57353" name="Line 10">
            <a:extLst>
              <a:ext uri="{FF2B5EF4-FFF2-40B4-BE49-F238E27FC236}">
                <a16:creationId xmlns:a16="http://schemas.microsoft.com/office/drawing/2014/main" id="{D1C37110-911D-4046-B704-2F7E35B1B7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712119"/>
            <a:ext cx="3581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57354" name="Text Box 12">
            <a:extLst>
              <a:ext uri="{FF2B5EF4-FFF2-40B4-BE49-F238E27FC236}">
                <a16:creationId xmlns:a16="http://schemas.microsoft.com/office/drawing/2014/main" id="{559AC95E-1237-DF40-8FA5-9CDD777E9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57355" name="Line 13">
            <a:extLst>
              <a:ext uri="{FF2B5EF4-FFF2-40B4-BE49-F238E27FC236}">
                <a16:creationId xmlns:a16="http://schemas.microsoft.com/office/drawing/2014/main" id="{46CBDF9C-3FD1-1144-B66F-1DAC6C3891D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graphicFrame>
        <p:nvGraphicFramePr>
          <p:cNvPr id="57356" name="Object 14">
            <a:extLst>
              <a:ext uri="{FF2B5EF4-FFF2-40B4-BE49-F238E27FC236}">
                <a16:creationId xmlns:a16="http://schemas.microsoft.com/office/drawing/2014/main" id="{BD0A42C1-89F4-7F45-87CD-3F5DE20ECA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43075" y="3200400"/>
          <a:ext cx="5657850" cy="268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21158200" imgH="10655300" progId="Word.Document.8">
                  <p:embed/>
                </p:oleObj>
              </mc:Choice>
              <mc:Fallback>
                <p:oleObj name="Documento" r:id="rId3" imgW="21158200" imgH="10655300" progId="Word.Document.8">
                  <p:embed/>
                  <p:pic>
                    <p:nvPicPr>
                      <p:cNvPr id="57356" name="Object 14">
                        <a:extLst>
                          <a:ext uri="{FF2B5EF4-FFF2-40B4-BE49-F238E27FC236}">
                            <a16:creationId xmlns:a16="http://schemas.microsoft.com/office/drawing/2014/main" id="{BD0A42C1-89F4-7F45-87CD-3F5DE20ECA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075" y="3200400"/>
                        <a:ext cx="5657850" cy="268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454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ext Box 1026">
            <a:extLst>
              <a:ext uri="{FF2B5EF4-FFF2-40B4-BE49-F238E27FC236}">
                <a16:creationId xmlns:a16="http://schemas.microsoft.com/office/drawing/2014/main" id="{9457E765-4AFC-C341-B1EE-3A1B2472A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6025" y="1028701"/>
            <a:ext cx="4171950" cy="32316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500" b="1">
                <a:solidFill>
                  <a:srgbClr val="FF0000"/>
                </a:solidFill>
                <a:latin typeface="Arial" panose="020B0604020202020204" pitchFamily="34" charset="0"/>
              </a:rPr>
              <a:t>Os  40  Princípios  Inventivos  da TIPS </a:t>
            </a:r>
          </a:p>
        </p:txBody>
      </p:sp>
      <p:graphicFrame>
        <p:nvGraphicFramePr>
          <p:cNvPr id="59394" name="Object 1024">
            <a:extLst>
              <a:ext uri="{FF2B5EF4-FFF2-40B4-BE49-F238E27FC236}">
                <a16:creationId xmlns:a16="http://schemas.microsoft.com/office/drawing/2014/main" id="{2F76FB65-3A74-A244-A9F4-56D07682DF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1485900"/>
          <a:ext cx="5486400" cy="456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20802600" imgH="17284700" progId="Word.Document.8">
                  <p:embed/>
                </p:oleObj>
              </mc:Choice>
              <mc:Fallback>
                <p:oleObj name="Documento" r:id="rId3" imgW="20802600" imgH="17284700" progId="Word.Document.8">
                  <p:embed/>
                  <p:pic>
                    <p:nvPicPr>
                      <p:cNvPr id="59394" name="Object 1024">
                        <a:extLst>
                          <a:ext uri="{FF2B5EF4-FFF2-40B4-BE49-F238E27FC236}">
                            <a16:creationId xmlns:a16="http://schemas.microsoft.com/office/drawing/2014/main" id="{2F76FB65-3A74-A244-A9F4-56D07682DF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85900"/>
                        <a:ext cx="5486400" cy="456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04971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2" descr="contra01">
            <a:extLst>
              <a:ext uri="{FF2B5EF4-FFF2-40B4-BE49-F238E27FC236}">
                <a16:creationId xmlns:a16="http://schemas.microsoft.com/office/drawing/2014/main" id="{27CCFE10-A706-8345-BB07-DAACEFA8D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291" y="1447800"/>
            <a:ext cx="3627834" cy="443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2" name="AutoShape 3">
            <a:extLst>
              <a:ext uri="{FF2B5EF4-FFF2-40B4-BE49-F238E27FC236}">
                <a16:creationId xmlns:a16="http://schemas.microsoft.com/office/drawing/2014/main" id="{16CFBEA7-372F-CA40-ADC1-9D443C4F8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0" y="1295400"/>
            <a:ext cx="257175" cy="152400"/>
          </a:xfrm>
          <a:prstGeom prst="downArrow">
            <a:avLst>
              <a:gd name="adj1" fmla="val 55556"/>
              <a:gd name="adj2" fmla="val 5781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61443" name="AutoShape 4">
            <a:extLst>
              <a:ext uri="{FF2B5EF4-FFF2-40B4-BE49-F238E27FC236}">
                <a16:creationId xmlns:a16="http://schemas.microsoft.com/office/drawing/2014/main" id="{371D0852-8F29-FA47-AB56-FB1181D19D1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142185" y="2867025"/>
            <a:ext cx="257175" cy="152400"/>
          </a:xfrm>
          <a:prstGeom prst="downArrow">
            <a:avLst>
              <a:gd name="adj1" fmla="val 55556"/>
              <a:gd name="adj2" fmla="val 57810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61444" name="Line 5">
            <a:extLst>
              <a:ext uri="{FF2B5EF4-FFF2-40B4-BE49-F238E27FC236}">
                <a16:creationId xmlns:a16="http://schemas.microsoft.com/office/drawing/2014/main" id="{D94821D5-1220-5C4B-A7B6-1741B3878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4937" y="2950369"/>
            <a:ext cx="1966913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61445" name="Line 6">
            <a:extLst>
              <a:ext uri="{FF2B5EF4-FFF2-40B4-BE49-F238E27FC236}">
                <a16:creationId xmlns:a16="http://schemas.microsoft.com/office/drawing/2014/main" id="{3E49B9B3-81B7-7A40-AE65-69EB02320C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9013" y="2343150"/>
            <a:ext cx="0" cy="481013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61446" name="Oval 7">
            <a:extLst>
              <a:ext uri="{FF2B5EF4-FFF2-40B4-BE49-F238E27FC236}">
                <a16:creationId xmlns:a16="http://schemas.microsoft.com/office/drawing/2014/main" id="{8C18BC0A-B39E-5F44-BEB8-0B5D71994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138" y="2814638"/>
            <a:ext cx="257175" cy="25717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61447" name="Text Box 8">
            <a:extLst>
              <a:ext uri="{FF2B5EF4-FFF2-40B4-BE49-F238E27FC236}">
                <a16:creationId xmlns:a16="http://schemas.microsoft.com/office/drawing/2014/main" id="{7AF03468-AF36-B74C-9709-B6F63BF3B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4939" y="1569244"/>
            <a:ext cx="278963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350" i="1">
                <a:latin typeface="Arial" panose="020B0604020202020204" pitchFamily="34" charset="0"/>
              </a:rPr>
              <a:t>Exemplo: Projeto   de  uma  lata</a:t>
            </a:r>
          </a:p>
          <a:p>
            <a:pPr algn="just">
              <a:spcBef>
                <a:spcPct val="0"/>
              </a:spcBef>
              <a:buFontTx/>
              <a:buNone/>
            </a:pPr>
            <a:r>
              <a:rPr lang="pt-BR" altLang="pt-BR" sz="1350" i="1">
                <a:latin typeface="Arial" panose="020B0604020202020204" pitchFamily="34" charset="0"/>
              </a:rPr>
              <a:t>                   de   r e f r i g e r a n t e</a:t>
            </a:r>
            <a:endParaRPr lang="pt-BR" altLang="pt-BR" sz="135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1448" name="Line 9">
            <a:extLst>
              <a:ext uri="{FF2B5EF4-FFF2-40B4-BE49-F238E27FC236}">
                <a16:creationId xmlns:a16="http://schemas.microsoft.com/office/drawing/2014/main" id="{8EB8F5D8-8245-574C-A302-3F44D2A1E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1626" y="2064544"/>
            <a:ext cx="262294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61449" name="Text Box 10">
            <a:extLst>
              <a:ext uri="{FF2B5EF4-FFF2-40B4-BE49-F238E27FC236}">
                <a16:creationId xmlns:a16="http://schemas.microsoft.com/office/drawing/2014/main" id="{62064BAE-23DA-5C4B-ADD9-254BB7956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976" y="4438651"/>
            <a:ext cx="3022997" cy="195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latin typeface="Arial" panose="020B0604020202020204" pitchFamily="34" charset="0"/>
              </a:rPr>
              <a:t>Princípio Inventivo 1: Segmentação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latin typeface="Arial" panose="020B0604020202020204" pitchFamily="34" charset="0"/>
              </a:rPr>
              <a:t>Princípio</a:t>
            </a:r>
            <a:r>
              <a:rPr lang="pt-BR" altLang="pt-BR" sz="1050" i="1">
                <a:latin typeface="Arial" panose="020B0604020202020204" pitchFamily="34" charset="0"/>
              </a:rPr>
              <a:t> </a:t>
            </a:r>
            <a:r>
              <a:rPr lang="pt-BR" altLang="pt-BR" sz="1350" i="1">
                <a:latin typeface="Arial" panose="020B0604020202020204" pitchFamily="34" charset="0"/>
              </a:rPr>
              <a:t>Inventivo</a:t>
            </a:r>
            <a:r>
              <a:rPr lang="pt-BR" altLang="pt-BR" sz="1050" i="1">
                <a:latin typeface="Arial" panose="020B0604020202020204" pitchFamily="34" charset="0"/>
              </a:rPr>
              <a:t> </a:t>
            </a:r>
            <a:r>
              <a:rPr lang="pt-BR" altLang="pt-BR" sz="1350" i="1">
                <a:latin typeface="Arial" panose="020B0604020202020204" pitchFamily="34" charset="0"/>
              </a:rPr>
              <a:t>14: Esferocidade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latin typeface="Arial" panose="020B0604020202020204" pitchFamily="34" charset="0"/>
              </a:rPr>
              <a:t>Princípio</a:t>
            </a:r>
            <a:r>
              <a:rPr lang="pt-BR" altLang="pt-BR" sz="900" i="1">
                <a:latin typeface="Arial" panose="020B0604020202020204" pitchFamily="34" charset="0"/>
              </a:rPr>
              <a:t> </a:t>
            </a:r>
            <a:r>
              <a:rPr lang="pt-BR" altLang="pt-BR" sz="1350" i="1">
                <a:latin typeface="Arial" panose="020B0604020202020204" pitchFamily="34" charset="0"/>
              </a:rPr>
              <a:t>Inventivo</a:t>
            </a:r>
            <a:r>
              <a:rPr lang="pt-BR" altLang="pt-BR" sz="750" i="1">
                <a:latin typeface="Arial" panose="020B0604020202020204" pitchFamily="34" charset="0"/>
              </a:rPr>
              <a:t> </a:t>
            </a:r>
            <a:r>
              <a:rPr lang="pt-BR" altLang="pt-BR" sz="1350" i="1">
                <a:latin typeface="Arial" panose="020B0604020202020204" pitchFamily="34" charset="0"/>
              </a:rPr>
              <a:t>35: Transformação de estados físicos e químicos do objeto</a:t>
            </a:r>
            <a:endParaRPr lang="pt-BR" altLang="pt-BR" sz="1200" i="1">
              <a:latin typeface="Arial" panose="020B0604020202020204" pitchFamily="34" charset="0"/>
            </a:endParaRPr>
          </a:p>
        </p:txBody>
      </p:sp>
      <p:sp>
        <p:nvSpPr>
          <p:cNvPr id="61450" name="Text Box 11">
            <a:extLst>
              <a:ext uri="{FF2B5EF4-FFF2-40B4-BE49-F238E27FC236}">
                <a16:creationId xmlns:a16="http://schemas.microsoft.com/office/drawing/2014/main" id="{DC081343-07CA-374D-8BED-AB27CEABE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976" y="4029076"/>
            <a:ext cx="3061097" cy="334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350" i="1" u="sng">
                <a:solidFill>
                  <a:srgbClr val="FF0000"/>
                </a:solidFill>
                <a:latin typeface="Arial" panose="020B0604020202020204" pitchFamily="34" charset="0"/>
              </a:rPr>
              <a:t>Resultado da Matriz de Contradição</a:t>
            </a:r>
            <a:endParaRPr lang="pt-BR" altLang="pt-BR" sz="1200" i="1" u="sng">
              <a:latin typeface="Arial" panose="020B0604020202020204" pitchFamily="34" charset="0"/>
            </a:endParaRPr>
          </a:p>
        </p:txBody>
      </p:sp>
      <p:sp>
        <p:nvSpPr>
          <p:cNvPr id="61451" name="Text Box 12">
            <a:extLst>
              <a:ext uri="{FF2B5EF4-FFF2-40B4-BE49-F238E27FC236}">
                <a16:creationId xmlns:a16="http://schemas.microsoft.com/office/drawing/2014/main" id="{1C286909-8687-2B41-B8ED-748175093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976" y="2668192"/>
            <a:ext cx="3022997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latin typeface="Arial" panose="020B0604020202020204" pitchFamily="34" charset="0"/>
              </a:rPr>
              <a:t>Otimizado: Comprimento do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350" i="1">
                <a:latin typeface="Arial" panose="020B0604020202020204" pitchFamily="34" charset="0"/>
              </a:rPr>
              <a:t>                     objeto estático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latin typeface="Arial" panose="020B0604020202020204" pitchFamily="34" charset="0"/>
              </a:rPr>
              <a:t>Conflitante: Tensão</a:t>
            </a:r>
            <a:endParaRPr lang="pt-BR" altLang="pt-BR" sz="1200" i="1">
              <a:latin typeface="Arial" panose="020B0604020202020204" pitchFamily="34" charset="0"/>
            </a:endParaRPr>
          </a:p>
        </p:txBody>
      </p:sp>
      <p:sp>
        <p:nvSpPr>
          <p:cNvPr id="61452" name="Text Box 13">
            <a:extLst>
              <a:ext uri="{FF2B5EF4-FFF2-40B4-BE49-F238E27FC236}">
                <a16:creationId xmlns:a16="http://schemas.microsoft.com/office/drawing/2014/main" id="{48FBFAB3-1ABC-4F41-912E-827035BB2A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6" y="2343151"/>
            <a:ext cx="3061097" cy="334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350" i="1" u="sng">
                <a:solidFill>
                  <a:srgbClr val="FF0000"/>
                </a:solidFill>
                <a:latin typeface="Arial" panose="020B0604020202020204" pitchFamily="34" charset="0"/>
              </a:rPr>
              <a:t>Parâmetros de Engenharia</a:t>
            </a:r>
            <a:endParaRPr lang="pt-BR" altLang="pt-BR" sz="1200" i="1" u="sng">
              <a:latin typeface="Arial" panose="020B0604020202020204" pitchFamily="34" charset="0"/>
            </a:endParaRPr>
          </a:p>
        </p:txBody>
      </p:sp>
      <p:sp>
        <p:nvSpPr>
          <p:cNvPr id="61453" name="Text Box 14">
            <a:extLst>
              <a:ext uri="{FF2B5EF4-FFF2-40B4-BE49-F238E27FC236}">
                <a16:creationId xmlns:a16="http://schemas.microsoft.com/office/drawing/2014/main" id="{697B1812-46C1-BC47-9AF3-AD5EC5CC1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61454" name="Line 15">
            <a:extLst>
              <a:ext uri="{FF2B5EF4-FFF2-40B4-BE49-F238E27FC236}">
                <a16:creationId xmlns:a16="http://schemas.microsoft.com/office/drawing/2014/main" id="{E0E7AB58-F8C5-5045-92DB-26ABEE8FC9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919389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1026">
            <a:extLst>
              <a:ext uri="{FF2B5EF4-FFF2-40B4-BE49-F238E27FC236}">
                <a16:creationId xmlns:a16="http://schemas.microsoft.com/office/drawing/2014/main" id="{8EFA5788-8C1D-F841-96D2-F705FC498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366839"/>
            <a:ext cx="5219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i="1">
                <a:solidFill>
                  <a:srgbClr val="FF0000"/>
                </a:solidFill>
                <a:latin typeface="Arial" panose="020B0604020202020204" pitchFamily="34" charset="0"/>
              </a:rPr>
              <a:t>Neutralizar o peso</a:t>
            </a:r>
          </a:p>
        </p:txBody>
      </p:sp>
      <p:sp>
        <p:nvSpPr>
          <p:cNvPr id="63490" name="Text Box 1027">
            <a:extLst>
              <a:ext uri="{FF2B5EF4-FFF2-40B4-BE49-F238E27FC236}">
                <a16:creationId xmlns:a16="http://schemas.microsoft.com/office/drawing/2014/main" id="{79B09C89-154E-084F-9B4C-E48EC08F65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6675" y="1843088"/>
            <a:ext cx="3695700" cy="1315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Unir um objeto a outro objeto que apresenta uma força de levantamento;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Interagir com o ambiente, de modo que desta interação sejam providas forças aerodinâmicas e hidrodinâmicas.</a:t>
            </a:r>
          </a:p>
        </p:txBody>
      </p:sp>
      <p:sp>
        <p:nvSpPr>
          <p:cNvPr id="63491" name="Text Box 1028">
            <a:extLst>
              <a:ext uri="{FF2B5EF4-FFF2-40B4-BE49-F238E27FC236}">
                <a16:creationId xmlns:a16="http://schemas.microsoft.com/office/drawing/2014/main" id="{8145312E-75DC-A04D-BFB6-CCA825357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5" y="3517107"/>
            <a:ext cx="4629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i="1">
                <a:solidFill>
                  <a:srgbClr val="FF0000"/>
                </a:solidFill>
                <a:latin typeface="Arial" panose="020B0604020202020204" pitchFamily="34" charset="0"/>
              </a:rPr>
              <a:t>Rejeitando e regenerando partes</a:t>
            </a:r>
          </a:p>
        </p:txBody>
      </p:sp>
      <p:sp>
        <p:nvSpPr>
          <p:cNvPr id="63492" name="Text Box 1029">
            <a:extLst>
              <a:ext uri="{FF2B5EF4-FFF2-40B4-BE49-F238E27FC236}">
                <a16:creationId xmlns:a16="http://schemas.microsoft.com/office/drawing/2014/main" id="{0E30C24C-47D9-FE44-B3A1-C40FEDF46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3850481"/>
            <a:ext cx="3409950" cy="195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>
                <a:latin typeface="Arial" panose="020B0604020202020204" pitchFamily="34" charset="0"/>
              </a:rPr>
              <a:t>Rejeitar ou modificar um componente deste sistema, depois que a função do sistema foi desempenhada ou tornou-se inútil.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>
                <a:latin typeface="Arial" panose="020B0604020202020204" pitchFamily="34" charset="0"/>
              </a:rPr>
              <a:t>Restabelecer, imediatamente, qualquer componente do sistema que está danificado.</a:t>
            </a:r>
          </a:p>
        </p:txBody>
      </p:sp>
      <p:sp>
        <p:nvSpPr>
          <p:cNvPr id="63493" name="Text Box 1030">
            <a:extLst>
              <a:ext uri="{FF2B5EF4-FFF2-40B4-BE49-F238E27FC236}">
                <a16:creationId xmlns:a16="http://schemas.microsoft.com/office/drawing/2014/main" id="{DEA07970-19E1-D74D-BCA6-4310798EF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EXEMPLOS DE PRINCÍPIOS INVENTIVOS DA TRIZ</a:t>
            </a:r>
          </a:p>
        </p:txBody>
      </p:sp>
      <p:sp>
        <p:nvSpPr>
          <p:cNvPr id="63494" name="Line 1031">
            <a:extLst>
              <a:ext uri="{FF2B5EF4-FFF2-40B4-BE49-F238E27FC236}">
                <a16:creationId xmlns:a16="http://schemas.microsoft.com/office/drawing/2014/main" id="{404AF176-F48B-434B-954F-23A5FF7A9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pic>
        <p:nvPicPr>
          <p:cNvPr id="63495" name="Picture 1045" descr="323001">
            <a:extLst>
              <a:ext uri="{FF2B5EF4-FFF2-40B4-BE49-F238E27FC236}">
                <a16:creationId xmlns:a16="http://schemas.microsoft.com/office/drawing/2014/main" id="{B6B6B41A-F17F-B844-B0AE-7DFD1E52B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981" y="3923110"/>
            <a:ext cx="2443163" cy="185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6" name="Picture 1047" descr="0273066">
            <a:extLst>
              <a:ext uri="{FF2B5EF4-FFF2-40B4-BE49-F238E27FC236}">
                <a16:creationId xmlns:a16="http://schemas.microsoft.com/office/drawing/2014/main" id="{8CBC3D3C-7AA0-7641-8D8C-F5B3A4514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1" y="1751410"/>
            <a:ext cx="2074069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2065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Line 2">
            <a:extLst>
              <a:ext uri="{FF2B5EF4-FFF2-40B4-BE49-F238E27FC236}">
                <a16:creationId xmlns:a16="http://schemas.microsoft.com/office/drawing/2014/main" id="{D929CCC8-116F-2143-9B7E-6720E19618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0388" y="1757363"/>
            <a:ext cx="0" cy="819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65538" name="Rectangle 3">
            <a:extLst>
              <a:ext uri="{FF2B5EF4-FFF2-40B4-BE49-F238E27FC236}">
                <a16:creationId xmlns:a16="http://schemas.microsoft.com/office/drawing/2014/main" id="{118F1495-E55A-AD42-A92C-5ABBBBA03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1681163"/>
            <a:ext cx="685800" cy="7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DF1C4C49-769D-C74C-A221-C0F32BD08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1890713"/>
            <a:ext cx="685800" cy="7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65540" name="Rectangle 5">
            <a:extLst>
              <a:ext uri="{FF2B5EF4-FFF2-40B4-BE49-F238E27FC236}">
                <a16:creationId xmlns:a16="http://schemas.microsoft.com/office/drawing/2014/main" id="{088E2A6F-469E-6740-9D2E-97ECA375F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2119313"/>
            <a:ext cx="685800" cy="76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65541" name="Rectangle 6">
            <a:extLst>
              <a:ext uri="{FF2B5EF4-FFF2-40B4-BE49-F238E27FC236}">
                <a16:creationId xmlns:a16="http://schemas.microsoft.com/office/drawing/2014/main" id="{3CBFF875-75B1-A649-B60D-FB12B9DC76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2347913"/>
            <a:ext cx="685800" cy="762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65542" name="Rectangle 7">
            <a:extLst>
              <a:ext uri="{FF2B5EF4-FFF2-40B4-BE49-F238E27FC236}">
                <a16:creationId xmlns:a16="http://schemas.microsoft.com/office/drawing/2014/main" id="{9DDB6F3A-78CD-1B44-9DE5-577AD0888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2576513"/>
            <a:ext cx="685800" cy="762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pt-BR" sz="1800"/>
          </a:p>
        </p:txBody>
      </p:sp>
      <p:sp>
        <p:nvSpPr>
          <p:cNvPr id="65543" name="Text Box 8">
            <a:extLst>
              <a:ext uri="{FF2B5EF4-FFF2-40B4-BE49-F238E27FC236}">
                <a16:creationId xmlns:a16="http://schemas.microsoft.com/office/drawing/2014/main" id="{BE910E0E-6DC0-4747-9AD6-4D0FDE2C6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452564"/>
            <a:ext cx="5219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>
                <a:latin typeface="Arial" panose="020B0604020202020204" pitchFamily="34" charset="0"/>
              </a:rPr>
              <a:t>Passo 5: Adaptar a Solução Análoga ao Projeto</a:t>
            </a:r>
            <a:endParaRPr lang="pt-BR" altLang="pt-BR" sz="15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65544" name="Text Box 9">
            <a:extLst>
              <a:ext uri="{FF2B5EF4-FFF2-40B4-BE49-F238E27FC236}">
                <a16:creationId xmlns:a16="http://schemas.microsoft.com/office/drawing/2014/main" id="{EB83BB3E-77E9-3042-93F0-FE7C2ED0F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1862139"/>
            <a:ext cx="4524375" cy="81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Considerando o resultado da Matriz de Contradição da TIPS, expresso, através dos Princípios Inventivos deve-se adaptá-lo ao problema em questão. </a:t>
            </a:r>
          </a:p>
        </p:txBody>
      </p:sp>
      <p:sp>
        <p:nvSpPr>
          <p:cNvPr id="65545" name="Line 10">
            <a:extLst>
              <a:ext uri="{FF2B5EF4-FFF2-40B4-BE49-F238E27FC236}">
                <a16:creationId xmlns:a16="http://schemas.microsoft.com/office/drawing/2014/main" id="{1C60E98A-858C-4D40-8B7B-5C641DEC2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750219"/>
            <a:ext cx="43053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grpSp>
        <p:nvGrpSpPr>
          <p:cNvPr id="65546" name="Group 11">
            <a:extLst>
              <a:ext uri="{FF2B5EF4-FFF2-40B4-BE49-F238E27FC236}">
                <a16:creationId xmlns:a16="http://schemas.microsoft.com/office/drawing/2014/main" id="{52F9B35F-DB86-1B4A-81B6-569E6774B64C}"/>
              </a:ext>
            </a:extLst>
          </p:cNvPr>
          <p:cNvGrpSpPr>
            <a:grpSpLocks/>
          </p:cNvGrpSpPr>
          <p:nvPr/>
        </p:nvGrpSpPr>
        <p:grpSpPr bwMode="auto">
          <a:xfrm>
            <a:off x="1400175" y="2964655"/>
            <a:ext cx="4629150" cy="300038"/>
            <a:chOff x="136" y="2478"/>
            <a:chExt cx="3888" cy="252"/>
          </a:xfrm>
        </p:grpSpPr>
        <p:sp>
          <p:nvSpPr>
            <p:cNvPr id="65552" name="Text Box 12">
              <a:extLst>
                <a:ext uri="{FF2B5EF4-FFF2-40B4-BE49-F238E27FC236}">
                  <a16:creationId xmlns:a16="http://schemas.microsoft.com/office/drawing/2014/main" id="{84689DCB-F518-5147-9839-5933BAF6C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" y="2478"/>
              <a:ext cx="3888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8600" indent="-228600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</a:pPr>
              <a:r>
                <a:rPr lang="pt-BR" altLang="pt-BR" sz="1350" i="1">
                  <a:latin typeface="Arial" panose="020B0604020202020204" pitchFamily="34" charset="0"/>
                </a:rPr>
                <a:t>Exemplo: Projeto de uma lata de refrigerante</a:t>
              </a:r>
              <a:endParaRPr lang="pt-BR" altLang="pt-BR" sz="135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553" name="Line 13">
              <a:extLst>
                <a:ext uri="{FF2B5EF4-FFF2-40B4-BE49-F238E27FC236}">
                  <a16:creationId xmlns:a16="http://schemas.microsoft.com/office/drawing/2014/main" id="{4FE15115-6692-1545-9999-7C1CD81C5F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" y="2709"/>
              <a:ext cx="28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</p:grpSp>
      <p:sp>
        <p:nvSpPr>
          <p:cNvPr id="65547" name="Text Box 14">
            <a:extLst>
              <a:ext uri="{FF2B5EF4-FFF2-40B4-BE49-F238E27FC236}">
                <a16:creationId xmlns:a16="http://schemas.microsoft.com/office/drawing/2014/main" id="{65408FF5-1A1F-8D4B-8A3A-EF59D2F444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3450432"/>
            <a:ext cx="4505325" cy="105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solidFill>
                  <a:srgbClr val="FF0000"/>
                </a:solidFill>
                <a:latin typeface="Arial" panose="020B0604020202020204" pitchFamily="34" charset="0"/>
              </a:rPr>
              <a:t>Princípio Inventivo 1: </a:t>
            </a:r>
            <a:r>
              <a:rPr lang="pt-BR" altLang="pt-BR" sz="1350" i="1">
                <a:latin typeface="Arial" panose="020B0604020202020204" pitchFamily="34" charset="0"/>
              </a:rPr>
              <a:t>Segmentação</a:t>
            </a:r>
          </a:p>
          <a:p>
            <a:pPr lvl="1"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200" i="1">
                <a:latin typeface="Arial" panose="020B0604020202020204" pitchFamily="34" charset="0"/>
              </a:rPr>
              <a:t>  Dividida um objeto em partes independentes;</a:t>
            </a:r>
          </a:p>
          <a:p>
            <a:pPr lvl="1"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200" i="1">
                <a:latin typeface="Arial" panose="020B0604020202020204" pitchFamily="34" charset="0"/>
              </a:rPr>
              <a:t>  Faça uma seção no objeto;</a:t>
            </a:r>
          </a:p>
          <a:p>
            <a:pPr lvl="1"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200" i="1">
                <a:latin typeface="Arial" panose="020B0604020202020204" pitchFamily="34" charset="0"/>
              </a:rPr>
              <a:t>  </a:t>
            </a:r>
            <a:r>
              <a:rPr lang="pt-BR" altLang="pt-BR" sz="1200" b="1" i="1">
                <a:latin typeface="Arial" panose="020B0604020202020204" pitchFamily="34" charset="0"/>
              </a:rPr>
              <a:t>Aumente o grau de segmentação do objeto.</a:t>
            </a:r>
            <a:endParaRPr lang="pt-BR" altLang="pt-BR" sz="1200" i="1">
              <a:latin typeface="Arial" panose="020B0604020202020204" pitchFamily="34" charset="0"/>
            </a:endParaRPr>
          </a:p>
        </p:txBody>
      </p:sp>
      <p:sp>
        <p:nvSpPr>
          <p:cNvPr id="65548" name="Text Box 15">
            <a:extLst>
              <a:ext uri="{FF2B5EF4-FFF2-40B4-BE49-F238E27FC236}">
                <a16:creationId xmlns:a16="http://schemas.microsoft.com/office/drawing/2014/main" id="{3FEA1936-B061-254B-AEEF-64DAEF6F5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4669632"/>
            <a:ext cx="4219575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solidFill>
                  <a:srgbClr val="FF0000"/>
                </a:solidFill>
                <a:latin typeface="Arial" panose="020B0604020202020204" pitchFamily="34" charset="0"/>
              </a:rPr>
              <a:t>Substituir a parede lisa da lata de refrigerante por uma corrugada. Assim, aumenta-se a resistência da parede e pode-se reduzir a sua espessura. </a:t>
            </a:r>
            <a:endParaRPr lang="pt-BR" altLang="pt-BR" sz="1200" i="1">
              <a:latin typeface="Arial" panose="020B0604020202020204" pitchFamily="34" charset="0"/>
            </a:endParaRPr>
          </a:p>
        </p:txBody>
      </p:sp>
      <p:pic>
        <p:nvPicPr>
          <p:cNvPr id="65549" name="Picture 16" descr="img00006">
            <a:extLst>
              <a:ext uri="{FF2B5EF4-FFF2-40B4-BE49-F238E27FC236}">
                <a16:creationId xmlns:a16="http://schemas.microsoft.com/office/drawing/2014/main" id="{8A4D53DB-4245-004F-975A-E000BFAC0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0325" y="4569619"/>
            <a:ext cx="976313" cy="972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50" name="Text Box 17">
            <a:extLst>
              <a:ext uri="{FF2B5EF4-FFF2-40B4-BE49-F238E27FC236}">
                <a16:creationId xmlns:a16="http://schemas.microsoft.com/office/drawing/2014/main" id="{32B69887-A893-1A42-AA76-734655F29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65551" name="Line 18">
            <a:extLst>
              <a:ext uri="{FF2B5EF4-FFF2-40B4-BE49-F238E27FC236}">
                <a16:creationId xmlns:a16="http://schemas.microsoft.com/office/drawing/2014/main" id="{9F1F3C45-4577-654E-810A-7C7066479D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27495435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ext Box 2">
            <a:extLst>
              <a:ext uri="{FF2B5EF4-FFF2-40B4-BE49-F238E27FC236}">
                <a16:creationId xmlns:a16="http://schemas.microsoft.com/office/drawing/2014/main" id="{63511C77-109C-0045-AAEC-8A917649A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1377555"/>
            <a:ext cx="5981700" cy="1863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solidFill>
                  <a:srgbClr val="FF0000"/>
                </a:solidFill>
                <a:latin typeface="Arial" panose="020B0604020202020204" pitchFamily="34" charset="0"/>
              </a:rPr>
              <a:t>Princípio Inventivo 14: </a:t>
            </a:r>
            <a:r>
              <a:rPr lang="pt-BR" altLang="pt-BR" sz="1350" i="1">
                <a:latin typeface="Arial" panose="020B0604020202020204" pitchFamily="34" charset="0"/>
              </a:rPr>
              <a:t>Esferocidade</a:t>
            </a:r>
          </a:p>
          <a:p>
            <a:pPr lvl="1"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200" i="1">
                <a:latin typeface="Arial" panose="020B0604020202020204" pitchFamily="34" charset="0"/>
              </a:rPr>
              <a:t> </a:t>
            </a:r>
            <a:r>
              <a:rPr lang="pt-BR" altLang="pt-BR" sz="1200" b="1" i="1">
                <a:latin typeface="Arial" panose="020B0604020202020204" pitchFamily="34" charset="0"/>
              </a:rPr>
              <a:t>Substitua as partes lineares e as superfícies planas por superfícies curvas; substitua as formas cúbicas pelas formas esféricas.</a:t>
            </a:r>
            <a:endParaRPr lang="pt-BR" altLang="pt-BR" sz="1200" i="1">
              <a:latin typeface="Arial" panose="020B0604020202020204" pitchFamily="34" charset="0"/>
            </a:endParaRPr>
          </a:p>
          <a:p>
            <a:pPr lvl="1"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200" i="1">
                <a:latin typeface="Arial" panose="020B0604020202020204" pitchFamily="34" charset="0"/>
              </a:rPr>
              <a:t>  Use roletes cilíndricos e esféricos;</a:t>
            </a:r>
          </a:p>
          <a:p>
            <a:pPr lvl="1"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200" i="1">
                <a:latin typeface="Arial" panose="020B0604020202020204" pitchFamily="34" charset="0"/>
              </a:rPr>
              <a:t> Substitua um movimento linear por um movimento giratório;</a:t>
            </a:r>
          </a:p>
          <a:p>
            <a:pPr lvl="1" algn="just">
              <a:lnSpc>
                <a:spcPct val="16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200" i="1">
                <a:latin typeface="Arial" panose="020B0604020202020204" pitchFamily="34" charset="0"/>
              </a:rPr>
              <a:t>   utilize o princípio da força centrífuga.</a:t>
            </a:r>
          </a:p>
        </p:txBody>
      </p:sp>
      <p:sp>
        <p:nvSpPr>
          <p:cNvPr id="67586" name="Text Box 3">
            <a:extLst>
              <a:ext uri="{FF2B5EF4-FFF2-40B4-BE49-F238E27FC236}">
                <a16:creationId xmlns:a16="http://schemas.microsoft.com/office/drawing/2014/main" id="{651E2A83-C552-134D-B107-8E3BD81E1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3401617"/>
            <a:ext cx="4219575" cy="874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solidFill>
                  <a:srgbClr val="FF0000"/>
                </a:solidFill>
                <a:latin typeface="Arial" panose="020B0604020202020204" pitchFamily="34" charset="0"/>
              </a:rPr>
              <a:t>O ângulo perpendicular, na qual a maioria das tampas das latas são soldadas, pode ser substituído  por uma superfície curva.-</a:t>
            </a:r>
            <a:endParaRPr lang="pt-BR" altLang="pt-BR" sz="1200" i="1">
              <a:latin typeface="Arial" panose="020B0604020202020204" pitchFamily="34" charset="0"/>
            </a:endParaRPr>
          </a:p>
        </p:txBody>
      </p:sp>
      <p:pic>
        <p:nvPicPr>
          <p:cNvPr id="67587" name="Picture 4" descr="img00007">
            <a:extLst>
              <a:ext uri="{FF2B5EF4-FFF2-40B4-BE49-F238E27FC236}">
                <a16:creationId xmlns:a16="http://schemas.microsoft.com/office/drawing/2014/main" id="{D859D043-2043-2D4B-A0BB-21D7777ED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345" y="2657475"/>
            <a:ext cx="916781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Line 5">
            <a:extLst>
              <a:ext uri="{FF2B5EF4-FFF2-40B4-BE49-F238E27FC236}">
                <a16:creationId xmlns:a16="http://schemas.microsoft.com/office/drawing/2014/main" id="{B98353EF-D297-2241-998C-9CB553384E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0294" y="2857500"/>
            <a:ext cx="352425" cy="54411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sp>
        <p:nvSpPr>
          <p:cNvPr id="67589" name="Text Box 6">
            <a:extLst>
              <a:ext uri="{FF2B5EF4-FFF2-40B4-BE49-F238E27FC236}">
                <a16:creationId xmlns:a16="http://schemas.microsoft.com/office/drawing/2014/main" id="{0C0EA5B7-B930-4642-A90B-D73DF9A3B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891089"/>
            <a:ext cx="6562725" cy="612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 i="1">
                <a:solidFill>
                  <a:srgbClr val="FF0000"/>
                </a:solidFill>
                <a:latin typeface="Arial" panose="020B0604020202020204" pitchFamily="34" charset="0"/>
              </a:rPr>
              <a:t>Princípio Inventivo 35: </a:t>
            </a:r>
            <a:r>
              <a:rPr lang="pt-BR" altLang="pt-BR" sz="1350" i="1">
                <a:latin typeface="Arial" panose="020B0604020202020204" pitchFamily="34" charset="0"/>
              </a:rPr>
              <a:t>Transformação dos estados físico e químico do objeto.</a:t>
            </a:r>
          </a:p>
          <a:p>
            <a:pPr lvl="1" algn="just">
              <a:lnSpc>
                <a:spcPct val="140000"/>
              </a:lnSpc>
              <a:spcBef>
                <a:spcPct val="0"/>
              </a:spcBef>
              <a:buClr>
                <a:schemeClr val="tx1"/>
              </a:buClr>
              <a:buFontTx/>
              <a:buChar char="•"/>
            </a:pPr>
            <a:r>
              <a:rPr lang="pt-BR" altLang="pt-BR" sz="1200" i="1">
                <a:latin typeface="Arial" panose="020B0604020202020204" pitchFamily="34" charset="0"/>
              </a:rPr>
              <a:t> </a:t>
            </a:r>
            <a:r>
              <a:rPr lang="pt-BR" altLang="pt-BR" sz="1200" b="1" i="1">
                <a:latin typeface="Arial" panose="020B0604020202020204" pitchFamily="34" charset="0"/>
              </a:rPr>
              <a:t>Altere a densidade, o grau de flexibilidade e a temperatura do sistema técnico.</a:t>
            </a:r>
            <a:endParaRPr lang="pt-BR" altLang="pt-BR" sz="1200" i="1">
              <a:latin typeface="Arial" panose="020B0604020202020204" pitchFamily="34" charset="0"/>
            </a:endParaRPr>
          </a:p>
        </p:txBody>
      </p:sp>
      <p:sp>
        <p:nvSpPr>
          <p:cNvPr id="67590" name="Text Box 7">
            <a:extLst>
              <a:ext uri="{FF2B5EF4-FFF2-40B4-BE49-F238E27FC236}">
                <a16:creationId xmlns:a16="http://schemas.microsoft.com/office/drawing/2014/main" id="{ADAC0F53-EF30-604F-B5A8-83188D59C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67591" name="Line 8">
            <a:extLst>
              <a:ext uri="{FF2B5EF4-FFF2-40B4-BE49-F238E27FC236}">
                <a16:creationId xmlns:a16="http://schemas.microsoft.com/office/drawing/2014/main" id="{9FC6928D-48F0-4340-A0BF-49CF6D704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20334886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ext Box 1026">
            <a:extLst>
              <a:ext uri="{FF2B5EF4-FFF2-40B4-BE49-F238E27FC236}">
                <a16:creationId xmlns:a16="http://schemas.microsoft.com/office/drawing/2014/main" id="{1AEA20E5-6278-9F4A-919F-5B486E93A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366839"/>
            <a:ext cx="521970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i="1">
                <a:solidFill>
                  <a:srgbClr val="FF0000"/>
                </a:solidFill>
                <a:latin typeface="Arial" panose="020B0604020202020204" pitchFamily="34" charset="0"/>
              </a:rPr>
              <a:t>Neutralizar o peso</a:t>
            </a:r>
          </a:p>
        </p:txBody>
      </p:sp>
      <p:sp>
        <p:nvSpPr>
          <p:cNvPr id="69634" name="Text Box 1027">
            <a:extLst>
              <a:ext uri="{FF2B5EF4-FFF2-40B4-BE49-F238E27FC236}">
                <a16:creationId xmlns:a16="http://schemas.microsoft.com/office/drawing/2014/main" id="{2EAD1B26-A852-424F-89BD-F31FF445E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6675" y="1843088"/>
            <a:ext cx="3695700" cy="1315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Unir um objeto a outro objeto que apresenta uma força de levantamento;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Interagir com o ambiente, de modo que desta interação sejam providas forças aerodinâmicas e hidrodinâmicas.</a:t>
            </a:r>
          </a:p>
        </p:txBody>
      </p:sp>
      <p:sp>
        <p:nvSpPr>
          <p:cNvPr id="69635" name="Text Box 1028">
            <a:extLst>
              <a:ext uri="{FF2B5EF4-FFF2-40B4-BE49-F238E27FC236}">
                <a16:creationId xmlns:a16="http://schemas.microsoft.com/office/drawing/2014/main" id="{6C38D920-EBBA-6244-A74A-CC9F3FE14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075" y="3517107"/>
            <a:ext cx="462915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i="1">
                <a:solidFill>
                  <a:srgbClr val="FF0000"/>
                </a:solidFill>
                <a:latin typeface="Arial" panose="020B0604020202020204" pitchFamily="34" charset="0"/>
              </a:rPr>
              <a:t>Rejeitando e regenerando partes</a:t>
            </a:r>
          </a:p>
        </p:txBody>
      </p:sp>
      <p:sp>
        <p:nvSpPr>
          <p:cNvPr id="69636" name="Text Box 1029">
            <a:extLst>
              <a:ext uri="{FF2B5EF4-FFF2-40B4-BE49-F238E27FC236}">
                <a16:creationId xmlns:a16="http://schemas.microsoft.com/office/drawing/2014/main" id="{23604E7D-4B04-CC4A-BA88-D8E1CFF33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4950" y="3850481"/>
            <a:ext cx="3409950" cy="1954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>
                <a:latin typeface="Arial" panose="020B0604020202020204" pitchFamily="34" charset="0"/>
              </a:rPr>
              <a:t>Rejeitar ou modificar um componente deste sistema, depois que a função do sistema foi desempenhada ou tornou-se inútil.</a:t>
            </a:r>
          </a:p>
          <a:p>
            <a:pPr algn="just">
              <a:lnSpc>
                <a:spcPct val="13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>
                <a:latin typeface="Arial" panose="020B0604020202020204" pitchFamily="34" charset="0"/>
              </a:rPr>
              <a:t>Restabelecer, imediatamente, qualquer componente do sistema que está danificado.</a:t>
            </a:r>
          </a:p>
        </p:txBody>
      </p:sp>
      <p:sp>
        <p:nvSpPr>
          <p:cNvPr id="69637" name="Text Box 1030">
            <a:extLst>
              <a:ext uri="{FF2B5EF4-FFF2-40B4-BE49-F238E27FC236}">
                <a16:creationId xmlns:a16="http://schemas.microsoft.com/office/drawing/2014/main" id="{5C6CFB98-6E82-414D-832D-4FF6F83BF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EXEMPLOS DE PRINCÍPIOS INVENTIVOS DA TRIZ</a:t>
            </a:r>
          </a:p>
        </p:txBody>
      </p:sp>
      <p:sp>
        <p:nvSpPr>
          <p:cNvPr id="69638" name="Line 1031">
            <a:extLst>
              <a:ext uri="{FF2B5EF4-FFF2-40B4-BE49-F238E27FC236}">
                <a16:creationId xmlns:a16="http://schemas.microsoft.com/office/drawing/2014/main" id="{C29F47A1-321A-264F-9EC8-F8BBA6779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pic>
        <p:nvPicPr>
          <p:cNvPr id="69639" name="Picture 1045" descr="323001">
            <a:extLst>
              <a:ext uri="{FF2B5EF4-FFF2-40B4-BE49-F238E27FC236}">
                <a16:creationId xmlns:a16="http://schemas.microsoft.com/office/drawing/2014/main" id="{8E463E3D-AAC0-0D4D-B3B6-BE13EAD61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981" y="3923110"/>
            <a:ext cx="2443163" cy="185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40" name="Picture 1047" descr="0273066">
            <a:extLst>
              <a:ext uri="{FF2B5EF4-FFF2-40B4-BE49-F238E27FC236}">
                <a16:creationId xmlns:a16="http://schemas.microsoft.com/office/drawing/2014/main" id="{D77F2DD5-0928-8145-B942-81F488C4B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1" y="1751410"/>
            <a:ext cx="2074069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91906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11">
            <a:extLst>
              <a:ext uri="{FF2B5EF4-FFF2-40B4-BE49-F238E27FC236}">
                <a16:creationId xmlns:a16="http://schemas.microsoft.com/office/drawing/2014/main" id="{21A3E462-A2E6-6E46-8E00-01C153F3B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2457450"/>
            <a:ext cx="657225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50" b="1">
                <a:solidFill>
                  <a:srgbClr val="800000"/>
                </a:solidFill>
                <a:latin typeface="Arial" panose="020B0604020202020204" pitchFamily="34" charset="0"/>
              </a:rPr>
              <a:t>3. Ferramentas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50" b="1">
                <a:solidFill>
                  <a:srgbClr val="800000"/>
                </a:solidFill>
                <a:latin typeface="Arial" panose="020B0604020202020204" pitchFamily="34" charset="0"/>
              </a:rPr>
              <a:t>Adicionais da TIPS</a:t>
            </a:r>
          </a:p>
        </p:txBody>
      </p:sp>
      <p:sp>
        <p:nvSpPr>
          <p:cNvPr id="71682" name="Text Box 12">
            <a:extLst>
              <a:ext uri="{FF2B5EF4-FFF2-40B4-BE49-F238E27FC236}">
                <a16:creationId xmlns:a16="http://schemas.microsoft.com/office/drawing/2014/main" id="{68D4B0A9-AE4F-1340-B333-B22116C2E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71683" name="Line 13">
            <a:extLst>
              <a:ext uri="{FF2B5EF4-FFF2-40B4-BE49-F238E27FC236}">
                <a16:creationId xmlns:a16="http://schemas.microsoft.com/office/drawing/2014/main" id="{A2E513CC-98F7-124D-9D52-A84655ACE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grpSp>
        <p:nvGrpSpPr>
          <p:cNvPr id="71684" name="Group 20">
            <a:extLst>
              <a:ext uri="{FF2B5EF4-FFF2-40B4-BE49-F238E27FC236}">
                <a16:creationId xmlns:a16="http://schemas.microsoft.com/office/drawing/2014/main" id="{6FACD177-371C-2B44-861C-0C4AB1CA5E67}"/>
              </a:ext>
            </a:extLst>
          </p:cNvPr>
          <p:cNvGrpSpPr>
            <a:grpSpLocks/>
          </p:cNvGrpSpPr>
          <p:nvPr/>
        </p:nvGrpSpPr>
        <p:grpSpPr bwMode="auto">
          <a:xfrm>
            <a:off x="1450181" y="5372100"/>
            <a:ext cx="6243638" cy="571500"/>
            <a:chOff x="138" y="3792"/>
            <a:chExt cx="5244" cy="480"/>
          </a:xfrm>
        </p:grpSpPr>
        <p:sp>
          <p:nvSpPr>
            <p:cNvPr id="71685" name="Line 21">
              <a:extLst>
                <a:ext uri="{FF2B5EF4-FFF2-40B4-BE49-F238E27FC236}">
                  <a16:creationId xmlns:a16="http://schemas.microsoft.com/office/drawing/2014/main" id="{0BB2570F-200C-3A44-BAFF-EDF52EFF2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3792"/>
              <a:ext cx="5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grpSp>
          <p:nvGrpSpPr>
            <p:cNvPr id="71686" name="Group 22">
              <a:extLst>
                <a:ext uri="{FF2B5EF4-FFF2-40B4-BE49-F238E27FC236}">
                  <a16:creationId xmlns:a16="http://schemas.microsoft.com/office/drawing/2014/main" id="{E378EB42-3C74-3649-A501-DDCE41169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3840"/>
              <a:ext cx="5100" cy="432"/>
              <a:chOff x="236" y="3840"/>
              <a:chExt cx="5100" cy="432"/>
            </a:xfrm>
          </p:grpSpPr>
          <p:pic>
            <p:nvPicPr>
              <p:cNvPr id="71687" name="Picture 23" descr="brasao ufsc">
                <a:extLst>
                  <a:ext uri="{FF2B5EF4-FFF2-40B4-BE49-F238E27FC236}">
                    <a16:creationId xmlns:a16="http://schemas.microsoft.com/office/drawing/2014/main" id="{ED9BB149-6E58-7146-871A-CDF3917E9E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13" y="3840"/>
                <a:ext cx="323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688" name="Text Box 24">
                <a:extLst>
                  <a:ext uri="{FF2B5EF4-FFF2-40B4-BE49-F238E27FC236}">
                    <a16:creationId xmlns:a16="http://schemas.microsoft.com/office/drawing/2014/main" id="{1069E203-E466-954E-8CE2-EFB9C6932D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8" y="3948"/>
                <a:ext cx="734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Universidade Federal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 de Santa Catarina</a:t>
                </a:r>
                <a:endParaRPr lang="pt-BR" altLang="pt-BR" sz="6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71689" name="Picture 25" descr="log">
                <a:extLst>
                  <a:ext uri="{FF2B5EF4-FFF2-40B4-BE49-F238E27FC236}">
                    <a16:creationId xmlns:a16="http://schemas.microsoft.com/office/drawing/2014/main" id="{F785C90C-28C2-444D-A396-39755B3EEB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" y="3875"/>
                <a:ext cx="473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1690" name="Text Box 26">
                <a:extLst>
                  <a:ext uri="{FF2B5EF4-FFF2-40B4-BE49-F238E27FC236}">
                    <a16:creationId xmlns:a16="http://schemas.microsoft.com/office/drawing/2014/main" id="{FCFC72F0-1F46-B54C-BEAC-CF7809CABD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3956"/>
                <a:ext cx="698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Grupo de Engenharia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do Produto e Processo</a:t>
                </a:r>
                <a:endParaRPr lang="pt-BR" altLang="pt-BR" sz="6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2548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ext Box 2">
            <a:extLst>
              <a:ext uri="{FF2B5EF4-FFF2-40B4-BE49-F238E27FC236}">
                <a16:creationId xmlns:a16="http://schemas.microsoft.com/office/drawing/2014/main" id="{4188B24B-D796-1047-8207-6F59A18DC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1371601"/>
            <a:ext cx="59150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u="sng">
                <a:solidFill>
                  <a:srgbClr val="FF0000"/>
                </a:solidFill>
                <a:latin typeface="Arial" panose="020B0604020202020204" pitchFamily="34" charset="0"/>
              </a:rPr>
              <a:t>ARIZ: Algoritmo para Solução de Problemas Inventivos</a:t>
            </a:r>
          </a:p>
        </p:txBody>
      </p:sp>
      <p:sp>
        <p:nvSpPr>
          <p:cNvPr id="73730" name="Text Box 3">
            <a:extLst>
              <a:ext uri="{FF2B5EF4-FFF2-40B4-BE49-F238E27FC236}">
                <a16:creationId xmlns:a16="http://schemas.microsoft.com/office/drawing/2014/main" id="{4F0FE1BC-0699-A944-8977-D70C6B64B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666876"/>
            <a:ext cx="5953125" cy="1814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Permite identificar soluções de problema sem contradições aparentes.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O algoritmo compreende os seguintes passos: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350">
                <a:latin typeface="Arial" panose="020B0604020202020204" pitchFamily="34" charset="0"/>
              </a:rPr>
              <a:t>  Formular o problema de projeto;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350">
                <a:latin typeface="Arial" panose="020B0604020202020204" pitchFamily="34" charset="0"/>
              </a:rPr>
              <a:t>  Modelar o problema segundo a TIPS;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350">
                <a:latin typeface="Arial" panose="020B0604020202020204" pitchFamily="34" charset="0"/>
              </a:rPr>
              <a:t>  Analisar o problema;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350">
                <a:latin typeface="Arial" panose="020B0604020202020204" pitchFamily="34" charset="0"/>
              </a:rPr>
              <a:t>  Solucionar as contradições do modelo; e,</a:t>
            </a:r>
          </a:p>
          <a:p>
            <a:pPr lvl="1" algn="just">
              <a:lnSpc>
                <a:spcPct val="120000"/>
              </a:lnSpc>
              <a:spcBef>
                <a:spcPct val="0"/>
              </a:spcBef>
              <a:buFontTx/>
              <a:buChar char="•"/>
            </a:pPr>
            <a:r>
              <a:rPr lang="pt-BR" altLang="pt-BR" sz="1350">
                <a:latin typeface="Arial" panose="020B0604020202020204" pitchFamily="34" charset="0"/>
              </a:rPr>
              <a:t>  Formulação da solução ideal do problema.</a:t>
            </a:r>
            <a:endParaRPr lang="pt-BR" altLang="pt-BR" sz="135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3731" name="Text Box 4">
            <a:extLst>
              <a:ext uri="{FF2B5EF4-FFF2-40B4-BE49-F238E27FC236}">
                <a16:creationId xmlns:a16="http://schemas.microsoft.com/office/drawing/2014/main" id="{FED3139B-C00F-6A47-950B-3EEA61E381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3817145"/>
            <a:ext cx="59150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u="sng">
                <a:solidFill>
                  <a:srgbClr val="FF0000"/>
                </a:solidFill>
                <a:latin typeface="Arial" panose="020B0604020202020204" pitchFamily="34" charset="0"/>
              </a:rPr>
              <a:t>Análise Funcional (Su-Field Analysis)</a:t>
            </a:r>
          </a:p>
        </p:txBody>
      </p:sp>
      <p:sp>
        <p:nvSpPr>
          <p:cNvPr id="73732" name="Text Box 5">
            <a:extLst>
              <a:ext uri="{FF2B5EF4-FFF2-40B4-BE49-F238E27FC236}">
                <a16:creationId xmlns:a16="http://schemas.microsoft.com/office/drawing/2014/main" id="{7EBFD223-BFFE-FF48-BB7B-AE72A2E475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055270"/>
            <a:ext cx="5953125" cy="20637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Permite identificar e analisar as relações (ações) entre as funções do produto (sistema técnico), com o objetivo de identificar falhas;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O sistema é representado através de um princípio de solução (substance) e uma função que executa uma ação (field).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As funções indesejáveis ou insuficientes podem ser solucionadas.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Ferramenta similar:  Método    da    Síntese    Funcional,   Método  FAST,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                                     Análise do Valor.</a:t>
            </a:r>
            <a:endParaRPr lang="pt-BR" altLang="pt-BR" sz="135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3733" name="Text Box 6">
            <a:extLst>
              <a:ext uri="{FF2B5EF4-FFF2-40B4-BE49-F238E27FC236}">
                <a16:creationId xmlns:a16="http://schemas.microsoft.com/office/drawing/2014/main" id="{47C6DDB8-9544-274C-92CA-738AFE93F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F E R R A M E N T A S       A D I C I O N A I S     D A     T I P S </a:t>
            </a:r>
          </a:p>
        </p:txBody>
      </p:sp>
      <p:sp>
        <p:nvSpPr>
          <p:cNvPr id="73734" name="Line 7">
            <a:extLst>
              <a:ext uri="{FF2B5EF4-FFF2-40B4-BE49-F238E27FC236}">
                <a16:creationId xmlns:a16="http://schemas.microsoft.com/office/drawing/2014/main" id="{4E1E9FC1-94F7-0649-9B1B-186AE94A1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2151991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 Box 2">
            <a:extLst>
              <a:ext uri="{FF2B5EF4-FFF2-40B4-BE49-F238E27FC236}">
                <a16:creationId xmlns:a16="http://schemas.microsoft.com/office/drawing/2014/main" id="{2A8D4446-4E86-774F-9FF4-EB08543FF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1371601"/>
            <a:ext cx="62674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u="sng">
                <a:solidFill>
                  <a:srgbClr val="FF0000"/>
                </a:solidFill>
                <a:latin typeface="Arial" panose="020B0604020202020204" pitchFamily="34" charset="0"/>
              </a:rPr>
              <a:t>Determinação da Falha Previamente (Anticipatory Failure Determination:</a:t>
            </a:r>
          </a:p>
        </p:txBody>
      </p:sp>
      <p:sp>
        <p:nvSpPr>
          <p:cNvPr id="75778" name="Text Box 3">
            <a:extLst>
              <a:ext uri="{FF2B5EF4-FFF2-40B4-BE49-F238E27FC236}">
                <a16:creationId xmlns:a16="http://schemas.microsoft.com/office/drawing/2014/main" id="{190A2CED-63F9-EA4A-A2E1-CAC709AF7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897857"/>
            <a:ext cx="5953125" cy="1565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Permite identificar e prevenir a ocorrência de falhas, previamente.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Investiga e sugere um modo de falha e, então, examina as possibilidades de ocorrência da mesma.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Os fatores que contribuem para ocorrência de falhas podem ser minimizados ou eliminados.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Ferramenta similar: FMEA.</a:t>
            </a:r>
            <a:endParaRPr lang="pt-BR" altLang="pt-BR" sz="135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5779" name="Text Box 4">
            <a:extLst>
              <a:ext uri="{FF2B5EF4-FFF2-40B4-BE49-F238E27FC236}">
                <a16:creationId xmlns:a16="http://schemas.microsoft.com/office/drawing/2014/main" id="{3B69B19B-83F1-3B42-8274-7FEF3BDC63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0175" y="3864770"/>
            <a:ext cx="59150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</a:pPr>
            <a:r>
              <a:rPr lang="pt-BR" altLang="pt-BR" sz="1500" b="1" u="sng">
                <a:solidFill>
                  <a:srgbClr val="FF0000"/>
                </a:solidFill>
                <a:latin typeface="Arial" panose="020B0604020202020204" pitchFamily="34" charset="0"/>
              </a:rPr>
              <a:t>Evolução Dirigida do Produto</a:t>
            </a:r>
          </a:p>
        </p:txBody>
      </p:sp>
      <p:sp>
        <p:nvSpPr>
          <p:cNvPr id="75780" name="Text Box 5">
            <a:extLst>
              <a:ext uri="{FF2B5EF4-FFF2-40B4-BE49-F238E27FC236}">
                <a16:creationId xmlns:a16="http://schemas.microsoft.com/office/drawing/2014/main" id="{6B698B5C-D191-4747-8321-1C00B7953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4274345"/>
            <a:ext cx="5953125" cy="1315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Altshuller determinou oito padrões de desenvolvimento técnológico de novos produtos.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São padrões que mostram </a:t>
            </a:r>
            <a:r>
              <a:rPr lang="ja-JP" altLang="pt-BR" sz="1350">
                <a:latin typeface="Arial" panose="020B0604020202020204" pitchFamily="34" charset="0"/>
              </a:rPr>
              <a:t>“</a:t>
            </a:r>
            <a:r>
              <a:rPr lang="pt-BR" altLang="ja-JP" sz="1350">
                <a:latin typeface="Arial" panose="020B0604020202020204" pitchFamily="34" charset="0"/>
              </a:rPr>
              <a:t>como</a:t>
            </a:r>
            <a:r>
              <a:rPr lang="ja-JP" altLang="pt-BR" sz="1350">
                <a:latin typeface="Arial" panose="020B0604020202020204" pitchFamily="34" charset="0"/>
              </a:rPr>
              <a:t>”</a:t>
            </a:r>
            <a:r>
              <a:rPr lang="pt-BR" altLang="ja-JP" sz="1350">
                <a:latin typeface="Arial" panose="020B0604020202020204" pitchFamily="34" charset="0"/>
              </a:rPr>
              <a:t> as pessoas pensam, ao invés </a:t>
            </a:r>
            <a:r>
              <a:rPr lang="ja-JP" altLang="pt-BR" sz="1350">
                <a:latin typeface="Arial" panose="020B0604020202020204" pitchFamily="34" charset="0"/>
              </a:rPr>
              <a:t>“</a:t>
            </a:r>
            <a:r>
              <a:rPr lang="pt-BR" altLang="ja-JP" sz="1350">
                <a:latin typeface="Arial" panose="020B0604020202020204" pitchFamily="34" charset="0"/>
              </a:rPr>
              <a:t>do que</a:t>
            </a:r>
            <a:r>
              <a:rPr lang="ja-JP" altLang="pt-BR" sz="1350">
                <a:latin typeface="Arial" panose="020B0604020202020204" pitchFamily="34" charset="0"/>
              </a:rPr>
              <a:t>”</a:t>
            </a:r>
            <a:r>
              <a:rPr lang="pt-BR" altLang="ja-JP" sz="1350">
                <a:latin typeface="Arial" panose="020B0604020202020204" pitchFamily="34" charset="0"/>
              </a:rPr>
              <a:t> as pessoas pensam.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350">
                <a:latin typeface="Arial" panose="020B0604020202020204" pitchFamily="34" charset="0"/>
              </a:rPr>
              <a:t>Possível desenvolver, sistematicamente, uma tecnologia futura. </a:t>
            </a:r>
            <a:endParaRPr lang="pt-BR" altLang="pt-BR" sz="135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5781" name="Text Box 6">
            <a:extLst>
              <a:ext uri="{FF2B5EF4-FFF2-40B4-BE49-F238E27FC236}">
                <a16:creationId xmlns:a16="http://schemas.microsoft.com/office/drawing/2014/main" id="{353B8BCD-6246-E04F-A37F-F3EFCA544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F E R R A M E N T A S       A D I C I O N A I S     D A     T I P S </a:t>
            </a:r>
          </a:p>
        </p:txBody>
      </p:sp>
      <p:sp>
        <p:nvSpPr>
          <p:cNvPr id="75782" name="Line 7">
            <a:extLst>
              <a:ext uri="{FF2B5EF4-FFF2-40B4-BE49-F238E27FC236}">
                <a16:creationId xmlns:a16="http://schemas.microsoft.com/office/drawing/2014/main" id="{D510E32E-2C13-A14C-AC66-69444BC4D7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3914596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ext Box 2">
            <a:extLst>
              <a:ext uri="{FF2B5EF4-FFF2-40B4-BE49-F238E27FC236}">
                <a16:creationId xmlns:a16="http://schemas.microsoft.com/office/drawing/2014/main" id="{D5EF1587-C2EB-F74F-8558-384FCF04A7EB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1059062" y="1619728"/>
            <a:ext cx="2933700" cy="221599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350" b="1">
                <a:latin typeface="Arial" panose="020B0604020202020204" pitchFamily="34" charset="0"/>
              </a:rPr>
              <a:t>Tecnologia Seguindo o Ciclo de Vida do Produto 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35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35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125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125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5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50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350" b="1"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pt-BR" altLang="pt-BR" sz="1800" b="1"/>
          </a:p>
        </p:txBody>
      </p:sp>
      <p:sp>
        <p:nvSpPr>
          <p:cNvPr id="77826" name="Text Box 3">
            <a:extLst>
              <a:ext uri="{FF2B5EF4-FFF2-40B4-BE49-F238E27FC236}">
                <a16:creationId xmlns:a16="http://schemas.microsoft.com/office/drawing/2014/main" id="{206806EC-035B-0A4D-B90C-999A23817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1259682"/>
            <a:ext cx="4095750" cy="295279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>
                <a:latin typeface="Arial" panose="020B0604020202020204" pitchFamily="34" charset="0"/>
              </a:rPr>
              <a:t> Estágio 1</a:t>
            </a:r>
            <a:r>
              <a:rPr lang="pt-BR" altLang="pt-BR" sz="1200">
                <a:latin typeface="Arial" panose="020B0604020202020204" pitchFamily="34" charset="0"/>
              </a:rPr>
              <a:t>: Um sistema que ainda não existe, mas importantes condições para o seu desenvolvimento estão sendo determinadas.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>
                <a:latin typeface="Arial" panose="020B0604020202020204" pitchFamily="34" charset="0"/>
              </a:rPr>
              <a:t> Estágio 2</a:t>
            </a:r>
            <a:r>
              <a:rPr lang="pt-BR" altLang="pt-BR" sz="1200">
                <a:latin typeface="Arial" panose="020B0604020202020204" pitchFamily="34" charset="0"/>
              </a:rPr>
              <a:t>: Um sistema é desenvolvido devido a uma invenção de alto-nível, mas o desenvolvimento é lento.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>
                <a:latin typeface="Arial" panose="020B0604020202020204" pitchFamily="34" charset="0"/>
              </a:rPr>
              <a:t> Estágio 3</a:t>
            </a:r>
            <a:r>
              <a:rPr lang="pt-BR" altLang="pt-BR" sz="1200">
                <a:latin typeface="Arial" panose="020B0604020202020204" pitchFamily="34" charset="0"/>
              </a:rPr>
              <a:t>: A sociedade reconhece valor do novo sistema.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>
                <a:latin typeface="Arial" panose="020B0604020202020204" pitchFamily="34" charset="0"/>
              </a:rPr>
              <a:t> Estágio 4</a:t>
            </a:r>
            <a:r>
              <a:rPr lang="pt-BR" altLang="pt-BR" sz="1200">
                <a:latin typeface="Arial" panose="020B0604020202020204" pitchFamily="34" charset="0"/>
              </a:rPr>
              <a:t>: Fim do conceitos do sistema original.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>
                <a:latin typeface="Arial" panose="020B0604020202020204" pitchFamily="34" charset="0"/>
              </a:rPr>
              <a:t> Estágio 5</a:t>
            </a:r>
            <a:r>
              <a:rPr lang="pt-BR" altLang="pt-BR" sz="1200">
                <a:latin typeface="Arial" panose="020B0604020202020204" pitchFamily="34" charset="0"/>
              </a:rPr>
              <a:t>: A próxima geração de sistema é desenvolvida para substituir o sistema original. 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>
                <a:latin typeface="Arial" panose="020B0604020202020204" pitchFamily="34" charset="0"/>
              </a:rPr>
              <a:t> Estágio 6</a:t>
            </a:r>
            <a:r>
              <a:rPr lang="pt-BR" altLang="pt-BR" sz="1200">
                <a:latin typeface="Arial" panose="020B0604020202020204" pitchFamily="34" charset="0"/>
              </a:rPr>
              <a:t>. Algum uso limitado de sistema original coexiste com o novo sistema.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b="1">
                <a:latin typeface="Arial" panose="020B0604020202020204" pitchFamily="34" charset="0"/>
              </a:rPr>
              <a:t> </a:t>
            </a:r>
            <a:r>
              <a:rPr lang="pt-BR" altLang="pt-BR" sz="1200" i="1">
                <a:latin typeface="Arial" panose="020B0604020202020204" pitchFamily="34" charset="0"/>
              </a:rPr>
              <a:t>Exemplo:</a:t>
            </a:r>
            <a:r>
              <a:rPr lang="pt-BR" altLang="pt-BR" sz="1200" i="1">
                <a:solidFill>
                  <a:srgbClr val="FF0000"/>
                </a:solidFill>
                <a:latin typeface="Arial" panose="020B0604020202020204" pitchFamily="34" charset="0"/>
              </a:rPr>
              <a:t> O desenvolvimento do avião</a:t>
            </a:r>
            <a:r>
              <a:rPr lang="pt-BR" altLang="pt-BR" sz="1200" i="1">
                <a:latin typeface="Arial" panose="020B0604020202020204" pitchFamily="34" charset="0"/>
              </a:rPr>
              <a:t>  </a:t>
            </a:r>
          </a:p>
        </p:txBody>
      </p:sp>
      <p:sp>
        <p:nvSpPr>
          <p:cNvPr id="77827" name="Text Box 4">
            <a:extLst>
              <a:ext uri="{FF2B5EF4-FFF2-40B4-BE49-F238E27FC236}">
                <a16:creationId xmlns:a16="http://schemas.microsoft.com/office/drawing/2014/main" id="{AB2C4D07-439E-5640-8646-ADF70CA36C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132" y="4199335"/>
            <a:ext cx="2178844" cy="29437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Idealidade Crescente</a:t>
            </a:r>
            <a:endParaRPr lang="pt-BR" altLang="pt-BR" sz="1500" b="1"/>
          </a:p>
        </p:txBody>
      </p:sp>
      <p:sp>
        <p:nvSpPr>
          <p:cNvPr id="77828" name="Text Box 5">
            <a:extLst>
              <a:ext uri="{FF2B5EF4-FFF2-40B4-BE49-F238E27FC236}">
                <a16:creationId xmlns:a16="http://schemas.microsoft.com/office/drawing/2014/main" id="{29235F4B-C890-5947-B578-1A8CC96ED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4199335"/>
            <a:ext cx="4095750" cy="29360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i="1">
                <a:latin typeface="Arial" panose="020B0604020202020204" pitchFamily="34" charset="0"/>
              </a:rPr>
              <a:t> Exemplo: </a:t>
            </a:r>
            <a:r>
              <a:rPr lang="pt-BR" altLang="pt-BR" sz="1200" i="1">
                <a:solidFill>
                  <a:srgbClr val="FF0000"/>
                </a:solidFill>
                <a:latin typeface="Arial" panose="020B0604020202020204" pitchFamily="34" charset="0"/>
              </a:rPr>
              <a:t>O desenvolvimento dos computadores.</a:t>
            </a:r>
          </a:p>
        </p:txBody>
      </p:sp>
      <p:sp>
        <p:nvSpPr>
          <p:cNvPr id="77829" name="Text Box 6">
            <a:extLst>
              <a:ext uri="{FF2B5EF4-FFF2-40B4-BE49-F238E27FC236}">
                <a16:creationId xmlns:a16="http://schemas.microsoft.com/office/drawing/2014/main" id="{7DA6780B-7C81-B04F-900E-5EE0B49BF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132" y="4498183"/>
            <a:ext cx="2178844" cy="515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Desenvolvimento errôneo de subsistemas</a:t>
            </a:r>
            <a:endParaRPr lang="pt-BR" altLang="pt-BR" sz="1500" b="1"/>
          </a:p>
        </p:txBody>
      </p:sp>
      <p:sp>
        <p:nvSpPr>
          <p:cNvPr id="77830" name="Text Box 7">
            <a:extLst>
              <a:ext uri="{FF2B5EF4-FFF2-40B4-BE49-F238E27FC236}">
                <a16:creationId xmlns:a16="http://schemas.microsoft.com/office/drawing/2014/main" id="{EFCB4276-44DE-AA4A-B713-E25757ECE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4498182"/>
            <a:ext cx="4095750" cy="51520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i="1">
                <a:latin typeface="Arial" panose="020B0604020202020204" pitchFamily="34" charset="0"/>
              </a:rPr>
              <a:t> Exemplo: </a:t>
            </a:r>
            <a:r>
              <a:rPr lang="pt-BR" altLang="pt-BR" sz="1200" i="1">
                <a:solidFill>
                  <a:srgbClr val="FF0000"/>
                </a:solidFill>
                <a:latin typeface="Arial" panose="020B0604020202020204" pitchFamily="34" charset="0"/>
              </a:rPr>
              <a:t>O desenvolvimento das turbinas dos aviões, pois a aerodinâmica restringe o desempenho.</a:t>
            </a:r>
          </a:p>
        </p:txBody>
      </p:sp>
      <p:sp>
        <p:nvSpPr>
          <p:cNvPr id="77831" name="Text Box 8">
            <a:extLst>
              <a:ext uri="{FF2B5EF4-FFF2-40B4-BE49-F238E27FC236}">
                <a16:creationId xmlns:a16="http://schemas.microsoft.com/office/drawing/2014/main" id="{61E8BFBE-7295-544A-89B2-C85B79E7E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132" y="5017295"/>
            <a:ext cx="2178844" cy="515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Incremento da dinamismo e da controlabilidade</a:t>
            </a:r>
            <a:endParaRPr lang="pt-BR" altLang="pt-BR" sz="1500" b="1"/>
          </a:p>
        </p:txBody>
      </p:sp>
      <p:sp>
        <p:nvSpPr>
          <p:cNvPr id="77832" name="Text Box 9">
            <a:extLst>
              <a:ext uri="{FF2B5EF4-FFF2-40B4-BE49-F238E27FC236}">
                <a16:creationId xmlns:a16="http://schemas.microsoft.com/office/drawing/2014/main" id="{77337174-21AC-CE42-A41D-BC740E579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5017295"/>
            <a:ext cx="4095750" cy="515206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i="1">
                <a:latin typeface="Arial" panose="020B0604020202020204" pitchFamily="34" charset="0"/>
              </a:rPr>
              <a:t> Exemplo: </a:t>
            </a:r>
            <a:r>
              <a:rPr lang="pt-BR" altLang="pt-BR" sz="1200" i="1">
                <a:solidFill>
                  <a:srgbClr val="FF0000"/>
                </a:solidFill>
                <a:latin typeface="Arial" panose="020B0604020202020204" pitchFamily="34" charset="0"/>
              </a:rPr>
              <a:t>Transmissão do automóvel - manual, automática e variáveis.</a:t>
            </a:r>
            <a:endParaRPr lang="pt-BR" altLang="pt-BR" sz="1200" i="1">
              <a:latin typeface="Arial" panose="020B0604020202020204" pitchFamily="34" charset="0"/>
            </a:endParaRPr>
          </a:p>
        </p:txBody>
      </p:sp>
      <p:sp>
        <p:nvSpPr>
          <p:cNvPr id="77833" name="Text Box 10">
            <a:extLst>
              <a:ext uri="{FF2B5EF4-FFF2-40B4-BE49-F238E27FC236}">
                <a16:creationId xmlns:a16="http://schemas.microsoft.com/office/drawing/2014/main" id="{C28718F2-2253-F949-B424-E0486718F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F E R R A M E N T A S       A D I C I O N A I S     D A     T I P S </a:t>
            </a:r>
          </a:p>
        </p:txBody>
      </p:sp>
      <p:sp>
        <p:nvSpPr>
          <p:cNvPr id="77834" name="Line 11">
            <a:extLst>
              <a:ext uri="{FF2B5EF4-FFF2-40B4-BE49-F238E27FC236}">
                <a16:creationId xmlns:a16="http://schemas.microsoft.com/office/drawing/2014/main" id="{F9910B73-4B9D-7D46-AF2F-01152D71C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5159914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ext Box 2">
            <a:extLst>
              <a:ext uri="{FF2B5EF4-FFF2-40B4-BE49-F238E27FC236}">
                <a16:creationId xmlns:a16="http://schemas.microsoft.com/office/drawing/2014/main" id="{A700EE6E-B0F5-F745-9477-E38A649D6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132" y="1550194"/>
            <a:ext cx="2340769" cy="73757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Incremento da complexidade, seguida pela simplicidade, passando pela integração.</a:t>
            </a:r>
            <a:endParaRPr lang="pt-BR" altLang="pt-BR" sz="1500" b="1"/>
          </a:p>
        </p:txBody>
      </p:sp>
      <p:sp>
        <p:nvSpPr>
          <p:cNvPr id="79874" name="Text Box 3">
            <a:extLst>
              <a:ext uri="{FF2B5EF4-FFF2-40B4-BE49-F238E27FC236}">
                <a16:creationId xmlns:a16="http://schemas.microsoft.com/office/drawing/2014/main" id="{46C8ABEC-D6E2-0B47-937D-F2F26BBB9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1550194"/>
            <a:ext cx="3933825" cy="73680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i="1">
                <a:latin typeface="Arial" panose="020B0604020202020204" pitchFamily="34" charset="0"/>
              </a:rPr>
              <a:t> Exemplo: </a:t>
            </a:r>
            <a:r>
              <a:rPr lang="pt-BR" altLang="pt-BR" sz="1200" i="1">
                <a:solidFill>
                  <a:srgbClr val="FF0000"/>
                </a:solidFill>
                <a:latin typeface="Arial" panose="020B0604020202020204" pitchFamily="34" charset="0"/>
              </a:rPr>
              <a:t>Aparelhos de som - adicionados toca-fitas, equalizador, toca-disco, cd. Atualmente, todos os componentes integrados no Mini System.</a:t>
            </a:r>
            <a:endParaRPr lang="pt-BR" altLang="pt-BR" sz="1200" i="1">
              <a:latin typeface="Arial" panose="020B0604020202020204" pitchFamily="34" charset="0"/>
            </a:endParaRPr>
          </a:p>
        </p:txBody>
      </p:sp>
      <p:sp>
        <p:nvSpPr>
          <p:cNvPr id="79875" name="Text Box 4">
            <a:extLst>
              <a:ext uri="{FF2B5EF4-FFF2-40B4-BE49-F238E27FC236}">
                <a16:creationId xmlns:a16="http://schemas.microsoft.com/office/drawing/2014/main" id="{34BFDFCF-5BCB-A540-8E24-A71450335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132" y="2289573"/>
            <a:ext cx="2340769" cy="96911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600" b="1">
              <a:latin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Combinação e separação, arranjo, das partes do sistema</a:t>
            </a:r>
            <a:r>
              <a:rPr lang="pt-BR" altLang="pt-BR" sz="675" b="1">
                <a:latin typeface="Arial" panose="020B0604020202020204" pitchFamily="34" charset="0"/>
              </a:rPr>
              <a:t>.</a:t>
            </a:r>
            <a:endParaRPr lang="pt-BR" altLang="pt-BR" sz="900" b="1"/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600" b="1"/>
          </a:p>
        </p:txBody>
      </p:sp>
      <p:sp>
        <p:nvSpPr>
          <p:cNvPr id="79876" name="Text Box 5">
            <a:extLst>
              <a:ext uri="{FF2B5EF4-FFF2-40B4-BE49-F238E27FC236}">
                <a16:creationId xmlns:a16="http://schemas.microsoft.com/office/drawing/2014/main" id="{8B000DFA-3549-0F44-9012-F223248A5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2289573"/>
            <a:ext cx="3933825" cy="95840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i="1">
                <a:latin typeface="Arial" panose="020B0604020202020204" pitchFamily="34" charset="0"/>
              </a:rPr>
              <a:t> Exemplo: </a:t>
            </a:r>
            <a:r>
              <a:rPr lang="pt-BR" altLang="pt-BR" sz="1200" i="1">
                <a:solidFill>
                  <a:srgbClr val="FF0000"/>
                </a:solidFill>
                <a:latin typeface="Arial" panose="020B0604020202020204" pitchFamily="34" charset="0"/>
              </a:rPr>
              <a:t>Suspensão dos automóveis - feixe de mola das carruagens - elementos combinados para absorver choque - automática combinação através das suspensões ativas computadorizadas.</a:t>
            </a:r>
            <a:endParaRPr lang="pt-BR" altLang="pt-BR" sz="1200" i="1">
              <a:latin typeface="Arial" panose="020B0604020202020204" pitchFamily="34" charset="0"/>
            </a:endParaRPr>
          </a:p>
        </p:txBody>
      </p:sp>
      <p:sp>
        <p:nvSpPr>
          <p:cNvPr id="79877" name="Text Box 6">
            <a:extLst>
              <a:ext uri="{FF2B5EF4-FFF2-40B4-BE49-F238E27FC236}">
                <a16:creationId xmlns:a16="http://schemas.microsoft.com/office/drawing/2014/main" id="{AAD56BDB-94D4-CF4C-B28F-222BD9AF4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132" y="3249217"/>
            <a:ext cx="2340769" cy="130151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Transmissão de macro sistema para microsistema, os quais usando diferentes tipos de energia, apresentam melhor desempenho.</a:t>
            </a:r>
            <a:endParaRPr lang="pt-BR" altLang="pt-BR" sz="900" b="1"/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600" b="1"/>
          </a:p>
        </p:txBody>
      </p:sp>
      <p:sp>
        <p:nvSpPr>
          <p:cNvPr id="79878" name="Text Box 7">
            <a:extLst>
              <a:ext uri="{FF2B5EF4-FFF2-40B4-BE49-F238E27FC236}">
                <a16:creationId xmlns:a16="http://schemas.microsoft.com/office/drawing/2014/main" id="{FC5DCA64-D036-9147-8648-C61B60E14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3249216"/>
            <a:ext cx="3933825" cy="129458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endParaRPr lang="pt-BR" altLang="pt-BR" sz="825" b="1" i="1">
              <a:latin typeface="Arial" panose="020B0604020202020204" pitchFamily="34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i="1">
                <a:latin typeface="Arial" panose="020B0604020202020204" pitchFamily="34" charset="0"/>
              </a:rPr>
              <a:t> Exemplo: </a:t>
            </a:r>
            <a:r>
              <a:rPr lang="pt-BR" altLang="pt-BR" sz="1200" i="1">
                <a:solidFill>
                  <a:srgbClr val="FF0000"/>
                </a:solidFill>
                <a:latin typeface="Arial" panose="020B0604020202020204" pitchFamily="34" charset="0"/>
              </a:rPr>
              <a:t>Desenvolvimento de fornos de cozinha, iniciando com os sistemas alimentado por madeira, passando pelo fogão a gás e, atualmente, os fornos microondas. 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endParaRPr lang="pt-BR" altLang="pt-BR" sz="975" b="1" i="1">
              <a:latin typeface="Arial" panose="020B0604020202020204" pitchFamily="34" charset="0"/>
            </a:endParaRPr>
          </a:p>
        </p:txBody>
      </p:sp>
      <p:sp>
        <p:nvSpPr>
          <p:cNvPr id="79879" name="Text Box 8">
            <a:extLst>
              <a:ext uri="{FF2B5EF4-FFF2-40B4-BE49-F238E27FC236}">
                <a16:creationId xmlns:a16="http://schemas.microsoft.com/office/drawing/2014/main" id="{61E47A24-E5FF-E345-B433-984BFB31E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132" y="4538663"/>
            <a:ext cx="2340769" cy="969111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600" b="1">
              <a:latin typeface="Arial" panose="020B0604020202020204" pitchFamily="34" charset="0"/>
            </a:endParaRPr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pt-BR" altLang="pt-BR" sz="1200" b="1">
                <a:latin typeface="Arial" panose="020B0604020202020204" pitchFamily="34" charset="0"/>
              </a:rPr>
              <a:t>Envolvimento humano decrescente e a automação crescente</a:t>
            </a:r>
            <a:endParaRPr lang="pt-BR" altLang="pt-BR" sz="900" b="1"/>
          </a:p>
          <a:p>
            <a:pPr algn="ctr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pt-BR" altLang="pt-BR" sz="600" b="1"/>
          </a:p>
        </p:txBody>
      </p:sp>
      <p:sp>
        <p:nvSpPr>
          <p:cNvPr id="79880" name="Text Box 9">
            <a:extLst>
              <a:ext uri="{FF2B5EF4-FFF2-40B4-BE49-F238E27FC236}">
                <a16:creationId xmlns:a16="http://schemas.microsoft.com/office/drawing/2014/main" id="{067E85F3-E0B9-4C43-98F8-AC11F5E61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1900" y="4538664"/>
            <a:ext cx="3933825" cy="958404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pt-BR" altLang="pt-BR" sz="1200" i="1">
                <a:latin typeface="Arial" panose="020B0604020202020204" pitchFamily="34" charset="0"/>
              </a:rPr>
              <a:t> Exemplo: </a:t>
            </a:r>
            <a:r>
              <a:rPr lang="pt-BR" altLang="pt-BR" sz="1200" i="1">
                <a:solidFill>
                  <a:srgbClr val="FF0000"/>
                </a:solidFill>
                <a:latin typeface="Arial" panose="020B0604020202020204" pitchFamily="34" charset="0"/>
              </a:rPr>
              <a:t>Desenvolvimento do processo de lavação de roupas. Antigamente, asábuas de lavar roupa. Depois, as máquinas com movimentos circulatórios e, finalmente, as automáticas.</a:t>
            </a:r>
            <a:endParaRPr lang="pt-BR" altLang="pt-BR" sz="975" i="1">
              <a:latin typeface="Arial" panose="020B0604020202020204" pitchFamily="34" charset="0"/>
            </a:endParaRPr>
          </a:p>
        </p:txBody>
      </p:sp>
      <p:sp>
        <p:nvSpPr>
          <p:cNvPr id="79881" name="Text Box 10">
            <a:extLst>
              <a:ext uri="{FF2B5EF4-FFF2-40B4-BE49-F238E27FC236}">
                <a16:creationId xmlns:a16="http://schemas.microsoft.com/office/drawing/2014/main" id="{A7109F19-18D0-4E48-979D-9840CE8E8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F E R R A M E N T A S       A D I C I O N A I S     D A     T I P S </a:t>
            </a:r>
          </a:p>
        </p:txBody>
      </p:sp>
      <p:sp>
        <p:nvSpPr>
          <p:cNvPr id="79882" name="Line 11">
            <a:extLst>
              <a:ext uri="{FF2B5EF4-FFF2-40B4-BE49-F238E27FC236}">
                <a16:creationId xmlns:a16="http://schemas.microsoft.com/office/drawing/2014/main" id="{CDF7F07B-A9FB-9F4C-9AD2-104F3235F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20456517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ext Box 11">
            <a:extLst>
              <a:ext uri="{FF2B5EF4-FFF2-40B4-BE49-F238E27FC236}">
                <a16:creationId xmlns:a16="http://schemas.microsoft.com/office/drawing/2014/main" id="{C73A029E-2097-D245-BBFC-CDE5290E9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2514600"/>
            <a:ext cx="657225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50" b="1">
                <a:solidFill>
                  <a:srgbClr val="800000"/>
                </a:solidFill>
                <a:latin typeface="Arial" panose="020B0604020202020204" pitchFamily="34" charset="0"/>
              </a:rPr>
              <a:t>4. A relação da TIPS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50" b="1">
                <a:solidFill>
                  <a:srgbClr val="800000"/>
                </a:solidFill>
                <a:latin typeface="Arial" panose="020B0604020202020204" pitchFamily="34" charset="0"/>
              </a:rPr>
              <a:t>com o QFD</a:t>
            </a:r>
          </a:p>
        </p:txBody>
      </p:sp>
      <p:sp>
        <p:nvSpPr>
          <p:cNvPr id="81922" name="Text Box 12">
            <a:extLst>
              <a:ext uri="{FF2B5EF4-FFF2-40B4-BE49-F238E27FC236}">
                <a16:creationId xmlns:a16="http://schemas.microsoft.com/office/drawing/2014/main" id="{36250BE8-FF3E-2246-8F4C-200F9256E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81923" name="Line 13">
            <a:extLst>
              <a:ext uri="{FF2B5EF4-FFF2-40B4-BE49-F238E27FC236}">
                <a16:creationId xmlns:a16="http://schemas.microsoft.com/office/drawing/2014/main" id="{7FC842D5-0F1F-2442-9D09-568504BDEF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grpSp>
        <p:nvGrpSpPr>
          <p:cNvPr id="81924" name="Group 14">
            <a:extLst>
              <a:ext uri="{FF2B5EF4-FFF2-40B4-BE49-F238E27FC236}">
                <a16:creationId xmlns:a16="http://schemas.microsoft.com/office/drawing/2014/main" id="{38E6D9D3-E521-7B47-8570-DA9422BFFF63}"/>
              </a:ext>
            </a:extLst>
          </p:cNvPr>
          <p:cNvGrpSpPr>
            <a:grpSpLocks/>
          </p:cNvGrpSpPr>
          <p:nvPr/>
        </p:nvGrpSpPr>
        <p:grpSpPr bwMode="auto">
          <a:xfrm>
            <a:off x="1450181" y="5372100"/>
            <a:ext cx="6243638" cy="571500"/>
            <a:chOff x="138" y="3792"/>
            <a:chExt cx="5244" cy="480"/>
          </a:xfrm>
        </p:grpSpPr>
        <p:sp>
          <p:nvSpPr>
            <p:cNvPr id="81925" name="Line 15">
              <a:extLst>
                <a:ext uri="{FF2B5EF4-FFF2-40B4-BE49-F238E27FC236}">
                  <a16:creationId xmlns:a16="http://schemas.microsoft.com/office/drawing/2014/main" id="{B2E19D6F-89D2-D04E-AC4E-F9CB90E83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3792"/>
              <a:ext cx="5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grpSp>
          <p:nvGrpSpPr>
            <p:cNvPr id="81926" name="Group 16">
              <a:extLst>
                <a:ext uri="{FF2B5EF4-FFF2-40B4-BE49-F238E27FC236}">
                  <a16:creationId xmlns:a16="http://schemas.microsoft.com/office/drawing/2014/main" id="{36B6463B-FB27-9C4F-9684-878DDDE0F2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3840"/>
              <a:ext cx="5100" cy="432"/>
              <a:chOff x="236" y="3840"/>
              <a:chExt cx="5100" cy="432"/>
            </a:xfrm>
          </p:grpSpPr>
          <p:pic>
            <p:nvPicPr>
              <p:cNvPr id="81927" name="Picture 17" descr="brasao ufsc">
                <a:extLst>
                  <a:ext uri="{FF2B5EF4-FFF2-40B4-BE49-F238E27FC236}">
                    <a16:creationId xmlns:a16="http://schemas.microsoft.com/office/drawing/2014/main" id="{C649E8A9-0274-0D49-8A8F-C1CE4B1B27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13" y="3840"/>
                <a:ext cx="323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1928" name="Text Box 18">
                <a:extLst>
                  <a:ext uri="{FF2B5EF4-FFF2-40B4-BE49-F238E27FC236}">
                    <a16:creationId xmlns:a16="http://schemas.microsoft.com/office/drawing/2014/main" id="{53A74AD4-8841-F743-ACFE-92F9EA6F5E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8" y="3948"/>
                <a:ext cx="734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Universidade Federal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 de Santa Catarina</a:t>
                </a:r>
                <a:endParaRPr lang="pt-BR" altLang="pt-BR" sz="6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81929" name="Picture 19" descr="log">
                <a:extLst>
                  <a:ext uri="{FF2B5EF4-FFF2-40B4-BE49-F238E27FC236}">
                    <a16:creationId xmlns:a16="http://schemas.microsoft.com/office/drawing/2014/main" id="{BA751A41-AD54-574A-B1B4-ABBA7237E7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" y="3875"/>
                <a:ext cx="473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1930" name="Text Box 20">
                <a:extLst>
                  <a:ext uri="{FF2B5EF4-FFF2-40B4-BE49-F238E27FC236}">
                    <a16:creationId xmlns:a16="http://schemas.microsoft.com/office/drawing/2014/main" id="{C71C3AF1-49E3-4D41-B54C-8FBFB03DB7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3956"/>
                <a:ext cx="698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Grupo de Engenharia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do Produto e Processo</a:t>
                </a:r>
                <a:endParaRPr lang="pt-BR" altLang="pt-BR" sz="6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29765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969" name="Group 2">
            <a:extLst>
              <a:ext uri="{FF2B5EF4-FFF2-40B4-BE49-F238E27FC236}">
                <a16:creationId xmlns:a16="http://schemas.microsoft.com/office/drawing/2014/main" id="{38CEB519-2013-5C45-ABCE-922C89274DF0}"/>
              </a:ext>
            </a:extLst>
          </p:cNvPr>
          <p:cNvGrpSpPr>
            <a:grpSpLocks/>
          </p:cNvGrpSpPr>
          <p:nvPr/>
        </p:nvGrpSpPr>
        <p:grpSpPr bwMode="auto">
          <a:xfrm>
            <a:off x="1431132" y="1188245"/>
            <a:ext cx="6207919" cy="4619626"/>
            <a:chOff x="122" y="350"/>
            <a:chExt cx="5214" cy="3880"/>
          </a:xfrm>
        </p:grpSpPr>
        <p:sp>
          <p:nvSpPr>
            <p:cNvPr id="83970" name="Text Box 3">
              <a:extLst>
                <a:ext uri="{FF2B5EF4-FFF2-40B4-BE49-F238E27FC236}">
                  <a16:creationId xmlns:a16="http://schemas.microsoft.com/office/drawing/2014/main" id="{B2FB0617-34E6-1D47-91A2-CAE10EE1F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350"/>
              <a:ext cx="1222" cy="4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Fase do Desenvolvimento</a:t>
              </a:r>
              <a:endParaRPr lang="pt-BR" altLang="pt-BR" sz="1200" b="1"/>
            </a:p>
          </p:txBody>
        </p:sp>
        <p:sp>
          <p:nvSpPr>
            <p:cNvPr id="83971" name="Text Box 4">
              <a:extLst>
                <a:ext uri="{FF2B5EF4-FFF2-40B4-BE49-F238E27FC236}">
                  <a16:creationId xmlns:a16="http://schemas.microsoft.com/office/drawing/2014/main" id="{E6271A8C-9933-F040-84C5-49FA6F7495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50"/>
              <a:ext cx="1120" cy="4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Desdobramento do QFD</a:t>
              </a:r>
              <a:endParaRPr lang="pt-BR" altLang="pt-BR" sz="1200" b="1"/>
            </a:p>
          </p:txBody>
        </p:sp>
        <p:sp>
          <p:nvSpPr>
            <p:cNvPr id="83972" name="Text Box 5">
              <a:extLst>
                <a:ext uri="{FF2B5EF4-FFF2-40B4-BE49-F238E27FC236}">
                  <a16:creationId xmlns:a16="http://schemas.microsoft.com/office/drawing/2014/main" id="{3BD72D59-2BAF-5545-A83B-2191D5A0D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50"/>
              <a:ext cx="2872" cy="61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Benefício do uso do QFD, juntamente, com a Teoria da Solução de Problemas Inventivos</a:t>
              </a:r>
              <a:endParaRPr lang="pt-BR" altLang="pt-BR" sz="1200" b="1"/>
            </a:p>
          </p:txBody>
        </p:sp>
        <p:sp>
          <p:nvSpPr>
            <p:cNvPr id="83973" name="Text Box 6">
              <a:extLst>
                <a:ext uri="{FF2B5EF4-FFF2-40B4-BE49-F238E27FC236}">
                  <a16:creationId xmlns:a16="http://schemas.microsoft.com/office/drawing/2014/main" id="{A352E948-8345-6348-9E47-8BFA41183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786"/>
              <a:ext cx="1222" cy="4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Pesquisa de mercado.</a:t>
              </a:r>
              <a:endParaRPr lang="pt-BR" altLang="pt-BR" sz="1200"/>
            </a:p>
          </p:txBody>
        </p:sp>
        <p:sp>
          <p:nvSpPr>
            <p:cNvPr id="83974" name="Text Box 7">
              <a:extLst>
                <a:ext uri="{FF2B5EF4-FFF2-40B4-BE49-F238E27FC236}">
                  <a16:creationId xmlns:a16="http://schemas.microsoft.com/office/drawing/2014/main" id="{763DED33-8EFB-8D4B-A1CE-24988AA1B1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786"/>
              <a:ext cx="1120" cy="4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Planejamento do produto</a:t>
              </a:r>
              <a:endParaRPr lang="pt-BR" altLang="pt-BR" sz="1200"/>
            </a:p>
          </p:txBody>
        </p:sp>
        <p:sp>
          <p:nvSpPr>
            <p:cNvPr id="83975" name="Text Box 8">
              <a:extLst>
                <a:ext uri="{FF2B5EF4-FFF2-40B4-BE49-F238E27FC236}">
                  <a16:creationId xmlns:a16="http://schemas.microsoft.com/office/drawing/2014/main" id="{D0F8BA1A-F8DC-F748-8AE6-CD887ABF42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786"/>
              <a:ext cx="2872" cy="43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Utilizar a DPE para mostrar como serão os produtos no futuro.</a:t>
              </a:r>
              <a:endParaRPr lang="pt-BR" altLang="pt-BR" sz="1200"/>
            </a:p>
          </p:txBody>
        </p:sp>
        <p:sp>
          <p:nvSpPr>
            <p:cNvPr id="83976" name="Text Box 9">
              <a:extLst>
                <a:ext uri="{FF2B5EF4-FFF2-40B4-BE49-F238E27FC236}">
                  <a16:creationId xmlns:a16="http://schemas.microsoft.com/office/drawing/2014/main" id="{4A285648-9CB3-F340-B757-82C29EB5B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1222"/>
              <a:ext cx="1222" cy="7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1425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Pesquisa e desenvolvimento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1575"/>
            </a:p>
          </p:txBody>
        </p:sp>
        <p:sp>
          <p:nvSpPr>
            <p:cNvPr id="83977" name="Text Box 10">
              <a:extLst>
                <a:ext uri="{FF2B5EF4-FFF2-40B4-BE49-F238E27FC236}">
                  <a16:creationId xmlns:a16="http://schemas.microsoft.com/office/drawing/2014/main" id="{BF1460E2-621E-E542-A946-24205C58A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222"/>
              <a:ext cx="1120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Desdobramento tecnológico</a:t>
              </a:r>
              <a:endParaRPr lang="pt-BR" altLang="pt-BR" sz="1200"/>
            </a:p>
          </p:txBody>
        </p:sp>
        <p:sp>
          <p:nvSpPr>
            <p:cNvPr id="83978" name="Text Box 11">
              <a:extLst>
                <a:ext uri="{FF2B5EF4-FFF2-40B4-BE49-F238E27FC236}">
                  <a16:creationId xmlns:a16="http://schemas.microsoft.com/office/drawing/2014/main" id="{4BD4ABF9-7DC6-9E45-A4A4-24FCDC2AC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602"/>
              <a:ext cx="1120" cy="388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Desdobramento da qualidade</a:t>
              </a:r>
              <a:endParaRPr lang="pt-BR" altLang="pt-BR" sz="1200" b="1"/>
            </a:p>
          </p:txBody>
        </p:sp>
        <p:sp>
          <p:nvSpPr>
            <p:cNvPr id="83979" name="Text Box 12">
              <a:extLst>
                <a:ext uri="{FF2B5EF4-FFF2-40B4-BE49-F238E27FC236}">
                  <a16:creationId xmlns:a16="http://schemas.microsoft.com/office/drawing/2014/main" id="{2541AA26-68BB-1540-A856-DD65725C9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1222"/>
              <a:ext cx="2872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Solucionar problemas de gargalo e contradições de engenharia.</a:t>
              </a:r>
              <a:endParaRPr lang="pt-BR" altLang="pt-BR" sz="1200"/>
            </a:p>
          </p:txBody>
        </p:sp>
        <p:sp>
          <p:nvSpPr>
            <p:cNvPr id="83980" name="Text Box 13">
              <a:extLst>
                <a:ext uri="{FF2B5EF4-FFF2-40B4-BE49-F238E27FC236}">
                  <a16:creationId xmlns:a16="http://schemas.microsoft.com/office/drawing/2014/main" id="{8A0A5EB2-553A-9A4E-8670-04149B04B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1602"/>
              <a:ext cx="2872" cy="543"/>
            </a:xfrm>
            <a:prstGeom prst="rect">
              <a:avLst/>
            </a:prstGeom>
            <a:solidFill>
              <a:srgbClr val="FFFF99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Para eliminar contradições no telhado do QFD e para definir especificações de projeto.</a:t>
              </a:r>
              <a:endParaRPr lang="pt-BR" altLang="pt-BR" sz="1200" b="1"/>
            </a:p>
          </p:txBody>
        </p:sp>
        <p:sp>
          <p:nvSpPr>
            <p:cNvPr id="83981" name="Text Box 14">
              <a:extLst>
                <a:ext uri="{FF2B5EF4-FFF2-40B4-BE49-F238E27FC236}">
                  <a16:creationId xmlns:a16="http://schemas.microsoft.com/office/drawing/2014/main" id="{84F4F4AA-9DEF-1543-BBF9-F3CA2042C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976"/>
              <a:ext cx="1120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Desdobramento funcional</a:t>
              </a:r>
              <a:endParaRPr lang="pt-BR" altLang="pt-BR" sz="1200"/>
            </a:p>
          </p:txBody>
        </p:sp>
        <p:sp>
          <p:nvSpPr>
            <p:cNvPr id="83982" name="Text Box 15">
              <a:extLst>
                <a:ext uri="{FF2B5EF4-FFF2-40B4-BE49-F238E27FC236}">
                  <a16:creationId xmlns:a16="http://schemas.microsoft.com/office/drawing/2014/main" id="{CCDEC95F-5C86-7845-AF3F-93C7C2536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354"/>
              <a:ext cx="1120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Desdobramento da confiabilidade</a:t>
              </a:r>
              <a:endParaRPr lang="pt-BR" altLang="pt-BR" sz="1200"/>
            </a:p>
          </p:txBody>
        </p:sp>
        <p:sp>
          <p:nvSpPr>
            <p:cNvPr id="83983" name="Text Box 16">
              <a:extLst>
                <a:ext uri="{FF2B5EF4-FFF2-40B4-BE49-F238E27FC236}">
                  <a16:creationId xmlns:a16="http://schemas.microsoft.com/office/drawing/2014/main" id="{585D0E52-EFA0-114E-9FF5-35C0B828F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732"/>
              <a:ext cx="1120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Desdobramento do custo</a:t>
              </a:r>
              <a:endParaRPr lang="pt-BR" altLang="pt-BR" sz="1200"/>
            </a:p>
          </p:txBody>
        </p:sp>
        <p:sp>
          <p:nvSpPr>
            <p:cNvPr id="83984" name="Text Box 17">
              <a:extLst>
                <a:ext uri="{FF2B5EF4-FFF2-40B4-BE49-F238E27FC236}">
                  <a16:creationId xmlns:a16="http://schemas.microsoft.com/office/drawing/2014/main" id="{3CEB1F24-8D21-DF4A-AD71-6D865A3FC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1966"/>
              <a:ext cx="1222" cy="110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pt-BR" altLang="pt-BR" sz="2700">
                <a:latin typeface="Arial" panose="020B0604020202020204" pitchFamily="34" charset="0"/>
              </a:endParaRP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Projeto Funcional</a:t>
              </a:r>
            </a:p>
            <a:p>
              <a:pPr algn="ctr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endParaRPr lang="pt-BR" altLang="pt-BR" sz="3000"/>
            </a:p>
          </p:txBody>
        </p:sp>
        <p:sp>
          <p:nvSpPr>
            <p:cNvPr id="83985" name="Text Box 18">
              <a:extLst>
                <a:ext uri="{FF2B5EF4-FFF2-40B4-BE49-F238E27FC236}">
                  <a16:creationId xmlns:a16="http://schemas.microsoft.com/office/drawing/2014/main" id="{FB0B7C22-31BF-894B-AA85-D9C403026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1974"/>
              <a:ext cx="2872" cy="54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Usar a ferramenta de desdobramento funcional (Su-Field) e a DPE para verificar novas funções.</a:t>
              </a:r>
              <a:endParaRPr lang="pt-BR" altLang="pt-BR" sz="1200"/>
            </a:p>
          </p:txBody>
        </p:sp>
        <p:sp>
          <p:nvSpPr>
            <p:cNvPr id="83986" name="Text Box 19">
              <a:extLst>
                <a:ext uri="{FF2B5EF4-FFF2-40B4-BE49-F238E27FC236}">
                  <a16:creationId xmlns:a16="http://schemas.microsoft.com/office/drawing/2014/main" id="{A10B23AB-6511-C54D-B25E-A251CA650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348"/>
              <a:ext cx="2872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Usar a TIPS para desenvolver novas concepções utilizando as informações do DPE.</a:t>
              </a:r>
              <a:endParaRPr lang="pt-BR" altLang="pt-BR" sz="1200"/>
            </a:p>
          </p:txBody>
        </p:sp>
        <p:sp>
          <p:nvSpPr>
            <p:cNvPr id="83987" name="Text Box 20">
              <a:extLst>
                <a:ext uri="{FF2B5EF4-FFF2-40B4-BE49-F238E27FC236}">
                  <a16:creationId xmlns:a16="http://schemas.microsoft.com/office/drawing/2014/main" id="{E00402C7-D158-0C41-BBB0-D41937905A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2722"/>
              <a:ext cx="2872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Usar a TIPS para reduzir o custo sem recorrer as soluções de compromisso.</a:t>
              </a:r>
              <a:endParaRPr lang="pt-BR" altLang="pt-BR" sz="1200"/>
            </a:p>
          </p:txBody>
        </p:sp>
        <p:sp>
          <p:nvSpPr>
            <p:cNvPr id="83988" name="Text Box 21">
              <a:extLst>
                <a:ext uri="{FF2B5EF4-FFF2-40B4-BE49-F238E27FC236}">
                  <a16:creationId xmlns:a16="http://schemas.microsoft.com/office/drawing/2014/main" id="{BDF39472-9159-1B42-A1FE-1EB90BBF9B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094"/>
              <a:ext cx="1120" cy="3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Desdobramento do equipamento</a:t>
              </a:r>
              <a:endParaRPr lang="pt-BR" altLang="pt-BR" sz="1200"/>
            </a:p>
          </p:txBody>
        </p:sp>
        <p:sp>
          <p:nvSpPr>
            <p:cNvPr id="83989" name="Text Box 22">
              <a:extLst>
                <a:ext uri="{FF2B5EF4-FFF2-40B4-BE49-F238E27FC236}">
                  <a16:creationId xmlns:a16="http://schemas.microsoft.com/office/drawing/2014/main" id="{E7D02272-2F15-6940-9337-E37049660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468"/>
              <a:ext cx="1120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Desdobramento do processo</a:t>
              </a:r>
              <a:endParaRPr lang="pt-BR" altLang="pt-BR" sz="1200"/>
            </a:p>
          </p:txBody>
        </p:sp>
        <p:sp>
          <p:nvSpPr>
            <p:cNvPr id="83990" name="Text Box 23">
              <a:extLst>
                <a:ext uri="{FF2B5EF4-FFF2-40B4-BE49-F238E27FC236}">
                  <a16:creationId xmlns:a16="http://schemas.microsoft.com/office/drawing/2014/main" id="{1DE2E043-A43A-5049-9DB5-5419253847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3842"/>
              <a:ext cx="1120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Desdobramento da operação</a:t>
              </a:r>
              <a:endParaRPr lang="pt-BR" altLang="pt-BR" sz="1200"/>
            </a:p>
          </p:txBody>
        </p:sp>
        <p:sp>
          <p:nvSpPr>
            <p:cNvPr id="83991" name="Text Box 24">
              <a:extLst>
                <a:ext uri="{FF2B5EF4-FFF2-40B4-BE49-F238E27FC236}">
                  <a16:creationId xmlns:a16="http://schemas.microsoft.com/office/drawing/2014/main" id="{FF54ACF7-C01C-9E49-951E-97D7036248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093"/>
              <a:ext cx="2872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Eliminar as restrições de projeto devido as limitações de equipamento e manufatura.</a:t>
              </a:r>
              <a:endParaRPr lang="pt-BR" altLang="pt-BR" sz="1200"/>
            </a:p>
          </p:txBody>
        </p:sp>
        <p:sp>
          <p:nvSpPr>
            <p:cNvPr id="83992" name="Text Box 25">
              <a:extLst>
                <a:ext uri="{FF2B5EF4-FFF2-40B4-BE49-F238E27FC236}">
                  <a16:creationId xmlns:a16="http://schemas.microsoft.com/office/drawing/2014/main" id="{FD337799-7DFB-AC4D-AF18-8D8848F79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467"/>
              <a:ext cx="2872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Eliminar as restrições de projeto devido a limitações de processo e de pessoas.</a:t>
              </a:r>
              <a:endParaRPr lang="pt-BR" altLang="pt-BR" sz="1200"/>
            </a:p>
          </p:txBody>
        </p:sp>
        <p:sp>
          <p:nvSpPr>
            <p:cNvPr id="83993" name="Text Box 26">
              <a:extLst>
                <a:ext uri="{FF2B5EF4-FFF2-40B4-BE49-F238E27FC236}">
                  <a16:creationId xmlns:a16="http://schemas.microsoft.com/office/drawing/2014/main" id="{AD6D3BD9-C0F1-AD4A-9F3F-CE80CA5FDB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4" y="3841"/>
              <a:ext cx="2872" cy="3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Eliminar as restrições de projeto devido a limitação de operação e manutenção.</a:t>
              </a:r>
              <a:endParaRPr lang="pt-BR" altLang="pt-BR" sz="1200"/>
            </a:p>
          </p:txBody>
        </p:sp>
        <p:sp>
          <p:nvSpPr>
            <p:cNvPr id="83994" name="Text Box 27">
              <a:extLst>
                <a:ext uri="{FF2B5EF4-FFF2-40B4-BE49-F238E27FC236}">
                  <a16:creationId xmlns:a16="http://schemas.microsoft.com/office/drawing/2014/main" id="{C784E571-0346-E442-A46A-8313C3D836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3094"/>
              <a:ext cx="1222" cy="3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600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Manufatura</a:t>
              </a:r>
              <a:endParaRPr lang="pt-BR" altLang="pt-BR" sz="1200"/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600"/>
            </a:p>
          </p:txBody>
        </p:sp>
        <p:sp>
          <p:nvSpPr>
            <p:cNvPr id="83995" name="Text Box 28">
              <a:extLst>
                <a:ext uri="{FF2B5EF4-FFF2-40B4-BE49-F238E27FC236}">
                  <a16:creationId xmlns:a16="http://schemas.microsoft.com/office/drawing/2014/main" id="{6E400DEE-7458-9649-9F84-8B0B726126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3468"/>
              <a:ext cx="1222" cy="3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600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Produção </a:t>
              </a:r>
              <a:endParaRPr lang="pt-BR" altLang="pt-BR" sz="1200"/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600"/>
            </a:p>
          </p:txBody>
        </p:sp>
        <p:sp>
          <p:nvSpPr>
            <p:cNvPr id="83996" name="Text Box 29">
              <a:extLst>
                <a:ext uri="{FF2B5EF4-FFF2-40B4-BE49-F238E27FC236}">
                  <a16:creationId xmlns:a16="http://schemas.microsoft.com/office/drawing/2014/main" id="{52844A5E-496B-4B4A-A51D-4D6ADEA0D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" y="3841"/>
              <a:ext cx="1222" cy="38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600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>
                  <a:latin typeface="Arial" panose="020B0604020202020204" pitchFamily="34" charset="0"/>
                </a:rPr>
                <a:t>Operação</a:t>
              </a:r>
              <a:endParaRPr lang="pt-BR" altLang="pt-BR" sz="1200"/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600"/>
            </a:p>
          </p:txBody>
        </p:sp>
      </p:grpSp>
    </p:spTree>
    <p:extLst>
      <p:ext uri="{BB962C8B-B14F-4D97-AF65-F5344CB8AC3E}">
        <p14:creationId xmlns:p14="http://schemas.microsoft.com/office/powerpoint/2010/main" val="38532355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ext Box 12">
            <a:extLst>
              <a:ext uri="{FF2B5EF4-FFF2-40B4-BE49-F238E27FC236}">
                <a16:creationId xmlns:a16="http://schemas.microsoft.com/office/drawing/2014/main" id="{23091773-F4F8-0E4B-A2DF-862D3650A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75" y="2457450"/>
            <a:ext cx="6572250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50" b="1">
                <a:solidFill>
                  <a:srgbClr val="800000"/>
                </a:solidFill>
                <a:latin typeface="Arial" panose="020B0604020202020204" pitchFamily="34" charset="0"/>
              </a:rPr>
              <a:t>5. O Emprego da TIPS no Processo de Projeto</a:t>
            </a:r>
          </a:p>
        </p:txBody>
      </p:sp>
      <p:sp>
        <p:nvSpPr>
          <p:cNvPr id="86018" name="Text Box 13">
            <a:extLst>
              <a:ext uri="{FF2B5EF4-FFF2-40B4-BE49-F238E27FC236}">
                <a16:creationId xmlns:a16="http://schemas.microsoft.com/office/drawing/2014/main" id="{5E452672-7D08-8849-A7A8-28FA9888EA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T E O R I A     D A     S O L U Ç Ã O      D E     P R O B L E M A S      I N V E N T I V O S</a:t>
            </a:r>
          </a:p>
        </p:txBody>
      </p:sp>
      <p:sp>
        <p:nvSpPr>
          <p:cNvPr id="86019" name="Line 14">
            <a:extLst>
              <a:ext uri="{FF2B5EF4-FFF2-40B4-BE49-F238E27FC236}">
                <a16:creationId xmlns:a16="http://schemas.microsoft.com/office/drawing/2014/main" id="{E53EB13C-CCFC-1743-B68E-10C84DA28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  <p:grpSp>
        <p:nvGrpSpPr>
          <p:cNvPr id="86020" name="Group 15">
            <a:extLst>
              <a:ext uri="{FF2B5EF4-FFF2-40B4-BE49-F238E27FC236}">
                <a16:creationId xmlns:a16="http://schemas.microsoft.com/office/drawing/2014/main" id="{BC6C8798-0184-9244-B7A1-78C77665ADE9}"/>
              </a:ext>
            </a:extLst>
          </p:cNvPr>
          <p:cNvGrpSpPr>
            <a:grpSpLocks/>
          </p:cNvGrpSpPr>
          <p:nvPr/>
        </p:nvGrpSpPr>
        <p:grpSpPr bwMode="auto">
          <a:xfrm>
            <a:off x="1450181" y="5372100"/>
            <a:ext cx="6243638" cy="571500"/>
            <a:chOff x="138" y="3792"/>
            <a:chExt cx="5244" cy="480"/>
          </a:xfrm>
        </p:grpSpPr>
        <p:sp>
          <p:nvSpPr>
            <p:cNvPr id="86021" name="Line 16">
              <a:extLst>
                <a:ext uri="{FF2B5EF4-FFF2-40B4-BE49-F238E27FC236}">
                  <a16:creationId xmlns:a16="http://schemas.microsoft.com/office/drawing/2014/main" id="{489D7D20-869B-9441-AD91-85A47B4384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3792"/>
              <a:ext cx="5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grpSp>
          <p:nvGrpSpPr>
            <p:cNvPr id="86022" name="Group 17">
              <a:extLst>
                <a:ext uri="{FF2B5EF4-FFF2-40B4-BE49-F238E27FC236}">
                  <a16:creationId xmlns:a16="http://schemas.microsoft.com/office/drawing/2014/main" id="{C3E98E05-3850-B04A-A1EB-FD3FB17EC2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" y="3840"/>
              <a:ext cx="5100" cy="432"/>
              <a:chOff x="236" y="3840"/>
              <a:chExt cx="5100" cy="432"/>
            </a:xfrm>
          </p:grpSpPr>
          <p:pic>
            <p:nvPicPr>
              <p:cNvPr id="86023" name="Picture 18" descr="brasao ufsc">
                <a:extLst>
                  <a:ext uri="{FF2B5EF4-FFF2-40B4-BE49-F238E27FC236}">
                    <a16:creationId xmlns:a16="http://schemas.microsoft.com/office/drawing/2014/main" id="{BE3277E9-E329-4C42-9994-CEB1CB0F2A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13" y="3840"/>
                <a:ext cx="323" cy="4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024" name="Text Box 19">
                <a:extLst>
                  <a:ext uri="{FF2B5EF4-FFF2-40B4-BE49-F238E27FC236}">
                    <a16:creationId xmlns:a16="http://schemas.microsoft.com/office/drawing/2014/main" id="{F77C72F1-C6C3-2C41-A333-A526131EDA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38" y="3948"/>
                <a:ext cx="734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Universidade Federal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 de Santa Catarina</a:t>
                </a:r>
                <a:endParaRPr lang="pt-BR" altLang="pt-BR" sz="6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  <p:pic>
            <p:nvPicPr>
              <p:cNvPr id="86025" name="Picture 20" descr="log">
                <a:extLst>
                  <a:ext uri="{FF2B5EF4-FFF2-40B4-BE49-F238E27FC236}">
                    <a16:creationId xmlns:a16="http://schemas.microsoft.com/office/drawing/2014/main" id="{18312FE6-AC4D-3E45-9826-AB5F5DE929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6" y="3875"/>
                <a:ext cx="473" cy="3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86026" name="Text Box 21">
                <a:extLst>
                  <a:ext uri="{FF2B5EF4-FFF2-40B4-BE49-F238E27FC236}">
                    <a16:creationId xmlns:a16="http://schemas.microsoft.com/office/drawing/2014/main" id="{29BD24FA-E5AF-B940-89F3-B5124BFD3D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6" y="3956"/>
                <a:ext cx="698" cy="3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Grupo de Engenharia </a:t>
                </a:r>
              </a:p>
              <a:p>
                <a:pPr>
                  <a:spcBef>
                    <a:spcPct val="50000"/>
                  </a:spcBef>
                  <a:buFontTx/>
                  <a:buNone/>
                </a:pPr>
                <a:r>
                  <a:rPr lang="pt-BR" altLang="pt-BR" sz="525">
                    <a:latin typeface="Arial" panose="020B0604020202020204" pitchFamily="34" charset="0"/>
                  </a:rPr>
                  <a:t>do Produto e Processo</a:t>
                </a:r>
                <a:endParaRPr lang="pt-BR" altLang="pt-BR" sz="600">
                  <a:solidFill>
                    <a:schemeClr val="accent2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66607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65" name="Group 1062">
            <a:extLst>
              <a:ext uri="{FF2B5EF4-FFF2-40B4-BE49-F238E27FC236}">
                <a16:creationId xmlns:a16="http://schemas.microsoft.com/office/drawing/2014/main" id="{63D297D1-426A-2345-AB1D-D2D2A71892E0}"/>
              </a:ext>
            </a:extLst>
          </p:cNvPr>
          <p:cNvGrpSpPr>
            <a:grpSpLocks/>
          </p:cNvGrpSpPr>
          <p:nvPr/>
        </p:nvGrpSpPr>
        <p:grpSpPr bwMode="auto">
          <a:xfrm>
            <a:off x="1378744" y="1157289"/>
            <a:ext cx="6365081" cy="4563665"/>
            <a:chOff x="78" y="252"/>
            <a:chExt cx="5346" cy="3833"/>
          </a:xfrm>
        </p:grpSpPr>
        <p:sp>
          <p:nvSpPr>
            <p:cNvPr id="88066" name="Text Box 1027">
              <a:extLst>
                <a:ext uri="{FF2B5EF4-FFF2-40B4-BE49-F238E27FC236}">
                  <a16:creationId xmlns:a16="http://schemas.microsoft.com/office/drawing/2014/main" id="{4F432775-F8DA-F448-8559-D09831A34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" y="252"/>
              <a:ext cx="2870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Levantar as necessidades dos clientes</a:t>
              </a:r>
            </a:p>
          </p:txBody>
        </p:sp>
        <p:sp>
          <p:nvSpPr>
            <p:cNvPr id="88067" name="Text Box 1028">
              <a:extLst>
                <a:ext uri="{FF2B5EF4-FFF2-40B4-BE49-F238E27FC236}">
                  <a16:creationId xmlns:a16="http://schemas.microsoft.com/office/drawing/2014/main" id="{95FD14AC-9A38-BC46-9B32-035E00DBC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" y="690"/>
              <a:ext cx="2878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Estabelecer  os  requisitos  de  projeto</a:t>
              </a:r>
            </a:p>
          </p:txBody>
        </p:sp>
        <p:sp>
          <p:nvSpPr>
            <p:cNvPr id="88068" name="Text Box 1029">
              <a:extLst>
                <a:ext uri="{FF2B5EF4-FFF2-40B4-BE49-F238E27FC236}">
                  <a16:creationId xmlns:a16="http://schemas.microsoft.com/office/drawing/2014/main" id="{65CDB1E6-D34A-D043-A844-51DE1B798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" y="1145"/>
              <a:ext cx="2950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Relacionar as necessidades com requisitos</a:t>
              </a:r>
            </a:p>
          </p:txBody>
        </p:sp>
        <p:sp>
          <p:nvSpPr>
            <p:cNvPr id="88069" name="Text Box 1030">
              <a:extLst>
                <a:ext uri="{FF2B5EF4-FFF2-40B4-BE49-F238E27FC236}">
                  <a16:creationId xmlns:a16="http://schemas.microsoft.com/office/drawing/2014/main" id="{ECA99657-B22A-2D46-BF1E-27D01BB122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1586"/>
              <a:ext cx="2878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Obter as contradições entre os requisitos</a:t>
              </a:r>
            </a:p>
          </p:txBody>
        </p:sp>
        <p:sp>
          <p:nvSpPr>
            <p:cNvPr id="88070" name="Text Box 1031">
              <a:extLst>
                <a:ext uri="{FF2B5EF4-FFF2-40B4-BE49-F238E27FC236}">
                  <a16:creationId xmlns:a16="http://schemas.microsoft.com/office/drawing/2014/main" id="{63BBB5AC-25EA-2241-9D3C-E11984C9D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" y="2457"/>
              <a:ext cx="2878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Estruturação Funcional do Produto</a:t>
              </a:r>
            </a:p>
          </p:txBody>
        </p:sp>
        <p:sp>
          <p:nvSpPr>
            <p:cNvPr id="88071" name="Line 1032">
              <a:extLst>
                <a:ext uri="{FF2B5EF4-FFF2-40B4-BE49-F238E27FC236}">
                  <a16:creationId xmlns:a16="http://schemas.microsoft.com/office/drawing/2014/main" id="{0AFE4201-FEF1-FE43-B40E-F43328E0C7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5" y="501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72" name="Line 1033">
              <a:extLst>
                <a:ext uri="{FF2B5EF4-FFF2-40B4-BE49-F238E27FC236}">
                  <a16:creationId xmlns:a16="http://schemas.microsoft.com/office/drawing/2014/main" id="{AAF39BCE-89C2-AD4C-817A-A052CE33BF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1973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73" name="Line 1035">
              <a:extLst>
                <a:ext uri="{FF2B5EF4-FFF2-40B4-BE49-F238E27FC236}">
                  <a16:creationId xmlns:a16="http://schemas.microsoft.com/office/drawing/2014/main" id="{80F45873-7EF3-5546-A571-9BF259F02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2264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74" name="Text Box 1036">
              <a:extLst>
                <a:ext uri="{FF2B5EF4-FFF2-40B4-BE49-F238E27FC236}">
                  <a16:creationId xmlns:a16="http://schemas.microsoft.com/office/drawing/2014/main" id="{82A32F6B-D7C2-1F43-A441-BDBDF8D84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" y="2024"/>
              <a:ext cx="2878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Definir as especificações de projeto</a:t>
              </a:r>
            </a:p>
          </p:txBody>
        </p:sp>
        <p:sp>
          <p:nvSpPr>
            <p:cNvPr id="88075" name="Text Box 1045">
              <a:extLst>
                <a:ext uri="{FF2B5EF4-FFF2-40B4-BE49-F238E27FC236}">
                  <a16:creationId xmlns:a16="http://schemas.microsoft.com/office/drawing/2014/main" id="{E2FFD797-739E-4744-B672-E282DB66D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2905"/>
              <a:ext cx="2902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Geração de Alternativas de Concepção</a:t>
              </a:r>
            </a:p>
          </p:txBody>
        </p:sp>
        <p:sp>
          <p:nvSpPr>
            <p:cNvPr id="88076" name="Line 1048">
              <a:extLst>
                <a:ext uri="{FF2B5EF4-FFF2-40B4-BE49-F238E27FC236}">
                  <a16:creationId xmlns:a16="http://schemas.microsoft.com/office/drawing/2014/main" id="{579FF748-EE9D-1D40-96BE-2AC4E1CDD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5" y="949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77" name="Line 1049">
              <a:extLst>
                <a:ext uri="{FF2B5EF4-FFF2-40B4-BE49-F238E27FC236}">
                  <a16:creationId xmlns:a16="http://schemas.microsoft.com/office/drawing/2014/main" id="{96AB180C-4CD5-8840-A740-1309245D06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1389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78" name="Line 1050">
              <a:extLst>
                <a:ext uri="{FF2B5EF4-FFF2-40B4-BE49-F238E27FC236}">
                  <a16:creationId xmlns:a16="http://schemas.microsoft.com/office/drawing/2014/main" id="{51C79582-551E-414A-ACD0-EDBBF5433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2712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79" name="Line 1051">
              <a:extLst>
                <a:ext uri="{FF2B5EF4-FFF2-40B4-BE49-F238E27FC236}">
                  <a16:creationId xmlns:a16="http://schemas.microsoft.com/office/drawing/2014/main" id="{D988FA35-C9C5-CF4A-9AE0-C1B2B007A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3160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80" name="Text Box 1052">
              <a:extLst>
                <a:ext uri="{FF2B5EF4-FFF2-40B4-BE49-F238E27FC236}">
                  <a16:creationId xmlns:a16="http://schemas.microsoft.com/office/drawing/2014/main" id="{AC370DF0-142E-EF4E-93FB-5AE786371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3361"/>
              <a:ext cx="2902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Seleção da Concepção do Produto</a:t>
              </a:r>
            </a:p>
          </p:txBody>
        </p:sp>
        <p:sp>
          <p:nvSpPr>
            <p:cNvPr id="88081" name="Text Box 1053">
              <a:extLst>
                <a:ext uri="{FF2B5EF4-FFF2-40B4-BE49-F238E27FC236}">
                  <a16:creationId xmlns:a16="http://schemas.microsoft.com/office/drawing/2014/main" id="{AF91C9B8-5106-D34E-BB55-982FA30E7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" y="3833"/>
              <a:ext cx="2902" cy="25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350">
                  <a:latin typeface="Arial" panose="020B0604020202020204" pitchFamily="34" charset="0"/>
                </a:rPr>
                <a:t>Projeto Preliminar e Projeto Detalhado</a:t>
              </a:r>
            </a:p>
          </p:txBody>
        </p:sp>
        <p:sp>
          <p:nvSpPr>
            <p:cNvPr id="88082" name="Line 1054">
              <a:extLst>
                <a:ext uri="{FF2B5EF4-FFF2-40B4-BE49-F238E27FC236}">
                  <a16:creationId xmlns:a16="http://schemas.microsoft.com/office/drawing/2014/main" id="{440FBB18-188B-7748-856B-1BA9FB87D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8" y="3616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83" name="Text Box 1055">
              <a:extLst>
                <a:ext uri="{FF2B5EF4-FFF2-40B4-BE49-F238E27FC236}">
                  <a16:creationId xmlns:a16="http://schemas.microsoft.com/office/drawing/2014/main" id="{EC6D4A8E-3145-DB49-90EE-2AF9B76A4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4" y="1577"/>
              <a:ext cx="2102" cy="5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solidFill>
                    <a:srgbClr val="FF0000"/>
                  </a:solidFill>
                  <a:latin typeface="Arial" panose="020B0604020202020204" pitchFamily="34" charset="0"/>
                </a:rPr>
                <a:t>Identificar os requisitos a serem otimizados e os conflitantes</a:t>
              </a:r>
            </a:p>
          </p:txBody>
        </p:sp>
        <p:sp>
          <p:nvSpPr>
            <p:cNvPr id="88084" name="Text Box 1056">
              <a:extLst>
                <a:ext uri="{FF2B5EF4-FFF2-40B4-BE49-F238E27FC236}">
                  <a16:creationId xmlns:a16="http://schemas.microsoft.com/office/drawing/2014/main" id="{AE83F0A7-B51F-7F49-85B1-ED54DD4CC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0" y="2929"/>
              <a:ext cx="2134" cy="23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solidFill>
                    <a:srgbClr val="FF0000"/>
                  </a:solidFill>
                  <a:latin typeface="Arial" panose="020B0604020202020204" pitchFamily="34" charset="0"/>
                </a:rPr>
                <a:t>Identificar o Princípio Inventivo </a:t>
              </a:r>
            </a:p>
          </p:txBody>
        </p:sp>
        <p:sp>
          <p:nvSpPr>
            <p:cNvPr id="88085" name="Text Box 1057">
              <a:extLst>
                <a:ext uri="{FF2B5EF4-FFF2-40B4-BE49-F238E27FC236}">
                  <a16:creationId xmlns:a16="http://schemas.microsoft.com/office/drawing/2014/main" id="{AB739A6A-6314-5848-807B-BC36CBADF5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2" y="2177"/>
              <a:ext cx="2126" cy="54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solidFill>
                    <a:srgbClr val="FF0000"/>
                  </a:solidFill>
                  <a:latin typeface="Arial" panose="020B0604020202020204" pitchFamily="34" charset="0"/>
                </a:rPr>
                <a:t>Associar os requisitos em contradição aos parâmetros de engenharia da TIPS</a:t>
              </a:r>
            </a:p>
          </p:txBody>
        </p:sp>
        <p:sp>
          <p:nvSpPr>
            <p:cNvPr id="88086" name="Line 1058">
              <a:extLst>
                <a:ext uri="{FF2B5EF4-FFF2-40B4-BE49-F238E27FC236}">
                  <a16:creationId xmlns:a16="http://schemas.microsoft.com/office/drawing/2014/main" id="{72CD7750-D823-7C43-85EB-1B6512507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" y="2725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87" name="Line 1059">
              <a:extLst>
                <a:ext uri="{FF2B5EF4-FFF2-40B4-BE49-F238E27FC236}">
                  <a16:creationId xmlns:a16="http://schemas.microsoft.com/office/drawing/2014/main" id="{ED6FB349-A88A-4144-95D9-DB4528623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1829"/>
              <a:ext cx="0" cy="21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88" name="Line 1060">
              <a:extLst>
                <a:ext uri="{FF2B5EF4-FFF2-40B4-BE49-F238E27FC236}">
                  <a16:creationId xmlns:a16="http://schemas.microsoft.com/office/drawing/2014/main" id="{2603B399-A20B-C04A-93BA-7410EE2063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732"/>
              <a:ext cx="3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88089" name="Line 1061">
              <a:extLst>
                <a:ext uri="{FF2B5EF4-FFF2-40B4-BE49-F238E27FC236}">
                  <a16:creationId xmlns:a16="http://schemas.microsoft.com/office/drawing/2014/main" id="{6AB4D580-49B4-3148-8233-C4143A96E7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00" y="3044"/>
              <a:ext cx="2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</p:grpSp>
    </p:spTree>
    <p:extLst>
      <p:ext uri="{BB962C8B-B14F-4D97-AF65-F5344CB8AC3E}">
        <p14:creationId xmlns:p14="http://schemas.microsoft.com/office/powerpoint/2010/main" val="32787943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ext Box 2">
            <a:extLst>
              <a:ext uri="{FF2B5EF4-FFF2-40B4-BE49-F238E27FC236}">
                <a16:creationId xmlns:a16="http://schemas.microsoft.com/office/drawing/2014/main" id="{21D45E0D-F14D-1E49-8B01-340A6CB62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952501"/>
            <a:ext cx="6429375" cy="567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>
                <a:latin typeface="Arial" panose="020B0604020202020204" pitchFamily="34" charset="0"/>
              </a:rPr>
              <a:t> Determinar em quais funções do produto podem ser aplicados os princípios inventivos </a:t>
            </a:r>
            <a:r>
              <a:rPr lang="pt-BR" altLang="pt-BR" sz="1350" b="1">
                <a:latin typeface="Arial" panose="020B0604020202020204" pitchFamily="34" charset="0"/>
                <a:sym typeface="Symbol" pitchFamily="2" charset="2"/>
              </a:rPr>
              <a:t> r</a:t>
            </a:r>
            <a:r>
              <a:rPr lang="pt-BR" altLang="pt-BR" sz="1350">
                <a:latin typeface="Arial" panose="020B0604020202020204" pitchFamily="34" charset="0"/>
                <a:sym typeface="Symbol" pitchFamily="2" charset="2"/>
              </a:rPr>
              <a:t>elacionar os requisitos otimizados com as funções da EF.</a:t>
            </a:r>
            <a:endParaRPr lang="pt-BR" altLang="pt-BR" sz="1350">
              <a:latin typeface="Arial" panose="020B0604020202020204" pitchFamily="34" charset="0"/>
            </a:endParaRPr>
          </a:p>
        </p:txBody>
      </p:sp>
      <p:sp>
        <p:nvSpPr>
          <p:cNvPr id="94210" name="Text Box 5">
            <a:extLst>
              <a:ext uri="{FF2B5EF4-FFF2-40B4-BE49-F238E27FC236}">
                <a16:creationId xmlns:a16="http://schemas.microsoft.com/office/drawing/2014/main" id="{8ADCC388-1420-2C44-BEBC-A09E4E8D5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0650" y="3438526"/>
            <a:ext cx="6315075" cy="81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350">
                <a:latin typeface="Arial" panose="020B0604020202020204" pitchFamily="34" charset="0"/>
              </a:rPr>
              <a:t> Empregar a matriz morfológica, com os Princípios Inventivos da TIPS, para gerar  os  princípios  de solução que, combinados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  <a:buFontTx/>
              <a:buNone/>
            </a:pPr>
            <a:r>
              <a:rPr lang="pt-BR" altLang="pt-BR" sz="1350">
                <a:latin typeface="Arial" panose="020B0604020202020204" pitchFamily="34" charset="0"/>
              </a:rPr>
              <a:t>originam as alternativas de concepção do produto.</a:t>
            </a:r>
          </a:p>
        </p:txBody>
      </p:sp>
      <p:graphicFrame>
        <p:nvGraphicFramePr>
          <p:cNvPr id="94211" name="Object 0">
            <a:extLst>
              <a:ext uri="{FF2B5EF4-FFF2-40B4-BE49-F238E27FC236}">
                <a16:creationId xmlns:a16="http://schemas.microsoft.com/office/drawing/2014/main" id="{223FB144-B616-BA46-B36D-78B9647813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64519" y="1677592"/>
          <a:ext cx="5354241" cy="15025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17475200" imgH="4927600" progId="Word.Document.8">
                  <p:embed/>
                </p:oleObj>
              </mc:Choice>
              <mc:Fallback>
                <p:oleObj name="Documento" r:id="rId3" imgW="17475200" imgH="4927600" progId="Word.Document.8">
                  <p:embed/>
                  <p:pic>
                    <p:nvPicPr>
                      <p:cNvPr id="94211" name="Object 0">
                        <a:extLst>
                          <a:ext uri="{FF2B5EF4-FFF2-40B4-BE49-F238E27FC236}">
                            <a16:creationId xmlns:a16="http://schemas.microsoft.com/office/drawing/2014/main" id="{223FB144-B616-BA46-B36D-78B9647813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519" y="1677592"/>
                        <a:ext cx="5354241" cy="15025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1">
            <a:extLst>
              <a:ext uri="{FF2B5EF4-FFF2-40B4-BE49-F238E27FC236}">
                <a16:creationId xmlns:a16="http://schemas.microsoft.com/office/drawing/2014/main" id="{A07208BE-6576-7448-B268-56FC9474CA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7332" y="4707733"/>
          <a:ext cx="5960269" cy="1193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5" imgW="17475200" imgH="3987800" progId="Word.Document.8">
                  <p:embed/>
                </p:oleObj>
              </mc:Choice>
              <mc:Fallback>
                <p:oleObj name="Documento" r:id="rId5" imgW="17475200" imgH="3987800" progId="Word.Document.8">
                  <p:embed/>
                  <p:pic>
                    <p:nvPicPr>
                      <p:cNvPr id="94212" name="Object 1">
                        <a:extLst>
                          <a:ext uri="{FF2B5EF4-FFF2-40B4-BE49-F238E27FC236}">
                            <a16:creationId xmlns:a16="http://schemas.microsoft.com/office/drawing/2014/main" id="{A07208BE-6576-7448-B268-56FC9474CA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7332" y="4707733"/>
                        <a:ext cx="5960269" cy="11930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4213" name="Group 18">
            <a:extLst>
              <a:ext uri="{FF2B5EF4-FFF2-40B4-BE49-F238E27FC236}">
                <a16:creationId xmlns:a16="http://schemas.microsoft.com/office/drawing/2014/main" id="{79F9E7A5-1B0D-7947-ADB3-15830DE6F9AB}"/>
              </a:ext>
            </a:extLst>
          </p:cNvPr>
          <p:cNvGrpSpPr>
            <a:grpSpLocks/>
          </p:cNvGrpSpPr>
          <p:nvPr/>
        </p:nvGrpSpPr>
        <p:grpSpPr bwMode="auto">
          <a:xfrm>
            <a:off x="3209925" y="3924300"/>
            <a:ext cx="4410075" cy="1771650"/>
            <a:chOff x="1616" y="2576"/>
            <a:chExt cx="3704" cy="1488"/>
          </a:xfrm>
        </p:grpSpPr>
        <p:grpSp>
          <p:nvGrpSpPr>
            <p:cNvPr id="94214" name="Group 17">
              <a:extLst>
                <a:ext uri="{FF2B5EF4-FFF2-40B4-BE49-F238E27FC236}">
                  <a16:creationId xmlns:a16="http://schemas.microsoft.com/office/drawing/2014/main" id="{75684CE0-0297-E746-8C16-81F1F90B5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6" y="2960"/>
              <a:ext cx="2416" cy="1104"/>
              <a:chOff x="1624" y="3032"/>
              <a:chExt cx="2416" cy="1024"/>
            </a:xfrm>
          </p:grpSpPr>
          <p:sp>
            <p:nvSpPr>
              <p:cNvPr id="94217" name="Line 10">
                <a:extLst>
                  <a:ext uri="{FF2B5EF4-FFF2-40B4-BE49-F238E27FC236}">
                    <a16:creationId xmlns:a16="http://schemas.microsoft.com/office/drawing/2014/main" id="{E25136AE-82A1-B747-B677-C093A2D0B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64" y="3088"/>
                <a:ext cx="336" cy="4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sz="1500"/>
              </a:p>
            </p:txBody>
          </p:sp>
          <p:sp>
            <p:nvSpPr>
              <p:cNvPr id="94218" name="Line 11">
                <a:extLst>
                  <a:ext uri="{FF2B5EF4-FFF2-40B4-BE49-F238E27FC236}">
                    <a16:creationId xmlns:a16="http://schemas.microsoft.com/office/drawing/2014/main" id="{3DC920A3-855C-1C4A-98EA-4C88BEFDE2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76" y="3088"/>
                <a:ext cx="1616" cy="6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sz="1500"/>
              </a:p>
            </p:txBody>
          </p:sp>
          <p:sp>
            <p:nvSpPr>
              <p:cNvPr id="94219" name="Line 12">
                <a:extLst>
                  <a:ext uri="{FF2B5EF4-FFF2-40B4-BE49-F238E27FC236}">
                    <a16:creationId xmlns:a16="http://schemas.microsoft.com/office/drawing/2014/main" id="{0D6BC5C0-6331-0C43-BA70-09D35F032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60" y="3072"/>
                <a:ext cx="1232" cy="984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sz="1500"/>
              </a:p>
            </p:txBody>
          </p:sp>
          <p:sp>
            <p:nvSpPr>
              <p:cNvPr id="94220" name="Line 13">
                <a:extLst>
                  <a:ext uri="{FF2B5EF4-FFF2-40B4-BE49-F238E27FC236}">
                    <a16:creationId xmlns:a16="http://schemas.microsoft.com/office/drawing/2014/main" id="{784FEB02-4E85-3744-B5D6-C7EE33E987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24" y="3072"/>
                <a:ext cx="2376" cy="44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 sz="1500"/>
              </a:p>
            </p:txBody>
          </p:sp>
          <p:sp>
            <p:nvSpPr>
              <p:cNvPr id="94221" name="Oval 14">
                <a:extLst>
                  <a:ext uri="{FF2B5EF4-FFF2-40B4-BE49-F238E27FC236}">
                    <a16:creationId xmlns:a16="http://schemas.microsoft.com/office/drawing/2014/main" id="{5BC19405-3CB2-FA40-B135-38AF31D53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52" y="3032"/>
                <a:ext cx="88" cy="104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pt-BR" sz="1800"/>
              </a:p>
            </p:txBody>
          </p:sp>
        </p:grpSp>
        <p:sp>
          <p:nvSpPr>
            <p:cNvPr id="94215" name="Oval 16">
              <a:extLst>
                <a:ext uri="{FF2B5EF4-FFF2-40B4-BE49-F238E27FC236}">
                  <a16:creationId xmlns:a16="http://schemas.microsoft.com/office/drawing/2014/main" id="{DE3539A6-701A-4246-A565-B32CB1ABD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2" y="2576"/>
              <a:ext cx="1568" cy="576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94216" name="Text Box 9">
              <a:extLst>
                <a:ext uri="{FF2B5EF4-FFF2-40B4-BE49-F238E27FC236}">
                  <a16:creationId xmlns:a16="http://schemas.microsoft.com/office/drawing/2014/main" id="{9BCCC91E-0557-A743-B942-FA82A2B05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6" y="2646"/>
              <a:ext cx="145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Aplicação dos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Princípios Inventivos</a:t>
              </a:r>
              <a:endParaRPr lang="pt-BR" altLang="pt-BR" sz="12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39393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57" name="Group 43">
            <a:extLst>
              <a:ext uri="{FF2B5EF4-FFF2-40B4-BE49-F238E27FC236}">
                <a16:creationId xmlns:a16="http://schemas.microsoft.com/office/drawing/2014/main" id="{60F96758-24B5-E342-9C34-18ECDE68628F}"/>
              </a:ext>
            </a:extLst>
          </p:cNvPr>
          <p:cNvGrpSpPr>
            <a:grpSpLocks/>
          </p:cNvGrpSpPr>
          <p:nvPr/>
        </p:nvGrpSpPr>
        <p:grpSpPr bwMode="auto">
          <a:xfrm>
            <a:off x="1464470" y="1543050"/>
            <a:ext cx="6236494" cy="4388645"/>
            <a:chOff x="150" y="576"/>
            <a:chExt cx="5238" cy="3686"/>
          </a:xfrm>
        </p:grpSpPr>
        <p:sp>
          <p:nvSpPr>
            <p:cNvPr id="96260" name="Text Box 2">
              <a:extLst>
                <a:ext uri="{FF2B5EF4-FFF2-40B4-BE49-F238E27FC236}">
                  <a16:creationId xmlns:a16="http://schemas.microsoft.com/office/drawing/2014/main" id="{41A38564-BFCE-F24B-9B8E-5782844B1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5" y="964"/>
              <a:ext cx="386" cy="26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...</a:t>
              </a:r>
              <a:endParaRPr lang="pt-BR" altLang="pt-BR" sz="900">
                <a:latin typeface="Arial" panose="020B0604020202020204" pitchFamily="34" charset="0"/>
              </a:endParaRPr>
            </a:p>
          </p:txBody>
        </p:sp>
        <p:sp>
          <p:nvSpPr>
            <p:cNvPr id="96261" name="Text Box 3">
              <a:extLst>
                <a:ext uri="{FF2B5EF4-FFF2-40B4-BE49-F238E27FC236}">
                  <a16:creationId xmlns:a16="http://schemas.microsoft.com/office/drawing/2014/main" id="{1F3A22B5-C35E-7A4E-B192-F6D10EE9FC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312" y="2390"/>
              <a:ext cx="496" cy="29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225" b="1"/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/>
                <a:t>....</a:t>
              </a:r>
            </a:p>
          </p:txBody>
        </p:sp>
        <p:sp>
          <p:nvSpPr>
            <p:cNvPr id="96262" name="Rectangle 4">
              <a:extLst>
                <a:ext uri="{FF2B5EF4-FFF2-40B4-BE49-F238E27FC236}">
                  <a16:creationId xmlns:a16="http://schemas.microsoft.com/office/drawing/2014/main" id="{0F22232D-7FC3-2940-8BFF-30620AFC5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" y="1231"/>
              <a:ext cx="381" cy="1104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96263" name="Text Box 5">
              <a:extLst>
                <a:ext uri="{FF2B5EF4-FFF2-40B4-BE49-F238E27FC236}">
                  <a16:creationId xmlns:a16="http://schemas.microsoft.com/office/drawing/2014/main" id="{E7160E9A-9929-C442-900F-70BA1CCAE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008" y="1629"/>
              <a:ext cx="1098" cy="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endParaRPr lang="pt-BR" altLang="pt-BR" sz="300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900" b="1">
                  <a:latin typeface="Arial" panose="020B0604020202020204" pitchFamily="34" charset="0"/>
                </a:rPr>
                <a:t>Comprimento do objeto estático</a:t>
              </a:r>
            </a:p>
          </p:txBody>
        </p:sp>
        <p:sp>
          <p:nvSpPr>
            <p:cNvPr id="96264" name="Text Box 6">
              <a:extLst>
                <a:ext uri="{FF2B5EF4-FFF2-40B4-BE49-F238E27FC236}">
                  <a16:creationId xmlns:a16="http://schemas.microsoft.com/office/drawing/2014/main" id="{2A7DB96A-4AEC-C649-9280-FF739C5C3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7" y="964"/>
              <a:ext cx="1143" cy="26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300" b="1"/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900" b="1">
                  <a:latin typeface="Arial" panose="020B0604020202020204" pitchFamily="34" charset="0"/>
                </a:rPr>
                <a:t>Tensão</a:t>
              </a:r>
              <a:endParaRPr lang="pt-BR" altLang="pt-BR" sz="1050"/>
            </a:p>
          </p:txBody>
        </p:sp>
        <p:sp>
          <p:nvSpPr>
            <p:cNvPr id="96265" name="Freeform 7">
              <a:extLst>
                <a:ext uri="{FF2B5EF4-FFF2-40B4-BE49-F238E27FC236}">
                  <a16:creationId xmlns:a16="http://schemas.microsoft.com/office/drawing/2014/main" id="{3DB90005-9AEE-A44B-837C-33E7E7688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956"/>
              <a:ext cx="1986" cy="1954"/>
            </a:xfrm>
            <a:custGeom>
              <a:avLst/>
              <a:gdLst>
                <a:gd name="T0" fmla="*/ 0 w 1986"/>
                <a:gd name="T1" fmla="*/ 1860 h 1954"/>
                <a:gd name="T2" fmla="*/ 132 w 1986"/>
                <a:gd name="T3" fmla="*/ 1950 h 1954"/>
                <a:gd name="T4" fmla="*/ 300 w 1986"/>
                <a:gd name="T5" fmla="*/ 1836 h 1954"/>
                <a:gd name="T6" fmla="*/ 396 w 1986"/>
                <a:gd name="T7" fmla="*/ 1824 h 1954"/>
                <a:gd name="T8" fmla="*/ 468 w 1986"/>
                <a:gd name="T9" fmla="*/ 1608 h 1954"/>
                <a:gd name="T10" fmla="*/ 606 w 1986"/>
                <a:gd name="T11" fmla="*/ 1548 h 1954"/>
                <a:gd name="T12" fmla="*/ 798 w 1986"/>
                <a:gd name="T13" fmla="*/ 1704 h 1954"/>
                <a:gd name="T14" fmla="*/ 966 w 1986"/>
                <a:gd name="T15" fmla="*/ 1584 h 1954"/>
                <a:gd name="T16" fmla="*/ 1206 w 1986"/>
                <a:gd name="T17" fmla="*/ 1632 h 1954"/>
                <a:gd name="T18" fmla="*/ 1362 w 1986"/>
                <a:gd name="T19" fmla="*/ 1746 h 1954"/>
                <a:gd name="T20" fmla="*/ 1560 w 1986"/>
                <a:gd name="T21" fmla="*/ 1512 h 1954"/>
                <a:gd name="T22" fmla="*/ 1824 w 1986"/>
                <a:gd name="T23" fmla="*/ 1620 h 1954"/>
                <a:gd name="T24" fmla="*/ 1938 w 1986"/>
                <a:gd name="T25" fmla="*/ 1629 h 1954"/>
                <a:gd name="T26" fmla="*/ 1890 w 1986"/>
                <a:gd name="T27" fmla="*/ 1356 h 1954"/>
                <a:gd name="T28" fmla="*/ 1928 w 1986"/>
                <a:gd name="T29" fmla="*/ 1121 h 1954"/>
                <a:gd name="T30" fmla="*/ 1956 w 1986"/>
                <a:gd name="T31" fmla="*/ 1032 h 1954"/>
                <a:gd name="T32" fmla="*/ 1986 w 1986"/>
                <a:gd name="T33" fmla="*/ 765 h 1954"/>
                <a:gd name="T34" fmla="*/ 1954 w 1986"/>
                <a:gd name="T35" fmla="*/ 462 h 1954"/>
                <a:gd name="T36" fmla="*/ 1902 w 1986"/>
                <a:gd name="T37" fmla="*/ 264 h 1954"/>
                <a:gd name="T38" fmla="*/ 1926 w 1986"/>
                <a:gd name="T39" fmla="*/ 0 h 19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1986"/>
                <a:gd name="T61" fmla="*/ 0 h 1954"/>
                <a:gd name="T62" fmla="*/ 1986 w 1986"/>
                <a:gd name="T63" fmla="*/ 1954 h 1954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1986" h="1954">
                  <a:moveTo>
                    <a:pt x="0" y="1860"/>
                  </a:moveTo>
                  <a:cubicBezTo>
                    <a:pt x="22" y="1875"/>
                    <a:pt x="82" y="1954"/>
                    <a:pt x="132" y="1950"/>
                  </a:cubicBezTo>
                  <a:cubicBezTo>
                    <a:pt x="182" y="1946"/>
                    <a:pt x="256" y="1857"/>
                    <a:pt x="300" y="1836"/>
                  </a:cubicBezTo>
                  <a:cubicBezTo>
                    <a:pt x="344" y="1815"/>
                    <a:pt x="368" y="1862"/>
                    <a:pt x="396" y="1824"/>
                  </a:cubicBezTo>
                  <a:cubicBezTo>
                    <a:pt x="424" y="1786"/>
                    <a:pt x="433" y="1654"/>
                    <a:pt x="468" y="1608"/>
                  </a:cubicBezTo>
                  <a:cubicBezTo>
                    <a:pt x="503" y="1562"/>
                    <a:pt x="551" y="1532"/>
                    <a:pt x="606" y="1548"/>
                  </a:cubicBezTo>
                  <a:cubicBezTo>
                    <a:pt x="661" y="1564"/>
                    <a:pt x="738" y="1698"/>
                    <a:pt x="798" y="1704"/>
                  </a:cubicBezTo>
                  <a:cubicBezTo>
                    <a:pt x="858" y="1710"/>
                    <a:pt x="898" y="1596"/>
                    <a:pt x="966" y="1584"/>
                  </a:cubicBezTo>
                  <a:cubicBezTo>
                    <a:pt x="1034" y="1572"/>
                    <a:pt x="1140" y="1605"/>
                    <a:pt x="1206" y="1632"/>
                  </a:cubicBezTo>
                  <a:cubicBezTo>
                    <a:pt x="1272" y="1659"/>
                    <a:pt x="1303" y="1766"/>
                    <a:pt x="1362" y="1746"/>
                  </a:cubicBezTo>
                  <a:cubicBezTo>
                    <a:pt x="1421" y="1726"/>
                    <a:pt x="1483" y="1533"/>
                    <a:pt x="1560" y="1512"/>
                  </a:cubicBezTo>
                  <a:cubicBezTo>
                    <a:pt x="1637" y="1491"/>
                    <a:pt x="1761" y="1601"/>
                    <a:pt x="1824" y="1620"/>
                  </a:cubicBezTo>
                  <a:cubicBezTo>
                    <a:pt x="1887" y="1639"/>
                    <a:pt x="1927" y="1673"/>
                    <a:pt x="1938" y="1629"/>
                  </a:cubicBezTo>
                  <a:cubicBezTo>
                    <a:pt x="1949" y="1585"/>
                    <a:pt x="1892" y="1441"/>
                    <a:pt x="1890" y="1356"/>
                  </a:cubicBezTo>
                  <a:cubicBezTo>
                    <a:pt x="1888" y="1271"/>
                    <a:pt x="1917" y="1175"/>
                    <a:pt x="1928" y="1121"/>
                  </a:cubicBezTo>
                  <a:cubicBezTo>
                    <a:pt x="1939" y="1067"/>
                    <a:pt x="1946" y="1091"/>
                    <a:pt x="1956" y="1032"/>
                  </a:cubicBezTo>
                  <a:cubicBezTo>
                    <a:pt x="1966" y="973"/>
                    <a:pt x="1986" y="860"/>
                    <a:pt x="1986" y="765"/>
                  </a:cubicBezTo>
                  <a:cubicBezTo>
                    <a:pt x="1986" y="670"/>
                    <a:pt x="1968" y="545"/>
                    <a:pt x="1954" y="462"/>
                  </a:cubicBezTo>
                  <a:cubicBezTo>
                    <a:pt x="1940" y="379"/>
                    <a:pt x="1907" y="341"/>
                    <a:pt x="1902" y="264"/>
                  </a:cubicBezTo>
                  <a:cubicBezTo>
                    <a:pt x="1897" y="187"/>
                    <a:pt x="1921" y="55"/>
                    <a:pt x="1926" y="0"/>
                  </a:cubicBez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66" name="Line 8">
              <a:extLst>
                <a:ext uri="{FF2B5EF4-FFF2-40B4-BE49-F238E27FC236}">
                  <a16:creationId xmlns:a16="http://schemas.microsoft.com/office/drawing/2014/main" id="{BE4BF51E-3182-5B44-AA09-449DE8AE4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3" y="1224"/>
              <a:ext cx="0" cy="13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67" name="Line 9">
              <a:extLst>
                <a:ext uri="{FF2B5EF4-FFF2-40B4-BE49-F238E27FC236}">
                  <a16:creationId xmlns:a16="http://schemas.microsoft.com/office/drawing/2014/main" id="{C4C7F8B0-B1AE-B549-A9E5-D8AA1E17F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2337"/>
              <a:ext cx="12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68" name="Line 10">
              <a:extLst>
                <a:ext uri="{FF2B5EF4-FFF2-40B4-BE49-F238E27FC236}">
                  <a16:creationId xmlns:a16="http://schemas.microsoft.com/office/drawing/2014/main" id="{DEA0530B-13E5-934C-8288-F91C52355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6" y="1227"/>
              <a:ext cx="188" cy="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69" name="Text Box 11">
              <a:extLst>
                <a:ext uri="{FF2B5EF4-FFF2-40B4-BE49-F238E27FC236}">
                  <a16:creationId xmlns:a16="http://schemas.microsoft.com/office/drawing/2014/main" id="{B4EB0782-3EB0-AD47-A076-7D911CF701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" y="2959"/>
              <a:ext cx="2559" cy="22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0" rIns="1350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375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>
                  <a:latin typeface="Arial" panose="020B0604020202020204" pitchFamily="34" charset="0"/>
                </a:rPr>
                <a:t>Grau de Importância dos Requisitos de Projeto</a:t>
              </a:r>
            </a:p>
          </p:txBody>
        </p:sp>
        <p:sp>
          <p:nvSpPr>
            <p:cNvPr id="96270" name="AutoShape 12">
              <a:extLst>
                <a:ext uri="{FF2B5EF4-FFF2-40B4-BE49-F238E27FC236}">
                  <a16:creationId xmlns:a16="http://schemas.microsoft.com/office/drawing/2014/main" id="{7D2303AF-DEDD-2A40-A157-805F9122B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3218"/>
              <a:ext cx="607" cy="109"/>
            </a:xfrm>
            <a:prstGeom prst="downArrow">
              <a:avLst>
                <a:gd name="adj1" fmla="val 49935"/>
                <a:gd name="adj2" fmla="val 62903"/>
              </a:avLst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96271" name="Line 13">
              <a:extLst>
                <a:ext uri="{FF2B5EF4-FFF2-40B4-BE49-F238E27FC236}">
                  <a16:creationId xmlns:a16="http://schemas.microsoft.com/office/drawing/2014/main" id="{251189E8-BF75-7E45-B754-7ADEE81FC4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920"/>
              <a:ext cx="862" cy="5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72" name="Line 14">
              <a:extLst>
                <a:ext uri="{FF2B5EF4-FFF2-40B4-BE49-F238E27FC236}">
                  <a16:creationId xmlns:a16="http://schemas.microsoft.com/office/drawing/2014/main" id="{C0496A7F-5347-2E46-A15C-6055A035F2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0" y="1279"/>
              <a:ext cx="292" cy="16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73" name="Line 15">
              <a:extLst>
                <a:ext uri="{FF2B5EF4-FFF2-40B4-BE49-F238E27FC236}">
                  <a16:creationId xmlns:a16="http://schemas.microsoft.com/office/drawing/2014/main" id="{7E4AC74F-4FF1-B94F-BE59-8CFB760FCF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76" y="689"/>
              <a:ext cx="881" cy="9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74" name="Line 16">
              <a:extLst>
                <a:ext uri="{FF2B5EF4-FFF2-40B4-BE49-F238E27FC236}">
                  <a16:creationId xmlns:a16="http://schemas.microsoft.com/office/drawing/2014/main" id="{BB870CAA-E853-FF48-B053-3683F117C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70" y="1045"/>
              <a:ext cx="366" cy="38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75" name="AutoShape 17">
              <a:extLst>
                <a:ext uri="{FF2B5EF4-FFF2-40B4-BE49-F238E27FC236}">
                  <a16:creationId xmlns:a16="http://schemas.microsoft.com/office/drawing/2014/main" id="{3798ECC0-A715-9F4F-A857-5E1FB0C4B7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784" y="569"/>
              <a:ext cx="101" cy="480"/>
            </a:xfrm>
            <a:prstGeom prst="upDownArrow">
              <a:avLst>
                <a:gd name="adj1" fmla="val 39139"/>
                <a:gd name="adj2" fmla="val 127899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96276" name="Text Box 19">
              <a:extLst>
                <a:ext uri="{FF2B5EF4-FFF2-40B4-BE49-F238E27FC236}">
                  <a16:creationId xmlns:a16="http://schemas.microsoft.com/office/drawing/2014/main" id="{3636F169-7106-F245-9762-35C622D16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" y="1447"/>
              <a:ext cx="1020" cy="29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>
                  <a:latin typeface="Arial" panose="020B0604020202020204" pitchFamily="34" charset="0"/>
                </a:rPr>
                <a:t>Largura da parede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>
                  <a:latin typeface="Arial" panose="020B0604020202020204" pitchFamily="34" charset="0"/>
                </a:rPr>
                <a:t> da lata (-)</a:t>
              </a:r>
              <a:endParaRPr lang="pt-BR" altLang="pt-BR" sz="525"/>
            </a:p>
          </p:txBody>
        </p:sp>
        <p:sp>
          <p:nvSpPr>
            <p:cNvPr id="96277" name="Text Box 20">
              <a:extLst>
                <a:ext uri="{FF2B5EF4-FFF2-40B4-BE49-F238E27FC236}">
                  <a16:creationId xmlns:a16="http://schemas.microsoft.com/office/drawing/2014/main" id="{17AE7F54-A648-9C4B-87AB-F92EDFB680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452"/>
              <a:ext cx="960" cy="29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>
                  <a:latin typeface="Arial" panose="020B0604020202020204" pitchFamily="34" charset="0"/>
                </a:rPr>
                <a:t>Capacidade de  empilhamento (+)</a:t>
              </a:r>
            </a:p>
          </p:txBody>
        </p:sp>
        <p:sp>
          <p:nvSpPr>
            <p:cNvPr id="96278" name="AutoShape 21">
              <a:extLst>
                <a:ext uri="{FF2B5EF4-FFF2-40B4-BE49-F238E27FC236}">
                  <a16:creationId xmlns:a16="http://schemas.microsoft.com/office/drawing/2014/main" id="{084670B4-C67B-6148-A8ED-9278B5349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" y="641"/>
              <a:ext cx="889" cy="218"/>
            </a:xfrm>
            <a:prstGeom prst="accentCallout1">
              <a:avLst>
                <a:gd name="adj1" fmla="val 32968"/>
                <a:gd name="adj2" fmla="val 111019"/>
                <a:gd name="adj3" fmla="val 159634"/>
                <a:gd name="adj4" fmla="val 159954"/>
              </a:avLst>
            </a:prstGeom>
            <a:solidFill>
              <a:srgbClr val="FFFF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900" b="1">
                  <a:latin typeface="Arial" panose="020B0604020202020204" pitchFamily="34" charset="0"/>
                </a:rPr>
                <a:t>Contradição entre os requisito de projeto.</a:t>
              </a:r>
            </a:p>
          </p:txBody>
        </p:sp>
        <p:sp>
          <p:nvSpPr>
            <p:cNvPr id="96279" name="Line 22">
              <a:extLst>
                <a:ext uri="{FF2B5EF4-FFF2-40B4-BE49-F238E27FC236}">
                  <a16:creationId xmlns:a16="http://schemas.microsoft.com/office/drawing/2014/main" id="{CB7F5432-2720-8649-8B40-3A21775867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6" y="641"/>
              <a:ext cx="1356" cy="79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80" name="Freeform 23">
              <a:extLst>
                <a:ext uri="{FF2B5EF4-FFF2-40B4-BE49-F238E27FC236}">
                  <a16:creationId xmlns:a16="http://schemas.microsoft.com/office/drawing/2014/main" id="{2F284D83-4F2F-6E4C-9A72-25ECF0408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620"/>
              <a:ext cx="1212" cy="840"/>
            </a:xfrm>
            <a:custGeom>
              <a:avLst/>
              <a:gdLst>
                <a:gd name="T0" fmla="*/ 0 w 1212"/>
                <a:gd name="T1" fmla="*/ 18 h 840"/>
                <a:gd name="T2" fmla="*/ 147 w 1212"/>
                <a:gd name="T3" fmla="*/ 9 h 840"/>
                <a:gd name="T4" fmla="*/ 396 w 1212"/>
                <a:gd name="T5" fmla="*/ 72 h 840"/>
                <a:gd name="T6" fmla="*/ 516 w 1212"/>
                <a:gd name="T7" fmla="*/ 312 h 840"/>
                <a:gd name="T8" fmla="*/ 696 w 1212"/>
                <a:gd name="T9" fmla="*/ 288 h 840"/>
                <a:gd name="T10" fmla="*/ 732 w 1212"/>
                <a:gd name="T11" fmla="*/ 384 h 840"/>
                <a:gd name="T12" fmla="*/ 666 w 1212"/>
                <a:gd name="T13" fmla="*/ 582 h 840"/>
                <a:gd name="T14" fmla="*/ 930 w 1212"/>
                <a:gd name="T15" fmla="*/ 654 h 840"/>
                <a:gd name="T16" fmla="*/ 1116 w 1212"/>
                <a:gd name="T17" fmla="*/ 618 h 840"/>
                <a:gd name="T18" fmla="*/ 1212 w 1212"/>
                <a:gd name="T19" fmla="*/ 840 h 8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12"/>
                <a:gd name="T31" fmla="*/ 0 h 840"/>
                <a:gd name="T32" fmla="*/ 1212 w 1212"/>
                <a:gd name="T33" fmla="*/ 840 h 84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12" h="840">
                  <a:moveTo>
                    <a:pt x="0" y="18"/>
                  </a:moveTo>
                  <a:cubicBezTo>
                    <a:pt x="24" y="16"/>
                    <a:pt x="81" y="0"/>
                    <a:pt x="147" y="9"/>
                  </a:cubicBezTo>
                  <a:cubicBezTo>
                    <a:pt x="213" y="18"/>
                    <a:pt x="335" y="22"/>
                    <a:pt x="396" y="72"/>
                  </a:cubicBezTo>
                  <a:cubicBezTo>
                    <a:pt x="457" y="122"/>
                    <a:pt x="466" y="276"/>
                    <a:pt x="516" y="312"/>
                  </a:cubicBezTo>
                  <a:cubicBezTo>
                    <a:pt x="566" y="348"/>
                    <a:pt x="660" y="276"/>
                    <a:pt x="696" y="288"/>
                  </a:cubicBezTo>
                  <a:cubicBezTo>
                    <a:pt x="732" y="300"/>
                    <a:pt x="737" y="335"/>
                    <a:pt x="732" y="384"/>
                  </a:cubicBezTo>
                  <a:cubicBezTo>
                    <a:pt x="727" y="433"/>
                    <a:pt x="633" y="537"/>
                    <a:pt x="666" y="582"/>
                  </a:cubicBezTo>
                  <a:cubicBezTo>
                    <a:pt x="699" y="627"/>
                    <a:pt x="855" y="648"/>
                    <a:pt x="930" y="654"/>
                  </a:cubicBezTo>
                  <a:cubicBezTo>
                    <a:pt x="1005" y="660"/>
                    <a:pt x="1069" y="587"/>
                    <a:pt x="1116" y="618"/>
                  </a:cubicBezTo>
                  <a:cubicBezTo>
                    <a:pt x="1163" y="649"/>
                    <a:pt x="1192" y="794"/>
                    <a:pt x="1212" y="840"/>
                  </a:cubicBez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 sz="1500"/>
            </a:p>
          </p:txBody>
        </p:sp>
        <p:sp>
          <p:nvSpPr>
            <p:cNvPr id="96281" name="Text Box 24">
              <a:extLst>
                <a:ext uri="{FF2B5EF4-FFF2-40B4-BE49-F238E27FC236}">
                  <a16:creationId xmlns:a16="http://schemas.microsoft.com/office/drawing/2014/main" id="{6C4FE04A-A825-6D4E-93EE-56619223D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" y="1743"/>
              <a:ext cx="2559" cy="121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750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1050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>
                  <a:latin typeface="Arial" panose="020B0604020202020204" pitchFamily="34" charset="0"/>
                </a:rPr>
                <a:t>Matriz de relacionamento entre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>
                  <a:latin typeface="Arial" panose="020B0604020202020204" pitchFamily="34" charset="0"/>
                </a:rPr>
                <a:t> as necessidades dos clientes e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>
                  <a:latin typeface="Arial" panose="020B0604020202020204" pitchFamily="34" charset="0"/>
                </a:rPr>
                <a:t>os requisitos de projeto</a:t>
              </a:r>
              <a:endParaRPr lang="pt-BR" altLang="pt-BR" sz="750"/>
            </a:p>
          </p:txBody>
        </p:sp>
        <p:sp>
          <p:nvSpPr>
            <p:cNvPr id="96282" name="Text Box 25">
              <a:extLst>
                <a:ext uri="{FF2B5EF4-FFF2-40B4-BE49-F238E27FC236}">
                  <a16:creationId xmlns:a16="http://schemas.microsoft.com/office/drawing/2014/main" id="{685B56C5-E1F9-454B-B5DA-52AA3DA93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452"/>
              <a:ext cx="587" cy="29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>
                  <a:latin typeface="Arial" panose="020B0604020202020204" pitchFamily="34" charset="0"/>
                </a:rPr>
                <a:t>Outros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>
                  <a:latin typeface="Arial" panose="020B0604020202020204" pitchFamily="34" charset="0"/>
                </a:rPr>
                <a:t>Requisitos</a:t>
              </a:r>
              <a:endParaRPr lang="pt-BR" altLang="pt-BR" sz="1050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1200">
                <a:latin typeface="Arial" panose="020B0604020202020204" pitchFamily="34" charset="0"/>
              </a:endParaRPr>
            </a:p>
          </p:txBody>
        </p:sp>
        <p:sp>
          <p:nvSpPr>
            <p:cNvPr id="96283" name="AutoShape 26">
              <a:extLst>
                <a:ext uri="{FF2B5EF4-FFF2-40B4-BE49-F238E27FC236}">
                  <a16:creationId xmlns:a16="http://schemas.microsoft.com/office/drawing/2014/main" id="{6AC4F3D7-E9A9-254B-8889-2585948CE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2" y="968"/>
              <a:ext cx="224" cy="223"/>
            </a:xfrm>
            <a:prstGeom prst="flowChartSummingJunction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96284" name="Text Box 27">
              <a:extLst>
                <a:ext uri="{FF2B5EF4-FFF2-40B4-BE49-F238E27FC236}">
                  <a16:creationId xmlns:a16="http://schemas.microsoft.com/office/drawing/2014/main" id="{5CE75B23-F49C-5F49-906E-5A667498CF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576"/>
              <a:ext cx="2071" cy="2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300" b="1">
                <a:solidFill>
                  <a:srgbClr val="FFFFFF"/>
                </a:solidFill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>
                  <a:solidFill>
                    <a:srgbClr val="FF0000"/>
                  </a:solidFill>
                  <a:latin typeface="Arial" panose="020B0604020202020204" pitchFamily="34" charset="0"/>
                </a:rPr>
                <a:t>MATRIZ DE CONTRADIÇÃO DA TIPS</a:t>
              </a:r>
            </a:p>
          </p:txBody>
        </p:sp>
        <p:sp>
          <p:nvSpPr>
            <p:cNvPr id="96285" name="Text Box 28">
              <a:extLst>
                <a:ext uri="{FF2B5EF4-FFF2-40B4-BE49-F238E27FC236}">
                  <a16:creationId xmlns:a16="http://schemas.microsoft.com/office/drawing/2014/main" id="{46DB90BA-993B-614B-997D-FB88205935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-275" y="2168"/>
              <a:ext cx="1216" cy="36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 i="1">
                  <a:latin typeface="Arial" panose="020B0604020202020204" pitchFamily="34" charset="0"/>
                </a:rPr>
                <a:t>Necessidades dos clientes</a:t>
              </a:r>
            </a:p>
          </p:txBody>
        </p:sp>
        <p:sp>
          <p:nvSpPr>
            <p:cNvPr id="96286" name="Text Box 29">
              <a:extLst>
                <a:ext uri="{FF2B5EF4-FFF2-40B4-BE49-F238E27FC236}">
                  <a16:creationId xmlns:a16="http://schemas.microsoft.com/office/drawing/2014/main" id="{A92F709A-40EC-C942-8D54-77781524B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2" y="805"/>
              <a:ext cx="1922" cy="159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900" b="1">
                  <a:latin typeface="Arial" panose="020B0604020202020204" pitchFamily="34" charset="0"/>
                </a:rPr>
                <a:t>Parâmetro de Engenharia Conflitante</a:t>
              </a:r>
            </a:p>
          </p:txBody>
        </p:sp>
        <p:pic>
          <p:nvPicPr>
            <p:cNvPr id="96287" name="Picture 30" descr="img00006">
              <a:extLst>
                <a:ext uri="{FF2B5EF4-FFF2-40B4-BE49-F238E27FC236}">
                  <a16:creationId xmlns:a16="http://schemas.microsoft.com/office/drawing/2014/main" id="{CB56E6F5-2B1F-F945-B82C-9AB8C0B604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13" y="3632"/>
              <a:ext cx="490" cy="4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6288" name="Picture 31" descr="img00007">
              <a:extLst>
                <a:ext uri="{FF2B5EF4-FFF2-40B4-BE49-F238E27FC236}">
                  <a16:creationId xmlns:a16="http://schemas.microsoft.com/office/drawing/2014/main" id="{12380BBE-B081-8242-BCDF-006FC5280A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67" y="3213"/>
              <a:ext cx="451" cy="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89" name="Text Box 32">
              <a:extLst>
                <a:ext uri="{FF2B5EF4-FFF2-40B4-BE49-F238E27FC236}">
                  <a16:creationId xmlns:a16="http://schemas.microsoft.com/office/drawing/2014/main" id="{EA1B2324-3279-014A-ABCF-EF44EF498C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" y="3367"/>
              <a:ext cx="2559" cy="228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0" rIns="1350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pt-BR" altLang="pt-BR" sz="375" b="1">
                <a:latin typeface="Arial" panose="020B0604020202020204" pitchFamily="34" charset="0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050" b="1">
                  <a:latin typeface="Arial" panose="020B0604020202020204" pitchFamily="34" charset="0"/>
                </a:rPr>
                <a:t>Especificações de Projeto do Produto</a:t>
              </a:r>
            </a:p>
          </p:txBody>
        </p:sp>
        <p:sp>
          <p:nvSpPr>
            <p:cNvPr id="96290" name="Text Box 33">
              <a:extLst>
                <a:ext uri="{FF2B5EF4-FFF2-40B4-BE49-F238E27FC236}">
                  <a16:creationId xmlns:a16="http://schemas.microsoft.com/office/drawing/2014/main" id="{AB4DA276-1864-CA4B-B57B-F14EF6B82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397" y="1816"/>
              <a:ext cx="1868" cy="159"/>
            </a:xfrm>
            <a:prstGeom prst="rect">
              <a:avLst/>
            </a:prstGeom>
            <a:solidFill>
              <a:srgbClr val="C0C0C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3500" tIns="8100" rIns="13500" bIns="810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900" b="1">
                  <a:latin typeface="Arial" panose="020B0604020202020204" pitchFamily="34" charset="0"/>
                </a:rPr>
                <a:t>Parâmetro de Engenharia Otimizado</a:t>
              </a:r>
            </a:p>
          </p:txBody>
        </p:sp>
        <p:sp>
          <p:nvSpPr>
            <p:cNvPr id="96291" name="Rectangle 34">
              <a:extLst>
                <a:ext uri="{FF2B5EF4-FFF2-40B4-BE49-F238E27FC236}">
                  <a16:creationId xmlns:a16="http://schemas.microsoft.com/office/drawing/2014/main" id="{3F971C3F-0447-E04C-8E4D-33B2B46AE7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3" y="808"/>
              <a:ext cx="161" cy="15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96292" name="Text Box 35">
              <a:extLst>
                <a:ext uri="{FF2B5EF4-FFF2-40B4-BE49-F238E27FC236}">
                  <a16:creationId xmlns:a16="http://schemas.microsoft.com/office/drawing/2014/main" id="{140919D1-2199-7C42-8AF2-4AF118EF5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8" y="1221"/>
              <a:ext cx="1139" cy="11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900">
                  <a:latin typeface="Arial" panose="020B0604020202020204" pitchFamily="34" charset="0"/>
                </a:rPr>
                <a:t>Princípio Inventivo 1: </a:t>
              </a:r>
              <a:r>
                <a:rPr lang="pt-BR" altLang="pt-BR" sz="900" b="1">
                  <a:latin typeface="Arial" panose="020B0604020202020204" pitchFamily="34" charset="0"/>
                </a:rPr>
                <a:t>Segmentação</a:t>
              </a:r>
              <a:endParaRPr lang="pt-BR" altLang="pt-BR" sz="900"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900">
                  <a:latin typeface="Arial" panose="020B0604020202020204" pitchFamily="34" charset="0"/>
                </a:rPr>
                <a:t>Princípio Inventivo 14:</a:t>
              </a:r>
              <a:r>
                <a:rPr lang="pt-BR" altLang="pt-BR" sz="900" b="1">
                  <a:latin typeface="Arial" panose="020B0604020202020204" pitchFamily="34" charset="0"/>
                </a:rPr>
                <a:t> Esferocidade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pt-BR" altLang="pt-BR" sz="900">
                  <a:latin typeface="Arial" panose="020B0604020202020204" pitchFamily="34" charset="0"/>
                </a:rPr>
                <a:t>Princípio Inventivo 35: </a:t>
              </a:r>
              <a:r>
                <a:rPr lang="pt-BR" altLang="pt-BR" sz="900" b="1">
                  <a:latin typeface="Arial" panose="020B0604020202020204" pitchFamily="34" charset="0"/>
                </a:rPr>
                <a:t>Transformação dos estados físicos e químicos de um objeto</a:t>
              </a:r>
            </a:p>
          </p:txBody>
        </p:sp>
        <p:sp>
          <p:nvSpPr>
            <p:cNvPr id="96293" name="Rectangle 36">
              <a:extLst>
                <a:ext uri="{FF2B5EF4-FFF2-40B4-BE49-F238E27FC236}">
                  <a16:creationId xmlns:a16="http://schemas.microsoft.com/office/drawing/2014/main" id="{068A6D6B-F3B9-E748-B230-7B38AA302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2" y="2630"/>
              <a:ext cx="60" cy="1134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96294" name="AutoShape 37">
              <a:extLst>
                <a:ext uri="{FF2B5EF4-FFF2-40B4-BE49-F238E27FC236}">
                  <a16:creationId xmlns:a16="http://schemas.microsoft.com/office/drawing/2014/main" id="{E70C4E29-BFE7-8240-9685-95176673B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" y="3746"/>
              <a:ext cx="421" cy="80"/>
            </a:xfrm>
            <a:prstGeom prst="leftArrow">
              <a:avLst>
                <a:gd name="adj1" fmla="val 50000"/>
                <a:gd name="adj2" fmla="val 131563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96295" name="AutoShape 38">
              <a:extLst>
                <a:ext uri="{FF2B5EF4-FFF2-40B4-BE49-F238E27FC236}">
                  <a16:creationId xmlns:a16="http://schemas.microsoft.com/office/drawing/2014/main" id="{63BDABF5-583C-5545-B9F2-EEBD32C7C1F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316" y="3746"/>
              <a:ext cx="421" cy="80"/>
            </a:xfrm>
            <a:prstGeom prst="leftArrow">
              <a:avLst>
                <a:gd name="adj1" fmla="val 50000"/>
                <a:gd name="adj2" fmla="val 131563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96296" name="Text Box 39">
              <a:extLst>
                <a:ext uri="{FF2B5EF4-FFF2-40B4-BE49-F238E27FC236}">
                  <a16:creationId xmlns:a16="http://schemas.microsoft.com/office/drawing/2014/main" id="{CAFDB842-5CCA-1543-9BE4-A464005682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3" y="3874"/>
              <a:ext cx="92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Geração de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Concepções</a:t>
              </a:r>
            </a:p>
          </p:txBody>
        </p:sp>
      </p:grpSp>
      <p:sp>
        <p:nvSpPr>
          <p:cNvPr id="96258" name="Text Box 41">
            <a:extLst>
              <a:ext uri="{FF2B5EF4-FFF2-40B4-BE49-F238E27FC236}">
                <a16:creationId xmlns:a16="http://schemas.microsoft.com/office/drawing/2014/main" id="{EA376756-11B9-0F4C-8E15-141265E31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025" y="914401"/>
            <a:ext cx="640080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200" b="1" i="1">
                <a:latin typeface="Arial" panose="020B0604020202020204" pitchFamily="34" charset="0"/>
              </a:rPr>
              <a:t>EM PREGO DA TIPS COMO FERRAMENTA DE </a:t>
            </a:r>
            <a:r>
              <a:rPr lang="pt-BR" altLang="pt-BR" sz="1200" b="1" i="1">
                <a:solidFill>
                  <a:srgbClr val="FF0000"/>
                </a:solidFill>
                <a:latin typeface="Arial" panose="020B0604020202020204" pitchFamily="34" charset="0"/>
              </a:rPr>
              <a:t>OTIMIZAÇÃO CONCEITUAL</a:t>
            </a:r>
            <a:endParaRPr lang="pt-BR" altLang="pt-BR" sz="1200" b="1" i="1">
              <a:latin typeface="Arial" panose="020B0604020202020204" pitchFamily="34" charset="0"/>
            </a:endParaRPr>
          </a:p>
        </p:txBody>
      </p:sp>
      <p:sp>
        <p:nvSpPr>
          <p:cNvPr id="96259" name="Line 42">
            <a:extLst>
              <a:ext uri="{FF2B5EF4-FFF2-40B4-BE49-F238E27FC236}">
                <a16:creationId xmlns:a16="http://schemas.microsoft.com/office/drawing/2014/main" id="{C059000B-9521-5648-B3DB-E26051BEAF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5875" y="1200150"/>
            <a:ext cx="6572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 sz="1500"/>
          </a:p>
        </p:txBody>
      </p:sp>
    </p:spTree>
    <p:extLst>
      <p:ext uri="{BB962C8B-B14F-4D97-AF65-F5344CB8AC3E}">
        <p14:creationId xmlns:p14="http://schemas.microsoft.com/office/powerpoint/2010/main" val="35579665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Text Box 4">
            <a:extLst>
              <a:ext uri="{FF2B5EF4-FFF2-40B4-BE49-F238E27FC236}">
                <a16:creationId xmlns:a16="http://schemas.microsoft.com/office/drawing/2014/main" id="{E8F53AD0-347B-014D-8BA5-649C509B5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2550" y="914400"/>
            <a:ext cx="6448425" cy="515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120000"/>
              </a:lnSpc>
              <a:spcBef>
                <a:spcPct val="0"/>
              </a:spcBef>
              <a:buClr>
                <a:schemeClr val="tx1"/>
              </a:buClr>
            </a:pPr>
            <a:r>
              <a:rPr lang="pt-BR" altLang="pt-BR" sz="1200" b="1">
                <a:latin typeface="Arial" panose="020B0604020202020204" pitchFamily="34" charset="0"/>
              </a:rPr>
              <a:t> Empregar a matriz morfológica, com os Princípios Inventivos da TIPS, para gerar os princípios funcionais que, combinados, originam as alternativas de concepção .</a:t>
            </a:r>
          </a:p>
        </p:txBody>
      </p:sp>
      <p:graphicFrame>
        <p:nvGraphicFramePr>
          <p:cNvPr id="106498" name="Object 0">
            <a:extLst>
              <a:ext uri="{FF2B5EF4-FFF2-40B4-BE49-F238E27FC236}">
                <a16:creationId xmlns:a16="http://schemas.microsoft.com/office/drawing/2014/main" id="{46CC48F5-9440-0345-A9AE-F097017E1B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4494" y="1482328"/>
          <a:ext cx="4005263" cy="4518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3" imgW="18300700" imgH="20967700" progId="Word.Document.8">
                  <p:embed/>
                </p:oleObj>
              </mc:Choice>
              <mc:Fallback>
                <p:oleObj name="Documento" r:id="rId3" imgW="18300700" imgH="20967700" progId="Word.Document.8">
                  <p:embed/>
                  <p:pic>
                    <p:nvPicPr>
                      <p:cNvPr id="106498" name="Object 0">
                        <a:extLst>
                          <a:ext uri="{FF2B5EF4-FFF2-40B4-BE49-F238E27FC236}">
                            <a16:creationId xmlns:a16="http://schemas.microsoft.com/office/drawing/2014/main" id="{46CC48F5-9440-0345-A9AE-F097017E1B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494" y="1482328"/>
                        <a:ext cx="4005263" cy="4518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499" name="Group 21">
            <a:extLst>
              <a:ext uri="{FF2B5EF4-FFF2-40B4-BE49-F238E27FC236}">
                <a16:creationId xmlns:a16="http://schemas.microsoft.com/office/drawing/2014/main" id="{31F084E2-E6C6-0C49-8725-4A9DE8D4C29A}"/>
              </a:ext>
            </a:extLst>
          </p:cNvPr>
          <p:cNvGrpSpPr>
            <a:grpSpLocks/>
          </p:cNvGrpSpPr>
          <p:nvPr/>
        </p:nvGrpSpPr>
        <p:grpSpPr bwMode="auto">
          <a:xfrm>
            <a:off x="3686175" y="1695450"/>
            <a:ext cx="4010025" cy="2900363"/>
            <a:chOff x="2016" y="704"/>
            <a:chExt cx="3368" cy="2436"/>
          </a:xfrm>
        </p:grpSpPr>
        <p:sp>
          <p:nvSpPr>
            <p:cNvPr id="106512" name="Line 8">
              <a:extLst>
                <a:ext uri="{FF2B5EF4-FFF2-40B4-BE49-F238E27FC236}">
                  <a16:creationId xmlns:a16="http://schemas.microsoft.com/office/drawing/2014/main" id="{BA990124-5282-4B40-9D2B-FF81290E19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1028"/>
              <a:ext cx="568" cy="124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13" name="Line 9">
              <a:extLst>
                <a:ext uri="{FF2B5EF4-FFF2-40B4-BE49-F238E27FC236}">
                  <a16:creationId xmlns:a16="http://schemas.microsoft.com/office/drawing/2014/main" id="{0E2DDB29-BFCC-1C40-AE50-ECB31F7D6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1027"/>
              <a:ext cx="2024" cy="3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14" name="Line 10">
              <a:extLst>
                <a:ext uri="{FF2B5EF4-FFF2-40B4-BE49-F238E27FC236}">
                  <a16:creationId xmlns:a16="http://schemas.microsoft.com/office/drawing/2014/main" id="{27D71E0D-5724-8742-A0B5-5DE3F7D5F8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011"/>
              <a:ext cx="1232" cy="13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15" name="Line 11">
              <a:extLst>
                <a:ext uri="{FF2B5EF4-FFF2-40B4-BE49-F238E27FC236}">
                  <a16:creationId xmlns:a16="http://schemas.microsoft.com/office/drawing/2014/main" id="{B39B4C82-CBFE-9647-8702-F416981A4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80" y="814"/>
              <a:ext cx="1792" cy="18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16" name="Oval 12">
              <a:extLst>
                <a:ext uri="{FF2B5EF4-FFF2-40B4-BE49-F238E27FC236}">
                  <a16:creationId xmlns:a16="http://schemas.microsoft.com/office/drawing/2014/main" id="{D5C3050E-F745-2C41-82C3-DF603F611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968"/>
              <a:ext cx="88" cy="11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106517" name="Line 15">
              <a:extLst>
                <a:ext uri="{FF2B5EF4-FFF2-40B4-BE49-F238E27FC236}">
                  <a16:creationId xmlns:a16="http://schemas.microsoft.com/office/drawing/2014/main" id="{B193C420-8584-EA40-80F9-36E8ACF3A1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6" y="1043"/>
              <a:ext cx="1488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18" name="Line 16">
              <a:extLst>
                <a:ext uri="{FF2B5EF4-FFF2-40B4-BE49-F238E27FC236}">
                  <a16:creationId xmlns:a16="http://schemas.microsoft.com/office/drawing/2014/main" id="{427B1D32-58F4-FB45-AFB4-88C48F1BE8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1044"/>
              <a:ext cx="1056" cy="173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19" name="Line 17">
              <a:extLst>
                <a:ext uri="{FF2B5EF4-FFF2-40B4-BE49-F238E27FC236}">
                  <a16:creationId xmlns:a16="http://schemas.microsoft.com/office/drawing/2014/main" id="{75466B4D-9E3E-5249-973E-CD8597A316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0" y="1044"/>
              <a:ext cx="1480" cy="202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20" name="Line 18">
              <a:extLst>
                <a:ext uri="{FF2B5EF4-FFF2-40B4-BE49-F238E27FC236}">
                  <a16:creationId xmlns:a16="http://schemas.microsoft.com/office/drawing/2014/main" id="{1ADF52C4-7865-F542-9E38-2BF9E581AF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2" y="1084"/>
              <a:ext cx="592" cy="17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21" name="Line 19">
              <a:extLst>
                <a:ext uri="{FF2B5EF4-FFF2-40B4-BE49-F238E27FC236}">
                  <a16:creationId xmlns:a16="http://schemas.microsoft.com/office/drawing/2014/main" id="{B2C24424-DD24-A544-9865-2317A7117D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2" y="1076"/>
              <a:ext cx="528" cy="20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22" name="Line 20">
              <a:extLst>
                <a:ext uri="{FF2B5EF4-FFF2-40B4-BE49-F238E27FC236}">
                  <a16:creationId xmlns:a16="http://schemas.microsoft.com/office/drawing/2014/main" id="{3FBA4672-85AC-604B-AA07-08AF36D9A3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32" y="1044"/>
              <a:ext cx="1184" cy="209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 sz="1500"/>
            </a:p>
          </p:txBody>
        </p:sp>
        <p:sp>
          <p:nvSpPr>
            <p:cNvPr id="106523" name="Oval 13">
              <a:extLst>
                <a:ext uri="{FF2B5EF4-FFF2-40B4-BE49-F238E27FC236}">
                  <a16:creationId xmlns:a16="http://schemas.microsoft.com/office/drawing/2014/main" id="{B916801D-89C4-3949-9E53-13E5BBC14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704"/>
              <a:ext cx="1568" cy="576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pt-BR" sz="1800"/>
            </a:p>
          </p:txBody>
        </p:sp>
        <p:sp>
          <p:nvSpPr>
            <p:cNvPr id="106524" name="Text Box 14">
              <a:extLst>
                <a:ext uri="{FF2B5EF4-FFF2-40B4-BE49-F238E27FC236}">
                  <a16:creationId xmlns:a16="http://schemas.microsoft.com/office/drawing/2014/main" id="{35B91800-5E28-4F41-B6DE-7937CDE30A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" y="790"/>
              <a:ext cx="1457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Aplicação dos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200" b="1">
                  <a:latin typeface="Arial" panose="020B0604020202020204" pitchFamily="34" charset="0"/>
                </a:rPr>
                <a:t>Princípios Inventivos</a:t>
              </a:r>
              <a:endParaRPr lang="pt-BR" altLang="pt-BR" sz="1200" b="1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aphicFrame>
        <p:nvGraphicFramePr>
          <p:cNvPr id="106500" name="Object 1">
            <a:extLst>
              <a:ext uri="{FF2B5EF4-FFF2-40B4-BE49-F238E27FC236}">
                <a16:creationId xmlns:a16="http://schemas.microsoft.com/office/drawing/2014/main" id="{939913C7-F3D4-6143-8265-5CF7CCEE0C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9611" y="3532586"/>
          <a:ext cx="407194" cy="305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5" imgW="1625600" imgH="1219200" progId="Word.Document.8">
                  <p:embed/>
                </p:oleObj>
              </mc:Choice>
              <mc:Fallback>
                <p:oleObj name="Documento" r:id="rId5" imgW="1625600" imgH="1219200" progId="Word.Document.8">
                  <p:embed/>
                  <p:pic>
                    <p:nvPicPr>
                      <p:cNvPr id="106500" name="Object 1">
                        <a:extLst>
                          <a:ext uri="{FF2B5EF4-FFF2-40B4-BE49-F238E27FC236}">
                            <a16:creationId xmlns:a16="http://schemas.microsoft.com/office/drawing/2014/main" id="{939913C7-F3D4-6143-8265-5CF7CCEE0C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9611" y="3532586"/>
                        <a:ext cx="407194" cy="3059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1" name="Object 2">
            <a:extLst>
              <a:ext uri="{FF2B5EF4-FFF2-40B4-BE49-F238E27FC236}">
                <a16:creationId xmlns:a16="http://schemas.microsoft.com/office/drawing/2014/main" id="{20B1BC48-CE92-C445-BF74-84092BFFD2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5976" y="3538539"/>
          <a:ext cx="407194" cy="332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7" imgW="1549400" imgH="1257300" progId="Word.Document.8">
                  <p:embed/>
                </p:oleObj>
              </mc:Choice>
              <mc:Fallback>
                <p:oleObj name="Documento" r:id="rId7" imgW="1549400" imgH="1257300" progId="Word.Document.8">
                  <p:embed/>
                  <p:pic>
                    <p:nvPicPr>
                      <p:cNvPr id="106501" name="Object 2">
                        <a:extLst>
                          <a:ext uri="{FF2B5EF4-FFF2-40B4-BE49-F238E27FC236}">
                            <a16:creationId xmlns:a16="http://schemas.microsoft.com/office/drawing/2014/main" id="{20B1BC48-CE92-C445-BF74-84092BFFD2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976" y="3538539"/>
                        <a:ext cx="407194" cy="3321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2" name="Object 3">
            <a:extLst>
              <a:ext uri="{FF2B5EF4-FFF2-40B4-BE49-F238E27FC236}">
                <a16:creationId xmlns:a16="http://schemas.microsoft.com/office/drawing/2014/main" id="{FA23B121-2DF6-5046-B3A6-CFDC5440C2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43113" y="4029076"/>
          <a:ext cx="457200" cy="326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9" imgW="1828800" imgH="1308100" progId="Word.Document.8">
                  <p:embed/>
                </p:oleObj>
              </mc:Choice>
              <mc:Fallback>
                <p:oleObj name="Documento" r:id="rId9" imgW="1828800" imgH="1308100" progId="Word.Document.8">
                  <p:embed/>
                  <p:pic>
                    <p:nvPicPr>
                      <p:cNvPr id="106502" name="Object 3">
                        <a:extLst>
                          <a:ext uri="{FF2B5EF4-FFF2-40B4-BE49-F238E27FC236}">
                            <a16:creationId xmlns:a16="http://schemas.microsoft.com/office/drawing/2014/main" id="{FA23B121-2DF6-5046-B3A6-CFDC5440C2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4029076"/>
                        <a:ext cx="457200" cy="326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3" name="Object 4">
            <a:extLst>
              <a:ext uri="{FF2B5EF4-FFF2-40B4-BE49-F238E27FC236}">
                <a16:creationId xmlns:a16="http://schemas.microsoft.com/office/drawing/2014/main" id="{6B2E5E07-2457-A347-967B-2ECA10C633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18110" y="4561285"/>
          <a:ext cx="476250" cy="284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1" imgW="2146300" imgH="1282700" progId="Word.Document.8">
                  <p:embed/>
                </p:oleObj>
              </mc:Choice>
              <mc:Fallback>
                <p:oleObj name="Documento" r:id="rId11" imgW="2146300" imgH="1282700" progId="Word.Document.8">
                  <p:embed/>
                  <p:pic>
                    <p:nvPicPr>
                      <p:cNvPr id="106503" name="Object 4">
                        <a:extLst>
                          <a:ext uri="{FF2B5EF4-FFF2-40B4-BE49-F238E27FC236}">
                            <a16:creationId xmlns:a16="http://schemas.microsoft.com/office/drawing/2014/main" id="{6B2E5E07-2457-A347-967B-2ECA10C633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8110" y="4561285"/>
                        <a:ext cx="476250" cy="2845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4" name="Object 5">
            <a:extLst>
              <a:ext uri="{FF2B5EF4-FFF2-40B4-BE49-F238E27FC236}">
                <a16:creationId xmlns:a16="http://schemas.microsoft.com/office/drawing/2014/main" id="{D344EF64-B554-BF44-9EFB-2F5E82962C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82466" y="4558905"/>
          <a:ext cx="433388" cy="253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3" imgW="2032000" imgH="1193800" progId="Word.Document.8">
                  <p:embed/>
                </p:oleObj>
              </mc:Choice>
              <mc:Fallback>
                <p:oleObj name="Documento" r:id="rId13" imgW="2032000" imgH="1193800" progId="Word.Document.8">
                  <p:embed/>
                  <p:pic>
                    <p:nvPicPr>
                      <p:cNvPr id="106504" name="Object 5">
                        <a:extLst>
                          <a:ext uri="{FF2B5EF4-FFF2-40B4-BE49-F238E27FC236}">
                            <a16:creationId xmlns:a16="http://schemas.microsoft.com/office/drawing/2014/main" id="{D344EF64-B554-BF44-9EFB-2F5E82962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466" y="4558905"/>
                        <a:ext cx="433388" cy="2536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5" name="Object 6">
            <a:extLst>
              <a:ext uri="{FF2B5EF4-FFF2-40B4-BE49-F238E27FC236}">
                <a16:creationId xmlns:a16="http://schemas.microsoft.com/office/drawing/2014/main" id="{2713469F-03D4-4945-8245-89CF6EF0D1E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5391" y="4545806"/>
          <a:ext cx="508397" cy="301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5" imgW="2374900" imgH="1409700" progId="Word.Document.8">
                  <p:embed/>
                </p:oleObj>
              </mc:Choice>
              <mc:Fallback>
                <p:oleObj name="Documento" r:id="rId15" imgW="2374900" imgH="1409700" progId="Word.Document.8">
                  <p:embed/>
                  <p:pic>
                    <p:nvPicPr>
                      <p:cNvPr id="106505" name="Object 6">
                        <a:extLst>
                          <a:ext uri="{FF2B5EF4-FFF2-40B4-BE49-F238E27FC236}">
                            <a16:creationId xmlns:a16="http://schemas.microsoft.com/office/drawing/2014/main" id="{2713469F-03D4-4945-8245-89CF6EF0D1E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391" y="4545806"/>
                        <a:ext cx="508397" cy="301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6" name="Object 7">
            <a:extLst>
              <a:ext uri="{FF2B5EF4-FFF2-40B4-BE49-F238E27FC236}">
                <a16:creationId xmlns:a16="http://schemas.microsoft.com/office/drawing/2014/main" id="{4724B546-17B5-C746-82FA-6A72204FFB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5056585"/>
          <a:ext cx="428625" cy="257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7" imgW="2006600" imgH="1193800" progId="Word.Document.8">
                  <p:embed/>
                </p:oleObj>
              </mc:Choice>
              <mc:Fallback>
                <p:oleObj name="Documento" r:id="rId17" imgW="2006600" imgH="1193800" progId="Word.Document.8">
                  <p:embed/>
                  <p:pic>
                    <p:nvPicPr>
                      <p:cNvPr id="106506" name="Object 7">
                        <a:extLst>
                          <a:ext uri="{FF2B5EF4-FFF2-40B4-BE49-F238E27FC236}">
                            <a16:creationId xmlns:a16="http://schemas.microsoft.com/office/drawing/2014/main" id="{4724B546-17B5-C746-82FA-6A72204FFB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5056585"/>
                        <a:ext cx="428625" cy="257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7" name="Object 8">
            <a:extLst>
              <a:ext uri="{FF2B5EF4-FFF2-40B4-BE49-F238E27FC236}">
                <a16:creationId xmlns:a16="http://schemas.microsoft.com/office/drawing/2014/main" id="{15F7722B-BEFA-3E43-8083-915E246218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3898" y="5063730"/>
          <a:ext cx="426244" cy="250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19" imgW="2146300" imgH="1257300" progId="Word.Document.8">
                  <p:embed/>
                </p:oleObj>
              </mc:Choice>
              <mc:Fallback>
                <p:oleObj name="Documento" r:id="rId19" imgW="2146300" imgH="1257300" progId="Word.Document.8">
                  <p:embed/>
                  <p:pic>
                    <p:nvPicPr>
                      <p:cNvPr id="106507" name="Object 8">
                        <a:extLst>
                          <a:ext uri="{FF2B5EF4-FFF2-40B4-BE49-F238E27FC236}">
                            <a16:creationId xmlns:a16="http://schemas.microsoft.com/office/drawing/2014/main" id="{15F7722B-BEFA-3E43-8083-915E246218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3898" y="5063730"/>
                        <a:ext cx="426244" cy="250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8" name="Object 9">
            <a:extLst>
              <a:ext uri="{FF2B5EF4-FFF2-40B4-BE49-F238E27FC236}">
                <a16:creationId xmlns:a16="http://schemas.microsoft.com/office/drawing/2014/main" id="{A0B591A4-004F-DF4D-987A-F5B90CFE6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53966" y="5019676"/>
          <a:ext cx="457200" cy="259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1" imgW="2209800" imgH="1041400" progId="Word.Document.8">
                  <p:embed/>
                </p:oleObj>
              </mc:Choice>
              <mc:Fallback>
                <p:oleObj name="Documento" r:id="rId21" imgW="2209800" imgH="1041400" progId="Word.Document.8">
                  <p:embed/>
                  <p:pic>
                    <p:nvPicPr>
                      <p:cNvPr id="106508" name="Object 9">
                        <a:extLst>
                          <a:ext uri="{FF2B5EF4-FFF2-40B4-BE49-F238E27FC236}">
                            <a16:creationId xmlns:a16="http://schemas.microsoft.com/office/drawing/2014/main" id="{A0B591A4-004F-DF4D-987A-F5B90CFE6E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3966" y="5019676"/>
                        <a:ext cx="457200" cy="2595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9" name="Object 10">
            <a:extLst>
              <a:ext uri="{FF2B5EF4-FFF2-40B4-BE49-F238E27FC236}">
                <a16:creationId xmlns:a16="http://schemas.microsoft.com/office/drawing/2014/main" id="{57FC8738-1B04-564D-9C85-0C6F8C333EA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9754" y="4973241"/>
          <a:ext cx="4857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3" imgW="2603500" imgH="1524000" progId="Word.Document.8">
                  <p:embed/>
                </p:oleObj>
              </mc:Choice>
              <mc:Fallback>
                <p:oleObj name="Documento" r:id="rId23" imgW="2603500" imgH="1524000" progId="Word.Document.8">
                  <p:embed/>
                  <p:pic>
                    <p:nvPicPr>
                      <p:cNvPr id="106509" name="Object 10">
                        <a:extLst>
                          <a:ext uri="{FF2B5EF4-FFF2-40B4-BE49-F238E27FC236}">
                            <a16:creationId xmlns:a16="http://schemas.microsoft.com/office/drawing/2014/main" id="{57FC8738-1B04-564D-9C85-0C6F8C333E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9754" y="4973241"/>
                        <a:ext cx="4857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0" name="Object 11">
            <a:extLst>
              <a:ext uri="{FF2B5EF4-FFF2-40B4-BE49-F238E27FC236}">
                <a16:creationId xmlns:a16="http://schemas.microsoft.com/office/drawing/2014/main" id="{32A9FA05-D1CC-D94C-B7F8-2AB2ECE615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0978" y="5506641"/>
          <a:ext cx="328613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5" imgW="1803400" imgH="1193800" progId="Word.Document.8">
                  <p:embed/>
                </p:oleObj>
              </mc:Choice>
              <mc:Fallback>
                <p:oleObj name="Documento" r:id="rId25" imgW="1803400" imgH="1193800" progId="Word.Document.8">
                  <p:embed/>
                  <p:pic>
                    <p:nvPicPr>
                      <p:cNvPr id="106510" name="Object 11">
                        <a:extLst>
                          <a:ext uri="{FF2B5EF4-FFF2-40B4-BE49-F238E27FC236}">
                            <a16:creationId xmlns:a16="http://schemas.microsoft.com/office/drawing/2014/main" id="{32A9FA05-D1CC-D94C-B7F8-2AB2ECE615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0978" y="5506641"/>
                        <a:ext cx="328613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11" name="Object 12">
            <a:extLst>
              <a:ext uri="{FF2B5EF4-FFF2-40B4-BE49-F238E27FC236}">
                <a16:creationId xmlns:a16="http://schemas.microsoft.com/office/drawing/2014/main" id="{5F82F2AE-796C-0F4E-864F-FC75DBE2C4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0325" y="5507832"/>
          <a:ext cx="428625" cy="284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7" imgW="1714500" imgH="1143000" progId="Word.Document.8">
                  <p:embed/>
                </p:oleObj>
              </mc:Choice>
              <mc:Fallback>
                <p:oleObj name="Documento" r:id="rId27" imgW="1714500" imgH="1143000" progId="Word.Document.8">
                  <p:embed/>
                  <p:pic>
                    <p:nvPicPr>
                      <p:cNvPr id="106511" name="Object 12">
                        <a:extLst>
                          <a:ext uri="{FF2B5EF4-FFF2-40B4-BE49-F238E27FC236}">
                            <a16:creationId xmlns:a16="http://schemas.microsoft.com/office/drawing/2014/main" id="{5F82F2AE-796C-0F4E-864F-FC75DBE2C4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0325" y="5507832"/>
                        <a:ext cx="428625" cy="284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7763048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EB05C1-0B57-4B65-9143-25A54A2814C4}"/>
</file>

<file path=customXml/itemProps2.xml><?xml version="1.0" encoding="utf-8"?>
<ds:datastoreItem xmlns:ds="http://schemas.openxmlformats.org/officeDocument/2006/customXml" ds:itemID="{A866C485-A490-4BD4-9A65-D8B1651A1AFA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0616edac-8b85-431d-b1bb-a5cc9cdccc91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6529BB8C-2DA4-4D51-848E-44BDBD6B38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3564</Words>
  <Application>Microsoft Macintosh PowerPoint</Application>
  <PresentationFormat>Apresentação na tela (4:3)</PresentationFormat>
  <Paragraphs>473</Paragraphs>
  <Slides>47</Slides>
  <Notes>35</Notes>
  <HiddenSlides>0</HiddenSlides>
  <MMClips>0</MMClips>
  <ScaleCrop>false</ScaleCrop>
  <HeadingPairs>
    <vt:vector size="8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47</vt:i4>
      </vt:variant>
    </vt:vector>
  </HeadingPairs>
  <TitlesOfParts>
    <vt:vector size="53" baseType="lpstr">
      <vt:lpstr>ＭＳ Ｐゴシック</vt:lpstr>
      <vt:lpstr>Arial</vt:lpstr>
      <vt:lpstr>Design padrão</vt:lpstr>
      <vt:lpstr>Documento</vt:lpstr>
      <vt:lpstr>Gráfico</vt:lpstr>
      <vt:lpstr>Figura</vt:lpstr>
      <vt:lpstr>Universidade de Brasília Departamento de Engenharia de Produção Disciplina: Engenharia de Produto    </vt:lpstr>
      <vt:lpstr>PROJETO CONCEITUAL</vt:lpstr>
      <vt:lpstr>PROJETO CONCEITUAL</vt:lpstr>
      <vt:lpstr>Apresentação do PowerPoint</vt:lpstr>
      <vt:lpstr>Apresentação do PowerPoint</vt:lpstr>
      <vt:lpstr>Apresentação do PowerPoint</vt:lpstr>
      <vt:lpstr>MODELAGEM FUNCIONAL /FAST</vt:lpstr>
      <vt:lpstr>Métodos p/ CombINAÇÃO  PRINCIPIOS de Soluções</vt:lpstr>
      <vt:lpstr>Apresentação do PowerPoint</vt:lpstr>
      <vt:lpstr>Análise de Sistemas Naturais</vt:lpstr>
      <vt:lpstr>Bionic Car – Mercedes-Benz</vt:lpstr>
      <vt:lpstr>ENGENHARIA REVERSA</vt:lpstr>
      <vt:lpstr>Apresentação do PowerPoint</vt:lpstr>
      <vt:lpstr>TRIZ – ANÁLISE INVENTIVA DE PROBLEMAS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Universidade de Brasília Departamento de Engenharia de Produção Disciplina: Engenharia de Produto    </dc:title>
  <dc:creator>Andrea Cristina dos Santos</dc:creator>
  <cp:lastModifiedBy>Andrea Cristina dos Santos</cp:lastModifiedBy>
  <cp:revision>4</cp:revision>
  <dcterms:created xsi:type="dcterms:W3CDTF">2016-05-02T17:02:20Z</dcterms:created>
  <dcterms:modified xsi:type="dcterms:W3CDTF">2025-06-02T21:05:58Z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0x010100FFB952CF52B7DE4ABAC1D5EF85AB9ACF</vt:lpwstr>
  </property>
</Properties>
</file>