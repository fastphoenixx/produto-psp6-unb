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473" r:id="rId5"/>
    <p:sldId id="532" r:id="rId6"/>
    <p:sldId id="523" r:id="rId7"/>
    <p:sldId id="475" r:id="rId8"/>
    <p:sldId id="477" r:id="rId9"/>
    <p:sldId id="525" r:id="rId10"/>
    <p:sldId id="526" r:id="rId11"/>
    <p:sldId id="527" r:id="rId12"/>
    <p:sldId id="482" r:id="rId13"/>
    <p:sldId id="483" r:id="rId14"/>
    <p:sldId id="484" r:id="rId15"/>
    <p:sldId id="485" r:id="rId16"/>
    <p:sldId id="486" r:id="rId17"/>
    <p:sldId id="487" r:id="rId18"/>
    <p:sldId id="488" r:id="rId19"/>
    <p:sldId id="489" r:id="rId20"/>
    <p:sldId id="490" r:id="rId21"/>
    <p:sldId id="492" r:id="rId22"/>
    <p:sldId id="503" r:id="rId23"/>
    <p:sldId id="504" r:id="rId24"/>
    <p:sldId id="505" r:id="rId25"/>
    <p:sldId id="528" r:id="rId26"/>
    <p:sldId id="529" r:id="rId27"/>
    <p:sldId id="530" r:id="rId28"/>
    <p:sldId id="531" r:id="rId29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AEC829-7EF4-40E8-8B73-157E867A79ED}" v="3" dt="2025-01-20T19:01:22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19" autoAdjust="0"/>
    <p:restoredTop sz="94767" autoAdjust="0"/>
  </p:normalViewPr>
  <p:slideViewPr>
    <p:cSldViewPr snapToGrid="0">
      <p:cViewPr varScale="1">
        <p:scale>
          <a:sx n="83" d="100"/>
          <a:sy n="83" d="100"/>
        </p:scale>
        <p:origin x="132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9996"/>
    </p:cViewPr>
  </p:sorter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ristina Dos Santos" userId="c1f965dc-8845-4afc-9e32-8f70830fffd6" providerId="ADAL" clId="{6A11F738-D59D-454D-9424-C4AB94EC6EDE}"/>
    <pc:docChg chg="undo custSel addSld modSld">
      <pc:chgData name="Andrea Cristina Dos Santos" userId="c1f965dc-8845-4afc-9e32-8f70830fffd6" providerId="ADAL" clId="{6A11F738-D59D-454D-9424-C4AB94EC6EDE}" dt="2023-11-13T19:56:53.959" v="1183" actId="14100"/>
      <pc:docMkLst>
        <pc:docMk/>
      </pc:docMkLst>
      <pc:sldChg chg="addSp modSp">
        <pc:chgData name="Andrea Cristina Dos Santos" userId="c1f965dc-8845-4afc-9e32-8f70830fffd6" providerId="ADAL" clId="{6A11F738-D59D-454D-9424-C4AB94EC6EDE}" dt="2023-11-13T19:30:56.995" v="355" actId="1076"/>
        <pc:sldMkLst>
          <pc:docMk/>
          <pc:sldMk cId="1214565023" sldId="504"/>
        </pc:sldMkLst>
        <pc:spChg chg="mod">
          <ac:chgData name="Andrea Cristina Dos Santos" userId="c1f965dc-8845-4afc-9e32-8f70830fffd6" providerId="ADAL" clId="{6A11F738-D59D-454D-9424-C4AB94EC6EDE}" dt="2023-11-13T19:30:56.995" v="355" actId="1076"/>
          <ac:spMkLst>
            <pc:docMk/>
            <pc:sldMk cId="1214565023" sldId="504"/>
            <ac:spMk id="60419" creationId="{866C1ABF-ED18-1B4E-A626-67BB98596133}"/>
          </ac:spMkLst>
        </pc:spChg>
        <pc:picChg chg="add mod">
          <ac:chgData name="Andrea Cristina Dos Santos" userId="c1f965dc-8845-4afc-9e32-8f70830fffd6" providerId="ADAL" clId="{6A11F738-D59D-454D-9424-C4AB94EC6EDE}" dt="2023-11-13T19:30:50.576" v="353" actId="1076"/>
          <ac:picMkLst>
            <pc:docMk/>
            <pc:sldMk cId="1214565023" sldId="504"/>
            <ac:picMk id="5122" creationId="{961702D1-A8E5-BEDB-6EED-774992DF6C44}"/>
          </ac:picMkLst>
        </pc:picChg>
        <pc:picChg chg="mod">
          <ac:chgData name="Andrea Cristina Dos Santos" userId="c1f965dc-8845-4afc-9e32-8f70830fffd6" providerId="ADAL" clId="{6A11F738-D59D-454D-9424-C4AB94EC6EDE}" dt="2023-11-13T19:30:54.390" v="354" actId="1076"/>
          <ac:picMkLst>
            <pc:docMk/>
            <pc:sldMk cId="1214565023" sldId="504"/>
            <ac:picMk id="60418" creationId="{BB7F3670-0A83-A440-8EA3-E7EB5EAF461E}"/>
          </ac:picMkLst>
        </pc:picChg>
      </pc:sldChg>
      <pc:sldChg chg="modSp">
        <pc:chgData name="Andrea Cristina Dos Santos" userId="c1f965dc-8845-4afc-9e32-8f70830fffd6" providerId="ADAL" clId="{6A11F738-D59D-454D-9424-C4AB94EC6EDE}" dt="2023-11-13T19:31:15.816" v="361" actId="1076"/>
        <pc:sldMkLst>
          <pc:docMk/>
          <pc:sldMk cId="1260553345" sldId="505"/>
        </pc:sldMkLst>
        <pc:spChg chg="mod">
          <ac:chgData name="Andrea Cristina Dos Santos" userId="c1f965dc-8845-4afc-9e32-8f70830fffd6" providerId="ADAL" clId="{6A11F738-D59D-454D-9424-C4AB94EC6EDE}" dt="2023-11-13T19:31:09.197" v="356" actId="1076"/>
          <ac:spMkLst>
            <pc:docMk/>
            <pc:sldMk cId="1260553345" sldId="505"/>
            <ac:spMk id="61443" creationId="{B7C9C579-BF5B-964A-A33A-8F86A8F19502}"/>
          </ac:spMkLst>
        </pc:spChg>
        <pc:picChg chg="mod">
          <ac:chgData name="Andrea Cristina Dos Santos" userId="c1f965dc-8845-4afc-9e32-8f70830fffd6" providerId="ADAL" clId="{6A11F738-D59D-454D-9424-C4AB94EC6EDE}" dt="2023-11-13T19:31:10.489" v="357" actId="1076"/>
          <ac:picMkLst>
            <pc:docMk/>
            <pc:sldMk cId="1260553345" sldId="505"/>
            <ac:picMk id="61444" creationId="{6B4F76D6-352C-4446-A537-11E1A8CD54C4}"/>
          </ac:picMkLst>
        </pc:picChg>
        <pc:picChg chg="mod">
          <ac:chgData name="Andrea Cristina Dos Santos" userId="c1f965dc-8845-4afc-9e32-8f70830fffd6" providerId="ADAL" clId="{6A11F738-D59D-454D-9424-C4AB94EC6EDE}" dt="2023-11-13T19:31:14.734" v="360" actId="1076"/>
          <ac:picMkLst>
            <pc:docMk/>
            <pc:sldMk cId="1260553345" sldId="505"/>
            <ac:picMk id="61445" creationId="{485489DB-A0CA-3144-98AD-C7D9BF771B4F}"/>
          </ac:picMkLst>
        </pc:picChg>
        <pc:picChg chg="mod">
          <ac:chgData name="Andrea Cristina Dos Santos" userId="c1f965dc-8845-4afc-9e32-8f70830fffd6" providerId="ADAL" clId="{6A11F738-D59D-454D-9424-C4AB94EC6EDE}" dt="2023-11-13T19:31:15.816" v="361" actId="1076"/>
          <ac:picMkLst>
            <pc:docMk/>
            <pc:sldMk cId="1260553345" sldId="505"/>
            <ac:picMk id="61446" creationId="{729F04C1-C6EC-9E4A-8A90-620A369BA590}"/>
          </ac:picMkLst>
        </pc:picChg>
      </pc:sldChg>
      <pc:sldChg chg="addSp delSp modSp new mod modClrScheme chgLayout">
        <pc:chgData name="Andrea Cristina Dos Santos" userId="c1f965dc-8845-4afc-9e32-8f70830fffd6" providerId="ADAL" clId="{6A11F738-D59D-454D-9424-C4AB94EC6EDE}" dt="2023-11-13T18:59:48.414" v="235" actId="14100"/>
        <pc:sldMkLst>
          <pc:docMk/>
          <pc:sldMk cId="2993220449" sldId="528"/>
        </pc:sldMkLst>
        <pc:spChg chg="add mod">
          <ac:chgData name="Andrea Cristina Dos Santos" userId="c1f965dc-8845-4afc-9e32-8f70830fffd6" providerId="ADAL" clId="{6A11F738-D59D-454D-9424-C4AB94EC6EDE}" dt="2023-11-13T18:59:48.414" v="235" actId="14100"/>
          <ac:spMkLst>
            <pc:docMk/>
            <pc:sldMk cId="2993220449" sldId="528"/>
            <ac:spMk id="3" creationId="{38260884-7DA4-702F-5E74-299C0EE7E658}"/>
          </ac:spMkLst>
        </pc:spChg>
        <pc:spChg chg="add mod">
          <ac:chgData name="Andrea Cristina Dos Santos" userId="c1f965dc-8845-4afc-9e32-8f70830fffd6" providerId="ADAL" clId="{6A11F738-D59D-454D-9424-C4AB94EC6EDE}" dt="2023-11-13T18:41:16.188" v="42" actId="26606"/>
          <ac:spMkLst>
            <pc:docMk/>
            <pc:sldMk cId="2993220449" sldId="528"/>
            <ac:spMk id="1031" creationId="{77605C87-82EC-6648-E28E-B204E40E85A0}"/>
          </ac:spMkLst>
        </pc:spChg>
        <pc:spChg chg="add del mod">
          <ac:chgData name="Andrea Cristina Dos Santos" userId="c1f965dc-8845-4afc-9e32-8f70830fffd6" providerId="ADAL" clId="{6A11F738-D59D-454D-9424-C4AB94EC6EDE}" dt="2023-11-13T18:41:16.188" v="42" actId="26606"/>
          <ac:spMkLst>
            <pc:docMk/>
            <pc:sldMk cId="2993220449" sldId="528"/>
            <ac:spMk id="1033" creationId="{90898ED5-EDFC-2D6B-1388-69A1DFFE49C0}"/>
          </ac:spMkLst>
        </pc:spChg>
        <pc:spChg chg="add del mod">
          <ac:chgData name="Andrea Cristina Dos Santos" userId="c1f965dc-8845-4afc-9e32-8f70830fffd6" providerId="ADAL" clId="{6A11F738-D59D-454D-9424-C4AB94EC6EDE}" dt="2023-11-13T18:41:16.186" v="41" actId="26606"/>
          <ac:spMkLst>
            <pc:docMk/>
            <pc:sldMk cId="2993220449" sldId="528"/>
            <ac:spMk id="1038" creationId="{74B05305-4759-4AC0-D7B7-F6E1E5BD94A3}"/>
          </ac:spMkLst>
        </pc:spChg>
        <pc:picChg chg="add mod">
          <ac:chgData name="Andrea Cristina Dos Santos" userId="c1f965dc-8845-4afc-9e32-8f70830fffd6" providerId="ADAL" clId="{6A11F738-D59D-454D-9424-C4AB94EC6EDE}" dt="2023-11-13T18:59:45.906" v="234" actId="1076"/>
          <ac:picMkLst>
            <pc:docMk/>
            <pc:sldMk cId="2993220449" sldId="528"/>
            <ac:picMk id="1026" creationId="{05A9CF72-5607-AF28-B220-719727545058}"/>
          </ac:picMkLst>
        </pc:picChg>
      </pc:sldChg>
      <pc:sldChg chg="addSp modSp new mod">
        <pc:chgData name="Andrea Cristina Dos Santos" userId="c1f965dc-8845-4afc-9e32-8f70830fffd6" providerId="ADAL" clId="{6A11F738-D59D-454D-9424-C4AB94EC6EDE}" dt="2023-11-13T18:58:09.497" v="206" actId="404"/>
        <pc:sldMkLst>
          <pc:docMk/>
          <pc:sldMk cId="2096011740" sldId="529"/>
        </pc:sldMkLst>
        <pc:spChg chg="add mod">
          <ac:chgData name="Andrea Cristina Dos Santos" userId="c1f965dc-8845-4afc-9e32-8f70830fffd6" providerId="ADAL" clId="{6A11F738-D59D-454D-9424-C4AB94EC6EDE}" dt="2023-11-13T18:52:17.762" v="93" actId="1076"/>
          <ac:spMkLst>
            <pc:docMk/>
            <pc:sldMk cId="2096011740" sldId="529"/>
            <ac:spMk id="2" creationId="{12A75BC4-54BD-5493-4968-2623967C8455}"/>
          </ac:spMkLst>
        </pc:spChg>
        <pc:spChg chg="add mod">
          <ac:chgData name="Andrea Cristina Dos Santos" userId="c1f965dc-8845-4afc-9e32-8f70830fffd6" providerId="ADAL" clId="{6A11F738-D59D-454D-9424-C4AB94EC6EDE}" dt="2023-11-13T18:45:41.839" v="88" actId="14100"/>
          <ac:spMkLst>
            <pc:docMk/>
            <pc:sldMk cId="2096011740" sldId="529"/>
            <ac:spMk id="4" creationId="{F0E001C8-28B8-A3BC-D941-14D0B4F6C4DD}"/>
          </ac:spMkLst>
        </pc:spChg>
        <pc:spChg chg="add mod">
          <ac:chgData name="Andrea Cristina Dos Santos" userId="c1f965dc-8845-4afc-9e32-8f70830fffd6" providerId="ADAL" clId="{6A11F738-D59D-454D-9424-C4AB94EC6EDE}" dt="2023-11-13T18:57:17.119" v="137" actId="1076"/>
          <ac:spMkLst>
            <pc:docMk/>
            <pc:sldMk cId="2096011740" sldId="529"/>
            <ac:spMk id="6" creationId="{282D2C6F-3792-6BA4-6597-18A7B02DA34E}"/>
          </ac:spMkLst>
        </pc:spChg>
        <pc:spChg chg="add mod">
          <ac:chgData name="Andrea Cristina Dos Santos" userId="c1f965dc-8845-4afc-9e32-8f70830fffd6" providerId="ADAL" clId="{6A11F738-D59D-454D-9424-C4AB94EC6EDE}" dt="2023-11-13T18:56:58.717" v="136" actId="1076"/>
          <ac:spMkLst>
            <pc:docMk/>
            <pc:sldMk cId="2096011740" sldId="529"/>
            <ac:spMk id="7" creationId="{B477AE70-F509-F35C-770F-BD4E73B67808}"/>
          </ac:spMkLst>
        </pc:spChg>
        <pc:spChg chg="add mod">
          <ac:chgData name="Andrea Cristina Dos Santos" userId="c1f965dc-8845-4afc-9e32-8f70830fffd6" providerId="ADAL" clId="{6A11F738-D59D-454D-9424-C4AB94EC6EDE}" dt="2023-11-13T18:58:09.497" v="206" actId="404"/>
          <ac:spMkLst>
            <pc:docMk/>
            <pc:sldMk cId="2096011740" sldId="529"/>
            <ac:spMk id="8" creationId="{3CA6A553-8F05-1847-196C-39B839C4E0D5}"/>
          </ac:spMkLst>
        </pc:spChg>
        <pc:picChg chg="add mod">
          <ac:chgData name="Andrea Cristina Dos Santos" userId="c1f965dc-8845-4afc-9e32-8f70830fffd6" providerId="ADAL" clId="{6A11F738-D59D-454D-9424-C4AB94EC6EDE}" dt="2023-11-13T18:52:15.536" v="92" actId="1076"/>
          <ac:picMkLst>
            <pc:docMk/>
            <pc:sldMk cId="2096011740" sldId="529"/>
            <ac:picMk id="2050" creationId="{AB3D93D4-3B01-EF5B-95A3-263947C96FE7}"/>
          </ac:picMkLst>
        </pc:picChg>
        <pc:picChg chg="add mod">
          <ac:chgData name="Andrea Cristina Dos Santos" userId="c1f965dc-8845-4afc-9e32-8f70830fffd6" providerId="ADAL" clId="{6A11F738-D59D-454D-9424-C4AB94EC6EDE}" dt="2023-11-13T18:52:19.213" v="94" actId="1076"/>
          <ac:picMkLst>
            <pc:docMk/>
            <pc:sldMk cId="2096011740" sldId="529"/>
            <ac:picMk id="2052" creationId="{3DE9C881-F98F-E37D-1615-BA1D91CA71A5}"/>
          </ac:picMkLst>
        </pc:picChg>
      </pc:sldChg>
      <pc:sldChg chg="addSp modSp new mod modClrScheme chgLayout">
        <pc:chgData name="Andrea Cristina Dos Santos" userId="c1f965dc-8845-4afc-9e32-8f70830fffd6" providerId="ADAL" clId="{6A11F738-D59D-454D-9424-C4AB94EC6EDE}" dt="2023-11-13T19:24:04.720" v="350" actId="26606"/>
        <pc:sldMkLst>
          <pc:docMk/>
          <pc:sldMk cId="172180866" sldId="530"/>
        </pc:sldMkLst>
        <pc:spChg chg="add mod">
          <ac:chgData name="Andrea Cristina Dos Santos" userId="c1f965dc-8845-4afc-9e32-8f70830fffd6" providerId="ADAL" clId="{6A11F738-D59D-454D-9424-C4AB94EC6EDE}" dt="2023-11-13T19:24:04.720" v="350" actId="26606"/>
          <ac:spMkLst>
            <pc:docMk/>
            <pc:sldMk cId="172180866" sldId="530"/>
            <ac:spMk id="2" creationId="{4F29BEC3-D7D1-2EEA-96C3-79E33B7842E4}"/>
          </ac:spMkLst>
        </pc:spChg>
        <pc:spChg chg="add mod">
          <ac:chgData name="Andrea Cristina Dos Santos" userId="c1f965dc-8845-4afc-9e32-8f70830fffd6" providerId="ADAL" clId="{6A11F738-D59D-454D-9424-C4AB94EC6EDE}" dt="2023-11-13T19:24:04.720" v="350" actId="26606"/>
          <ac:spMkLst>
            <pc:docMk/>
            <pc:sldMk cId="172180866" sldId="530"/>
            <ac:spMk id="4" creationId="{A4917E4C-0996-B42B-5FAC-28B2110C2CC1}"/>
          </ac:spMkLst>
        </pc:spChg>
        <pc:picChg chg="add mod">
          <ac:chgData name="Andrea Cristina Dos Santos" userId="c1f965dc-8845-4afc-9e32-8f70830fffd6" providerId="ADAL" clId="{6A11F738-D59D-454D-9424-C4AB94EC6EDE}" dt="2023-11-13T19:24:04.720" v="350" actId="26606"/>
          <ac:picMkLst>
            <pc:docMk/>
            <pc:sldMk cId="172180866" sldId="530"/>
            <ac:picMk id="3074" creationId="{2D107A0F-38DB-E2D4-B278-4FAA7F83AC78}"/>
          </ac:picMkLst>
        </pc:picChg>
      </pc:sldChg>
      <pc:sldChg chg="addSp modSp new mod">
        <pc:chgData name="Andrea Cristina Dos Santos" userId="c1f965dc-8845-4afc-9e32-8f70830fffd6" providerId="ADAL" clId="{6A11F738-D59D-454D-9424-C4AB94EC6EDE}" dt="2023-11-13T19:23:21.282" v="348" actId="1076"/>
        <pc:sldMkLst>
          <pc:docMk/>
          <pc:sldMk cId="4259377096" sldId="531"/>
        </pc:sldMkLst>
        <pc:spChg chg="add mod">
          <ac:chgData name="Andrea Cristina Dos Santos" userId="c1f965dc-8845-4afc-9e32-8f70830fffd6" providerId="ADAL" clId="{6A11F738-D59D-454D-9424-C4AB94EC6EDE}" dt="2023-11-13T19:22:49.723" v="332" actId="14100"/>
          <ac:spMkLst>
            <pc:docMk/>
            <pc:sldMk cId="4259377096" sldId="531"/>
            <ac:spMk id="2" creationId="{66124D00-C941-F55B-C165-08918E0A04F7}"/>
          </ac:spMkLst>
        </pc:spChg>
        <pc:spChg chg="add mod">
          <ac:chgData name="Andrea Cristina Dos Santos" userId="c1f965dc-8845-4afc-9e32-8f70830fffd6" providerId="ADAL" clId="{6A11F738-D59D-454D-9424-C4AB94EC6EDE}" dt="2023-11-13T19:06:36.516" v="309" actId="1076"/>
          <ac:spMkLst>
            <pc:docMk/>
            <pc:sldMk cId="4259377096" sldId="531"/>
            <ac:spMk id="4" creationId="{0D1BEF20-690B-D4BD-11AA-E95A59813AED}"/>
          </ac:spMkLst>
        </pc:spChg>
        <pc:spChg chg="add mod">
          <ac:chgData name="Andrea Cristina Dos Santos" userId="c1f965dc-8845-4afc-9e32-8f70830fffd6" providerId="ADAL" clId="{6A11F738-D59D-454D-9424-C4AB94EC6EDE}" dt="2023-11-13T19:14:47.256" v="311" actId="1076"/>
          <ac:spMkLst>
            <pc:docMk/>
            <pc:sldMk cId="4259377096" sldId="531"/>
            <ac:spMk id="6" creationId="{F775EB3E-B557-E3EF-570A-ABC5D32159D8}"/>
          </ac:spMkLst>
        </pc:spChg>
        <pc:spChg chg="add mod">
          <ac:chgData name="Andrea Cristina Dos Santos" userId="c1f965dc-8845-4afc-9e32-8f70830fffd6" providerId="ADAL" clId="{6A11F738-D59D-454D-9424-C4AB94EC6EDE}" dt="2023-11-13T19:23:21.282" v="348" actId="1076"/>
          <ac:spMkLst>
            <pc:docMk/>
            <pc:sldMk cId="4259377096" sldId="531"/>
            <ac:spMk id="8" creationId="{07F460AC-93A0-9EB4-8108-62B79B5543AD}"/>
          </ac:spMkLst>
        </pc:spChg>
        <pc:spChg chg="add mod">
          <ac:chgData name="Andrea Cristina Dos Santos" userId="c1f965dc-8845-4afc-9e32-8f70830fffd6" providerId="ADAL" clId="{6A11F738-D59D-454D-9424-C4AB94EC6EDE}" dt="2023-11-13T19:23:17.473" v="347" actId="20577"/>
          <ac:spMkLst>
            <pc:docMk/>
            <pc:sldMk cId="4259377096" sldId="531"/>
            <ac:spMk id="9" creationId="{CDF6F297-E6BA-E96C-FBB9-0AA79E54CB08}"/>
          </ac:spMkLst>
        </pc:spChg>
        <pc:picChg chg="add mod">
          <ac:chgData name="Andrea Cristina Dos Santos" userId="c1f965dc-8845-4afc-9e32-8f70830fffd6" providerId="ADAL" clId="{6A11F738-D59D-454D-9424-C4AB94EC6EDE}" dt="2023-11-13T19:03:47.314" v="276" actId="14100"/>
          <ac:picMkLst>
            <pc:docMk/>
            <pc:sldMk cId="4259377096" sldId="531"/>
            <ac:picMk id="4098" creationId="{482B3095-AE77-618E-CE58-12E3F78E1B3C}"/>
          </ac:picMkLst>
        </pc:picChg>
        <pc:picChg chg="add mod">
          <ac:chgData name="Andrea Cristina Dos Santos" userId="c1f965dc-8845-4afc-9e32-8f70830fffd6" providerId="ADAL" clId="{6A11F738-D59D-454D-9424-C4AB94EC6EDE}" dt="2023-11-13T19:22:33.531" v="322" actId="1076"/>
          <ac:picMkLst>
            <pc:docMk/>
            <pc:sldMk cId="4259377096" sldId="531"/>
            <ac:picMk id="4100" creationId="{AC721D36-252E-08E8-B6BC-30227EB1AA29}"/>
          </ac:picMkLst>
        </pc:picChg>
      </pc:sldChg>
      <pc:sldChg chg="addSp modSp new mod modClrScheme chgLayout">
        <pc:chgData name="Andrea Cristina Dos Santos" userId="c1f965dc-8845-4afc-9e32-8f70830fffd6" providerId="ADAL" clId="{6A11F738-D59D-454D-9424-C4AB94EC6EDE}" dt="2023-11-13T19:56:53.959" v="1183" actId="14100"/>
        <pc:sldMkLst>
          <pc:docMk/>
          <pc:sldMk cId="580524448" sldId="532"/>
        </pc:sldMkLst>
        <pc:spChg chg="add mod">
          <ac:chgData name="Andrea Cristina Dos Santos" userId="c1f965dc-8845-4afc-9e32-8f70830fffd6" providerId="ADAL" clId="{6A11F738-D59D-454D-9424-C4AB94EC6EDE}" dt="2023-11-13T19:48:04.131" v="427" actId="113"/>
          <ac:spMkLst>
            <pc:docMk/>
            <pc:sldMk cId="580524448" sldId="532"/>
            <ac:spMk id="2" creationId="{8EFBB8C0-0BA7-24D0-91A9-4DF38D13BE3D}"/>
          </ac:spMkLst>
        </pc:spChg>
        <pc:spChg chg="add mod">
          <ac:chgData name="Andrea Cristina Dos Santos" userId="c1f965dc-8845-4afc-9e32-8f70830fffd6" providerId="ADAL" clId="{6A11F738-D59D-454D-9424-C4AB94EC6EDE}" dt="2023-11-13T19:56:53.959" v="1183" actId="14100"/>
          <ac:spMkLst>
            <pc:docMk/>
            <pc:sldMk cId="580524448" sldId="532"/>
            <ac:spMk id="3" creationId="{08222271-8FD3-171A-09CF-E99787E4257D}"/>
          </ac:spMkLst>
        </pc:spChg>
        <pc:spChg chg="add mod">
          <ac:chgData name="Andrea Cristina Dos Santos" userId="c1f965dc-8845-4afc-9e32-8f70830fffd6" providerId="ADAL" clId="{6A11F738-D59D-454D-9424-C4AB94EC6EDE}" dt="2023-11-13T19:56:42.824" v="1180" actId="20577"/>
          <ac:spMkLst>
            <pc:docMk/>
            <pc:sldMk cId="580524448" sldId="532"/>
            <ac:spMk id="4" creationId="{D5C655A2-9A7F-C945-4BAE-F91CC0C58CF4}"/>
          </ac:spMkLst>
        </pc:spChg>
      </pc:sldChg>
    </pc:docChg>
  </pc:docChgLst>
  <pc:docChgLst>
    <pc:chgData name="Andrea Cristina Dos Santos" userId="c1f965dc-8845-4afc-9e32-8f70830fffd6" providerId="ADAL" clId="{A29C941E-BBED-8E4E-8302-CC42D865DF15}"/>
    <pc:docChg chg="modSld">
      <pc:chgData name="Andrea Cristina Dos Santos" userId="c1f965dc-8845-4afc-9e32-8f70830fffd6" providerId="ADAL" clId="{A29C941E-BBED-8E4E-8302-CC42D865DF15}" dt="2024-06-24T23:09:56.410" v="0" actId="1076"/>
      <pc:docMkLst>
        <pc:docMk/>
      </pc:docMkLst>
      <pc:sldChg chg="modSp mod">
        <pc:chgData name="Andrea Cristina Dos Santos" userId="c1f965dc-8845-4afc-9e32-8f70830fffd6" providerId="ADAL" clId="{A29C941E-BBED-8E4E-8302-CC42D865DF15}" dt="2024-06-24T23:09:56.410" v="0" actId="1076"/>
        <pc:sldMkLst>
          <pc:docMk/>
          <pc:sldMk cId="2096011740" sldId="529"/>
        </pc:sldMkLst>
        <pc:spChg chg="mod">
          <ac:chgData name="Andrea Cristina Dos Santos" userId="c1f965dc-8845-4afc-9e32-8f70830fffd6" providerId="ADAL" clId="{A29C941E-BBED-8E4E-8302-CC42D865DF15}" dt="2024-06-24T23:09:56.410" v="0" actId="1076"/>
          <ac:spMkLst>
            <pc:docMk/>
            <pc:sldMk cId="2096011740" sldId="529"/>
            <ac:spMk id="4" creationId="{F0E001C8-28B8-A3BC-D941-14D0B4F6C4DD}"/>
          </ac:spMkLst>
        </pc:spChg>
      </pc:sldChg>
    </pc:docChg>
  </pc:docChgLst>
  <pc:docChgLst>
    <pc:chgData name="Andrea Cristina Dos Santos" userId="S::andreasantos@unb.br::c1f965dc-8845-4afc-9e32-8f70830fffd6" providerId="AD" clId="Web-{33AEC829-7EF4-40E8-8B73-157E867A79ED}"/>
    <pc:docChg chg="modSld">
      <pc:chgData name="Andrea Cristina Dos Santos" userId="S::andreasantos@unb.br::c1f965dc-8845-4afc-9e32-8f70830fffd6" providerId="AD" clId="Web-{33AEC829-7EF4-40E8-8B73-157E867A79ED}" dt="2025-01-20T19:01:22.698" v="2" actId="20577"/>
      <pc:docMkLst>
        <pc:docMk/>
      </pc:docMkLst>
      <pc:sldChg chg="modSp">
        <pc:chgData name="Andrea Cristina Dos Santos" userId="S::andreasantos@unb.br::c1f965dc-8845-4afc-9e32-8f70830fffd6" providerId="AD" clId="Web-{33AEC829-7EF4-40E8-8B73-157E867A79ED}" dt="2025-01-20T19:01:22.698" v="2" actId="20577"/>
        <pc:sldMkLst>
          <pc:docMk/>
          <pc:sldMk cId="172180866" sldId="530"/>
        </pc:sldMkLst>
        <pc:spChg chg="mod">
          <ac:chgData name="Andrea Cristina Dos Santos" userId="S::andreasantos@unb.br::c1f965dc-8845-4afc-9e32-8f70830fffd6" providerId="AD" clId="Web-{33AEC829-7EF4-40E8-8B73-157E867A79ED}" dt="2025-01-20T19:01:22.698" v="2" actId="20577"/>
          <ac:spMkLst>
            <pc:docMk/>
            <pc:sldMk cId="172180866" sldId="530"/>
            <ac:spMk id="4" creationId="{A4917E4C-0996-B42B-5FAC-28B2110C2CC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2124903-65C2-E249-8E2D-7A4D4381BE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CD161DF-4BC5-334E-9810-7AAA4828E2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fld id="{4D500444-EDEF-A845-9556-025B805FD99C}" type="datetimeFigureOut">
              <a:rPr lang="pt-BR"/>
              <a:pPr>
                <a:defRPr/>
              </a:pPr>
              <a:t>20/01/2025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E23B9CF-480A-9640-90EA-4E253F96AD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FEB0C9F-0B57-6F49-980B-B94F3E27D7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E3BFA5F4-FC0E-F64E-80BE-2A3E587482A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EC0ACE8-F3A8-A14E-91A0-A7109086E7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5140148-1C65-FD4E-AE6A-3EC1B7DDD82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BD3D7532-C684-6D4D-911A-3585F777FC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46A63A35-1D79-BC49-9E10-E429D2DBEA2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D8CD9AE7-E0F8-CD4B-A477-B80EA43C7B7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31F7122D-F3EC-8A49-B974-7E154CB28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fld id="{940C32EF-1CB4-EB4F-85A1-D177E0BFAD44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924A6C-4BB7-B94C-A854-0014EC938D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8D5BA02-95D2-4940-BA02-49514E3B0C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6B76B80-1116-9841-9A3A-E6D6557FEF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87F583-0606-AA4F-B662-6602E00A975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0409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E0578D-D5E2-654E-B669-F0916F2190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D4A81B-128A-B947-8B36-728FF1EA02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D6353C-16B3-C241-85F8-F184B3968E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6FACE9-A7EC-7A4A-A681-ECD65207583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938973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4AD3DB-72AF-3C4E-9BFC-7127C79C49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026D0C-DFD1-894B-94E8-42889B7B7D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A1667-376C-9846-BB18-11D674636F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AC4A3D-C07C-D447-B005-B87616E70A1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6197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85DB79-9AAD-7D4A-A58F-28623BBBCE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60EA87-56D7-9240-924C-C3F59C1AB4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A2876-5478-B040-BF75-F2F6EDE024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74A6C6-83A1-3548-B5AA-5432444247E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4657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728C86-6A14-294E-B2F2-DFF184BAF1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5217B6F-C603-6A48-B743-B1BE70EC41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43D4089-2FF4-394A-9DC7-73A4BC4179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1DBD1E-49CE-6841-A3A4-133E2B738AC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82168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E194118-F407-E34C-A6EF-1793ED204F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730E3D6-270E-4C49-AEDC-9F9738F18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64757E9-159B-7E4E-A9E2-EDDBF28A68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120920-F361-D64E-B33B-0A46B89DFFE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80656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6C9B5F9-C036-6549-A3CD-9E71BB2488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8D19BFD-622A-474A-9885-038E1B1BF6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133168D-DDD3-734E-8F6C-CEDB03721C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3A24F2-EDB0-574A-845C-221D2B79A2F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9181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59E81-4BBD-DD48-85B9-AD48500452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17BE97-3D2B-B646-8495-61641F1A90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624B4B-4EB8-0B4C-8B94-1B858B433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5A82A0-7F92-3D46-8D7C-DB9CD59F0AA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90742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C02FF-B10D-0846-BEF0-1B247EEA1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737E7B-F252-6F42-91DC-F97FB943AB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9478D9-12FC-1347-9437-9D772DF8D8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4057F-D9BA-C14E-A4F2-4778786BEFF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54507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D1CE69-EE37-B648-BE5A-0F3AF18CAE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1E04EE-84D6-C74A-8F92-76F944FB31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224DBC-51E3-4844-A626-9356D86CC0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597228-B06C-1E42-8B23-75E36C7509E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374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8B3517-9F13-DF47-9428-DF9EB67562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FD526A-E477-894A-B11E-D140A1C644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3FBB928-92A5-4048-8D73-0567B5D4A6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E0F00B-C950-7C46-B38C-CE999B123092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86357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1F9B8-8D16-7A45-8E19-7DA5652C7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640F62-53C2-9E41-90B4-BC1B7922BC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0C22C8-2CCE-6743-B6B3-A90FB5B26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44644D-7353-2147-84FC-3205CDDCAF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97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AC45A18-4FE0-924A-A23F-F01784EAAF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D73AABF-BBA9-E54F-B8A4-2F11BC795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04843A-E1F7-5544-B491-A2191F8311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E5898BE-7E64-3449-9420-7FA38FBF1C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C341F0B-32D6-DB4A-B77E-4F36558949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BFDB8A6-F0C4-2441-B925-5E39019E21CB}" type="slidenum">
              <a:rPr lang="pt-BR" altLang="pt-BR"/>
              <a:pPr/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69F2145-3267-6F48-BD19-A3C00A20F8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482143A0-135F-E640-B161-55AA82D7990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jpeg"/><Relationship Id="rId7" Type="http://schemas.openxmlformats.org/officeDocument/2006/relationships/image" Target="../media/image15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0" Type="http://schemas.openxmlformats.org/officeDocument/2006/relationships/image" Target="../media/image18.jpeg"/><Relationship Id="rId4" Type="http://schemas.openxmlformats.org/officeDocument/2006/relationships/image" Target="../media/image12.jpeg"/><Relationship Id="rId9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6.jpeg"/><Relationship Id="rId2" Type="http://schemas.openxmlformats.org/officeDocument/2006/relationships/hyperlink" Target="http://images.google.com.br/imgres?imgurl=http://www.iltarget.it/PianetaTorino/images/vietnamsoldato.jpg&amp;imgrefurl=http://guide.supereva.com/storia/interventi/2006/03/248787.shtml&amp;h=621&amp;w=475&amp;sz=48&amp;hl=pt-BR&amp;start=6&amp;tbnid=25ecvaRqf-yfrM:&amp;tbnh=136&amp;tbnw=104&amp;prev=/images%3Fq%3Dguerra%2Bdo%2Bvietnam%26svnum%3D10%26hl%3Dpt-BR%26lr%3D%26sa%3DG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images.google.com.br/imgres?imgurl=http://www.army.mil/hispanicamericans/images/vietnampic.jpg&amp;imgrefurl=http://www.army.mil/hispanicamericans/spanish/timeline/vietnamwar.html&amp;h=152&amp;w=259&amp;sz=26&amp;hl=pt-BR&amp;start=4&amp;tbnid=Y4xXacrX-tIH4M:&amp;tbnh=66&amp;tbnw=112&amp;prev=/images%3Fq%3Dguerra%2Bdo%2Bvietnam%26svnum%3D10%26hl%3Dpt-BR%26lr%3D%26sa%3DG" TargetMode="External"/><Relationship Id="rId5" Type="http://schemas.openxmlformats.org/officeDocument/2006/relationships/image" Target="../media/image25.jpeg"/><Relationship Id="rId4" Type="http://schemas.openxmlformats.org/officeDocument/2006/relationships/hyperlink" Target="http://images.google.com.br/imgres?imgurl=http://www.allposters.com/IMAGES/PICPOD/38-24265.jpg&amp;imgrefurl=http://es.jdhodges.com/posters/862385.html&amp;h=275&amp;w=350&amp;sz=10&amp;hl=pt-BR&amp;start=7&amp;tbnid=2RV2DGuViE1PwM:&amp;tbnh=94&amp;tbnw=120&amp;prev=/images%3Fq%3Dguerra%2Bdo%2Bvietnam%26svnum%3D10%26hl%3Dpt-BR%26lr%3D%26sa%3DG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31A8E6F8-6989-5D44-B86C-86C291851219}"/>
              </a:ext>
            </a:extLst>
          </p:cNvPr>
          <p:cNvSpPr txBox="1">
            <a:spLocks noChangeArrowheads="1"/>
          </p:cNvSpPr>
          <p:nvPr/>
        </p:nvSpPr>
        <p:spPr>
          <a:xfrm>
            <a:off x="239713" y="1568450"/>
            <a:ext cx="4913312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MATERIAIS METÁLICOS E …..</a:t>
            </a:r>
          </a:p>
        </p:txBody>
      </p:sp>
      <p:pic>
        <p:nvPicPr>
          <p:cNvPr id="30722" name="Picture 3" descr="90187QVxu_w">
            <a:extLst>
              <a:ext uri="{FF2B5EF4-FFF2-40B4-BE49-F238E27FC236}">
                <a16:creationId xmlns:a16="http://schemas.microsoft.com/office/drawing/2014/main" id="{4AC25642-D5F4-B944-BB45-2668542BF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2322513"/>
            <a:ext cx="2009775" cy="288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3" name="Picture 4" descr="63089BgIF_w">
            <a:extLst>
              <a:ext uri="{FF2B5EF4-FFF2-40B4-BE49-F238E27FC236}">
                <a16:creationId xmlns:a16="http://schemas.microsoft.com/office/drawing/2014/main" id="{F8AB3B37-EE83-164E-AE3F-895154E6B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8" y="2278063"/>
            <a:ext cx="2374900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0E59334-1A4C-9642-A6CF-92F552A19EB4}"/>
              </a:ext>
            </a:extLst>
          </p:cNvPr>
          <p:cNvSpPr txBox="1"/>
          <p:nvPr/>
        </p:nvSpPr>
        <p:spPr>
          <a:xfrm>
            <a:off x="0" y="174625"/>
            <a:ext cx="8650288" cy="768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44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SELEÇÃO DE MATERIAIS</a:t>
            </a:r>
          </a:p>
        </p:txBody>
      </p:sp>
      <p:pic>
        <p:nvPicPr>
          <p:cNvPr id="30725" name="Picture 4" descr="marienkrte">
            <a:extLst>
              <a:ext uri="{FF2B5EF4-FFF2-40B4-BE49-F238E27FC236}">
                <a16:creationId xmlns:a16="http://schemas.microsoft.com/office/drawing/2014/main" id="{CA0737E8-4B46-7E4A-8414-F01181EDF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25" y="3367088"/>
            <a:ext cx="3003550" cy="197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9" descr="63995MRtq_w">
            <a:extLst>
              <a:ext uri="{FF2B5EF4-FFF2-40B4-BE49-F238E27FC236}">
                <a16:creationId xmlns:a16="http://schemas.microsoft.com/office/drawing/2014/main" id="{7EFE05E6-98C5-5E4D-8597-02DFFDBBE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0" y="1727200"/>
            <a:ext cx="2711450" cy="184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7" name="Picture 11" descr="schmetterling">
            <a:extLst>
              <a:ext uri="{FF2B5EF4-FFF2-40B4-BE49-F238E27FC236}">
                <a16:creationId xmlns:a16="http://schemas.microsoft.com/office/drawing/2014/main" id="{5499FDB9-B302-CF46-862F-FEAD9A8A1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7025" y="5037138"/>
            <a:ext cx="2155825" cy="161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D851B74-F0A0-C048-9F4C-B0BCCAFC69A9}"/>
              </a:ext>
            </a:extLst>
          </p:cNvPr>
          <p:cNvSpPr txBox="1">
            <a:spLocks noChangeArrowheads="1"/>
          </p:cNvSpPr>
          <p:nvPr/>
        </p:nvSpPr>
        <p:spPr>
          <a:xfrm>
            <a:off x="5972175" y="1131888"/>
            <a:ext cx="7772400" cy="1143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...COMPÓSITOS</a:t>
            </a:r>
          </a:p>
        </p:txBody>
      </p:sp>
    </p:spTree>
    <p:extLst>
      <p:ext uri="{BB962C8B-B14F-4D97-AF65-F5344CB8AC3E}">
        <p14:creationId xmlns:p14="http://schemas.microsoft.com/office/powerpoint/2010/main" val="77886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FBB8C0-0BA7-24D0-91A9-4DF38D13B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000" b="1" dirty="0"/>
              <a:t>PARAMETROS INICIAIS ESSENCIAIS PARA SELEÇÃO DE MATERIAIS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222271-8FD3-171A-09CF-E99787E42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362450" cy="5238750"/>
          </a:xfrm>
        </p:spPr>
        <p:txBody>
          <a:bodyPr/>
          <a:lstStyle/>
          <a:p>
            <a:r>
              <a:rPr lang="pt-BR" sz="2000" dirty="0">
                <a:solidFill>
                  <a:srgbClr val="C00000"/>
                </a:solidFill>
              </a:rPr>
              <a:t>Requisitos de desempenho: </a:t>
            </a:r>
            <a:r>
              <a:rPr lang="pt-BR" sz="2000" dirty="0">
                <a:solidFill>
                  <a:srgbClr val="002060"/>
                </a:solidFill>
              </a:rPr>
              <a:t>características técnicas, como resistência durabilidade, condutividade, e outras.</a:t>
            </a:r>
          </a:p>
          <a:p>
            <a:r>
              <a:rPr lang="pt-BR" sz="2000" dirty="0" err="1">
                <a:solidFill>
                  <a:srgbClr val="00B050"/>
                </a:solidFill>
              </a:rPr>
              <a:t>Restrinções</a:t>
            </a:r>
            <a:r>
              <a:rPr lang="pt-BR" sz="2000" dirty="0">
                <a:solidFill>
                  <a:srgbClr val="00B050"/>
                </a:solidFill>
              </a:rPr>
              <a:t> Ambientais:</a:t>
            </a:r>
            <a:r>
              <a:rPr lang="pt-BR" sz="2000" dirty="0">
                <a:solidFill>
                  <a:srgbClr val="002060"/>
                </a:solidFill>
              </a:rPr>
              <a:t> exposição do material a condições ambientais, temperatura, umidade, exposição agentes químicos e outras.</a:t>
            </a:r>
          </a:p>
          <a:p>
            <a:r>
              <a:rPr lang="pt-BR" sz="2000" dirty="0">
                <a:solidFill>
                  <a:srgbClr val="C00000"/>
                </a:solidFill>
              </a:rPr>
              <a:t>Custos: </a:t>
            </a:r>
            <a:r>
              <a:rPr lang="pt-BR" sz="2000" dirty="0">
                <a:solidFill>
                  <a:srgbClr val="002060"/>
                </a:solidFill>
              </a:rPr>
              <a:t>o custo inicial, o custo de operacionais ao material escolhido;</a:t>
            </a:r>
          </a:p>
          <a:p>
            <a:r>
              <a:rPr lang="pt-BR" sz="2000" dirty="0">
                <a:solidFill>
                  <a:srgbClr val="00B050"/>
                </a:solidFill>
              </a:rPr>
              <a:t>Disponibilidade:</a:t>
            </a:r>
            <a:r>
              <a:rPr lang="pt-BR" sz="2000" dirty="0">
                <a:solidFill>
                  <a:srgbClr val="002060"/>
                </a:solidFill>
              </a:rPr>
              <a:t> verificar a disponibilidade do material em longo prazo.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C655A2-9A7F-C945-4BAE-F91CC0C58C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pt-BR" sz="2000" dirty="0">
                <a:solidFill>
                  <a:srgbClr val="00B0F0"/>
                </a:solidFill>
              </a:rPr>
              <a:t>Normas e regulamentação</a:t>
            </a:r>
            <a:r>
              <a:rPr lang="pt-BR" sz="2000" dirty="0">
                <a:solidFill>
                  <a:srgbClr val="002060"/>
                </a:solidFill>
              </a:rPr>
              <a:t>: certificar que todo material esteja com conformidade com as normas e regulamentações </a:t>
            </a:r>
            <a:r>
              <a:rPr lang="pt-BR" sz="2000" dirty="0" err="1">
                <a:solidFill>
                  <a:srgbClr val="002060"/>
                </a:solidFill>
              </a:rPr>
              <a:t>aplicaveis</a:t>
            </a:r>
            <a:endParaRPr lang="pt-BR" sz="2000" dirty="0">
              <a:solidFill>
                <a:srgbClr val="00B0F0"/>
              </a:solidFill>
            </a:endParaRPr>
          </a:p>
          <a:p>
            <a:endParaRPr lang="pt-BR" sz="2000" dirty="0">
              <a:solidFill>
                <a:srgbClr val="00B0F0"/>
              </a:solidFill>
            </a:endParaRPr>
          </a:p>
          <a:p>
            <a:r>
              <a:rPr lang="pt-BR" sz="2000" dirty="0">
                <a:solidFill>
                  <a:srgbClr val="00B0F0"/>
                </a:solidFill>
              </a:rPr>
              <a:t>Processabilidade: </a:t>
            </a:r>
            <a:r>
              <a:rPr lang="pt-BR" sz="2000" dirty="0"/>
              <a:t>analisar a facilidade de fabricação, processo do material e complexidade do projeto </a:t>
            </a:r>
            <a:r>
              <a:rPr lang="pt-BR" sz="2000" dirty="0">
                <a:highlight>
                  <a:srgbClr val="FFFF00"/>
                </a:highlight>
              </a:rPr>
              <a:t>(</a:t>
            </a:r>
            <a:r>
              <a:rPr lang="pt-BR" sz="2000" dirty="0" err="1">
                <a:highlight>
                  <a:srgbClr val="FFFF00"/>
                </a:highlight>
              </a:rPr>
              <a:t>DfMA</a:t>
            </a:r>
            <a:r>
              <a:rPr lang="pt-BR" sz="2000" dirty="0">
                <a:highlight>
                  <a:srgbClr val="FFFF00"/>
                </a:highlight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8052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CaixaDeTexto 1">
            <a:extLst>
              <a:ext uri="{FF2B5EF4-FFF2-40B4-BE49-F238E27FC236}">
                <a16:creationId xmlns:a16="http://schemas.microsoft.com/office/drawing/2014/main" id="{F893E147-262E-7C44-94E2-AA1827FA1C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005" y="1335821"/>
            <a:ext cx="73390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>
                <a:solidFill>
                  <a:srgbClr val="0070C0"/>
                </a:solidFill>
              </a:rPr>
              <a:t>Projeto</a:t>
            </a:r>
            <a:r>
              <a:rPr lang="pt-BR" altLang="pt-BR" dirty="0"/>
              <a:t> envolve a seleção de material de engenharia baseada de um </a:t>
            </a:r>
            <a:r>
              <a:rPr lang="pt-BR" altLang="pt-BR" dirty="0">
                <a:solidFill>
                  <a:srgbClr val="FF0000"/>
                </a:solidFill>
              </a:rPr>
              <a:t>conjunto de propriedades definidos por um processo iterativo.</a:t>
            </a:r>
          </a:p>
        </p:txBody>
      </p:sp>
      <p:sp>
        <p:nvSpPr>
          <p:cNvPr id="63490" name="CaixaDeTexto 2">
            <a:extLst>
              <a:ext uri="{FF2B5EF4-FFF2-40B4-BE49-F238E27FC236}">
                <a16:creationId xmlns:a16="http://schemas.microsoft.com/office/drawing/2014/main" id="{E83AF0B0-6F36-FF4B-BEB2-947BC223C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913" y="3073400"/>
            <a:ext cx="76882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>
                <a:solidFill>
                  <a:srgbClr val="00B0F0"/>
                </a:solidFill>
              </a:rPr>
              <a:t>Projeto mecânico </a:t>
            </a:r>
            <a:r>
              <a:rPr lang="pt-BR" altLang="pt-BR" dirty="0"/>
              <a:t>envolve a seleção de componentes que tem massa, executa outras funções com requisitos térmicas, elétricos, ou químicos.</a:t>
            </a:r>
          </a:p>
        </p:txBody>
      </p:sp>
      <p:sp>
        <p:nvSpPr>
          <p:cNvPr id="63491" name="CaixaDeTexto 3">
            <a:extLst>
              <a:ext uri="{FF2B5EF4-FFF2-40B4-BE49-F238E27FC236}">
                <a16:creationId xmlns:a16="http://schemas.microsoft.com/office/drawing/2014/main" id="{35E6B7E3-36A7-9845-BEC6-5BFAAE791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4643926"/>
            <a:ext cx="7339012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pt-BR" altLang="pt-BR" dirty="0">
                <a:solidFill>
                  <a:srgbClr val="0070C0"/>
                </a:solidFill>
              </a:rPr>
              <a:t>REQUISITOS FUNCIONAIS</a:t>
            </a:r>
          </a:p>
          <a:p>
            <a:r>
              <a:rPr lang="pt-BR" altLang="pt-BR" dirty="0">
                <a:solidFill>
                  <a:srgbClr val="0070C0"/>
                </a:solidFill>
              </a:rPr>
              <a:t>	Medidas de desempenho </a:t>
            </a:r>
          </a:p>
          <a:p>
            <a:r>
              <a:rPr lang="pt-BR" altLang="pt-BR" dirty="0">
                <a:solidFill>
                  <a:srgbClr val="0070C0"/>
                </a:solidFill>
              </a:rPr>
              <a:t>		Satisfação desses requisitos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239094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131FE08-5A5A-DB40-B919-D094A2FF7636}"/>
              </a:ext>
            </a:extLst>
          </p:cNvPr>
          <p:cNvSpPr txBox="1">
            <a:spLocks noChangeArrowheads="1"/>
          </p:cNvSpPr>
          <p:nvPr/>
        </p:nvSpPr>
        <p:spPr>
          <a:xfrm>
            <a:off x="415925" y="633413"/>
            <a:ext cx="3983038" cy="3752850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en-US" sz="28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As </a:t>
            </a:r>
            <a:r>
              <a:rPr lang="en-US" sz="2800" kern="0" dirty="0" err="1">
                <a:latin typeface="+mn-lt"/>
              </a:rPr>
              <a:t>propriedades</a:t>
            </a:r>
            <a:r>
              <a:rPr lang="en-US" sz="2800" kern="0" dirty="0">
                <a:latin typeface="+mn-lt"/>
              </a:rPr>
              <a:t> dos </a:t>
            </a:r>
            <a:r>
              <a:rPr lang="en-US" sz="2800" kern="0" dirty="0" err="1">
                <a:latin typeface="+mn-lt"/>
              </a:rPr>
              <a:t>materiais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são</a:t>
            </a:r>
            <a:r>
              <a:rPr lang="en-US" sz="2800" kern="0" dirty="0">
                <a:latin typeface="+mn-lt"/>
              </a:rPr>
              <a:t> que </a:t>
            </a:r>
            <a:r>
              <a:rPr lang="en-US" sz="2800" kern="0" dirty="0" err="1">
                <a:solidFill>
                  <a:srgbClr val="00B0F0"/>
                </a:solidFill>
                <a:latin typeface="+mn-lt"/>
              </a:rPr>
              <a:t>definem</a:t>
            </a:r>
            <a:r>
              <a:rPr lang="en-US" sz="2800" kern="0" dirty="0">
                <a:solidFill>
                  <a:srgbClr val="00B0F0"/>
                </a:solidFill>
                <a:latin typeface="+mn-lt"/>
              </a:rPr>
              <a:t> a </a:t>
            </a:r>
            <a:r>
              <a:rPr lang="en-US" sz="2800" kern="0" dirty="0" err="1">
                <a:solidFill>
                  <a:srgbClr val="00B0F0"/>
                </a:solidFill>
                <a:latin typeface="+mn-lt"/>
              </a:rPr>
              <a:t>capacidade</a:t>
            </a:r>
            <a:r>
              <a:rPr lang="en-US" sz="2800" kern="0" dirty="0">
                <a:solidFill>
                  <a:srgbClr val="00B0F0"/>
                </a:solidFill>
                <a:latin typeface="+mn-lt"/>
              </a:rPr>
              <a:t> e </a:t>
            </a:r>
            <a:r>
              <a:rPr lang="en-US" sz="2800" kern="0" dirty="0" err="1">
                <a:solidFill>
                  <a:srgbClr val="00B0F0"/>
                </a:solidFill>
                <a:latin typeface="+mn-lt"/>
              </a:rPr>
              <a:t>estrutura</a:t>
            </a:r>
            <a:r>
              <a:rPr lang="en-US" sz="2800" kern="0" dirty="0">
                <a:solidFill>
                  <a:srgbClr val="00B0F0"/>
                </a:solidFill>
                <a:latin typeface="+mn-lt"/>
              </a:rPr>
              <a:t> de um </a:t>
            </a:r>
            <a:r>
              <a:rPr lang="en-US" sz="2800" kern="0" dirty="0" err="1">
                <a:solidFill>
                  <a:srgbClr val="00B0F0"/>
                </a:solidFill>
                <a:latin typeface="+mn-lt"/>
              </a:rPr>
              <a:t>determinado</a:t>
            </a:r>
            <a:r>
              <a:rPr lang="en-US" sz="2800" kern="0" dirty="0">
                <a:solidFill>
                  <a:srgbClr val="00B0F0"/>
                </a:solidFill>
                <a:latin typeface="+mn-lt"/>
              </a:rPr>
              <a:t> </a:t>
            </a:r>
            <a:r>
              <a:rPr lang="en-US" sz="2800" kern="0" dirty="0" err="1">
                <a:solidFill>
                  <a:srgbClr val="00B0F0"/>
                </a:solidFill>
                <a:latin typeface="+mn-lt"/>
              </a:rPr>
              <a:t>componente</a:t>
            </a:r>
            <a:r>
              <a:rPr lang="en-US" sz="2800" kern="0" dirty="0">
                <a:solidFill>
                  <a:srgbClr val="00B0F0"/>
                </a:solidFill>
                <a:latin typeface="+mn-lt"/>
              </a:rPr>
              <a:t>,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bem</a:t>
            </a:r>
            <a:r>
              <a:rPr lang="en-US" sz="2800" kern="0" dirty="0">
                <a:latin typeface="+mn-lt"/>
              </a:rPr>
              <a:t> </a:t>
            </a:r>
            <a:r>
              <a:rPr lang="en-US" sz="2800" kern="0" dirty="0" err="1">
                <a:latin typeface="+mn-lt"/>
              </a:rPr>
              <a:t>como</a:t>
            </a:r>
            <a:r>
              <a:rPr lang="en-US" sz="2800" kern="0" dirty="0">
                <a:latin typeface="+mn-lt"/>
              </a:rPr>
              <a:t> o </a:t>
            </a:r>
            <a:r>
              <a:rPr lang="en-US" sz="2800" kern="0" dirty="0" err="1">
                <a:latin typeface="+mn-lt"/>
              </a:rPr>
              <a:t>processo</a:t>
            </a:r>
            <a:r>
              <a:rPr lang="en-US" sz="2800" kern="0" dirty="0">
                <a:latin typeface="+mn-lt"/>
              </a:rPr>
              <a:t> de </a:t>
            </a:r>
            <a:r>
              <a:rPr lang="en-US" sz="2800" kern="0" dirty="0" err="1">
                <a:latin typeface="+mn-lt"/>
              </a:rPr>
              <a:t>fabricação</a:t>
            </a:r>
            <a:r>
              <a:rPr lang="en-US" sz="2800" kern="0" dirty="0">
                <a:latin typeface="+mn-lt"/>
              </a:rPr>
              <a:t> do </a:t>
            </a:r>
            <a:r>
              <a:rPr lang="en-US" sz="2800" kern="0" dirty="0" err="1">
                <a:latin typeface="+mn-lt"/>
              </a:rPr>
              <a:t>mesmo</a:t>
            </a:r>
            <a:endParaRPr lang="en-US" sz="2800" kern="0" dirty="0">
              <a:latin typeface="+mn-lt"/>
            </a:endParaRPr>
          </a:p>
        </p:txBody>
      </p:sp>
      <p:pic>
        <p:nvPicPr>
          <p:cNvPr id="31746" name="Picture 4" descr="3-001_Spacewings">
            <a:extLst>
              <a:ext uri="{FF2B5EF4-FFF2-40B4-BE49-F238E27FC236}">
                <a16:creationId xmlns:a16="http://schemas.microsoft.com/office/drawing/2014/main" id="{89FD6F7C-FBC9-0B41-A7D5-FFCA7BD9B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5038" y="1509713"/>
            <a:ext cx="4065587" cy="406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478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4">
            <a:extLst>
              <a:ext uri="{FF2B5EF4-FFF2-40B4-BE49-F238E27FC236}">
                <a16:creationId xmlns:a16="http://schemas.microsoft.com/office/drawing/2014/main" id="{EBBB1D49-7418-5841-AAC4-45C4C98041D9}"/>
              </a:ext>
            </a:extLst>
          </p:cNvPr>
          <p:cNvGrpSpPr>
            <a:grpSpLocks/>
          </p:cNvGrpSpPr>
          <p:nvPr/>
        </p:nvGrpSpPr>
        <p:grpSpPr bwMode="auto">
          <a:xfrm>
            <a:off x="1624090" y="928048"/>
            <a:ext cx="4624310" cy="5015552"/>
            <a:chOff x="1968" y="624"/>
            <a:chExt cx="2544" cy="3024"/>
          </a:xfrm>
        </p:grpSpPr>
        <p:sp>
          <p:nvSpPr>
            <p:cNvPr id="32774" name="Oval 5">
              <a:extLst>
                <a:ext uri="{FF2B5EF4-FFF2-40B4-BE49-F238E27FC236}">
                  <a16:creationId xmlns:a16="http://schemas.microsoft.com/office/drawing/2014/main" id="{937A761C-4380-4C49-93FA-2CF9E6524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624"/>
              <a:ext cx="1680" cy="864"/>
            </a:xfrm>
            <a:prstGeom prst="ellipse">
              <a:avLst/>
            </a:prstGeom>
            <a:solidFill>
              <a:schemeClr val="accent1"/>
            </a:solidFill>
            <a:ln w="9525">
              <a:round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 dirty="0" err="1">
                  <a:solidFill>
                    <a:srgbClr val="0000CC"/>
                  </a:solidFill>
                </a:rPr>
                <a:t>Propriedades</a:t>
              </a:r>
              <a:r>
                <a:rPr lang="en-US" altLang="pt-BR" sz="2400" b="1" dirty="0">
                  <a:solidFill>
                    <a:srgbClr val="0000CC"/>
                  </a:solidFill>
                </a:rPr>
                <a:t> dos 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pt-BR" sz="2400" b="1" dirty="0" err="1">
                  <a:solidFill>
                    <a:srgbClr val="0000CC"/>
                  </a:solidFill>
                </a:rPr>
                <a:t>Materiais</a:t>
              </a:r>
              <a:endParaRPr lang="en-US" altLang="pt-BR" sz="2400" b="1" dirty="0">
                <a:solidFill>
                  <a:srgbClr val="0000CC"/>
                </a:solidFill>
              </a:endParaRPr>
            </a:p>
          </p:txBody>
        </p:sp>
        <p:sp>
          <p:nvSpPr>
            <p:cNvPr id="32775" name="Rectangle 6">
              <a:extLst>
                <a:ext uri="{FF2B5EF4-FFF2-40B4-BE49-F238E27FC236}">
                  <a16:creationId xmlns:a16="http://schemas.microsoft.com/office/drawing/2014/main" id="{923B331D-16C6-094B-8B08-FC13A69AB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872"/>
              <a:ext cx="1536" cy="768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  <a:contourClr>
                <a:schemeClr val="accent1"/>
              </a:contourClr>
            </a:sp3d>
          </p:spPr>
          <p:txBody>
            <a:bodyPr wrap="none" anchor="ctr">
              <a:flatTx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71399" name="Rectangle 7">
              <a:extLst>
                <a:ext uri="{FF2B5EF4-FFF2-40B4-BE49-F238E27FC236}">
                  <a16:creationId xmlns:a16="http://schemas.microsoft.com/office/drawing/2014/main" id="{53519D77-7048-E840-B2AF-AD644D0FC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76"/>
              <a:ext cx="2544" cy="672"/>
            </a:xfrm>
            <a:prstGeom prst="rect">
              <a:avLst/>
            </a:prstGeom>
            <a:solidFill>
              <a:schemeClr val="accent1"/>
            </a:solidFill>
            <a:ln w="9525">
              <a:miter lim="800000"/>
              <a:headEnd/>
              <a:tailEnd/>
            </a:ln>
            <a:effectLst/>
            <a:scene3d>
              <a:camera prst="legacyObliqueTopRight"/>
              <a:lightRig rig="legacyFlat3" dir="b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accent1"/>
              </a:extrusionClr>
            </a:sp3d>
          </p:spPr>
          <p:txBody>
            <a:bodyPr wrap="none" anchor="ctr">
              <a:flatTx/>
            </a:bodyPr>
            <a:lstStyle/>
            <a:p>
              <a:pPr algn="ctr" eaLnBrk="1" hangingPunct="1">
                <a:defRPr/>
              </a:pPr>
              <a:r>
                <a:rPr lang="en-US" b="1" dirty="0" err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Composição</a:t>
              </a:r>
              <a:r>
                <a:rPr lang="en-US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 e </a:t>
              </a:r>
              <a:r>
                <a:rPr lang="en-US" b="1" dirty="0" err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Processo</a:t>
              </a:r>
              <a:endPara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  <a:p>
              <a:pPr algn="ctr" eaLnBrk="1" hangingPunct="1">
                <a:defRPr/>
              </a:pPr>
              <a:r>
                <a:rPr lang="en-US" b="1" dirty="0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de </a:t>
              </a:r>
              <a:r>
                <a:rPr lang="en-US" b="1" dirty="0" err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Fabricação</a:t>
              </a:r>
              <a:endPara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32777" name="AutoShape 8">
              <a:extLst>
                <a:ext uri="{FF2B5EF4-FFF2-40B4-BE49-F238E27FC236}">
                  <a16:creationId xmlns:a16="http://schemas.microsoft.com/office/drawing/2014/main" id="{6D6B0202-7F58-E14F-AA58-7E1E93E3C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488"/>
              <a:ext cx="192" cy="384"/>
            </a:xfrm>
            <a:prstGeom prst="curvedLeftArrow">
              <a:avLst>
                <a:gd name="adj1" fmla="val 40000"/>
                <a:gd name="adj2" fmla="val 8000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32778" name="AutoShape 9">
              <a:extLst>
                <a:ext uri="{FF2B5EF4-FFF2-40B4-BE49-F238E27FC236}">
                  <a16:creationId xmlns:a16="http://schemas.microsoft.com/office/drawing/2014/main" id="{4C5DC042-8CC4-F942-83E1-9EF3CE2181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640"/>
              <a:ext cx="192" cy="336"/>
            </a:xfrm>
            <a:prstGeom prst="curvedLeftArrow">
              <a:avLst>
                <a:gd name="adj1" fmla="val 35000"/>
                <a:gd name="adj2" fmla="val 70000"/>
                <a:gd name="adj3" fmla="val 3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pt-BR" altLang="pt-BR" sz="2400"/>
            </a:p>
          </p:txBody>
        </p:sp>
        <p:sp>
          <p:nvSpPr>
            <p:cNvPr id="571404" name="Text Box 12">
              <a:extLst>
                <a:ext uri="{FF2B5EF4-FFF2-40B4-BE49-F238E27FC236}">
                  <a16:creationId xmlns:a16="http://schemas.microsoft.com/office/drawing/2014/main" id="{142490CF-164F-DD4B-A214-C76DADD243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112"/>
              <a:ext cx="147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b="1" dirty="0" err="1">
                  <a:solidFill>
                    <a:srgbClr val="0000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Microestrutura</a:t>
              </a:r>
              <a:endPara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sp>
        <p:nvSpPr>
          <p:cNvPr id="32770" name="Line 19">
            <a:extLst>
              <a:ext uri="{FF2B5EF4-FFF2-40B4-BE49-F238E27FC236}">
                <a16:creationId xmlns:a16="http://schemas.microsoft.com/office/drawing/2014/main" id="{4B67AFEB-3548-5345-9417-1BCDFFB252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91400" y="2133600"/>
            <a:ext cx="0" cy="3810000"/>
          </a:xfrm>
          <a:prstGeom prst="line">
            <a:avLst/>
          </a:prstGeom>
          <a:noFill/>
          <a:ln w="7620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32771" name="Text Box 20">
            <a:extLst>
              <a:ext uri="{FF2B5EF4-FFF2-40B4-BE49-F238E27FC236}">
                <a16:creationId xmlns:a16="http://schemas.microsoft.com/office/drawing/2014/main" id="{6BA4F516-FB25-FE4C-A4AB-BEC23B211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209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endParaRPr lang="pt-BR" altLang="pt-BR" sz="2400"/>
          </a:p>
        </p:txBody>
      </p:sp>
      <p:sp>
        <p:nvSpPr>
          <p:cNvPr id="32772" name="Text Box 21">
            <a:extLst>
              <a:ext uri="{FF2B5EF4-FFF2-40B4-BE49-F238E27FC236}">
                <a16:creationId xmlns:a16="http://schemas.microsoft.com/office/drawing/2014/main" id="{94D974E9-A22E-7646-94C1-FD375E195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209800"/>
            <a:ext cx="457200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pt-BR" sz="2400"/>
              <a:t>ENGENHAR I A</a:t>
            </a:r>
          </a:p>
        </p:txBody>
      </p:sp>
      <p:sp>
        <p:nvSpPr>
          <p:cNvPr id="32773" name="Line 22">
            <a:extLst>
              <a:ext uri="{FF2B5EF4-FFF2-40B4-BE49-F238E27FC236}">
                <a16:creationId xmlns:a16="http://schemas.microsoft.com/office/drawing/2014/main" id="{6198B25F-7340-5044-AAC0-B2B0F916D21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0" y="2209800"/>
            <a:ext cx="0" cy="373380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34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C34704-08B7-5441-AE0F-1E6F4781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8" y="0"/>
            <a:ext cx="7388225" cy="706438"/>
          </a:xfrm>
        </p:spPr>
        <p:txBody>
          <a:bodyPr/>
          <a:lstStyle/>
          <a:p>
            <a:r>
              <a:rPr lang="pt-BR" dirty="0"/>
              <a:t>TETRAEDRO DOS MATERIAIS </a:t>
            </a:r>
          </a:p>
        </p:txBody>
      </p:sp>
      <p:pic>
        <p:nvPicPr>
          <p:cNvPr id="77828" name="Picture 4">
            <a:extLst>
              <a:ext uri="{FF2B5EF4-FFF2-40B4-BE49-F238E27FC236}">
                <a16:creationId xmlns:a16="http://schemas.microsoft.com/office/drawing/2014/main" id="{93F7D14E-A011-5648-B8DA-146D0D9D61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8" y="1484766"/>
            <a:ext cx="7488774" cy="4555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60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Uma imagem contendo Diagrama&#10;&#10;Descrição gerada automaticamente">
            <a:extLst>
              <a:ext uri="{FF2B5EF4-FFF2-40B4-BE49-F238E27FC236}">
                <a16:creationId xmlns:a16="http://schemas.microsoft.com/office/drawing/2014/main" id="{5DABE8C9-56FB-BE46-AF61-B268AB104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597"/>
            <a:ext cx="9144000" cy="6172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6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1 - Materiais">
            <a:extLst>
              <a:ext uri="{FF2B5EF4-FFF2-40B4-BE49-F238E27FC236}">
                <a16:creationId xmlns:a16="http://schemas.microsoft.com/office/drawing/2014/main" id="{DB80A048-F211-F145-9078-BFFD4D849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777" y="1071028"/>
            <a:ext cx="5779332" cy="363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76" name="Picture 4" descr="Promoção Par Peneu Bridgestone 215/65r16 Dueler Frete Grátis - R$ 1.500,00  em Mercado Livre">
            <a:extLst>
              <a:ext uri="{FF2B5EF4-FFF2-40B4-BE49-F238E27FC236}">
                <a16:creationId xmlns:a16="http://schemas.microsoft.com/office/drawing/2014/main" id="{BA8520D3-420F-E848-91EE-A01FF5928A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4256" y="2199554"/>
            <a:ext cx="1746247" cy="977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78" name="Picture 6" descr="5 opções de aplicação para uso do vergalhão de alumínio | GDRW Metais">
            <a:extLst>
              <a:ext uri="{FF2B5EF4-FFF2-40B4-BE49-F238E27FC236}">
                <a16:creationId xmlns:a16="http://schemas.microsoft.com/office/drawing/2014/main" id="{AAB99207-6E5B-2E48-AD2B-DFE7DA4B6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496" y="987571"/>
            <a:ext cx="2082800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80" name="Picture 8" descr="Fábrica De Plástico Na Índia Bom Polímero Propriedades Pc &amp; Abs Liga De  Plástico Resistência Ao Impacto Modificador - Buy Pc &amp; Abs Liga De Plástico  Resistência Ao Impacto Modificador,Boas Propriedades De">
            <a:extLst>
              <a:ext uri="{FF2B5EF4-FFF2-40B4-BE49-F238E27FC236}">
                <a16:creationId xmlns:a16="http://schemas.microsoft.com/office/drawing/2014/main" id="{6B90AE0B-9C17-594D-A243-3096EE032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859" y="448219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82" name="Picture 10" descr="Fibras de Vidro a metro - manicures show material para alongamento de unhas">
            <a:extLst>
              <a:ext uri="{FF2B5EF4-FFF2-40B4-BE49-F238E27FC236}">
                <a16:creationId xmlns:a16="http://schemas.microsoft.com/office/drawing/2014/main" id="{024D35A5-8836-784D-873C-D7ABA0E24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9" y="4531178"/>
            <a:ext cx="1305547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84" name="Picture 12" descr="Compre Fibra De Vidro Bicicleta Bar Ends Policarbonato + Bicicleta Guiador  Barend Barends MTB Mountain Bike Bar Termina Peças Da Bicicleta De  Wjh331213, $21,36 | Pt.Dhgate.Com">
            <a:extLst>
              <a:ext uri="{FF2B5EF4-FFF2-40B4-BE49-F238E27FC236}">
                <a16:creationId xmlns:a16="http://schemas.microsoft.com/office/drawing/2014/main" id="{32DBA014-DE3A-B946-B6E7-6488BFBD0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2375" y="5490027"/>
            <a:ext cx="1015841" cy="1015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86" name="Picture 14" descr="Porcelanato Externo Madeira Esmaltado Borda Reta 61517 61x61cm  Cristofoletti | Leroy Merlin">
            <a:extLst>
              <a:ext uri="{FF2B5EF4-FFF2-40B4-BE49-F238E27FC236}">
                <a16:creationId xmlns:a16="http://schemas.microsoft.com/office/drawing/2014/main" id="{310F1908-D85E-6C4E-9413-7FEAF38C4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16" y="4531178"/>
            <a:ext cx="531212" cy="53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88" name="Picture 16">
            <a:extLst>
              <a:ext uri="{FF2B5EF4-FFF2-40B4-BE49-F238E27FC236}">
                <a16:creationId xmlns:a16="http://schemas.microsoft.com/office/drawing/2014/main" id="{5B8FE075-9C5C-214F-88AB-28CEAC890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057" y="4566556"/>
            <a:ext cx="1550243" cy="86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90" name="Picture 18" descr="Cimento: entenda as diferenças das classificações - Capacitação - Mapa da  Obra">
            <a:extLst>
              <a:ext uri="{FF2B5EF4-FFF2-40B4-BE49-F238E27FC236}">
                <a16:creationId xmlns:a16="http://schemas.microsoft.com/office/drawing/2014/main" id="{830FCE10-533A-3B40-B554-83EFFD9A5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420" y="5434692"/>
            <a:ext cx="2082801" cy="1293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892" name="Picture 20" descr="Concreto armado – Wikipédia, a enciclopédia livre">
            <a:extLst>
              <a:ext uri="{FF2B5EF4-FFF2-40B4-BE49-F238E27FC236}">
                <a16:creationId xmlns:a16="http://schemas.microsoft.com/office/drawing/2014/main" id="{1B3A73B7-DD1D-8F47-A663-9E8270278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46" y="987571"/>
            <a:ext cx="2355047" cy="1567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5943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E0EF0764-AE27-4746-9EF1-E445EF40C7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1938" y="949325"/>
            <a:ext cx="7677150" cy="1155700"/>
          </a:xfrm>
          <a:solidFill>
            <a:srgbClr val="FFFF66"/>
          </a:solidFill>
        </p:spPr>
        <p:txBody>
          <a:bodyPr/>
          <a:lstStyle/>
          <a:p>
            <a:r>
              <a:rPr lang="pt-BR" altLang="pt-BR" b="1">
                <a:solidFill>
                  <a:schemeClr val="tx1"/>
                </a:solidFill>
              </a:rPr>
              <a:t>Quais os critérios que um engenheiro deve adotar para selecionar um material entre tantos outros? </a:t>
            </a:r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898CF140-F482-9347-8A39-B356273752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1938" y="2790825"/>
            <a:ext cx="8670925" cy="4414838"/>
          </a:xfrm>
        </p:spPr>
        <p:txBody>
          <a:bodyPr/>
          <a:lstStyle/>
          <a:p>
            <a:pPr algn="just"/>
            <a:r>
              <a:rPr lang="pt-BR" altLang="pt-BR"/>
              <a:t>Em primeiro lugar, o engenheiro deve caracterizar quais as </a:t>
            </a:r>
            <a:r>
              <a:rPr lang="pt-BR" altLang="pt-BR" u="sng"/>
              <a:t>condições de operação</a:t>
            </a:r>
            <a:r>
              <a:rPr lang="pt-BR" altLang="pt-BR"/>
              <a:t> que será submetido o referido material e </a:t>
            </a:r>
            <a:r>
              <a:rPr lang="pt-BR" altLang="pt-BR" u="sng"/>
              <a:t>levantar as propriedades requeridas para tal aplicação</a:t>
            </a:r>
            <a:r>
              <a:rPr lang="pt-BR" altLang="pt-BR"/>
              <a:t>, saber como esses valores foram determinados e quais as limitações e restrições quanto ao uso dos mesmos.</a:t>
            </a:r>
            <a:endParaRPr lang="pt-BR" altLang="pt-BR" sz="4000"/>
          </a:p>
          <a:p>
            <a:pPr algn="just">
              <a:buFont typeface="Wingdings" pitchFamily="2" charset="2"/>
              <a:buNone/>
            </a:pPr>
            <a:r>
              <a:rPr lang="pt-BR" altLang="pt-BR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227497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050">
            <a:extLst>
              <a:ext uri="{FF2B5EF4-FFF2-40B4-BE49-F238E27FC236}">
                <a16:creationId xmlns:a16="http://schemas.microsoft.com/office/drawing/2014/main" id="{83D3F60B-33DF-4F44-BF4F-0A2155373C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1000125"/>
            <a:ext cx="8089900" cy="1214438"/>
          </a:xfrm>
          <a:solidFill>
            <a:srgbClr val="FFFF66"/>
          </a:solidFill>
        </p:spPr>
        <p:txBody>
          <a:bodyPr/>
          <a:lstStyle/>
          <a:p>
            <a:r>
              <a:rPr lang="pt-BR" altLang="pt-BR" b="1">
                <a:solidFill>
                  <a:schemeClr val="tx1"/>
                </a:solidFill>
              </a:rPr>
              <a:t>Quais os critérios que um engenheiro deve adotar para selecionar um material entre tantos outros? </a:t>
            </a:r>
          </a:p>
        </p:txBody>
      </p:sp>
      <p:sp>
        <p:nvSpPr>
          <p:cNvPr id="38914" name="Rectangle 2051">
            <a:extLst>
              <a:ext uri="{FF2B5EF4-FFF2-40B4-BE49-F238E27FC236}">
                <a16:creationId xmlns:a16="http://schemas.microsoft.com/office/drawing/2014/main" id="{793F6C27-561E-2148-925B-E5A650D1E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2875" y="2468563"/>
            <a:ext cx="8574088" cy="5238750"/>
          </a:xfrm>
        </p:spPr>
        <p:txBody>
          <a:bodyPr/>
          <a:lstStyle/>
          <a:p>
            <a:pPr algn="just"/>
            <a:r>
              <a:rPr lang="pt-BR" altLang="pt-BR"/>
              <a:t>A segunda consideração na escolha do material refere-se ao levantamento sobre o </a:t>
            </a:r>
            <a:r>
              <a:rPr lang="pt-BR" altLang="pt-BR" u="sng"/>
              <a:t>tipo de degradação</a:t>
            </a:r>
            <a:r>
              <a:rPr lang="pt-BR" altLang="pt-BR"/>
              <a:t> que o material sofrerá em serviço. Por exemplo, elevadas temperaturas e ambientes corrosivos diminuem consideravelmente a resistência mecânica.</a:t>
            </a:r>
          </a:p>
          <a:p>
            <a:pPr algn="just">
              <a:buFont typeface="Wingdings" pitchFamily="2" charset="2"/>
              <a:buNone/>
            </a:pPr>
            <a:r>
              <a:rPr lang="pt-BR" altLang="pt-BR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72496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026">
            <a:extLst>
              <a:ext uri="{FF2B5EF4-FFF2-40B4-BE49-F238E27FC236}">
                <a16:creationId xmlns:a16="http://schemas.microsoft.com/office/drawing/2014/main" id="{6C76797D-526C-0C4D-988B-D3D2C7ED47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63" y="1117600"/>
            <a:ext cx="8672512" cy="1011238"/>
          </a:xfrm>
          <a:solidFill>
            <a:srgbClr val="FFFF66"/>
          </a:solidFill>
        </p:spPr>
        <p:txBody>
          <a:bodyPr/>
          <a:lstStyle/>
          <a:p>
            <a:r>
              <a:rPr lang="pt-BR" altLang="pt-BR" b="1">
                <a:solidFill>
                  <a:schemeClr val="tx1"/>
                </a:solidFill>
              </a:rPr>
              <a:t>Quais os critérios que um engenheiro deve adotar para selecionar um material entre tantos outros? </a:t>
            </a:r>
          </a:p>
        </p:txBody>
      </p:sp>
      <p:sp>
        <p:nvSpPr>
          <p:cNvPr id="39938" name="Rectangle 1027">
            <a:extLst>
              <a:ext uri="{FF2B5EF4-FFF2-40B4-BE49-F238E27FC236}">
                <a16:creationId xmlns:a16="http://schemas.microsoft.com/office/drawing/2014/main" id="{0E20201B-B059-4A4D-BA93-25ABB5813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163" y="2451100"/>
            <a:ext cx="8575675" cy="5238750"/>
          </a:xfrm>
        </p:spPr>
        <p:txBody>
          <a:bodyPr/>
          <a:lstStyle/>
          <a:p>
            <a:r>
              <a:rPr lang="pt-BR" altLang="pt-BR" b="1"/>
              <a:t>Finalmente, a consideração talvez mais convincente é provavelmente a econômica: </a:t>
            </a:r>
          </a:p>
          <a:p>
            <a:pPr>
              <a:buFont typeface="Wingdings" pitchFamily="2" charset="2"/>
              <a:buNone/>
            </a:pPr>
            <a:r>
              <a:rPr lang="pt-BR" altLang="pt-BR" b="1" i="1"/>
              <a:t>Qual o custo do produto acabado??? </a:t>
            </a:r>
            <a:r>
              <a:rPr lang="pt-BR" altLang="pt-BR" b="1"/>
              <a:t>Um material pode reunir um conjunto ideal de propriedades, porém com custo elevadíssimo. </a:t>
            </a:r>
            <a:r>
              <a:rPr lang="pt-BR" altLang="pt-BR"/>
              <a:t>		</a:t>
            </a:r>
          </a:p>
        </p:txBody>
      </p:sp>
      <p:sp>
        <p:nvSpPr>
          <p:cNvPr id="39939" name="Rectangle 1028">
            <a:extLst>
              <a:ext uri="{FF2B5EF4-FFF2-40B4-BE49-F238E27FC236}">
                <a16:creationId xmlns:a16="http://schemas.microsoft.com/office/drawing/2014/main" id="{26ABFDA5-82CB-0D45-8946-CD4013647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250" y="5276850"/>
            <a:ext cx="72390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 b="1"/>
              <a:t>FILOSOFIA DO COMPROMISSO</a:t>
            </a:r>
            <a:endParaRPr lang="pt-BR" altLang="pt-BR" sz="2400"/>
          </a:p>
        </p:txBody>
      </p:sp>
    </p:spTree>
    <p:extLst>
      <p:ext uri="{BB962C8B-B14F-4D97-AF65-F5344CB8AC3E}">
        <p14:creationId xmlns:p14="http://schemas.microsoft.com/office/powerpoint/2010/main" val="1458710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17E3C35B-62ED-5C4C-8141-2A9E5FE19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4163" y="915988"/>
            <a:ext cx="8574087" cy="1171575"/>
          </a:xfrm>
          <a:solidFill>
            <a:srgbClr val="FFFF66"/>
          </a:solidFill>
        </p:spPr>
        <p:txBody>
          <a:bodyPr/>
          <a:lstStyle/>
          <a:p>
            <a:r>
              <a:rPr lang="pt-BR" altLang="pt-BR" b="1">
                <a:solidFill>
                  <a:schemeClr val="tx1"/>
                </a:solidFill>
              </a:rPr>
              <a:t>Quais os critérios que um engenheiro deve adotar para selecionar um material entre tantos outros? 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E4CF6A24-B782-3C4D-9CB5-54C498C3E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4163" y="2346325"/>
            <a:ext cx="8574087" cy="4511675"/>
          </a:xfrm>
        </p:spPr>
        <p:txBody>
          <a:bodyPr/>
          <a:lstStyle/>
          <a:p>
            <a:r>
              <a:rPr lang="pt-BR" altLang="pt-BR" u="sng"/>
              <a:t>Em raras ocasiões um material reúne uma combinação ideal de propriedades</a:t>
            </a:r>
            <a:r>
              <a:rPr lang="pt-BR" altLang="pt-BR"/>
              <a:t>, ou seja, muitas vezes é necessário reduzir uma em benefício da outra. </a:t>
            </a:r>
          </a:p>
          <a:p>
            <a:r>
              <a:rPr lang="pt-BR" altLang="pt-BR"/>
              <a:t>Um exemplo clássico são resistência e ductilidade, geralmente um material de alta resistência apresenta ductilidade limitada. Este tipo de circunstância exige que se estabeleça um compromisso razoável entre duas ou mais propriedades.</a:t>
            </a:r>
          </a:p>
        </p:txBody>
      </p:sp>
    </p:spTree>
    <p:extLst>
      <p:ext uri="{BB962C8B-B14F-4D97-AF65-F5344CB8AC3E}">
        <p14:creationId xmlns:p14="http://schemas.microsoft.com/office/powerpoint/2010/main" val="2637028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4">
            <a:extLst>
              <a:ext uri="{FF2B5EF4-FFF2-40B4-BE49-F238E27FC236}">
                <a16:creationId xmlns:a16="http://schemas.microsoft.com/office/drawing/2014/main" id="{392C25BC-45D9-E045-8344-E9E0AE263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2249488"/>
            <a:ext cx="6530975" cy="3008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4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FBA850E-CDDF-094D-8262-6C3690ABD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806450"/>
            <a:ext cx="7772400" cy="1143000"/>
          </a:xfrm>
        </p:spPr>
        <p:txBody>
          <a:bodyPr/>
          <a:lstStyle/>
          <a:p>
            <a:r>
              <a:rPr lang="en-US" altLang="pt-BR" b="1"/>
              <a:t>SELEÇÃO DOS MATERIAIS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A80B388-59BB-4E48-B08E-A34327C4AE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57338" y="2014538"/>
            <a:ext cx="7772400" cy="4114800"/>
          </a:xfrm>
        </p:spPr>
        <p:txBody>
          <a:bodyPr/>
          <a:lstStyle/>
          <a:p>
            <a:endParaRPr lang="en-US" altLang="pt-BR" dirty="0"/>
          </a:p>
          <a:p>
            <a:r>
              <a:rPr lang="en-US" altLang="pt-BR" dirty="0"/>
              <a:t>Envolve </a:t>
            </a:r>
            <a:r>
              <a:rPr lang="en-US" altLang="pt-BR" dirty="0" err="1"/>
              <a:t>principalmente</a:t>
            </a:r>
            <a:r>
              <a:rPr lang="en-US" altLang="pt-BR" dirty="0"/>
              <a:t>:</a:t>
            </a:r>
          </a:p>
          <a:p>
            <a:pPr>
              <a:buFont typeface="Wingdings" pitchFamily="2" charset="2"/>
              <a:buNone/>
            </a:pPr>
            <a:r>
              <a:rPr lang="en-US" altLang="pt-BR" dirty="0"/>
              <a:t>- Eng. </a:t>
            </a:r>
            <a:r>
              <a:rPr lang="en-US" altLang="pt-BR" dirty="0" err="1"/>
              <a:t>Projetista</a:t>
            </a:r>
            <a:endParaRPr lang="en-US" altLang="pt-BR" dirty="0"/>
          </a:p>
          <a:p>
            <a:pPr>
              <a:buFont typeface="Wingdings" pitchFamily="2" charset="2"/>
              <a:buNone/>
            </a:pPr>
            <a:r>
              <a:rPr lang="en-US" altLang="pt-BR" dirty="0"/>
              <a:t>- Eng. </a:t>
            </a:r>
            <a:r>
              <a:rPr lang="en-US" altLang="pt-BR" dirty="0" err="1"/>
              <a:t>Materiais</a:t>
            </a:r>
            <a:r>
              <a:rPr lang="en-US" altLang="pt-BR" dirty="0"/>
              <a:t> e/</a:t>
            </a:r>
            <a:r>
              <a:rPr lang="en-US" altLang="pt-BR" dirty="0" err="1"/>
              <a:t>ou</a:t>
            </a:r>
            <a:r>
              <a:rPr lang="en-US" altLang="pt-BR" dirty="0"/>
              <a:t> </a:t>
            </a:r>
            <a:r>
              <a:rPr lang="en-US" altLang="pt-BR" dirty="0" err="1"/>
              <a:t>processo</a:t>
            </a:r>
            <a:endParaRPr lang="en-US" altLang="pt-BR" dirty="0"/>
          </a:p>
          <a:p>
            <a:pPr>
              <a:buFont typeface="Wingdings" pitchFamily="2" charset="2"/>
              <a:buNone/>
            </a:pPr>
            <a:r>
              <a:rPr lang="en-US" altLang="pt-BR" dirty="0"/>
              <a:t>- Eng. </a:t>
            </a:r>
            <a:r>
              <a:rPr lang="en-US" altLang="pt-BR" dirty="0" err="1"/>
              <a:t>Produção</a:t>
            </a:r>
            <a:endParaRPr lang="en-US" altLang="pt-BR" dirty="0"/>
          </a:p>
        </p:txBody>
      </p:sp>
    </p:spTree>
    <p:extLst>
      <p:ext uri="{BB962C8B-B14F-4D97-AF65-F5344CB8AC3E}">
        <p14:creationId xmlns:p14="http://schemas.microsoft.com/office/powerpoint/2010/main" val="3908310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E354F27A-7270-8041-ABDB-BDF5B043C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altLang="pt-BR"/>
              <a:t>SELEÇÃO DOS MATERIAIS POR ÍNDICE DE MÉRITO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F446D9B2-3488-7F47-A70D-C6DF145BF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043113"/>
            <a:ext cx="8153400" cy="4114800"/>
          </a:xfrm>
        </p:spPr>
        <p:txBody>
          <a:bodyPr/>
          <a:lstStyle/>
          <a:p>
            <a:r>
              <a:rPr lang="en-US" altLang="pt-BR"/>
              <a:t>Ex. Resistência:</a:t>
            </a:r>
          </a:p>
          <a:p>
            <a:pPr>
              <a:buFont typeface="Wingdings" pitchFamily="2" charset="2"/>
              <a:buNone/>
            </a:pPr>
            <a:r>
              <a:rPr lang="en-US" altLang="pt-BR"/>
              <a:t>Material 	 Aço-liga		Ti   	 Al	    PRFC</a:t>
            </a:r>
          </a:p>
          <a:p>
            <a:pPr>
              <a:buFont typeface="Wingdings" pitchFamily="2" charset="2"/>
              <a:buNone/>
            </a:pPr>
            <a:r>
              <a:rPr lang="en-US" altLang="pt-BR"/>
              <a:t>			 </a:t>
            </a:r>
            <a:r>
              <a:rPr lang="en-US" altLang="pt-BR" sz="2400"/>
              <a:t>(alta resist.)	     	       (AA7074)</a:t>
            </a:r>
          </a:p>
          <a:p>
            <a:pPr>
              <a:buFont typeface="Wingdings" pitchFamily="2" charset="2"/>
              <a:buNone/>
            </a:pPr>
            <a:endParaRPr lang="en-US" altLang="pt-BR" sz="2400"/>
          </a:p>
          <a:p>
            <a:pPr>
              <a:buFont typeface="Wingdings" pitchFamily="2" charset="2"/>
              <a:buNone/>
            </a:pPr>
            <a:r>
              <a:rPr lang="en-US" altLang="pt-BR" sz="2400"/>
              <a:t>Resist. (MPa)    1000		800	500		700</a:t>
            </a:r>
          </a:p>
          <a:p>
            <a:pPr>
              <a:buFont typeface="Wingdings" pitchFamily="2" charset="2"/>
              <a:buNone/>
            </a:pPr>
            <a:r>
              <a:rPr lang="en-US" altLang="pt-BR" sz="2400"/>
              <a:t>à tração</a:t>
            </a:r>
          </a:p>
        </p:txBody>
      </p:sp>
      <p:sp>
        <p:nvSpPr>
          <p:cNvPr id="43011" name="Line 4">
            <a:extLst>
              <a:ext uri="{FF2B5EF4-FFF2-40B4-BE49-F238E27FC236}">
                <a16:creationId xmlns:a16="http://schemas.microsoft.com/office/drawing/2014/main" id="{EAE4FE7D-7277-E44A-8980-3ED52A47A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8862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012" name="Line 5">
            <a:extLst>
              <a:ext uri="{FF2B5EF4-FFF2-40B4-BE49-F238E27FC236}">
                <a16:creationId xmlns:a16="http://schemas.microsoft.com/office/drawing/2014/main" id="{70B8F69D-14F0-764A-AE16-EA333A4DC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9718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013" name="Line 6">
            <a:extLst>
              <a:ext uri="{FF2B5EF4-FFF2-40B4-BE49-F238E27FC236}">
                <a16:creationId xmlns:a16="http://schemas.microsoft.com/office/drawing/2014/main" id="{27A9282D-CAC9-F24E-ABCC-65B42F1AAFE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6000" y="2751138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014" name="Line 7">
            <a:extLst>
              <a:ext uri="{FF2B5EF4-FFF2-40B4-BE49-F238E27FC236}">
                <a16:creationId xmlns:a16="http://schemas.microsoft.com/office/drawing/2014/main" id="{0363514B-4DB0-0040-8919-30091FAECF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538" y="26924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015" name="Line 8">
            <a:extLst>
              <a:ext uri="{FF2B5EF4-FFF2-40B4-BE49-F238E27FC236}">
                <a16:creationId xmlns:a16="http://schemas.microsoft.com/office/drawing/2014/main" id="{BC22FE64-D336-9547-9B99-236C2E186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6200" y="2895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3016" name="Text Box 9">
            <a:extLst>
              <a:ext uri="{FF2B5EF4-FFF2-40B4-BE49-F238E27FC236}">
                <a16:creationId xmlns:a16="http://schemas.microsoft.com/office/drawing/2014/main" id="{B9EA867C-9814-4544-8319-F976BD358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15000"/>
            <a:ext cx="563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PRFC= Polímero reforçado com fibra de carbono</a:t>
            </a:r>
          </a:p>
        </p:txBody>
      </p:sp>
    </p:spTree>
    <p:extLst>
      <p:ext uri="{BB962C8B-B14F-4D97-AF65-F5344CB8AC3E}">
        <p14:creationId xmlns:p14="http://schemas.microsoft.com/office/powerpoint/2010/main" val="178182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026">
            <a:extLst>
              <a:ext uri="{FF2B5EF4-FFF2-40B4-BE49-F238E27FC236}">
                <a16:creationId xmlns:a16="http://schemas.microsoft.com/office/drawing/2014/main" id="{237B4AD5-0701-8C4D-A70B-67376553A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altLang="pt-BR"/>
              <a:t>SELEÇÃO DOS MATERIAIS POR ÍNDICE DE MÉRITO</a:t>
            </a:r>
          </a:p>
        </p:txBody>
      </p:sp>
      <p:sp>
        <p:nvSpPr>
          <p:cNvPr id="44034" name="Rectangle 1027">
            <a:extLst>
              <a:ext uri="{FF2B5EF4-FFF2-40B4-BE49-F238E27FC236}">
                <a16:creationId xmlns:a16="http://schemas.microsoft.com/office/drawing/2014/main" id="{B61B9EE7-E91A-5D4C-B830-8807BCA1DB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057400"/>
            <a:ext cx="8153400" cy="4114800"/>
          </a:xfrm>
        </p:spPr>
        <p:txBody>
          <a:bodyPr/>
          <a:lstStyle/>
          <a:p>
            <a:r>
              <a:rPr lang="en-US" altLang="pt-BR"/>
              <a:t>Ex. Resistência/peso:</a:t>
            </a:r>
          </a:p>
          <a:p>
            <a:endParaRPr lang="en-US" altLang="pt-BR"/>
          </a:p>
          <a:p>
            <a:pPr>
              <a:buFont typeface="Wingdings" pitchFamily="2" charset="2"/>
              <a:buNone/>
            </a:pPr>
            <a:r>
              <a:rPr lang="en-US" altLang="pt-BR"/>
              <a:t>Material 	 Aço-liga		Ti   	 Al	    PRFC</a:t>
            </a:r>
          </a:p>
          <a:p>
            <a:pPr>
              <a:buFont typeface="Wingdings" pitchFamily="2" charset="2"/>
              <a:buNone/>
            </a:pPr>
            <a:r>
              <a:rPr lang="en-US" altLang="pt-BR"/>
              <a:t>			 </a:t>
            </a:r>
            <a:r>
              <a:rPr lang="en-US" altLang="pt-BR" sz="2400"/>
              <a:t>(alta resist.)	     	       (AA7074)</a:t>
            </a:r>
          </a:p>
          <a:p>
            <a:pPr>
              <a:buFont typeface="Wingdings" pitchFamily="2" charset="2"/>
              <a:buNone/>
            </a:pPr>
            <a:endParaRPr lang="en-US" altLang="pt-BR" sz="2400"/>
          </a:p>
          <a:p>
            <a:pPr>
              <a:buFont typeface="Wingdings" pitchFamily="2" charset="2"/>
              <a:buNone/>
            </a:pPr>
            <a:r>
              <a:rPr lang="en-US" altLang="pt-BR" sz="2400"/>
              <a:t>		          	     133	        170	185		390</a:t>
            </a:r>
          </a:p>
          <a:p>
            <a:pPr>
              <a:buFont typeface="Wingdings" pitchFamily="2" charset="2"/>
              <a:buNone/>
            </a:pPr>
            <a:endParaRPr lang="en-US" altLang="pt-BR" sz="2400"/>
          </a:p>
        </p:txBody>
      </p:sp>
      <p:sp>
        <p:nvSpPr>
          <p:cNvPr id="44035" name="Line 1028">
            <a:extLst>
              <a:ext uri="{FF2B5EF4-FFF2-40B4-BE49-F238E27FC236}">
                <a16:creationId xmlns:a16="http://schemas.microsoft.com/office/drawing/2014/main" id="{D543EA50-402E-C44A-AFDE-E6185BDC1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4958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036" name="Line 1029">
            <a:extLst>
              <a:ext uri="{FF2B5EF4-FFF2-40B4-BE49-F238E27FC236}">
                <a16:creationId xmlns:a16="http://schemas.microsoft.com/office/drawing/2014/main" id="{FC39F37C-42C3-F448-B7F1-2E6365EA4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34290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037" name="Line 1030">
            <a:extLst>
              <a:ext uri="{FF2B5EF4-FFF2-40B4-BE49-F238E27FC236}">
                <a16:creationId xmlns:a16="http://schemas.microsoft.com/office/drawing/2014/main" id="{41C27865-D62C-7644-BAC7-A0046C366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3138" y="3081338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038" name="Line 1031">
            <a:extLst>
              <a:ext uri="{FF2B5EF4-FFF2-40B4-BE49-F238E27FC236}">
                <a16:creationId xmlns:a16="http://schemas.microsoft.com/office/drawing/2014/main" id="{FB8F7CD5-DF88-C24B-B3BA-4A8C3767F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2513" y="3208338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4039" name="Line 1032">
            <a:extLst>
              <a:ext uri="{FF2B5EF4-FFF2-40B4-BE49-F238E27FC236}">
                <a16:creationId xmlns:a16="http://schemas.microsoft.com/office/drawing/2014/main" id="{A55276BC-FF19-E440-9CE0-A35F5D6D27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78738" y="3132138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902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EABFF16E-C1D3-3649-9897-E0B59BA3E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609600"/>
            <a:ext cx="7772400" cy="1143000"/>
          </a:xfrm>
        </p:spPr>
        <p:txBody>
          <a:bodyPr/>
          <a:lstStyle/>
          <a:p>
            <a:r>
              <a:rPr lang="en-US" altLang="pt-BR"/>
              <a:t>SELEÇÃO DOS MATERIAIS POR ÍNDICE DE MÉRITO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2C30C44B-C9B8-2245-9665-C4288FD45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2057400"/>
            <a:ext cx="8153400" cy="4114800"/>
          </a:xfrm>
        </p:spPr>
        <p:txBody>
          <a:bodyPr/>
          <a:lstStyle/>
          <a:p>
            <a:r>
              <a:rPr lang="en-US" altLang="pt-BR"/>
              <a:t>Ex. Custo p/Kg/US$:</a:t>
            </a:r>
          </a:p>
          <a:p>
            <a:endParaRPr lang="en-US" altLang="pt-BR"/>
          </a:p>
          <a:p>
            <a:pPr>
              <a:buFont typeface="Wingdings" pitchFamily="2" charset="2"/>
              <a:buNone/>
            </a:pPr>
            <a:r>
              <a:rPr lang="en-US" altLang="pt-BR"/>
              <a:t>Material 	 Aço-liga		Ti   	 Al	    PRFC</a:t>
            </a:r>
          </a:p>
          <a:p>
            <a:pPr>
              <a:buFont typeface="Wingdings" pitchFamily="2" charset="2"/>
              <a:buNone/>
            </a:pPr>
            <a:r>
              <a:rPr lang="en-US" altLang="pt-BR"/>
              <a:t>			 </a:t>
            </a:r>
            <a:r>
              <a:rPr lang="en-US" altLang="pt-BR" sz="2400"/>
              <a:t>(alta resist.)	     	       (AA7074)</a:t>
            </a:r>
          </a:p>
          <a:p>
            <a:pPr>
              <a:buFont typeface="Wingdings" pitchFamily="2" charset="2"/>
              <a:buNone/>
            </a:pPr>
            <a:endParaRPr lang="en-US" altLang="pt-BR" sz="2400"/>
          </a:p>
          <a:p>
            <a:pPr>
              <a:buFont typeface="Wingdings" pitchFamily="2" charset="2"/>
              <a:buNone/>
            </a:pPr>
            <a:r>
              <a:rPr lang="en-US" altLang="pt-BR" sz="2400"/>
              <a:t>				0,75	        15	   3		20</a:t>
            </a:r>
          </a:p>
          <a:p>
            <a:pPr>
              <a:buFont typeface="Wingdings" pitchFamily="2" charset="2"/>
              <a:buNone/>
            </a:pPr>
            <a:endParaRPr lang="en-US" altLang="pt-BR" sz="2400"/>
          </a:p>
        </p:txBody>
      </p:sp>
      <p:sp>
        <p:nvSpPr>
          <p:cNvPr id="45059" name="Line 4">
            <a:extLst>
              <a:ext uri="{FF2B5EF4-FFF2-40B4-BE49-F238E27FC236}">
                <a16:creationId xmlns:a16="http://schemas.microsoft.com/office/drawing/2014/main" id="{667F938C-49A4-E246-A422-2478437A0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4958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060" name="Line 5">
            <a:extLst>
              <a:ext uri="{FF2B5EF4-FFF2-40B4-BE49-F238E27FC236}">
                <a16:creationId xmlns:a16="http://schemas.microsoft.com/office/drawing/2014/main" id="{6E945201-9F3C-284F-9527-E4EB810BB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197225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061" name="Line 6">
            <a:extLst>
              <a:ext uri="{FF2B5EF4-FFF2-40B4-BE49-F238E27FC236}">
                <a16:creationId xmlns:a16="http://schemas.microsoft.com/office/drawing/2014/main" id="{BF1D9684-6CE7-0A41-9D0D-59886C143D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8688" y="3254375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062" name="Line 7">
            <a:extLst>
              <a:ext uri="{FF2B5EF4-FFF2-40B4-BE49-F238E27FC236}">
                <a16:creationId xmlns:a16="http://schemas.microsoft.com/office/drawing/2014/main" id="{7E684285-1D1F-A740-B77D-49BDD80996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8063" y="3236913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5063" name="Line 8">
            <a:extLst>
              <a:ext uri="{FF2B5EF4-FFF2-40B4-BE49-F238E27FC236}">
                <a16:creationId xmlns:a16="http://schemas.microsoft.com/office/drawing/2014/main" id="{B0B6FA1A-C4DF-2F4A-A5AA-7CBD09DECB0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2863" y="3146425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552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60C3E9D-D537-7E40-B6BF-F32021AFFF06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52400"/>
            <a:ext cx="6934200" cy="6553200"/>
            <a:chOff x="912" y="96"/>
            <a:chExt cx="4368" cy="4128"/>
          </a:xfrm>
        </p:grpSpPr>
        <p:pic>
          <p:nvPicPr>
            <p:cNvPr id="46082" name="Picture 3" descr="resistencia">
              <a:extLst>
                <a:ext uri="{FF2B5EF4-FFF2-40B4-BE49-F238E27FC236}">
                  <a16:creationId xmlns:a16="http://schemas.microsoft.com/office/drawing/2014/main" id="{F383D55D-D529-C04D-9970-48993A69FC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96"/>
              <a:ext cx="4112" cy="4128"/>
            </a:xfrm>
            <a:prstGeom prst="rect">
              <a:avLst/>
            </a:prstGeom>
            <a:noFill/>
            <a:ln w="12700">
              <a:solidFill>
                <a:srgbClr val="3366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083" name="Rectangle 4">
              <a:extLst>
                <a:ext uri="{FF2B5EF4-FFF2-40B4-BE49-F238E27FC236}">
                  <a16:creationId xmlns:a16="http://schemas.microsoft.com/office/drawing/2014/main" id="{0A466C12-0180-654A-99FB-9B155A4A2F6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054" y="1997"/>
              <a:ext cx="4128" cy="325"/>
            </a:xfrm>
            <a:prstGeom prst="rect">
              <a:avLst/>
            </a:prstGeom>
            <a:solidFill>
              <a:srgbClr val="3366FF"/>
            </a:solidFill>
            <a:ln w="12700">
              <a:solidFill>
                <a:srgbClr val="3366FF"/>
              </a:solidFill>
              <a:miter lim="800000"/>
              <a:headEnd type="none" w="sm" len="sm"/>
              <a:tailEnd type="none" w="sm" len="sm"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PT" altLang="pt-BR" sz="2400" b="1" i="1">
                  <a:solidFill>
                    <a:srgbClr val="FFFF00"/>
                  </a:solidFill>
                </a:rPr>
                <a:t>RESISTÊNCIA </a:t>
              </a:r>
              <a:r>
                <a:rPr lang="pt-PT" altLang="pt-BR" sz="1600" b="1" i="1">
                  <a:solidFill>
                    <a:srgbClr val="FFFF00"/>
                  </a:solidFill>
                </a:rPr>
                <a:t>VERSUS</a:t>
              </a:r>
              <a:r>
                <a:rPr lang="pt-PT" altLang="pt-BR" sz="2400" b="1" i="1">
                  <a:solidFill>
                    <a:srgbClr val="FFFF00"/>
                  </a:solidFill>
                </a:rPr>
                <a:t> DENSIDADE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4519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Group 16">
            <a:extLst>
              <a:ext uri="{FF2B5EF4-FFF2-40B4-BE49-F238E27FC236}">
                <a16:creationId xmlns:a16="http://schemas.microsoft.com/office/drawing/2014/main" id="{36CD5934-BD80-1A49-B16F-3D953AA58C07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04800"/>
            <a:ext cx="7392988" cy="5486400"/>
            <a:chOff x="287" y="0"/>
            <a:chExt cx="5472" cy="4053"/>
          </a:xfrm>
        </p:grpSpPr>
        <p:sp>
          <p:nvSpPr>
            <p:cNvPr id="48131" name="AutoShape 2">
              <a:extLst>
                <a:ext uri="{FF2B5EF4-FFF2-40B4-BE49-F238E27FC236}">
                  <a16:creationId xmlns:a16="http://schemas.microsoft.com/office/drawing/2014/main" id="{538D5A23-C42B-364E-83EE-2CDEE0353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768"/>
              <a:ext cx="2434" cy="645"/>
            </a:xfrm>
            <a:prstGeom prst="flowChartAlternateProcess">
              <a:avLst/>
            </a:prstGeom>
            <a:solidFill>
              <a:srgbClr val="3366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PT" altLang="pt-BR" sz="2000" b="1">
                  <a:latin typeface="Times New Roman" panose="02020603050405020304" pitchFamily="18" charset="0"/>
                </a:rPr>
                <a:t>INDÚSTRIA DE PONTA</a:t>
              </a:r>
              <a:endParaRPr lang="pt-PT" altLang="pt-BR" sz="20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32" name="AutoShape 3">
              <a:extLst>
                <a:ext uri="{FF2B5EF4-FFF2-40B4-BE49-F238E27FC236}">
                  <a16:creationId xmlns:a16="http://schemas.microsoft.com/office/drawing/2014/main" id="{42EC657F-7D95-8C40-BF90-495C0D390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68"/>
              <a:ext cx="2434" cy="645"/>
            </a:xfrm>
            <a:prstGeom prst="flowChartAlternateProcess">
              <a:avLst/>
            </a:prstGeom>
            <a:solidFill>
              <a:srgbClr val="3366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PT" altLang="pt-BR" sz="2000" b="1">
                  <a:latin typeface="Times New Roman" panose="02020603050405020304" pitchFamily="18" charset="0"/>
                </a:rPr>
                <a:t>PRODUÇÃO EM MASSA</a:t>
              </a:r>
              <a:endParaRPr lang="pt-PT" altLang="pt-BR" sz="240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31812" name="Rectangle 4">
              <a:extLst>
                <a:ext uri="{FF2B5EF4-FFF2-40B4-BE49-F238E27FC236}">
                  <a16:creationId xmlns:a16="http://schemas.microsoft.com/office/drawing/2014/main" id="{1D161498-0186-6148-BF5F-9D740ABE8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" y="0"/>
              <a:ext cx="5472" cy="624"/>
            </a:xfrm>
            <a:prstGeom prst="rect">
              <a:avLst/>
            </a:prstGeom>
            <a:gradFill rotWithShape="0">
              <a:gsLst>
                <a:gs pos="0">
                  <a:srgbClr val="0066FF"/>
                </a:gs>
                <a:gs pos="100000">
                  <a:srgbClr val="0000FF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lIns="90000" tIns="46800" rIns="90000" bIns="46800" anchor="ctr"/>
            <a:lstStyle/>
            <a:p>
              <a:pPr algn="ctr" eaLnBrk="1" hangingPunct="1">
                <a:defRPr/>
              </a:pPr>
              <a:r>
                <a:rPr lang="pt-PT" sz="2000" b="1" i="1">
                  <a:solidFill>
                    <a:srgbClr val="79E9E4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TIPOS DE INDÚSTRIA - INFLUÊNCIA DOS MATERIAIS</a:t>
              </a:r>
              <a:endParaRPr lang="pt-PT" b="1" i="1">
                <a:solidFill>
                  <a:srgbClr val="79E9E4"/>
                </a:solidFill>
                <a:latin typeface="Arial" charset="0"/>
              </a:endParaRPr>
            </a:p>
          </p:txBody>
        </p:sp>
        <p:grpSp>
          <p:nvGrpSpPr>
            <p:cNvPr id="48134" name="Group 5">
              <a:extLst>
                <a:ext uri="{FF2B5EF4-FFF2-40B4-BE49-F238E27FC236}">
                  <a16:creationId xmlns:a16="http://schemas.microsoft.com/office/drawing/2014/main" id="{87739A37-8D5E-3B41-9646-763BFF3BB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976"/>
              <a:ext cx="5080" cy="1077"/>
              <a:chOff x="528" y="2976"/>
              <a:chExt cx="5080" cy="1077"/>
            </a:xfrm>
          </p:grpSpPr>
          <p:sp>
            <p:nvSpPr>
              <p:cNvPr id="48141" name="AutoShape 6">
                <a:extLst>
                  <a:ext uri="{FF2B5EF4-FFF2-40B4-BE49-F238E27FC236}">
                    <a16:creationId xmlns:a16="http://schemas.microsoft.com/office/drawing/2014/main" id="{13845FF4-AD2E-7049-9837-2F4889A97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3408"/>
                <a:ext cx="2344" cy="645"/>
              </a:xfrm>
              <a:prstGeom prst="flowChartAlternateProcess">
                <a:avLst/>
              </a:prstGeom>
              <a:gradFill rotWithShape="0">
                <a:gsLst>
                  <a:gs pos="0">
                    <a:srgbClr val="0066FF"/>
                  </a:gs>
                  <a:gs pos="100000">
                    <a:srgbClr val="00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SELEÇÃO CUIDADOSA</a:t>
                </a:r>
                <a:endParaRPr lang="pt-PT" altLang="pt-BR" sz="24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16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(FATOR CUSTO SECUNDÁRIO)</a:t>
                </a:r>
                <a:endParaRPr lang="pt-PT" altLang="pt-BR" sz="2400" b="1">
                  <a:solidFill>
                    <a:srgbClr val="FFFF00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2" name="AutoShape 7">
                <a:extLst>
                  <a:ext uri="{FF2B5EF4-FFF2-40B4-BE49-F238E27FC236}">
                    <a16:creationId xmlns:a16="http://schemas.microsoft.com/office/drawing/2014/main" id="{9E8E8495-0A8C-6244-AD68-70A895D97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3408"/>
                <a:ext cx="2344" cy="645"/>
              </a:xfrm>
              <a:prstGeom prst="flowChartAlternateProcess">
                <a:avLst/>
              </a:prstGeom>
              <a:gradFill rotWithShape="0">
                <a:gsLst>
                  <a:gs pos="0">
                    <a:srgbClr val="0066FF"/>
                  </a:gs>
                  <a:gs pos="100000">
                    <a:srgbClr val="0000FF"/>
                  </a:gs>
                </a:gsLst>
                <a:path path="shape">
                  <a:fillToRect l="50000" t="50000" r="50000" b="50000"/>
                </a:path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SELEÇÃO CUIDADOSA</a:t>
                </a:r>
                <a:endParaRPr lang="pt-PT" altLang="pt-BR" sz="24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1600" b="1">
                    <a:solidFill>
                      <a:srgbClr val="FFFF00"/>
                    </a:solidFill>
                    <a:latin typeface="Times New Roman" panose="02020603050405020304" pitchFamily="18" charset="0"/>
                  </a:rPr>
                  <a:t>(FATOR CUSTO PRIMORDIAL)</a:t>
                </a:r>
                <a:endParaRPr lang="pt-PT" altLang="pt-BR" sz="2400" b="1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3" name="AutoShape 8">
                <a:extLst>
                  <a:ext uri="{FF2B5EF4-FFF2-40B4-BE49-F238E27FC236}">
                    <a16:creationId xmlns:a16="http://schemas.microsoft.com/office/drawing/2014/main" id="{0430A900-D241-2644-B072-ADF66191A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1" y="2976"/>
                <a:ext cx="632" cy="411"/>
              </a:xfrm>
              <a:prstGeom prst="downArrow">
                <a:avLst>
                  <a:gd name="adj1" fmla="val 50000"/>
                  <a:gd name="adj2" fmla="val 71778"/>
                </a:avLst>
              </a:prstGeom>
              <a:solidFill>
                <a:srgbClr val="3366FF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  <p:sp>
            <p:nvSpPr>
              <p:cNvPr id="48144" name="AutoShape 9">
                <a:extLst>
                  <a:ext uri="{FF2B5EF4-FFF2-40B4-BE49-F238E27FC236}">
                    <a16:creationId xmlns:a16="http://schemas.microsoft.com/office/drawing/2014/main" id="{94591607-EE78-4443-BC6B-E5633F83D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4" y="2976"/>
                <a:ext cx="632" cy="411"/>
              </a:xfrm>
              <a:prstGeom prst="downArrow">
                <a:avLst>
                  <a:gd name="adj1" fmla="val 50000"/>
                  <a:gd name="adj2" fmla="val 71778"/>
                </a:avLst>
              </a:prstGeom>
              <a:solidFill>
                <a:srgbClr val="3366FF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2400"/>
              </a:p>
            </p:txBody>
          </p:sp>
        </p:grpSp>
        <p:grpSp>
          <p:nvGrpSpPr>
            <p:cNvPr id="48135" name="Group 10">
              <a:extLst>
                <a:ext uri="{FF2B5EF4-FFF2-40B4-BE49-F238E27FC236}">
                  <a16:creationId xmlns:a16="http://schemas.microsoft.com/office/drawing/2014/main" id="{22169108-6405-A94B-B6C5-F1E9ADBE73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440"/>
              <a:ext cx="5170" cy="1492"/>
              <a:chOff x="480" y="1440"/>
              <a:chExt cx="5170" cy="1492"/>
            </a:xfrm>
          </p:grpSpPr>
          <p:sp>
            <p:nvSpPr>
              <p:cNvPr id="48136" name="AutoShape 11">
                <a:extLst>
                  <a:ext uri="{FF2B5EF4-FFF2-40B4-BE49-F238E27FC236}">
                    <a16:creationId xmlns:a16="http://schemas.microsoft.com/office/drawing/2014/main" id="{BBC73C23-4045-2048-B0ED-EED38B08E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872"/>
                <a:ext cx="2434" cy="1060"/>
              </a:xfrm>
              <a:prstGeom prst="roundRect">
                <a:avLst>
                  <a:gd name="adj" fmla="val 16667"/>
                </a:avLst>
              </a:prstGeom>
              <a:solidFill>
                <a:srgbClr val="3366FF">
                  <a:alpha val="50195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marL="384175" indent="-384175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pt-PT" altLang="pt-BR" sz="2000" b="1"/>
                  <a:t>Grande exigência 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/>
                  <a:t>	tecnológica</a:t>
                </a:r>
              </a:p>
              <a:p>
                <a:pPr algn="ctr" eaLnBrk="1" hangingPunct="1">
                  <a:spcBef>
                    <a:spcPct val="0"/>
                  </a:spcBef>
                </a:pPr>
                <a:r>
                  <a:rPr lang="pt-PT" altLang="pt-BR" sz="2000" b="1"/>
                  <a:t>Utilização dos mate-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/>
                  <a:t>	riais nos limites</a:t>
                </a:r>
                <a:endParaRPr lang="pt-PT" altLang="pt-BR" sz="2400" b="1"/>
              </a:p>
            </p:txBody>
          </p:sp>
          <p:sp>
            <p:nvSpPr>
              <p:cNvPr id="48137" name="AutoShape 12">
                <a:extLst>
                  <a:ext uri="{FF2B5EF4-FFF2-40B4-BE49-F238E27FC236}">
                    <a16:creationId xmlns:a16="http://schemas.microsoft.com/office/drawing/2014/main" id="{D764A207-FA1D-C04B-9BC6-F3C684190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1872"/>
                <a:ext cx="2434" cy="1060"/>
              </a:xfrm>
              <a:prstGeom prst="roundRect">
                <a:avLst>
                  <a:gd name="adj" fmla="val 16667"/>
                </a:avLst>
              </a:prstGeom>
              <a:solidFill>
                <a:srgbClr val="3366FF">
                  <a:alpha val="50195"/>
                </a:srgb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marL="384175" indent="-384175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</a:pPr>
                <a:r>
                  <a:rPr lang="pt-PT" altLang="pt-BR" sz="2000" b="1"/>
                  <a:t>Produtos não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/>
                  <a:t>	diferenciados</a:t>
                </a:r>
              </a:p>
              <a:p>
                <a:pPr algn="ctr" eaLnBrk="1" hangingPunct="1">
                  <a:spcBef>
                    <a:spcPct val="0"/>
                  </a:spcBef>
                </a:pPr>
                <a:r>
                  <a:rPr lang="pt-PT" altLang="pt-BR" sz="2000" b="1"/>
                  <a:t>Utilização de materiais </a:t>
                </a:r>
              </a:p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PT" altLang="pt-BR" sz="2000" b="1"/>
                  <a:t>	abaixo dos limites</a:t>
                </a:r>
              </a:p>
            </p:txBody>
          </p:sp>
          <p:grpSp>
            <p:nvGrpSpPr>
              <p:cNvPr id="48138" name="Group 13">
                <a:extLst>
                  <a:ext uri="{FF2B5EF4-FFF2-40B4-BE49-F238E27FC236}">
                    <a16:creationId xmlns:a16="http://schemas.microsoft.com/office/drawing/2014/main" id="{8C891762-C510-474F-97C8-093B9BE09D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1" y="1440"/>
                <a:ext cx="3419" cy="411"/>
                <a:chOff x="1341" y="1440"/>
                <a:chExt cx="3419" cy="411"/>
              </a:xfrm>
            </p:grpSpPr>
            <p:sp>
              <p:nvSpPr>
                <p:cNvPr id="48139" name="AutoShape 14">
                  <a:extLst>
                    <a:ext uri="{FF2B5EF4-FFF2-40B4-BE49-F238E27FC236}">
                      <a16:creationId xmlns:a16="http://schemas.microsoft.com/office/drawing/2014/main" id="{3E1C91D7-4F5C-D94D-9BBB-D0DF89680E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8" y="1440"/>
                  <a:ext cx="632" cy="411"/>
                </a:xfrm>
                <a:prstGeom prst="downArrow">
                  <a:avLst>
                    <a:gd name="adj1" fmla="val 50000"/>
                    <a:gd name="adj2" fmla="val 71778"/>
                  </a:avLst>
                </a:prstGeom>
                <a:solidFill>
                  <a:srgbClr val="3366FF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  <p:sp>
              <p:nvSpPr>
                <p:cNvPr id="48140" name="AutoShape 15">
                  <a:extLst>
                    <a:ext uri="{FF2B5EF4-FFF2-40B4-BE49-F238E27FC236}">
                      <a16:creationId xmlns:a16="http://schemas.microsoft.com/office/drawing/2014/main" id="{79BF3B3D-9C62-EC43-A7A4-D285DCCC70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41" y="1440"/>
                  <a:ext cx="632" cy="411"/>
                </a:xfrm>
                <a:prstGeom prst="downArrow">
                  <a:avLst>
                    <a:gd name="adj1" fmla="val 50000"/>
                    <a:gd name="adj2" fmla="val 71778"/>
                  </a:avLst>
                </a:prstGeom>
                <a:solidFill>
                  <a:srgbClr val="3366FF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2400"/>
                </a:p>
              </p:txBody>
            </p:sp>
          </p:grpSp>
        </p:grpSp>
      </p:grpSp>
      <p:sp>
        <p:nvSpPr>
          <p:cNvPr id="48130" name="Text Box 17">
            <a:extLst>
              <a:ext uri="{FF2B5EF4-FFF2-40B4-BE49-F238E27FC236}">
                <a16:creationId xmlns:a16="http://schemas.microsoft.com/office/drawing/2014/main" id="{77AFB82F-8BF4-164C-8645-6BD020B1EE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6124575"/>
            <a:ext cx="7707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BR" altLang="pt-BR" sz="2400"/>
              <a:t>FONTE: material do Prof. Arlindo Silva da Universidade de Portugal</a:t>
            </a:r>
          </a:p>
        </p:txBody>
      </p:sp>
    </p:spTree>
    <p:extLst>
      <p:ext uri="{BB962C8B-B14F-4D97-AF65-F5344CB8AC3E}">
        <p14:creationId xmlns:p14="http://schemas.microsoft.com/office/powerpoint/2010/main" val="3900780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06F850-6546-3F4E-988A-DD67FB2B913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8001000" cy="121602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r>
              <a:rPr lang="en-US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AIRBUS A300/310</a:t>
            </a:r>
          </a:p>
        </p:txBody>
      </p:sp>
      <p:pic>
        <p:nvPicPr>
          <p:cNvPr id="59394" name="Picture 5">
            <a:extLst>
              <a:ext uri="{FF2B5EF4-FFF2-40B4-BE49-F238E27FC236}">
                <a16:creationId xmlns:a16="http://schemas.microsoft.com/office/drawing/2014/main" id="{5CA71E9E-6E26-DB43-9DE6-6A6BE708A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889125"/>
            <a:ext cx="7677150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 Box 6">
            <a:extLst>
              <a:ext uri="{FF2B5EF4-FFF2-40B4-BE49-F238E27FC236}">
                <a16:creationId xmlns:a16="http://schemas.microsoft.com/office/drawing/2014/main" id="{96F632F0-6A78-D342-AF40-8CAC9D2AA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800" y="876300"/>
            <a:ext cx="8621713" cy="1328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pt-PT" altLang="pt-BR" sz="1800"/>
              <a:t>No “fin” traseiro, reduziu-se o peso em 20%, em relação ao alumínio. É construído em 95 peças, enquanto anteriormente compreendia 2076 peças. Dimensões do fin: 8,3m de altura e 7,8m de largura.</a:t>
            </a:r>
          </a:p>
          <a:p>
            <a:pPr algn="ctr" eaLnBrk="1" hangingPunct="1">
              <a:spcBef>
                <a:spcPct val="50000"/>
              </a:spcBef>
              <a:buFontTx/>
              <a:buNone/>
            </a:pPr>
            <a:endParaRPr lang="en-US" altLang="pt-BR" sz="1800"/>
          </a:p>
        </p:txBody>
      </p:sp>
    </p:spTree>
    <p:extLst>
      <p:ext uri="{BB962C8B-B14F-4D97-AF65-F5344CB8AC3E}">
        <p14:creationId xmlns:p14="http://schemas.microsoft.com/office/powerpoint/2010/main" val="3441983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6E43880-28BF-9C47-B29A-3139C6C548FA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57188"/>
            <a:ext cx="8577263" cy="6334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Indústria naval (1)</a:t>
            </a:r>
          </a:p>
        </p:txBody>
      </p:sp>
      <p:pic>
        <p:nvPicPr>
          <p:cNvPr id="60418" name="Picture 3" descr="Barco-Shackelford">
            <a:extLst>
              <a:ext uri="{FF2B5EF4-FFF2-40B4-BE49-F238E27FC236}">
                <a16:creationId xmlns:a16="http://schemas.microsoft.com/office/drawing/2014/main" id="{BB7F3670-0A83-A440-8EA3-E7EB5EAF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2444750"/>
            <a:ext cx="5651500" cy="4413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419" name="Text Box 4">
            <a:extLst>
              <a:ext uri="{FF2B5EF4-FFF2-40B4-BE49-F238E27FC236}">
                <a16:creationId xmlns:a16="http://schemas.microsoft.com/office/drawing/2014/main" id="{866C1ABF-ED18-1B4E-A626-67BB98596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12" y="1338572"/>
            <a:ext cx="2735263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PT" altLang="pt-BR" sz="2000" b="1" dirty="0"/>
              <a:t>O casco do navio da figura é feito em estrutura sandwich com faces em </a:t>
            </a:r>
            <a:r>
              <a:rPr lang="pt-PT" altLang="pt-BR" sz="2000" b="1" dirty="0" err="1"/>
              <a:t>Kevlar</a:t>
            </a:r>
            <a:r>
              <a:rPr lang="pt-PT" altLang="pt-BR" sz="2000" b="1" dirty="0"/>
              <a:t>/</a:t>
            </a:r>
            <a:r>
              <a:rPr lang="pt-PT" altLang="pt-BR" sz="2000" b="1" dirty="0" err="1"/>
              <a:t>epoxy</a:t>
            </a:r>
            <a:r>
              <a:rPr lang="pt-PT" altLang="pt-BR" sz="2000" b="1" dirty="0"/>
              <a:t> e núcleo em espuma de PVC, obtendo-se com esta construção uma maior resistência ao impacto com menor peso. As velas são também reforçadas com fibras</a:t>
            </a:r>
            <a:endParaRPr lang="en-US" altLang="pt-BR" sz="2000" b="1" dirty="0"/>
          </a:p>
        </p:txBody>
      </p:sp>
      <p:pic>
        <p:nvPicPr>
          <p:cNvPr id="5122" name="Picture 2" descr="Fabricação de Compósitos: Painéis Sanduíche">
            <a:extLst>
              <a:ext uri="{FF2B5EF4-FFF2-40B4-BE49-F238E27FC236}">
                <a16:creationId xmlns:a16="http://schemas.microsoft.com/office/drawing/2014/main" id="{961702D1-A8E5-BEDB-6EED-774992DF6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988" y="673894"/>
            <a:ext cx="41910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5650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27CE99-396B-2845-A11C-10C8CA4B5BE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357188"/>
            <a:ext cx="8577263" cy="6334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Eletrodomésticos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4CB271C-1CC3-114B-97C7-310EB7D2FED1}"/>
              </a:ext>
            </a:extLst>
          </p:cNvPr>
          <p:cNvSpPr txBox="1">
            <a:spLocks noChangeArrowheads="1"/>
          </p:cNvSpPr>
          <p:nvPr/>
        </p:nvSpPr>
        <p:spPr>
          <a:xfrm>
            <a:off x="377825" y="4908550"/>
            <a:ext cx="8413750" cy="1520825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800" kern="0">
                <a:latin typeface="+mn-lt"/>
              </a:rPr>
              <a:t>Como conseqüência, </a:t>
            </a:r>
            <a:r>
              <a:rPr lang="pt-BR" sz="2800" kern="0">
                <a:solidFill>
                  <a:srgbClr val="0066CC"/>
                </a:solidFill>
                <a:latin typeface="+mn-lt"/>
              </a:rPr>
              <a:t>novos  polímeros (plásticos) foram desenvolvidos para atender a indústria de eletroeletrônicos,</a:t>
            </a:r>
            <a:r>
              <a:rPr lang="pt-BR" sz="2800" kern="0">
                <a:latin typeface="+mn-lt"/>
              </a:rPr>
              <a:t> que necessitava de maior resistência a climas úmidos </a:t>
            </a:r>
          </a:p>
        </p:txBody>
      </p:sp>
      <p:sp>
        <p:nvSpPr>
          <p:cNvPr id="61443" name="Rectangle 4">
            <a:extLst>
              <a:ext uri="{FF2B5EF4-FFF2-40B4-BE49-F238E27FC236}">
                <a16:creationId xmlns:a16="http://schemas.microsoft.com/office/drawing/2014/main" id="{B7C9C579-BF5B-964A-A33A-8F86A8F19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537" y="990600"/>
            <a:ext cx="841375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rgbClr val="BF0A05"/>
              </a:buClr>
              <a:buFont typeface="Wingdings" pitchFamily="2" charset="2"/>
              <a:buChar char="§"/>
            </a:pPr>
            <a:r>
              <a:rPr lang="pt-BR" altLang="pt-BR" sz="2400" dirty="0">
                <a:solidFill>
                  <a:schemeClr val="tx2"/>
                </a:solidFill>
                <a:latin typeface="Verdana" panose="020B0604030504040204" pitchFamily="34" charset="0"/>
              </a:rPr>
              <a:t>Durante o conflito no sudeste da Ásia, no Vietnã, em ambiente de floresta, novos desafios surgiram na área de materiais </a:t>
            </a:r>
          </a:p>
        </p:txBody>
      </p:sp>
      <p:pic>
        <p:nvPicPr>
          <p:cNvPr id="61444" name="Picture 5" descr="vietnamsoldato">
            <a:hlinkClick r:id="rId2"/>
            <a:extLst>
              <a:ext uri="{FF2B5EF4-FFF2-40B4-BE49-F238E27FC236}">
                <a16:creationId xmlns:a16="http://schemas.microsoft.com/office/drawing/2014/main" id="{6B4F76D6-352C-4446-A537-11E1A8CD5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39" y="2181612"/>
            <a:ext cx="1549400" cy="202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5" name="Picture 6" descr="38-24265">
            <a:hlinkClick r:id="rId4"/>
            <a:extLst>
              <a:ext uri="{FF2B5EF4-FFF2-40B4-BE49-F238E27FC236}">
                <a16:creationId xmlns:a16="http://schemas.microsoft.com/office/drawing/2014/main" id="{485489DB-A0CA-3144-98AD-C7D9BF771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460" y="2315562"/>
            <a:ext cx="2276475" cy="178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46" name="Picture 7" descr="vietnampic">
            <a:hlinkClick r:id="rId6"/>
            <a:extLst>
              <a:ext uri="{FF2B5EF4-FFF2-40B4-BE49-F238E27FC236}">
                <a16:creationId xmlns:a16="http://schemas.microsoft.com/office/drawing/2014/main" id="{729F04C1-C6EC-9E4A-8A90-620A369BA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4963" y="2303163"/>
            <a:ext cx="248920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0553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77605C87-82EC-6648-E28E-B204E40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 wrap="square" anchor="ctr">
            <a:normAutofit/>
          </a:bodyPr>
          <a:lstStyle/>
          <a:p>
            <a:r>
              <a:rPr lang="en-US" dirty="0" err="1"/>
              <a:t>Exemplo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turbina</a:t>
            </a:r>
            <a:r>
              <a:rPr lang="en-US" dirty="0"/>
              <a:t> de um </a:t>
            </a:r>
            <a:r>
              <a:rPr lang="en-US" dirty="0" err="1"/>
              <a:t>avião</a:t>
            </a:r>
            <a:endParaRPr lang="en-US" dirty="0"/>
          </a:p>
        </p:txBody>
      </p:sp>
      <p:pic>
        <p:nvPicPr>
          <p:cNvPr id="1026" name="Picture 2" descr="Usinagem Sem Segredos: Você sabia? Usinagem de componentes para turbina de  aeronaves">
            <a:extLst>
              <a:ext uri="{FF2B5EF4-FFF2-40B4-BE49-F238E27FC236}">
                <a16:creationId xmlns:a16="http://schemas.microsoft.com/office/drawing/2014/main" id="{05A9CF72-5607-AF28-B220-7197275450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4" b="1"/>
          <a:stretch/>
        </p:blipFill>
        <p:spPr bwMode="auto">
          <a:xfrm>
            <a:off x="6905978" y="2423779"/>
            <a:ext cx="2238022" cy="1367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8260884-7DA4-702F-5E74-299C0EE7E658}"/>
              </a:ext>
            </a:extLst>
          </p:cNvPr>
          <p:cNvSpPr txBox="1"/>
          <p:nvPr/>
        </p:nvSpPr>
        <p:spPr>
          <a:xfrm>
            <a:off x="203508" y="766732"/>
            <a:ext cx="65764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pt-BR" sz="2000" b="1" i="0" dirty="0">
                <a:effectLst/>
                <a:latin typeface="Söhne"/>
              </a:rPr>
              <a:t>Complexidade Geométrica</a:t>
            </a:r>
            <a:r>
              <a:rPr lang="pt-BR" sz="2000" b="0" i="0" dirty="0">
                <a:effectLst/>
                <a:latin typeface="Söhne"/>
              </a:rPr>
              <a:t>: </a:t>
            </a:r>
            <a:endParaRPr lang="pt-BR" sz="2000" dirty="0">
              <a:latin typeface="Söhne"/>
            </a:endParaRPr>
          </a:p>
          <a:p>
            <a:pPr algn="l"/>
            <a:r>
              <a:rPr lang="pt-BR" sz="2000" b="0" i="0" dirty="0">
                <a:effectLst/>
                <a:latin typeface="Söhne"/>
              </a:rPr>
              <a:t>As peças da turbina podem ter formas complexas e detalhes intrincados. Portanto, é importante escolher um material que possa ser </a:t>
            </a:r>
            <a:r>
              <a:rPr lang="pt-BR" sz="2000" b="1" i="0" dirty="0">
                <a:effectLst/>
                <a:latin typeface="Söhne"/>
              </a:rPr>
              <a:t>facilmente usinado</a:t>
            </a:r>
            <a:r>
              <a:rPr lang="pt-BR" sz="2000" b="0" i="0" dirty="0">
                <a:effectLst/>
                <a:latin typeface="Söhne"/>
              </a:rPr>
              <a:t> ou fabricado por processos de </a:t>
            </a:r>
            <a:r>
              <a:rPr lang="pt-BR" sz="2000" b="1" i="0" dirty="0">
                <a:solidFill>
                  <a:srgbClr val="002060"/>
                </a:solidFill>
                <a:effectLst/>
                <a:latin typeface="Söhne"/>
              </a:rPr>
              <a:t>fabricação avançados, como usinagem de precisão ou impressão 3D.</a:t>
            </a:r>
            <a:endParaRPr lang="pt-BR" sz="2000" b="0" i="0" dirty="0">
              <a:effectLst/>
              <a:latin typeface="Söhne"/>
            </a:endParaRPr>
          </a:p>
          <a:p>
            <a:pPr algn="l"/>
            <a:r>
              <a:rPr lang="pt-BR" sz="2000" b="0" i="0" dirty="0">
                <a:effectLst/>
                <a:latin typeface="Söhne"/>
              </a:rPr>
              <a:t>2. </a:t>
            </a:r>
            <a:r>
              <a:rPr lang="pt-BR" sz="2000" b="0" i="0" dirty="0">
                <a:solidFill>
                  <a:srgbClr val="C00000"/>
                </a:solidFill>
                <a:effectLst/>
                <a:latin typeface="Söhne"/>
              </a:rPr>
              <a:t>Tolerâncias Dimensionais: </a:t>
            </a:r>
            <a:r>
              <a:rPr lang="pt-BR" sz="2000" b="0" i="0" dirty="0">
                <a:effectLst/>
                <a:latin typeface="Söhne"/>
              </a:rPr>
              <a:t>As peças precisam atender a tolerâncias dimensionais muito apertadas para funcionar corretamente. O material selecionado deve ser capaz de </a:t>
            </a:r>
            <a:r>
              <a:rPr lang="pt-BR" sz="2000" b="0" i="0" dirty="0">
                <a:solidFill>
                  <a:srgbClr val="C00000"/>
                </a:solidFill>
                <a:effectLst/>
                <a:latin typeface="Söhne"/>
              </a:rPr>
              <a:t>manter essas tolerâncias durante o processo de fabricação.</a:t>
            </a:r>
          </a:p>
          <a:p>
            <a:pPr algn="l"/>
            <a:r>
              <a:rPr lang="pt-BR" sz="2000" b="0" i="0" dirty="0">
                <a:effectLst/>
                <a:latin typeface="Söhne"/>
              </a:rPr>
              <a:t>3. </a:t>
            </a:r>
            <a:r>
              <a:rPr lang="pt-BR" sz="2000" b="0" i="0" dirty="0">
                <a:solidFill>
                  <a:srgbClr val="00B050"/>
                </a:solidFill>
                <a:effectLst/>
                <a:latin typeface="Söhne"/>
              </a:rPr>
              <a:t>Resistência a Altas Temperaturas</a:t>
            </a:r>
            <a:r>
              <a:rPr lang="pt-BR" sz="2000" b="0" i="0" dirty="0">
                <a:effectLst/>
                <a:latin typeface="Söhne"/>
              </a:rPr>
              <a:t>: As turbinas de avião operam em altas temperaturas devido ao atrito e ao fluxo de gases. O material escolhido deve ser capaz de manter sua integridade estrutural e dimensional em altas </a:t>
            </a:r>
            <a:r>
              <a:rPr lang="pt-BR" sz="1200" b="0" i="0" dirty="0">
                <a:effectLst/>
                <a:latin typeface="Söhne"/>
              </a:rPr>
              <a:t>temperaturas</a:t>
            </a:r>
            <a:r>
              <a:rPr lang="pt-BR" sz="2000" b="0" i="0" dirty="0">
                <a:effectLst/>
                <a:latin typeface="Söhne"/>
              </a:rPr>
              <a:t>.</a:t>
            </a:r>
          </a:p>
          <a:p>
            <a:pPr algn="l"/>
            <a:r>
              <a:rPr lang="pt-BR" sz="2000" dirty="0">
                <a:latin typeface="Söhne"/>
              </a:rPr>
              <a:t>4. </a:t>
            </a:r>
            <a:r>
              <a:rPr lang="pt-BR" sz="2000" b="0" i="0" dirty="0">
                <a:solidFill>
                  <a:srgbClr val="0070C0"/>
                </a:solidFill>
                <a:effectLst/>
                <a:latin typeface="Söhne"/>
              </a:rPr>
              <a:t>Facilidade de Usinagem: </a:t>
            </a:r>
            <a:r>
              <a:rPr lang="pt-BR" sz="2000" b="0" i="0" dirty="0">
                <a:effectLst/>
                <a:latin typeface="Söhne"/>
              </a:rPr>
              <a:t>Se o material </a:t>
            </a:r>
            <a:r>
              <a:rPr lang="pt-BR" sz="2000" b="0" i="0" dirty="0">
                <a:solidFill>
                  <a:srgbClr val="0070C0"/>
                </a:solidFill>
                <a:effectLst/>
                <a:latin typeface="Söhne"/>
              </a:rPr>
              <a:t>for difícil de usinar, isso pode aumentar os custos de produção e prolongar o tempo de fabricação</a:t>
            </a:r>
            <a:r>
              <a:rPr lang="pt-BR" sz="2000" b="0" i="0" dirty="0">
                <a:effectLst/>
                <a:latin typeface="Söhne"/>
              </a:rPr>
              <a:t>. Portanto, a facilidade de usinagem é um fator crítico.</a:t>
            </a:r>
          </a:p>
        </p:txBody>
      </p:sp>
    </p:spTree>
    <p:extLst>
      <p:ext uri="{BB962C8B-B14F-4D97-AF65-F5344CB8AC3E}">
        <p14:creationId xmlns:p14="http://schemas.microsoft.com/office/powerpoint/2010/main" val="2993220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1. Conheça a Usinagem em peças já com tratamento térmico">
            <a:extLst>
              <a:ext uri="{FF2B5EF4-FFF2-40B4-BE49-F238E27FC236}">
                <a16:creationId xmlns:a16="http://schemas.microsoft.com/office/drawing/2014/main" id="{AB3D93D4-3B01-EF5B-95A3-263947C96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8883"/>
            <a:ext cx="3470556" cy="242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2A75BC4-54BD-5493-4968-2623967C8455}"/>
              </a:ext>
            </a:extLst>
          </p:cNvPr>
          <p:cNvSpPr txBox="1"/>
          <p:nvPr/>
        </p:nvSpPr>
        <p:spPr>
          <a:xfrm>
            <a:off x="215900" y="4022783"/>
            <a:ext cx="3038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Peça usinada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E001C8-28B8-A3BC-D941-14D0B4F6C4DD}"/>
              </a:ext>
            </a:extLst>
          </p:cNvPr>
          <p:cNvSpPr txBox="1"/>
          <p:nvPr/>
        </p:nvSpPr>
        <p:spPr>
          <a:xfrm>
            <a:off x="215900" y="4868056"/>
            <a:ext cx="38360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watch?app</a:t>
            </a:r>
            <a:r>
              <a:rPr lang="pt-BR" dirty="0"/>
              <a:t>=</a:t>
            </a:r>
            <a:r>
              <a:rPr lang="pt-BR" dirty="0" err="1"/>
              <a:t>desktop&amp;v</a:t>
            </a:r>
            <a:r>
              <a:rPr lang="pt-BR" dirty="0"/>
              <a:t>=q9cC88tEQuU</a:t>
            </a:r>
          </a:p>
        </p:txBody>
      </p:sp>
      <p:pic>
        <p:nvPicPr>
          <p:cNvPr id="2052" name="Picture 4" descr="Unidade EMBRAPII Tecnologias Laser Instituto SENAI de Inovação em Sistemas  de Manufatura e Processamento a Laser Joinville - S">
            <a:extLst>
              <a:ext uri="{FF2B5EF4-FFF2-40B4-BE49-F238E27FC236}">
                <a16:creationId xmlns:a16="http://schemas.microsoft.com/office/drawing/2014/main" id="{3DE9C881-F98F-E37D-1615-BA1D91CA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6381" y="1598883"/>
            <a:ext cx="4589232" cy="257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82D2C6F-3792-6BA4-6597-18A7B02DA34E}"/>
              </a:ext>
            </a:extLst>
          </p:cNvPr>
          <p:cNvSpPr txBox="1"/>
          <p:nvPr/>
        </p:nvSpPr>
        <p:spPr>
          <a:xfrm>
            <a:off x="4449337" y="4997747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=Pjqysyy1ySs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477AE70-F509-F35C-770F-BD4E73B67808}"/>
              </a:ext>
            </a:extLst>
          </p:cNvPr>
          <p:cNvSpPr txBox="1"/>
          <p:nvPr/>
        </p:nvSpPr>
        <p:spPr>
          <a:xfrm>
            <a:off x="4449337" y="4177448"/>
            <a:ext cx="44106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Peça por Manufatura Aditiva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CA6A553-8F05-1847-196C-39B839C4E0D5}"/>
              </a:ext>
            </a:extLst>
          </p:cNvPr>
          <p:cNvSpPr txBox="1"/>
          <p:nvPr/>
        </p:nvSpPr>
        <p:spPr>
          <a:xfrm>
            <a:off x="133814" y="382826"/>
            <a:ext cx="805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solidFill>
                  <a:srgbClr val="002060"/>
                </a:solidFill>
              </a:rPr>
              <a:t>COMPLEXIDADE GEOMÉTRICA </a:t>
            </a:r>
            <a:r>
              <a:rPr lang="pt-BR" sz="1800" dirty="0" err="1">
                <a:solidFill>
                  <a:srgbClr val="002060"/>
                </a:solidFill>
              </a:rPr>
              <a:t>X</a:t>
            </a:r>
            <a:r>
              <a:rPr lang="pt-BR" sz="1800" dirty="0">
                <a:solidFill>
                  <a:srgbClr val="002060"/>
                </a:solidFill>
              </a:rPr>
              <a:t> PROCESSO DE FABRICAÇÃO</a:t>
            </a:r>
          </a:p>
        </p:txBody>
      </p:sp>
    </p:spTree>
    <p:extLst>
      <p:ext uri="{BB962C8B-B14F-4D97-AF65-F5344CB8AC3E}">
        <p14:creationId xmlns:p14="http://schemas.microsoft.com/office/powerpoint/2010/main" val="20960117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BEC3-D7D1-2EEA-96C3-79E33B7842E4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pt-BR" kern="0">
                <a:latin typeface="+mj-lt"/>
                <a:ea typeface="+mj-ea"/>
                <a:cs typeface="+mj-cs"/>
              </a:rPr>
              <a:t>Exemplo de uma pote de alimentos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4917E4C-0996-B42B-5FAC-28B2110C2CC1}"/>
              </a:ext>
            </a:extLst>
          </p:cNvPr>
          <p:cNvSpPr txBox="1"/>
          <p:nvPr/>
        </p:nvSpPr>
        <p:spPr bwMode="auto">
          <a:xfrm>
            <a:off x="112713" y="887413"/>
            <a:ext cx="4210050" cy="52387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BR" sz="1500" b="1" i="0" dirty="0">
                <a:effectLst/>
                <a:latin typeface="+mn-lt"/>
              </a:rPr>
              <a:t>Complexidade Geométrica</a:t>
            </a:r>
            <a:r>
              <a:rPr lang="pt-BR" sz="1500" b="0" i="0" dirty="0">
                <a:effectLst/>
                <a:latin typeface="+mn-lt"/>
              </a:rPr>
              <a:t>: A tampa precisa ter uma forma simples e funcional para encaixar facilmente no recipiente. Portanto, o polímero escolhido deve permitir a moldagem de peças com geometria adequada, como uma tampa plana com uma borda de vedação.</a:t>
            </a:r>
          </a:p>
          <a:p>
            <a:pPr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BR" sz="1500" b="1" i="0" dirty="0">
                <a:effectLst/>
                <a:latin typeface="+mn-lt"/>
              </a:rPr>
              <a:t>Tolerâncias Dimensionais</a:t>
            </a:r>
            <a:r>
              <a:rPr lang="pt-BR" sz="1500" b="0" i="0" dirty="0">
                <a:effectLst/>
                <a:latin typeface="+mn-lt"/>
              </a:rPr>
              <a:t>: Para garantir um encaixe hermético, as tolerâncias dimensionais da tampa e do recipiente devem ser controladas de perto. O polímero deve ser capaz de manter essas tolerâncias durante o processo de moldagem.</a:t>
            </a:r>
            <a:endParaRPr lang="pt-BR" sz="1500" b="0" i="0" dirty="0">
              <a:effectLst/>
              <a:latin typeface="+mn-lt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BR" sz="1500" b="1" i="0" dirty="0">
                <a:effectLst/>
                <a:latin typeface="+mn-lt"/>
              </a:rPr>
              <a:t>Resistência Química: </a:t>
            </a:r>
            <a:r>
              <a:rPr lang="pt-BR" sz="1500" b="0" i="0" dirty="0">
                <a:effectLst/>
                <a:latin typeface="+mn-lt"/>
              </a:rPr>
              <a:t>O polímero precisa ser resistente aos produtos químicos presentes nos alimentos, evitando a contaminação e a degradação do material.</a:t>
            </a:r>
            <a:endParaRPr lang="pt-BR" sz="1500" b="0" i="0" dirty="0">
              <a:effectLst/>
              <a:latin typeface="+mn-lt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BR" sz="1500" b="1" i="0" dirty="0">
                <a:effectLst/>
                <a:latin typeface="+mn-lt"/>
              </a:rPr>
              <a:t>Facilidade de Moldagem: </a:t>
            </a:r>
            <a:r>
              <a:rPr lang="pt-BR" sz="1500" b="0" i="0" dirty="0">
                <a:effectLst/>
                <a:latin typeface="+mn-lt"/>
              </a:rPr>
              <a:t>A facilidade de moldagem do polímero é crucial para produzir as tampas em grande quantidade e com eficiência.</a:t>
            </a:r>
            <a:endParaRPr lang="pt-BR" sz="1500" b="0" i="0" dirty="0">
              <a:effectLst/>
              <a:latin typeface="+mn-lt"/>
              <a:cs typeface="Arial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Font typeface="+mj-lt"/>
              <a:buAutoNum type="arabicPeriod"/>
            </a:pPr>
            <a:r>
              <a:rPr lang="pt-BR" sz="1500" b="0" i="0" dirty="0">
                <a:effectLst/>
                <a:latin typeface="+mn-lt"/>
              </a:rPr>
              <a:t> O material selecionado deve ser adequado para processos de moldagem por injeção, sopro ou termoformagem, dependendo do processo de fabricação escolhido.</a:t>
            </a:r>
            <a:endParaRPr lang="pt-BR" sz="1500" b="0" i="0" dirty="0">
              <a:effectLst/>
              <a:latin typeface="+mn-lt"/>
              <a:cs typeface="Arial"/>
            </a:endParaRPr>
          </a:p>
        </p:txBody>
      </p:sp>
      <p:pic>
        <p:nvPicPr>
          <p:cNvPr id="3074" name="Picture 2" descr="indústria de embalagens plásticas - Embalagem Ideal">
            <a:extLst>
              <a:ext uri="{FF2B5EF4-FFF2-40B4-BE49-F238E27FC236}">
                <a16:creationId xmlns:a16="http://schemas.microsoft.com/office/drawing/2014/main" id="{2D107A0F-38DB-E2D4-B278-4FAA7F83A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75163" y="2367575"/>
            <a:ext cx="4211637" cy="227842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1721808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olde para Injeção de Tampas Roscas Plasticas">
            <a:extLst>
              <a:ext uri="{FF2B5EF4-FFF2-40B4-BE49-F238E27FC236}">
                <a16:creationId xmlns:a16="http://schemas.microsoft.com/office/drawing/2014/main" id="{482B3095-AE77-618E-CE58-12E3F78E1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34" y="1081669"/>
            <a:ext cx="2592659" cy="259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6124D00-C941-F55B-C165-08918E0A04F7}"/>
              </a:ext>
            </a:extLst>
          </p:cNvPr>
          <p:cNvSpPr txBox="1"/>
          <p:nvPr/>
        </p:nvSpPr>
        <p:spPr>
          <a:xfrm>
            <a:off x="128239" y="3719142"/>
            <a:ext cx="5202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Moldes de tampas termo </a:t>
            </a:r>
            <a:r>
              <a:rPr lang="pt-BR" dirty="0" err="1">
                <a:solidFill>
                  <a:srgbClr val="C00000"/>
                </a:solidFill>
              </a:rPr>
              <a:t>plasticas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1BEF20-690B-D4BD-11AA-E95A59813AED}"/>
              </a:ext>
            </a:extLst>
          </p:cNvPr>
          <p:cNvSpPr txBox="1"/>
          <p:nvPr/>
        </p:nvSpPr>
        <p:spPr>
          <a:xfrm>
            <a:off x="412595" y="4329346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</a:t>
            </a:r>
            <a:r>
              <a:rPr lang="pt-BR" dirty="0" err="1"/>
              <a:t>KNdgvmNUDIs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775EB3E-B557-E3EF-570A-ABC5D32159D8}"/>
              </a:ext>
            </a:extLst>
          </p:cNvPr>
          <p:cNvSpPr txBox="1"/>
          <p:nvPr/>
        </p:nvSpPr>
        <p:spPr>
          <a:xfrm>
            <a:off x="540834" y="5435990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</a:t>
            </a:r>
            <a:r>
              <a:rPr lang="pt-BR" dirty="0" err="1"/>
              <a:t>CwGRlmjRMIM</a:t>
            </a:r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7F460AC-93A0-9EB4-8108-62B79B5543AD}"/>
              </a:ext>
            </a:extLst>
          </p:cNvPr>
          <p:cNvSpPr txBox="1"/>
          <p:nvPr/>
        </p:nvSpPr>
        <p:spPr>
          <a:xfrm>
            <a:off x="4705815" y="2281319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</a:t>
            </a:r>
            <a:r>
              <a:rPr lang="pt-BR" dirty="0" err="1"/>
              <a:t>www.youtube.com</a:t>
            </a:r>
            <a:r>
              <a:rPr lang="pt-BR" dirty="0"/>
              <a:t>/</a:t>
            </a:r>
            <a:r>
              <a:rPr lang="pt-BR" dirty="0" err="1"/>
              <a:t>watch?v</a:t>
            </a:r>
            <a:r>
              <a:rPr lang="pt-BR" dirty="0"/>
              <a:t>=2Ng9CHs56KA</a:t>
            </a:r>
          </a:p>
        </p:txBody>
      </p:sp>
      <p:pic>
        <p:nvPicPr>
          <p:cNvPr id="4100" name="Picture 4" descr="Stark Ferramentaria | Moldagem por sopro">
            <a:extLst>
              <a:ext uri="{FF2B5EF4-FFF2-40B4-BE49-F238E27FC236}">
                <a16:creationId xmlns:a16="http://schemas.microsoft.com/office/drawing/2014/main" id="{AC721D36-252E-08E8-B6BC-30227EB1A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815" y="36457"/>
            <a:ext cx="447040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DF6F297-E6BA-E96C-FBB9-0AA79E54CB08}"/>
              </a:ext>
            </a:extLst>
          </p:cNvPr>
          <p:cNvSpPr txBox="1"/>
          <p:nvPr/>
        </p:nvSpPr>
        <p:spPr>
          <a:xfrm>
            <a:off x="3974171" y="1916333"/>
            <a:ext cx="5202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Moldes de tampas </a:t>
            </a:r>
            <a:r>
              <a:rPr lang="pt-BR" dirty="0" err="1">
                <a:solidFill>
                  <a:srgbClr val="C00000"/>
                </a:solidFill>
              </a:rPr>
              <a:t>injeçao</a:t>
            </a:r>
            <a:r>
              <a:rPr lang="pt-BR" dirty="0">
                <a:solidFill>
                  <a:srgbClr val="C00000"/>
                </a:solidFill>
              </a:rPr>
              <a:t> plásticas</a:t>
            </a:r>
          </a:p>
        </p:txBody>
      </p:sp>
    </p:spTree>
    <p:extLst>
      <p:ext uri="{BB962C8B-B14F-4D97-AF65-F5344CB8AC3E}">
        <p14:creationId xmlns:p14="http://schemas.microsoft.com/office/powerpoint/2010/main" val="4259377096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CDDD91-3A0B-4B5F-BA7B-875AE0286A56}">
  <ds:schemaRefs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0616edac-8b85-431d-b1bb-a5cc9cdccc9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77B2FB-4FCF-41BB-9F08-E9CB0964E4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38CAB0-BB5F-45B4-AC45-02CAA051FA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3924</TotalTime>
  <Words>1273</Words>
  <Application>Microsoft Office PowerPoint</Application>
  <PresentationFormat>Apresentação na tela (4:3)</PresentationFormat>
  <Paragraphs>113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Design padrão</vt:lpstr>
      <vt:lpstr>Apresentação do PowerPoint</vt:lpstr>
      <vt:lpstr>PARAMETROS INICIAIS ESSENCIAIS PARA SELEÇÃO DE MATERIAIS</vt:lpstr>
      <vt:lpstr>Apresentação do PowerPoint</vt:lpstr>
      <vt:lpstr>Apresentação do PowerPoint</vt:lpstr>
      <vt:lpstr>Apresentação do PowerPoint</vt:lpstr>
      <vt:lpstr>TETRAEDRO DOS MATERIAIS </vt:lpstr>
      <vt:lpstr>Apresentação do PowerPoint</vt:lpstr>
      <vt:lpstr>Apresentação do PowerPoint</vt:lpstr>
      <vt:lpstr>Quais os critérios que um engenheiro deve adotar para selecionar um material entre tantos outros? </vt:lpstr>
      <vt:lpstr>Quais os critérios que um engenheiro deve adotar para selecionar um material entre tantos outros? </vt:lpstr>
      <vt:lpstr>Quais os critérios que um engenheiro deve adotar para selecionar um material entre tantos outros? </vt:lpstr>
      <vt:lpstr>Quais os critérios que um engenheiro deve adotar para selecionar um material entre tantos outros? </vt:lpstr>
      <vt:lpstr>SELEÇÃO DOS MATERIAIS</vt:lpstr>
      <vt:lpstr>SELEÇÃO DOS MATERIAIS POR ÍNDICE DE MÉRITO</vt:lpstr>
      <vt:lpstr>SELEÇÃO DOS MATERIAIS POR ÍNDICE DE MÉRITO</vt:lpstr>
      <vt:lpstr>SELEÇÃO DOS MATERIAIS POR ÍNDICE DE MÉRITO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de uma turbina de um avião</vt:lpstr>
      <vt:lpstr>Apresentação do PowerPoint</vt:lpstr>
      <vt:lpstr>Apresentação do PowerPoint</vt:lpstr>
      <vt:lpstr>Apresentação do PowerPoint</vt:lpstr>
    </vt:vector>
  </TitlesOfParts>
  <Company>UFSC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Forcellini</dc:creator>
  <cp:lastModifiedBy>Andrea Cristina dos Santos</cp:lastModifiedBy>
  <cp:revision>214</cp:revision>
  <dcterms:created xsi:type="dcterms:W3CDTF">2005-02-20T23:18:54Z</dcterms:created>
  <dcterms:modified xsi:type="dcterms:W3CDTF">2025-01-20T19:01:23Z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