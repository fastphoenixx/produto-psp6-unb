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462" r:id="rId5"/>
    <p:sldId id="474" r:id="rId6"/>
    <p:sldId id="475" r:id="rId7"/>
    <p:sldId id="476" r:id="rId8"/>
    <p:sldId id="478" r:id="rId9"/>
    <p:sldId id="633" r:id="rId10"/>
    <p:sldId id="484" r:id="rId11"/>
    <p:sldId id="634" r:id="rId12"/>
    <p:sldId id="485" r:id="rId13"/>
    <p:sldId id="631" r:id="rId14"/>
    <p:sldId id="515" r:id="rId15"/>
    <p:sldId id="488" r:id="rId16"/>
    <p:sldId id="489" r:id="rId17"/>
    <p:sldId id="490" r:id="rId18"/>
    <p:sldId id="491" r:id="rId19"/>
    <p:sldId id="492" r:id="rId20"/>
    <p:sldId id="494" r:id="rId21"/>
    <p:sldId id="495" r:id="rId22"/>
    <p:sldId id="496" r:id="rId23"/>
    <p:sldId id="508" r:id="rId24"/>
    <p:sldId id="510" r:id="rId25"/>
    <p:sldId id="509" r:id="rId26"/>
    <p:sldId id="624" r:id="rId27"/>
    <p:sldId id="625" r:id="rId28"/>
    <p:sldId id="626" r:id="rId29"/>
    <p:sldId id="629" r:id="rId30"/>
    <p:sldId id="627" r:id="rId31"/>
    <p:sldId id="630" r:id="rId32"/>
    <p:sldId id="512" r:id="rId33"/>
    <p:sldId id="497" r:id="rId34"/>
    <p:sldId id="498" r:id="rId35"/>
    <p:sldId id="513" r:id="rId3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F1CE12-B100-0000-0000-00000000000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0"/>
    <p:restoredTop sz="86390" autoAdjust="0"/>
  </p:normalViewPr>
  <p:slideViewPr>
    <p:cSldViewPr>
      <p:cViewPr varScale="1">
        <p:scale>
          <a:sx n="97" d="100"/>
          <a:sy n="97" d="100"/>
        </p:scale>
        <p:origin x="1736" y="200"/>
      </p:cViewPr>
      <p:guideLst>
        <p:guide orient="horz" pos="2160"/>
        <p:guide pos="2880"/>
      </p:guideLst>
    </p:cSldViewPr>
  </p:slideViewPr>
  <p:outlineViewPr>
    <p:cViewPr>
      <p:scale>
        <a:sx n="1" d="1"/>
        <a:sy n="1" d="1"/>
      </p:scale>
      <p:origin x="0" y="-5826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D07412FE-8DED-B741-9B4C-F17E3794FADA}"/>
    <pc:docChg chg="delSld">
      <pc:chgData name="Andrea Cristina Dos Santos" userId="c1f965dc-8845-4afc-9e32-8f70830fffd6" providerId="ADAL" clId="{D07412FE-8DED-B741-9B4C-F17E3794FADA}" dt="2025-04-28T18:44:19.262" v="1" actId="2696"/>
      <pc:docMkLst>
        <pc:docMk/>
      </pc:docMkLst>
      <pc:sldChg chg="del">
        <pc:chgData name="Andrea Cristina Dos Santos" userId="c1f965dc-8845-4afc-9e32-8f70830fffd6" providerId="ADAL" clId="{D07412FE-8DED-B741-9B4C-F17E3794FADA}" dt="2025-04-28T18:44:19.262" v="1" actId="2696"/>
        <pc:sldMkLst>
          <pc:docMk/>
          <pc:sldMk cId="0" sldId="473"/>
        </pc:sldMkLst>
      </pc:sldChg>
      <pc:sldChg chg="del">
        <pc:chgData name="Andrea Cristina Dos Santos" userId="c1f965dc-8845-4afc-9e32-8f70830fffd6" providerId="ADAL" clId="{D07412FE-8DED-B741-9B4C-F17E3794FADA}" dt="2025-04-28T18:43:15.575" v="0" actId="2696"/>
        <pc:sldMkLst>
          <pc:docMk/>
          <pc:sldMk cId="0" sldId="4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2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endParaRPr lang="pt-BR"/>
          </a:p>
        </p:txBody>
      </p:sp>
      <p:sp>
        <p:nvSpPr>
          <p:cNvPr id="24" name="Rectangle 24"/>
          <p:cNvSpPr>
            <a:spLocks noGrp="1"/>
          </p:cNvSpPr>
          <p:nvPr>
            <p:ph type="dt" sz="quarter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fld id="{A849C5AD-4428-4E9C-9C84-11B72C9365FB}" type="datetimeFigureOut">
              <a:rPr lang="pt-BR" smtClean="0"/>
              <a:pPr/>
              <a:t>28/04/2025</a:t>
            </a:fld>
            <a:endParaRPr lang="pt-BR"/>
          </a:p>
        </p:txBody>
      </p:sp>
      <p:sp>
        <p:nvSpPr>
          <p:cNvPr id="30" name="Rectangle 30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endParaRPr lang="pt-BR"/>
          </a:p>
        </p:txBody>
      </p:sp>
      <p:sp>
        <p:nvSpPr>
          <p:cNvPr id="18" name="Rectangle 18"/>
          <p:cNvSpPr>
            <a:spLocks noGrp="1"/>
          </p:cNvSpPr>
          <p:nvPr>
            <p:ph type="sldNum" sz="quarter" idx="3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fld id="{8C596567-A38F-4CEF-B37F-9B9D120D62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4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endParaRPr lang="pt-BR"/>
          </a:p>
        </p:txBody>
      </p:sp>
      <p:sp>
        <p:nvSpPr>
          <p:cNvPr id="15" name="Rectangle 15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fld id="{D7547E60-4BE7-4E4E-9AAA-5EE35AEC995C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23" name="Rectangle 2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lIns="99048" tIns="49524" rIns="99048" bIns="49524" anchor="ctr"/>
          <a:lstStyle/>
          <a:p>
            <a:endParaRPr lang="pt-BR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lIns="99048" tIns="49524" rIns="99048" bIns="49524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Rectangle 18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endParaRPr lang="pt-BR"/>
          </a:p>
        </p:txBody>
      </p:sp>
      <p:sp>
        <p:nvSpPr>
          <p:cNvPr id="28" name="Rectangle 28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lIns="99048" tIns="49524" rIns="99048" bIns="49524"/>
          <a:lstStyle/>
          <a:p>
            <a:fld id="{CA077768-21C8-4125-A345-258E48D2EED0}" type="slidenum">
              <a:rPr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CDB21B-E9B8-42AB-AE36-3D1AF1076760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339B62-9BC3-404E-ABF0-216596B84DAB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806AC-D53B-446B-8F0D-1991DC8CB4DC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A140FF-9C58-4D12-A147-777FD9E9CFF7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D40788-2AE1-413E-8C58-A8EBF6CDFC41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7CD070-BDAD-4179-AE19-5A8EC0D84B8B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BCF56-C84F-4E5C-BE46-A24E6CD774CF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1CC74C-0C4E-4986-9E46-ACDDF4C18A0E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8BA407-B293-462F-BD07-E5DC50D8F19C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AE721B-0695-43A2-BA6E-8DAAC7579F0C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44C00D-31B9-45A5-AF8E-1D3D25F5EE6E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3B5DAA-809B-4C04-B064-7B8F2B5F0D4D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44606-04F3-4464-B326-C6A1975964EB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971D3C-083A-4C7E-8D27-485B33F9761A}" type="slidenum">
              <a:rPr lang="pt-BR" smtClean="0"/>
              <a:pPr/>
              <a:t>19</a:t>
            </a:fld>
            <a:endParaRPr lang="pt-BR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01C106-A2DB-4C4B-AA59-F1C787DC4E5E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3003DF-0538-412C-9E05-39399630AD63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2E9F8C-CB1C-4777-861A-D5485F45E905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C9857CFC-7FDF-CD4C-9E57-04F4B07C3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AEE278-6333-3643-AF69-8C6DD20CDC57}" type="slidenum">
              <a:rPr lang="pt-BR" altLang="pt-BR" sz="1300"/>
              <a:pPr/>
              <a:t>23</a:t>
            </a:fld>
            <a:endParaRPr lang="pt-BR" altLang="pt-BR" sz="1300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687392C4-3C63-7A4F-B6F6-2792221A3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6BEA98E4-A525-4848-A2A8-D581811CA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7225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A57DD5F5-E21C-3F40-B5E2-5155EA0F11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83A4F3-325C-8549-B9F4-CA76DA1C7F06}" type="slidenum">
              <a:rPr lang="pt-BR" altLang="pt-BR" sz="1300"/>
              <a:pPr/>
              <a:t>24</a:t>
            </a:fld>
            <a:endParaRPr lang="pt-BR" altLang="pt-BR" sz="1300"/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6B624E09-A149-1A4E-BAB5-6F1B902CB7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38A8A1F4-A7E6-6A4B-A47C-0EAAC5E740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977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290E9C7B-AB76-6645-8570-75E62260A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A50585-798E-8B40-9267-4E45824C2B69}" type="slidenum">
              <a:rPr lang="pt-BR" altLang="pt-BR" sz="1300"/>
              <a:pPr/>
              <a:t>25</a:t>
            </a:fld>
            <a:endParaRPr lang="pt-BR" altLang="pt-BR" sz="1300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498ED67B-33EF-6E40-9511-C6706BE0B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106E26B9-8EC1-3A44-B9EE-1518EBCFE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019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E3AE78F2-7998-2842-9361-22ED3BD3C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ADBB46-1C3B-D142-B768-F392E9730E42}" type="slidenum">
              <a:rPr lang="pt-BR" altLang="pt-BR" sz="1300"/>
              <a:pPr/>
              <a:t>26</a:t>
            </a:fld>
            <a:endParaRPr lang="pt-BR" altLang="pt-BR" sz="1300"/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E163DF25-7C46-5D40-9040-A0DFD92501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0642D642-6E2C-B14D-B2E1-228453C6BE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636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0DD3FDC1-9BCA-4749-B34F-46B1E54F4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318BE0-5B30-7244-A500-456CA2528334}" type="slidenum">
              <a:rPr lang="pt-BR" altLang="pt-BR" sz="1300"/>
              <a:pPr/>
              <a:t>27</a:t>
            </a:fld>
            <a:endParaRPr lang="pt-BR" altLang="pt-BR" sz="1300"/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4D76DFDE-340D-2A4D-A029-B92FC2ACA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7FB4FAC3-6D1C-F54C-AE38-D3548AB19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2333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727FA5-4B6C-4A28-8AAB-12FCFF92FD5B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EB9F0F-2F02-49E3-8F79-FB80BA62C885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E4CEB0-3864-418D-834C-7FA4E7C1FF03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138B19-2BA6-4888-B0DC-238C6F8011A0}" type="slidenum">
              <a:rPr lang="pt-BR" smtClean="0"/>
              <a:pPr/>
              <a:t>32</a:t>
            </a:fld>
            <a:endParaRPr lang="pt-BR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2492734" y="5094577"/>
            <a:ext cx="6194066" cy="925223"/>
          </a:xfrm>
        </p:spPr>
        <p:txBody>
          <a:bodyPr/>
          <a:lstStyle>
            <a:lvl1pPr marL="0" indent="0" algn="r" latinLnBrk="0">
              <a:buNone/>
              <a:defRPr lang="pt-BR"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108986" y="3606800"/>
            <a:ext cx="7577814" cy="1470025"/>
          </a:xfrm>
        </p:spPr>
        <p:txBody>
          <a:bodyPr anchor="b" anchorCtr="0"/>
          <a:lstStyle>
            <a:lvl1pPr algn="r" latinLnBrk="0">
              <a:defRPr lang="pt-BR" sz="400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em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4/28/25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F727D-7270-448D-A618-DDB8BB27DE4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395288" y="188913"/>
            <a:ext cx="8374062" cy="58213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D164A-0D82-40CB-BA67-7D5E877273A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30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DA593-0E5F-4B05-8D69-E1F91CDC1E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730750" y="1484313"/>
            <a:ext cx="4038600" cy="2185987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730750" y="3822700"/>
            <a:ext cx="4038600" cy="21875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1476B-0071-40BB-A6AB-C8CEDD99D7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539750" y="1484313"/>
            <a:ext cx="8229600" cy="4525962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1140BE-3A5A-9A43-B7BC-B8D5F082D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D2CE0F-0BE1-6247-87B4-B968E9E622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5F43DE-27EB-2545-913C-E6F2C7D4C1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61024-C93D-D949-B0AE-3340C333D4F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893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latinLnBrk="0">
              <a:defRPr lang="pt-BR" sz="1000">
                <a:latin typeface="+mn-lt"/>
              </a:defRPr>
            </a:lvl1pPr>
          </a:lstStyle>
          <a:p>
            <a:fld id="{5C14FD69-4A85-4715-A222-ABB225B63BC6}" type="datetimeFigureOut">
              <a:rPr lang="en-US"/>
              <a:pPr/>
              <a:t>4/28/25</a:t>
            </a:fld>
            <a:endParaRPr lang="pt-BR" sz="1000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latinLnBrk="0">
              <a:defRPr lang="pt-BR" sz="1000">
                <a:latin typeface="+mn-lt"/>
              </a:defRPr>
            </a:lvl1pPr>
          </a:lstStyle>
          <a:p>
            <a:pPr algn="ctr"/>
            <a:endParaRPr lang="pt-BR" sz="1000"/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 latinLnBrk="0">
              <a:defRPr lang="pt-BR" sz="1000">
                <a:latin typeface="+mn-lt"/>
              </a:defRPr>
            </a:lvl1pPr>
          </a:lstStyle>
          <a:p>
            <a:pPr algn="r"/>
            <a:fld id="{D4C49B74-5DB2-4B03-B1D2-7F6A3C51C318}" type="slidenum">
              <a:rPr/>
              <a:pPr algn="r"/>
              <a:t>‹nº›</a:t>
            </a:fld>
            <a:endParaRPr lang="pt-BR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defPPr>
        <a:defRPr lang="pt-BR"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latinLnBrk="0" hangingPunct="1">
        <a:buNone/>
        <a:defRPr lang="pt-BR"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 lang="pt-BR"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latinLnBrk="0" hangingPunct="1">
        <a:buChar char="•"/>
        <a:defRPr lang="pt-BR" sz="2800">
          <a:latin typeface="+mn-lt"/>
        </a:defRPr>
      </a:lvl1pPr>
      <a:lvl2pPr marL="742950" indent="-285750" eaLnBrk="1" hangingPunct="1">
        <a:buChar char="–"/>
        <a:defRPr lang="pt-BR" sz="2400">
          <a:latin typeface="+mn-lt"/>
        </a:defRPr>
      </a:lvl2pPr>
      <a:lvl3pPr marL="1143000" indent="-228600" eaLnBrk="1" hangingPunct="1">
        <a:buChar char="•"/>
        <a:defRPr lang="pt-BR" sz="2400">
          <a:latin typeface="+mn-lt"/>
        </a:defRPr>
      </a:lvl3pPr>
      <a:lvl4pPr marL="1600200" indent="-228600" eaLnBrk="1" hangingPunct="1">
        <a:buChar char="–"/>
        <a:defRPr lang="pt-BR" sz="2000">
          <a:latin typeface="+mn-lt"/>
        </a:defRPr>
      </a:lvl4pPr>
      <a:lvl5pPr marL="2057400" indent="-228600" eaLnBrk="1" hangingPunct="1">
        <a:buChar char="»"/>
        <a:defRPr lang="pt-BR" sz="2000">
          <a:latin typeface="+mn-lt"/>
        </a:defRPr>
      </a:lvl5pPr>
      <a:lvl6pPr marL="2514600" indent="-228600" eaLnBrk="1" hangingPunct="1">
        <a:buChar char="•"/>
        <a:defRPr lang="pt-BR" sz="2000"/>
      </a:lvl6pPr>
      <a:lvl7pPr marL="2971800" indent="-228600" eaLnBrk="1" hangingPunct="1">
        <a:buChar char="•"/>
        <a:defRPr lang="pt-BR" sz="2000"/>
      </a:lvl7pPr>
      <a:lvl8pPr marL="3429000" indent="-228600" eaLnBrk="1" hangingPunct="1">
        <a:buChar char="•"/>
        <a:defRPr lang="pt-BR" sz="2000"/>
      </a:lvl8pPr>
      <a:lvl9pPr marL="3886200" indent="-228600" eaLnBrk="1" hangingPunct="1">
        <a:buChar char="•"/>
        <a:defRPr lang="pt-BR" sz="2000"/>
      </a:lvl9pPr>
    </p:bodyStyle>
    <p:otherStyle>
      <a:defPPr>
        <a:defRPr lang="pt-BR">
          <a:solidFill>
            <a:schemeClr val="tx1"/>
          </a:solidFill>
          <a:latin typeface="+mn-lt"/>
          <a:ea typeface="+mn-ea"/>
          <a:cs typeface="+mn-cs"/>
        </a:defRPr>
      </a:defPPr>
      <a:lvl1pPr marL="0" eaLnBrk="1" latinLnBrk="0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1700808"/>
            <a:ext cx="7577814" cy="1470025"/>
          </a:xfrm>
        </p:spPr>
        <p:txBody>
          <a:bodyPr>
            <a:noAutofit/>
          </a:bodyPr>
          <a:lstStyle/>
          <a:p>
            <a:pPr algn="l"/>
            <a:r>
              <a:rPr lang="pt-BR" sz="3200" dirty="0"/>
              <a:t>Universidade de Brasília</a:t>
            </a:r>
            <a:br>
              <a:rPr lang="pt-BR" sz="3200" dirty="0"/>
            </a:br>
            <a:r>
              <a:rPr lang="pt-BR" sz="3200" dirty="0"/>
              <a:t>Departamento de Engenharia de Produção</a:t>
            </a:r>
            <a:br>
              <a:rPr lang="pt-BR" sz="3200" dirty="0"/>
            </a:br>
            <a:r>
              <a:rPr lang="pt-BR" sz="3200" dirty="0"/>
              <a:t>Disciplina: Engenharia de Produto</a:t>
            </a:r>
            <a:br>
              <a:rPr lang="pt-BR" sz="3200" dirty="0"/>
            </a:br>
            <a:r>
              <a:rPr lang="pt-BR" sz="3200" dirty="0"/>
              <a:t>  </a:t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87624" y="3068960"/>
            <a:ext cx="6768752" cy="175260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Aula 10 – Projeto Informacional </a:t>
            </a:r>
          </a:p>
          <a:p>
            <a:pPr algn="ctr"/>
            <a:r>
              <a:rPr lang="pt-BR" dirty="0"/>
              <a:t>Profa. Andréa Santos</a:t>
            </a:r>
          </a:p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115616" y="4581128"/>
            <a:ext cx="7056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Fonte: Capítulo 6  -</a:t>
            </a:r>
            <a:r>
              <a:rPr lang="pt-BR" dirty="0" err="1"/>
              <a:t>Rozenfeld</a:t>
            </a:r>
            <a:r>
              <a:rPr lang="pt-BR" dirty="0"/>
              <a:t> </a:t>
            </a:r>
            <a:r>
              <a:rPr lang="pt-BR" dirty="0" err="1"/>
              <a:t>et</a:t>
            </a:r>
            <a:r>
              <a:rPr lang="pt-BR" dirty="0"/>
              <a:t> </a:t>
            </a:r>
            <a:r>
              <a:rPr lang="pt-BR" dirty="0" err="1"/>
              <a:t>al</a:t>
            </a:r>
            <a:r>
              <a:rPr lang="pt-BR" dirty="0"/>
              <a:t> (2006)</a:t>
            </a:r>
          </a:p>
          <a:p>
            <a:r>
              <a:rPr lang="pt-BR" dirty="0"/>
              <a:t>               Capítulo  5 – </a:t>
            </a:r>
            <a:r>
              <a:rPr lang="pt-BR" dirty="0" err="1"/>
              <a:t>Back</a:t>
            </a:r>
            <a:r>
              <a:rPr lang="pt-BR" dirty="0"/>
              <a:t>  </a:t>
            </a:r>
            <a:r>
              <a:rPr lang="pt-BR" dirty="0" err="1"/>
              <a:t>et</a:t>
            </a:r>
            <a:r>
              <a:rPr lang="pt-BR" dirty="0"/>
              <a:t> </a:t>
            </a:r>
            <a:r>
              <a:rPr lang="pt-BR" dirty="0" err="1"/>
              <a:t>al</a:t>
            </a:r>
            <a:r>
              <a:rPr lang="pt-BR" dirty="0"/>
              <a:t> (2008)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77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Localização da Fase</a:t>
            </a:r>
          </a:p>
        </p:txBody>
      </p:sp>
      <p:pic>
        <p:nvPicPr>
          <p:cNvPr id="21507" name="Picture 6" descr="Imagem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188" y="1554163"/>
            <a:ext cx="8002587" cy="414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 Box 8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/>
              <a:t>Entradas</a:t>
            </a:r>
            <a:r>
              <a:rPr lang="en-US" dirty="0"/>
              <a:t> e </a:t>
            </a:r>
            <a:r>
              <a:rPr lang="en-US" dirty="0" err="1"/>
              <a:t>Saídas</a:t>
            </a:r>
            <a:r>
              <a:rPr lang="en-US" dirty="0"/>
              <a:t> do PI</a:t>
            </a:r>
            <a:endParaRPr lang="pt-BR" dirty="0"/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</a:t>
            </a:r>
          </a:p>
        </p:txBody>
      </p:sp>
      <p:pic>
        <p:nvPicPr>
          <p:cNvPr id="23556" name="Picture 7" descr="Figura1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59632" y="1484784"/>
            <a:ext cx="6273800" cy="5037137"/>
          </a:xfrm>
          <a:noFill/>
        </p:spPr>
      </p:pic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/>
              <a:t>Objetivo</a:t>
            </a:r>
            <a:r>
              <a:rPr lang="en-US" dirty="0"/>
              <a:t> do PI</a:t>
            </a:r>
            <a:endParaRPr lang="pt-BR" dirty="0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619250"/>
            <a:ext cx="4210050" cy="5238750"/>
          </a:xfrm>
        </p:spPr>
        <p:txBody>
          <a:bodyPr>
            <a:normAutofit/>
          </a:bodyPr>
          <a:lstStyle/>
          <a:p>
            <a:pPr eaLnBrk="1" hangingPunct="1"/>
            <a:r>
              <a:rPr lang="pt-BR" dirty="0">
                <a:solidFill>
                  <a:srgbClr val="B40000"/>
                </a:solidFill>
              </a:rPr>
              <a:t>Desenvolver</a:t>
            </a:r>
            <a:r>
              <a:rPr lang="pt-BR" dirty="0"/>
              <a:t> um </a:t>
            </a:r>
            <a:r>
              <a:rPr lang="pt-BR" dirty="0">
                <a:solidFill>
                  <a:srgbClr val="B40000"/>
                </a:solidFill>
              </a:rPr>
              <a:t>conjunto de informações</a:t>
            </a:r>
            <a:r>
              <a:rPr lang="pt-BR" dirty="0"/>
              <a:t>, o mais completo possível, chamado de </a:t>
            </a:r>
            <a:r>
              <a:rPr lang="pt-BR" dirty="0">
                <a:solidFill>
                  <a:srgbClr val="0070C0"/>
                </a:solidFill>
              </a:rPr>
              <a:t>especificações-meta do produto.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A partir</a:t>
            </a:r>
            <a:r>
              <a:rPr lang="pt-BR" dirty="0"/>
              <a:t> das </a:t>
            </a:r>
            <a:r>
              <a:rPr lang="pt-BR" dirty="0">
                <a:solidFill>
                  <a:srgbClr val="B40000"/>
                </a:solidFill>
              </a:rPr>
              <a:t>informações levantadas no planejamento</a:t>
            </a:r>
            <a:r>
              <a:rPr lang="pt-BR" dirty="0"/>
              <a:t> e em </a:t>
            </a:r>
            <a:r>
              <a:rPr lang="pt-BR" dirty="0">
                <a:solidFill>
                  <a:srgbClr val="B40000"/>
                </a:solidFill>
              </a:rPr>
              <a:t>outras fontes</a:t>
            </a:r>
            <a:r>
              <a:rPr lang="pt-BR" dirty="0"/>
              <a:t>.</a:t>
            </a:r>
          </a:p>
        </p:txBody>
      </p:sp>
      <p:sp>
        <p:nvSpPr>
          <p:cNvPr id="24064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2420888"/>
            <a:ext cx="4211637" cy="3189659"/>
          </a:xfrm>
        </p:spPr>
        <p:txBody>
          <a:bodyPr>
            <a:noAutofit/>
          </a:bodyPr>
          <a:lstStyle/>
          <a:p>
            <a:pPr eaLnBrk="1" hangingPunct="1"/>
            <a:r>
              <a:rPr lang="pt-BR" dirty="0">
                <a:solidFill>
                  <a:srgbClr val="B40000"/>
                </a:solidFill>
              </a:rPr>
              <a:t>Finalidade</a:t>
            </a:r>
            <a:r>
              <a:rPr lang="pt-BR" dirty="0"/>
              <a:t> das </a:t>
            </a:r>
            <a:r>
              <a:rPr lang="pt-BR" dirty="0">
                <a:solidFill>
                  <a:srgbClr val="B40000"/>
                </a:solidFill>
              </a:rPr>
              <a:t>especificações-meta</a:t>
            </a:r>
            <a:r>
              <a:rPr lang="pt-BR" dirty="0"/>
              <a:t> do produto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Orientar</a:t>
            </a:r>
            <a:r>
              <a:rPr lang="pt-BR" dirty="0"/>
              <a:t> a </a:t>
            </a:r>
            <a:r>
              <a:rPr lang="pt-BR" dirty="0">
                <a:solidFill>
                  <a:srgbClr val="B40000"/>
                </a:solidFill>
              </a:rPr>
              <a:t>geração de soluções</a:t>
            </a:r>
            <a:r>
              <a:rPr lang="pt-BR" dirty="0"/>
              <a:t>.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Fornecer critérios</a:t>
            </a:r>
            <a:r>
              <a:rPr lang="pt-BR" dirty="0"/>
              <a:t> para a </a:t>
            </a:r>
            <a:r>
              <a:rPr lang="pt-BR" dirty="0">
                <a:solidFill>
                  <a:srgbClr val="B40000"/>
                </a:solidFill>
              </a:rPr>
              <a:t>avaliação</a:t>
            </a:r>
            <a:r>
              <a:rPr lang="pt-BR" dirty="0"/>
              <a:t> e a </a:t>
            </a:r>
            <a:r>
              <a:rPr lang="pt-BR" dirty="0">
                <a:solidFill>
                  <a:srgbClr val="B40000"/>
                </a:solidFill>
              </a:rPr>
              <a:t>tomada de decisão</a:t>
            </a:r>
            <a:r>
              <a:rPr lang="pt-BR" dirty="0"/>
              <a:t> nas etapas posteriores do PDP.</a:t>
            </a:r>
          </a:p>
          <a:p>
            <a:pPr eaLnBrk="1" hangingPunct="1"/>
            <a:endParaRPr lang="pt-BR" dirty="0"/>
          </a:p>
        </p:txBody>
      </p:sp>
      <p:sp>
        <p:nvSpPr>
          <p:cNvPr id="240645" name="Rectangle 5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pPr eaLnBrk="1" hangingPunct="1"/>
            <a:r>
              <a:rPr lang="pt-BR" dirty="0"/>
              <a:t>Principais Informações do PI</a:t>
            </a:r>
          </a:p>
        </p:txBody>
      </p:sp>
      <p:pic>
        <p:nvPicPr>
          <p:cNvPr id="17414" name="Picture 6" descr="Imagem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00188" y="1646238"/>
            <a:ext cx="6308725" cy="4200525"/>
          </a:xfrm>
          <a:noFill/>
        </p:spPr>
      </p:pic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7419" name="Freeform 11"/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7 w 3746"/>
              <a:gd name="T1" fmla="*/ 2147483647 h 3137"/>
              <a:gd name="T2" fmla="*/ 2147483647 w 3746"/>
              <a:gd name="T3" fmla="*/ 2147483647 h 3137"/>
              <a:gd name="T4" fmla="*/ 2147483647 w 3746"/>
              <a:gd name="T5" fmla="*/ 2147483647 h 3137"/>
              <a:gd name="T6" fmla="*/ 2147483647 w 3746"/>
              <a:gd name="T7" fmla="*/ 2147483647 h 3137"/>
              <a:gd name="T8" fmla="*/ 2147483647 w 3746"/>
              <a:gd name="T9" fmla="*/ 2147483647 h 3137"/>
              <a:gd name="T10" fmla="*/ 2147483647 w 3746"/>
              <a:gd name="T11" fmla="*/ 2147483647 h 3137"/>
              <a:gd name="T12" fmla="*/ 2147483647 w 3746"/>
              <a:gd name="T13" fmla="*/ 2147483647 h 3137"/>
              <a:gd name="T14" fmla="*/ 2147483647 w 3746"/>
              <a:gd name="T15" fmla="*/ 2147483647 h 3137"/>
              <a:gd name="T16" fmla="*/ 2147483647 w 3746"/>
              <a:gd name="T17" fmla="*/ 2147483647 h 3137"/>
              <a:gd name="T18" fmla="*/ 2147483647 w 3746"/>
              <a:gd name="T19" fmla="*/ 2147483647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798" name="Text Box 16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</a:t>
            </a:r>
          </a:p>
        </p:txBody>
      </p:sp>
      <p:sp>
        <p:nvSpPr>
          <p:cNvPr id="17425" name="AutoShape 17"/>
          <p:cNvSpPr>
            <a:spLocks noChangeArrowheads="1"/>
          </p:cNvSpPr>
          <p:nvPr/>
        </p:nvSpPr>
        <p:spPr bwMode="auto">
          <a:xfrm>
            <a:off x="6516688" y="1125538"/>
            <a:ext cx="2447925" cy="790575"/>
          </a:xfrm>
          <a:prstGeom prst="wedgeRectCallout">
            <a:avLst>
              <a:gd name="adj1" fmla="val -65630"/>
              <a:gd name="adj2" fmla="val 73694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/>
              <a:t>Primeira descrição do produto. Contém uma primeira versão dos req. do produto a serem reavaliadas e detalhadas.</a:t>
            </a:r>
          </a:p>
        </p:txBody>
      </p:sp>
      <p:sp>
        <p:nvSpPr>
          <p:cNvPr id="33800" name="Text Box 18"/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7427" name="AutoShape 19"/>
          <p:cNvSpPr>
            <a:spLocks noChangeArrowheads="1"/>
          </p:cNvSpPr>
          <p:nvPr/>
        </p:nvSpPr>
        <p:spPr bwMode="auto">
          <a:xfrm>
            <a:off x="179388" y="1341438"/>
            <a:ext cx="1728787" cy="1295400"/>
          </a:xfrm>
          <a:prstGeom prst="wedgeRectCallout">
            <a:avLst>
              <a:gd name="adj1" fmla="val 74519"/>
              <a:gd name="adj2" fmla="val 784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Representação gráfica da história do produto (estágios pelo qual o mesmo passa, das definições iniciais às fases finais). </a:t>
            </a:r>
          </a:p>
        </p:txBody>
      </p:sp>
      <p:sp>
        <p:nvSpPr>
          <p:cNvPr id="17428" name="AutoShape 20"/>
          <p:cNvSpPr>
            <a:spLocks noChangeArrowheads="1"/>
          </p:cNvSpPr>
          <p:nvPr/>
        </p:nvSpPr>
        <p:spPr bwMode="auto">
          <a:xfrm>
            <a:off x="179388" y="4005263"/>
            <a:ext cx="1728787" cy="1152525"/>
          </a:xfrm>
          <a:prstGeom prst="wedgeRectCallout">
            <a:avLst>
              <a:gd name="adj1" fmla="val 55144"/>
              <a:gd name="adj2" fmla="val 71764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Desejos originais dos clientes. Podem ser redundantes ou expressar características do produto </a:t>
            </a:r>
          </a:p>
        </p:txBody>
      </p:sp>
      <p:sp>
        <p:nvSpPr>
          <p:cNvPr id="17429" name="AutoShape 21"/>
          <p:cNvSpPr>
            <a:spLocks noChangeArrowheads="1"/>
          </p:cNvSpPr>
          <p:nvPr/>
        </p:nvSpPr>
        <p:spPr bwMode="auto">
          <a:xfrm>
            <a:off x="179388" y="2924175"/>
            <a:ext cx="1728787" cy="792163"/>
          </a:xfrm>
          <a:prstGeom prst="wedgeRectCallout">
            <a:avLst>
              <a:gd name="adj1" fmla="val 66162"/>
              <a:gd name="adj2" fmla="val 63028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Necessidades dos clientes organizadas, categorizadas e estruturadas</a:t>
            </a:r>
          </a:p>
        </p:txBody>
      </p:sp>
      <p:sp>
        <p:nvSpPr>
          <p:cNvPr id="17430" name="AutoShape 22"/>
          <p:cNvSpPr>
            <a:spLocks noChangeArrowheads="1"/>
          </p:cNvSpPr>
          <p:nvPr/>
        </p:nvSpPr>
        <p:spPr bwMode="auto">
          <a:xfrm>
            <a:off x="6516688" y="2133600"/>
            <a:ext cx="2447925" cy="935038"/>
          </a:xfrm>
          <a:prstGeom prst="wedgeRectCallout">
            <a:avLst>
              <a:gd name="adj1" fmla="val -65630"/>
              <a:gd name="adj2" fmla="val 5458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/>
              <a:t>Conj. de objetivos e metas que o produto deve atender. Deve refletir as características que o produto deve possuir para satisfazer os clientes.</a:t>
            </a:r>
          </a:p>
        </p:txBody>
      </p:sp>
      <p:sp>
        <p:nvSpPr>
          <p:cNvPr id="17431" name="AutoShape 23"/>
          <p:cNvSpPr>
            <a:spLocks noChangeArrowheads="1"/>
          </p:cNvSpPr>
          <p:nvPr/>
        </p:nvSpPr>
        <p:spPr bwMode="auto">
          <a:xfrm>
            <a:off x="4140200" y="5013325"/>
            <a:ext cx="2303463" cy="863600"/>
          </a:xfrm>
          <a:prstGeom prst="wedgeRectCallout">
            <a:avLst>
              <a:gd name="adj1" fmla="val -20435"/>
              <a:gd name="adj2" fmla="val -96875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Características que o produto deve atender com o valores-meta, desdobrados a partir dos req. dos clientes.</a:t>
            </a:r>
          </a:p>
        </p:txBody>
      </p:sp>
      <p:sp>
        <p:nvSpPr>
          <p:cNvPr id="17432" name="AutoShape 24"/>
          <p:cNvSpPr>
            <a:spLocks noChangeArrowheads="1"/>
          </p:cNvSpPr>
          <p:nvPr/>
        </p:nvSpPr>
        <p:spPr bwMode="auto">
          <a:xfrm>
            <a:off x="6659563" y="5013325"/>
            <a:ext cx="1873250" cy="863600"/>
          </a:xfrm>
          <a:prstGeom prst="wedgeRectCallout">
            <a:avLst>
              <a:gd name="adj1" fmla="val -21273"/>
              <a:gd name="adj2" fmla="val -96875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/>
              <a:t>Informações complementares aos req. de produto que forma as especificações metas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nimBg="1"/>
      <p:bldP spid="17419" grpId="0" animBg="1"/>
      <p:bldP spid="17425" grpId="0" animBg="1"/>
      <p:bldP spid="17427" grpId="0" animBg="1"/>
      <p:bldP spid="17428" grpId="0" animBg="1"/>
      <p:bldP spid="17429" grpId="0" animBg="1"/>
      <p:bldP spid="17430" grpId="0" animBg="1"/>
      <p:bldP spid="17431" grpId="0" animBg="1"/>
      <p:bldP spid="174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Does the Double Diamond Design Process Work Full Infographic">
            <a:extLst>
              <a:ext uri="{FF2B5EF4-FFF2-40B4-BE49-F238E27FC236}">
                <a16:creationId xmlns:a16="http://schemas.microsoft.com/office/drawing/2014/main" id="{1685349F-A596-702D-10F8-2EF11C8DE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988"/>
            <a:ext cx="9144000" cy="654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E595AC6-81C4-7D1A-AD44-F7BEB9DEDC38}"/>
              </a:ext>
            </a:extLst>
          </p:cNvPr>
          <p:cNvSpPr/>
          <p:nvPr/>
        </p:nvSpPr>
        <p:spPr>
          <a:xfrm>
            <a:off x="179512" y="796234"/>
            <a:ext cx="5040560" cy="590465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28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6"/>
          <p:cNvGraphicFramePr>
            <a:graphicFrameLocks noGrp="1" noChangeAspect="1"/>
          </p:cNvGraphicFramePr>
          <p:nvPr>
            <p:ph/>
          </p:nvPr>
        </p:nvGraphicFramePr>
        <p:xfrm>
          <a:off x="917575" y="1012825"/>
          <a:ext cx="7053263" cy="524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7053227" imgH="5242183" progId="Word.Picture.8">
                  <p:embed/>
                </p:oleObj>
              </mc:Choice>
              <mc:Fallback>
                <p:oleObj name="Figura" r:id="rId3" imgW="7053227" imgH="5242183" progId="Word.Picture.8">
                  <p:embed/>
                  <p:pic>
                    <p:nvPicPr>
                      <p:cNvPr id="102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012825"/>
                        <a:ext cx="7053263" cy="524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17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8407400" y="1012825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F2D82A1-23E6-2EA4-DAB4-46C8B08E5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4293096"/>
            <a:ext cx="3551560" cy="2000264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5760" marR="0" lvl="0" indent="-283464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	Os diferenciais ou funcionalidades que caracterizam o </a:t>
            </a:r>
            <a:r>
              <a:rPr kumimoji="0" lang="pt-BR" sz="24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produto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ou </a:t>
            </a:r>
            <a:r>
              <a:rPr kumimoji="0" lang="pt-BR" sz="24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serviço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;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25F0BE-5A06-59A4-D48A-2AAEF9DBC1C3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1556792"/>
            <a:ext cx="3276600" cy="1955800"/>
            <a:chOff x="240" y="624"/>
            <a:chExt cx="2064" cy="123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3361847-EF6B-E8B9-EA73-661B94D2D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624"/>
              <a:ext cx="2064" cy="960"/>
              <a:chOff x="624" y="576"/>
              <a:chExt cx="2064" cy="96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963937-D478-B42E-8D45-9AF7F6A4D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576"/>
                <a:ext cx="2064" cy="9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FEE5064-C093-3EED-3C62-DAECC9886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624"/>
                <a:ext cx="1952" cy="864"/>
                <a:chOff x="816" y="528"/>
                <a:chExt cx="1952" cy="864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2590041B-25F8-B9FA-72D1-5F4F9974B3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6" y="528"/>
                  <a:ext cx="706" cy="864"/>
                  <a:chOff x="720" y="761"/>
                  <a:chExt cx="879" cy="1075"/>
                </a:xfrm>
              </p:grpSpPr>
              <p:sp>
                <p:nvSpPr>
                  <p:cNvPr id="15" name="AutoShape 9">
                    <a:extLst>
                      <a:ext uri="{FF2B5EF4-FFF2-40B4-BE49-F238E27FC236}">
                        <a16:creationId xmlns:a16="http://schemas.microsoft.com/office/drawing/2014/main" id="{290A8681-B767-C1F2-6073-726A7071F6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0" y="761"/>
                    <a:ext cx="879" cy="1075"/>
                  </a:xfrm>
                  <a:prstGeom prst="foldedCorner">
                    <a:avLst>
                      <a:gd name="adj" fmla="val 18056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sp>
                <p:nvSpPr>
                  <p:cNvPr id="16" name="Line 10">
                    <a:extLst>
                      <a:ext uri="{FF2B5EF4-FFF2-40B4-BE49-F238E27FC236}">
                        <a16:creationId xmlns:a16="http://schemas.microsoft.com/office/drawing/2014/main" id="{44594531-208A-7717-8BD5-91C2DCEDEB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054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" name="Line 11">
                    <a:extLst>
                      <a:ext uri="{FF2B5EF4-FFF2-40B4-BE49-F238E27FC236}">
                        <a16:creationId xmlns:a16="http://schemas.microsoft.com/office/drawing/2014/main" id="{48D38539-1E91-F41D-ADA8-8D57DEA19C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119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" name="Line 12">
                    <a:extLst>
                      <a:ext uri="{FF2B5EF4-FFF2-40B4-BE49-F238E27FC236}">
                        <a16:creationId xmlns:a16="http://schemas.microsoft.com/office/drawing/2014/main" id="{24D8F04D-24A4-87BB-FAB5-C547EF815B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184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" name="Line 13">
                    <a:extLst>
                      <a:ext uri="{FF2B5EF4-FFF2-40B4-BE49-F238E27FC236}">
                        <a16:creationId xmlns:a16="http://schemas.microsoft.com/office/drawing/2014/main" id="{DD9D10A5-5BD5-BFB7-E7E9-4B83662D2E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250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" name="Line 14">
                    <a:extLst>
                      <a:ext uri="{FF2B5EF4-FFF2-40B4-BE49-F238E27FC236}">
                        <a16:creationId xmlns:a16="http://schemas.microsoft.com/office/drawing/2014/main" id="{E6D87F53-C4B0-D3C0-FDEF-279702BE77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315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" name="Line 15">
                    <a:extLst>
                      <a:ext uri="{FF2B5EF4-FFF2-40B4-BE49-F238E27FC236}">
                        <a16:creationId xmlns:a16="http://schemas.microsoft.com/office/drawing/2014/main" id="{5F96AC11-5617-775A-B7DE-B9899F9F1F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380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" name="Line 16">
                    <a:extLst>
                      <a:ext uri="{FF2B5EF4-FFF2-40B4-BE49-F238E27FC236}">
                        <a16:creationId xmlns:a16="http://schemas.microsoft.com/office/drawing/2014/main" id="{B857D7CE-B536-8C5A-385E-11748F4BA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445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3" name="Line 17">
                    <a:extLst>
                      <a:ext uri="{FF2B5EF4-FFF2-40B4-BE49-F238E27FC236}">
                        <a16:creationId xmlns:a16="http://schemas.microsoft.com/office/drawing/2014/main" id="{2C2D8D27-D952-E9F8-9043-3E7E37A718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510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4" name="Line 18">
                    <a:extLst>
                      <a:ext uri="{FF2B5EF4-FFF2-40B4-BE49-F238E27FC236}">
                        <a16:creationId xmlns:a16="http://schemas.microsoft.com/office/drawing/2014/main" id="{E2AB38EC-A3F1-EC11-1C8E-E098C2F7BE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575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" name="Line 19">
                    <a:extLst>
                      <a:ext uri="{FF2B5EF4-FFF2-40B4-BE49-F238E27FC236}">
                        <a16:creationId xmlns:a16="http://schemas.microsoft.com/office/drawing/2014/main" id="{5BF5CC33-9D3C-428F-3D6B-9E9CBFB77F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641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6" name="Line 20">
                    <a:extLst>
                      <a:ext uri="{FF2B5EF4-FFF2-40B4-BE49-F238E27FC236}">
                        <a16:creationId xmlns:a16="http://schemas.microsoft.com/office/drawing/2014/main" id="{07BB30C4-F736-FFC5-83E9-4CD2C8BEBF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706"/>
                    <a:ext cx="58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0" name="AutoShape 21">
                  <a:extLst>
                    <a:ext uri="{FF2B5EF4-FFF2-40B4-BE49-F238E27FC236}">
                      <a16:creationId xmlns:a16="http://schemas.microsoft.com/office/drawing/2014/main" id="{0FA07511-AA2C-F155-45D2-B63399A48F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528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1" name="AutoShape 22">
                  <a:extLst>
                    <a:ext uri="{FF2B5EF4-FFF2-40B4-BE49-F238E27FC236}">
                      <a16:creationId xmlns:a16="http://schemas.microsoft.com/office/drawing/2014/main" id="{8B6D4BD3-CDAD-E863-BC5D-B0C8A3E422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7" y="692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2" name="AutoShape 23">
                  <a:extLst>
                    <a:ext uri="{FF2B5EF4-FFF2-40B4-BE49-F238E27FC236}">
                      <a16:creationId xmlns:a16="http://schemas.microsoft.com/office/drawing/2014/main" id="{05024396-2B1C-DE2D-B279-60275DE40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3" y="864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3" name="AutoShape 24">
                  <a:extLst>
                    <a:ext uri="{FF2B5EF4-FFF2-40B4-BE49-F238E27FC236}">
                      <a16:creationId xmlns:a16="http://schemas.microsoft.com/office/drawing/2014/main" id="{456F35E3-757F-E51D-9997-9405D9BEC2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029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4" name="AutoShape 25">
                  <a:extLst>
                    <a:ext uri="{FF2B5EF4-FFF2-40B4-BE49-F238E27FC236}">
                      <a16:creationId xmlns:a16="http://schemas.microsoft.com/office/drawing/2014/main" id="{2265B502-0122-536F-31D1-270937B8B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6" y="1193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</p:grpSp>
        </p:grpSp>
        <p:sp>
          <p:nvSpPr>
            <p:cNvPr id="6" name="Text Box 26">
              <a:extLst>
                <a:ext uri="{FF2B5EF4-FFF2-40B4-BE49-F238E27FC236}">
                  <a16:creationId xmlns:a16="http://schemas.microsoft.com/office/drawing/2014/main" id="{E7AA366F-2F6A-7820-14BB-146F148B7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1568"/>
              <a:ext cx="17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9999"/>
                </a:buClr>
                <a:buFont typeface="Wingdings" pitchFamily="2" charset="2"/>
                <a:buNone/>
              </a:pPr>
              <a:r>
                <a:rPr kumimoji="1" lang="pt-BR" sz="2400">
                  <a:solidFill>
                    <a:srgbClr val="003399"/>
                  </a:solidFill>
                </a:rPr>
                <a:t>Escopo do Projeto:</a:t>
              </a: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A7A2424-7AE1-88D7-8832-5E217D24FDB3}"/>
              </a:ext>
            </a:extLst>
          </p:cNvPr>
          <p:cNvGrpSpPr>
            <a:grpSpLocks/>
          </p:cNvGrpSpPr>
          <p:nvPr/>
        </p:nvGrpSpPr>
        <p:grpSpPr bwMode="auto">
          <a:xfrm>
            <a:off x="5580112" y="1556792"/>
            <a:ext cx="3225800" cy="1955800"/>
            <a:chOff x="3269" y="624"/>
            <a:chExt cx="2032" cy="1232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5C5E36B0-09B3-1E62-DA38-F883668DB8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5" y="624"/>
              <a:ext cx="2016" cy="960"/>
              <a:chOff x="3264" y="624"/>
              <a:chExt cx="2016" cy="96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E6F9820-047D-B8EF-FA14-C779A9638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624"/>
                <a:ext cx="2016" cy="9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pic>
            <p:nvPicPr>
              <p:cNvPr id="31" name="Picture 30" descr="TN00332_">
                <a:extLst>
                  <a:ext uri="{FF2B5EF4-FFF2-40B4-BE49-F238E27FC236}">
                    <a16:creationId xmlns:a16="http://schemas.microsoft.com/office/drawing/2014/main" id="{577522A9-28AB-1855-3C4F-238B3C739C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554" y="788"/>
                <a:ext cx="1445" cy="718"/>
              </a:xfrm>
              <a:prstGeom prst="rect">
                <a:avLst/>
              </a:prstGeom>
              <a:noFill/>
            </p:spPr>
          </p:pic>
        </p:grpSp>
        <p:sp>
          <p:nvSpPr>
            <p:cNvPr id="29" name="Text Box 31">
              <a:extLst>
                <a:ext uri="{FF2B5EF4-FFF2-40B4-BE49-F238E27FC236}">
                  <a16:creationId xmlns:a16="http://schemas.microsoft.com/office/drawing/2014/main" id="{2AA9DC4C-CB12-EF01-D544-D493EEBB4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" y="1568"/>
              <a:ext cx="180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9999"/>
                </a:buClr>
                <a:buFont typeface="Wingdings" pitchFamily="2" charset="2"/>
                <a:buNone/>
              </a:pPr>
              <a:r>
                <a:rPr kumimoji="1" lang="pt-BR" sz="2400" dirty="0">
                  <a:solidFill>
                    <a:srgbClr val="003399"/>
                  </a:solidFill>
                </a:rPr>
                <a:t>Escopo do Produto:</a:t>
              </a:r>
            </a:p>
          </p:txBody>
        </p:sp>
      </p:grpSp>
      <p:sp>
        <p:nvSpPr>
          <p:cNvPr id="32" name="AutoShape 32">
            <a:extLst>
              <a:ext uri="{FF2B5EF4-FFF2-40B4-BE49-F238E27FC236}">
                <a16:creationId xmlns:a16="http://schemas.microsoft.com/office/drawing/2014/main" id="{536BB6D0-B682-1924-3518-A289C1096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2276872"/>
            <a:ext cx="1368152" cy="576064"/>
          </a:xfrm>
          <a:prstGeom prst="leftRightArrow">
            <a:avLst>
              <a:gd name="adj1" fmla="val 50000"/>
              <a:gd name="adj2" fmla="val 45947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3D73F578-77CF-BE9E-C74F-07E241B5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1916832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folHlink"/>
              </a:buClr>
            </a:pPr>
            <a:r>
              <a:rPr kumimoji="1" lang="pt-BR" sz="2400" b="1" dirty="0">
                <a:solidFill>
                  <a:srgbClr val="002060"/>
                </a:solidFill>
              </a:rPr>
              <a:t>Versus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E3E51FE9-8351-D032-4BAE-47DDB97BD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4293096"/>
            <a:ext cx="3888432" cy="20162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pt-B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	O </a:t>
            </a:r>
            <a:r>
              <a:rPr lang="pt-BR" sz="2400" u="sng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trabalho necessário </a:t>
            </a:r>
            <a:r>
              <a:rPr lang="pt-B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para que o produto seja entregue com as características especificadas;</a:t>
            </a:r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C68A7DA0-430C-B717-7034-379ED4BB6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3645024"/>
            <a:ext cx="1079500" cy="5032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2686FB25-1901-4171-99ED-A2CF1EE73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216" y="3573016"/>
            <a:ext cx="1079500" cy="5032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35CC0C2D-E83E-572F-3CF6-FCFED0C43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60648"/>
            <a:ext cx="8136904" cy="100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ESCOPO DO PRODUTO </a:t>
            </a:r>
            <a:r>
              <a:rPr lang="en-US" sz="2800" b="1" i="1" dirty="0">
                <a:solidFill>
                  <a:srgbClr val="002060"/>
                </a:solidFill>
              </a:rPr>
              <a:t>VERSUS </a:t>
            </a:r>
          </a:p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ESCOPO DO PROJETO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F63CF48F-8629-14D4-B03F-184AF12F8130}"/>
              </a:ext>
            </a:extLst>
          </p:cNvPr>
          <p:cNvSpPr txBox="1">
            <a:spLocks/>
          </p:cNvSpPr>
          <p:nvPr/>
        </p:nvSpPr>
        <p:spPr>
          <a:xfrm>
            <a:off x="827584" y="260648"/>
            <a:ext cx="7862150" cy="6480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6604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51775" cy="1143000"/>
          </a:xfrm>
        </p:spPr>
        <p:txBody>
          <a:bodyPr/>
          <a:lstStyle/>
          <a:p>
            <a:pPr eaLnBrk="1" hangingPunct="1"/>
            <a:r>
              <a:rPr lang="en-US" sz="4000"/>
              <a:t>Análise do Problema de Projeto</a:t>
            </a:r>
            <a:endParaRPr lang="pt-BR" sz="400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>
                <a:solidFill>
                  <a:srgbClr val="B40000"/>
                </a:solidFill>
              </a:rPr>
              <a:t>Inicialmente</a:t>
            </a:r>
            <a:r>
              <a:rPr lang="pt-BR"/>
              <a:t> busca-se a </a:t>
            </a:r>
            <a:r>
              <a:rPr lang="pt-BR">
                <a:solidFill>
                  <a:srgbClr val="B40000"/>
                </a:solidFill>
              </a:rPr>
              <a:t>familiarização</a:t>
            </a:r>
            <a:r>
              <a:rPr lang="pt-BR"/>
              <a:t> com o </a:t>
            </a:r>
            <a:r>
              <a:rPr lang="pt-BR">
                <a:solidFill>
                  <a:srgbClr val="B40000"/>
                </a:solidFill>
              </a:rPr>
              <a:t>problema</a:t>
            </a:r>
            <a:r>
              <a:rPr lang="pt-BR"/>
              <a:t> a ser resolvido.</a:t>
            </a:r>
          </a:p>
          <a:p>
            <a:pPr lvl="1" eaLnBrk="1" hangingPunct="1"/>
            <a:r>
              <a:rPr lang="pt-BR" sz="2800">
                <a:solidFill>
                  <a:srgbClr val="B40000"/>
                </a:solidFill>
              </a:rPr>
              <a:t>Busca-se </a:t>
            </a:r>
            <a:r>
              <a:rPr lang="pt-BR" sz="2800"/>
              <a:t>o </a:t>
            </a:r>
            <a:r>
              <a:rPr lang="pt-BR" sz="2800">
                <a:solidFill>
                  <a:srgbClr val="B40000"/>
                </a:solidFill>
              </a:rPr>
              <a:t>maior volume de informações possíveis</a:t>
            </a:r>
            <a:r>
              <a:rPr lang="pt-BR" sz="2800"/>
              <a:t> sobre o mesmo. </a:t>
            </a:r>
          </a:p>
          <a:p>
            <a:pPr eaLnBrk="1" hangingPunct="1"/>
            <a:endParaRPr lang="pt-BR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72712" name="Picture 8" descr="MCj02330870000[1]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580063" y="1700213"/>
            <a:ext cx="2578100" cy="37147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iagrama&#10;&#10;Descrição gerada automaticamente">
            <a:extLst>
              <a:ext uri="{FF2B5EF4-FFF2-40B4-BE49-F238E27FC236}">
                <a16:creationId xmlns:a16="http://schemas.microsoft.com/office/drawing/2014/main" id="{D47CF18F-010B-1CA8-792E-EB06E4B11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288" y="880468"/>
            <a:ext cx="8374062" cy="443825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D7F043C-1E8A-6E01-5D68-46E50135260A}"/>
              </a:ext>
            </a:extLst>
          </p:cNvPr>
          <p:cNvSpPr/>
          <p:nvPr/>
        </p:nvSpPr>
        <p:spPr>
          <a:xfrm>
            <a:off x="360161" y="1880828"/>
            <a:ext cx="2664296" cy="309634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78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472"/>
            <a:ext cx="8229600" cy="1143000"/>
          </a:xfrm>
        </p:spPr>
        <p:txBody>
          <a:bodyPr/>
          <a:lstStyle/>
          <a:p>
            <a:r>
              <a:rPr lang="pt-BR" dirty="0"/>
              <a:t>APRESENTAÇÃO DO PROBLEMA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pt-BR" dirty="0"/>
              <a:t>Na elaboração das especificações de projeto se inicia com apresentação do problema.</a:t>
            </a:r>
          </a:p>
          <a:p>
            <a:r>
              <a:rPr lang="pt-BR" dirty="0">
                <a:solidFill>
                  <a:srgbClr val="C00000"/>
                </a:solidFill>
              </a:rPr>
              <a:t>Devem ser esclarecidas informações quanto: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4430092" cy="452596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LcPeriod"/>
            </a:pPr>
            <a:r>
              <a:rPr lang="pt-BR" dirty="0">
                <a:solidFill>
                  <a:srgbClr val="FF0000"/>
                </a:solidFill>
              </a:rPr>
              <a:t>Tipo de projeto de produto;</a:t>
            </a:r>
          </a:p>
          <a:p>
            <a:pPr marL="571500" indent="-571500">
              <a:buFont typeface="+mj-lt"/>
              <a:buAutoNum type="romanLcPeriod"/>
            </a:pPr>
            <a:r>
              <a:rPr lang="pt-BR" dirty="0">
                <a:solidFill>
                  <a:srgbClr val="00B050"/>
                </a:solidFill>
              </a:rPr>
              <a:t>Projeto é novo para empresa.</a:t>
            </a:r>
          </a:p>
          <a:p>
            <a:pPr marL="571500" indent="-571500">
              <a:buFont typeface="+mj-lt"/>
              <a:buAutoNum type="romanLcPeriod"/>
            </a:pPr>
            <a:r>
              <a:rPr lang="pt-BR" dirty="0">
                <a:solidFill>
                  <a:srgbClr val="00B0F0"/>
                </a:solidFill>
              </a:rPr>
              <a:t>Volume de produção e a estratégia de produção;</a:t>
            </a:r>
          </a:p>
          <a:p>
            <a:pPr marL="571500" indent="-571500">
              <a:buFont typeface="+mj-lt"/>
              <a:buAutoNum type="romanLcPeriod"/>
            </a:pP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Informações históricas já levantadas.</a:t>
            </a:r>
          </a:p>
          <a:p>
            <a:pPr marL="571500" indent="-571500">
              <a:buFont typeface="+mj-lt"/>
              <a:buAutoNum type="romanLcPeriod"/>
            </a:pPr>
            <a:r>
              <a:rPr lang="pt-BR" dirty="0"/>
              <a:t>Restrições de Projeto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5" y="284163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/>
              <a:t>Demais Tarefas da Análise e Atualiz. do Escopo do Produto </a:t>
            </a:r>
            <a:endParaRPr lang="pt-BR" sz="3200"/>
          </a:p>
        </p:txBody>
      </p:sp>
      <p:sp>
        <p:nvSpPr>
          <p:cNvPr id="2764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39751" y="1689100"/>
            <a:ext cx="4824338" cy="4525963"/>
          </a:xfrm>
        </p:spPr>
        <p:txBody>
          <a:bodyPr/>
          <a:lstStyle/>
          <a:p>
            <a:pPr eaLnBrk="1" hangingPunct="1"/>
            <a:r>
              <a:rPr lang="pt-BR" sz="2400" dirty="0">
                <a:solidFill>
                  <a:srgbClr val="B40000"/>
                </a:solidFill>
              </a:rPr>
              <a:t>Ainda</a:t>
            </a:r>
            <a:r>
              <a:rPr lang="pt-BR" sz="2400" dirty="0"/>
              <a:t> como parte desta atividade tem-se a:</a:t>
            </a:r>
          </a:p>
          <a:p>
            <a:pPr lvl="1" eaLnBrk="1" hangingPunct="1"/>
            <a:r>
              <a:rPr lang="pt-BR" dirty="0"/>
              <a:t>Busca por </a:t>
            </a:r>
            <a:r>
              <a:rPr lang="pt-BR" u="sng" dirty="0">
                <a:solidFill>
                  <a:srgbClr val="B40000"/>
                </a:solidFill>
              </a:rPr>
              <a:t>tecnologias e métodos de fabricação</a:t>
            </a:r>
            <a:r>
              <a:rPr lang="pt-BR" u="sng" dirty="0"/>
              <a:t> </a:t>
            </a:r>
            <a:r>
              <a:rPr lang="pt-BR" dirty="0"/>
              <a:t>disponíveis.</a:t>
            </a:r>
          </a:p>
          <a:p>
            <a:pPr lvl="1" eaLnBrk="1" hangingPunct="1"/>
            <a:r>
              <a:rPr lang="pt-BR" dirty="0"/>
              <a:t>Busca por </a:t>
            </a:r>
            <a:r>
              <a:rPr lang="pt-BR" u="sng" dirty="0">
                <a:solidFill>
                  <a:srgbClr val="B40000"/>
                </a:solidFill>
              </a:rPr>
              <a:t>patentes</a:t>
            </a:r>
            <a:r>
              <a:rPr lang="pt-BR" dirty="0"/>
              <a:t> sobre o produto que vai ser projetado.</a:t>
            </a:r>
          </a:p>
          <a:p>
            <a:pPr lvl="1" eaLnBrk="1" hangingPunct="1"/>
            <a:r>
              <a:rPr lang="pt-BR" dirty="0"/>
              <a:t>Busca por informação sobre </a:t>
            </a:r>
            <a:r>
              <a:rPr lang="pt-BR" u="sng" dirty="0">
                <a:solidFill>
                  <a:srgbClr val="B40000"/>
                </a:solidFill>
              </a:rPr>
              <a:t>produtos similares</a:t>
            </a:r>
            <a:r>
              <a:rPr lang="pt-BR" u="sng" dirty="0"/>
              <a:t>.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45062" name="Picture 9" descr="MCj03115360000[1]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868144" y="2538710"/>
            <a:ext cx="2592387" cy="23304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054975" cy="1143000"/>
          </a:xfrm>
        </p:spPr>
        <p:txBody>
          <a:bodyPr/>
          <a:lstStyle/>
          <a:p>
            <a:pPr eaLnBrk="1" hangingPunct="1"/>
            <a:r>
              <a:rPr lang="en-US" sz="3600"/>
              <a:t>Tecnologias e Métodos de Fabricação </a:t>
            </a:r>
            <a:endParaRPr lang="pt-BR" sz="3600"/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628800"/>
            <a:ext cx="4946650" cy="4525962"/>
          </a:xfrm>
        </p:spPr>
        <p:txBody>
          <a:bodyPr/>
          <a:lstStyle/>
          <a:p>
            <a:pPr eaLnBrk="1" hangingPunct="1"/>
            <a:r>
              <a:rPr lang="pt-BR" dirty="0">
                <a:solidFill>
                  <a:srgbClr val="B40000"/>
                </a:solidFill>
              </a:rPr>
              <a:t>Reutilizar</a:t>
            </a:r>
            <a:r>
              <a:rPr lang="pt-BR" dirty="0"/>
              <a:t> as </a:t>
            </a:r>
            <a:r>
              <a:rPr lang="pt-BR" dirty="0">
                <a:solidFill>
                  <a:srgbClr val="B40000"/>
                </a:solidFill>
              </a:rPr>
              <a:t>informações</a:t>
            </a:r>
            <a:r>
              <a:rPr lang="pt-BR" dirty="0"/>
              <a:t> levantadas durante o </a:t>
            </a:r>
            <a:r>
              <a:rPr lang="pt-BR" dirty="0">
                <a:solidFill>
                  <a:srgbClr val="B40000"/>
                </a:solidFill>
              </a:rPr>
              <a:t>PE</a:t>
            </a:r>
            <a:r>
              <a:rPr lang="pt-BR" dirty="0"/>
              <a:t> (</a:t>
            </a:r>
            <a:r>
              <a:rPr lang="pt-BR" dirty="0">
                <a:solidFill>
                  <a:srgbClr val="B40000"/>
                </a:solidFill>
              </a:rPr>
              <a:t>vigilância tecnológica</a:t>
            </a:r>
            <a:r>
              <a:rPr lang="pt-BR" dirty="0"/>
              <a:t>)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Caso</a:t>
            </a:r>
            <a:r>
              <a:rPr lang="pt-BR" dirty="0"/>
              <a:t> se julgue </a:t>
            </a:r>
            <a:r>
              <a:rPr lang="pt-BR" dirty="0">
                <a:solidFill>
                  <a:srgbClr val="B40000"/>
                </a:solidFill>
              </a:rPr>
              <a:t>necessário</a:t>
            </a:r>
            <a:r>
              <a:rPr lang="pt-BR" dirty="0"/>
              <a:t>, pode-se </a:t>
            </a:r>
            <a:r>
              <a:rPr lang="pt-BR" dirty="0">
                <a:solidFill>
                  <a:srgbClr val="B40000"/>
                </a:solidFill>
              </a:rPr>
              <a:t>complementar</a:t>
            </a:r>
            <a:r>
              <a:rPr lang="pt-BR" dirty="0"/>
              <a:t> ou </a:t>
            </a:r>
            <a:r>
              <a:rPr lang="pt-BR" dirty="0">
                <a:solidFill>
                  <a:srgbClr val="B40000"/>
                </a:solidFill>
              </a:rPr>
              <a:t>aprofundar</a:t>
            </a:r>
            <a:r>
              <a:rPr lang="pt-BR" dirty="0"/>
              <a:t> tais informações.</a:t>
            </a:r>
          </a:p>
          <a:p>
            <a:pPr lvl="1" eaLnBrk="1" hangingPunct="1"/>
            <a:r>
              <a:rPr lang="pt-BR" dirty="0"/>
              <a:t>O </a:t>
            </a:r>
            <a:r>
              <a:rPr lang="pt-BR" dirty="0">
                <a:solidFill>
                  <a:srgbClr val="B40000"/>
                </a:solidFill>
              </a:rPr>
              <a:t>ideal</a:t>
            </a:r>
            <a:r>
              <a:rPr lang="pt-BR" dirty="0"/>
              <a:t>, no entanto, é </a:t>
            </a:r>
            <a:r>
              <a:rPr lang="pt-BR" dirty="0">
                <a:solidFill>
                  <a:srgbClr val="B40000"/>
                </a:solidFill>
              </a:rPr>
              <a:t>aproveitar ao máximo</a:t>
            </a:r>
            <a:r>
              <a:rPr lang="pt-BR" dirty="0"/>
              <a:t> as </a:t>
            </a:r>
            <a:r>
              <a:rPr lang="pt-BR" dirty="0">
                <a:solidFill>
                  <a:srgbClr val="B40000"/>
                </a:solidFill>
              </a:rPr>
              <a:t>informações</a:t>
            </a:r>
            <a:r>
              <a:rPr lang="pt-BR" dirty="0"/>
              <a:t> já </a:t>
            </a:r>
            <a:r>
              <a:rPr lang="pt-BR" dirty="0">
                <a:solidFill>
                  <a:srgbClr val="B40000"/>
                </a:solidFill>
              </a:rPr>
              <a:t>levantadas.</a:t>
            </a:r>
            <a:endParaRPr lang="pt-BR" dirty="0"/>
          </a:p>
        </p:txBody>
      </p:sp>
      <p:sp>
        <p:nvSpPr>
          <p:cNvPr id="46084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79558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46086" name="Picture 9" descr="MCj03030390000[1]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436096" y="1844824"/>
            <a:ext cx="3106738" cy="2754312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457200"/>
            <a:ext cx="7388225" cy="706438"/>
          </a:xfrm>
        </p:spPr>
        <p:txBody>
          <a:bodyPr/>
          <a:lstStyle/>
          <a:p>
            <a:pPr eaLnBrk="1" hangingPunct="1"/>
            <a:r>
              <a:rPr lang="en-US" sz="3600"/>
              <a:t>Tecnologias e Métodos de Fabricação </a:t>
            </a:r>
            <a:endParaRPr lang="pt-BR" sz="3600"/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538" y="1619250"/>
            <a:ext cx="4932362" cy="5238750"/>
          </a:xfrm>
        </p:spPr>
        <p:txBody>
          <a:bodyPr/>
          <a:lstStyle/>
          <a:p>
            <a:pPr eaLnBrk="1" hangingPunct="1"/>
            <a:r>
              <a:rPr lang="pt-BR" sz="2400">
                <a:solidFill>
                  <a:srgbClr val="B40000"/>
                </a:solidFill>
              </a:rPr>
              <a:t>Meios</a:t>
            </a:r>
            <a:r>
              <a:rPr lang="pt-BR" sz="2400"/>
              <a:t> </a:t>
            </a:r>
            <a:r>
              <a:rPr lang="pt-BR" sz="2400">
                <a:solidFill>
                  <a:srgbClr val="B40000"/>
                </a:solidFill>
              </a:rPr>
              <a:t>mais comuns</a:t>
            </a:r>
            <a:r>
              <a:rPr lang="pt-BR" sz="2400"/>
              <a:t> para a </a:t>
            </a:r>
            <a:r>
              <a:rPr lang="pt-BR" sz="2400">
                <a:solidFill>
                  <a:srgbClr val="B40000"/>
                </a:solidFill>
              </a:rPr>
              <a:t>busca de informações</a:t>
            </a:r>
            <a:r>
              <a:rPr lang="pt-BR" sz="2400"/>
              <a:t> sobre tecnologias e métodos de fabricação:</a:t>
            </a:r>
          </a:p>
          <a:p>
            <a:pPr lvl="1" eaLnBrk="1" hangingPunct="1"/>
            <a:r>
              <a:rPr lang="pt-BR"/>
              <a:t>Dicionários técnicos.</a:t>
            </a:r>
          </a:p>
          <a:p>
            <a:pPr lvl="1" eaLnBrk="1" hangingPunct="1"/>
            <a:r>
              <a:rPr lang="pt-BR"/>
              <a:t>Enciclopédias.</a:t>
            </a:r>
          </a:p>
          <a:p>
            <a:pPr lvl="1" eaLnBrk="1" hangingPunct="1"/>
            <a:r>
              <a:rPr lang="pt-BR"/>
              <a:t>Manuais.</a:t>
            </a:r>
          </a:p>
          <a:p>
            <a:pPr lvl="1" eaLnBrk="1" hangingPunct="1"/>
            <a:r>
              <a:rPr lang="pt-BR"/>
              <a:t>Livros texto. </a:t>
            </a:r>
          </a:p>
          <a:p>
            <a:pPr lvl="1" eaLnBrk="1" hangingPunct="1"/>
            <a:endParaRPr lang="pt-BR"/>
          </a:p>
        </p:txBody>
      </p:sp>
      <p:sp>
        <p:nvSpPr>
          <p:cNvPr id="28160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43450" y="1619250"/>
            <a:ext cx="4211638" cy="5238750"/>
          </a:xfrm>
        </p:spPr>
        <p:txBody>
          <a:bodyPr/>
          <a:lstStyle/>
          <a:p>
            <a:pPr lvl="1" eaLnBrk="1" hangingPunct="1"/>
            <a:r>
              <a:rPr lang="pt-BR"/>
              <a:t>Livros técnicos.</a:t>
            </a:r>
          </a:p>
          <a:p>
            <a:pPr lvl="1" eaLnBrk="1" hangingPunct="1"/>
            <a:r>
              <a:rPr lang="pt-BR"/>
              <a:t>Revistas técnicas. </a:t>
            </a:r>
          </a:p>
          <a:p>
            <a:pPr lvl="1" eaLnBrk="1" hangingPunct="1"/>
            <a:r>
              <a:rPr lang="pt-BR"/>
              <a:t>Anais de congressos e eventos. </a:t>
            </a:r>
          </a:p>
          <a:p>
            <a:pPr lvl="1" eaLnBrk="1" hangingPunct="1"/>
            <a:r>
              <a:rPr lang="pt-BR"/>
              <a:t>Revistas científicas.</a:t>
            </a:r>
          </a:p>
          <a:p>
            <a:pPr lvl="1" eaLnBrk="1" hangingPunct="1"/>
            <a:r>
              <a:rPr lang="pt-BR"/>
              <a:t>Relatórios técnicos. </a:t>
            </a:r>
          </a:p>
          <a:p>
            <a:pPr lvl="1" eaLnBrk="1" hangingPunct="1"/>
            <a:r>
              <a:rPr lang="pt-BR"/>
              <a:t>Normas técnicas.</a:t>
            </a:r>
          </a:p>
          <a:p>
            <a:pPr lvl="1" eaLnBrk="1" hangingPunct="1"/>
            <a:r>
              <a:rPr lang="pt-BR"/>
              <a:t>Catálogos de empresas.</a:t>
            </a:r>
          </a:p>
          <a:p>
            <a:pPr eaLnBrk="1" hangingPunct="1"/>
            <a:endParaRPr lang="pt-BR" sz="2400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81606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8" y="188913"/>
            <a:ext cx="7388225" cy="706437"/>
          </a:xfrm>
        </p:spPr>
        <p:txBody>
          <a:bodyPr/>
          <a:lstStyle/>
          <a:p>
            <a:pPr eaLnBrk="1" hangingPunct="1"/>
            <a:r>
              <a:rPr lang="en-US" sz="3200"/>
              <a:t>Tecnologias e Métodos de Fabricação </a:t>
            </a:r>
            <a:endParaRPr lang="pt-BR" sz="3200"/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423988"/>
            <a:ext cx="4916488" cy="5238750"/>
          </a:xfrm>
        </p:spPr>
        <p:txBody>
          <a:bodyPr/>
          <a:lstStyle/>
          <a:p>
            <a:pPr eaLnBrk="1" hangingPunct="1"/>
            <a:r>
              <a:rPr lang="pt-BR" sz="2400">
                <a:solidFill>
                  <a:srgbClr val="B40000"/>
                </a:solidFill>
              </a:rPr>
              <a:t>Também</a:t>
            </a:r>
            <a:r>
              <a:rPr lang="pt-BR" sz="2400"/>
              <a:t> se deve:</a:t>
            </a:r>
          </a:p>
          <a:p>
            <a:pPr lvl="1" eaLnBrk="1" hangingPunct="1"/>
            <a:r>
              <a:rPr lang="pt-BR"/>
              <a:t>Consultar </a:t>
            </a:r>
            <a:r>
              <a:rPr lang="pt-BR">
                <a:solidFill>
                  <a:srgbClr val="B40000"/>
                </a:solidFill>
              </a:rPr>
              <a:t>sites</a:t>
            </a:r>
            <a:r>
              <a:rPr lang="pt-BR"/>
              <a:t> adequados na </a:t>
            </a:r>
            <a:r>
              <a:rPr lang="pt-BR">
                <a:solidFill>
                  <a:srgbClr val="B40000"/>
                </a:solidFill>
              </a:rPr>
              <a:t>web</a:t>
            </a:r>
            <a:r>
              <a:rPr lang="pt-BR"/>
              <a:t>:</a:t>
            </a:r>
          </a:p>
          <a:p>
            <a:pPr lvl="2" eaLnBrk="1" hangingPunct="1"/>
            <a:r>
              <a:rPr lang="pt-BR" sz="2400"/>
              <a:t>CIMM.</a:t>
            </a:r>
          </a:p>
          <a:p>
            <a:pPr lvl="2" eaLnBrk="1" hangingPunct="1"/>
            <a:r>
              <a:rPr lang="en-US" sz="2400"/>
              <a:t>How Stuff Works.</a:t>
            </a:r>
          </a:p>
          <a:p>
            <a:pPr lvl="1" eaLnBrk="1" hangingPunct="1"/>
            <a:r>
              <a:rPr lang="pt-BR"/>
              <a:t>Visitar </a:t>
            </a:r>
            <a:r>
              <a:rPr lang="pt-BR">
                <a:solidFill>
                  <a:srgbClr val="B40000"/>
                </a:solidFill>
              </a:rPr>
              <a:t>centros de produção</a:t>
            </a:r>
            <a:r>
              <a:rPr lang="pt-BR"/>
              <a:t> (onde os produtos serão fabricados):</a:t>
            </a:r>
          </a:p>
          <a:p>
            <a:pPr lvl="2" eaLnBrk="1" hangingPunct="1"/>
            <a:r>
              <a:rPr lang="pt-BR" sz="2400"/>
              <a:t>Conversar com os </a:t>
            </a:r>
            <a:r>
              <a:rPr lang="pt-BR" sz="2400">
                <a:solidFill>
                  <a:srgbClr val="B40000"/>
                </a:solidFill>
              </a:rPr>
              <a:t>especialistas</a:t>
            </a:r>
            <a:r>
              <a:rPr lang="pt-BR" sz="2400"/>
              <a:t> (fabricação, montagem, embalagem).</a:t>
            </a:r>
          </a:p>
        </p:txBody>
      </p:sp>
      <p:sp>
        <p:nvSpPr>
          <p:cNvPr id="3051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43450" y="2171700"/>
            <a:ext cx="4211638" cy="5238750"/>
          </a:xfrm>
        </p:spPr>
        <p:txBody>
          <a:bodyPr/>
          <a:lstStyle/>
          <a:p>
            <a:pPr eaLnBrk="1" hangingPunct="1"/>
            <a:r>
              <a:rPr lang="pt-BR" sz="2400"/>
              <a:t>No caso de </a:t>
            </a:r>
            <a:r>
              <a:rPr lang="pt-BR" sz="2400">
                <a:solidFill>
                  <a:srgbClr val="B40000"/>
                </a:solidFill>
              </a:rPr>
              <a:t>reprojetos</a:t>
            </a:r>
            <a:r>
              <a:rPr lang="pt-BR" sz="2400"/>
              <a:t>, buscar informações em:</a:t>
            </a:r>
          </a:p>
          <a:p>
            <a:pPr lvl="1" eaLnBrk="1" hangingPunct="1"/>
            <a:r>
              <a:rPr lang="pt-BR"/>
              <a:t>Produtos existentes.</a:t>
            </a:r>
          </a:p>
          <a:p>
            <a:pPr lvl="1" eaLnBrk="1" hangingPunct="1"/>
            <a:r>
              <a:rPr lang="pt-BR"/>
              <a:t>Produtos concorrentes.</a:t>
            </a:r>
          </a:p>
          <a:p>
            <a:pPr eaLnBrk="1" hangingPunct="1"/>
            <a:endParaRPr lang="pt-BR" sz="2400"/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305158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2800" b="1"/>
              <a:t>Patentes </a:t>
            </a:r>
            <a:endParaRPr lang="pt-BR" sz="2800" b="1"/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1916832"/>
            <a:ext cx="4521200" cy="3182416"/>
          </a:xfrm>
        </p:spPr>
        <p:txBody>
          <a:bodyPr/>
          <a:lstStyle/>
          <a:p>
            <a:pPr eaLnBrk="1" hangingPunct="1"/>
            <a:r>
              <a:rPr lang="pt-BR" sz="2400" dirty="0"/>
              <a:t>Devem ser </a:t>
            </a:r>
            <a:r>
              <a:rPr lang="pt-BR" sz="2400" dirty="0">
                <a:solidFill>
                  <a:srgbClr val="B40000"/>
                </a:solidFill>
              </a:rPr>
              <a:t>buscadas a fim de</a:t>
            </a:r>
            <a:r>
              <a:rPr lang="pt-BR" sz="2400" dirty="0"/>
              <a:t>: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Evitar</a:t>
            </a:r>
            <a:r>
              <a:rPr lang="pt-BR" dirty="0"/>
              <a:t> a </a:t>
            </a:r>
            <a:r>
              <a:rPr lang="pt-BR" dirty="0">
                <a:solidFill>
                  <a:srgbClr val="B40000"/>
                </a:solidFill>
              </a:rPr>
              <a:t>utilização inadvertida</a:t>
            </a:r>
            <a:r>
              <a:rPr lang="pt-BR" dirty="0"/>
              <a:t> de </a:t>
            </a:r>
            <a:r>
              <a:rPr lang="pt-BR" dirty="0">
                <a:solidFill>
                  <a:srgbClr val="B40000"/>
                </a:solidFill>
              </a:rPr>
              <a:t>soluções já patenteadas</a:t>
            </a:r>
            <a:r>
              <a:rPr lang="pt-BR" dirty="0"/>
              <a:t>.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Buscar soluções</a:t>
            </a:r>
            <a:r>
              <a:rPr lang="pt-BR" dirty="0"/>
              <a:t> já desenvolvidas e que </a:t>
            </a:r>
            <a:r>
              <a:rPr lang="pt-BR" dirty="0">
                <a:solidFill>
                  <a:srgbClr val="B40000"/>
                </a:solidFill>
              </a:rPr>
              <a:t>podem ser utilizadas no projeto</a:t>
            </a:r>
            <a:r>
              <a:rPr lang="pt-BR" dirty="0"/>
              <a:t>.</a:t>
            </a:r>
          </a:p>
          <a:p>
            <a:pPr lvl="1" eaLnBrk="1" hangingPunct="1"/>
            <a:endParaRPr lang="pt-BR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84678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49158" name="Picture 9" descr="us_pat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796136" y="1556792"/>
            <a:ext cx="2379663" cy="36687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2800" dirty="0" err="1"/>
              <a:t>Produtos</a:t>
            </a:r>
            <a:r>
              <a:rPr lang="en-US" sz="2800" dirty="0"/>
              <a:t> </a:t>
            </a:r>
            <a:r>
              <a:rPr lang="en-US" sz="2800" dirty="0" err="1"/>
              <a:t>Similares</a:t>
            </a:r>
            <a:r>
              <a:rPr lang="en-US" sz="2800" dirty="0"/>
              <a:t> </a:t>
            </a:r>
            <a:endParaRPr lang="pt-BR" sz="2800" dirty="0"/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1268760"/>
            <a:ext cx="4210050" cy="5238750"/>
          </a:xfrm>
        </p:spPr>
        <p:txBody>
          <a:bodyPr/>
          <a:lstStyle/>
          <a:p>
            <a:pPr eaLnBrk="1" hangingPunct="1"/>
            <a:r>
              <a:rPr lang="pt-BR" sz="2400" dirty="0"/>
              <a:t>Servem de:</a:t>
            </a:r>
          </a:p>
          <a:p>
            <a:pPr lvl="1" eaLnBrk="1" hangingPunct="1"/>
            <a:r>
              <a:rPr lang="pt-BR" dirty="0">
                <a:solidFill>
                  <a:srgbClr val="B40000"/>
                </a:solidFill>
              </a:rPr>
              <a:t>Fonte</a:t>
            </a:r>
            <a:r>
              <a:rPr lang="pt-BR" dirty="0"/>
              <a:t> de </a:t>
            </a:r>
            <a:r>
              <a:rPr lang="pt-BR" dirty="0">
                <a:solidFill>
                  <a:srgbClr val="B40000"/>
                </a:solidFill>
              </a:rPr>
              <a:t>informações</a:t>
            </a:r>
            <a:r>
              <a:rPr lang="pt-BR" dirty="0"/>
              <a:t> sobre </a:t>
            </a:r>
            <a:r>
              <a:rPr lang="pt-BR" dirty="0">
                <a:solidFill>
                  <a:srgbClr val="B40000"/>
                </a:solidFill>
              </a:rPr>
              <a:t>tecnologias</a:t>
            </a:r>
            <a:r>
              <a:rPr lang="pt-BR" dirty="0"/>
              <a:t> possíveis de serem utilizadas.</a:t>
            </a:r>
          </a:p>
          <a:p>
            <a:pPr lvl="1" eaLnBrk="1" hangingPunct="1"/>
            <a:r>
              <a:rPr lang="pt-BR" dirty="0"/>
              <a:t>Material para a realização de </a:t>
            </a:r>
            <a:r>
              <a:rPr lang="en-US" dirty="0">
                <a:solidFill>
                  <a:srgbClr val="B40000"/>
                </a:solidFill>
              </a:rPr>
              <a:t>benchmarking</a:t>
            </a:r>
            <a:r>
              <a:rPr lang="pt-BR" dirty="0"/>
              <a:t>.</a:t>
            </a:r>
          </a:p>
        </p:txBody>
      </p:sp>
      <p:sp>
        <p:nvSpPr>
          <p:cNvPr id="28877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55976" y="1556792"/>
            <a:ext cx="4511675" cy="3356148"/>
          </a:xfrm>
        </p:spPr>
        <p:txBody>
          <a:bodyPr/>
          <a:lstStyle/>
          <a:p>
            <a:pPr eaLnBrk="1" hangingPunct="1"/>
            <a:r>
              <a:rPr lang="pt-BR" sz="2400" dirty="0"/>
              <a:t>Devem ser buscados em:</a:t>
            </a:r>
          </a:p>
          <a:p>
            <a:pPr lvl="1" eaLnBrk="1" hangingPunct="1"/>
            <a:r>
              <a:rPr lang="pt-BR" dirty="0"/>
              <a:t>Sites de </a:t>
            </a:r>
            <a:r>
              <a:rPr lang="pt-BR" dirty="0">
                <a:solidFill>
                  <a:srgbClr val="B40000"/>
                </a:solidFill>
              </a:rPr>
              <a:t>fabricantes concorrentes</a:t>
            </a:r>
            <a:r>
              <a:rPr lang="pt-BR" dirty="0"/>
              <a:t> com catálogos na web.</a:t>
            </a:r>
          </a:p>
          <a:p>
            <a:pPr lvl="1" eaLnBrk="1" hangingPunct="1"/>
            <a:r>
              <a:rPr lang="pt-BR" dirty="0"/>
              <a:t>Sites de </a:t>
            </a:r>
            <a:r>
              <a:rPr lang="pt-BR" dirty="0">
                <a:solidFill>
                  <a:srgbClr val="B40000"/>
                </a:solidFill>
              </a:rPr>
              <a:t>agências privadas </a:t>
            </a:r>
            <a:r>
              <a:rPr lang="pt-BR" dirty="0"/>
              <a:t>(catálogos industriais):</a:t>
            </a:r>
          </a:p>
          <a:p>
            <a:pPr lvl="2" eaLnBrk="1" hangingPunct="1"/>
            <a:r>
              <a:rPr lang="en-US" sz="2400" dirty="0"/>
              <a:t>Thomson</a:t>
            </a:r>
            <a:r>
              <a:rPr lang="pt-BR" sz="2400" dirty="0"/>
              <a:t>.</a:t>
            </a:r>
          </a:p>
          <a:p>
            <a:pPr lvl="2" eaLnBrk="1" hangingPunct="1"/>
            <a:r>
              <a:rPr lang="pt-BR" sz="2400" dirty="0"/>
              <a:t>NEI.</a:t>
            </a:r>
          </a:p>
          <a:p>
            <a:pPr lvl="1" eaLnBrk="1" hangingPunct="1">
              <a:buFontTx/>
              <a:buNone/>
            </a:pPr>
            <a:endParaRPr lang="pt-BR" dirty="0"/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88774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692696"/>
            <a:ext cx="7388225" cy="706438"/>
          </a:xfrm>
        </p:spPr>
        <p:txBody>
          <a:bodyPr/>
          <a:lstStyle/>
          <a:p>
            <a:pPr algn="ctr" eaLnBrk="1" hangingPunct="1"/>
            <a:r>
              <a:rPr lang="en-US" sz="2800" b="1" dirty="0"/>
              <a:t>ATIVIDADES DO PI</a:t>
            </a:r>
            <a:endParaRPr lang="pt-BR" sz="2800" b="1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2492896"/>
            <a:ext cx="8712968" cy="957411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110000"/>
              </a:lnSpc>
              <a:buNone/>
            </a:pPr>
            <a:r>
              <a:rPr lang="pt-BR" b="1" dirty="0">
                <a:solidFill>
                  <a:srgbClr val="B40000"/>
                </a:solidFill>
              </a:rPr>
              <a:t>DETALHAR</a:t>
            </a:r>
            <a:r>
              <a:rPr lang="pt-BR" b="1" dirty="0"/>
              <a:t> </a:t>
            </a:r>
            <a:r>
              <a:rPr lang="pt-BR" b="1" dirty="0">
                <a:solidFill>
                  <a:srgbClr val="B40000"/>
                </a:solidFill>
              </a:rPr>
              <a:t>CICLO DE VIDA</a:t>
            </a:r>
            <a:r>
              <a:rPr lang="pt-BR" b="1" dirty="0"/>
              <a:t> DO PRODUTO </a:t>
            </a:r>
          </a:p>
          <a:p>
            <a:pPr algn="ctr" eaLnBrk="1" hangingPunct="1">
              <a:lnSpc>
                <a:spcPct val="110000"/>
              </a:lnSpc>
              <a:buNone/>
            </a:pPr>
            <a:endParaRPr lang="pt-BR" b="1" dirty="0"/>
          </a:p>
          <a:p>
            <a:pPr algn="ctr" eaLnBrk="1" hangingPunct="1">
              <a:lnSpc>
                <a:spcPct val="110000"/>
              </a:lnSpc>
              <a:buNone/>
            </a:pPr>
            <a:r>
              <a:rPr lang="pt-BR" b="1" dirty="0">
                <a:solidFill>
                  <a:srgbClr val="00B050"/>
                </a:solidFill>
              </a:rPr>
              <a:t>ANTES DE </a:t>
            </a:r>
          </a:p>
          <a:p>
            <a:pPr algn="ctr" eaLnBrk="1" hangingPunct="1">
              <a:lnSpc>
                <a:spcPct val="110000"/>
              </a:lnSpc>
              <a:buNone/>
            </a:pPr>
            <a:endParaRPr lang="pt-BR" b="1" dirty="0"/>
          </a:p>
          <a:p>
            <a:pPr algn="ctr" eaLnBrk="1" hangingPunct="1">
              <a:lnSpc>
                <a:spcPct val="110000"/>
              </a:lnSpc>
              <a:buNone/>
            </a:pPr>
            <a:r>
              <a:rPr lang="pt-BR" b="1" dirty="0"/>
              <a:t>E </a:t>
            </a:r>
            <a:r>
              <a:rPr lang="pt-BR" b="1" dirty="0">
                <a:solidFill>
                  <a:srgbClr val="B40000"/>
                </a:solidFill>
              </a:rPr>
              <a:t>DEFINIR</a:t>
            </a:r>
            <a:r>
              <a:rPr lang="pt-BR" b="1" dirty="0"/>
              <a:t> SEUS </a:t>
            </a:r>
            <a:r>
              <a:rPr lang="pt-BR" b="1" dirty="0">
                <a:solidFill>
                  <a:srgbClr val="B40000"/>
                </a:solidFill>
              </a:rPr>
              <a:t>CLIENTES.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</a:t>
            </a: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4" descr="Imagem3"/>
          <p:cNvPicPr>
            <a:picLocks noGrp="1" noChangeAspect="1" noChangeArrowheads="1"/>
          </p:cNvPicPr>
          <p:nvPr>
            <p:ph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869950" y="395288"/>
            <a:ext cx="7424738" cy="5407025"/>
          </a:xfrm>
          <a:noFill/>
        </p:spPr>
      </p:pic>
      <p:sp>
        <p:nvSpPr>
          <p:cNvPr id="53251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Modelos de Ciclo de Vida</a:t>
            </a:r>
            <a:endParaRPr lang="pt-BR"/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1311275"/>
            <a:ext cx="4521200" cy="4525963"/>
          </a:xfrm>
        </p:spPr>
        <p:txBody>
          <a:bodyPr/>
          <a:lstStyle/>
          <a:p>
            <a:pPr eaLnBrk="1" hangingPunct="1"/>
            <a:r>
              <a:rPr lang="pt-BR" sz="2400"/>
              <a:t>Fornecem uma </a:t>
            </a:r>
            <a:r>
              <a:rPr lang="pt-BR" sz="2400">
                <a:solidFill>
                  <a:srgbClr val="B40000"/>
                </a:solidFill>
              </a:rPr>
              <a:t>descrição gráfica</a:t>
            </a:r>
            <a:r>
              <a:rPr lang="pt-BR" sz="2400"/>
              <a:t> da </a:t>
            </a:r>
            <a:r>
              <a:rPr lang="pt-BR" sz="2400">
                <a:solidFill>
                  <a:srgbClr val="B40000"/>
                </a:solidFill>
              </a:rPr>
              <a:t>história do produto</a:t>
            </a:r>
            <a:r>
              <a:rPr lang="pt-BR" sz="2400"/>
              <a:t>.</a:t>
            </a:r>
          </a:p>
          <a:p>
            <a:pPr eaLnBrk="1" hangingPunct="1"/>
            <a:r>
              <a:rPr lang="pt-BR" sz="2400"/>
              <a:t>Descrevendo os </a:t>
            </a:r>
            <a:r>
              <a:rPr lang="pt-BR" sz="2400">
                <a:solidFill>
                  <a:srgbClr val="B40000"/>
                </a:solidFill>
              </a:rPr>
              <a:t>estágios</a:t>
            </a:r>
            <a:r>
              <a:rPr lang="pt-BR" sz="2400"/>
              <a:t> pelos quais o </a:t>
            </a:r>
            <a:r>
              <a:rPr lang="pt-BR" sz="2400">
                <a:solidFill>
                  <a:srgbClr val="B40000"/>
                </a:solidFill>
              </a:rPr>
              <a:t>produto passa</a:t>
            </a:r>
            <a:r>
              <a:rPr lang="pt-BR" sz="2400"/>
              <a:t>.</a:t>
            </a:r>
          </a:p>
          <a:p>
            <a:pPr lvl="1" eaLnBrk="1" hangingPunct="1"/>
            <a:r>
              <a:rPr lang="pt-BR">
                <a:solidFill>
                  <a:srgbClr val="B40000"/>
                </a:solidFill>
              </a:rPr>
              <a:t>Início:</a:t>
            </a:r>
            <a:r>
              <a:rPr lang="pt-BR"/>
              <a:t> </a:t>
            </a:r>
            <a:r>
              <a:rPr lang="pt-BR">
                <a:solidFill>
                  <a:srgbClr val="B40000"/>
                </a:solidFill>
              </a:rPr>
              <a:t>primeiros esforços</a:t>
            </a:r>
            <a:r>
              <a:rPr lang="pt-BR"/>
              <a:t> organizados e planejados para a </a:t>
            </a:r>
            <a:r>
              <a:rPr lang="pt-BR">
                <a:solidFill>
                  <a:srgbClr val="B40000"/>
                </a:solidFill>
              </a:rPr>
              <a:t>criação do produto</a:t>
            </a:r>
            <a:r>
              <a:rPr lang="pt-BR"/>
              <a:t>.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sp>
        <p:nvSpPr>
          <p:cNvPr id="290825" name="Rectangle 9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290827" name="Picture 11" descr="MCj02871470000[1]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235575" y="2187575"/>
            <a:ext cx="3168650" cy="2514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8" y="188913"/>
            <a:ext cx="7388225" cy="706437"/>
          </a:xfrm>
        </p:spPr>
        <p:txBody>
          <a:bodyPr/>
          <a:lstStyle/>
          <a:p>
            <a:pPr eaLnBrk="1" hangingPunct="1"/>
            <a:r>
              <a:rPr lang="en-US"/>
              <a:t>MODELOS DE CICLO DE VIDA</a:t>
            </a:r>
            <a:endParaRPr lang="pt-BR"/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33375" y="1233488"/>
            <a:ext cx="4210050" cy="5238750"/>
          </a:xfrm>
        </p:spPr>
        <p:txBody>
          <a:bodyPr/>
          <a:lstStyle/>
          <a:p>
            <a:pPr eaLnBrk="1" hangingPunct="1"/>
            <a:r>
              <a:rPr lang="pt-BR" sz="2400"/>
              <a:t>Existem </a:t>
            </a:r>
            <a:r>
              <a:rPr lang="pt-BR" sz="2400">
                <a:solidFill>
                  <a:srgbClr val="B40000"/>
                </a:solidFill>
              </a:rPr>
              <a:t>diversos modelos</a:t>
            </a:r>
            <a:r>
              <a:rPr lang="pt-BR" sz="2400"/>
              <a:t> de CV </a:t>
            </a:r>
            <a:r>
              <a:rPr lang="pt-BR" sz="2400">
                <a:solidFill>
                  <a:srgbClr val="B40000"/>
                </a:solidFill>
              </a:rPr>
              <a:t>propostos</a:t>
            </a:r>
            <a:r>
              <a:rPr lang="pt-BR" sz="2400"/>
              <a:t> na literatura.</a:t>
            </a:r>
          </a:p>
          <a:p>
            <a:pPr lvl="1" eaLnBrk="1" hangingPunct="1"/>
            <a:r>
              <a:rPr lang="pt-BR">
                <a:solidFill>
                  <a:srgbClr val="B40000"/>
                </a:solidFill>
              </a:rPr>
              <a:t>Seqüenciais</a:t>
            </a:r>
            <a:r>
              <a:rPr lang="pt-BR"/>
              <a:t>.</a:t>
            </a:r>
          </a:p>
          <a:p>
            <a:pPr lvl="1" eaLnBrk="1" hangingPunct="1"/>
            <a:r>
              <a:rPr lang="pt-BR">
                <a:solidFill>
                  <a:srgbClr val="B40000"/>
                </a:solidFill>
              </a:rPr>
              <a:t>Hierárquicos</a:t>
            </a:r>
            <a:r>
              <a:rPr lang="pt-BR"/>
              <a:t>.</a:t>
            </a:r>
          </a:p>
          <a:p>
            <a:pPr lvl="1" eaLnBrk="1" hangingPunct="1"/>
            <a:r>
              <a:rPr lang="pt-BR"/>
              <a:t>Em </a:t>
            </a:r>
            <a:r>
              <a:rPr lang="pt-BR">
                <a:solidFill>
                  <a:srgbClr val="B40000"/>
                </a:solidFill>
              </a:rPr>
              <a:t>espiral</a:t>
            </a:r>
            <a:r>
              <a:rPr lang="pt-BR"/>
              <a:t>.</a:t>
            </a:r>
          </a:p>
          <a:p>
            <a:pPr lvl="1" eaLnBrk="1" hangingPunct="1"/>
            <a:r>
              <a:rPr lang="pt-BR"/>
              <a:t>…</a:t>
            </a:r>
          </a:p>
          <a:p>
            <a:pPr lvl="1" eaLnBrk="1" hangingPunct="1"/>
            <a:endParaRPr lang="pt-BR"/>
          </a:p>
        </p:txBody>
      </p:sp>
      <p:sp>
        <p:nvSpPr>
          <p:cNvPr id="300040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4499992" y="1844824"/>
            <a:ext cx="4211637" cy="3497436"/>
          </a:xfrm>
        </p:spPr>
        <p:txBody>
          <a:bodyPr/>
          <a:lstStyle/>
          <a:p>
            <a:pPr eaLnBrk="1" hangingPunct="1"/>
            <a:r>
              <a:rPr lang="pt-BR" sz="2400" dirty="0"/>
              <a:t>Um dos modelos </a:t>
            </a:r>
            <a:r>
              <a:rPr lang="pt-BR" sz="2400" dirty="0">
                <a:solidFill>
                  <a:srgbClr val="B40000"/>
                </a:solidFill>
              </a:rPr>
              <a:t>muito utilizado</a:t>
            </a:r>
            <a:r>
              <a:rPr lang="pt-BR" sz="2400" dirty="0"/>
              <a:t> é aquele que mostra a </a:t>
            </a:r>
            <a:r>
              <a:rPr lang="pt-BR" sz="2400" dirty="0">
                <a:solidFill>
                  <a:srgbClr val="B40000"/>
                </a:solidFill>
              </a:rPr>
              <a:t>evolução do projeto/produto</a:t>
            </a:r>
            <a:r>
              <a:rPr lang="pt-BR" sz="2400" dirty="0"/>
              <a:t> em termos </a:t>
            </a:r>
            <a:r>
              <a:rPr lang="pt-BR" sz="2400" dirty="0">
                <a:solidFill>
                  <a:srgbClr val="B40000"/>
                </a:solidFill>
              </a:rPr>
              <a:t>recurso financeiros</a:t>
            </a:r>
            <a:r>
              <a:rPr lang="pt-BR" sz="2400" dirty="0"/>
              <a:t> associados às </a:t>
            </a:r>
            <a:r>
              <a:rPr lang="pt-BR" sz="2400" dirty="0">
                <a:solidFill>
                  <a:srgbClr val="B40000"/>
                </a:solidFill>
              </a:rPr>
              <a:t>fases da vida do produto</a:t>
            </a:r>
            <a:r>
              <a:rPr lang="pt-BR" sz="2400" dirty="0"/>
              <a:t>. (mostrado a seguir)</a:t>
            </a:r>
          </a:p>
        </p:txBody>
      </p:sp>
      <p:sp>
        <p:nvSpPr>
          <p:cNvPr id="65541" name="Text Box 6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sp>
        <p:nvSpPr>
          <p:cNvPr id="300039" name="Rectangle 7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63538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MODELOS DE CICLO DE VIDA</a:t>
            </a:r>
            <a:endParaRPr lang="pt-BR"/>
          </a:p>
        </p:txBody>
      </p:sp>
      <p:sp>
        <p:nvSpPr>
          <p:cNvPr id="2928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76250" y="1247775"/>
            <a:ext cx="4725988" cy="4525963"/>
          </a:xfrm>
        </p:spPr>
        <p:txBody>
          <a:bodyPr/>
          <a:lstStyle/>
          <a:p>
            <a:pPr eaLnBrk="1" hangingPunct="1"/>
            <a:r>
              <a:rPr lang="pt-BR" sz="2400"/>
              <a:t>O CV </a:t>
            </a:r>
            <a:r>
              <a:rPr lang="pt-BR" sz="2400">
                <a:solidFill>
                  <a:srgbClr val="B40000"/>
                </a:solidFill>
              </a:rPr>
              <a:t>não se acaba</a:t>
            </a:r>
            <a:r>
              <a:rPr lang="pt-BR" sz="2400"/>
              <a:t> quando a </a:t>
            </a:r>
            <a:r>
              <a:rPr lang="pt-BR" sz="2400">
                <a:solidFill>
                  <a:srgbClr val="B40000"/>
                </a:solidFill>
              </a:rPr>
              <a:t>manufatura</a:t>
            </a:r>
            <a:r>
              <a:rPr lang="pt-BR" sz="2400"/>
              <a:t> ou </a:t>
            </a:r>
            <a:r>
              <a:rPr lang="pt-BR" sz="2400">
                <a:solidFill>
                  <a:srgbClr val="B40000"/>
                </a:solidFill>
              </a:rPr>
              <a:t>venda</a:t>
            </a:r>
            <a:r>
              <a:rPr lang="pt-BR" sz="2400"/>
              <a:t> do produto é </a:t>
            </a:r>
            <a:r>
              <a:rPr lang="pt-BR" sz="2400">
                <a:solidFill>
                  <a:srgbClr val="B40000"/>
                </a:solidFill>
              </a:rPr>
              <a:t>descontinuada</a:t>
            </a:r>
            <a:r>
              <a:rPr lang="pt-BR" sz="2400"/>
              <a:t>.</a:t>
            </a:r>
          </a:p>
          <a:p>
            <a:pPr lvl="1" eaLnBrk="1" hangingPunct="1"/>
            <a:r>
              <a:rPr lang="pt-BR"/>
              <a:t>Existem </a:t>
            </a:r>
            <a:r>
              <a:rPr lang="pt-BR">
                <a:solidFill>
                  <a:srgbClr val="B40000"/>
                </a:solidFill>
              </a:rPr>
              <a:t>produtos</a:t>
            </a:r>
            <a:r>
              <a:rPr lang="pt-BR"/>
              <a:t> que são </a:t>
            </a:r>
            <a:r>
              <a:rPr lang="pt-BR">
                <a:solidFill>
                  <a:srgbClr val="B40000"/>
                </a:solidFill>
              </a:rPr>
              <a:t>utilizados</a:t>
            </a:r>
            <a:r>
              <a:rPr lang="pt-BR"/>
              <a:t> por muito tempo </a:t>
            </a:r>
            <a:r>
              <a:rPr lang="pt-BR">
                <a:solidFill>
                  <a:srgbClr val="B40000"/>
                </a:solidFill>
              </a:rPr>
              <a:t>após</a:t>
            </a:r>
            <a:r>
              <a:rPr lang="pt-BR"/>
              <a:t> as </a:t>
            </a:r>
            <a:r>
              <a:rPr lang="pt-BR">
                <a:solidFill>
                  <a:srgbClr val="B40000"/>
                </a:solidFill>
              </a:rPr>
              <a:t>vendas</a:t>
            </a:r>
            <a:r>
              <a:rPr lang="pt-BR"/>
              <a:t> terem sidos encerradas.</a:t>
            </a:r>
          </a:p>
          <a:p>
            <a:pPr lvl="1" eaLnBrk="1" hangingPunct="1"/>
            <a:r>
              <a:rPr lang="pt-BR"/>
              <a:t>Do </a:t>
            </a:r>
            <a:r>
              <a:rPr lang="pt-BR">
                <a:solidFill>
                  <a:srgbClr val="B40000"/>
                </a:solidFill>
              </a:rPr>
              <a:t>ponto de vista da empresa</a:t>
            </a:r>
            <a:r>
              <a:rPr lang="pt-BR"/>
              <a:t>, o CV de um produto somente se </a:t>
            </a:r>
            <a:r>
              <a:rPr lang="pt-BR">
                <a:solidFill>
                  <a:srgbClr val="B40000"/>
                </a:solidFill>
              </a:rPr>
              <a:t>encerra</a:t>
            </a:r>
            <a:r>
              <a:rPr lang="pt-BR"/>
              <a:t> com quando </a:t>
            </a:r>
            <a:r>
              <a:rPr lang="pt-BR">
                <a:solidFill>
                  <a:srgbClr val="B40000"/>
                </a:solidFill>
              </a:rPr>
              <a:t>acaba</a:t>
            </a:r>
            <a:r>
              <a:rPr lang="pt-BR"/>
              <a:t> o </a:t>
            </a:r>
            <a:r>
              <a:rPr lang="pt-BR">
                <a:solidFill>
                  <a:srgbClr val="B40000"/>
                </a:solidFill>
              </a:rPr>
              <a:t>suporte pós-venda do produto</a:t>
            </a:r>
            <a:r>
              <a:rPr lang="pt-BR"/>
              <a:t>.</a:t>
            </a:r>
          </a:p>
          <a:p>
            <a:pPr lvl="1" eaLnBrk="1" hangingPunct="1"/>
            <a:endParaRPr lang="pt-BR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sp>
        <p:nvSpPr>
          <p:cNvPr id="292874" name="Rectangle 10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292877" name="Picture 13" descr="fokker10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233988" y="2114550"/>
            <a:ext cx="3910012" cy="841375"/>
          </a:xfrm>
          <a:noFill/>
        </p:spPr>
      </p:pic>
      <p:pic>
        <p:nvPicPr>
          <p:cNvPr id="292878" name="Picture 14" descr="2280803-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656263" y="3414713"/>
            <a:ext cx="2527300" cy="18923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>
            <a:extLst>
              <a:ext uri="{FF2B5EF4-FFF2-40B4-BE49-F238E27FC236}">
                <a16:creationId xmlns:a16="http://schemas.microsoft.com/office/drawing/2014/main" id="{43EEE221-EF82-DD40-9173-EB65159EC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7388225" cy="7064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pt-BR" b="1"/>
              <a:t>CV Segundo a Evolução de Vendas do Produto</a:t>
            </a:r>
            <a:endParaRPr lang="pt-BR" altLang="pt-BR" b="1"/>
          </a:p>
        </p:txBody>
      </p:sp>
      <p:graphicFrame>
        <p:nvGraphicFramePr>
          <p:cNvPr id="2050" name="Object 6">
            <a:extLst>
              <a:ext uri="{FF2B5EF4-FFF2-40B4-BE49-F238E27FC236}">
                <a16:creationId xmlns:a16="http://schemas.microsoft.com/office/drawing/2014/main" id="{906FA539-43C0-A34E-BEAE-1D5AE70DF1F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814388" y="1301750"/>
          <a:ext cx="7129462" cy="425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6311900" imgH="3771900" progId="Word.Picture.8">
                  <p:embed/>
                </p:oleObj>
              </mc:Choice>
              <mc:Fallback>
                <p:oleObj name="Figura" r:id="rId3" imgW="6311900" imgH="3771900" progId="Word.Picture.8">
                  <p:embed/>
                  <p:pic>
                    <p:nvPicPr>
                      <p:cNvPr id="2050" name="Object 6">
                        <a:extLst>
                          <a:ext uri="{FF2B5EF4-FFF2-40B4-BE49-F238E27FC236}">
                            <a16:creationId xmlns:a16="http://schemas.microsoft.com/office/drawing/2014/main" id="{906FA539-43C0-A34E-BEAE-1D5AE70DF1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1301750"/>
                        <a:ext cx="7129462" cy="425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7">
            <a:extLst>
              <a:ext uri="{FF2B5EF4-FFF2-40B4-BE49-F238E27FC236}">
                <a16:creationId xmlns:a16="http://schemas.microsoft.com/office/drawing/2014/main" id="{BBFFC70C-D267-544B-9FC1-DBF13E924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Detalhar Ciclo de Vida do Produto e Definir Seus Clientes </a:t>
            </a:r>
          </a:p>
        </p:txBody>
      </p:sp>
      <p:sp>
        <p:nvSpPr>
          <p:cNvPr id="39948" name="Rectangle 12">
            <a:extLst>
              <a:ext uri="{FF2B5EF4-FFF2-40B4-BE49-F238E27FC236}">
                <a16:creationId xmlns:a16="http://schemas.microsoft.com/office/drawing/2014/main" id="{801D5F81-829B-3A45-ADCF-D54D6FF99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sp>
        <p:nvSpPr>
          <p:cNvPr id="39950" name="AutoShape 14">
            <a:extLst>
              <a:ext uri="{FF2B5EF4-FFF2-40B4-BE49-F238E27FC236}">
                <a16:creationId xmlns:a16="http://schemas.microsoft.com/office/drawing/2014/main" id="{B373F502-AA6F-CE4E-A0CA-63E632B67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8" y="5160963"/>
            <a:ext cx="3311525" cy="647700"/>
          </a:xfrm>
          <a:prstGeom prst="wedgeRectCallout">
            <a:avLst>
              <a:gd name="adj1" fmla="val 28093"/>
              <a:gd name="adj2" fmla="val -227449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100">
                <a:latin typeface="Verdana" panose="020B0604030504040204" pitchFamily="34" charset="0"/>
              </a:rPr>
              <a:t>Taxa grande de crescimento; pequena participação no mercado; despesas maiores que receitas; clientes inovadores.</a:t>
            </a:r>
          </a:p>
        </p:txBody>
      </p:sp>
      <p:sp>
        <p:nvSpPr>
          <p:cNvPr id="39951" name="AutoShape 15">
            <a:extLst>
              <a:ext uri="{FF2B5EF4-FFF2-40B4-BE49-F238E27FC236}">
                <a16:creationId xmlns:a16="http://schemas.microsoft.com/office/drawing/2014/main" id="{83DF3582-9F83-D142-B84A-B9A738C57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2784475"/>
            <a:ext cx="1765300" cy="1296988"/>
          </a:xfrm>
          <a:prstGeom prst="wedgeRectCallout">
            <a:avLst>
              <a:gd name="adj1" fmla="val 175991"/>
              <a:gd name="adj2" fmla="val -37759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100">
                <a:latin typeface="Verdana" panose="020B0604030504040204" pitchFamily="34" charset="0"/>
              </a:rPr>
              <a:t>Receitas superam as despesas; participação no mercado quase no </a:t>
            </a:r>
          </a:p>
          <a:p>
            <a:pPr algn="ctr"/>
            <a:r>
              <a:rPr lang="pt-BR" altLang="pt-BR" sz="1100">
                <a:latin typeface="Verdana" panose="020B0604030504040204" pitchFamily="34" charset="0"/>
              </a:rPr>
              <a:t>ápice; lucro mediano; clientes “pronto adotadores”.</a:t>
            </a:r>
          </a:p>
        </p:txBody>
      </p:sp>
      <p:sp>
        <p:nvSpPr>
          <p:cNvPr id="39952" name="AutoShape 16">
            <a:extLst>
              <a:ext uri="{FF2B5EF4-FFF2-40B4-BE49-F238E27FC236}">
                <a16:creationId xmlns:a16="http://schemas.microsoft.com/office/drawing/2014/main" id="{47823196-12D5-C54E-9EF6-870E9E05E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00600"/>
            <a:ext cx="1871663" cy="792163"/>
          </a:xfrm>
          <a:prstGeom prst="wedgeRectCallout">
            <a:avLst>
              <a:gd name="adj1" fmla="val 10306"/>
              <a:gd name="adj2" fmla="val -368838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100">
                <a:latin typeface="Verdana" panose="020B0604030504040204" pitchFamily="34" charset="0"/>
              </a:rPr>
              <a:t>Taxa pequena de crescimento; maiores lucros; clientes imitadores.</a:t>
            </a:r>
          </a:p>
        </p:txBody>
      </p:sp>
      <p:sp>
        <p:nvSpPr>
          <p:cNvPr id="39953" name="AutoShape 17">
            <a:extLst>
              <a:ext uri="{FF2B5EF4-FFF2-40B4-BE49-F238E27FC236}">
                <a16:creationId xmlns:a16="http://schemas.microsoft.com/office/drawing/2014/main" id="{FB2DDBB2-90C7-7448-B7DC-05876A810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463" y="1776413"/>
            <a:ext cx="1223962" cy="2232025"/>
          </a:xfrm>
          <a:prstGeom prst="wedgeRectCallout">
            <a:avLst>
              <a:gd name="adj1" fmla="val -89431"/>
              <a:gd name="adj2" fmla="val -20912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100">
                <a:latin typeface="Verdana" panose="020B0604030504040204" pitchFamily="34" charset="0"/>
              </a:rPr>
              <a:t>Lucros reduzidos ou prejuízos; declínio na participação do mercado; monitorar a maturidade para detectar o início do declínio; clientes fiéis.</a:t>
            </a:r>
          </a:p>
        </p:txBody>
      </p:sp>
    </p:spTree>
    <p:extLst>
      <p:ext uri="{BB962C8B-B14F-4D97-AF65-F5344CB8AC3E}">
        <p14:creationId xmlns:p14="http://schemas.microsoft.com/office/powerpoint/2010/main" val="143483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 animBg="1"/>
      <p:bldP spid="39950" grpId="0" animBg="1"/>
      <p:bldP spid="39951" grpId="0" animBg="1"/>
      <p:bldP spid="39952" grpId="0" animBg="1"/>
      <p:bldP spid="3995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C3D3D0E-1EE4-3C47-A53D-9B3D52912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Clientes Fiéis</a:t>
            </a:r>
            <a:endParaRPr lang="pt-BR" altLang="pt-BR"/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E763D98E-9959-C249-BF6D-56891D8F8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Detalhar Ciclo de Vida do Produto e Definir Seus Clientes </a:t>
            </a:r>
          </a:p>
        </p:txBody>
      </p:sp>
      <p:sp>
        <p:nvSpPr>
          <p:cNvPr id="62476" name="Rectangle 12">
            <a:extLst>
              <a:ext uri="{FF2B5EF4-FFF2-40B4-BE49-F238E27FC236}">
                <a16:creationId xmlns:a16="http://schemas.microsoft.com/office/drawing/2014/main" id="{BD3C54C6-5F47-4342-A264-962058206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pic>
        <p:nvPicPr>
          <p:cNvPr id="64516" name="Picture 4" descr="iron 883">
            <a:extLst>
              <a:ext uri="{FF2B5EF4-FFF2-40B4-BE49-F238E27FC236}">
                <a16:creationId xmlns:a16="http://schemas.microsoft.com/office/drawing/2014/main" id="{26A37EA7-CB38-F841-D2AD-507F1EB65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628800"/>
            <a:ext cx="5652684" cy="376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49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6" grpId="0" animBg="1"/>
      <p:bldP spid="6247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7D0810E-395C-B84F-A451-14F7CEF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LPs, Fitas K7 e CDs</a:t>
            </a:r>
            <a:endParaRPr lang="pt-BR" altLang="pt-BR"/>
          </a:p>
        </p:txBody>
      </p:sp>
      <p:sp>
        <p:nvSpPr>
          <p:cNvPr id="67587" name="Text Box 4">
            <a:extLst>
              <a:ext uri="{FF2B5EF4-FFF2-40B4-BE49-F238E27FC236}">
                <a16:creationId xmlns:a16="http://schemas.microsoft.com/office/drawing/2014/main" id="{DC26BDAF-81DB-0148-AE76-77832F0D8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Detalhar Ciclo de Vida do Produto e Definir Seus Clientes </a:t>
            </a:r>
          </a:p>
        </p:txBody>
      </p:sp>
      <p:sp>
        <p:nvSpPr>
          <p:cNvPr id="67588" name="Text Box 7">
            <a:extLst>
              <a:ext uri="{FF2B5EF4-FFF2-40B4-BE49-F238E27FC236}">
                <a16:creationId xmlns:a16="http://schemas.microsoft.com/office/drawing/2014/main" id="{E08A0FB7-AA31-FA4A-AE52-6C5F99843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516563"/>
            <a:ext cx="69119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altLang="pt-BR" sz="1200" i="1">
                <a:solidFill>
                  <a:srgbClr val="B40000"/>
                </a:solidFill>
                <a:latin typeface="Verdana" panose="020B0604030504040204" pitchFamily="34" charset="0"/>
              </a:rPr>
              <a:t>(fonte: Recording Industry Association of America)</a:t>
            </a:r>
          </a:p>
        </p:txBody>
      </p:sp>
      <p:pic>
        <p:nvPicPr>
          <p:cNvPr id="67589" name="Picture 9" descr="Untitled-2">
            <a:extLst>
              <a:ext uri="{FF2B5EF4-FFF2-40B4-BE49-F238E27FC236}">
                <a16:creationId xmlns:a16="http://schemas.microsoft.com/office/drawing/2014/main" id="{E2376EF0-0187-2C4A-953D-F2DC554323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813" y="1700213"/>
            <a:ext cx="6192837" cy="3651250"/>
          </a:xfrm>
          <a:noFill/>
        </p:spPr>
      </p:pic>
      <p:sp>
        <p:nvSpPr>
          <p:cNvPr id="67590" name="Rectangle 11">
            <a:extLst>
              <a:ext uri="{FF2B5EF4-FFF2-40B4-BE49-F238E27FC236}">
                <a16:creationId xmlns:a16="http://schemas.microsoft.com/office/drawing/2014/main" id="{78986739-B6ED-0949-84B9-56E66F417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7854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349AD9F-C71E-1F4B-9D0E-1DFAE4AFC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sz="4000"/>
              <a:t>CVs Econômicos e do Produto</a:t>
            </a:r>
            <a:endParaRPr lang="pt-BR" altLang="pt-BR" sz="4000"/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FBFD1D71-1ACA-9640-9520-BCDA6D9DB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Detalhar Ciclo de Vida do Produto e Definir Seus Clientes </a:t>
            </a:r>
          </a:p>
        </p:txBody>
      </p:sp>
      <p:pic>
        <p:nvPicPr>
          <p:cNvPr id="157705" name="Picture 9" descr="Untitled-7">
            <a:extLst>
              <a:ext uri="{FF2B5EF4-FFF2-40B4-BE49-F238E27FC236}">
                <a16:creationId xmlns:a16="http://schemas.microsoft.com/office/drawing/2014/main" id="{F68AC7CF-08BB-E249-8B56-A8BC09815ED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2133600"/>
            <a:ext cx="3650992" cy="3527648"/>
          </a:xfrm>
          <a:noFill/>
        </p:spPr>
      </p:pic>
      <p:sp>
        <p:nvSpPr>
          <p:cNvPr id="157706" name="Rectangle 10">
            <a:extLst>
              <a:ext uri="{FF2B5EF4-FFF2-40B4-BE49-F238E27FC236}">
                <a16:creationId xmlns:a16="http://schemas.microsoft.com/office/drawing/2014/main" id="{94EE0DF9-7BB1-8A4E-914F-AC193E94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pic>
        <p:nvPicPr>
          <p:cNvPr id="65542" name="Picture 6" descr="Tênis Redley Originals Cinza">
            <a:extLst>
              <a:ext uri="{FF2B5EF4-FFF2-40B4-BE49-F238E27FC236}">
                <a16:creationId xmlns:a16="http://schemas.microsoft.com/office/drawing/2014/main" id="{D59E1B6F-6568-1641-03B4-D5CEC0216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00250"/>
            <a:ext cx="3744416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21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FFB539F-C576-0B43-ACF9-67206956A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7663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/>
              <a:t>Análise das etapas do CV</a:t>
            </a:r>
            <a:endParaRPr lang="pt-BR" altLang="pt-BR"/>
          </a:p>
        </p:txBody>
      </p:sp>
      <p:sp>
        <p:nvSpPr>
          <p:cNvPr id="68611" name="Text Box 4">
            <a:extLst>
              <a:ext uri="{FF2B5EF4-FFF2-40B4-BE49-F238E27FC236}">
                <a16:creationId xmlns:a16="http://schemas.microsoft.com/office/drawing/2014/main" id="{2FDFA26E-ABF2-1346-9D23-DAC19683E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Detalhar Ciclo de Vida do Produto e Definir Seus Clientes </a:t>
            </a:r>
          </a:p>
        </p:txBody>
      </p:sp>
      <p:graphicFrame>
        <p:nvGraphicFramePr>
          <p:cNvPr id="158848" name="Group 128">
            <a:extLst>
              <a:ext uri="{FF2B5EF4-FFF2-40B4-BE49-F238E27FC236}">
                <a16:creationId xmlns:a16="http://schemas.microsoft.com/office/drawing/2014/main" id="{8172E295-7859-5B4E-BC9F-7C493E2402DB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971550" y="1574800"/>
          <a:ext cx="7489825" cy="423862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69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Lan</a:t>
                      </a: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çamento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Crescimento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Maturidade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Declínio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Objetivos de Marketing</a:t>
                      </a: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Ganhar visibilidade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Diferenciar-se 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Manuter lealdade à marca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Retirada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Concorrência</a:t>
                      </a: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Reduzida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Crescente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Grande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Reduzida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Produtos</a:t>
                      </a: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Único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Mais versões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Linha completa de produtos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Best sellers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3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Preço</a:t>
                      </a: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Penetrar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Ganhar mercado, negociar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Defender fatia de mercado e lucrar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Manter-se lucrativo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3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Promoção</a:t>
                      </a: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Informar ou educar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Realçar diferenciais competitivos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Relembrar e orientar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Promoção mínima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3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pitchFamily="34" charset="0"/>
                        </a:rPr>
                        <a:t>Distribuição</a:t>
                      </a:r>
                    </a:p>
                  </a:txBody>
                  <a:tcPr marL="90000" marR="90000" marT="46806" marB="468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Limitada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Num. maior de pontos de vendas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Num. máximo de pontos de vendas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pitchFamily="34" charset="0"/>
                        </a:rPr>
                        <a:t>Redução dos pontos de vendas</a:t>
                      </a:r>
                    </a:p>
                  </a:txBody>
                  <a:tcPr marL="90000" marR="90000" marT="46806" marB="468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662" name="Freeform 129">
            <a:extLst>
              <a:ext uri="{FF2B5EF4-FFF2-40B4-BE49-F238E27FC236}">
                <a16:creationId xmlns:a16="http://schemas.microsoft.com/office/drawing/2014/main" id="{A4DAC52B-0C59-AA49-91B1-9743C851CECC}"/>
              </a:ext>
            </a:extLst>
          </p:cNvPr>
          <p:cNvSpPr>
            <a:spLocks/>
          </p:cNvSpPr>
          <p:nvPr/>
        </p:nvSpPr>
        <p:spPr bwMode="auto">
          <a:xfrm>
            <a:off x="2484438" y="2205038"/>
            <a:ext cx="6003925" cy="3603625"/>
          </a:xfrm>
          <a:custGeom>
            <a:avLst/>
            <a:gdLst>
              <a:gd name="T0" fmla="*/ 0 w 3782"/>
              <a:gd name="T1" fmla="*/ 2147483647 h 2270"/>
              <a:gd name="T2" fmla="*/ 2147483647 w 3782"/>
              <a:gd name="T3" fmla="*/ 2147483647 h 2270"/>
              <a:gd name="T4" fmla="*/ 2147483647 w 3782"/>
              <a:gd name="T5" fmla="*/ 2147483647 h 2270"/>
              <a:gd name="T6" fmla="*/ 2147483647 w 3782"/>
              <a:gd name="T7" fmla="*/ 2147483647 h 2270"/>
              <a:gd name="T8" fmla="*/ 2147483647 w 3782"/>
              <a:gd name="T9" fmla="*/ 2147483647 h 2270"/>
              <a:gd name="T10" fmla="*/ 2147483647 w 3782"/>
              <a:gd name="T11" fmla="*/ 2147483647 h 22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82"/>
              <a:gd name="T19" fmla="*/ 0 h 2270"/>
              <a:gd name="T20" fmla="*/ 3782 w 3782"/>
              <a:gd name="T21" fmla="*/ 2270 h 22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82" h="2270">
                <a:moveTo>
                  <a:pt x="0" y="2270"/>
                </a:moveTo>
                <a:cubicBezTo>
                  <a:pt x="133" y="2229"/>
                  <a:pt x="562" y="2200"/>
                  <a:pt x="797" y="2021"/>
                </a:cubicBezTo>
                <a:cubicBezTo>
                  <a:pt x="1032" y="1842"/>
                  <a:pt x="1214" y="1488"/>
                  <a:pt x="1411" y="1195"/>
                </a:cubicBezTo>
                <a:cubicBezTo>
                  <a:pt x="1608" y="902"/>
                  <a:pt x="1747" y="437"/>
                  <a:pt x="1977" y="264"/>
                </a:cubicBezTo>
                <a:cubicBezTo>
                  <a:pt x="2207" y="91"/>
                  <a:pt x="2492" y="0"/>
                  <a:pt x="2793" y="158"/>
                </a:cubicBezTo>
                <a:cubicBezTo>
                  <a:pt x="3094" y="316"/>
                  <a:pt x="3576" y="994"/>
                  <a:pt x="3782" y="1214"/>
                </a:cubicBezTo>
              </a:path>
            </a:pathLst>
          </a:custGeom>
          <a:noFill/>
          <a:ln w="127000">
            <a:solidFill>
              <a:srgbClr val="0000FF">
                <a:alpha val="2196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8663" name="Freeform 130">
            <a:extLst>
              <a:ext uri="{FF2B5EF4-FFF2-40B4-BE49-F238E27FC236}">
                <a16:creationId xmlns:a16="http://schemas.microsoft.com/office/drawing/2014/main" id="{47D9EB9C-BB21-2C4B-9072-4982D0030B7E}"/>
              </a:ext>
            </a:extLst>
          </p:cNvPr>
          <p:cNvSpPr>
            <a:spLocks/>
          </p:cNvSpPr>
          <p:nvPr/>
        </p:nvSpPr>
        <p:spPr bwMode="auto">
          <a:xfrm>
            <a:off x="2466975" y="3432175"/>
            <a:ext cx="5992813" cy="1941513"/>
          </a:xfrm>
          <a:custGeom>
            <a:avLst/>
            <a:gdLst>
              <a:gd name="T0" fmla="*/ 0 w 3821"/>
              <a:gd name="T1" fmla="*/ 0 h 1223"/>
              <a:gd name="T2" fmla="*/ 2147483647 w 3821"/>
              <a:gd name="T3" fmla="*/ 2147483647 h 1223"/>
              <a:gd name="T4" fmla="*/ 2147483647 w 3821"/>
              <a:gd name="T5" fmla="*/ 2147483647 h 1223"/>
              <a:gd name="T6" fmla="*/ 2147483647 w 3821"/>
              <a:gd name="T7" fmla="*/ 2147483647 h 1223"/>
              <a:gd name="T8" fmla="*/ 0 60000 65536"/>
              <a:gd name="T9" fmla="*/ 0 60000 65536"/>
              <a:gd name="T10" fmla="*/ 0 60000 65536"/>
              <a:gd name="T11" fmla="*/ 0 60000 65536"/>
              <a:gd name="T12" fmla="*/ 0 w 3821"/>
              <a:gd name="T13" fmla="*/ 0 h 1223"/>
              <a:gd name="T14" fmla="*/ 3821 w 3821"/>
              <a:gd name="T15" fmla="*/ 1223 h 12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21" h="1223">
                <a:moveTo>
                  <a:pt x="0" y="0"/>
                </a:moveTo>
                <a:cubicBezTo>
                  <a:pt x="163" y="122"/>
                  <a:pt x="569" y="539"/>
                  <a:pt x="979" y="730"/>
                </a:cubicBezTo>
                <a:cubicBezTo>
                  <a:pt x="1389" y="921"/>
                  <a:pt x="1984" y="1063"/>
                  <a:pt x="2458" y="1143"/>
                </a:cubicBezTo>
                <a:cubicBezTo>
                  <a:pt x="2932" y="1223"/>
                  <a:pt x="3537" y="1196"/>
                  <a:pt x="3821" y="1210"/>
                </a:cubicBezTo>
              </a:path>
            </a:pathLst>
          </a:custGeom>
          <a:noFill/>
          <a:ln w="127000">
            <a:solidFill>
              <a:srgbClr val="339966">
                <a:alpha val="2196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8664" name="Rectangle 131">
            <a:extLst>
              <a:ext uri="{FF2B5EF4-FFF2-40B4-BE49-F238E27FC236}">
                <a16:creationId xmlns:a16="http://schemas.microsoft.com/office/drawing/2014/main" id="{EE73775D-6D46-F740-A823-16A181BFC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65668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BD86-BB06-EE3F-1E84-5397F2BB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vestuário</a:t>
            </a:r>
          </a:p>
        </p:txBody>
      </p:sp>
      <p:sp>
        <p:nvSpPr>
          <p:cNvPr id="3" name="Espaço Reservado para Tabela 2">
            <a:extLst>
              <a:ext uri="{FF2B5EF4-FFF2-40B4-BE49-F238E27FC236}">
                <a16:creationId xmlns:a16="http://schemas.microsoft.com/office/drawing/2014/main" id="{68D35A39-2820-2DF4-EC0E-1E38E65B3B44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6562" name="Picture 2" descr="Ciclo de vida de estilo, moda e modismo. Fonte: Adaptado de Kotler &amp;... |  Download Scientific Diagram">
            <a:extLst>
              <a:ext uri="{FF2B5EF4-FFF2-40B4-BE49-F238E27FC236}">
                <a16:creationId xmlns:a16="http://schemas.microsoft.com/office/drawing/2014/main" id="{1D977B40-B1D2-084D-FBF8-323E79ADE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78" y="2636912"/>
            <a:ext cx="7857344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695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692696"/>
            <a:ext cx="7388225" cy="706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CV </a:t>
            </a:r>
            <a:r>
              <a:rPr lang="en-US" dirty="0" err="1"/>
              <a:t>seg</a:t>
            </a:r>
            <a:r>
              <a:rPr lang="en-US" dirty="0"/>
              <a:t>. as </a:t>
            </a:r>
            <a:r>
              <a:rPr lang="pt-BR" dirty="0"/>
              <a:t>Atividades p/ quais passam o Produto e o Processo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graphicFrame>
        <p:nvGraphicFramePr>
          <p:cNvPr id="4098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2705100" y="1641475"/>
          <a:ext cx="5854700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7531773" imgH="5820851" progId="Word.Picture.8">
                  <p:embed/>
                </p:oleObj>
              </mc:Choice>
              <mc:Fallback>
                <p:oleObj name="Figura" r:id="rId3" imgW="7531773" imgH="5820851" progId="Word.Picture.8">
                  <p:embed/>
                  <p:pic>
                    <p:nvPicPr>
                      <p:cNvPr id="40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1641475"/>
                        <a:ext cx="5854700" cy="452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8288" y="188913"/>
            <a:ext cx="7388225" cy="706437"/>
          </a:xfrm>
        </p:spPr>
        <p:txBody>
          <a:bodyPr/>
          <a:lstStyle/>
          <a:p>
            <a:pPr eaLnBrk="1" hangingPunct="1"/>
            <a:r>
              <a:rPr lang="en-US"/>
              <a:t>CLIENTES DO PROJETO</a:t>
            </a:r>
            <a:endParaRPr lang="pt-BR"/>
          </a:p>
        </p:txBody>
      </p:sp>
      <p:sp>
        <p:nvSpPr>
          <p:cNvPr id="54275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pic>
        <p:nvPicPr>
          <p:cNvPr id="54276" name="Picture 11" descr="Untitled-1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24075" y="1557338"/>
            <a:ext cx="4897438" cy="4114800"/>
          </a:xfrm>
          <a:noFill/>
        </p:spPr>
      </p:pic>
      <p:sp>
        <p:nvSpPr>
          <p:cNvPr id="60428" name="Rectangle 12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2800" dirty="0"/>
              <a:t>CLIENTES DO PROJETO</a:t>
            </a:r>
            <a:endParaRPr lang="pt-BR" sz="2800" dirty="0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412776"/>
            <a:ext cx="4132138" cy="45291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pt-BR" sz="2400" dirty="0"/>
              <a:t>Todas as </a:t>
            </a:r>
            <a:r>
              <a:rPr lang="pt-BR" sz="2400" dirty="0">
                <a:solidFill>
                  <a:srgbClr val="B40000"/>
                </a:solidFill>
              </a:rPr>
              <a:t>pessoas</a:t>
            </a:r>
            <a:r>
              <a:rPr lang="pt-BR" sz="2400" dirty="0"/>
              <a:t> ou </a:t>
            </a:r>
            <a:r>
              <a:rPr lang="pt-BR" sz="2400" dirty="0">
                <a:solidFill>
                  <a:srgbClr val="B40000"/>
                </a:solidFill>
              </a:rPr>
              <a:t>organizações</a:t>
            </a:r>
            <a:r>
              <a:rPr lang="pt-BR" sz="2400" dirty="0"/>
              <a:t> que </a:t>
            </a:r>
            <a:r>
              <a:rPr lang="pt-BR" sz="2400" dirty="0">
                <a:solidFill>
                  <a:srgbClr val="B40000"/>
                </a:solidFill>
              </a:rPr>
              <a:t>irão comprar</a:t>
            </a:r>
            <a:r>
              <a:rPr lang="pt-BR" sz="2400" dirty="0"/>
              <a:t> para uso e consumo um dado </a:t>
            </a:r>
            <a:r>
              <a:rPr lang="pt-BR" sz="2400" dirty="0">
                <a:solidFill>
                  <a:srgbClr val="B40000"/>
                </a:solidFill>
              </a:rPr>
              <a:t>produto</a:t>
            </a:r>
            <a:r>
              <a:rPr lang="pt-BR" sz="2400" dirty="0"/>
              <a:t>, resultado de uma atividade de projeto, e </a:t>
            </a:r>
            <a:r>
              <a:rPr lang="pt-BR" sz="2400" dirty="0">
                <a:solidFill>
                  <a:srgbClr val="B40000"/>
                </a:solidFill>
              </a:rPr>
              <a:t>também</a:t>
            </a:r>
            <a:r>
              <a:rPr lang="pt-BR" sz="2400" dirty="0"/>
              <a:t> </a:t>
            </a:r>
            <a:r>
              <a:rPr lang="pt-BR" sz="2400" dirty="0">
                <a:solidFill>
                  <a:srgbClr val="B40000"/>
                </a:solidFill>
              </a:rPr>
              <a:t>aquelas</a:t>
            </a:r>
            <a:r>
              <a:rPr lang="pt-BR" sz="2400" dirty="0"/>
              <a:t> que estarão </a:t>
            </a:r>
            <a:r>
              <a:rPr lang="pt-BR" sz="2400" dirty="0">
                <a:solidFill>
                  <a:srgbClr val="B40000"/>
                </a:solidFill>
              </a:rPr>
              <a:t>envolvidas</a:t>
            </a:r>
            <a:r>
              <a:rPr lang="pt-BR" sz="2400" dirty="0"/>
              <a:t> </a:t>
            </a:r>
            <a:r>
              <a:rPr lang="pt-BR" sz="2400" dirty="0">
                <a:solidFill>
                  <a:srgbClr val="B40000"/>
                </a:solidFill>
              </a:rPr>
              <a:t>direta ou indiretamente</a:t>
            </a:r>
            <a:r>
              <a:rPr lang="pt-BR" sz="2400" dirty="0"/>
              <a:t> com o </a:t>
            </a:r>
            <a:r>
              <a:rPr lang="pt-BR" sz="2400" dirty="0">
                <a:solidFill>
                  <a:srgbClr val="B40000"/>
                </a:solidFill>
              </a:rPr>
              <a:t>ciclo de vida do produto</a:t>
            </a:r>
            <a:r>
              <a:rPr lang="pt-BR" sz="2400" dirty="0"/>
              <a:t>.</a:t>
            </a:r>
          </a:p>
          <a:p>
            <a:pPr eaLnBrk="1" hangingPunct="1"/>
            <a:endParaRPr lang="pt-BR" sz="2400" dirty="0"/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499992" y="1916832"/>
            <a:ext cx="4211637" cy="3029768"/>
          </a:xfrm>
        </p:spPr>
        <p:txBody>
          <a:bodyPr/>
          <a:lstStyle/>
          <a:p>
            <a:pPr eaLnBrk="1" hangingPunct="1"/>
            <a:r>
              <a:rPr lang="pt-BR" sz="2400" dirty="0">
                <a:solidFill>
                  <a:srgbClr val="B40000"/>
                </a:solidFill>
              </a:rPr>
              <a:t>Tipos</a:t>
            </a:r>
            <a:r>
              <a:rPr lang="pt-BR" sz="2400" dirty="0"/>
              <a:t> de clientes:</a:t>
            </a:r>
          </a:p>
          <a:p>
            <a:pPr lvl="1" eaLnBrk="1" hangingPunct="1"/>
            <a:r>
              <a:rPr lang="pt-BR" dirty="0"/>
              <a:t>Externos.</a:t>
            </a:r>
          </a:p>
          <a:p>
            <a:pPr lvl="1" eaLnBrk="1" hangingPunct="1"/>
            <a:r>
              <a:rPr lang="pt-BR" dirty="0"/>
              <a:t>Intermediários.</a:t>
            </a:r>
          </a:p>
          <a:p>
            <a:pPr lvl="1" eaLnBrk="1" hangingPunct="1"/>
            <a:r>
              <a:rPr lang="pt-BR" dirty="0"/>
              <a:t>Internos</a:t>
            </a:r>
          </a:p>
          <a:p>
            <a:pPr lvl="1" eaLnBrk="1" hangingPunct="1"/>
            <a:endParaRPr lang="pt-BR" dirty="0"/>
          </a:p>
        </p:txBody>
      </p:sp>
      <p:sp>
        <p:nvSpPr>
          <p:cNvPr id="55301" name="Text Box 4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CV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Espiral</a:t>
            </a:r>
            <a:endParaRPr lang="pt-BR" dirty="0"/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graphicFrame>
        <p:nvGraphicFramePr>
          <p:cNvPr id="5122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1187450" y="1219200"/>
          <a:ext cx="7200900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6355131" imgH="4300043" progId="Word.Picture.8">
                  <p:embed/>
                </p:oleObj>
              </mc:Choice>
              <mc:Fallback>
                <p:oleObj name="Figura" r:id="rId3" imgW="6355131" imgH="4300043" progId="Word.Picture.8">
                  <p:embed/>
                  <p:pic>
                    <p:nvPicPr>
                      <p:cNvPr id="51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219200"/>
                        <a:ext cx="7200900" cy="487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7"/>
          <p:cNvSpPr txBox="1">
            <a:spLocks noChangeArrowheads="1"/>
          </p:cNvSpPr>
          <p:nvPr/>
        </p:nvSpPr>
        <p:spPr bwMode="auto">
          <a:xfrm>
            <a:off x="1042988" y="5735638"/>
            <a:ext cx="1511300" cy="214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800"/>
              <a:t>Adaptado de Fonseca (2000)</a:t>
            </a:r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2233" name="AutoShape 9"/>
          <p:cNvSpPr>
            <a:spLocks noChangeArrowheads="1"/>
          </p:cNvSpPr>
          <p:nvPr/>
        </p:nvSpPr>
        <p:spPr bwMode="auto">
          <a:xfrm>
            <a:off x="7524750" y="3500438"/>
            <a:ext cx="1368425" cy="503237"/>
          </a:xfrm>
          <a:prstGeom prst="wedgeRectCallout">
            <a:avLst>
              <a:gd name="adj1" fmla="val -59514"/>
              <a:gd name="adj2" fmla="val -82806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Agregam valor ao produto.</a:t>
            </a:r>
          </a:p>
        </p:txBody>
      </p:sp>
      <p:sp>
        <p:nvSpPr>
          <p:cNvPr id="52234" name="AutoShape 10"/>
          <p:cNvSpPr>
            <a:spLocks noChangeArrowheads="1"/>
          </p:cNvSpPr>
          <p:nvPr/>
        </p:nvSpPr>
        <p:spPr bwMode="auto">
          <a:xfrm>
            <a:off x="1619250" y="5084763"/>
            <a:ext cx="1439863" cy="503237"/>
          </a:xfrm>
          <a:prstGeom prst="wedgeRectCallout">
            <a:avLst>
              <a:gd name="adj1" fmla="val 93111"/>
              <a:gd name="adj2" fmla="val 61356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Onde o produto </a:t>
            </a:r>
            <a:r>
              <a:rPr lang="en-US" sz="1100">
                <a:latin typeface="Verdana" pitchFamily="34" charset="0"/>
              </a:rPr>
              <a:t>é comercializado</a:t>
            </a:r>
            <a:r>
              <a:rPr lang="pt-BR" sz="1100">
                <a:latin typeface="Verdana" pitchFamily="34" charset="0"/>
              </a:rPr>
              <a:t>.</a:t>
            </a:r>
          </a:p>
        </p:txBody>
      </p:sp>
      <p:sp>
        <p:nvSpPr>
          <p:cNvPr id="52235" name="AutoShape 11"/>
          <p:cNvSpPr>
            <a:spLocks noChangeArrowheads="1"/>
          </p:cNvSpPr>
          <p:nvPr/>
        </p:nvSpPr>
        <p:spPr bwMode="auto">
          <a:xfrm>
            <a:off x="684213" y="4076700"/>
            <a:ext cx="935037" cy="647700"/>
          </a:xfrm>
          <a:prstGeom prst="wedgeRectCallout">
            <a:avLst>
              <a:gd name="adj1" fmla="val -2292"/>
              <a:gd name="adj2" fmla="val -124509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Onde o produto </a:t>
            </a:r>
            <a:r>
              <a:rPr lang="en-US" sz="1100">
                <a:latin typeface="Verdana" pitchFamily="34" charset="0"/>
              </a:rPr>
              <a:t>é utilizado</a:t>
            </a:r>
            <a:r>
              <a:rPr lang="pt-BR" sz="1100">
                <a:latin typeface="Verdana" pitchFamily="34" charset="0"/>
              </a:rPr>
              <a:t>.</a:t>
            </a:r>
          </a:p>
        </p:txBody>
      </p:sp>
      <p:sp>
        <p:nvSpPr>
          <p:cNvPr id="52238" name="AutoShape 14"/>
          <p:cNvSpPr>
            <a:spLocks noChangeArrowheads="1"/>
          </p:cNvSpPr>
          <p:nvPr/>
        </p:nvSpPr>
        <p:spPr bwMode="auto">
          <a:xfrm>
            <a:off x="6588125" y="1125538"/>
            <a:ext cx="2160588" cy="1512887"/>
          </a:xfrm>
          <a:prstGeom prst="wedgeRectCallout">
            <a:avLst>
              <a:gd name="adj1" fmla="val -38245"/>
              <a:gd name="adj2" fmla="val 2240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Os atributos relacionados as diferentes fases do ciclo de vida auxiliam na definição das características físicas, de forma, de materiais, de uso, de fabricação, entre outras, do produto.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 animBg="1"/>
      <p:bldP spid="52233" grpId="0" animBg="1"/>
      <p:bldP spid="52234" grpId="0" animBg="1"/>
      <p:bldP spid="52235" grpId="0" animBg="1"/>
      <p:bldP spid="52238" grpId="0" animBg="1"/>
    </p:bldLst>
  </p:timing>
</p:sld>
</file>

<file path=ppt/theme/theme1.xml><?xml version="1.0" encoding="utf-8"?>
<a:theme xmlns:a="http://schemas.openxmlformats.org/drawingml/2006/main" name="Design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FAF3E8"/>
      </a:lt2>
      <a:accent1>
        <a:srgbClr val="5C83B4"/>
      </a:accent1>
      <a:accent2>
        <a:srgbClr val="C0504D"/>
      </a:accent2>
      <a:accent3>
        <a:srgbClr val="9DBB61"/>
      </a:accent3>
      <a:accent4>
        <a:srgbClr val="8066A0"/>
      </a:accent4>
      <a:accent5>
        <a:srgbClr val="4BACC6"/>
      </a:accent5>
      <a:accent6>
        <a:srgbClr val="F59D5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FAF3E8"/>
      </a:lt2>
      <a:accent1>
        <a:srgbClr val="5C83B4"/>
      </a:accent1>
      <a:accent2>
        <a:srgbClr val="C0504D"/>
      </a:accent2>
      <a:accent3>
        <a:srgbClr val="9DBB61"/>
      </a:accent3>
      <a:accent4>
        <a:srgbClr val="8066A0"/>
      </a:accent4>
      <a:accent5>
        <a:srgbClr val="4BACC6"/>
      </a:accent5>
      <a:accent6>
        <a:srgbClr val="F59D5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0675B6-C53D-4715-A738-E7EAF00BDD9D}"/>
</file>

<file path=customXml/itemProps2.xml><?xml version="1.0" encoding="utf-8"?>
<ds:datastoreItem xmlns:ds="http://schemas.openxmlformats.org/officeDocument/2006/customXml" ds:itemID="{B54B2076-67FE-4AD4-BFBC-2125EB4F424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9606F45-0FF5-470C-BEE3-66E02E35F3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DesignTemplate</Template>
  <TotalTime>1601</TotalTime>
  <Words>1382</Words>
  <Application>Microsoft Macintosh PowerPoint</Application>
  <PresentationFormat>Apresentação na tela (4:3)</PresentationFormat>
  <Paragraphs>217</Paragraphs>
  <Slides>32</Slides>
  <Notes>26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Corbel</vt:lpstr>
      <vt:lpstr>Tahoma</vt:lpstr>
      <vt:lpstr>Verdana</vt:lpstr>
      <vt:lpstr>Wingdings</vt:lpstr>
      <vt:lpstr>DesignTemplate</vt:lpstr>
      <vt:lpstr>Figura</vt:lpstr>
      <vt:lpstr>Universidade de Brasília Departamento de Engenharia de Produção Disciplina: Engenharia de Produto    </vt:lpstr>
      <vt:lpstr>Localização da Fase</vt:lpstr>
      <vt:lpstr>Entradas e Saídas do PI</vt:lpstr>
      <vt:lpstr>Objetivo do PI</vt:lpstr>
      <vt:lpstr>Principais Informações do PI</vt:lpstr>
      <vt:lpstr>Apresentação do PowerPoint</vt:lpstr>
      <vt:lpstr>Apresentação do PowerPoint</vt:lpstr>
      <vt:lpstr>Apresentação do PowerPoint</vt:lpstr>
      <vt:lpstr>Análise do Problema de Projeto</vt:lpstr>
      <vt:lpstr>Apresentação do PowerPoint</vt:lpstr>
      <vt:lpstr>APRESENTAÇÃO DO PROBLEMA</vt:lpstr>
      <vt:lpstr>Demais Tarefas da Análise e Atualiz. do Escopo do Produto </vt:lpstr>
      <vt:lpstr>Tecnologias e Métodos de Fabricação </vt:lpstr>
      <vt:lpstr>Tecnologias e Métodos de Fabricação </vt:lpstr>
      <vt:lpstr>Tecnologias e Métodos de Fabricação </vt:lpstr>
      <vt:lpstr>Patentes </vt:lpstr>
      <vt:lpstr>Produtos Similares </vt:lpstr>
      <vt:lpstr>ATIVIDADES DO PI</vt:lpstr>
      <vt:lpstr>Apresentação do PowerPoint</vt:lpstr>
      <vt:lpstr>Modelos de Ciclo de Vida</vt:lpstr>
      <vt:lpstr>MODELOS DE CICLO DE VIDA</vt:lpstr>
      <vt:lpstr>MODELOS DE CICLO DE VIDA</vt:lpstr>
      <vt:lpstr>CV Segundo a Evolução de Vendas do Produto</vt:lpstr>
      <vt:lpstr>Clientes Fiéis</vt:lpstr>
      <vt:lpstr>LPs, Fitas K7 e CDs</vt:lpstr>
      <vt:lpstr>CVs Econômicos e do Produto</vt:lpstr>
      <vt:lpstr>Análise das etapas do CV</vt:lpstr>
      <vt:lpstr>Ciclo de vida vestuário</vt:lpstr>
      <vt:lpstr>CV seg. as Atividades p/ quais passam o Produto e o Processo</vt:lpstr>
      <vt:lpstr>CLIENTES DO PROJETO</vt:lpstr>
      <vt:lpstr>CLIENTES DO PROJETO</vt:lpstr>
      <vt:lpstr>CV em Espiral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FEDERAL DE SERGIPE PROGRAMA DE PÓS-GRADUAÇÃO EM ENGENHARIA DE MATERIAIS</dc:title>
  <dc:creator>Andrea</dc:creator>
  <cp:lastModifiedBy>Andrea Cristina dos Santos</cp:lastModifiedBy>
  <cp:revision>131</cp:revision>
  <dcterms:created xsi:type="dcterms:W3CDTF">2010-07-21T13:01:57Z</dcterms:created>
  <dcterms:modified xsi:type="dcterms:W3CDTF">2025-04-28T18:44:29Z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TC100738469990</vt:lpwstr>
  </property>
  <property fmtid="{D5CDD505-2E9C-101B-9397-08002B2CF9AE}" pid="3" name="ContentTypeId">
    <vt:lpwstr>0x010100FFB952CF52B7DE4ABAC1D5EF85AB9ACF</vt:lpwstr>
  </property>
</Properties>
</file>