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507" r:id="rId5"/>
    <p:sldId id="285" r:id="rId6"/>
    <p:sldId id="526" r:id="rId7"/>
    <p:sldId id="281" r:id="rId8"/>
    <p:sldId id="529" r:id="rId9"/>
    <p:sldId id="453" r:id="rId10"/>
    <p:sldId id="454" r:id="rId11"/>
    <p:sldId id="471" r:id="rId12"/>
    <p:sldId id="510" r:id="rId13"/>
    <p:sldId id="534" r:id="rId14"/>
    <p:sldId id="531" r:id="rId15"/>
    <p:sldId id="533" r:id="rId16"/>
    <p:sldId id="532" r:id="rId17"/>
    <p:sldId id="509" r:id="rId18"/>
    <p:sldId id="474" r:id="rId19"/>
    <p:sldId id="475" r:id="rId20"/>
    <p:sldId id="455" r:id="rId21"/>
    <p:sldId id="456" r:id="rId22"/>
    <p:sldId id="457" r:id="rId23"/>
    <p:sldId id="387" r:id="rId24"/>
    <p:sldId id="388" r:id="rId25"/>
    <p:sldId id="389" r:id="rId26"/>
    <p:sldId id="391" r:id="rId27"/>
    <p:sldId id="392" r:id="rId28"/>
    <p:sldId id="393" r:id="rId29"/>
    <p:sldId id="395" r:id="rId30"/>
    <p:sldId id="513" r:id="rId31"/>
    <p:sldId id="524" r:id="rId32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8E9A2F-1327-4FFD-A152-4C02BA371F52}" v="944" dt="2025-06-11T20:04:50.404"/>
    <p1510:client id="{712261DA-8D23-4857-9E3E-7DA0676CED60}" v="10" dt="2025-06-11T19:15:07.670"/>
    <p1510:client id="{A8475E47-F2D9-6E4A-A56F-BEA5325FD0C5}" v="1" dt="2025-06-11T20:14:01.7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64"/>
  </p:normalViewPr>
  <p:slideViewPr>
    <p:cSldViewPr snapToGrid="0">
      <p:cViewPr varScale="1">
        <p:scale>
          <a:sx n="107" d="100"/>
          <a:sy n="107" d="100"/>
        </p:scale>
        <p:origin x="176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2124903-65C2-E249-8E2D-7A4D4381BE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CD161DF-4BC5-334E-9810-7AAA4828E2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4D500444-EDEF-A845-9556-025B805FD99C}" type="datetimeFigureOut">
              <a:rPr lang="pt-BR"/>
              <a:pPr>
                <a:defRPr/>
              </a:pPr>
              <a:t>11/06/2025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E23B9CF-480A-9640-90EA-4E253F96AD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EB0C9F-0B57-6F49-980B-B94F3E27D7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E3BFA5F4-FC0E-F64E-80BE-2A3E587482A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EC0ACE8-F3A8-A14E-91A0-A7109086E75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35140148-1C65-FD4E-AE6A-3EC1B7DDD82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BD3D7532-C684-6D4D-911A-3585F777FC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46A63A35-1D79-BC49-9E10-E429D2DBEA2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D8CD9AE7-E0F8-CD4B-A477-B80EA43C7B7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31F7122D-F3EC-8A49-B974-7E154CB288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940C32EF-1CB4-EB4F-85A1-D177E0BFAD44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883C11F8-6F9D-A54F-885F-10483D48D2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0C2A09-FBBC-E948-90E0-234D424D494A}" type="slidenum">
              <a:rPr lang="pt-BR" altLang="pt-BR" sz="1300"/>
              <a:pPr>
                <a:spcBef>
                  <a:spcPct val="0"/>
                </a:spcBef>
              </a:pPr>
              <a:t>2</a:t>
            </a:fld>
            <a:endParaRPr lang="pt-BR" altLang="pt-BR" sz="1300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171C8E32-BF9F-AD44-AD65-4916ACA98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2324A7C-8246-D84A-96D0-F8DDBEF801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BAAA3B75-1AF2-9A44-BFF2-4425E96810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1DF44D-0666-AE4F-9DF7-8628B11FB737}" type="slidenum">
              <a:rPr lang="pt-BR" altLang="pt-BR" sz="1300" smtClean="0"/>
              <a:pPr>
                <a:spcBef>
                  <a:spcPct val="0"/>
                </a:spcBef>
              </a:pPr>
              <a:t>4</a:t>
            </a:fld>
            <a:endParaRPr lang="pt-BR" altLang="pt-BR" sz="1300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AAC97565-009B-9343-B30E-D2D5A9E055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9E4CFE4-D1C7-4A4F-9C33-FBBA66D8B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297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4ADBE-B4D6-435F-9495-5F687D7AF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A962F1EA-F21C-0BEE-F66A-FFD0FF522A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1DF44D-0666-AE4F-9DF7-8628B11FB737}" type="slidenum">
              <a:rPr lang="pt-BR" altLang="pt-BR" sz="1300" smtClean="0"/>
              <a:pPr>
                <a:spcBef>
                  <a:spcPct val="0"/>
                </a:spcBef>
              </a:pPr>
              <a:t>5</a:t>
            </a:fld>
            <a:endParaRPr lang="pt-BR" altLang="pt-BR" sz="1300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FDE6886E-D399-9620-312E-9E64593455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161C9C0-8C66-B84C-466F-A5D39205BE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63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504D-0F31-D71E-D401-2B8645606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DAB811-51EE-1E6B-382B-5BEC8278F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448167-2815-5713-BDF2-D7AD7AD25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AA65F4-9B24-9A8D-90FD-5667C0345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EBC59-CFE3-624E-BFA4-C4F03A4E5A6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6924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EA45970C-544C-9749-8569-F14326CF26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1E73428-3FC6-0D4A-B7E8-DA637F91C5C2}" type="slidenum">
              <a:rPr lang="pt-BR" altLang="pt-BR"/>
              <a:pPr>
                <a:spcBef>
                  <a:spcPct val="0"/>
                </a:spcBef>
              </a:pPr>
              <a:t>15</a:t>
            </a:fld>
            <a:endParaRPr lang="pt-BR" altLang="pt-BR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502F6C09-927E-9B4F-B091-04C006BDF2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66E27B7-DC60-744C-8939-6DCB2F7AD0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A6839227-306F-154E-9455-65A8413D9B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466EE6F-D6E4-9848-80DE-0BBB36C7FF1C}" type="slidenum">
              <a:rPr lang="pt-BR" altLang="pt-BR"/>
              <a:pPr>
                <a:spcBef>
                  <a:spcPct val="0"/>
                </a:spcBef>
              </a:pPr>
              <a:t>16</a:t>
            </a:fld>
            <a:endParaRPr lang="pt-BR" altLang="pt-BR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008B1C55-FDB0-6849-8556-3680A5267E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34B847F6-AF15-B541-9672-6FBA70B996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7515573F-8061-2945-B46D-2796E9E312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5A29E9-478C-D143-BA44-F551BF88C1D2}" type="slidenum">
              <a:rPr lang="pt-BR" altLang="pt-BR" sz="1300"/>
              <a:pPr>
                <a:spcBef>
                  <a:spcPct val="0"/>
                </a:spcBef>
              </a:pPr>
              <a:t>27</a:t>
            </a:fld>
            <a:endParaRPr lang="pt-BR" altLang="pt-BR" sz="1300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5DD02868-03D0-D045-B61F-3A5A722A83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71C177D-9F50-BF44-A859-A0874F6B1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469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924A6C-4BB7-B94C-A854-0014EC938D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D5BA02-95D2-4940-BA02-49514E3B0C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B76B80-1116-9841-9A3A-E6D6557FEF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87F583-0606-AA4F-B662-6602E00A975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0409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E0578D-D5E2-654E-B669-F0916F2190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D4A81B-128A-B947-8B36-728FF1EA02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D6353C-16B3-C241-85F8-F184B3968E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6FACE9-A7EC-7A4A-A681-ECD65207583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38973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4AD3DB-72AF-3C4E-9BFC-7127C79C49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026D0C-DFD1-894B-94E8-42889B7B7D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6A1667-376C-9846-BB18-11D674636F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AC4A3D-C07C-D447-B005-B87616E70A1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8619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85DB79-9AAD-7D4A-A58F-28623BBBCE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60EA87-56D7-9240-924C-C3F59C1AB4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A2876-5478-B040-BF75-F2F6EDE024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74A6C6-83A1-3548-B5AA-5432444247E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46577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728C86-6A14-294E-B2F2-DFF184BAF1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5217B6F-C603-6A48-B743-B1BE70EC41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43D4089-2FF4-394A-9DC7-73A4BC4179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1DBD1E-49CE-6841-A3A4-133E2B738AC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82168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E194118-F407-E34C-A6EF-1793ED204F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730E3D6-270E-4C49-AEDC-9F9738F18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64757E9-159B-7E4E-A9E2-EDDBF28A68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120920-F361-D64E-B33B-0A46B89DFFE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80656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6C9B5F9-C036-6549-A3CD-9E71BB248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8D19BFD-622A-474A-9885-038E1B1BF6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133168D-DDD3-734E-8F6C-CEDB03721C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3A24F2-EDB0-574A-845C-221D2B79A2F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91814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59E81-4BBD-DD48-85B9-AD48500452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17BE97-3D2B-B646-8495-61641F1A90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624B4B-4EB8-0B4C-8B94-1B858B4330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5A82A0-7F92-3D46-8D7C-DB9CD59F0AA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90742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7C02FF-B10D-0846-BEF0-1B247EEA1B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737E7B-F252-6F42-91DC-F97FB943AB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9478D9-12FC-1347-9437-9D772DF8D8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24057F-D9BA-C14E-A4F2-4778786BEFF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54507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D1CE69-EE37-B648-BE5A-0F3AF18CAE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1E04EE-84D6-C74A-8F92-76F944FB31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224DBC-51E3-4844-A626-9356D86CC0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597228-B06C-1E42-8B23-75E36C7509E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53746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2171700" cy="612616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62700" cy="612616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8B3517-9F13-DF47-9428-DF9EB67562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FD526A-E477-894A-B11E-D140A1C644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3FBB928-92A5-4048-8D73-0567B5D4A6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E0F00B-C950-7C46-B38C-CE999B12309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86357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7388225" cy="7064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81F9B8-8D16-7A45-8E19-7DA5652C70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640F62-53C2-9E41-90B4-BC1B7922BC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C22C8-2CCE-6743-B6B3-A90FB5B26C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44644D-7353-2147-84FC-3205CDDCAFD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197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9842" y="5102861"/>
            <a:ext cx="7367642" cy="67173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None/>
              <a:defRPr sz="15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4" name="Elipse 13"/>
          <p:cNvSpPr/>
          <p:nvPr userDrawn="1"/>
        </p:nvSpPr>
        <p:spPr>
          <a:xfrm flipV="1">
            <a:off x="8516542" y="2384079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23403" y="5056941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/>
              <a:t>TÍTULO DO SLIDE</a:t>
            </a:r>
            <a:endParaRPr lang="es-E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29842" y="2328009"/>
            <a:ext cx="3868340" cy="221585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/>
          </a:p>
        </p:txBody>
      </p:sp>
      <p:sp>
        <p:nvSpPr>
          <p:cNvPr id="10" name="Retângulo 9"/>
          <p:cNvSpPr/>
          <p:nvPr userDrawn="1"/>
        </p:nvSpPr>
        <p:spPr>
          <a:xfrm>
            <a:off x="8610583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1" name="Retângulo 10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2" name="Retângulo 11"/>
          <p:cNvSpPr/>
          <p:nvPr userDrawn="1"/>
        </p:nvSpPr>
        <p:spPr>
          <a:xfrm>
            <a:off x="453574" y="2328006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2077829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9842" y="5102861"/>
            <a:ext cx="7367642" cy="67173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None/>
              <a:defRPr sz="15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4" name="Elipse 13"/>
          <p:cNvSpPr/>
          <p:nvPr userDrawn="1"/>
        </p:nvSpPr>
        <p:spPr>
          <a:xfrm flipV="1">
            <a:off x="8516542" y="2384079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23403" y="5056941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/>
              <a:t>TÍTULO DO SLIDE</a:t>
            </a:r>
            <a:endParaRPr lang="es-E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29842" y="2328009"/>
            <a:ext cx="3868340" cy="221585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/>
          </a:p>
        </p:txBody>
      </p:sp>
      <p:sp>
        <p:nvSpPr>
          <p:cNvPr id="10" name="Retângulo 9"/>
          <p:cNvSpPr/>
          <p:nvPr userDrawn="1"/>
        </p:nvSpPr>
        <p:spPr>
          <a:xfrm>
            <a:off x="8610583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1" name="Retângulo 10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2" name="Retângulo 11"/>
          <p:cNvSpPr/>
          <p:nvPr userDrawn="1"/>
        </p:nvSpPr>
        <p:spPr>
          <a:xfrm>
            <a:off x="453574" y="2328006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2823828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9842" y="5102861"/>
            <a:ext cx="7367642" cy="67173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None/>
              <a:defRPr sz="15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4" name="Elipse 13"/>
          <p:cNvSpPr/>
          <p:nvPr userDrawn="1"/>
        </p:nvSpPr>
        <p:spPr>
          <a:xfrm flipV="1">
            <a:off x="8516542" y="2384079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23403" y="5056941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/>
              <a:t>TÍTULO DO SLIDE</a:t>
            </a:r>
            <a:endParaRPr lang="es-E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29842" y="2328009"/>
            <a:ext cx="3868340" cy="221585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/>
          </a:p>
        </p:txBody>
      </p:sp>
      <p:sp>
        <p:nvSpPr>
          <p:cNvPr id="10" name="Retângulo 9"/>
          <p:cNvSpPr/>
          <p:nvPr userDrawn="1"/>
        </p:nvSpPr>
        <p:spPr>
          <a:xfrm>
            <a:off x="8610583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1" name="Retângulo 10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2" name="Retângulo 11"/>
          <p:cNvSpPr/>
          <p:nvPr userDrawn="1"/>
        </p:nvSpPr>
        <p:spPr>
          <a:xfrm>
            <a:off x="453574" y="2328006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877977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9842" y="5102861"/>
            <a:ext cx="7367642" cy="67173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None/>
              <a:defRPr sz="15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4" name="Elipse 13"/>
          <p:cNvSpPr/>
          <p:nvPr userDrawn="1"/>
        </p:nvSpPr>
        <p:spPr>
          <a:xfrm flipV="1">
            <a:off x="8516542" y="2384079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23403" y="5056941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/>
              <a:t>TÍTULO DO SLIDE</a:t>
            </a:r>
            <a:endParaRPr lang="es-E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29842" y="2328009"/>
            <a:ext cx="3868340" cy="221585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/>
          </a:p>
        </p:txBody>
      </p:sp>
      <p:sp>
        <p:nvSpPr>
          <p:cNvPr id="10" name="Retângulo 9"/>
          <p:cNvSpPr/>
          <p:nvPr userDrawn="1"/>
        </p:nvSpPr>
        <p:spPr>
          <a:xfrm>
            <a:off x="8610583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1" name="Retângulo 10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2" name="Retângulo 11"/>
          <p:cNvSpPr/>
          <p:nvPr userDrawn="1"/>
        </p:nvSpPr>
        <p:spPr>
          <a:xfrm>
            <a:off x="453574" y="2328006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154400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9842" y="5102861"/>
            <a:ext cx="7367642" cy="67173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None/>
              <a:defRPr sz="15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4" name="Elipse 13"/>
          <p:cNvSpPr/>
          <p:nvPr userDrawn="1"/>
        </p:nvSpPr>
        <p:spPr>
          <a:xfrm flipV="1">
            <a:off x="8516542" y="2384079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23403" y="5056941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/>
              <a:t>TÍTULO DO SLIDE</a:t>
            </a:r>
            <a:endParaRPr lang="es-E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29842" y="2328009"/>
            <a:ext cx="3868340" cy="221585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/>
          </a:p>
        </p:txBody>
      </p:sp>
      <p:sp>
        <p:nvSpPr>
          <p:cNvPr id="10" name="Retângulo 9"/>
          <p:cNvSpPr/>
          <p:nvPr userDrawn="1"/>
        </p:nvSpPr>
        <p:spPr>
          <a:xfrm>
            <a:off x="8610583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1" name="Retângulo 10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2" name="Retângulo 11"/>
          <p:cNvSpPr/>
          <p:nvPr userDrawn="1"/>
        </p:nvSpPr>
        <p:spPr>
          <a:xfrm>
            <a:off x="453574" y="2328006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34967159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9842" y="5102861"/>
            <a:ext cx="7367642" cy="67173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None/>
              <a:defRPr sz="15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4" name="Elipse 13"/>
          <p:cNvSpPr/>
          <p:nvPr userDrawn="1"/>
        </p:nvSpPr>
        <p:spPr>
          <a:xfrm flipV="1">
            <a:off x="8516542" y="2384079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23403" y="5056941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/>
              <a:t>TÍTULO DO SLIDE</a:t>
            </a:r>
            <a:endParaRPr lang="es-E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29842" y="2328009"/>
            <a:ext cx="3868340" cy="221585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/>
          </a:p>
        </p:txBody>
      </p:sp>
      <p:sp>
        <p:nvSpPr>
          <p:cNvPr id="10" name="Retângulo 9"/>
          <p:cNvSpPr/>
          <p:nvPr userDrawn="1"/>
        </p:nvSpPr>
        <p:spPr>
          <a:xfrm>
            <a:off x="8610583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1" name="Retângulo 10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2" name="Retângulo 11"/>
          <p:cNvSpPr/>
          <p:nvPr userDrawn="1"/>
        </p:nvSpPr>
        <p:spPr>
          <a:xfrm>
            <a:off x="453574" y="2328006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4006059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9842" y="5102861"/>
            <a:ext cx="7367642" cy="67173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None/>
              <a:defRPr sz="15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4" name="Elipse 13"/>
          <p:cNvSpPr/>
          <p:nvPr userDrawn="1"/>
        </p:nvSpPr>
        <p:spPr>
          <a:xfrm flipV="1">
            <a:off x="8516542" y="2384079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23403" y="5056941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/>
              <a:t>TÍTULO DO SLIDE</a:t>
            </a:r>
            <a:endParaRPr lang="es-E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29842" y="2328009"/>
            <a:ext cx="3868340" cy="221585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/>
          </a:p>
        </p:txBody>
      </p:sp>
      <p:sp>
        <p:nvSpPr>
          <p:cNvPr id="10" name="Retângulo 9"/>
          <p:cNvSpPr/>
          <p:nvPr userDrawn="1"/>
        </p:nvSpPr>
        <p:spPr>
          <a:xfrm>
            <a:off x="8610583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1" name="Retângulo 10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2" name="Retângulo 11"/>
          <p:cNvSpPr/>
          <p:nvPr userDrawn="1"/>
        </p:nvSpPr>
        <p:spPr>
          <a:xfrm>
            <a:off x="453574" y="2328006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21369104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9842" y="5102861"/>
            <a:ext cx="7367642" cy="67173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None/>
              <a:defRPr sz="15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4" name="Elipse 13"/>
          <p:cNvSpPr/>
          <p:nvPr userDrawn="1"/>
        </p:nvSpPr>
        <p:spPr>
          <a:xfrm flipV="1">
            <a:off x="8516542" y="2384079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23403" y="5056941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/>
              <a:t>TÍTULO DO SLIDE</a:t>
            </a:r>
            <a:endParaRPr lang="es-E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29842" y="2328009"/>
            <a:ext cx="3868340" cy="221585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/>
          </a:p>
        </p:txBody>
      </p:sp>
      <p:sp>
        <p:nvSpPr>
          <p:cNvPr id="10" name="Retângulo 9"/>
          <p:cNvSpPr/>
          <p:nvPr userDrawn="1"/>
        </p:nvSpPr>
        <p:spPr>
          <a:xfrm>
            <a:off x="8610583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1" name="Retângulo 10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2" name="Retângulo 11"/>
          <p:cNvSpPr/>
          <p:nvPr userDrawn="1"/>
        </p:nvSpPr>
        <p:spPr>
          <a:xfrm>
            <a:off x="453574" y="2328006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13375730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9842" y="5102861"/>
            <a:ext cx="7367642" cy="67173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None/>
              <a:defRPr sz="15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4" name="Elipse 13"/>
          <p:cNvSpPr/>
          <p:nvPr userDrawn="1"/>
        </p:nvSpPr>
        <p:spPr>
          <a:xfrm flipV="1">
            <a:off x="8516542" y="2384079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23403" y="5056941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/>
              <a:t>TÍTULO DO SLIDE</a:t>
            </a:r>
            <a:endParaRPr lang="es-E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29842" y="2328009"/>
            <a:ext cx="3868340" cy="221585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/>
          </a:p>
        </p:txBody>
      </p:sp>
      <p:sp>
        <p:nvSpPr>
          <p:cNvPr id="10" name="Retângulo 9"/>
          <p:cNvSpPr/>
          <p:nvPr userDrawn="1"/>
        </p:nvSpPr>
        <p:spPr>
          <a:xfrm>
            <a:off x="8610583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1" name="Retângulo 10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2" name="Retângulo 11"/>
          <p:cNvSpPr/>
          <p:nvPr userDrawn="1"/>
        </p:nvSpPr>
        <p:spPr>
          <a:xfrm>
            <a:off x="453574" y="2328006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26057047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9842" y="5102861"/>
            <a:ext cx="7367642" cy="67173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None/>
              <a:defRPr sz="15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4" name="Elipse 13"/>
          <p:cNvSpPr/>
          <p:nvPr userDrawn="1"/>
        </p:nvSpPr>
        <p:spPr>
          <a:xfrm flipV="1">
            <a:off x="8516542" y="2384079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23403" y="5056941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/>
              <a:t>TÍTULO DO SLIDE</a:t>
            </a:r>
            <a:endParaRPr lang="es-E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29842" y="2328009"/>
            <a:ext cx="3868340" cy="221585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/>
          </a:p>
        </p:txBody>
      </p:sp>
      <p:sp>
        <p:nvSpPr>
          <p:cNvPr id="10" name="Retângulo 9"/>
          <p:cNvSpPr/>
          <p:nvPr userDrawn="1"/>
        </p:nvSpPr>
        <p:spPr>
          <a:xfrm>
            <a:off x="8610583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1" name="Retângulo 10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2" name="Retângulo 11"/>
          <p:cNvSpPr/>
          <p:nvPr userDrawn="1"/>
        </p:nvSpPr>
        <p:spPr>
          <a:xfrm>
            <a:off x="453574" y="2328006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35024592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9842" y="5102861"/>
            <a:ext cx="7367642" cy="67173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2"/>
              </a:buClr>
              <a:buNone/>
              <a:defRPr sz="1500">
                <a:latin typeface="Lato" panose="020F0502020204030203" pitchFamily="34" charset="0"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4" name="Elipse 13"/>
          <p:cNvSpPr/>
          <p:nvPr userDrawn="1"/>
        </p:nvSpPr>
        <p:spPr>
          <a:xfrm flipV="1">
            <a:off x="8516542" y="2384079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3" name="Elipse 12"/>
          <p:cNvSpPr/>
          <p:nvPr userDrawn="1"/>
        </p:nvSpPr>
        <p:spPr>
          <a:xfrm flipV="1">
            <a:off x="123403" y="5056941"/>
            <a:ext cx="506438" cy="675250"/>
          </a:xfrm>
          <a:prstGeom prst="ellipse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pt-BR"/>
              <a:t>TÍTULO DO SLIDE</a:t>
            </a:r>
            <a:endParaRPr lang="es-E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29842" y="2328009"/>
            <a:ext cx="3868340" cy="221585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lang="fr-FR" b="0" i="0" smtClean="0">
                <a:effectLst/>
              </a:defRPr>
            </a:lvl1pPr>
          </a:lstStyle>
          <a:p>
            <a:pPr lvl="0"/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s-E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lvl="0"/>
            <a:r>
              <a:rPr lang="it-IT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molestie sed orci non condimentum.</a:t>
            </a:r>
          </a:p>
          <a:p>
            <a:pPr lvl="0"/>
            <a:r>
              <a:rPr lang="fr-FR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Donec eu ex eleifend, laoreet nisi sed, viverra nisi.</a:t>
            </a:r>
            <a:endParaRPr lang="es-ES"/>
          </a:p>
        </p:txBody>
      </p:sp>
      <p:sp>
        <p:nvSpPr>
          <p:cNvPr id="10" name="Retângulo 9"/>
          <p:cNvSpPr/>
          <p:nvPr userDrawn="1"/>
        </p:nvSpPr>
        <p:spPr>
          <a:xfrm>
            <a:off x="8610583" y="2328010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1" name="Retângulo 10"/>
          <p:cNvSpPr/>
          <p:nvPr userDrawn="1"/>
        </p:nvSpPr>
        <p:spPr>
          <a:xfrm>
            <a:off x="455442" y="448700"/>
            <a:ext cx="73856" cy="11346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2" name="Retângulo 11"/>
          <p:cNvSpPr/>
          <p:nvPr userDrawn="1"/>
        </p:nvSpPr>
        <p:spPr>
          <a:xfrm>
            <a:off x="453574" y="2328006"/>
            <a:ext cx="73856" cy="3446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200089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AC45A18-4FE0-924A-A23F-F01784EAA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D73AABF-BBA9-E54F-B8A4-2F11BC7954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2713" y="887413"/>
            <a:ext cx="8574087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404843A-E1F7-5544-B491-A2191F8311C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E5898BE-7E64-3449-9420-7FA38FBF1CC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C341F0B-32D6-DB4A-B77E-4F36558949C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6BFDB8A6-F0C4-2441-B925-5E39019E21CB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369F2145-3267-6F48-BD19-A3C00A20F8A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5413" y="808038"/>
            <a:ext cx="7861300" cy="47625"/>
          </a:xfrm>
          <a:prstGeom prst="rect">
            <a:avLst/>
          </a:prstGeom>
          <a:gradFill rotWithShape="0">
            <a:gsLst>
              <a:gs pos="0">
                <a:srgbClr val="6464BF"/>
              </a:gs>
              <a:gs pos="100000">
                <a:srgbClr val="00009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pt-BR" altLang="pt-BR"/>
          </a:p>
        </p:txBody>
      </p:sp>
      <p:pic>
        <p:nvPicPr>
          <p:cNvPr id="1032" name="Picture 9">
            <a:extLst>
              <a:ext uri="{FF2B5EF4-FFF2-40B4-BE49-F238E27FC236}">
                <a16:creationId xmlns:a16="http://schemas.microsoft.com/office/drawing/2014/main" id="{482143A0-135F-E640-B161-55AA82D799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63" y="0"/>
            <a:ext cx="1100137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9" r:id="rId13"/>
    <p:sldLayoutId id="2147483680" r:id="rId14"/>
    <p:sldLayoutId id="2147483682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4" r:id="rId2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dreasantos@gmail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tiff"/><Relationship Id="rId3" Type="http://schemas.openxmlformats.org/officeDocument/2006/relationships/image" Target="../media/image11.tiff"/><Relationship Id="rId7" Type="http://schemas.openxmlformats.org/officeDocument/2006/relationships/image" Target="../media/image15.tiff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4.tiff"/><Relationship Id="rId5" Type="http://schemas.openxmlformats.org/officeDocument/2006/relationships/image" Target="../media/image13.tiff"/><Relationship Id="rId4" Type="http://schemas.openxmlformats.org/officeDocument/2006/relationships/image" Target="../media/image12.tiff"/><Relationship Id="rId9" Type="http://schemas.openxmlformats.org/officeDocument/2006/relationships/image" Target="../media/image17.tif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file:////D:/users/bperkins/My%20Documents/MSC/VPD/Field%20Deliverables%20Master/Beetle%20Tests.AVI" TargetMode="External"/><Relationship Id="rId1" Type="http://schemas.microsoft.com/office/2007/relationships/media" Target="file:////D:/users/bperkins/My%20Documents/MSC/VPD/Field%20Deliverables%20Master/Beetle%20Tests.AVI" TargetMode="External"/><Relationship Id="rId6" Type="http://schemas.openxmlformats.org/officeDocument/2006/relationships/image" Target="../media/image20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ideo" Target="file:////D:/users/bperkins/My%20Documents/MSC/VPD/Field%20Deliverables%20Master/Beetle_MTS_testrig.avi" TargetMode="External"/><Relationship Id="rId13" Type="http://schemas.openxmlformats.org/officeDocument/2006/relationships/image" Target="../media/image24.png"/><Relationship Id="rId3" Type="http://schemas.microsoft.com/office/2007/relationships/media" Target="file:////D:/users/bperkins/My%20Documents/MSC/VPD/Field%20Deliverables%20Master/Beetle1.avi" TargetMode="External"/><Relationship Id="rId7" Type="http://schemas.microsoft.com/office/2007/relationships/media" Target="file:////D:/users/bperkins/My%20Documents/MSC/VPD/Field%20Deliverables%20Master/Beetle_MTS_testrig.avi" TargetMode="External"/><Relationship Id="rId12" Type="http://schemas.openxmlformats.org/officeDocument/2006/relationships/image" Target="../media/image23.jpeg"/><Relationship Id="rId2" Type="http://schemas.openxmlformats.org/officeDocument/2006/relationships/video" Target="file:////D:/users/bperkins/My%20Documents/MSC/VPD/Field%20Deliverables%20Master/wheel_envelope.avi" TargetMode="External"/><Relationship Id="rId1" Type="http://schemas.microsoft.com/office/2007/relationships/media" Target="file:////D:/users/bperkins/My%20Documents/MSC/VPD/Field%20Deliverables%20Master/wheel_envelope.avi" TargetMode="External"/><Relationship Id="rId6" Type="http://schemas.openxmlformats.org/officeDocument/2006/relationships/video" Target="file:////D:/users/bperkins/My%20Documents/MSC/VPD/Field%20Deliverables%20Master/Golf_sled_test.avi" TargetMode="External"/><Relationship Id="rId11" Type="http://schemas.openxmlformats.org/officeDocument/2006/relationships/image" Target="../media/image22.png"/><Relationship Id="rId5" Type="http://schemas.microsoft.com/office/2007/relationships/media" Target="file:////D:/users/bperkins/My%20Documents/MSC/VPD/Field%20Deliverables%20Master/Golf_sled_test.avi" TargetMode="External"/><Relationship Id="rId15" Type="http://schemas.openxmlformats.org/officeDocument/2006/relationships/image" Target="../media/image20.png"/><Relationship Id="rId10" Type="http://schemas.openxmlformats.org/officeDocument/2006/relationships/image" Target="../media/image21.png"/><Relationship Id="rId4" Type="http://schemas.openxmlformats.org/officeDocument/2006/relationships/video" Target="file:////D:/users/bperkins/My%20Documents/MSC/VPD/Field%20Deliverables%20Master/Beetle1.avi" TargetMode="External"/><Relationship Id="rId9" Type="http://schemas.openxmlformats.org/officeDocument/2006/relationships/slideLayout" Target="../slideLayouts/slideLayout7.xml"/><Relationship Id="rId1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rtemisinnovation.com/images/TRL_White_Paper_2004-Edited.pdf" TargetMode="Externa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erti.org.br/blog/captacao-de-recursos/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CaixaDeTexto 2">
            <a:extLst>
              <a:ext uri="{FF2B5EF4-FFF2-40B4-BE49-F238E27FC236}">
                <a16:creationId xmlns:a16="http://schemas.microsoft.com/office/drawing/2014/main" id="{E1CF3846-1113-A144-920F-004E4C605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163888"/>
            <a:ext cx="7540625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rgbClr val="002060"/>
                </a:solidFill>
              </a:rPr>
              <a:t>Prof. Andréa Cristina dos Santos, Dr. Eng.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2060"/>
                </a:solidFill>
                <a:hlinkClick r:id="rId2"/>
              </a:rPr>
              <a:t>andreasantos@unb.</a:t>
            </a:r>
            <a:r>
              <a:rPr lang="pt-BR" altLang="pt-BR">
                <a:solidFill>
                  <a:srgbClr val="002060"/>
                </a:solidFill>
              </a:rPr>
              <a:t>br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>
              <a:solidFill>
                <a:srgbClr val="00206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2060"/>
                </a:solidFill>
              </a:rPr>
              <a:t>Aula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2060"/>
                </a:solidFill>
              </a:rPr>
              <a:t>Projeto Conceitual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FF0000"/>
                </a:solidFill>
              </a:rPr>
              <a:t>Seleção de Concepções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FF0000"/>
                </a:solidFill>
              </a:rPr>
              <a:t> </a:t>
            </a:r>
            <a:endParaRPr lang="pt-BR" altLang="pt-BR">
              <a:solidFill>
                <a:srgbClr val="002060"/>
              </a:solidFill>
            </a:endParaRPr>
          </a:p>
        </p:txBody>
      </p:sp>
      <p:sp>
        <p:nvSpPr>
          <p:cNvPr id="16386" name="CaixaDeTexto 1">
            <a:extLst>
              <a:ext uri="{FF2B5EF4-FFF2-40B4-BE49-F238E27FC236}">
                <a16:creationId xmlns:a16="http://schemas.microsoft.com/office/drawing/2014/main" id="{9413DE5C-B586-DB4E-BED0-ED0FF110A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5" y="1016000"/>
            <a:ext cx="7575550" cy="18161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Universidade de Brasília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Faculdade de Tecnologia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Depart. de Engenharia de Produção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Disciplina Engenharia de Produto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>
            <a:extLst>
              <a:ext uri="{FF2B5EF4-FFF2-40B4-BE49-F238E27FC236}">
                <a16:creationId xmlns:a16="http://schemas.microsoft.com/office/drawing/2014/main" id="{3DB05008-E9BA-BD42-9AA2-206A61EAA8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Localização da fase de projeto conceitual</a:t>
            </a:r>
          </a:p>
        </p:txBody>
      </p:sp>
      <p:grpSp>
        <p:nvGrpSpPr>
          <p:cNvPr id="17410" name="Group 5">
            <a:extLst>
              <a:ext uri="{FF2B5EF4-FFF2-40B4-BE49-F238E27FC236}">
                <a16:creationId xmlns:a16="http://schemas.microsoft.com/office/drawing/2014/main" id="{910E7C8B-3F11-7448-85EA-A8BF39782671}"/>
              </a:ext>
            </a:extLst>
          </p:cNvPr>
          <p:cNvGrpSpPr>
            <a:grpSpLocks/>
          </p:cNvGrpSpPr>
          <p:nvPr/>
        </p:nvGrpSpPr>
        <p:grpSpPr bwMode="auto">
          <a:xfrm>
            <a:off x="0" y="1455738"/>
            <a:ext cx="9067800" cy="4576762"/>
            <a:chOff x="0" y="573"/>
            <a:chExt cx="5712" cy="2883"/>
          </a:xfrm>
        </p:grpSpPr>
        <p:sp>
          <p:nvSpPr>
            <p:cNvPr id="17463" name="Rectangle 6">
              <a:extLst>
                <a:ext uri="{FF2B5EF4-FFF2-40B4-BE49-F238E27FC236}">
                  <a16:creationId xmlns:a16="http://schemas.microsoft.com/office/drawing/2014/main" id="{DFC66C39-73F2-EC4C-A199-BC0A03144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277"/>
              <a:ext cx="4968" cy="17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b="1" i="1">
                  <a:solidFill>
                    <a:srgbClr val="000000"/>
                  </a:solidFill>
                </a:rPr>
                <a:t>Melhoria do processo de desenvolvimento de produtos</a:t>
              </a:r>
            </a:p>
          </p:txBody>
        </p:sp>
        <p:sp>
          <p:nvSpPr>
            <p:cNvPr id="17464" name="Rectangle 7">
              <a:extLst>
                <a:ext uri="{FF2B5EF4-FFF2-40B4-BE49-F238E27FC236}">
                  <a16:creationId xmlns:a16="http://schemas.microsoft.com/office/drawing/2014/main" id="{B989E31A-DE12-8E4D-B767-9155656F5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3048"/>
              <a:ext cx="3838" cy="17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b="1" i="1">
                  <a:solidFill>
                    <a:srgbClr val="000000"/>
                  </a:solidFill>
                </a:rPr>
                <a:t>Gerenciamento de mudanças de engenharia</a:t>
              </a:r>
            </a:p>
          </p:txBody>
        </p:sp>
        <p:sp>
          <p:nvSpPr>
            <p:cNvPr id="53256" name="Rectangle 8">
              <a:extLst>
                <a:ext uri="{FF2B5EF4-FFF2-40B4-BE49-F238E27FC236}">
                  <a16:creationId xmlns:a16="http://schemas.microsoft.com/office/drawing/2014/main" id="{B488C8EF-CB64-764D-B879-81C00AC76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014"/>
              <a:ext cx="768" cy="3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74997"/>
                </a:schemeClr>
              </a:outerShdw>
            </a:effectLst>
          </p:spPr>
          <p:txBody>
            <a:bodyPr wrap="none" lIns="72000" tIns="0" rIns="72000" bIns="0" anchor="ctr">
              <a:spAutoFit/>
            </a:bodyPr>
            <a:lstStyle/>
            <a:p>
              <a:pPr algn="ctr" eaLnBrk="1" hangingPunct="1">
                <a:defRPr/>
              </a:pPr>
              <a:r>
                <a:rPr lang="pt-BR" sz="1800">
                  <a:solidFill>
                    <a:schemeClr val="accent2"/>
                  </a:solidFill>
                  <a:latin typeface="Arial" charset="0"/>
                </a:rPr>
                <a:t>Processos</a:t>
              </a:r>
            </a:p>
            <a:p>
              <a:pPr algn="ctr" eaLnBrk="1" hangingPunct="1">
                <a:defRPr/>
              </a:pPr>
              <a:r>
                <a:rPr lang="pt-BR" sz="1800">
                  <a:solidFill>
                    <a:schemeClr val="accent2"/>
                  </a:solidFill>
                  <a:latin typeface="Arial" charset="0"/>
                </a:rPr>
                <a:t>de apoio</a:t>
              </a:r>
            </a:p>
          </p:txBody>
        </p:sp>
        <p:sp>
          <p:nvSpPr>
            <p:cNvPr id="17466" name="AutoShape 9">
              <a:extLst>
                <a:ext uri="{FF2B5EF4-FFF2-40B4-BE49-F238E27FC236}">
                  <a16:creationId xmlns:a16="http://schemas.microsoft.com/office/drawing/2014/main" id="{708282BC-D51C-9C4A-A0CC-18CCADC8F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17467" name="AutoShape 10">
              <a:extLst>
                <a:ext uri="{FF2B5EF4-FFF2-40B4-BE49-F238E27FC236}">
                  <a16:creationId xmlns:a16="http://schemas.microsoft.com/office/drawing/2014/main" id="{62FA1193-5F79-A04D-96D0-F44E1D931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17468" name="AutoShape 11">
              <a:extLst>
                <a:ext uri="{FF2B5EF4-FFF2-40B4-BE49-F238E27FC236}">
                  <a16:creationId xmlns:a16="http://schemas.microsoft.com/office/drawing/2014/main" id="{5E6C7B8B-A222-5C49-9450-2BA795404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17469" name="AutoShape 12">
              <a:extLst>
                <a:ext uri="{FF2B5EF4-FFF2-40B4-BE49-F238E27FC236}">
                  <a16:creationId xmlns:a16="http://schemas.microsoft.com/office/drawing/2014/main" id="{CFEDA5A6-90F8-614A-A4E0-6D6E2BDF8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grpSp>
          <p:nvGrpSpPr>
            <p:cNvPr id="17470" name="Group 13">
              <a:extLst>
                <a:ext uri="{FF2B5EF4-FFF2-40B4-BE49-F238E27FC236}">
                  <a16:creationId xmlns:a16="http://schemas.microsoft.com/office/drawing/2014/main" id="{097EE6C4-DBCC-0C47-942C-6D957F8407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573"/>
              <a:ext cx="5664" cy="2262"/>
              <a:chOff x="48" y="573"/>
              <a:chExt cx="5664" cy="2262"/>
            </a:xfrm>
          </p:grpSpPr>
          <p:grpSp>
            <p:nvGrpSpPr>
              <p:cNvPr id="17471" name="Group 14">
                <a:extLst>
                  <a:ext uri="{FF2B5EF4-FFF2-40B4-BE49-F238E27FC236}">
                    <a16:creationId xmlns:a16="http://schemas.microsoft.com/office/drawing/2014/main" id="{1F9EC7EB-65BB-344C-8D17-E98EE51828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" y="673"/>
                <a:ext cx="5664" cy="2162"/>
                <a:chOff x="48" y="673"/>
                <a:chExt cx="5664" cy="2162"/>
              </a:xfrm>
            </p:grpSpPr>
            <p:sp>
              <p:nvSpPr>
                <p:cNvPr id="17473" name="Rectangle 15">
                  <a:extLst>
                    <a:ext uri="{FF2B5EF4-FFF2-40B4-BE49-F238E27FC236}">
                      <a16:creationId xmlns:a16="http://schemas.microsoft.com/office/drawing/2014/main" id="{B1ADE934-4F6C-3C46-980C-0CDBDD132A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" y="673"/>
                  <a:ext cx="5664" cy="2162"/>
                </a:xfrm>
                <a:prstGeom prst="rect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72000" tIns="0" rIns="72000" bIns="0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2400"/>
                </a:p>
              </p:txBody>
            </p:sp>
            <p:sp>
              <p:nvSpPr>
                <p:cNvPr id="17474" name="Freeform 16">
                  <a:extLst>
                    <a:ext uri="{FF2B5EF4-FFF2-40B4-BE49-F238E27FC236}">
                      <a16:creationId xmlns:a16="http://schemas.microsoft.com/office/drawing/2014/main" id="{022A8F45-DEC3-E742-9B04-11CDDE9ED1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" y="1460"/>
                  <a:ext cx="4593" cy="1046"/>
                </a:xfrm>
                <a:custGeom>
                  <a:avLst/>
                  <a:gdLst>
                    <a:gd name="T0" fmla="*/ 771 w 4593"/>
                    <a:gd name="T1" fmla="*/ 20 h 1046"/>
                    <a:gd name="T2" fmla="*/ 0 w 4593"/>
                    <a:gd name="T3" fmla="*/ 1046 h 1046"/>
                    <a:gd name="T4" fmla="*/ 4593 w 4593"/>
                    <a:gd name="T5" fmla="*/ 1016 h 1046"/>
                    <a:gd name="T6" fmla="*/ 3302 w 4593"/>
                    <a:gd name="T7" fmla="*/ 0 h 10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93"/>
                    <a:gd name="T13" fmla="*/ 0 h 1046"/>
                    <a:gd name="T14" fmla="*/ 4593 w 4593"/>
                    <a:gd name="T15" fmla="*/ 1046 h 10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93" h="1046">
                      <a:moveTo>
                        <a:pt x="771" y="20"/>
                      </a:moveTo>
                      <a:lnTo>
                        <a:pt x="0" y="1046"/>
                      </a:lnTo>
                      <a:lnTo>
                        <a:pt x="4593" y="1016"/>
                      </a:lnTo>
                      <a:lnTo>
                        <a:pt x="330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99CCFF"/>
                    </a:gs>
                    <a:gs pos="100000">
                      <a:srgbClr val="FFCC99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72000" tIns="0" rIns="72000" bIns="0" anchor="ctr">
                  <a:spAutoFit/>
                </a:bodyPr>
                <a:lstStyle/>
                <a:p>
                  <a:endParaRPr lang="pt-BR"/>
                </a:p>
              </p:txBody>
            </p:sp>
            <p:grpSp>
              <p:nvGrpSpPr>
                <p:cNvPr id="17475" name="Group 17">
                  <a:extLst>
                    <a:ext uri="{FF2B5EF4-FFF2-40B4-BE49-F238E27FC236}">
                      <a16:creationId xmlns:a16="http://schemas.microsoft.com/office/drawing/2014/main" id="{ECC2AA9E-31FE-2C41-B9A6-A64F59697EF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11" y="1058"/>
                  <a:ext cx="2612" cy="188"/>
                  <a:chOff x="1411" y="1058"/>
                  <a:chExt cx="2612" cy="188"/>
                </a:xfrm>
              </p:grpSpPr>
              <p:sp>
                <p:nvSpPr>
                  <p:cNvPr id="17561" name="AutoShape 18">
                    <a:extLst>
                      <a:ext uri="{FF2B5EF4-FFF2-40B4-BE49-F238E27FC236}">
                        <a16:creationId xmlns:a16="http://schemas.microsoft.com/office/drawing/2014/main" id="{EF32853B-84EC-E244-AB5E-6E2D4B415D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11" y="1058"/>
                    <a:ext cx="2612" cy="188"/>
                  </a:xfrm>
                  <a:prstGeom prst="chevron">
                    <a:avLst>
                      <a:gd name="adj" fmla="val 43675"/>
                    </a:avLst>
                  </a:prstGeom>
                  <a:solidFill>
                    <a:srgbClr val="FFFF00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sp>
                <p:nvSpPr>
                  <p:cNvPr id="17562" name="Text Box 19">
                    <a:extLst>
                      <a:ext uri="{FF2B5EF4-FFF2-40B4-BE49-F238E27FC236}">
                        <a16:creationId xmlns:a16="http://schemas.microsoft.com/office/drawing/2014/main" id="{03BDF530-219C-9141-8B17-0752AF36AA8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4" y="1066"/>
                    <a:ext cx="1189" cy="173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Desenvolvimento</a:t>
                    </a:r>
                    <a:r>
                      <a:rPr lang="pt-BR" altLang="pt-BR" sz="1800" i="1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17476" name="Group 20">
                  <a:extLst>
                    <a:ext uri="{FF2B5EF4-FFF2-40B4-BE49-F238E27FC236}">
                      <a16:creationId xmlns:a16="http://schemas.microsoft.com/office/drawing/2014/main" id="{D601AEA1-0C57-9049-BCE3-833A8C64F2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86" y="2385"/>
                  <a:ext cx="4435" cy="342"/>
                  <a:chOff x="586" y="2385"/>
                  <a:chExt cx="4435" cy="342"/>
                </a:xfrm>
              </p:grpSpPr>
              <p:grpSp>
                <p:nvGrpSpPr>
                  <p:cNvPr id="17554" name="Group 21">
                    <a:extLst>
                      <a:ext uri="{FF2B5EF4-FFF2-40B4-BE49-F238E27FC236}">
                        <a16:creationId xmlns:a16="http://schemas.microsoft.com/office/drawing/2014/main" id="{C5C3B5A5-96EE-9046-BA1B-935E310B2B6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06" y="2394"/>
                    <a:ext cx="3615" cy="333"/>
                    <a:chOff x="1014" y="2394"/>
                    <a:chExt cx="3615" cy="333"/>
                  </a:xfrm>
                </p:grpSpPr>
                <p:sp>
                  <p:nvSpPr>
                    <p:cNvPr id="17556" name="AutoShape 22">
                      <a:extLst>
                        <a:ext uri="{FF2B5EF4-FFF2-40B4-BE49-F238E27FC236}">
                          <a16:creationId xmlns:a16="http://schemas.microsoft.com/office/drawing/2014/main" id="{56C200DC-9A56-2E4A-AE89-AFFB814986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1" y="2394"/>
                      <a:ext cx="690" cy="333"/>
                    </a:xfrm>
                    <a:prstGeom prst="chevron">
                      <a:avLst>
                        <a:gd name="adj" fmla="val 1972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Detalhado </a:t>
                      </a:r>
                    </a:p>
                  </p:txBody>
                </p:sp>
                <p:sp>
                  <p:nvSpPr>
                    <p:cNvPr id="17557" name="AutoShape 23">
                      <a:extLst>
                        <a:ext uri="{FF2B5EF4-FFF2-40B4-BE49-F238E27FC236}">
                          <a16:creationId xmlns:a16="http://schemas.microsoft.com/office/drawing/2014/main" id="{9008C7D2-70C6-D049-B291-2DA7AC38C6B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3" y="2394"/>
                      <a:ext cx="709" cy="333"/>
                    </a:xfrm>
                    <a:prstGeom prst="chevron">
                      <a:avLst>
                        <a:gd name="adj" fmla="val 1900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Conceitual </a:t>
                      </a:r>
                    </a:p>
                  </p:txBody>
                </p:sp>
                <p:sp>
                  <p:nvSpPr>
                    <p:cNvPr id="17558" name="AutoShape 24">
                      <a:extLst>
                        <a:ext uri="{FF2B5EF4-FFF2-40B4-BE49-F238E27FC236}">
                          <a16:creationId xmlns:a16="http://schemas.microsoft.com/office/drawing/2014/main" id="{6C7714AA-58C2-9A4F-BC9C-436DCF223E1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4" y="2394"/>
                      <a:ext cx="856" cy="333"/>
                    </a:xfrm>
                    <a:prstGeom prst="chevron">
                      <a:avLst>
                        <a:gd name="adj" fmla="val 2206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Informacional </a:t>
                      </a:r>
                    </a:p>
                  </p:txBody>
                </p:sp>
                <p:sp>
                  <p:nvSpPr>
                    <p:cNvPr id="17559" name="AutoShape 25">
                      <a:extLst>
                        <a:ext uri="{FF2B5EF4-FFF2-40B4-BE49-F238E27FC236}">
                          <a16:creationId xmlns:a16="http://schemas.microsoft.com/office/drawing/2014/main" id="{A56283C2-BB74-F14C-A73B-2677B035A3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64" y="2394"/>
                      <a:ext cx="765" cy="333"/>
                    </a:xfrm>
                    <a:prstGeom prst="chevron">
                      <a:avLst>
                        <a:gd name="adj" fmla="val 19782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Lançamento</a:t>
                      </a:r>
                    </a:p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do Produto</a:t>
                      </a:r>
                    </a:p>
                  </p:txBody>
                </p:sp>
                <p:sp>
                  <p:nvSpPr>
                    <p:cNvPr id="17560" name="AutoShape 26">
                      <a:extLst>
                        <a:ext uri="{FF2B5EF4-FFF2-40B4-BE49-F238E27FC236}">
                          <a16:creationId xmlns:a16="http://schemas.microsoft.com/office/drawing/2014/main" id="{6B53B3B4-0942-1C49-87CF-4AAD13C77FF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0" y="2394"/>
                      <a:ext cx="723" cy="333"/>
                    </a:xfrm>
                    <a:prstGeom prst="chevron">
                      <a:avLst>
                        <a:gd name="adj" fmla="val 1621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Preparação</a:t>
                      </a:r>
                    </a:p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Produção</a:t>
                      </a:r>
                    </a:p>
                  </p:txBody>
                </p:sp>
              </p:grpSp>
              <p:sp>
                <p:nvSpPr>
                  <p:cNvPr id="17555" name="AutoShape 27">
                    <a:extLst>
                      <a:ext uri="{FF2B5EF4-FFF2-40B4-BE49-F238E27FC236}">
                        <a16:creationId xmlns:a16="http://schemas.microsoft.com/office/drawing/2014/main" id="{0D0E4CEE-26EF-FF4E-9C88-E89D96C7C7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86" y="2385"/>
                    <a:ext cx="841" cy="333"/>
                  </a:xfrm>
                  <a:prstGeom prst="chevron">
                    <a:avLst>
                      <a:gd name="adj" fmla="val 24296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Planejamento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Projeto</a:t>
                    </a:r>
                  </a:p>
                </p:txBody>
              </p:sp>
            </p:grpSp>
            <p:grpSp>
              <p:nvGrpSpPr>
                <p:cNvPr id="17477" name="Group 28">
                  <a:extLst>
                    <a:ext uri="{FF2B5EF4-FFF2-40B4-BE49-F238E27FC236}">
                      <a16:creationId xmlns:a16="http://schemas.microsoft.com/office/drawing/2014/main" id="{95B63707-75DA-9A45-AA12-F6F3A42D5E8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09" y="1059"/>
                  <a:ext cx="1671" cy="188"/>
                  <a:chOff x="4009" y="1059"/>
                  <a:chExt cx="1671" cy="188"/>
                </a:xfrm>
              </p:grpSpPr>
              <p:sp>
                <p:nvSpPr>
                  <p:cNvPr id="17552" name="AutoShape 29">
                    <a:extLst>
                      <a:ext uri="{FF2B5EF4-FFF2-40B4-BE49-F238E27FC236}">
                        <a16:creationId xmlns:a16="http://schemas.microsoft.com/office/drawing/2014/main" id="{4313136F-697F-3C4D-974D-72296DB3C3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09" y="1059"/>
                    <a:ext cx="1671" cy="188"/>
                  </a:xfrm>
                  <a:prstGeom prst="chevron">
                    <a:avLst>
                      <a:gd name="adj" fmla="val 39421"/>
                    </a:avLst>
                  </a:prstGeom>
                  <a:solidFill>
                    <a:srgbClr val="FFCC99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sp>
                <p:nvSpPr>
                  <p:cNvPr id="17553" name="Text Box 30">
                    <a:extLst>
                      <a:ext uri="{FF2B5EF4-FFF2-40B4-BE49-F238E27FC236}">
                        <a16:creationId xmlns:a16="http://schemas.microsoft.com/office/drawing/2014/main" id="{FF08DDF3-BC31-8447-AD5E-B94EA0CDD82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82" y="1082"/>
                    <a:ext cx="324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Pós</a:t>
                    </a:r>
                  </a:p>
                </p:txBody>
              </p:sp>
            </p:grpSp>
            <p:sp>
              <p:nvSpPr>
                <p:cNvPr id="17478" name="Rectangle 31">
                  <a:extLst>
                    <a:ext uri="{FF2B5EF4-FFF2-40B4-BE49-F238E27FC236}">
                      <a16:creationId xmlns:a16="http://schemas.microsoft.com/office/drawing/2014/main" id="{D8AC4074-354E-C24F-8045-61DB78EA16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0" y="1112"/>
                  <a:ext cx="164" cy="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2000" tIns="0" rIns="72000" bIns="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2400"/>
                </a:p>
              </p:txBody>
            </p:sp>
            <p:cxnSp>
              <p:nvCxnSpPr>
                <p:cNvPr id="17479" name="AutoShape 32">
                  <a:extLst>
                    <a:ext uri="{FF2B5EF4-FFF2-40B4-BE49-F238E27FC236}">
                      <a16:creationId xmlns:a16="http://schemas.microsoft.com/office/drawing/2014/main" id="{88940C33-AB64-644A-8EC3-DD17E6435B7D}"/>
                    </a:ext>
                  </a:extLst>
                </p:cNvPr>
                <p:cNvCxnSpPr>
                  <a:cxnSpLocks noChangeShapeType="1"/>
                  <a:stCxn id="17552" idx="0"/>
                  <a:endCxn id="17550" idx="0"/>
                </p:cNvCxnSpPr>
                <p:nvPr/>
              </p:nvCxnSpPr>
              <p:spPr bwMode="auto">
                <a:xfrm rot="-5400000" flipH="1" flipV="1">
                  <a:off x="2773" y="-973"/>
                  <a:ext cx="1" cy="4066"/>
                </a:xfrm>
                <a:prstGeom prst="bentConnector3">
                  <a:avLst>
                    <a:gd name="adj1" fmla="val -14400005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17480" name="Group 33">
                  <a:extLst>
                    <a:ext uri="{FF2B5EF4-FFF2-40B4-BE49-F238E27FC236}">
                      <a16:creationId xmlns:a16="http://schemas.microsoft.com/office/drawing/2014/main" id="{93D5A513-B5F6-574A-AE5E-731A6F8DBF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8" y="1059"/>
                  <a:ext cx="1338" cy="187"/>
                  <a:chOff x="108" y="1059"/>
                  <a:chExt cx="1338" cy="187"/>
                </a:xfrm>
              </p:grpSpPr>
              <p:sp>
                <p:nvSpPr>
                  <p:cNvPr id="17550" name="AutoShape 34">
                    <a:extLst>
                      <a:ext uri="{FF2B5EF4-FFF2-40B4-BE49-F238E27FC236}">
                        <a16:creationId xmlns:a16="http://schemas.microsoft.com/office/drawing/2014/main" id="{A6BAB361-62AE-2E47-891F-70C00F93AB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" y="1059"/>
                    <a:ext cx="1338" cy="187"/>
                  </a:xfrm>
                  <a:prstGeom prst="homePlate">
                    <a:avLst>
                      <a:gd name="adj" fmla="val 38194"/>
                    </a:avLst>
                  </a:prstGeom>
                  <a:solidFill>
                    <a:srgbClr val="99CCFF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72000" tIns="0" rIns="72000" b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sp>
                <p:nvSpPr>
                  <p:cNvPr id="17551" name="Text Box 35">
                    <a:extLst>
                      <a:ext uri="{FF2B5EF4-FFF2-40B4-BE49-F238E27FC236}">
                        <a16:creationId xmlns:a16="http://schemas.microsoft.com/office/drawing/2014/main" id="{39CE231C-2390-2A43-A804-AD093277921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30" y="1082"/>
                    <a:ext cx="2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Pré</a:t>
                    </a:r>
                  </a:p>
                </p:txBody>
              </p:sp>
            </p:grpSp>
            <p:sp>
              <p:nvSpPr>
                <p:cNvPr id="17481" name="AutoShape 36">
                  <a:extLst>
                    <a:ext uri="{FF2B5EF4-FFF2-40B4-BE49-F238E27FC236}">
                      <a16:creationId xmlns:a16="http://schemas.microsoft.com/office/drawing/2014/main" id="{08F72276-94CE-6843-B05C-F8B01CEFD4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" y="1292"/>
                  <a:ext cx="841" cy="496"/>
                </a:xfrm>
                <a:prstGeom prst="chevron">
                  <a:avLst>
                    <a:gd name="adj" fmla="val 16108"/>
                  </a:avLst>
                </a:prstGeom>
                <a:solidFill>
                  <a:srgbClr val="99CCFF"/>
                </a:solidFill>
                <a:ln w="1117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400"/>
                    <a:t>Planejamento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400"/>
                    <a:t>Estratégico dos Produtos</a:t>
                  </a:r>
                </a:p>
              </p:txBody>
            </p:sp>
            <p:grpSp>
              <p:nvGrpSpPr>
                <p:cNvPr id="17482" name="Group 37">
                  <a:extLst>
                    <a:ext uri="{FF2B5EF4-FFF2-40B4-BE49-F238E27FC236}">
                      <a16:creationId xmlns:a16="http://schemas.microsoft.com/office/drawing/2014/main" id="{499A6BD1-2CF9-E149-BA28-AE2C0D5161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83" y="1280"/>
                  <a:ext cx="1809" cy="588"/>
                  <a:chOff x="3883" y="1280"/>
                  <a:chExt cx="1809" cy="588"/>
                </a:xfrm>
              </p:grpSpPr>
              <p:sp>
                <p:nvSpPr>
                  <p:cNvPr id="17544" name="AutoShape 38">
                    <a:extLst>
                      <a:ext uri="{FF2B5EF4-FFF2-40B4-BE49-F238E27FC236}">
                        <a16:creationId xmlns:a16="http://schemas.microsoft.com/office/drawing/2014/main" id="{4C60017D-3D2F-6A4D-B1E8-285EC891D4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83" y="1280"/>
                    <a:ext cx="792" cy="523"/>
                  </a:xfrm>
                  <a:prstGeom prst="chevron">
                    <a:avLst>
                      <a:gd name="adj" fmla="val 18221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sp>
                <p:nvSpPr>
                  <p:cNvPr id="17545" name="AutoShape 39">
                    <a:extLst>
                      <a:ext uri="{FF2B5EF4-FFF2-40B4-BE49-F238E27FC236}">
                        <a16:creationId xmlns:a16="http://schemas.microsoft.com/office/drawing/2014/main" id="{157707EA-AB85-4242-A20E-FBD0569A0D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75" y="128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sp>
                <p:nvSpPr>
                  <p:cNvPr id="17546" name="AutoShape 40">
                    <a:extLst>
                      <a:ext uri="{FF2B5EF4-FFF2-40B4-BE49-F238E27FC236}">
                        <a16:creationId xmlns:a16="http://schemas.microsoft.com/office/drawing/2014/main" id="{B2398FE3-AD6E-3348-9A93-65209C7C21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37" y="1320"/>
                    <a:ext cx="799" cy="523"/>
                  </a:xfrm>
                  <a:prstGeom prst="chevron">
                    <a:avLst>
                      <a:gd name="adj" fmla="val 18382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sp>
                <p:nvSpPr>
                  <p:cNvPr id="17547" name="AutoShape 41">
                    <a:extLst>
                      <a:ext uri="{FF2B5EF4-FFF2-40B4-BE49-F238E27FC236}">
                        <a16:creationId xmlns:a16="http://schemas.microsoft.com/office/drawing/2014/main" id="{84C4C448-1940-4F4E-B311-E9D45FE4F7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47" y="132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sp>
                <p:nvSpPr>
                  <p:cNvPr id="17548" name="AutoShape 42">
                    <a:extLst>
                      <a:ext uri="{FF2B5EF4-FFF2-40B4-BE49-F238E27FC236}">
                        <a16:creationId xmlns:a16="http://schemas.microsoft.com/office/drawing/2014/main" id="{4AC2FE85-AC9E-6F40-B0A2-4A616800B1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7" y="1345"/>
                    <a:ext cx="845" cy="523"/>
                  </a:xfrm>
                  <a:prstGeom prst="chevron">
                    <a:avLst>
                      <a:gd name="adj" fmla="val 1494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144000" tIns="0" rIns="72000" bIns="0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Descontinuar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Produto</a:t>
                    </a:r>
                  </a:p>
                </p:txBody>
              </p:sp>
              <p:sp>
                <p:nvSpPr>
                  <p:cNvPr id="17549" name="AutoShape 43">
                    <a:extLst>
                      <a:ext uri="{FF2B5EF4-FFF2-40B4-BE49-F238E27FC236}">
                        <a16:creationId xmlns:a16="http://schemas.microsoft.com/office/drawing/2014/main" id="{D9B39FAD-545C-3C44-813A-27823831D5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99" y="1345"/>
                    <a:ext cx="882" cy="523"/>
                  </a:xfrm>
                  <a:prstGeom prst="chevron">
                    <a:avLst>
                      <a:gd name="adj" fmla="val 14530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Acompanhar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Produto/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Processo</a:t>
                    </a:r>
                    <a:endParaRPr lang="pt-BR" altLang="pt-BR" sz="160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17483" name="Group 44">
                  <a:extLst>
                    <a:ext uri="{FF2B5EF4-FFF2-40B4-BE49-F238E27FC236}">
                      <a16:creationId xmlns:a16="http://schemas.microsoft.com/office/drawing/2014/main" id="{A970CA0F-606F-BA49-8D6A-18C9B569737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20" y="1272"/>
                  <a:ext cx="2268" cy="257"/>
                  <a:chOff x="1520" y="1272"/>
                  <a:chExt cx="2268" cy="257"/>
                </a:xfrm>
              </p:grpSpPr>
              <p:sp>
                <p:nvSpPr>
                  <p:cNvPr id="17539" name="AutoShape 45">
                    <a:extLst>
                      <a:ext uri="{FF2B5EF4-FFF2-40B4-BE49-F238E27FC236}">
                        <a16:creationId xmlns:a16="http://schemas.microsoft.com/office/drawing/2014/main" id="{4329D72E-77C3-6341-95DE-44DB62B787F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520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40" name="AutoShape 46">
                    <a:extLst>
                      <a:ext uri="{FF2B5EF4-FFF2-40B4-BE49-F238E27FC236}">
                        <a16:creationId xmlns:a16="http://schemas.microsoft.com/office/drawing/2014/main" id="{7FB8C106-709F-A84F-BB57-4BA63AE7A5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974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41" name="AutoShape 47">
                    <a:extLst>
                      <a:ext uri="{FF2B5EF4-FFF2-40B4-BE49-F238E27FC236}">
                        <a16:creationId xmlns:a16="http://schemas.microsoft.com/office/drawing/2014/main" id="{37135F5D-A8B8-2240-B810-E8D9FAEFE4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429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42" name="AutoShape 48">
                    <a:extLst>
                      <a:ext uri="{FF2B5EF4-FFF2-40B4-BE49-F238E27FC236}">
                        <a16:creationId xmlns:a16="http://schemas.microsoft.com/office/drawing/2014/main" id="{29C04BB0-1F2C-A94B-BCCF-8B7F0F4825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883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43" name="AutoShape 49">
                    <a:extLst>
                      <a:ext uri="{FF2B5EF4-FFF2-40B4-BE49-F238E27FC236}">
                        <a16:creationId xmlns:a16="http://schemas.microsoft.com/office/drawing/2014/main" id="{EC72C3D4-E98A-074E-BFA4-CD2EC9A0DC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338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</p:grpSp>
            <p:grpSp>
              <p:nvGrpSpPr>
                <p:cNvPr id="17484" name="Group 50">
                  <a:extLst>
                    <a:ext uri="{FF2B5EF4-FFF2-40B4-BE49-F238E27FC236}">
                      <a16:creationId xmlns:a16="http://schemas.microsoft.com/office/drawing/2014/main" id="{8F082054-EC7A-EC4C-B335-13D18674F1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16" y="1368"/>
                  <a:ext cx="2268" cy="257"/>
                  <a:chOff x="1616" y="1368"/>
                  <a:chExt cx="2268" cy="257"/>
                </a:xfrm>
              </p:grpSpPr>
              <p:sp>
                <p:nvSpPr>
                  <p:cNvPr id="17534" name="AutoShape 51">
                    <a:extLst>
                      <a:ext uri="{FF2B5EF4-FFF2-40B4-BE49-F238E27FC236}">
                        <a16:creationId xmlns:a16="http://schemas.microsoft.com/office/drawing/2014/main" id="{4F90CCEC-28F4-A64A-B522-C327AD585A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616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5" name="AutoShape 52">
                    <a:extLst>
                      <a:ext uri="{FF2B5EF4-FFF2-40B4-BE49-F238E27FC236}">
                        <a16:creationId xmlns:a16="http://schemas.microsoft.com/office/drawing/2014/main" id="{559037EB-DF0E-CB46-B967-3807346FB9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070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6" name="AutoShape 53">
                    <a:extLst>
                      <a:ext uri="{FF2B5EF4-FFF2-40B4-BE49-F238E27FC236}">
                        <a16:creationId xmlns:a16="http://schemas.microsoft.com/office/drawing/2014/main" id="{1BF01EA6-8CFA-3D45-8A5E-93F25530AD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525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7" name="AutoShape 54">
                    <a:extLst>
                      <a:ext uri="{FF2B5EF4-FFF2-40B4-BE49-F238E27FC236}">
                        <a16:creationId xmlns:a16="http://schemas.microsoft.com/office/drawing/2014/main" id="{9D179C04-4946-894F-A0A5-FFA7F01CFC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979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8" name="AutoShape 55">
                    <a:extLst>
                      <a:ext uri="{FF2B5EF4-FFF2-40B4-BE49-F238E27FC236}">
                        <a16:creationId xmlns:a16="http://schemas.microsoft.com/office/drawing/2014/main" id="{33EEE220-5CCC-5A49-B413-D377065790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434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</p:grpSp>
            <p:grpSp>
              <p:nvGrpSpPr>
                <p:cNvPr id="17485" name="Group 56">
                  <a:extLst>
                    <a:ext uri="{FF2B5EF4-FFF2-40B4-BE49-F238E27FC236}">
                      <a16:creationId xmlns:a16="http://schemas.microsoft.com/office/drawing/2014/main" id="{38AA0335-E2BA-AF44-A2D1-BEC136B56A9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12" y="1464"/>
                  <a:ext cx="2268" cy="257"/>
                  <a:chOff x="1712" y="1464"/>
                  <a:chExt cx="2268" cy="257"/>
                </a:xfrm>
              </p:grpSpPr>
              <p:sp>
                <p:nvSpPr>
                  <p:cNvPr id="17529" name="AutoShape 57">
                    <a:extLst>
                      <a:ext uri="{FF2B5EF4-FFF2-40B4-BE49-F238E27FC236}">
                        <a16:creationId xmlns:a16="http://schemas.microsoft.com/office/drawing/2014/main" id="{A2A367C4-AE23-5640-906D-E2CF0F90BE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712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0" name="AutoShape 58">
                    <a:extLst>
                      <a:ext uri="{FF2B5EF4-FFF2-40B4-BE49-F238E27FC236}">
                        <a16:creationId xmlns:a16="http://schemas.microsoft.com/office/drawing/2014/main" id="{5D9558FF-D50F-1E49-A026-B440A9A550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66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1" name="AutoShape 59">
                    <a:extLst>
                      <a:ext uri="{FF2B5EF4-FFF2-40B4-BE49-F238E27FC236}">
                        <a16:creationId xmlns:a16="http://schemas.microsoft.com/office/drawing/2014/main" id="{562B1EF8-F268-DB4E-B45C-6365A8E8229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621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2" name="AutoShape 60">
                    <a:extLst>
                      <a:ext uri="{FF2B5EF4-FFF2-40B4-BE49-F238E27FC236}">
                        <a16:creationId xmlns:a16="http://schemas.microsoft.com/office/drawing/2014/main" id="{E8E11805-76AA-8241-A632-1C22619D9B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5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3" name="AutoShape 61">
                    <a:extLst>
                      <a:ext uri="{FF2B5EF4-FFF2-40B4-BE49-F238E27FC236}">
                        <a16:creationId xmlns:a16="http://schemas.microsoft.com/office/drawing/2014/main" id="{9F2AE82C-C8F3-9A42-B25F-E9B35BBCD8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530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</p:grpSp>
            <p:grpSp>
              <p:nvGrpSpPr>
                <p:cNvPr id="17486" name="Group 62">
                  <a:extLst>
                    <a:ext uri="{FF2B5EF4-FFF2-40B4-BE49-F238E27FC236}">
                      <a16:creationId xmlns:a16="http://schemas.microsoft.com/office/drawing/2014/main" id="{D6188A2A-2904-3449-A12D-85BCBC652C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86" y="1298"/>
                  <a:ext cx="599" cy="423"/>
                  <a:chOff x="986" y="1298"/>
                  <a:chExt cx="599" cy="423"/>
                </a:xfrm>
              </p:grpSpPr>
              <p:sp>
                <p:nvSpPr>
                  <p:cNvPr id="17526" name="AutoShape 63">
                    <a:extLst>
                      <a:ext uri="{FF2B5EF4-FFF2-40B4-BE49-F238E27FC236}">
                        <a16:creationId xmlns:a16="http://schemas.microsoft.com/office/drawing/2014/main" id="{F3CC8675-67C1-3C47-9940-BF03835F70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6" y="1298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27" name="AutoShape 64">
                    <a:extLst>
                      <a:ext uri="{FF2B5EF4-FFF2-40B4-BE49-F238E27FC236}">
                        <a16:creationId xmlns:a16="http://schemas.microsoft.com/office/drawing/2014/main" id="{B2420598-B0FE-5244-A658-E77FE9E147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2" y="1394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28" name="AutoShape 65">
                    <a:extLst>
                      <a:ext uri="{FF2B5EF4-FFF2-40B4-BE49-F238E27FC236}">
                        <a16:creationId xmlns:a16="http://schemas.microsoft.com/office/drawing/2014/main" id="{D3D429C6-9C46-5049-BCA4-5ED229BFC4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8" y="1490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</p:grpSp>
            <p:grpSp>
              <p:nvGrpSpPr>
                <p:cNvPr id="17487" name="Group 66">
                  <a:extLst>
                    <a:ext uri="{FF2B5EF4-FFF2-40B4-BE49-F238E27FC236}">
                      <a16:creationId xmlns:a16="http://schemas.microsoft.com/office/drawing/2014/main" id="{1DD0BB37-AB8E-D44E-A550-C42F15C0BD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" y="1685"/>
                  <a:ext cx="3926" cy="489"/>
                  <a:chOff x="176" y="1685"/>
                  <a:chExt cx="3926" cy="489"/>
                </a:xfrm>
              </p:grpSpPr>
              <p:sp>
                <p:nvSpPr>
                  <p:cNvPr id="17488" name="Text Box 67">
                    <a:extLst>
                      <a:ext uri="{FF2B5EF4-FFF2-40B4-BE49-F238E27FC236}">
                        <a16:creationId xmlns:a16="http://schemas.microsoft.com/office/drawing/2014/main" id="{F0CCB1C4-706E-2E45-9A4B-BA48E5B6DD7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6" y="1968"/>
                    <a:ext cx="618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u="sng">
                        <a:solidFill>
                          <a:srgbClr val="000000"/>
                        </a:solidFill>
                      </a:rPr>
                      <a:t>Gates &gt;&gt;</a:t>
                    </a:r>
                  </a:p>
                </p:txBody>
              </p:sp>
              <p:grpSp>
                <p:nvGrpSpPr>
                  <p:cNvPr id="17489" name="Group 68">
                    <a:extLst>
                      <a:ext uri="{FF2B5EF4-FFF2-40B4-BE49-F238E27FC236}">
                        <a16:creationId xmlns:a16="http://schemas.microsoft.com/office/drawing/2014/main" id="{26820EAC-322F-EB4D-9C15-7F95D59EEBA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17524" name="AutoShape 69">
                      <a:extLst>
                        <a:ext uri="{FF2B5EF4-FFF2-40B4-BE49-F238E27FC236}">
                          <a16:creationId xmlns:a16="http://schemas.microsoft.com/office/drawing/2014/main" id="{8350A391-5A65-9A45-B7EF-3ED7F543716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  <p:sp>
                  <p:nvSpPr>
                    <p:cNvPr id="17525" name="Line 70">
                      <a:extLst>
                        <a:ext uri="{FF2B5EF4-FFF2-40B4-BE49-F238E27FC236}">
                          <a16:creationId xmlns:a16="http://schemas.microsoft.com/office/drawing/2014/main" id="{4D9DDEA8-3078-094C-A12E-B074C735543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17490" name="AutoShape 71">
                    <a:extLst>
                      <a:ext uri="{FF2B5EF4-FFF2-40B4-BE49-F238E27FC236}">
                        <a16:creationId xmlns:a16="http://schemas.microsoft.com/office/drawing/2014/main" id="{2BAB34B4-29A8-2642-A5CC-F1898D8679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1" y="1859"/>
                    <a:ext cx="3341" cy="315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72000" tIns="0" rIns="72000" b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grpSp>
                <p:nvGrpSpPr>
                  <p:cNvPr id="17491" name="Group 72">
                    <a:extLst>
                      <a:ext uri="{FF2B5EF4-FFF2-40B4-BE49-F238E27FC236}">
                        <a16:creationId xmlns:a16="http://schemas.microsoft.com/office/drawing/2014/main" id="{9F4685BE-6F5B-1649-BBC9-36647FB17F0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918" y="1795"/>
                    <a:ext cx="117" cy="299"/>
                    <a:chOff x="2088" y="1486"/>
                    <a:chExt cx="117" cy="299"/>
                  </a:xfrm>
                </p:grpSpPr>
                <p:sp>
                  <p:nvSpPr>
                    <p:cNvPr id="17522" name="AutoShape 73">
                      <a:extLst>
                        <a:ext uri="{FF2B5EF4-FFF2-40B4-BE49-F238E27FC236}">
                          <a16:creationId xmlns:a16="http://schemas.microsoft.com/office/drawing/2014/main" id="{C683BE8C-9111-1C4C-BAA0-FECED56663E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88" y="1614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  <p:sp>
                  <p:nvSpPr>
                    <p:cNvPr id="17523" name="Line 74">
                      <a:extLst>
                        <a:ext uri="{FF2B5EF4-FFF2-40B4-BE49-F238E27FC236}">
                          <a16:creationId xmlns:a16="http://schemas.microsoft.com/office/drawing/2014/main" id="{0E34AD36-D17A-8845-BF10-1852038524C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46" y="1486"/>
                      <a:ext cx="0" cy="13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17492" name="Group 75">
                    <a:extLst>
                      <a:ext uri="{FF2B5EF4-FFF2-40B4-BE49-F238E27FC236}">
                        <a16:creationId xmlns:a16="http://schemas.microsoft.com/office/drawing/2014/main" id="{71EACC67-320C-CC45-8E13-875E37FFD14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17520" name="AutoShape 76">
                      <a:extLst>
                        <a:ext uri="{FF2B5EF4-FFF2-40B4-BE49-F238E27FC236}">
                          <a16:creationId xmlns:a16="http://schemas.microsoft.com/office/drawing/2014/main" id="{A2ECC701-9124-5C4B-96A9-583BFFBB2B5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  <p:sp>
                  <p:nvSpPr>
                    <p:cNvPr id="17521" name="Line 77">
                      <a:extLst>
                        <a:ext uri="{FF2B5EF4-FFF2-40B4-BE49-F238E27FC236}">
                          <a16:creationId xmlns:a16="http://schemas.microsoft.com/office/drawing/2014/main" id="{7FE3EC82-744C-D24A-BF91-8B3E3947B6A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17493" name="Group 78">
                    <a:extLst>
                      <a:ext uri="{FF2B5EF4-FFF2-40B4-BE49-F238E27FC236}">
                        <a16:creationId xmlns:a16="http://schemas.microsoft.com/office/drawing/2014/main" id="{6F9E4BBA-8676-4342-A9E2-1F7B5D018FA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42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17518" name="AutoShape 79">
                      <a:extLst>
                        <a:ext uri="{FF2B5EF4-FFF2-40B4-BE49-F238E27FC236}">
                          <a16:creationId xmlns:a16="http://schemas.microsoft.com/office/drawing/2014/main" id="{4F5F777C-D726-A942-87AC-88948AEC601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  <p:sp>
                  <p:nvSpPr>
                    <p:cNvPr id="17519" name="Line 80">
                      <a:extLst>
                        <a:ext uri="{FF2B5EF4-FFF2-40B4-BE49-F238E27FC236}">
                          <a16:creationId xmlns:a16="http://schemas.microsoft.com/office/drawing/2014/main" id="{FFF675CC-0DEB-5C44-9388-C0867AE6644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17494" name="Group 81">
                    <a:extLst>
                      <a:ext uri="{FF2B5EF4-FFF2-40B4-BE49-F238E27FC236}">
                        <a16:creationId xmlns:a16="http://schemas.microsoft.com/office/drawing/2014/main" id="{AE70AAA5-D10D-1641-9500-5145DE65B85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26" y="1705"/>
                    <a:ext cx="117" cy="369"/>
                    <a:chOff x="1526" y="1705"/>
                    <a:chExt cx="117" cy="369"/>
                  </a:xfrm>
                </p:grpSpPr>
                <p:sp>
                  <p:nvSpPr>
                    <p:cNvPr id="17516" name="Line 82">
                      <a:extLst>
                        <a:ext uri="{FF2B5EF4-FFF2-40B4-BE49-F238E27FC236}">
                          <a16:creationId xmlns:a16="http://schemas.microsoft.com/office/drawing/2014/main" id="{16EB7CE8-AF14-8F48-9F11-E4446EA4A55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584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17" name="AutoShape 83">
                      <a:extLst>
                        <a:ext uri="{FF2B5EF4-FFF2-40B4-BE49-F238E27FC236}">
                          <a16:creationId xmlns:a16="http://schemas.microsoft.com/office/drawing/2014/main" id="{0DFB1A04-76E9-C341-9055-99026C5E107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26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  <p:grpSp>
                <p:nvGrpSpPr>
                  <p:cNvPr id="17495" name="Group 84">
                    <a:extLst>
                      <a:ext uri="{FF2B5EF4-FFF2-40B4-BE49-F238E27FC236}">
                        <a16:creationId xmlns:a16="http://schemas.microsoft.com/office/drawing/2014/main" id="{4B4AC7BD-76EB-114B-87D4-ABCA5E439F4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42" y="1705"/>
                    <a:ext cx="117" cy="369"/>
                    <a:chOff x="2542" y="1705"/>
                    <a:chExt cx="117" cy="369"/>
                  </a:xfrm>
                </p:grpSpPr>
                <p:sp>
                  <p:nvSpPr>
                    <p:cNvPr id="17514" name="Line 85">
                      <a:extLst>
                        <a:ext uri="{FF2B5EF4-FFF2-40B4-BE49-F238E27FC236}">
                          <a16:creationId xmlns:a16="http://schemas.microsoft.com/office/drawing/2014/main" id="{F593B3BA-D44D-ED4E-B6DB-C56E290E17F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60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15" name="AutoShape 86">
                      <a:extLst>
                        <a:ext uri="{FF2B5EF4-FFF2-40B4-BE49-F238E27FC236}">
                          <a16:creationId xmlns:a16="http://schemas.microsoft.com/office/drawing/2014/main" id="{D34334E7-7250-0347-A8AB-29D2F00DA87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42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  <p:grpSp>
                <p:nvGrpSpPr>
                  <p:cNvPr id="17496" name="Group 87">
                    <a:extLst>
                      <a:ext uri="{FF2B5EF4-FFF2-40B4-BE49-F238E27FC236}">
                        <a16:creationId xmlns:a16="http://schemas.microsoft.com/office/drawing/2014/main" id="{F6B8E4CA-C88A-9047-8AA1-B9CBDF8AF57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66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7512" name="Line 88">
                      <a:extLst>
                        <a:ext uri="{FF2B5EF4-FFF2-40B4-BE49-F238E27FC236}">
                          <a16:creationId xmlns:a16="http://schemas.microsoft.com/office/drawing/2014/main" id="{275D0C13-9458-454C-BB70-09EC82F067A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13" name="AutoShape 89">
                      <a:extLst>
                        <a:ext uri="{FF2B5EF4-FFF2-40B4-BE49-F238E27FC236}">
                          <a16:creationId xmlns:a16="http://schemas.microsoft.com/office/drawing/2014/main" id="{D2068F4C-569D-E548-84E9-8FD85D3E674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  <p:grpSp>
                <p:nvGrpSpPr>
                  <p:cNvPr id="17497" name="Group 90">
                    <a:extLst>
                      <a:ext uri="{FF2B5EF4-FFF2-40B4-BE49-F238E27FC236}">
                        <a16:creationId xmlns:a16="http://schemas.microsoft.com/office/drawing/2014/main" id="{F817F026-9B17-DA46-BCAD-2CA81401686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38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7510" name="Line 91">
                      <a:extLst>
                        <a:ext uri="{FF2B5EF4-FFF2-40B4-BE49-F238E27FC236}">
                          <a16:creationId xmlns:a16="http://schemas.microsoft.com/office/drawing/2014/main" id="{4074A770-6AED-B644-98FA-B63D6EA71CF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11" name="AutoShape 92">
                      <a:extLst>
                        <a:ext uri="{FF2B5EF4-FFF2-40B4-BE49-F238E27FC236}">
                          <a16:creationId xmlns:a16="http://schemas.microsoft.com/office/drawing/2014/main" id="{16960072-6D1C-1B41-867D-60C7C093F7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  <p:grpSp>
                <p:nvGrpSpPr>
                  <p:cNvPr id="17498" name="Group 93">
                    <a:extLst>
                      <a:ext uri="{FF2B5EF4-FFF2-40B4-BE49-F238E27FC236}">
                        <a16:creationId xmlns:a16="http://schemas.microsoft.com/office/drawing/2014/main" id="{69A2FD32-0EAD-2F4F-A663-00963FD8600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99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7508" name="Line 94">
                      <a:extLst>
                        <a:ext uri="{FF2B5EF4-FFF2-40B4-BE49-F238E27FC236}">
                          <a16:creationId xmlns:a16="http://schemas.microsoft.com/office/drawing/2014/main" id="{F86E9B25-7924-664E-B661-E885E7CEB62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09" name="AutoShape 95">
                      <a:extLst>
                        <a:ext uri="{FF2B5EF4-FFF2-40B4-BE49-F238E27FC236}">
                          <a16:creationId xmlns:a16="http://schemas.microsoft.com/office/drawing/2014/main" id="{4C96A651-B0E1-EC47-BFE5-FA491E061BC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  <p:grpSp>
                <p:nvGrpSpPr>
                  <p:cNvPr id="17499" name="Group 96">
                    <a:extLst>
                      <a:ext uri="{FF2B5EF4-FFF2-40B4-BE49-F238E27FC236}">
                        <a16:creationId xmlns:a16="http://schemas.microsoft.com/office/drawing/2014/main" id="{A8E29D07-ED72-DB40-A194-6F7DBEC74F2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3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7506" name="Line 97">
                      <a:extLst>
                        <a:ext uri="{FF2B5EF4-FFF2-40B4-BE49-F238E27FC236}">
                          <a16:creationId xmlns:a16="http://schemas.microsoft.com/office/drawing/2014/main" id="{7CF350C6-2B69-F545-80DE-DCB567561E2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07" name="AutoShape 98">
                      <a:extLst>
                        <a:ext uri="{FF2B5EF4-FFF2-40B4-BE49-F238E27FC236}">
                          <a16:creationId xmlns:a16="http://schemas.microsoft.com/office/drawing/2014/main" id="{F6F9C204-4ED3-D94A-8D12-7C47B27ED57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  <p:grpSp>
                <p:nvGrpSpPr>
                  <p:cNvPr id="17500" name="Group 99">
                    <a:extLst>
                      <a:ext uri="{FF2B5EF4-FFF2-40B4-BE49-F238E27FC236}">
                        <a16:creationId xmlns:a16="http://schemas.microsoft.com/office/drawing/2014/main" id="{25294913-AE27-E246-A3FE-2B6B9E512AA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22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7504" name="Line 100">
                      <a:extLst>
                        <a:ext uri="{FF2B5EF4-FFF2-40B4-BE49-F238E27FC236}">
                          <a16:creationId xmlns:a16="http://schemas.microsoft.com/office/drawing/2014/main" id="{17A82F58-9E9B-7A4E-8D1F-A5E1E1CDDC5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05" name="AutoShape 101">
                      <a:extLst>
                        <a:ext uri="{FF2B5EF4-FFF2-40B4-BE49-F238E27FC236}">
                          <a16:creationId xmlns:a16="http://schemas.microsoft.com/office/drawing/2014/main" id="{CFCE6C3B-21C1-E748-BF1C-0C5D59304F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  <p:grpSp>
                <p:nvGrpSpPr>
                  <p:cNvPr id="17501" name="Group 102">
                    <a:extLst>
                      <a:ext uri="{FF2B5EF4-FFF2-40B4-BE49-F238E27FC236}">
                        <a16:creationId xmlns:a16="http://schemas.microsoft.com/office/drawing/2014/main" id="{22920540-6F89-644A-BDC4-2F66CF93784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53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7502" name="Line 103">
                      <a:extLst>
                        <a:ext uri="{FF2B5EF4-FFF2-40B4-BE49-F238E27FC236}">
                          <a16:creationId xmlns:a16="http://schemas.microsoft.com/office/drawing/2014/main" id="{C52CECB3-9E78-4A4F-BE08-3B62C049862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03" name="AutoShape 104">
                      <a:extLst>
                        <a:ext uri="{FF2B5EF4-FFF2-40B4-BE49-F238E27FC236}">
                          <a16:creationId xmlns:a16="http://schemas.microsoft.com/office/drawing/2014/main" id="{04274B75-1C05-D14F-AD74-40A85EB9996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</p:grpSp>
          </p:grpSp>
          <p:sp>
            <p:nvSpPr>
              <p:cNvPr id="17472" name="Rectangle 105">
                <a:extLst>
                  <a:ext uri="{FF2B5EF4-FFF2-40B4-BE49-F238E27FC236}">
                    <a16:creationId xmlns:a16="http://schemas.microsoft.com/office/drawing/2014/main" id="{40361337-D436-544E-AB1A-B5F769FAF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573"/>
                <a:ext cx="3912" cy="202"/>
              </a:xfrm>
              <a:prstGeom prst="rect">
                <a:avLst/>
              </a:prstGeom>
              <a:solidFill>
                <a:srgbClr val="CCFFCC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277800" prstMaterial="legacyMatte">
                <a:bevelT w="13500" h="13500" prst="angle"/>
                <a:bevelB w="13500" h="13500" prst="angle"/>
                <a:extrusionClr>
                  <a:srgbClr val="CCFFCC"/>
                </a:extrusionClr>
                <a:contourClr>
                  <a:srgbClr val="CCFFCC"/>
                </a:contourClr>
              </a:sp3d>
            </p:spPr>
            <p:txBody>
              <a:bodyPr lIns="72000" tIns="0" rIns="72000" bIns="0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 b="1" i="1">
                    <a:solidFill>
                      <a:srgbClr val="000000"/>
                    </a:solidFill>
                  </a:rPr>
                  <a:t>Processo de Desenvolvimento de Produto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28" name="Group 106">
            <a:extLst>
              <a:ext uri="{FF2B5EF4-FFF2-40B4-BE49-F238E27FC236}">
                <a16:creationId xmlns:a16="http://schemas.microsoft.com/office/drawing/2014/main" id="{00C0231B-CE47-E742-8BB5-1057C4D1E4CA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3889375" y="2933700"/>
            <a:ext cx="1554163" cy="2862263"/>
            <a:chOff x="2181" y="1183"/>
            <a:chExt cx="1419" cy="1966"/>
          </a:xfrm>
        </p:grpSpPr>
        <p:grpSp>
          <p:nvGrpSpPr>
            <p:cNvPr id="17412" name="Group 107">
              <a:extLst>
                <a:ext uri="{FF2B5EF4-FFF2-40B4-BE49-F238E27FC236}">
                  <a16:creationId xmlns:a16="http://schemas.microsoft.com/office/drawing/2014/main" id="{CBB4A63D-7637-EB4D-AD31-35CC4DD141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17449" name="Group 108">
                <a:extLst>
                  <a:ext uri="{FF2B5EF4-FFF2-40B4-BE49-F238E27FC236}">
                    <a16:creationId xmlns:a16="http://schemas.microsoft.com/office/drawing/2014/main" id="{BCE9C35F-76AD-864A-8AB4-42C0C062BF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17455" name="Group 109">
                  <a:extLst>
                    <a:ext uri="{FF2B5EF4-FFF2-40B4-BE49-F238E27FC236}">
                      <a16:creationId xmlns:a16="http://schemas.microsoft.com/office/drawing/2014/main" id="{06AEB0B2-4B85-3D4A-99DD-AB0F7C33DA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17461" name="Freeform 110">
                    <a:extLst>
                      <a:ext uri="{FF2B5EF4-FFF2-40B4-BE49-F238E27FC236}">
                        <a16:creationId xmlns:a16="http://schemas.microsoft.com/office/drawing/2014/main" id="{49C10EDD-7690-2840-B3FC-34E43125EE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62" name="Freeform 111">
                    <a:extLst>
                      <a:ext uri="{FF2B5EF4-FFF2-40B4-BE49-F238E27FC236}">
                        <a16:creationId xmlns:a16="http://schemas.microsoft.com/office/drawing/2014/main" id="{62A0333E-474A-6C40-A03D-CC6B8AADB7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7456" name="Group 112">
                  <a:extLst>
                    <a:ext uri="{FF2B5EF4-FFF2-40B4-BE49-F238E27FC236}">
                      <a16:creationId xmlns:a16="http://schemas.microsoft.com/office/drawing/2014/main" id="{66A8D108-DFFF-4943-9111-FBE866C4E8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17457" name="Freeform 113">
                    <a:extLst>
                      <a:ext uri="{FF2B5EF4-FFF2-40B4-BE49-F238E27FC236}">
                        <a16:creationId xmlns:a16="http://schemas.microsoft.com/office/drawing/2014/main" id="{654B06B6-B7FA-5247-B861-D179037BDA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58" name="Freeform 114">
                    <a:extLst>
                      <a:ext uri="{FF2B5EF4-FFF2-40B4-BE49-F238E27FC236}">
                        <a16:creationId xmlns:a16="http://schemas.microsoft.com/office/drawing/2014/main" id="{3B871191-E4FC-534A-A55E-63EA08FD6A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59" name="Freeform 115">
                    <a:extLst>
                      <a:ext uri="{FF2B5EF4-FFF2-40B4-BE49-F238E27FC236}">
                        <a16:creationId xmlns:a16="http://schemas.microsoft.com/office/drawing/2014/main" id="{AA64FF45-D8C6-B046-A764-03C60C2A02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60" name="Freeform 116">
                    <a:extLst>
                      <a:ext uri="{FF2B5EF4-FFF2-40B4-BE49-F238E27FC236}">
                        <a16:creationId xmlns:a16="http://schemas.microsoft.com/office/drawing/2014/main" id="{D15CD927-F38A-B24B-BA17-34ED004E210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17450" name="Oval 117">
                <a:extLst>
                  <a:ext uri="{FF2B5EF4-FFF2-40B4-BE49-F238E27FC236}">
                    <a16:creationId xmlns:a16="http://schemas.microsoft.com/office/drawing/2014/main" id="{47D1AA3F-70D8-C241-A834-62EB05914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2400"/>
              </a:p>
            </p:txBody>
          </p:sp>
          <p:grpSp>
            <p:nvGrpSpPr>
              <p:cNvPr id="17451" name="Group 118">
                <a:extLst>
                  <a:ext uri="{FF2B5EF4-FFF2-40B4-BE49-F238E27FC236}">
                    <a16:creationId xmlns:a16="http://schemas.microsoft.com/office/drawing/2014/main" id="{D1268F7B-529E-7C4F-87E9-54E108EAEA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17452" name="Oval 119">
                  <a:extLst>
                    <a:ext uri="{FF2B5EF4-FFF2-40B4-BE49-F238E27FC236}">
                      <a16:creationId xmlns:a16="http://schemas.microsoft.com/office/drawing/2014/main" id="{1283E218-DD07-5A4D-8205-40A02B3E6A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2400"/>
                </a:p>
              </p:txBody>
            </p:sp>
            <p:sp>
              <p:nvSpPr>
                <p:cNvPr id="17453" name="Oval 120">
                  <a:extLst>
                    <a:ext uri="{FF2B5EF4-FFF2-40B4-BE49-F238E27FC236}">
                      <a16:creationId xmlns:a16="http://schemas.microsoft.com/office/drawing/2014/main" id="{12240E61-DD9F-8444-95C6-205899D2C3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2400"/>
                </a:p>
              </p:txBody>
            </p:sp>
            <p:sp>
              <p:nvSpPr>
                <p:cNvPr id="17454" name="Oval 121">
                  <a:extLst>
                    <a:ext uri="{FF2B5EF4-FFF2-40B4-BE49-F238E27FC236}">
                      <a16:creationId xmlns:a16="http://schemas.microsoft.com/office/drawing/2014/main" id="{0E9B85DB-9969-6645-8720-4C4E9B26AE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2400"/>
                </a:p>
              </p:txBody>
            </p:sp>
          </p:grpSp>
        </p:grpSp>
        <p:grpSp>
          <p:nvGrpSpPr>
            <p:cNvPr id="17413" name="Group 122">
              <a:extLst>
                <a:ext uri="{FF2B5EF4-FFF2-40B4-BE49-F238E27FC236}">
                  <a16:creationId xmlns:a16="http://schemas.microsoft.com/office/drawing/2014/main" id="{D64AB463-AE1C-B34D-94FD-ED1CE57ECD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17414" name="Freeform 123">
                <a:extLst>
                  <a:ext uri="{FF2B5EF4-FFF2-40B4-BE49-F238E27FC236}">
                    <a16:creationId xmlns:a16="http://schemas.microsoft.com/office/drawing/2014/main" id="{22FA9099-C39F-2543-9D03-DFD8F8929A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5" name="Arc 124">
                <a:extLst>
                  <a:ext uri="{FF2B5EF4-FFF2-40B4-BE49-F238E27FC236}">
                    <a16:creationId xmlns:a16="http://schemas.microsoft.com/office/drawing/2014/main" id="{70351F19-35E7-9043-BDF9-64120BA4A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lnTo>
                      <a:pt x="877" y="27692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6" name="Arc 125">
                <a:extLst>
                  <a:ext uri="{FF2B5EF4-FFF2-40B4-BE49-F238E27FC236}">
                    <a16:creationId xmlns:a16="http://schemas.microsoft.com/office/drawing/2014/main" id="{ED1E98D5-3975-1B44-B7E2-F77C7E33D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lnTo>
                      <a:pt x="138" y="24038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7" name="Freeform 126">
                <a:extLst>
                  <a:ext uri="{FF2B5EF4-FFF2-40B4-BE49-F238E27FC236}">
                    <a16:creationId xmlns:a16="http://schemas.microsoft.com/office/drawing/2014/main" id="{CA76A8C9-93A3-D744-BC8F-86E6E1D06B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8" name="Arc 127">
                <a:extLst>
                  <a:ext uri="{FF2B5EF4-FFF2-40B4-BE49-F238E27FC236}">
                    <a16:creationId xmlns:a16="http://schemas.microsoft.com/office/drawing/2014/main" id="{0366F56B-585D-C441-B4A6-28F8BB28B8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lnTo>
                      <a:pt x="806" y="2609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9" name="Arc 128">
                <a:extLst>
                  <a:ext uri="{FF2B5EF4-FFF2-40B4-BE49-F238E27FC236}">
                    <a16:creationId xmlns:a16="http://schemas.microsoft.com/office/drawing/2014/main" id="{A1BD82E4-8549-AE4C-93F8-20103C458E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lnTo>
                      <a:pt x="729" y="27167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7420" name="Group 129">
                <a:extLst>
                  <a:ext uri="{FF2B5EF4-FFF2-40B4-BE49-F238E27FC236}">
                    <a16:creationId xmlns:a16="http://schemas.microsoft.com/office/drawing/2014/main" id="{1FDA2DA8-F06C-AE4F-9519-D288E9E593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17444" name="Group 130">
                  <a:extLst>
                    <a:ext uri="{FF2B5EF4-FFF2-40B4-BE49-F238E27FC236}">
                      <a16:creationId xmlns:a16="http://schemas.microsoft.com/office/drawing/2014/main" id="{2330664A-D122-F84A-99A3-DE01138CCC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17446" name="Arc 131">
                    <a:extLst>
                      <a:ext uri="{FF2B5EF4-FFF2-40B4-BE49-F238E27FC236}">
                        <a16:creationId xmlns:a16="http://schemas.microsoft.com/office/drawing/2014/main" id="{4867444F-73F7-D44C-9183-19C26DC4A1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47" name="Arc 132">
                    <a:extLst>
                      <a:ext uri="{FF2B5EF4-FFF2-40B4-BE49-F238E27FC236}">
                        <a16:creationId xmlns:a16="http://schemas.microsoft.com/office/drawing/2014/main" id="{7B25C255-263C-114E-91AA-939B591986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531" y="2365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48" name="Arc 133">
                    <a:extLst>
                      <a:ext uri="{FF2B5EF4-FFF2-40B4-BE49-F238E27FC236}">
                        <a16:creationId xmlns:a16="http://schemas.microsoft.com/office/drawing/2014/main" id="{896A4F9D-B355-4A48-B29F-4575A32C8A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lnTo>
                          <a:pt x="602" y="26668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7445" name="Arc 134">
                  <a:extLst>
                    <a:ext uri="{FF2B5EF4-FFF2-40B4-BE49-F238E27FC236}">
                      <a16:creationId xmlns:a16="http://schemas.microsoft.com/office/drawing/2014/main" id="{91C4D284-B87C-C047-8A8D-65BC1D5BA9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1" name="Group 135">
                <a:extLst>
                  <a:ext uri="{FF2B5EF4-FFF2-40B4-BE49-F238E27FC236}">
                    <a16:creationId xmlns:a16="http://schemas.microsoft.com/office/drawing/2014/main" id="{1FB35632-8724-8E4D-842E-D74A1130B2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17439" name="Group 136">
                  <a:extLst>
                    <a:ext uri="{FF2B5EF4-FFF2-40B4-BE49-F238E27FC236}">
                      <a16:creationId xmlns:a16="http://schemas.microsoft.com/office/drawing/2014/main" id="{57833B2F-F549-5F4F-B7C6-12533E8358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17441" name="Arc 137">
                    <a:extLst>
                      <a:ext uri="{FF2B5EF4-FFF2-40B4-BE49-F238E27FC236}">
                        <a16:creationId xmlns:a16="http://schemas.microsoft.com/office/drawing/2014/main" id="{EBCA0822-1A8E-9045-B41B-D06F63D0CB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lnTo>
                          <a:pt x="475" y="26108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42" name="Arc 138">
                    <a:extLst>
                      <a:ext uri="{FF2B5EF4-FFF2-40B4-BE49-F238E27FC236}">
                        <a16:creationId xmlns:a16="http://schemas.microsoft.com/office/drawing/2014/main" id="{FF61238B-ECB5-FE43-ADBF-4F609C1E9F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475" y="23399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43" name="Arc 139">
                    <a:extLst>
                      <a:ext uri="{FF2B5EF4-FFF2-40B4-BE49-F238E27FC236}">
                        <a16:creationId xmlns:a16="http://schemas.microsoft.com/office/drawing/2014/main" id="{5441A387-3FB7-D948-83BD-FED37B2C0B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7440" name="Arc 140">
                  <a:extLst>
                    <a:ext uri="{FF2B5EF4-FFF2-40B4-BE49-F238E27FC236}">
                      <a16:creationId xmlns:a16="http://schemas.microsoft.com/office/drawing/2014/main" id="{AB9E8F74-E239-0F4E-B946-8B6C6846B4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lnTo>
                        <a:pt x="531" y="2636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2" name="Group 141">
                <a:extLst>
                  <a:ext uri="{FF2B5EF4-FFF2-40B4-BE49-F238E27FC236}">
                    <a16:creationId xmlns:a16="http://schemas.microsoft.com/office/drawing/2014/main" id="{A942FDA5-6D52-5A41-8E24-F5B7F8EF54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17437" name="Arc 142">
                  <a:extLst>
                    <a:ext uri="{FF2B5EF4-FFF2-40B4-BE49-F238E27FC236}">
                      <a16:creationId xmlns:a16="http://schemas.microsoft.com/office/drawing/2014/main" id="{864F886A-2734-5D4C-BAAA-58CC224752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7438" name="Arc 143">
                  <a:extLst>
                    <a:ext uri="{FF2B5EF4-FFF2-40B4-BE49-F238E27FC236}">
                      <a16:creationId xmlns:a16="http://schemas.microsoft.com/office/drawing/2014/main" id="{3312C8DA-B572-3344-A8B3-933EB35DF3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lnTo>
                        <a:pt x="423" y="23144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3" name="Group 144">
                <a:extLst>
                  <a:ext uri="{FF2B5EF4-FFF2-40B4-BE49-F238E27FC236}">
                    <a16:creationId xmlns:a16="http://schemas.microsoft.com/office/drawing/2014/main" id="{47A17E2A-9E6A-2840-ADBF-97418DF962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17435" name="Arc 145">
                  <a:extLst>
                    <a:ext uri="{FF2B5EF4-FFF2-40B4-BE49-F238E27FC236}">
                      <a16:creationId xmlns:a16="http://schemas.microsoft.com/office/drawing/2014/main" id="{9990AF28-7F9A-CC44-B13E-6F620456B4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7436" name="Arc 146">
                  <a:extLst>
                    <a:ext uri="{FF2B5EF4-FFF2-40B4-BE49-F238E27FC236}">
                      <a16:creationId xmlns:a16="http://schemas.microsoft.com/office/drawing/2014/main" id="{0AFD7395-51E7-FD4E-9F7D-F752ACA0CA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4" name="Group 147">
                <a:extLst>
                  <a:ext uri="{FF2B5EF4-FFF2-40B4-BE49-F238E27FC236}">
                    <a16:creationId xmlns:a16="http://schemas.microsoft.com/office/drawing/2014/main" id="{9F4F8616-4B71-3143-B210-1E05D9D1FD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17433" name="Line 148">
                  <a:extLst>
                    <a:ext uri="{FF2B5EF4-FFF2-40B4-BE49-F238E27FC236}">
                      <a16:creationId xmlns:a16="http://schemas.microsoft.com/office/drawing/2014/main" id="{EE545230-A0B6-234F-83FC-448550559F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7434" name="Line 149">
                  <a:extLst>
                    <a:ext uri="{FF2B5EF4-FFF2-40B4-BE49-F238E27FC236}">
                      <a16:creationId xmlns:a16="http://schemas.microsoft.com/office/drawing/2014/main" id="{0B76D99C-D26A-E642-98BF-8B1141A3AF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5" name="Group 150">
                <a:extLst>
                  <a:ext uri="{FF2B5EF4-FFF2-40B4-BE49-F238E27FC236}">
                    <a16:creationId xmlns:a16="http://schemas.microsoft.com/office/drawing/2014/main" id="{76FF5D53-4BB0-E245-9602-8CF654A0BD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17428" name="Group 151">
                  <a:extLst>
                    <a:ext uri="{FF2B5EF4-FFF2-40B4-BE49-F238E27FC236}">
                      <a16:creationId xmlns:a16="http://schemas.microsoft.com/office/drawing/2014/main" id="{5B038078-6455-0F47-8F7E-B9FB327114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17431" name="Arc 152">
                    <a:extLst>
                      <a:ext uri="{FF2B5EF4-FFF2-40B4-BE49-F238E27FC236}">
                        <a16:creationId xmlns:a16="http://schemas.microsoft.com/office/drawing/2014/main" id="{583D394C-D690-7741-83DA-8DD902458F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lnTo>
                          <a:pt x="373" y="25596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32" name="Arc 153">
                    <a:extLst>
                      <a:ext uri="{FF2B5EF4-FFF2-40B4-BE49-F238E27FC236}">
                        <a16:creationId xmlns:a16="http://schemas.microsoft.com/office/drawing/2014/main" id="{DF226E41-4030-934B-A2FD-8FE470F849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373" y="22887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7429" name="Arc 154">
                  <a:extLst>
                    <a:ext uri="{FF2B5EF4-FFF2-40B4-BE49-F238E27FC236}">
                      <a16:creationId xmlns:a16="http://schemas.microsoft.com/office/drawing/2014/main" id="{54915ECE-A5E8-694D-8F08-9DC0F5FA43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7430" name="Arc 155">
                  <a:extLst>
                    <a:ext uri="{FF2B5EF4-FFF2-40B4-BE49-F238E27FC236}">
                      <a16:creationId xmlns:a16="http://schemas.microsoft.com/office/drawing/2014/main" id="{052C74AA-A7B8-1D4D-BFEB-BE27A8D104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7426" name="Freeform 156">
                <a:extLst>
                  <a:ext uri="{FF2B5EF4-FFF2-40B4-BE49-F238E27FC236}">
                    <a16:creationId xmlns:a16="http://schemas.microsoft.com/office/drawing/2014/main" id="{DBACA812-7483-B244-9CB0-F36877A689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27" name="Oval 157">
                <a:extLst>
                  <a:ext uri="{FF2B5EF4-FFF2-40B4-BE49-F238E27FC236}">
                    <a16:creationId xmlns:a16="http://schemas.microsoft.com/office/drawing/2014/main" id="{FCD69E7C-DAF9-DB4A-B229-72771DFA4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24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19172-E5AD-E032-1F4B-59FF62540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7314D-160C-6F48-4AD7-04C328ECF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74719"/>
            <a:ext cx="4040188" cy="639762"/>
          </a:xfrm>
        </p:spPr>
        <p:txBody>
          <a:bodyPr/>
          <a:lstStyle/>
          <a:p>
            <a:r>
              <a:rPr lang="pt-BR" dirty="0">
                <a:cs typeface="Arial"/>
              </a:rPr>
              <a:t>METÓDOS SISTEMÁTICOS DE GERAÇÕES DE CONCEPÇÕES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C437B-F90B-F5C0-DCD1-A2C9A8736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909238"/>
            <a:ext cx="4040188" cy="3951288"/>
          </a:xfrm>
        </p:spPr>
        <p:txBody>
          <a:bodyPr/>
          <a:lstStyle/>
          <a:p>
            <a:pPr>
              <a:buFont typeface="Calibri"/>
              <a:buChar char="-"/>
            </a:pPr>
            <a:r>
              <a:rPr lang="pt-BR" dirty="0">
                <a:cs typeface="Arial"/>
              </a:rPr>
              <a:t>Modelagem funcional </a:t>
            </a:r>
          </a:p>
          <a:p>
            <a:pPr>
              <a:buFont typeface="Calibri"/>
              <a:buChar char="-"/>
            </a:pPr>
            <a:r>
              <a:rPr lang="pt-BR" dirty="0">
                <a:cs typeface="Arial"/>
              </a:rPr>
              <a:t>Engenharia reversa</a:t>
            </a:r>
          </a:p>
          <a:p>
            <a:pPr>
              <a:buFont typeface="Calibri"/>
              <a:buChar char="-"/>
            </a:pPr>
            <a:r>
              <a:rPr lang="pt-BR" dirty="0">
                <a:cs typeface="Arial"/>
              </a:rPr>
              <a:t>Matriz Morfológica</a:t>
            </a:r>
          </a:p>
          <a:p>
            <a:pPr>
              <a:buFont typeface="Calibri"/>
              <a:buChar char="-"/>
            </a:pPr>
            <a:r>
              <a:rPr lang="pt-BR" dirty="0">
                <a:cs typeface="Arial"/>
              </a:rPr>
              <a:t>Teoria da Solução Inventiva de problemas (TRIZ)</a:t>
            </a:r>
          </a:p>
          <a:p>
            <a:pPr marL="0" indent="0">
              <a:buNone/>
            </a:pPr>
            <a:endParaRPr lang="pt-BR" dirty="0"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FB4A6-6A68-3A67-586D-797E198D48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72600" y="1031719"/>
            <a:ext cx="4041775" cy="639762"/>
          </a:xfrm>
        </p:spPr>
        <p:txBody>
          <a:bodyPr/>
          <a:lstStyle/>
          <a:p>
            <a:r>
              <a:rPr lang="pt-BR" dirty="0">
                <a:cs typeface="Arial"/>
              </a:rPr>
              <a:t>ARQUITETURA DO PRODUTO pg. 257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E97437A-589F-A410-4AEF-276D0F848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42309" y="1689247"/>
            <a:ext cx="3804884" cy="1126361"/>
          </a:xfrm>
        </p:spPr>
        <p:txBody>
          <a:bodyPr/>
          <a:lstStyle/>
          <a:p>
            <a:r>
              <a:rPr lang="pt-BR" dirty="0">
                <a:cs typeface="Arial"/>
              </a:rPr>
              <a:t>Matriz Indicadoras de </a:t>
            </a:r>
            <a:r>
              <a:rPr lang="pt-BR" dirty="0" err="1">
                <a:cs typeface="Arial"/>
              </a:rPr>
              <a:t>Modulos</a:t>
            </a:r>
            <a:r>
              <a:rPr lang="pt-BR" dirty="0">
                <a:cs typeface="Arial"/>
              </a:rPr>
              <a:t>  pg. 261;</a:t>
            </a:r>
          </a:p>
          <a:p>
            <a:r>
              <a:rPr lang="pt-BR" dirty="0">
                <a:cs typeface="Arial"/>
              </a:rPr>
              <a:t>Quadro 7.6 Projeto Modular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0F1D80C-C242-8699-B3BA-51308A151341}"/>
              </a:ext>
            </a:extLst>
          </p:cNvPr>
          <p:cNvSpPr txBox="1">
            <a:spLocks/>
          </p:cNvSpPr>
          <p:nvPr/>
        </p:nvSpPr>
        <p:spPr bwMode="auto">
          <a:xfrm>
            <a:off x="4495388" y="6004854"/>
            <a:ext cx="404177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 b="1">
                <a:solidFill>
                  <a:schemeClr val="tx1"/>
                </a:solidFill>
                <a:latin typeface="+mn-lt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800" b="1">
                <a:solidFill>
                  <a:schemeClr val="tx1"/>
                </a:solidFill>
                <a:latin typeface="+mn-lt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5pPr>
            <a:lvl6pPr marL="22860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6pPr>
            <a:lvl7pPr marL="2743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7pPr>
            <a:lvl8pPr marL="3200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8pPr>
            <a:lvl9pPr marL="36576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pt-BR" kern="0" dirty="0">
                <a:solidFill>
                  <a:srgbClr val="0070C0"/>
                </a:solidFill>
                <a:cs typeface="Arial"/>
              </a:rPr>
              <a:t>7.7ANALISAR SISTEMA/Subsistemas e componentes </a:t>
            </a:r>
          </a:p>
          <a:p>
            <a:r>
              <a:rPr lang="pt-BR" kern="0" dirty="0">
                <a:solidFill>
                  <a:srgbClr val="0070C0"/>
                </a:solidFill>
                <a:cs typeface="Arial"/>
              </a:rPr>
              <a:t>7.8 Definir Ergonomia e Estética</a:t>
            </a:r>
          </a:p>
          <a:p>
            <a:r>
              <a:rPr lang="pt-BR" kern="0" dirty="0">
                <a:solidFill>
                  <a:srgbClr val="0070C0"/>
                </a:solidFill>
                <a:cs typeface="Arial"/>
              </a:rPr>
              <a:t>7.9 Definir Parcerias </a:t>
            </a:r>
            <a:r>
              <a:rPr lang="pt-BR" kern="0" dirty="0" err="1">
                <a:solidFill>
                  <a:srgbClr val="0070C0"/>
                </a:solidFill>
                <a:cs typeface="Arial"/>
              </a:rPr>
              <a:t>co-desenvolvimento</a:t>
            </a:r>
            <a:r>
              <a:rPr lang="pt-BR" kern="0" dirty="0">
                <a:solidFill>
                  <a:srgbClr val="0070C0"/>
                </a:solidFill>
                <a:cs typeface="Arial"/>
              </a:rPr>
              <a:t> </a:t>
            </a:r>
          </a:p>
          <a:p>
            <a:endParaRPr lang="pt-BR" kern="0" dirty="0">
              <a:solidFill>
                <a:srgbClr val="0070C0"/>
              </a:solidFill>
              <a:cs typeface="Arial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5C7FDF7-1E79-175E-5BD8-F03850442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10310"/>
            <a:ext cx="8229600" cy="1143000"/>
          </a:xfrm>
        </p:spPr>
        <p:txBody>
          <a:bodyPr/>
          <a:lstStyle/>
          <a:p>
            <a:r>
              <a:rPr lang="pt-BR" dirty="0">
                <a:cs typeface="Arial"/>
              </a:rPr>
              <a:t>PROJETO CONCEITUAL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864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37">
            <a:extLst>
              <a:ext uri="{FF2B5EF4-FFF2-40B4-BE49-F238E27FC236}">
                <a16:creationId xmlns:a16="http://schemas.microsoft.com/office/drawing/2014/main" id="{FCC4F0C5-09CE-2347-BAA5-710A10721D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0937" y="597244"/>
            <a:ext cx="8733064" cy="994172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1800"/>
              <a:t>Informações principais e dependências entre as atividades da fase de Projeto Conceitual</a:t>
            </a:r>
          </a:p>
        </p:txBody>
      </p:sp>
      <p:sp>
        <p:nvSpPr>
          <p:cNvPr id="19458" name="Rectangle 40">
            <a:extLst>
              <a:ext uri="{FF2B5EF4-FFF2-40B4-BE49-F238E27FC236}">
                <a16:creationId xmlns:a16="http://schemas.microsoft.com/office/drawing/2014/main" id="{C7220340-D638-F345-9339-CAD1F53B6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636" y="190131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graphicFrame>
        <p:nvGraphicFramePr>
          <p:cNvPr id="19459" name="Object 39">
            <a:extLst>
              <a:ext uri="{FF2B5EF4-FFF2-40B4-BE49-F238E27FC236}">
                <a16:creationId xmlns:a16="http://schemas.microsoft.com/office/drawing/2014/main" id="{3EFA6C42-1AE0-AB49-BAE9-E2E33D5232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609669"/>
              </p:ext>
            </p:extLst>
          </p:nvPr>
        </p:nvGraphicFramePr>
        <p:xfrm>
          <a:off x="379863" y="1518931"/>
          <a:ext cx="6617494" cy="4420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422900" imgH="3619500" progId="Word.Picture.8">
                  <p:embed/>
                </p:oleObj>
              </mc:Choice>
              <mc:Fallback>
                <p:oleObj name="Picture" r:id="rId3" imgW="5422900" imgH="3619500" progId="Word.Picture.8">
                  <p:embed/>
                  <p:pic>
                    <p:nvPicPr>
                      <p:cNvPr id="19459" name="Object 39">
                        <a:extLst>
                          <a:ext uri="{FF2B5EF4-FFF2-40B4-BE49-F238E27FC236}">
                            <a16:creationId xmlns:a16="http://schemas.microsoft.com/office/drawing/2014/main" id="{3EFA6C42-1AE0-AB49-BAE9-E2E33D5232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63" y="1518931"/>
                        <a:ext cx="6617494" cy="4420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7753DAF0-200C-014A-B341-9548DCFACF06}"/>
              </a:ext>
            </a:extLst>
          </p:cNvPr>
          <p:cNvSpPr/>
          <p:nvPr/>
        </p:nvSpPr>
        <p:spPr>
          <a:xfrm>
            <a:off x="3451955" y="3694304"/>
            <a:ext cx="1328057" cy="740228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3" name="Oval 1">
            <a:extLst>
              <a:ext uri="{FF2B5EF4-FFF2-40B4-BE49-F238E27FC236}">
                <a16:creationId xmlns:a16="http://schemas.microsoft.com/office/drawing/2014/main" id="{79F7CB38-C3D9-4D97-9EF3-AA415BAA9FA1}"/>
              </a:ext>
            </a:extLst>
          </p:cNvPr>
          <p:cNvSpPr/>
          <p:nvPr/>
        </p:nvSpPr>
        <p:spPr>
          <a:xfrm>
            <a:off x="2374099" y="3694303"/>
            <a:ext cx="1328057" cy="740228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4" name="Oval 1">
            <a:extLst>
              <a:ext uri="{FF2B5EF4-FFF2-40B4-BE49-F238E27FC236}">
                <a16:creationId xmlns:a16="http://schemas.microsoft.com/office/drawing/2014/main" id="{DC293183-4F93-7F7A-AA59-91E22493834B}"/>
              </a:ext>
            </a:extLst>
          </p:cNvPr>
          <p:cNvSpPr/>
          <p:nvPr/>
        </p:nvSpPr>
        <p:spPr>
          <a:xfrm>
            <a:off x="4671944" y="3652846"/>
            <a:ext cx="2293387" cy="781684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6FD78C6-46F7-1024-154E-D3FB265E7569}"/>
              </a:ext>
            </a:extLst>
          </p:cNvPr>
          <p:cNvSpPr txBox="1"/>
          <p:nvPr/>
        </p:nvSpPr>
        <p:spPr>
          <a:xfrm>
            <a:off x="6762484" y="2674429"/>
            <a:ext cx="2241426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0070C0"/>
                </a:solidFill>
                <a:latin typeface="Arial"/>
                <a:cs typeface="Arial"/>
              </a:rPr>
              <a:t>Serão retomados posteriormente</a:t>
            </a:r>
            <a:endParaRPr lang="pt-BR">
              <a:solidFill>
                <a:srgbClr val="0070C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302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829E6-C890-B2B2-9FA6-E8D7A9533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37">
            <a:extLst>
              <a:ext uri="{FF2B5EF4-FFF2-40B4-BE49-F238E27FC236}">
                <a16:creationId xmlns:a16="http://schemas.microsoft.com/office/drawing/2014/main" id="{CB09F180-8037-961C-06F0-B446DDBCE7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0937" y="597244"/>
            <a:ext cx="8733064" cy="994172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1800"/>
              <a:t>Informações principais e dependências entre as atividades da fase de Projeto Conceitual</a:t>
            </a:r>
          </a:p>
        </p:txBody>
      </p:sp>
      <p:sp>
        <p:nvSpPr>
          <p:cNvPr id="19458" name="Rectangle 40">
            <a:extLst>
              <a:ext uri="{FF2B5EF4-FFF2-40B4-BE49-F238E27FC236}">
                <a16:creationId xmlns:a16="http://schemas.microsoft.com/office/drawing/2014/main" id="{842A5690-B8A6-C0DB-90AC-6DDBA63A3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636" y="190131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graphicFrame>
        <p:nvGraphicFramePr>
          <p:cNvPr id="19459" name="Object 39">
            <a:extLst>
              <a:ext uri="{FF2B5EF4-FFF2-40B4-BE49-F238E27FC236}">
                <a16:creationId xmlns:a16="http://schemas.microsoft.com/office/drawing/2014/main" id="{3D944294-564B-42B7-91AA-8DEE04B08D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9179" y="1483397"/>
          <a:ext cx="6617494" cy="4420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422900" imgH="3619500" progId="Word.Picture.8">
                  <p:embed/>
                </p:oleObj>
              </mc:Choice>
              <mc:Fallback>
                <p:oleObj name="Picture" r:id="rId3" imgW="5422900" imgH="3619500" progId="Word.Picture.8">
                  <p:embed/>
                  <p:pic>
                    <p:nvPicPr>
                      <p:cNvPr id="19459" name="Object 39">
                        <a:extLst>
                          <a:ext uri="{FF2B5EF4-FFF2-40B4-BE49-F238E27FC236}">
                            <a16:creationId xmlns:a16="http://schemas.microsoft.com/office/drawing/2014/main" id="{5492BC2F-803A-C9C0-2DE9-12CD619552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179" y="1483397"/>
                        <a:ext cx="6617494" cy="4420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D53B77D3-D6E1-16B1-6AC4-5FBD23CE28A8}"/>
              </a:ext>
            </a:extLst>
          </p:cNvPr>
          <p:cNvSpPr/>
          <p:nvPr/>
        </p:nvSpPr>
        <p:spPr>
          <a:xfrm>
            <a:off x="3600013" y="4404978"/>
            <a:ext cx="1707083" cy="80537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F136D7-D1A6-EDB0-D0FB-E9B830DA4200}"/>
              </a:ext>
            </a:extLst>
          </p:cNvPr>
          <p:cNvSpPr txBox="1"/>
          <p:nvPr/>
        </p:nvSpPr>
        <p:spPr>
          <a:xfrm>
            <a:off x="6809862" y="2751419"/>
            <a:ext cx="2241426" cy="8309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0070C0"/>
                </a:solidFill>
                <a:latin typeface="Arial"/>
                <a:cs typeface="Arial"/>
              </a:rPr>
              <a:t>Foco da aula de hoje</a:t>
            </a:r>
            <a:endParaRPr lang="pt-BR" dirty="0">
              <a:solidFill>
                <a:srgbClr val="0070C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606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1" name="Object 2">
            <a:extLst>
              <a:ext uri="{FF2B5EF4-FFF2-40B4-BE49-F238E27FC236}">
                <a16:creationId xmlns:a16="http://schemas.microsoft.com/office/drawing/2014/main" id="{F61DD04F-4E41-0B41-9D3D-93369178C7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525" y="1585913"/>
          <a:ext cx="7545388" cy="470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076700" imgH="2552700" progId="Word.Picture.8">
                  <p:embed/>
                </p:oleObj>
              </mc:Choice>
              <mc:Fallback>
                <p:oleObj name="Picture" r:id="rId2" imgW="4076700" imgH="2552700" progId="Word.Picture.8">
                  <p:embed/>
                  <p:pic>
                    <p:nvPicPr>
                      <p:cNvPr id="46081" name="Object 2">
                        <a:extLst>
                          <a:ext uri="{FF2B5EF4-FFF2-40B4-BE49-F238E27FC236}">
                            <a16:creationId xmlns:a16="http://schemas.microsoft.com/office/drawing/2014/main" id="{F61DD04F-4E41-0B41-9D3D-93369178C7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1585913"/>
                        <a:ext cx="7545388" cy="470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551A07FF-5418-1846-8CF3-CC6F71FC6F5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7388225" cy="706438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r>
              <a:rPr lang="pt-BR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Atividade: Selecionar a concepção do produto 2/4 </a:t>
            </a:r>
          </a:p>
        </p:txBody>
      </p:sp>
      <p:sp>
        <p:nvSpPr>
          <p:cNvPr id="46083" name="Text Box 4">
            <a:extLst>
              <a:ext uri="{FF2B5EF4-FFF2-40B4-BE49-F238E27FC236}">
                <a16:creationId xmlns:a16="http://schemas.microsoft.com/office/drawing/2014/main" id="{44BA21EF-6191-C34E-9D22-87144AB6B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8" y="985838"/>
            <a:ext cx="2832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2400"/>
              <a:t>Matriz de Decisão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ECC04304-D1FA-154C-B1C0-82B6E5DFB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6216650"/>
            <a:ext cx="7402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pt-BR" altLang="pt-BR" sz="1800"/>
              <a:t>Critérios podem ser Especificações-meta ou Requisitos dos clientes 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2A4CBF9E-01AC-094E-BF37-E75BC489FD6A}"/>
              </a:ext>
            </a:extLst>
          </p:cNvPr>
          <p:cNvGrpSpPr>
            <a:grpSpLocks/>
          </p:cNvGrpSpPr>
          <p:nvPr/>
        </p:nvGrpSpPr>
        <p:grpSpPr bwMode="auto">
          <a:xfrm>
            <a:off x="2500313" y="2381250"/>
            <a:ext cx="576262" cy="2840038"/>
            <a:chOff x="1575" y="1500"/>
            <a:chExt cx="363" cy="1789"/>
          </a:xfrm>
        </p:grpSpPr>
        <p:sp>
          <p:nvSpPr>
            <p:cNvPr id="46103" name="Text Box 7">
              <a:extLst>
                <a:ext uri="{FF2B5EF4-FFF2-40B4-BE49-F238E27FC236}">
                  <a16:creationId xmlns:a16="http://schemas.microsoft.com/office/drawing/2014/main" id="{F81B53AE-39AB-F548-8D67-B3686E7FA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9" y="1500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>
                  <a:solidFill>
                    <a:srgbClr val="FF3300"/>
                  </a:solidFill>
                </a:rPr>
                <a:t>+</a:t>
              </a:r>
            </a:p>
          </p:txBody>
        </p:sp>
        <p:sp>
          <p:nvSpPr>
            <p:cNvPr id="46104" name="Text Box 8">
              <a:extLst>
                <a:ext uri="{FF2B5EF4-FFF2-40B4-BE49-F238E27FC236}">
                  <a16:creationId xmlns:a16="http://schemas.microsoft.com/office/drawing/2014/main" id="{A041D8E3-6DE3-C04F-A2E1-174D8D794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4" y="1741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>
                  <a:solidFill>
                    <a:srgbClr val="FF3300"/>
                  </a:solidFill>
                </a:rPr>
                <a:t>-</a:t>
              </a:r>
            </a:p>
          </p:txBody>
        </p:sp>
        <p:sp>
          <p:nvSpPr>
            <p:cNvPr id="46105" name="Text Box 9">
              <a:extLst>
                <a:ext uri="{FF2B5EF4-FFF2-40B4-BE49-F238E27FC236}">
                  <a16:creationId xmlns:a16="http://schemas.microsoft.com/office/drawing/2014/main" id="{FE57E1BC-A7A2-C742-AEC4-DDC95D8ED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8" y="2019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>
                  <a:solidFill>
                    <a:srgbClr val="FF3300"/>
                  </a:solidFill>
                </a:rPr>
                <a:t>+</a:t>
              </a:r>
            </a:p>
          </p:txBody>
        </p:sp>
        <p:sp>
          <p:nvSpPr>
            <p:cNvPr id="46106" name="Text Box 10">
              <a:extLst>
                <a:ext uri="{FF2B5EF4-FFF2-40B4-BE49-F238E27FC236}">
                  <a16:creationId xmlns:a16="http://schemas.microsoft.com/office/drawing/2014/main" id="{D0A48E36-C04D-5E4A-82EE-A8EFDC673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5" y="3039"/>
              <a:ext cx="3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000">
                  <a:solidFill>
                    <a:srgbClr val="FF3300"/>
                  </a:solidFill>
                </a:rPr>
                <a:t>-</a:t>
              </a:r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02270009-CE30-E14E-A752-55DCAEC6A6F9}"/>
              </a:ext>
            </a:extLst>
          </p:cNvPr>
          <p:cNvGrpSpPr>
            <a:grpSpLocks/>
          </p:cNvGrpSpPr>
          <p:nvPr/>
        </p:nvGrpSpPr>
        <p:grpSpPr bwMode="auto">
          <a:xfrm>
            <a:off x="4692650" y="2371725"/>
            <a:ext cx="561975" cy="2876550"/>
            <a:chOff x="2956" y="1494"/>
            <a:chExt cx="354" cy="1812"/>
          </a:xfrm>
        </p:grpSpPr>
        <p:sp>
          <p:nvSpPr>
            <p:cNvPr id="46099" name="Text Box 12">
              <a:extLst>
                <a:ext uri="{FF2B5EF4-FFF2-40B4-BE49-F238E27FC236}">
                  <a16:creationId xmlns:a16="http://schemas.microsoft.com/office/drawing/2014/main" id="{A7B5BA9F-0F67-E14E-8385-7A71E2DB52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6" y="1494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>
                  <a:solidFill>
                    <a:srgbClr val="FF3300"/>
                  </a:solidFill>
                </a:rPr>
                <a:t>-</a:t>
              </a:r>
            </a:p>
          </p:txBody>
        </p:sp>
        <p:sp>
          <p:nvSpPr>
            <p:cNvPr id="46100" name="Text Box 13">
              <a:extLst>
                <a:ext uri="{FF2B5EF4-FFF2-40B4-BE49-F238E27FC236}">
                  <a16:creationId xmlns:a16="http://schemas.microsoft.com/office/drawing/2014/main" id="{FFEE35D1-2AF2-C240-B4B8-EE0231A1C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0" y="1744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>
                  <a:solidFill>
                    <a:srgbClr val="FF3300"/>
                  </a:solidFill>
                </a:rPr>
                <a:t>+</a:t>
              </a:r>
            </a:p>
          </p:txBody>
        </p:sp>
        <p:sp>
          <p:nvSpPr>
            <p:cNvPr id="46101" name="Text Box 14">
              <a:extLst>
                <a:ext uri="{FF2B5EF4-FFF2-40B4-BE49-F238E27FC236}">
                  <a16:creationId xmlns:a16="http://schemas.microsoft.com/office/drawing/2014/main" id="{1AA7DA9D-3FCA-B84E-B521-5BD947DFD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3" y="2012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>
                  <a:solidFill>
                    <a:srgbClr val="FF3300"/>
                  </a:solidFill>
                </a:rPr>
                <a:t>-</a:t>
              </a:r>
            </a:p>
          </p:txBody>
        </p:sp>
        <p:sp>
          <p:nvSpPr>
            <p:cNvPr id="46102" name="Text Box 15">
              <a:extLst>
                <a:ext uri="{FF2B5EF4-FFF2-40B4-BE49-F238E27FC236}">
                  <a16:creationId xmlns:a16="http://schemas.microsoft.com/office/drawing/2014/main" id="{ED960841-B0A8-8444-9A2F-EBC7F7617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1" y="3018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>
                  <a:solidFill>
                    <a:srgbClr val="FF3300"/>
                  </a:solidFill>
                </a:rPr>
                <a:t>M</a:t>
              </a:r>
            </a:p>
          </p:txBody>
        </p:sp>
      </p:grpSp>
      <p:grpSp>
        <p:nvGrpSpPr>
          <p:cNvPr id="6" name="Group 16">
            <a:extLst>
              <a:ext uri="{FF2B5EF4-FFF2-40B4-BE49-F238E27FC236}">
                <a16:creationId xmlns:a16="http://schemas.microsoft.com/office/drawing/2014/main" id="{526FC39C-3BC0-E846-8301-F214B850A821}"/>
              </a:ext>
            </a:extLst>
          </p:cNvPr>
          <p:cNvGrpSpPr>
            <a:grpSpLocks/>
          </p:cNvGrpSpPr>
          <p:nvPr/>
        </p:nvGrpSpPr>
        <p:grpSpPr bwMode="auto">
          <a:xfrm>
            <a:off x="2511425" y="750888"/>
            <a:ext cx="2628900" cy="2108200"/>
            <a:chOff x="1582" y="473"/>
            <a:chExt cx="1656" cy="1328"/>
          </a:xfrm>
        </p:grpSpPr>
        <p:sp>
          <p:nvSpPr>
            <p:cNvPr id="46096" name="Oval 17">
              <a:extLst>
                <a:ext uri="{FF2B5EF4-FFF2-40B4-BE49-F238E27FC236}">
                  <a16:creationId xmlns:a16="http://schemas.microsoft.com/office/drawing/2014/main" id="{6BF08375-30D5-D947-9637-F36ED056F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" y="1481"/>
              <a:ext cx="347" cy="32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46097" name="Text Box 18">
              <a:extLst>
                <a:ext uri="{FF2B5EF4-FFF2-40B4-BE49-F238E27FC236}">
                  <a16:creationId xmlns:a16="http://schemas.microsoft.com/office/drawing/2014/main" id="{E8E7A186-F822-8041-A158-4BF700601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0" y="473"/>
              <a:ext cx="988" cy="40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800" b="1">
                  <a:solidFill>
                    <a:schemeClr val="bg1"/>
                  </a:solidFill>
                </a:rPr>
                <a:t>Melhor que a referência</a:t>
              </a:r>
            </a:p>
          </p:txBody>
        </p:sp>
        <p:sp>
          <p:nvSpPr>
            <p:cNvPr id="46098" name="Line 19">
              <a:extLst>
                <a:ext uri="{FF2B5EF4-FFF2-40B4-BE49-F238E27FC236}">
                  <a16:creationId xmlns:a16="http://schemas.microsoft.com/office/drawing/2014/main" id="{ABA0EE0F-9450-2647-9C0A-C11F4ACAC9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3" y="841"/>
              <a:ext cx="468" cy="6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</p:grpSp>
      <p:grpSp>
        <p:nvGrpSpPr>
          <p:cNvPr id="7" name="Group 20">
            <a:extLst>
              <a:ext uri="{FF2B5EF4-FFF2-40B4-BE49-F238E27FC236}">
                <a16:creationId xmlns:a16="http://schemas.microsoft.com/office/drawing/2014/main" id="{B9B8C82A-CF8B-2F45-9979-B57079C48350}"/>
              </a:ext>
            </a:extLst>
          </p:cNvPr>
          <p:cNvGrpSpPr>
            <a:grpSpLocks/>
          </p:cNvGrpSpPr>
          <p:nvPr/>
        </p:nvGrpSpPr>
        <p:grpSpPr bwMode="auto">
          <a:xfrm>
            <a:off x="4678363" y="741363"/>
            <a:ext cx="2628900" cy="2108200"/>
            <a:chOff x="2947" y="467"/>
            <a:chExt cx="1656" cy="1328"/>
          </a:xfrm>
        </p:grpSpPr>
        <p:sp>
          <p:nvSpPr>
            <p:cNvPr id="46093" name="Oval 21">
              <a:extLst>
                <a:ext uri="{FF2B5EF4-FFF2-40B4-BE49-F238E27FC236}">
                  <a16:creationId xmlns:a16="http://schemas.microsoft.com/office/drawing/2014/main" id="{8F1E29A9-3A33-9542-AFFA-18C4280E0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7" y="1475"/>
              <a:ext cx="347" cy="32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46094" name="Text Box 22">
              <a:extLst>
                <a:ext uri="{FF2B5EF4-FFF2-40B4-BE49-F238E27FC236}">
                  <a16:creationId xmlns:a16="http://schemas.microsoft.com/office/drawing/2014/main" id="{8576B814-05D1-AC48-B2F2-DEB256F7C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5" y="467"/>
              <a:ext cx="988" cy="40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800" b="1">
                  <a:solidFill>
                    <a:schemeClr val="bg1"/>
                  </a:solidFill>
                </a:rPr>
                <a:t>Pior que a referência</a:t>
              </a:r>
            </a:p>
          </p:txBody>
        </p:sp>
        <p:sp>
          <p:nvSpPr>
            <p:cNvPr id="46095" name="Line 23">
              <a:extLst>
                <a:ext uri="{FF2B5EF4-FFF2-40B4-BE49-F238E27FC236}">
                  <a16:creationId xmlns:a16="http://schemas.microsoft.com/office/drawing/2014/main" id="{90A1AA4F-E6E3-AE43-8BD5-B2F1D39007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48" y="835"/>
              <a:ext cx="468" cy="6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</p:grpSp>
      <p:grpSp>
        <p:nvGrpSpPr>
          <p:cNvPr id="8" name="Group 24">
            <a:extLst>
              <a:ext uri="{FF2B5EF4-FFF2-40B4-BE49-F238E27FC236}">
                <a16:creationId xmlns:a16="http://schemas.microsoft.com/office/drawing/2014/main" id="{CBD3BE91-D715-484F-AB1C-6AD08A1DA30B}"/>
              </a:ext>
            </a:extLst>
          </p:cNvPr>
          <p:cNvGrpSpPr>
            <a:grpSpLocks/>
          </p:cNvGrpSpPr>
          <p:nvPr/>
        </p:nvGrpSpPr>
        <p:grpSpPr bwMode="auto">
          <a:xfrm>
            <a:off x="4727575" y="3140075"/>
            <a:ext cx="2628900" cy="2108200"/>
            <a:chOff x="2947" y="467"/>
            <a:chExt cx="1656" cy="1328"/>
          </a:xfrm>
        </p:grpSpPr>
        <p:sp>
          <p:nvSpPr>
            <p:cNvPr id="46090" name="Oval 25">
              <a:extLst>
                <a:ext uri="{FF2B5EF4-FFF2-40B4-BE49-F238E27FC236}">
                  <a16:creationId xmlns:a16="http://schemas.microsoft.com/office/drawing/2014/main" id="{FA5E923F-A7D0-D642-B277-10EA07594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7" y="1475"/>
              <a:ext cx="347" cy="32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46091" name="Text Box 26">
              <a:extLst>
                <a:ext uri="{FF2B5EF4-FFF2-40B4-BE49-F238E27FC236}">
                  <a16:creationId xmlns:a16="http://schemas.microsoft.com/office/drawing/2014/main" id="{5EE84EC9-F66F-4944-B2C8-57946CF97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5" y="467"/>
              <a:ext cx="988" cy="40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800" b="1">
                  <a:solidFill>
                    <a:schemeClr val="bg1"/>
                  </a:solidFill>
                </a:rPr>
                <a:t>Igual a referência</a:t>
              </a:r>
            </a:p>
          </p:txBody>
        </p:sp>
        <p:sp>
          <p:nvSpPr>
            <p:cNvPr id="46092" name="Line 27">
              <a:extLst>
                <a:ext uri="{FF2B5EF4-FFF2-40B4-BE49-F238E27FC236}">
                  <a16:creationId xmlns:a16="http://schemas.microsoft.com/office/drawing/2014/main" id="{2D7BF22B-E918-934A-8290-FD42C59C82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48" y="835"/>
              <a:ext cx="468" cy="6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5" name="Object 2">
            <a:extLst>
              <a:ext uri="{FF2B5EF4-FFF2-40B4-BE49-F238E27FC236}">
                <a16:creationId xmlns:a16="http://schemas.microsoft.com/office/drawing/2014/main" id="{7190BAF4-1AD7-4A4F-BE3E-B1D7A0A0BC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068513"/>
          <a:ext cx="9144000" cy="416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013200" imgH="1841500" progId="Word.Picture.8">
                  <p:embed/>
                </p:oleObj>
              </mc:Choice>
              <mc:Fallback>
                <p:oleObj name="Picture" r:id="rId2" imgW="4013200" imgH="1841500" progId="Word.Picture.8">
                  <p:embed/>
                  <p:pic>
                    <p:nvPicPr>
                      <p:cNvPr id="47105" name="Object 2">
                        <a:extLst>
                          <a:ext uri="{FF2B5EF4-FFF2-40B4-BE49-F238E27FC236}">
                            <a16:creationId xmlns:a16="http://schemas.microsoft.com/office/drawing/2014/main" id="{7190BAF4-1AD7-4A4F-BE3E-B1D7A0A0BC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068513"/>
                        <a:ext cx="9144000" cy="416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7">
            <a:extLst>
              <a:ext uri="{FF2B5EF4-FFF2-40B4-BE49-F238E27FC236}">
                <a16:creationId xmlns:a16="http://schemas.microsoft.com/office/drawing/2014/main" id="{8EDDDC07-A8AA-014C-99C7-2D114C0087AA}"/>
              </a:ext>
            </a:extLst>
          </p:cNvPr>
          <p:cNvSpPr txBox="1">
            <a:spLocks noChangeArrowheads="1"/>
          </p:cNvSpPr>
          <p:nvPr/>
        </p:nvSpPr>
        <p:spPr>
          <a:xfrm>
            <a:off x="85725" y="57150"/>
            <a:ext cx="7388225" cy="706438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r>
              <a:rPr lang="pt-BR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Atividade: Selecionar a concepção do produto 3/4</a:t>
            </a:r>
          </a:p>
        </p:txBody>
      </p:sp>
      <p:sp>
        <p:nvSpPr>
          <p:cNvPr id="47107" name="Text Box 8">
            <a:extLst>
              <a:ext uri="{FF2B5EF4-FFF2-40B4-BE49-F238E27FC236}">
                <a16:creationId xmlns:a16="http://schemas.microsoft.com/office/drawing/2014/main" id="{EB838EE7-4AB6-A14B-957E-CD4E2AC82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985838"/>
            <a:ext cx="290353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2400"/>
              <a:t>Matriz de Decisão com peso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55CDD2BC-12CF-3F49-80AC-89BF6915B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16650"/>
            <a:ext cx="9140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pt-BR" altLang="pt-BR" sz="1800"/>
              <a:t>Critérios podem ser Especificações-meta ou Requisitos dos clientes </a:t>
            </a:r>
          </a:p>
        </p:txBody>
      </p:sp>
      <p:grpSp>
        <p:nvGrpSpPr>
          <p:cNvPr id="2" name="Group 39">
            <a:extLst>
              <a:ext uri="{FF2B5EF4-FFF2-40B4-BE49-F238E27FC236}">
                <a16:creationId xmlns:a16="http://schemas.microsoft.com/office/drawing/2014/main" id="{48327390-0AE5-254C-9B27-2324F219EF62}"/>
              </a:ext>
            </a:extLst>
          </p:cNvPr>
          <p:cNvGrpSpPr>
            <a:grpSpLocks/>
          </p:cNvGrpSpPr>
          <p:nvPr/>
        </p:nvGrpSpPr>
        <p:grpSpPr bwMode="auto">
          <a:xfrm>
            <a:off x="2762250" y="2957513"/>
            <a:ext cx="546100" cy="2651125"/>
            <a:chOff x="1740" y="1863"/>
            <a:chExt cx="344" cy="1670"/>
          </a:xfrm>
        </p:grpSpPr>
        <p:sp>
          <p:nvSpPr>
            <p:cNvPr id="47127" name="Text Box 11">
              <a:extLst>
                <a:ext uri="{FF2B5EF4-FFF2-40B4-BE49-F238E27FC236}">
                  <a16:creationId xmlns:a16="http://schemas.microsoft.com/office/drawing/2014/main" id="{D51D5616-DFEC-B244-A8B2-8F64D042F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" y="1863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>
                  <a:solidFill>
                    <a:srgbClr val="FF3300"/>
                  </a:solidFill>
                </a:rPr>
                <a:t>+</a:t>
              </a:r>
            </a:p>
          </p:txBody>
        </p:sp>
        <p:sp>
          <p:nvSpPr>
            <p:cNvPr id="47128" name="Text Box 14">
              <a:extLst>
                <a:ext uri="{FF2B5EF4-FFF2-40B4-BE49-F238E27FC236}">
                  <a16:creationId xmlns:a16="http://schemas.microsoft.com/office/drawing/2014/main" id="{82998ABF-9045-644D-B469-E0A6088C4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0" y="2149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>
                  <a:solidFill>
                    <a:srgbClr val="FF3300"/>
                  </a:solidFill>
                </a:rPr>
                <a:t>-</a:t>
              </a:r>
            </a:p>
          </p:txBody>
        </p:sp>
        <p:sp>
          <p:nvSpPr>
            <p:cNvPr id="47129" name="Text Box 15">
              <a:extLst>
                <a:ext uri="{FF2B5EF4-FFF2-40B4-BE49-F238E27FC236}">
                  <a16:creationId xmlns:a16="http://schemas.microsoft.com/office/drawing/2014/main" id="{FCBC36D1-7B51-254A-8BDA-E7F463E949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3" y="2473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>
                  <a:solidFill>
                    <a:srgbClr val="FF3300"/>
                  </a:solidFill>
                </a:rPr>
                <a:t>+</a:t>
              </a:r>
            </a:p>
          </p:txBody>
        </p:sp>
        <p:sp>
          <p:nvSpPr>
            <p:cNvPr id="47130" name="Text Box 16">
              <a:extLst>
                <a:ext uri="{FF2B5EF4-FFF2-40B4-BE49-F238E27FC236}">
                  <a16:creationId xmlns:a16="http://schemas.microsoft.com/office/drawing/2014/main" id="{FADD4081-1742-2241-9D95-AFB7B2A5A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0" y="3283"/>
              <a:ext cx="3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000">
                  <a:solidFill>
                    <a:srgbClr val="FF3300"/>
                  </a:solidFill>
                </a:rPr>
                <a:t>-</a:t>
              </a:r>
            </a:p>
          </p:txBody>
        </p:sp>
      </p:grpSp>
      <p:grpSp>
        <p:nvGrpSpPr>
          <p:cNvPr id="4" name="Group 40">
            <a:extLst>
              <a:ext uri="{FF2B5EF4-FFF2-40B4-BE49-F238E27FC236}">
                <a16:creationId xmlns:a16="http://schemas.microsoft.com/office/drawing/2014/main" id="{E448667A-2BDD-494A-8C95-BB0EE04BE51E}"/>
              </a:ext>
            </a:extLst>
          </p:cNvPr>
          <p:cNvGrpSpPr>
            <a:grpSpLocks/>
          </p:cNvGrpSpPr>
          <p:nvPr/>
        </p:nvGrpSpPr>
        <p:grpSpPr bwMode="auto">
          <a:xfrm>
            <a:off x="5491163" y="2895600"/>
            <a:ext cx="561975" cy="2744788"/>
            <a:chOff x="3459" y="1824"/>
            <a:chExt cx="354" cy="1729"/>
          </a:xfrm>
        </p:grpSpPr>
        <p:sp>
          <p:nvSpPr>
            <p:cNvPr id="47123" name="Text Box 12">
              <a:extLst>
                <a:ext uri="{FF2B5EF4-FFF2-40B4-BE49-F238E27FC236}">
                  <a16:creationId xmlns:a16="http://schemas.microsoft.com/office/drawing/2014/main" id="{11B77345-F604-BA49-8FEE-A504BD2C9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9" y="1824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>
                  <a:solidFill>
                    <a:srgbClr val="FF3300"/>
                  </a:solidFill>
                </a:rPr>
                <a:t>-</a:t>
              </a:r>
            </a:p>
          </p:txBody>
        </p:sp>
        <p:sp>
          <p:nvSpPr>
            <p:cNvPr id="47124" name="Text Box 13">
              <a:extLst>
                <a:ext uri="{FF2B5EF4-FFF2-40B4-BE49-F238E27FC236}">
                  <a16:creationId xmlns:a16="http://schemas.microsoft.com/office/drawing/2014/main" id="{95129996-DF49-FC43-8386-D1EE6C1AB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3" y="2164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>
                  <a:solidFill>
                    <a:srgbClr val="FF3300"/>
                  </a:solidFill>
                </a:rPr>
                <a:t>+</a:t>
              </a:r>
            </a:p>
          </p:txBody>
        </p:sp>
        <p:sp>
          <p:nvSpPr>
            <p:cNvPr id="47125" name="Text Box 17">
              <a:extLst>
                <a:ext uri="{FF2B5EF4-FFF2-40B4-BE49-F238E27FC236}">
                  <a16:creationId xmlns:a16="http://schemas.microsoft.com/office/drawing/2014/main" id="{567DEC62-69C3-C24B-BBB9-70997FE23A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5" y="2442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>
                  <a:solidFill>
                    <a:srgbClr val="FF3300"/>
                  </a:solidFill>
                </a:rPr>
                <a:t>-</a:t>
              </a:r>
            </a:p>
          </p:txBody>
        </p:sp>
        <p:sp>
          <p:nvSpPr>
            <p:cNvPr id="47126" name="Text Box 18">
              <a:extLst>
                <a:ext uri="{FF2B5EF4-FFF2-40B4-BE49-F238E27FC236}">
                  <a16:creationId xmlns:a16="http://schemas.microsoft.com/office/drawing/2014/main" id="{458EE810-B083-654F-8D1F-28AF546C6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4" y="3265"/>
              <a:ext cx="3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2400">
                  <a:solidFill>
                    <a:srgbClr val="FF3300"/>
                  </a:solidFill>
                </a:rPr>
                <a:t>M</a:t>
              </a:r>
            </a:p>
          </p:txBody>
        </p:sp>
      </p:grpSp>
      <p:grpSp>
        <p:nvGrpSpPr>
          <p:cNvPr id="6" name="Group 43">
            <a:extLst>
              <a:ext uri="{FF2B5EF4-FFF2-40B4-BE49-F238E27FC236}">
                <a16:creationId xmlns:a16="http://schemas.microsoft.com/office/drawing/2014/main" id="{414051BF-8C2C-054A-B745-F5AF671C49E3}"/>
              </a:ext>
            </a:extLst>
          </p:cNvPr>
          <p:cNvGrpSpPr>
            <a:grpSpLocks/>
          </p:cNvGrpSpPr>
          <p:nvPr/>
        </p:nvGrpSpPr>
        <p:grpSpPr bwMode="auto">
          <a:xfrm>
            <a:off x="2755900" y="960438"/>
            <a:ext cx="2571750" cy="2471737"/>
            <a:chOff x="1736" y="605"/>
            <a:chExt cx="1620" cy="1557"/>
          </a:xfrm>
        </p:grpSpPr>
        <p:sp>
          <p:nvSpPr>
            <p:cNvPr id="47120" name="Oval 21">
              <a:extLst>
                <a:ext uri="{FF2B5EF4-FFF2-40B4-BE49-F238E27FC236}">
                  <a16:creationId xmlns:a16="http://schemas.microsoft.com/office/drawing/2014/main" id="{A44E3B46-D190-AC4F-8963-BE822A312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6" y="1842"/>
              <a:ext cx="347" cy="32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47121" name="Text Box 23">
              <a:extLst>
                <a:ext uri="{FF2B5EF4-FFF2-40B4-BE49-F238E27FC236}">
                  <a16:creationId xmlns:a16="http://schemas.microsoft.com/office/drawing/2014/main" id="{01086B8C-600B-A347-8230-D401B7F5AF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8" y="605"/>
              <a:ext cx="988" cy="57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800" b="1">
                  <a:solidFill>
                    <a:schemeClr val="bg1"/>
                  </a:solidFill>
                </a:rPr>
                <a:t>Melhor que a referência + 1</a:t>
              </a:r>
            </a:p>
          </p:txBody>
        </p:sp>
        <p:sp>
          <p:nvSpPr>
            <p:cNvPr id="47122" name="Line 24">
              <a:extLst>
                <a:ext uri="{FF2B5EF4-FFF2-40B4-BE49-F238E27FC236}">
                  <a16:creationId xmlns:a16="http://schemas.microsoft.com/office/drawing/2014/main" id="{062045B9-C601-7042-A06C-2DBB0A42E3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1" y="1083"/>
              <a:ext cx="458" cy="7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</p:grpSp>
      <p:grpSp>
        <p:nvGrpSpPr>
          <p:cNvPr id="7" name="Group 44">
            <a:extLst>
              <a:ext uri="{FF2B5EF4-FFF2-40B4-BE49-F238E27FC236}">
                <a16:creationId xmlns:a16="http://schemas.microsoft.com/office/drawing/2014/main" id="{0B09571F-ED4D-464D-9D4C-2F6CAC3B8258}"/>
              </a:ext>
            </a:extLst>
          </p:cNvPr>
          <p:cNvGrpSpPr>
            <a:grpSpLocks/>
          </p:cNvGrpSpPr>
          <p:nvPr/>
        </p:nvGrpSpPr>
        <p:grpSpPr bwMode="auto">
          <a:xfrm>
            <a:off x="5491163" y="960438"/>
            <a:ext cx="2614612" cy="2455862"/>
            <a:chOff x="3459" y="605"/>
            <a:chExt cx="1647" cy="1547"/>
          </a:xfrm>
        </p:grpSpPr>
        <p:sp>
          <p:nvSpPr>
            <p:cNvPr id="47117" name="Oval 25">
              <a:extLst>
                <a:ext uri="{FF2B5EF4-FFF2-40B4-BE49-F238E27FC236}">
                  <a16:creationId xmlns:a16="http://schemas.microsoft.com/office/drawing/2014/main" id="{6D339625-7088-6D43-8CD6-98332D0D0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9" y="1832"/>
              <a:ext cx="347" cy="32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47118" name="Text Box 26">
              <a:extLst>
                <a:ext uri="{FF2B5EF4-FFF2-40B4-BE49-F238E27FC236}">
                  <a16:creationId xmlns:a16="http://schemas.microsoft.com/office/drawing/2014/main" id="{BAAF7D5A-E9F5-7B48-ACC3-878E8C94E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8" y="605"/>
              <a:ext cx="988" cy="57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800" b="1">
                  <a:solidFill>
                    <a:schemeClr val="bg1"/>
                  </a:solidFill>
                </a:rPr>
                <a:t>Pior que a referência    - 1</a:t>
              </a:r>
            </a:p>
          </p:txBody>
        </p:sp>
        <p:sp>
          <p:nvSpPr>
            <p:cNvPr id="47119" name="Line 27">
              <a:extLst>
                <a:ext uri="{FF2B5EF4-FFF2-40B4-BE49-F238E27FC236}">
                  <a16:creationId xmlns:a16="http://schemas.microsoft.com/office/drawing/2014/main" id="{770C68A0-187E-B140-A603-D02E97B88C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2" y="1082"/>
              <a:ext cx="496" cy="75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</p:grpSp>
      <p:grpSp>
        <p:nvGrpSpPr>
          <p:cNvPr id="8" name="Group 45">
            <a:extLst>
              <a:ext uri="{FF2B5EF4-FFF2-40B4-BE49-F238E27FC236}">
                <a16:creationId xmlns:a16="http://schemas.microsoft.com/office/drawing/2014/main" id="{94BB8AA2-702F-554C-ACC1-0F1662958AF3}"/>
              </a:ext>
            </a:extLst>
          </p:cNvPr>
          <p:cNvGrpSpPr>
            <a:grpSpLocks/>
          </p:cNvGrpSpPr>
          <p:nvPr/>
        </p:nvGrpSpPr>
        <p:grpSpPr bwMode="auto">
          <a:xfrm>
            <a:off x="5499100" y="3341688"/>
            <a:ext cx="2903538" cy="2311400"/>
            <a:chOff x="3464" y="2105"/>
            <a:chExt cx="1829" cy="1456"/>
          </a:xfrm>
        </p:grpSpPr>
        <p:sp>
          <p:nvSpPr>
            <p:cNvPr id="47114" name="Oval 31">
              <a:extLst>
                <a:ext uri="{FF2B5EF4-FFF2-40B4-BE49-F238E27FC236}">
                  <a16:creationId xmlns:a16="http://schemas.microsoft.com/office/drawing/2014/main" id="{6E0C5906-C752-9E4B-8BEC-6402DCF1E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4" y="3241"/>
              <a:ext cx="347" cy="32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47115" name="Text Box 32">
              <a:extLst>
                <a:ext uri="{FF2B5EF4-FFF2-40B4-BE49-F238E27FC236}">
                  <a16:creationId xmlns:a16="http://schemas.microsoft.com/office/drawing/2014/main" id="{8C0A82E9-6C7D-DB46-9886-871B51E9F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" y="2105"/>
              <a:ext cx="988" cy="57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800" b="1">
                  <a:solidFill>
                    <a:schemeClr val="bg1"/>
                  </a:solidFill>
                </a:rPr>
                <a:t>Igual a referência “0”</a:t>
              </a:r>
            </a:p>
          </p:txBody>
        </p:sp>
        <p:sp>
          <p:nvSpPr>
            <p:cNvPr id="47116" name="Line 33">
              <a:extLst>
                <a:ext uri="{FF2B5EF4-FFF2-40B4-BE49-F238E27FC236}">
                  <a16:creationId xmlns:a16="http://schemas.microsoft.com/office/drawing/2014/main" id="{60362D74-BED9-C94C-8BAF-74FBBE218E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5" y="2620"/>
              <a:ext cx="577" cy="6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5">
            <a:extLst>
              <a:ext uri="{FF2B5EF4-FFF2-40B4-BE49-F238E27FC236}">
                <a16:creationId xmlns:a16="http://schemas.microsoft.com/office/drawing/2014/main" id="{6A99D854-0289-2B4D-8D5D-9AD578199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400"/>
            <a:ext cx="3584575" cy="458788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FF0000"/>
                </a:solidFill>
              </a:rPr>
              <a:t>Necessidades do Cliente</a:t>
            </a:r>
          </a:p>
        </p:txBody>
      </p:sp>
      <p:sp>
        <p:nvSpPr>
          <p:cNvPr id="48130" name="Rectangle 6">
            <a:extLst>
              <a:ext uri="{FF2B5EF4-FFF2-40B4-BE49-F238E27FC236}">
                <a16:creationId xmlns:a16="http://schemas.microsoft.com/office/drawing/2014/main" id="{BFD4BDE0-8485-D948-863F-7A022C14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462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 b="1"/>
              <a:t>Aspecto vítreo</a:t>
            </a:r>
          </a:p>
        </p:txBody>
      </p:sp>
      <p:sp>
        <p:nvSpPr>
          <p:cNvPr id="48131" name="Rectangle 7">
            <a:extLst>
              <a:ext uri="{FF2B5EF4-FFF2-40B4-BE49-F238E27FC236}">
                <a16:creationId xmlns:a16="http://schemas.microsoft.com/office/drawing/2014/main" id="{7522E1D6-6059-D747-936B-C9C3044AA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7510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 b="1"/>
              <a:t>Cor amarelinha</a:t>
            </a:r>
          </a:p>
        </p:txBody>
      </p:sp>
      <p:sp>
        <p:nvSpPr>
          <p:cNvPr id="48132" name="Rectangle 8">
            <a:extLst>
              <a:ext uri="{FF2B5EF4-FFF2-40B4-BE49-F238E27FC236}">
                <a16:creationId xmlns:a16="http://schemas.microsoft.com/office/drawing/2014/main" id="{87F2E46D-00E0-AC42-B870-BF1B8C7B8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0558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 b="1"/>
              <a:t>Massa fina</a:t>
            </a:r>
          </a:p>
        </p:txBody>
      </p:sp>
      <p:sp>
        <p:nvSpPr>
          <p:cNvPr id="48133" name="Rectangle 9">
            <a:extLst>
              <a:ext uri="{FF2B5EF4-FFF2-40B4-BE49-F238E27FC236}">
                <a16:creationId xmlns:a16="http://schemas.microsoft.com/office/drawing/2014/main" id="{1EF3E933-64C0-6241-B2D9-331D36A03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3606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 b="1"/>
              <a:t>Macia ao morder</a:t>
            </a:r>
          </a:p>
        </p:txBody>
      </p:sp>
      <p:sp>
        <p:nvSpPr>
          <p:cNvPr id="48134" name="Rectangle 10">
            <a:extLst>
              <a:ext uri="{FF2B5EF4-FFF2-40B4-BE49-F238E27FC236}">
                <a16:creationId xmlns:a16="http://schemas.microsoft.com/office/drawing/2014/main" id="{F42333BB-95F1-CB4D-B9E2-5A236FB1D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6654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 b="1"/>
              <a:t>Soltinha</a:t>
            </a:r>
          </a:p>
        </p:txBody>
      </p:sp>
      <p:sp>
        <p:nvSpPr>
          <p:cNvPr id="48135" name="Rectangle 11">
            <a:extLst>
              <a:ext uri="{FF2B5EF4-FFF2-40B4-BE49-F238E27FC236}">
                <a16:creationId xmlns:a16="http://schemas.microsoft.com/office/drawing/2014/main" id="{276439B7-970B-BE48-8F56-8830FE8FD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9702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 b="1"/>
              <a:t>Fácil de enrolar no garfo</a:t>
            </a:r>
          </a:p>
        </p:txBody>
      </p:sp>
      <p:sp>
        <p:nvSpPr>
          <p:cNvPr id="48136" name="Rectangle 12">
            <a:extLst>
              <a:ext uri="{FF2B5EF4-FFF2-40B4-BE49-F238E27FC236}">
                <a16:creationId xmlns:a16="http://schemas.microsoft.com/office/drawing/2014/main" id="{FBEA2D03-8CB4-ED4D-951A-AB880A08D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275013"/>
            <a:ext cx="2971800" cy="296862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 b="1"/>
              <a:t>Absorver bem o caldo</a:t>
            </a:r>
          </a:p>
        </p:txBody>
      </p:sp>
      <p:sp>
        <p:nvSpPr>
          <p:cNvPr id="48137" name="Rectangle 13">
            <a:extLst>
              <a:ext uri="{FF2B5EF4-FFF2-40B4-BE49-F238E27FC236}">
                <a16:creationId xmlns:a16="http://schemas.microsoft.com/office/drawing/2014/main" id="{D065D0F4-9CCF-1943-8D9D-52953CA93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798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 b="1"/>
              <a:t>Cozimento rápido</a:t>
            </a:r>
          </a:p>
        </p:txBody>
      </p:sp>
      <p:sp>
        <p:nvSpPr>
          <p:cNvPr id="48138" name="Rectangle 14">
            <a:extLst>
              <a:ext uri="{FF2B5EF4-FFF2-40B4-BE49-F238E27FC236}">
                <a16:creationId xmlns:a16="http://schemas.microsoft.com/office/drawing/2014/main" id="{7000CB80-2E22-CC44-9F09-D8DDA25B7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8846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 b="1"/>
              <a:t>Fácil de preparar</a:t>
            </a:r>
          </a:p>
        </p:txBody>
      </p:sp>
      <p:sp>
        <p:nvSpPr>
          <p:cNvPr id="48139" name="Rectangle 15">
            <a:extLst>
              <a:ext uri="{FF2B5EF4-FFF2-40B4-BE49-F238E27FC236}">
                <a16:creationId xmlns:a16="http://schemas.microsoft.com/office/drawing/2014/main" id="{DAF68274-0FC5-5D41-BAA3-10E592577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1894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 b="1"/>
              <a:t>Porção individual</a:t>
            </a:r>
          </a:p>
        </p:txBody>
      </p:sp>
      <p:sp>
        <p:nvSpPr>
          <p:cNvPr id="48140" name="Rectangle 16">
            <a:extLst>
              <a:ext uri="{FF2B5EF4-FFF2-40B4-BE49-F238E27FC236}">
                <a16:creationId xmlns:a16="http://schemas.microsoft.com/office/drawing/2014/main" id="{76832FC1-D582-A443-97E7-E6F8D19F8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4942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 b="1"/>
              <a:t>Emabalagem reciclável</a:t>
            </a:r>
          </a:p>
        </p:txBody>
      </p:sp>
      <p:sp>
        <p:nvSpPr>
          <p:cNvPr id="48141" name="Rectangle 17">
            <a:extLst>
              <a:ext uri="{FF2B5EF4-FFF2-40B4-BE49-F238E27FC236}">
                <a16:creationId xmlns:a16="http://schemas.microsoft.com/office/drawing/2014/main" id="{E4919699-AE70-1042-B82F-538E94FC7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7990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 b="1"/>
              <a:t>Tempero suave</a:t>
            </a:r>
          </a:p>
        </p:txBody>
      </p:sp>
      <p:sp>
        <p:nvSpPr>
          <p:cNvPr id="48142" name="Rectangle 18">
            <a:extLst>
              <a:ext uri="{FF2B5EF4-FFF2-40B4-BE49-F238E27FC236}">
                <a16:creationId xmlns:a16="http://schemas.microsoft.com/office/drawing/2014/main" id="{4BEF002B-5706-3D4A-A36A-EAAD44CD2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1141413"/>
            <a:ext cx="685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6600"/>
                </a:solidFill>
              </a:rPr>
              <a:t>Peso</a:t>
            </a:r>
            <a:endParaRPr lang="pt-BR" altLang="pt-BR" sz="2400">
              <a:solidFill>
                <a:srgbClr val="FF0000"/>
              </a:solidFill>
            </a:endParaRPr>
          </a:p>
        </p:txBody>
      </p:sp>
      <p:sp>
        <p:nvSpPr>
          <p:cNvPr id="48143" name="Rectangle 19">
            <a:extLst>
              <a:ext uri="{FF2B5EF4-FFF2-40B4-BE49-F238E27FC236}">
                <a16:creationId xmlns:a16="http://schemas.microsoft.com/office/drawing/2014/main" id="{B85915BF-CA48-4D40-8D10-B30D97A15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14462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400" b="1"/>
              <a:t>4</a:t>
            </a:r>
            <a:endParaRPr lang="pt-BR" altLang="pt-BR" sz="2400">
              <a:solidFill>
                <a:srgbClr val="FF0000"/>
              </a:solidFill>
            </a:endParaRPr>
          </a:p>
        </p:txBody>
      </p:sp>
      <p:sp>
        <p:nvSpPr>
          <p:cNvPr id="48144" name="Rectangle 20">
            <a:extLst>
              <a:ext uri="{FF2B5EF4-FFF2-40B4-BE49-F238E27FC236}">
                <a16:creationId xmlns:a16="http://schemas.microsoft.com/office/drawing/2014/main" id="{A70BDA08-F30F-9B49-8075-24DC83BFB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17510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400" b="1"/>
              <a:t>4</a:t>
            </a:r>
            <a:endParaRPr lang="pt-BR" altLang="pt-BR" sz="2400">
              <a:solidFill>
                <a:srgbClr val="FF0000"/>
              </a:solidFill>
            </a:endParaRPr>
          </a:p>
        </p:txBody>
      </p:sp>
      <p:sp>
        <p:nvSpPr>
          <p:cNvPr id="48145" name="Rectangle 21">
            <a:extLst>
              <a:ext uri="{FF2B5EF4-FFF2-40B4-BE49-F238E27FC236}">
                <a16:creationId xmlns:a16="http://schemas.microsoft.com/office/drawing/2014/main" id="{2E2D3F91-D2C6-764A-B142-380FBB2ED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20558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400" b="1"/>
              <a:t>5</a:t>
            </a:r>
            <a:endParaRPr lang="pt-BR" altLang="pt-BR" sz="2400">
              <a:solidFill>
                <a:srgbClr val="FF0000"/>
              </a:solidFill>
            </a:endParaRPr>
          </a:p>
        </p:txBody>
      </p:sp>
      <p:sp>
        <p:nvSpPr>
          <p:cNvPr id="48146" name="Rectangle 22">
            <a:extLst>
              <a:ext uri="{FF2B5EF4-FFF2-40B4-BE49-F238E27FC236}">
                <a16:creationId xmlns:a16="http://schemas.microsoft.com/office/drawing/2014/main" id="{CC083740-C02D-6249-B85C-F9B3378D4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23606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400" b="1"/>
              <a:t>3</a:t>
            </a:r>
            <a:endParaRPr lang="pt-BR" altLang="pt-BR" sz="2400">
              <a:solidFill>
                <a:srgbClr val="FF0000"/>
              </a:solidFill>
            </a:endParaRPr>
          </a:p>
        </p:txBody>
      </p:sp>
      <p:sp>
        <p:nvSpPr>
          <p:cNvPr id="48147" name="Rectangle 23">
            <a:extLst>
              <a:ext uri="{FF2B5EF4-FFF2-40B4-BE49-F238E27FC236}">
                <a16:creationId xmlns:a16="http://schemas.microsoft.com/office/drawing/2014/main" id="{9F9338B7-95DC-2C44-9ADD-FFC6218CB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26654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400" b="1"/>
              <a:t>5</a:t>
            </a:r>
            <a:endParaRPr lang="pt-BR" altLang="pt-BR" sz="2400">
              <a:solidFill>
                <a:srgbClr val="FF0000"/>
              </a:solidFill>
            </a:endParaRPr>
          </a:p>
        </p:txBody>
      </p:sp>
      <p:sp>
        <p:nvSpPr>
          <p:cNvPr id="48148" name="Rectangle 24">
            <a:extLst>
              <a:ext uri="{FF2B5EF4-FFF2-40B4-BE49-F238E27FC236}">
                <a16:creationId xmlns:a16="http://schemas.microsoft.com/office/drawing/2014/main" id="{F97DABCB-C3C2-D547-AAE7-ADDDA77C1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29702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400" b="1"/>
              <a:t>4</a:t>
            </a:r>
            <a:endParaRPr lang="pt-BR" altLang="pt-BR" sz="2400">
              <a:solidFill>
                <a:srgbClr val="FF0000"/>
              </a:solidFill>
            </a:endParaRPr>
          </a:p>
        </p:txBody>
      </p:sp>
      <p:sp>
        <p:nvSpPr>
          <p:cNvPr id="48149" name="Rectangle 25">
            <a:extLst>
              <a:ext uri="{FF2B5EF4-FFF2-40B4-BE49-F238E27FC236}">
                <a16:creationId xmlns:a16="http://schemas.microsoft.com/office/drawing/2014/main" id="{8D366811-07D4-B644-9CD0-FDF93D57C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32750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400" b="1"/>
              <a:t>4</a:t>
            </a:r>
            <a:endParaRPr lang="pt-BR" altLang="pt-BR" sz="2400">
              <a:solidFill>
                <a:srgbClr val="FF0000"/>
              </a:solidFill>
            </a:endParaRPr>
          </a:p>
        </p:txBody>
      </p:sp>
      <p:sp>
        <p:nvSpPr>
          <p:cNvPr id="48150" name="Rectangle 26">
            <a:extLst>
              <a:ext uri="{FF2B5EF4-FFF2-40B4-BE49-F238E27FC236}">
                <a16:creationId xmlns:a16="http://schemas.microsoft.com/office/drawing/2014/main" id="{F027B315-1A1F-D742-9F16-C55FF1C1E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35798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400" b="1"/>
              <a:t>3</a:t>
            </a:r>
            <a:endParaRPr lang="pt-BR" altLang="pt-BR" sz="2400">
              <a:solidFill>
                <a:srgbClr val="FF0000"/>
              </a:solidFill>
            </a:endParaRPr>
          </a:p>
        </p:txBody>
      </p:sp>
      <p:sp>
        <p:nvSpPr>
          <p:cNvPr id="48151" name="Rectangle 27">
            <a:extLst>
              <a:ext uri="{FF2B5EF4-FFF2-40B4-BE49-F238E27FC236}">
                <a16:creationId xmlns:a16="http://schemas.microsoft.com/office/drawing/2014/main" id="{2DA58CC0-526C-264A-BA22-E6D8BF7E1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38846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400" b="1"/>
              <a:t>4</a:t>
            </a:r>
            <a:endParaRPr lang="pt-BR" altLang="pt-BR" sz="2400">
              <a:solidFill>
                <a:srgbClr val="FF0000"/>
              </a:solidFill>
            </a:endParaRPr>
          </a:p>
        </p:txBody>
      </p:sp>
      <p:sp>
        <p:nvSpPr>
          <p:cNvPr id="48152" name="Rectangle 28">
            <a:extLst>
              <a:ext uri="{FF2B5EF4-FFF2-40B4-BE49-F238E27FC236}">
                <a16:creationId xmlns:a16="http://schemas.microsoft.com/office/drawing/2014/main" id="{0A017739-72D5-2447-BB6B-3D3131081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41894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400" b="1"/>
              <a:t>3</a:t>
            </a:r>
            <a:endParaRPr lang="pt-BR" altLang="pt-BR" sz="2400">
              <a:solidFill>
                <a:srgbClr val="FF0000"/>
              </a:solidFill>
            </a:endParaRPr>
          </a:p>
        </p:txBody>
      </p:sp>
      <p:sp>
        <p:nvSpPr>
          <p:cNvPr id="48153" name="Rectangle 29">
            <a:extLst>
              <a:ext uri="{FF2B5EF4-FFF2-40B4-BE49-F238E27FC236}">
                <a16:creationId xmlns:a16="http://schemas.microsoft.com/office/drawing/2014/main" id="{9D5F0274-52F8-9E44-A920-B39AF2170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44942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400" b="1"/>
              <a:t>1</a:t>
            </a:r>
            <a:endParaRPr lang="pt-BR" altLang="pt-BR" sz="2400">
              <a:solidFill>
                <a:srgbClr val="FF0000"/>
              </a:solidFill>
            </a:endParaRPr>
          </a:p>
        </p:txBody>
      </p:sp>
      <p:sp>
        <p:nvSpPr>
          <p:cNvPr id="48154" name="Rectangle 30">
            <a:extLst>
              <a:ext uri="{FF2B5EF4-FFF2-40B4-BE49-F238E27FC236}">
                <a16:creationId xmlns:a16="http://schemas.microsoft.com/office/drawing/2014/main" id="{D7D4196B-7415-B84E-AD9B-8414C2BE3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47990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400" b="1"/>
              <a:t>2</a:t>
            </a:r>
            <a:endParaRPr lang="pt-BR" altLang="pt-BR" sz="2400">
              <a:solidFill>
                <a:srgbClr val="FF0000"/>
              </a:solidFill>
            </a:endParaRPr>
          </a:p>
        </p:txBody>
      </p:sp>
      <p:sp>
        <p:nvSpPr>
          <p:cNvPr id="48155" name="Rectangle 31">
            <a:extLst>
              <a:ext uri="{FF2B5EF4-FFF2-40B4-BE49-F238E27FC236}">
                <a16:creationId xmlns:a16="http://schemas.microsoft.com/office/drawing/2014/main" id="{000702FF-AA8B-CC4B-83AB-78EE641BE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103813"/>
            <a:ext cx="2971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600" b="1"/>
              <a:t>TOTAL +</a:t>
            </a:r>
          </a:p>
        </p:txBody>
      </p:sp>
      <p:sp>
        <p:nvSpPr>
          <p:cNvPr id="48156" name="Rectangle 32">
            <a:extLst>
              <a:ext uri="{FF2B5EF4-FFF2-40B4-BE49-F238E27FC236}">
                <a16:creationId xmlns:a16="http://schemas.microsoft.com/office/drawing/2014/main" id="{6F07A5F1-8BB4-4444-93A2-82AE0FE24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408613"/>
            <a:ext cx="2971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600" b="1"/>
              <a:t>TOTAL -</a:t>
            </a:r>
          </a:p>
        </p:txBody>
      </p:sp>
      <p:sp>
        <p:nvSpPr>
          <p:cNvPr id="48157" name="Rectangle 33">
            <a:extLst>
              <a:ext uri="{FF2B5EF4-FFF2-40B4-BE49-F238E27FC236}">
                <a16:creationId xmlns:a16="http://schemas.microsoft.com/office/drawing/2014/main" id="{4A70D70D-A707-EE48-B04D-C23D85C37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713413"/>
            <a:ext cx="2971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600" b="1"/>
              <a:t>TOTAL GLOBAL</a:t>
            </a:r>
          </a:p>
        </p:txBody>
      </p:sp>
      <p:sp>
        <p:nvSpPr>
          <p:cNvPr id="48158" name="Rectangle 34">
            <a:extLst>
              <a:ext uri="{FF2B5EF4-FFF2-40B4-BE49-F238E27FC236}">
                <a16:creationId xmlns:a16="http://schemas.microsoft.com/office/drawing/2014/main" id="{711B4F86-7EA1-804A-982A-60D80A79C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018213"/>
            <a:ext cx="2971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rgbClr val="FF0000"/>
                </a:solidFill>
              </a:rPr>
              <a:t>PESO TOTAL</a:t>
            </a:r>
            <a:r>
              <a:rPr lang="pt-BR" altLang="pt-BR" sz="1600" b="1"/>
              <a:t> </a:t>
            </a:r>
          </a:p>
        </p:txBody>
      </p:sp>
      <p:sp>
        <p:nvSpPr>
          <p:cNvPr id="48159" name="Rectangle 35">
            <a:extLst>
              <a:ext uri="{FF2B5EF4-FFF2-40B4-BE49-F238E27FC236}">
                <a16:creationId xmlns:a16="http://schemas.microsoft.com/office/drawing/2014/main" id="{591EDA36-329C-7A4A-BA8B-73F264726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5103813"/>
            <a:ext cx="685800" cy="12192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sp>
        <p:nvSpPr>
          <p:cNvPr id="48160" name="Rectangle 36">
            <a:extLst>
              <a:ext uri="{FF2B5EF4-FFF2-40B4-BE49-F238E27FC236}">
                <a16:creationId xmlns:a16="http://schemas.microsoft.com/office/drawing/2014/main" id="{06182A34-F314-634A-9705-83D603594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836613"/>
            <a:ext cx="4114800" cy="304800"/>
          </a:xfrm>
          <a:prstGeom prst="rect">
            <a:avLst/>
          </a:prstGeom>
          <a:solidFill>
            <a:srgbClr val="00CCFF"/>
          </a:solidFill>
          <a:ln w="9525">
            <a:solidFill>
              <a:srgbClr val="00CCFF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dirty="0">
                <a:solidFill>
                  <a:schemeClr val="tx2"/>
                </a:solidFill>
                <a:latin typeface="Arial"/>
                <a:cs typeface="Arial"/>
              </a:rPr>
              <a:t>Concepções</a:t>
            </a:r>
            <a:endParaRPr lang="pt-BR" altLang="pt-BR" sz="2400" dirty="0">
              <a:solidFill>
                <a:schemeClr val="tx2"/>
              </a:solidFill>
            </a:endParaRPr>
          </a:p>
        </p:txBody>
      </p:sp>
      <p:sp>
        <p:nvSpPr>
          <p:cNvPr id="48161" name="Rectangle 37">
            <a:extLst>
              <a:ext uri="{FF2B5EF4-FFF2-40B4-BE49-F238E27FC236}">
                <a16:creationId xmlns:a16="http://schemas.microsoft.com/office/drawing/2014/main" id="{2DAA5C24-23CA-8B4F-8F7F-7E679823B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1141413"/>
            <a:ext cx="685800" cy="3048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chemeClr val="tx2"/>
                </a:solidFill>
              </a:rPr>
              <a:t>I</a:t>
            </a:r>
          </a:p>
        </p:txBody>
      </p:sp>
      <p:sp>
        <p:nvSpPr>
          <p:cNvPr id="48162" name="Rectangle 38">
            <a:extLst>
              <a:ext uri="{FF2B5EF4-FFF2-40B4-BE49-F238E27FC236}">
                <a16:creationId xmlns:a16="http://schemas.microsoft.com/office/drawing/2014/main" id="{ACA5507E-C600-3C4E-8F3B-94F4136EF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1141413"/>
            <a:ext cx="685800" cy="3048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chemeClr val="tx2"/>
                </a:solidFill>
              </a:rPr>
              <a:t>II</a:t>
            </a:r>
          </a:p>
        </p:txBody>
      </p:sp>
      <p:sp>
        <p:nvSpPr>
          <p:cNvPr id="48163" name="Rectangle 39">
            <a:extLst>
              <a:ext uri="{FF2B5EF4-FFF2-40B4-BE49-F238E27FC236}">
                <a16:creationId xmlns:a16="http://schemas.microsoft.com/office/drawing/2014/main" id="{333F0C7A-7692-C646-BB5D-6701EE691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1141413"/>
            <a:ext cx="685800" cy="3048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chemeClr val="tx2"/>
                </a:solidFill>
              </a:rPr>
              <a:t>III</a:t>
            </a:r>
          </a:p>
        </p:txBody>
      </p:sp>
      <p:sp>
        <p:nvSpPr>
          <p:cNvPr id="48164" name="Rectangle 40">
            <a:extLst>
              <a:ext uri="{FF2B5EF4-FFF2-40B4-BE49-F238E27FC236}">
                <a16:creationId xmlns:a16="http://schemas.microsoft.com/office/drawing/2014/main" id="{6320D8EC-30C9-E345-874B-5833369CB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1141413"/>
            <a:ext cx="685800" cy="3048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chemeClr val="tx2"/>
                </a:solidFill>
              </a:rPr>
              <a:t>IV</a:t>
            </a:r>
          </a:p>
        </p:txBody>
      </p:sp>
      <p:sp>
        <p:nvSpPr>
          <p:cNvPr id="48165" name="Rectangle 41">
            <a:extLst>
              <a:ext uri="{FF2B5EF4-FFF2-40B4-BE49-F238E27FC236}">
                <a16:creationId xmlns:a16="http://schemas.microsoft.com/office/drawing/2014/main" id="{0FA7654B-592C-4147-B4DB-A073B83E6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1141413"/>
            <a:ext cx="685800" cy="3048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chemeClr val="tx2"/>
                </a:solidFill>
              </a:rPr>
              <a:t>V</a:t>
            </a:r>
          </a:p>
        </p:txBody>
      </p:sp>
      <p:sp>
        <p:nvSpPr>
          <p:cNvPr id="48166" name="Rectangle 42">
            <a:extLst>
              <a:ext uri="{FF2B5EF4-FFF2-40B4-BE49-F238E27FC236}">
                <a16:creationId xmlns:a16="http://schemas.microsoft.com/office/drawing/2014/main" id="{04D48D7C-4CE8-E64F-B058-31E09D3BA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1141413"/>
            <a:ext cx="685800" cy="3048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chemeClr val="tx2"/>
                </a:solidFill>
              </a:rPr>
              <a:t>VI</a:t>
            </a:r>
          </a:p>
        </p:txBody>
      </p:sp>
      <p:sp>
        <p:nvSpPr>
          <p:cNvPr id="48167" name="Rectangle 43">
            <a:extLst>
              <a:ext uri="{FF2B5EF4-FFF2-40B4-BE49-F238E27FC236}">
                <a16:creationId xmlns:a16="http://schemas.microsoft.com/office/drawing/2014/main" id="{40D40EEF-4102-6545-8DED-4DAE8F7F8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1446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68" name="Rectangle 44">
            <a:extLst>
              <a:ext uri="{FF2B5EF4-FFF2-40B4-BE49-F238E27FC236}">
                <a16:creationId xmlns:a16="http://schemas.microsoft.com/office/drawing/2014/main" id="{D84963D4-EA1E-F543-9A4E-755227EEE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1446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69" name="Rectangle 45">
            <a:extLst>
              <a:ext uri="{FF2B5EF4-FFF2-40B4-BE49-F238E27FC236}">
                <a16:creationId xmlns:a16="http://schemas.microsoft.com/office/drawing/2014/main" id="{933F7629-6409-9B4D-AC73-5875427C9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1446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70" name="Rectangle 46">
            <a:extLst>
              <a:ext uri="{FF2B5EF4-FFF2-40B4-BE49-F238E27FC236}">
                <a16:creationId xmlns:a16="http://schemas.microsoft.com/office/drawing/2014/main" id="{81F6DDE5-0567-AD41-810A-DAEC24421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1446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71" name="Rectangle 47">
            <a:extLst>
              <a:ext uri="{FF2B5EF4-FFF2-40B4-BE49-F238E27FC236}">
                <a16:creationId xmlns:a16="http://schemas.microsoft.com/office/drawing/2014/main" id="{7FFEE50F-40F1-3844-A243-C68C76FBC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1446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72" name="Rectangle 48">
            <a:extLst>
              <a:ext uri="{FF2B5EF4-FFF2-40B4-BE49-F238E27FC236}">
                <a16:creationId xmlns:a16="http://schemas.microsoft.com/office/drawing/2014/main" id="{19E93637-20A2-8D46-B007-B24A1072B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1446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pt-BR" altLang="pt-BR" sz="2400">
              <a:solidFill>
                <a:schemeClr val="tx2"/>
              </a:solidFill>
            </a:endParaRPr>
          </a:p>
        </p:txBody>
      </p:sp>
      <p:sp>
        <p:nvSpPr>
          <p:cNvPr id="48173" name="Rectangle 49">
            <a:extLst>
              <a:ext uri="{FF2B5EF4-FFF2-40B4-BE49-F238E27FC236}">
                <a16:creationId xmlns:a16="http://schemas.microsoft.com/office/drawing/2014/main" id="{0D19BE82-4AE4-444E-9A7C-2A0557264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1751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174" name="Rectangle 50">
            <a:extLst>
              <a:ext uri="{FF2B5EF4-FFF2-40B4-BE49-F238E27FC236}">
                <a16:creationId xmlns:a16="http://schemas.microsoft.com/office/drawing/2014/main" id="{F5C04ED0-58A2-574A-BD8D-C7B813ECD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1751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75" name="Rectangle 51">
            <a:extLst>
              <a:ext uri="{FF2B5EF4-FFF2-40B4-BE49-F238E27FC236}">
                <a16:creationId xmlns:a16="http://schemas.microsoft.com/office/drawing/2014/main" id="{63D73766-15D7-3D49-BD12-CA4988F72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1751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76" name="Rectangle 52">
            <a:extLst>
              <a:ext uri="{FF2B5EF4-FFF2-40B4-BE49-F238E27FC236}">
                <a16:creationId xmlns:a16="http://schemas.microsoft.com/office/drawing/2014/main" id="{0A5645BE-8362-864D-9A12-74FE9561F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1751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77" name="Rectangle 53">
            <a:extLst>
              <a:ext uri="{FF2B5EF4-FFF2-40B4-BE49-F238E27FC236}">
                <a16:creationId xmlns:a16="http://schemas.microsoft.com/office/drawing/2014/main" id="{1ABBC473-8739-6846-869A-55AFB0670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1751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78" name="Rectangle 54">
            <a:extLst>
              <a:ext uri="{FF2B5EF4-FFF2-40B4-BE49-F238E27FC236}">
                <a16:creationId xmlns:a16="http://schemas.microsoft.com/office/drawing/2014/main" id="{97D1C245-D873-D243-87C6-42BAC05E2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1751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R</a:t>
            </a:r>
          </a:p>
        </p:txBody>
      </p:sp>
      <p:sp>
        <p:nvSpPr>
          <p:cNvPr id="48179" name="Rectangle 55">
            <a:extLst>
              <a:ext uri="{FF2B5EF4-FFF2-40B4-BE49-F238E27FC236}">
                <a16:creationId xmlns:a16="http://schemas.microsoft.com/office/drawing/2014/main" id="{AE8EE3C3-73FD-6D4D-9531-BF3777ABE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2055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80" name="Rectangle 56">
            <a:extLst>
              <a:ext uri="{FF2B5EF4-FFF2-40B4-BE49-F238E27FC236}">
                <a16:creationId xmlns:a16="http://schemas.microsoft.com/office/drawing/2014/main" id="{79BEA3CD-B6B5-2349-9570-D626766B7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2055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81" name="Rectangle 57">
            <a:extLst>
              <a:ext uri="{FF2B5EF4-FFF2-40B4-BE49-F238E27FC236}">
                <a16:creationId xmlns:a16="http://schemas.microsoft.com/office/drawing/2014/main" id="{318433FE-4713-B641-AF95-9F9DB851A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2055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82" name="Rectangle 58">
            <a:extLst>
              <a:ext uri="{FF2B5EF4-FFF2-40B4-BE49-F238E27FC236}">
                <a16:creationId xmlns:a16="http://schemas.microsoft.com/office/drawing/2014/main" id="{FD587C34-6BF3-0246-BD37-2526A71C9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055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83" name="Rectangle 59">
            <a:extLst>
              <a:ext uri="{FF2B5EF4-FFF2-40B4-BE49-F238E27FC236}">
                <a16:creationId xmlns:a16="http://schemas.microsoft.com/office/drawing/2014/main" id="{4431D928-737C-A942-A505-004977296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2055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84" name="Rectangle 60">
            <a:extLst>
              <a:ext uri="{FF2B5EF4-FFF2-40B4-BE49-F238E27FC236}">
                <a16:creationId xmlns:a16="http://schemas.microsoft.com/office/drawing/2014/main" id="{6A4A11FA-93FE-C64C-8E55-C79D7EF0D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2055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E</a:t>
            </a:r>
          </a:p>
        </p:txBody>
      </p:sp>
      <p:sp>
        <p:nvSpPr>
          <p:cNvPr id="48185" name="Rectangle 61">
            <a:extLst>
              <a:ext uri="{FF2B5EF4-FFF2-40B4-BE49-F238E27FC236}">
                <a16:creationId xmlns:a16="http://schemas.microsoft.com/office/drawing/2014/main" id="{3A8BC341-AB38-B942-B81D-745FF53A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2360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86" name="Rectangle 62">
            <a:extLst>
              <a:ext uri="{FF2B5EF4-FFF2-40B4-BE49-F238E27FC236}">
                <a16:creationId xmlns:a16="http://schemas.microsoft.com/office/drawing/2014/main" id="{9D3B3517-BBF1-2B40-91CF-A0E435ADF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2360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87" name="Rectangle 63">
            <a:extLst>
              <a:ext uri="{FF2B5EF4-FFF2-40B4-BE49-F238E27FC236}">
                <a16:creationId xmlns:a16="http://schemas.microsoft.com/office/drawing/2014/main" id="{2DAB1E89-AA63-2E45-AF4F-4D96FE3B2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2360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88" name="Rectangle 64">
            <a:extLst>
              <a:ext uri="{FF2B5EF4-FFF2-40B4-BE49-F238E27FC236}">
                <a16:creationId xmlns:a16="http://schemas.microsoft.com/office/drawing/2014/main" id="{6DC20ECA-323F-E648-B43B-D3384164F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360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89" name="Rectangle 65">
            <a:extLst>
              <a:ext uri="{FF2B5EF4-FFF2-40B4-BE49-F238E27FC236}">
                <a16:creationId xmlns:a16="http://schemas.microsoft.com/office/drawing/2014/main" id="{C31AF75E-37FA-6441-9E18-CC1C56E0E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2360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90" name="Rectangle 66">
            <a:extLst>
              <a:ext uri="{FF2B5EF4-FFF2-40B4-BE49-F238E27FC236}">
                <a16:creationId xmlns:a16="http://schemas.microsoft.com/office/drawing/2014/main" id="{5F5CDA6C-85F7-2A43-94AB-4D1936AAA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2360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F</a:t>
            </a:r>
          </a:p>
        </p:txBody>
      </p:sp>
      <p:sp>
        <p:nvSpPr>
          <p:cNvPr id="48191" name="Rectangle 67">
            <a:extLst>
              <a:ext uri="{FF2B5EF4-FFF2-40B4-BE49-F238E27FC236}">
                <a16:creationId xmlns:a16="http://schemas.microsoft.com/office/drawing/2014/main" id="{97DA86D2-0DA6-2A49-A282-E4DFC0A32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2665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192" name="Rectangle 68">
            <a:extLst>
              <a:ext uri="{FF2B5EF4-FFF2-40B4-BE49-F238E27FC236}">
                <a16:creationId xmlns:a16="http://schemas.microsoft.com/office/drawing/2014/main" id="{74F5D5ED-291C-5A4E-BF4B-4189A96F0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2665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93" name="Rectangle 69">
            <a:extLst>
              <a:ext uri="{FF2B5EF4-FFF2-40B4-BE49-F238E27FC236}">
                <a16:creationId xmlns:a16="http://schemas.microsoft.com/office/drawing/2014/main" id="{EA890B0D-B86C-DE47-9D7E-DEC0D7BE8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2665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194" name="Rectangle 70">
            <a:extLst>
              <a:ext uri="{FF2B5EF4-FFF2-40B4-BE49-F238E27FC236}">
                <a16:creationId xmlns:a16="http://schemas.microsoft.com/office/drawing/2014/main" id="{18E12622-CB90-F94F-BBF4-1B7D42D75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665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95" name="Rectangle 71">
            <a:extLst>
              <a:ext uri="{FF2B5EF4-FFF2-40B4-BE49-F238E27FC236}">
                <a16:creationId xmlns:a16="http://schemas.microsoft.com/office/drawing/2014/main" id="{DE1C226E-399B-0C45-B28C-8F1A3AEE6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2665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96" name="Rectangle 72">
            <a:extLst>
              <a:ext uri="{FF2B5EF4-FFF2-40B4-BE49-F238E27FC236}">
                <a16:creationId xmlns:a16="http://schemas.microsoft.com/office/drawing/2014/main" id="{3D12155E-B687-644B-977B-3A1690F44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2665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E</a:t>
            </a:r>
          </a:p>
        </p:txBody>
      </p:sp>
      <p:sp>
        <p:nvSpPr>
          <p:cNvPr id="48197" name="Rectangle 73">
            <a:extLst>
              <a:ext uri="{FF2B5EF4-FFF2-40B4-BE49-F238E27FC236}">
                <a16:creationId xmlns:a16="http://schemas.microsoft.com/office/drawing/2014/main" id="{59CAD0F9-EBAB-0546-B662-B051C646F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2970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98" name="Rectangle 74">
            <a:extLst>
              <a:ext uri="{FF2B5EF4-FFF2-40B4-BE49-F238E27FC236}">
                <a16:creationId xmlns:a16="http://schemas.microsoft.com/office/drawing/2014/main" id="{F9DB231E-573A-144C-96FD-28A8FF5A9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2970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199" name="Rectangle 75">
            <a:extLst>
              <a:ext uri="{FF2B5EF4-FFF2-40B4-BE49-F238E27FC236}">
                <a16:creationId xmlns:a16="http://schemas.microsoft.com/office/drawing/2014/main" id="{B2C607DD-6AEA-F048-97F0-AF8678B36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2970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200" name="Rectangle 76">
            <a:extLst>
              <a:ext uri="{FF2B5EF4-FFF2-40B4-BE49-F238E27FC236}">
                <a16:creationId xmlns:a16="http://schemas.microsoft.com/office/drawing/2014/main" id="{E84A8FD3-676D-C44F-B462-924E6CF46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970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201" name="Rectangle 77">
            <a:extLst>
              <a:ext uri="{FF2B5EF4-FFF2-40B4-BE49-F238E27FC236}">
                <a16:creationId xmlns:a16="http://schemas.microsoft.com/office/drawing/2014/main" id="{8B65369B-3801-5545-9B45-DDB9221EA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2970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M</a:t>
            </a:r>
          </a:p>
        </p:txBody>
      </p:sp>
      <p:sp>
        <p:nvSpPr>
          <p:cNvPr id="48202" name="Rectangle 78">
            <a:extLst>
              <a:ext uri="{FF2B5EF4-FFF2-40B4-BE49-F238E27FC236}">
                <a16:creationId xmlns:a16="http://schemas.microsoft.com/office/drawing/2014/main" id="{8AB64E7A-75DC-5B42-8A90-2C9C787AA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2970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R</a:t>
            </a:r>
          </a:p>
        </p:txBody>
      </p:sp>
      <p:sp>
        <p:nvSpPr>
          <p:cNvPr id="48203" name="Rectangle 79">
            <a:extLst>
              <a:ext uri="{FF2B5EF4-FFF2-40B4-BE49-F238E27FC236}">
                <a16:creationId xmlns:a16="http://schemas.microsoft.com/office/drawing/2014/main" id="{4CD08A2A-8D1D-CC42-A99E-3958FE457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3275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04" name="Rectangle 80">
            <a:extLst>
              <a:ext uri="{FF2B5EF4-FFF2-40B4-BE49-F238E27FC236}">
                <a16:creationId xmlns:a16="http://schemas.microsoft.com/office/drawing/2014/main" id="{D0AA8DE0-9599-1D40-978E-0DC3E05A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3275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05" name="Rectangle 81">
            <a:extLst>
              <a:ext uri="{FF2B5EF4-FFF2-40B4-BE49-F238E27FC236}">
                <a16:creationId xmlns:a16="http://schemas.microsoft.com/office/drawing/2014/main" id="{BE329725-5A59-D842-85A2-185443A20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275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06" name="Rectangle 82">
            <a:extLst>
              <a:ext uri="{FF2B5EF4-FFF2-40B4-BE49-F238E27FC236}">
                <a16:creationId xmlns:a16="http://schemas.microsoft.com/office/drawing/2014/main" id="{82C0886F-9A08-3C40-9452-24CD6064A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3275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207" name="Rectangle 83">
            <a:extLst>
              <a:ext uri="{FF2B5EF4-FFF2-40B4-BE49-F238E27FC236}">
                <a16:creationId xmlns:a16="http://schemas.microsoft.com/office/drawing/2014/main" id="{9A780528-82B0-854E-A356-45A4F3EBA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3275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M</a:t>
            </a:r>
          </a:p>
        </p:txBody>
      </p:sp>
      <p:sp>
        <p:nvSpPr>
          <p:cNvPr id="48208" name="Rectangle 84">
            <a:extLst>
              <a:ext uri="{FF2B5EF4-FFF2-40B4-BE49-F238E27FC236}">
                <a16:creationId xmlns:a16="http://schemas.microsoft.com/office/drawing/2014/main" id="{C8A1011D-1F2A-014A-B443-9BF0ACBCD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3275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Ê</a:t>
            </a:r>
          </a:p>
        </p:txBody>
      </p:sp>
      <p:sp>
        <p:nvSpPr>
          <p:cNvPr id="48209" name="Rectangle 85">
            <a:extLst>
              <a:ext uri="{FF2B5EF4-FFF2-40B4-BE49-F238E27FC236}">
                <a16:creationId xmlns:a16="http://schemas.microsoft.com/office/drawing/2014/main" id="{AF3201FC-02E6-BA4F-BF1A-7BE928AC6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3579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10" name="Rectangle 86">
            <a:extLst>
              <a:ext uri="{FF2B5EF4-FFF2-40B4-BE49-F238E27FC236}">
                <a16:creationId xmlns:a16="http://schemas.microsoft.com/office/drawing/2014/main" id="{F3F30B50-3478-1740-A68A-A0A04B023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3579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11" name="Rectangle 87">
            <a:extLst>
              <a:ext uri="{FF2B5EF4-FFF2-40B4-BE49-F238E27FC236}">
                <a16:creationId xmlns:a16="http://schemas.microsoft.com/office/drawing/2014/main" id="{DC093B47-53CA-7E4E-99DB-0DE6B4597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579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12" name="Rectangle 88">
            <a:extLst>
              <a:ext uri="{FF2B5EF4-FFF2-40B4-BE49-F238E27FC236}">
                <a16:creationId xmlns:a16="http://schemas.microsoft.com/office/drawing/2014/main" id="{D0964DD3-6677-DC4E-AE4E-F27A28C56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3579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M</a:t>
            </a:r>
          </a:p>
        </p:txBody>
      </p:sp>
      <p:sp>
        <p:nvSpPr>
          <p:cNvPr id="48213" name="Rectangle 89">
            <a:extLst>
              <a:ext uri="{FF2B5EF4-FFF2-40B4-BE49-F238E27FC236}">
                <a16:creationId xmlns:a16="http://schemas.microsoft.com/office/drawing/2014/main" id="{5DE829EA-A4A8-4A4E-9283-7529B6A3D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3579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M</a:t>
            </a:r>
          </a:p>
        </p:txBody>
      </p:sp>
      <p:sp>
        <p:nvSpPr>
          <p:cNvPr id="48214" name="Rectangle 90">
            <a:extLst>
              <a:ext uri="{FF2B5EF4-FFF2-40B4-BE49-F238E27FC236}">
                <a16:creationId xmlns:a16="http://schemas.microsoft.com/office/drawing/2014/main" id="{D59EE4E8-181B-7047-AE43-AE34DF0A4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3579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N</a:t>
            </a:r>
          </a:p>
        </p:txBody>
      </p:sp>
      <p:sp>
        <p:nvSpPr>
          <p:cNvPr id="48215" name="Rectangle 91">
            <a:extLst>
              <a:ext uri="{FF2B5EF4-FFF2-40B4-BE49-F238E27FC236}">
                <a16:creationId xmlns:a16="http://schemas.microsoft.com/office/drawing/2014/main" id="{93AF6EBA-7553-1044-A5C9-FAD01747E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4189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16" name="Rectangle 92">
            <a:extLst>
              <a:ext uri="{FF2B5EF4-FFF2-40B4-BE49-F238E27FC236}">
                <a16:creationId xmlns:a16="http://schemas.microsoft.com/office/drawing/2014/main" id="{9DD88585-ACE8-1842-9E83-174F2E85D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4189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M</a:t>
            </a:r>
          </a:p>
        </p:txBody>
      </p:sp>
      <p:sp>
        <p:nvSpPr>
          <p:cNvPr id="48217" name="Rectangle 93">
            <a:extLst>
              <a:ext uri="{FF2B5EF4-FFF2-40B4-BE49-F238E27FC236}">
                <a16:creationId xmlns:a16="http://schemas.microsoft.com/office/drawing/2014/main" id="{02A12216-00B2-BB4C-9D23-426C0A96C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4189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18" name="Rectangle 94">
            <a:extLst>
              <a:ext uri="{FF2B5EF4-FFF2-40B4-BE49-F238E27FC236}">
                <a16:creationId xmlns:a16="http://schemas.microsoft.com/office/drawing/2014/main" id="{F3207630-4C85-1A42-A0FD-7AFD89B64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4189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M</a:t>
            </a:r>
          </a:p>
        </p:txBody>
      </p:sp>
      <p:sp>
        <p:nvSpPr>
          <p:cNvPr id="48219" name="Rectangle 95">
            <a:extLst>
              <a:ext uri="{FF2B5EF4-FFF2-40B4-BE49-F238E27FC236}">
                <a16:creationId xmlns:a16="http://schemas.microsoft.com/office/drawing/2014/main" id="{D882BA2D-F67D-9948-B8E9-EAF8A34E3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4189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20" name="Rectangle 96">
            <a:extLst>
              <a:ext uri="{FF2B5EF4-FFF2-40B4-BE49-F238E27FC236}">
                <a16:creationId xmlns:a16="http://schemas.microsoft.com/office/drawing/2014/main" id="{CF499BE6-9DB2-CF40-A228-30744D3A6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4189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I</a:t>
            </a:r>
          </a:p>
        </p:txBody>
      </p:sp>
      <p:sp>
        <p:nvSpPr>
          <p:cNvPr id="48221" name="Rectangle 97">
            <a:extLst>
              <a:ext uri="{FF2B5EF4-FFF2-40B4-BE49-F238E27FC236}">
                <a16:creationId xmlns:a16="http://schemas.microsoft.com/office/drawing/2014/main" id="{E69D9555-6D84-1748-A995-837D88665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3884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22" name="Rectangle 98">
            <a:extLst>
              <a:ext uri="{FF2B5EF4-FFF2-40B4-BE49-F238E27FC236}">
                <a16:creationId xmlns:a16="http://schemas.microsoft.com/office/drawing/2014/main" id="{803CA469-C581-0E4C-9CD0-511446B8F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3884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23" name="Rectangle 99">
            <a:extLst>
              <a:ext uri="{FF2B5EF4-FFF2-40B4-BE49-F238E27FC236}">
                <a16:creationId xmlns:a16="http://schemas.microsoft.com/office/drawing/2014/main" id="{E2D221E7-510B-5C4A-B738-E665D8214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884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24" name="Rectangle 100">
            <a:extLst>
              <a:ext uri="{FF2B5EF4-FFF2-40B4-BE49-F238E27FC236}">
                <a16:creationId xmlns:a16="http://schemas.microsoft.com/office/drawing/2014/main" id="{2E75FEB9-7696-DC48-8638-184DE08E1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3884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25" name="Rectangle 101">
            <a:extLst>
              <a:ext uri="{FF2B5EF4-FFF2-40B4-BE49-F238E27FC236}">
                <a16:creationId xmlns:a16="http://schemas.microsoft.com/office/drawing/2014/main" id="{A03379CB-6F48-5A4E-BCD3-5ED5006B0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3884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26" name="Rectangle 102">
            <a:extLst>
              <a:ext uri="{FF2B5EF4-FFF2-40B4-BE49-F238E27FC236}">
                <a16:creationId xmlns:a16="http://schemas.microsoft.com/office/drawing/2014/main" id="{057EE779-FD27-A649-955E-498186F83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3884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C</a:t>
            </a:r>
          </a:p>
        </p:txBody>
      </p:sp>
      <p:sp>
        <p:nvSpPr>
          <p:cNvPr id="48227" name="Rectangle 103">
            <a:extLst>
              <a:ext uri="{FF2B5EF4-FFF2-40B4-BE49-F238E27FC236}">
                <a16:creationId xmlns:a16="http://schemas.microsoft.com/office/drawing/2014/main" id="{73BD9373-FE80-3441-B766-7075E73F2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4494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+</a:t>
            </a:r>
          </a:p>
        </p:txBody>
      </p:sp>
      <p:sp>
        <p:nvSpPr>
          <p:cNvPr id="48228" name="Rectangle 104">
            <a:extLst>
              <a:ext uri="{FF2B5EF4-FFF2-40B4-BE49-F238E27FC236}">
                <a16:creationId xmlns:a16="http://schemas.microsoft.com/office/drawing/2014/main" id="{CFE67A08-019C-8C4A-9BAA-1E3EE2513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4494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M</a:t>
            </a:r>
          </a:p>
        </p:txBody>
      </p:sp>
      <p:sp>
        <p:nvSpPr>
          <p:cNvPr id="48229" name="Rectangle 105">
            <a:extLst>
              <a:ext uri="{FF2B5EF4-FFF2-40B4-BE49-F238E27FC236}">
                <a16:creationId xmlns:a16="http://schemas.microsoft.com/office/drawing/2014/main" id="{800B7276-D267-3946-9B6F-103105E32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4494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M</a:t>
            </a:r>
          </a:p>
        </p:txBody>
      </p:sp>
      <p:sp>
        <p:nvSpPr>
          <p:cNvPr id="48230" name="Rectangle 106">
            <a:extLst>
              <a:ext uri="{FF2B5EF4-FFF2-40B4-BE49-F238E27FC236}">
                <a16:creationId xmlns:a16="http://schemas.microsoft.com/office/drawing/2014/main" id="{0A0A38B6-109E-174D-AECA-0CC351830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4494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31" name="Rectangle 107">
            <a:extLst>
              <a:ext uri="{FF2B5EF4-FFF2-40B4-BE49-F238E27FC236}">
                <a16:creationId xmlns:a16="http://schemas.microsoft.com/office/drawing/2014/main" id="{C092FEBB-6372-5E40-BA79-99E203E8E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4494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M</a:t>
            </a:r>
          </a:p>
        </p:txBody>
      </p:sp>
      <p:sp>
        <p:nvSpPr>
          <p:cNvPr id="48232" name="Rectangle 108">
            <a:extLst>
              <a:ext uri="{FF2B5EF4-FFF2-40B4-BE49-F238E27FC236}">
                <a16:creationId xmlns:a16="http://schemas.microsoft.com/office/drawing/2014/main" id="{02849F46-EF1A-6740-8BA5-862D683DD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4494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A</a:t>
            </a:r>
          </a:p>
        </p:txBody>
      </p:sp>
      <p:sp>
        <p:nvSpPr>
          <p:cNvPr id="48233" name="Rectangle 109">
            <a:extLst>
              <a:ext uri="{FF2B5EF4-FFF2-40B4-BE49-F238E27FC236}">
                <a16:creationId xmlns:a16="http://schemas.microsoft.com/office/drawing/2014/main" id="{B40C5BB2-BEFF-E74A-BC2F-E5009CFA7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4799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34" name="Rectangle 110">
            <a:extLst>
              <a:ext uri="{FF2B5EF4-FFF2-40B4-BE49-F238E27FC236}">
                <a16:creationId xmlns:a16="http://schemas.microsoft.com/office/drawing/2014/main" id="{A3046C57-7E0C-0343-AA86-E6A738585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4799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M</a:t>
            </a:r>
          </a:p>
        </p:txBody>
      </p:sp>
      <p:sp>
        <p:nvSpPr>
          <p:cNvPr id="48235" name="Rectangle 111">
            <a:extLst>
              <a:ext uri="{FF2B5EF4-FFF2-40B4-BE49-F238E27FC236}">
                <a16:creationId xmlns:a16="http://schemas.microsoft.com/office/drawing/2014/main" id="{0399A1A7-FB0B-064B-A840-73D8D98A5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4799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</a:t>
            </a:r>
          </a:p>
        </p:txBody>
      </p:sp>
      <p:sp>
        <p:nvSpPr>
          <p:cNvPr id="48236" name="Rectangle 112">
            <a:extLst>
              <a:ext uri="{FF2B5EF4-FFF2-40B4-BE49-F238E27FC236}">
                <a16:creationId xmlns:a16="http://schemas.microsoft.com/office/drawing/2014/main" id="{6D50EBC3-89BF-9E45-B3A7-BC286BF31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4799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M</a:t>
            </a:r>
          </a:p>
        </p:txBody>
      </p:sp>
      <p:sp>
        <p:nvSpPr>
          <p:cNvPr id="48237" name="Rectangle 113">
            <a:extLst>
              <a:ext uri="{FF2B5EF4-FFF2-40B4-BE49-F238E27FC236}">
                <a16:creationId xmlns:a16="http://schemas.microsoft.com/office/drawing/2014/main" id="{C80D6E91-01CE-504A-9E0F-7290FE73F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4799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M</a:t>
            </a:r>
          </a:p>
        </p:txBody>
      </p:sp>
      <p:sp>
        <p:nvSpPr>
          <p:cNvPr id="48238" name="Rectangle 114">
            <a:extLst>
              <a:ext uri="{FF2B5EF4-FFF2-40B4-BE49-F238E27FC236}">
                <a16:creationId xmlns:a16="http://schemas.microsoft.com/office/drawing/2014/main" id="{AC2A290D-64D7-DC47-85EA-806325516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4799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sp>
        <p:nvSpPr>
          <p:cNvPr id="48239" name="Rectangle 115">
            <a:extLst>
              <a:ext uri="{FF2B5EF4-FFF2-40B4-BE49-F238E27FC236}">
                <a16:creationId xmlns:a16="http://schemas.microsoft.com/office/drawing/2014/main" id="{F360B348-0CA4-F54C-82E5-5FB6CC87E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54086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7</a:t>
            </a:r>
          </a:p>
        </p:txBody>
      </p:sp>
      <p:sp>
        <p:nvSpPr>
          <p:cNvPr id="48240" name="Rectangle 116">
            <a:extLst>
              <a:ext uri="{FF2B5EF4-FFF2-40B4-BE49-F238E27FC236}">
                <a16:creationId xmlns:a16="http://schemas.microsoft.com/office/drawing/2014/main" id="{59CAB5C4-A61B-BE4F-B8BB-F7101F902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54086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3</a:t>
            </a:r>
          </a:p>
        </p:txBody>
      </p:sp>
      <p:sp>
        <p:nvSpPr>
          <p:cNvPr id="48241" name="Rectangle 117">
            <a:extLst>
              <a:ext uri="{FF2B5EF4-FFF2-40B4-BE49-F238E27FC236}">
                <a16:creationId xmlns:a16="http://schemas.microsoft.com/office/drawing/2014/main" id="{77846C5C-3F9D-F547-B646-C5ED103C7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54086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6</a:t>
            </a:r>
          </a:p>
        </p:txBody>
      </p:sp>
      <p:sp>
        <p:nvSpPr>
          <p:cNvPr id="48242" name="Rectangle 118">
            <a:extLst>
              <a:ext uri="{FF2B5EF4-FFF2-40B4-BE49-F238E27FC236}">
                <a16:creationId xmlns:a16="http://schemas.microsoft.com/office/drawing/2014/main" id="{D1C65F6E-D52C-064D-9266-31BEEAE03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54086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2</a:t>
            </a:r>
          </a:p>
        </p:txBody>
      </p:sp>
      <p:sp>
        <p:nvSpPr>
          <p:cNvPr id="48243" name="Rectangle 119">
            <a:extLst>
              <a:ext uri="{FF2B5EF4-FFF2-40B4-BE49-F238E27FC236}">
                <a16:creationId xmlns:a16="http://schemas.microsoft.com/office/drawing/2014/main" id="{B62B3C8B-31F1-9141-AC35-461A520CE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54086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2</a:t>
            </a:r>
          </a:p>
        </p:txBody>
      </p:sp>
      <p:sp>
        <p:nvSpPr>
          <p:cNvPr id="48244" name="Rectangle 120">
            <a:extLst>
              <a:ext uri="{FF2B5EF4-FFF2-40B4-BE49-F238E27FC236}">
                <a16:creationId xmlns:a16="http://schemas.microsoft.com/office/drawing/2014/main" id="{A1E5A9BA-B088-E446-B456-FF0F84E52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54086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0</a:t>
            </a:r>
          </a:p>
        </p:txBody>
      </p:sp>
      <p:sp>
        <p:nvSpPr>
          <p:cNvPr id="48245" name="Rectangle 121">
            <a:extLst>
              <a:ext uri="{FF2B5EF4-FFF2-40B4-BE49-F238E27FC236}">
                <a16:creationId xmlns:a16="http://schemas.microsoft.com/office/drawing/2014/main" id="{6FBE05F6-D551-3140-B314-CA1CDC368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51038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5</a:t>
            </a:r>
          </a:p>
        </p:txBody>
      </p:sp>
      <p:sp>
        <p:nvSpPr>
          <p:cNvPr id="48246" name="Rectangle 122">
            <a:extLst>
              <a:ext uri="{FF2B5EF4-FFF2-40B4-BE49-F238E27FC236}">
                <a16:creationId xmlns:a16="http://schemas.microsoft.com/office/drawing/2014/main" id="{55069C98-6AB4-364A-B6D2-DD454369F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51038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6</a:t>
            </a:r>
          </a:p>
        </p:txBody>
      </p:sp>
      <p:sp>
        <p:nvSpPr>
          <p:cNvPr id="48247" name="Rectangle 123">
            <a:extLst>
              <a:ext uri="{FF2B5EF4-FFF2-40B4-BE49-F238E27FC236}">
                <a16:creationId xmlns:a16="http://schemas.microsoft.com/office/drawing/2014/main" id="{9518D367-4AE8-2E45-AF24-FF1B07750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51038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5</a:t>
            </a:r>
          </a:p>
        </p:txBody>
      </p:sp>
      <p:sp>
        <p:nvSpPr>
          <p:cNvPr id="48248" name="Rectangle 124">
            <a:extLst>
              <a:ext uri="{FF2B5EF4-FFF2-40B4-BE49-F238E27FC236}">
                <a16:creationId xmlns:a16="http://schemas.microsoft.com/office/drawing/2014/main" id="{EBD95CAB-442F-BE4B-BC1E-681476747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51038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7</a:t>
            </a:r>
          </a:p>
        </p:txBody>
      </p:sp>
      <p:sp>
        <p:nvSpPr>
          <p:cNvPr id="48249" name="Rectangle 125">
            <a:extLst>
              <a:ext uri="{FF2B5EF4-FFF2-40B4-BE49-F238E27FC236}">
                <a16:creationId xmlns:a16="http://schemas.microsoft.com/office/drawing/2014/main" id="{D5A44069-6594-E741-AD87-8F21F0FFB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51038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5</a:t>
            </a:r>
          </a:p>
        </p:txBody>
      </p:sp>
      <p:sp>
        <p:nvSpPr>
          <p:cNvPr id="48250" name="Rectangle 126">
            <a:extLst>
              <a:ext uri="{FF2B5EF4-FFF2-40B4-BE49-F238E27FC236}">
                <a16:creationId xmlns:a16="http://schemas.microsoft.com/office/drawing/2014/main" id="{4683DD6C-1B16-7044-9973-6FECD7869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51038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0</a:t>
            </a:r>
          </a:p>
        </p:txBody>
      </p:sp>
      <p:sp>
        <p:nvSpPr>
          <p:cNvPr id="48251" name="Rectangle 127">
            <a:extLst>
              <a:ext uri="{FF2B5EF4-FFF2-40B4-BE49-F238E27FC236}">
                <a16:creationId xmlns:a16="http://schemas.microsoft.com/office/drawing/2014/main" id="{565DDD6C-775D-7F4B-A8CB-8FB739D2A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57134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-2</a:t>
            </a:r>
          </a:p>
        </p:txBody>
      </p:sp>
      <p:sp>
        <p:nvSpPr>
          <p:cNvPr id="48252" name="Rectangle 128">
            <a:extLst>
              <a:ext uri="{FF2B5EF4-FFF2-40B4-BE49-F238E27FC236}">
                <a16:creationId xmlns:a16="http://schemas.microsoft.com/office/drawing/2014/main" id="{C6D2F57C-1133-0D45-A5C1-5DC8717BC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57134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3</a:t>
            </a:r>
          </a:p>
        </p:txBody>
      </p:sp>
      <p:sp>
        <p:nvSpPr>
          <p:cNvPr id="48253" name="Rectangle 129">
            <a:extLst>
              <a:ext uri="{FF2B5EF4-FFF2-40B4-BE49-F238E27FC236}">
                <a16:creationId xmlns:a16="http://schemas.microsoft.com/office/drawing/2014/main" id="{D7B86FB2-92BA-F145-8C2D-5DC5FEE2D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57134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-1</a:t>
            </a:r>
          </a:p>
        </p:txBody>
      </p:sp>
      <p:sp>
        <p:nvSpPr>
          <p:cNvPr id="48254" name="Rectangle 130">
            <a:extLst>
              <a:ext uri="{FF2B5EF4-FFF2-40B4-BE49-F238E27FC236}">
                <a16:creationId xmlns:a16="http://schemas.microsoft.com/office/drawing/2014/main" id="{F8735004-9A7D-A84C-A2AB-A59C62C77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57134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5</a:t>
            </a:r>
          </a:p>
        </p:txBody>
      </p:sp>
      <p:sp>
        <p:nvSpPr>
          <p:cNvPr id="48255" name="Rectangle 131">
            <a:extLst>
              <a:ext uri="{FF2B5EF4-FFF2-40B4-BE49-F238E27FC236}">
                <a16:creationId xmlns:a16="http://schemas.microsoft.com/office/drawing/2014/main" id="{1620B601-E689-5B49-8C7D-2DFB06982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57134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3</a:t>
            </a:r>
          </a:p>
        </p:txBody>
      </p:sp>
      <p:sp>
        <p:nvSpPr>
          <p:cNvPr id="48256" name="Rectangle 132">
            <a:extLst>
              <a:ext uri="{FF2B5EF4-FFF2-40B4-BE49-F238E27FC236}">
                <a16:creationId xmlns:a16="http://schemas.microsoft.com/office/drawing/2014/main" id="{4181527F-4745-2C41-B442-DE4FE35CB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57134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0</a:t>
            </a:r>
          </a:p>
        </p:txBody>
      </p:sp>
      <p:sp>
        <p:nvSpPr>
          <p:cNvPr id="48257" name="Rectangle 133">
            <a:extLst>
              <a:ext uri="{FF2B5EF4-FFF2-40B4-BE49-F238E27FC236}">
                <a16:creationId xmlns:a16="http://schemas.microsoft.com/office/drawing/2014/main" id="{0DE04DC7-3307-CB45-BF82-81EC50841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60182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FF0000"/>
                </a:solidFill>
              </a:rPr>
              <a:t>-8</a:t>
            </a:r>
          </a:p>
        </p:txBody>
      </p:sp>
      <p:sp>
        <p:nvSpPr>
          <p:cNvPr id="48258" name="Rectangle 134">
            <a:extLst>
              <a:ext uri="{FF2B5EF4-FFF2-40B4-BE49-F238E27FC236}">
                <a16:creationId xmlns:a16="http://schemas.microsoft.com/office/drawing/2014/main" id="{87014D84-AC42-9C44-A45F-F9492616B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60182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48259" name="Rectangle 135">
            <a:extLst>
              <a:ext uri="{FF2B5EF4-FFF2-40B4-BE49-F238E27FC236}">
                <a16:creationId xmlns:a16="http://schemas.microsoft.com/office/drawing/2014/main" id="{E7024310-5DDA-9C4D-A708-592593A92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60182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48260" name="Rectangle 136">
            <a:extLst>
              <a:ext uri="{FF2B5EF4-FFF2-40B4-BE49-F238E27FC236}">
                <a16:creationId xmlns:a16="http://schemas.microsoft.com/office/drawing/2014/main" id="{A3F19A1D-F419-3C46-8823-D8BA2285E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6018213"/>
            <a:ext cx="685800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FF0000"/>
                </a:solidFill>
              </a:rPr>
              <a:t>24</a:t>
            </a:r>
          </a:p>
        </p:txBody>
      </p:sp>
      <p:sp>
        <p:nvSpPr>
          <p:cNvPr id="48261" name="Rectangle 137">
            <a:extLst>
              <a:ext uri="{FF2B5EF4-FFF2-40B4-BE49-F238E27FC236}">
                <a16:creationId xmlns:a16="http://schemas.microsoft.com/office/drawing/2014/main" id="{9665D314-0881-2F45-9BEC-83C44770E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60182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48262" name="Rectangle 138">
            <a:extLst>
              <a:ext uri="{FF2B5EF4-FFF2-40B4-BE49-F238E27FC236}">
                <a16:creationId xmlns:a16="http://schemas.microsoft.com/office/drawing/2014/main" id="{A4DAD5F0-EF57-5942-AB98-26498F3ED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60182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/>
              <a:t>0</a:t>
            </a:r>
          </a:p>
        </p:txBody>
      </p:sp>
      <p:sp>
        <p:nvSpPr>
          <p:cNvPr id="48263" name="Oval 139">
            <a:extLst>
              <a:ext uri="{FF2B5EF4-FFF2-40B4-BE49-F238E27FC236}">
                <a16:creationId xmlns:a16="http://schemas.microsoft.com/office/drawing/2014/main" id="{67B1C328-B0CC-B645-9158-AD11E87D2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6021388"/>
            <a:ext cx="647700" cy="360362"/>
          </a:xfrm>
          <a:prstGeom prst="ellips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sp>
        <p:nvSpPr>
          <p:cNvPr id="48264" name="CaixaDeTexto 136">
            <a:extLst>
              <a:ext uri="{FF2B5EF4-FFF2-40B4-BE49-F238E27FC236}">
                <a16:creationId xmlns:a16="http://schemas.microsoft.com/office/drawing/2014/main" id="{DC4AFBE0-92C4-124C-BAA1-66379E2DC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276225"/>
            <a:ext cx="477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b="1">
                <a:solidFill>
                  <a:srgbClr val="C00000"/>
                </a:solidFill>
              </a:rPr>
              <a:t>EXEMPLO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D58B5-F354-C14E-A618-A92F6D299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72" y="1361915"/>
            <a:ext cx="8208897" cy="706438"/>
          </a:xfrm>
        </p:spPr>
        <p:txBody>
          <a:bodyPr/>
          <a:lstStyle/>
          <a:p>
            <a:r>
              <a:rPr lang="pt-BR" sz="2800" b="1" dirty="0"/>
              <a:t>PROJETOCONCEITUAL:CONCEPÇÕES</a:t>
            </a:r>
            <a:br>
              <a:rPr lang="pt-BR" sz="2800" b="1" dirty="0"/>
            </a:br>
            <a:br>
              <a:rPr lang="pt-BR" dirty="0"/>
            </a:br>
            <a:r>
              <a:rPr lang="pt-BR" dirty="0"/>
              <a:t>1. ESBOÇOS INICIAS</a:t>
            </a:r>
            <a:br>
              <a:rPr lang="pt-BR" dirty="0"/>
            </a:br>
            <a:r>
              <a:rPr lang="pt-BR" dirty="0"/>
              <a:t>2. PROTÓTIPOS</a:t>
            </a:r>
            <a:br>
              <a:rPr lang="pt-BR" dirty="0">
                <a:cs typeface="Arial"/>
              </a:rPr>
            </a:br>
            <a:r>
              <a:rPr lang="pt-BR" dirty="0">
                <a:cs typeface="Arial"/>
              </a:rPr>
              <a:t>3. TESTES</a:t>
            </a:r>
            <a:br>
              <a:rPr lang="pt-BR" sz="3200" dirty="0"/>
            </a:br>
            <a:r>
              <a:rPr lang="pt-BR" sz="2800" dirty="0"/>
              <a:t>4. TRL</a:t>
            </a:r>
            <a:br>
              <a:rPr lang="pt-BR" sz="3200" dirty="0"/>
            </a:br>
            <a:endParaRPr lang="pt-BR"/>
          </a:p>
        </p:txBody>
      </p:sp>
      <p:pic>
        <p:nvPicPr>
          <p:cNvPr id="1026" name="Picture 2" descr="Estudantes desenvolvem protótipos de carrinhos de brinquedo e óculos 3D em  projeto fomentado pelo Governo do AM - FAPEAM">
            <a:extLst>
              <a:ext uri="{FF2B5EF4-FFF2-40B4-BE49-F238E27FC236}">
                <a16:creationId xmlns:a16="http://schemas.microsoft.com/office/drawing/2014/main" id="{DEB9CF1E-429B-CC15-B530-B1B046BB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030" y="3641090"/>
            <a:ext cx="340360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 que são protótipos e quais os principais tipos | Bluelinks">
            <a:extLst>
              <a:ext uri="{FF2B5EF4-FFF2-40B4-BE49-F238E27FC236}">
                <a16:creationId xmlns:a16="http://schemas.microsoft.com/office/drawing/2014/main" id="{9232B825-1AA9-A187-A9EB-8ED8A313B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" y="3641090"/>
            <a:ext cx="40386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318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E5EA4-11B0-CD2E-6929-4750EFC7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Arial"/>
              </a:rPr>
              <a:t>ESBOÇO DO PRODUTO</a:t>
            </a:r>
            <a:endParaRPr lang="pt-BR" dirty="0"/>
          </a:p>
        </p:txBody>
      </p:sp>
      <p:pic>
        <p:nvPicPr>
          <p:cNvPr id="5" name="Imagem 4" descr="Produtos Criativos, Por Daniel Duque ...">
            <a:extLst>
              <a:ext uri="{FF2B5EF4-FFF2-40B4-BE49-F238E27FC236}">
                <a16:creationId xmlns:a16="http://schemas.microsoft.com/office/drawing/2014/main" id="{B94B4C50-D41B-5D2A-7395-B3630D41F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44" y="1523815"/>
            <a:ext cx="2271403" cy="2242828"/>
          </a:xfrm>
          <a:prstGeom prst="rect">
            <a:avLst/>
          </a:prstGeom>
        </p:spPr>
      </p:pic>
      <p:pic>
        <p:nvPicPr>
          <p:cNvPr id="6" name="Imagem 5" descr="desenho industrial ...">
            <a:extLst>
              <a:ext uri="{FF2B5EF4-FFF2-40B4-BE49-F238E27FC236}">
                <a16:creationId xmlns:a16="http://schemas.microsoft.com/office/drawing/2014/main" id="{CDC8EEDE-CE80-7DEB-EA1B-5BC37010F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532" y="1095622"/>
            <a:ext cx="2970934" cy="1953243"/>
          </a:xfrm>
          <a:prstGeom prst="rect">
            <a:avLst/>
          </a:prstGeom>
        </p:spPr>
      </p:pic>
      <p:pic>
        <p:nvPicPr>
          <p:cNvPr id="7" name="Imagem 6" descr="Industrial Vetor ...">
            <a:extLst>
              <a:ext uri="{FF2B5EF4-FFF2-40B4-BE49-F238E27FC236}">
                <a16:creationId xmlns:a16="http://schemas.microsoft.com/office/drawing/2014/main" id="{2DADA692-7A13-1009-1A17-9C68CD008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603" y="2814637"/>
            <a:ext cx="3461286" cy="346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46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B80FD-D610-5AB7-49E0-4C806B1FC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7983188-7674-89F2-354C-081DCBD2F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558311"/>
            <a:ext cx="7886700" cy="1325563"/>
          </a:xfrm>
        </p:spPr>
        <p:txBody>
          <a:bodyPr/>
          <a:lstStyle/>
          <a:p>
            <a:r>
              <a:rPr lang="pt-BR"/>
              <a:t>Protótipos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81C024-C6D4-F86C-127F-E8F3A6B83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" y="2785682"/>
            <a:ext cx="1333500" cy="8477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4527C1E-8F25-4EDD-4A27-12A13534B594}"/>
              </a:ext>
            </a:extLst>
          </p:cNvPr>
          <p:cNvSpPr txBox="1"/>
          <p:nvPr/>
        </p:nvSpPr>
        <p:spPr>
          <a:xfrm>
            <a:off x="1079292" y="3633407"/>
            <a:ext cx="142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/>
              <a:t>Madeira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6BFD92-D5BD-5D34-4863-BE6B65E92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977" y="2710306"/>
            <a:ext cx="1584061" cy="94169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8D1394C-FAFE-4924-41D7-0E7F9FD018F1}"/>
              </a:ext>
            </a:extLst>
          </p:cNvPr>
          <p:cNvSpPr txBox="1"/>
          <p:nvPr/>
        </p:nvSpPr>
        <p:spPr>
          <a:xfrm>
            <a:off x="2686822" y="3652480"/>
            <a:ext cx="1694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/>
              <a:t>Papel/Papelão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E3042D2-6209-DDE9-AE0D-711038F0D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037" y="2323719"/>
            <a:ext cx="1238250" cy="92392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385A713-46B8-AB90-7C11-2091AFB98C3D}"/>
              </a:ext>
            </a:extLst>
          </p:cNvPr>
          <p:cNvSpPr txBox="1"/>
          <p:nvPr/>
        </p:nvSpPr>
        <p:spPr>
          <a:xfrm>
            <a:off x="4561240" y="3323410"/>
            <a:ext cx="1427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/>
              <a:t>Massa de modelar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CAE4080-7A22-BAA2-6E9E-51A113E58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902" y="2695575"/>
            <a:ext cx="1552575" cy="73342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CFC62454-2B6E-947E-687B-7DBC64341C70}"/>
              </a:ext>
            </a:extLst>
          </p:cNvPr>
          <p:cNvSpPr txBox="1"/>
          <p:nvPr/>
        </p:nvSpPr>
        <p:spPr>
          <a:xfrm>
            <a:off x="6846042" y="3449816"/>
            <a:ext cx="142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/>
              <a:t>Lego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2EB091B-A952-74F2-3155-BB5CCE90A3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630" y="4291489"/>
            <a:ext cx="1371600" cy="82867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312900EF-168D-F400-8A4B-43CF632E178D}"/>
              </a:ext>
            </a:extLst>
          </p:cNvPr>
          <p:cNvSpPr txBox="1"/>
          <p:nvPr/>
        </p:nvSpPr>
        <p:spPr>
          <a:xfrm>
            <a:off x="776553" y="5120164"/>
            <a:ext cx="142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/>
              <a:t>Argila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B1E50DA-C100-5636-ACB8-2B8B54822F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8666" y="4291489"/>
            <a:ext cx="1476375" cy="771525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F6AD9522-053A-D3FC-04F4-B4D4EA368F0C}"/>
              </a:ext>
            </a:extLst>
          </p:cNvPr>
          <p:cNvSpPr txBox="1"/>
          <p:nvPr/>
        </p:nvSpPr>
        <p:spPr>
          <a:xfrm>
            <a:off x="2653246" y="5128582"/>
            <a:ext cx="142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/>
              <a:t>Eletrônico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3CE60DA-5AA3-BD2C-E3E7-84AAD8D06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8195" y="4045508"/>
            <a:ext cx="1969500" cy="1477125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0A95FFF8-A4F8-92B8-3F19-3357256B3A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2911" y="3999763"/>
            <a:ext cx="2286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498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38DDC-FD53-4535-22B7-1B018F25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C8BA615-47DB-2B1B-83D8-818806087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-241701"/>
            <a:ext cx="7886700" cy="1325563"/>
          </a:xfrm>
        </p:spPr>
        <p:txBody>
          <a:bodyPr/>
          <a:lstStyle/>
          <a:p>
            <a:r>
              <a:rPr lang="pt-BR"/>
              <a:t>TIPOS DE PROTÓTIPOS 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C4B0CB2B-403C-5046-1D9E-328E7408D5AA}"/>
              </a:ext>
            </a:extLst>
          </p:cNvPr>
          <p:cNvGraphicFramePr>
            <a:graphicFrameLocks noGrp="1"/>
          </p:cNvGraphicFramePr>
          <p:nvPr/>
        </p:nvGraphicFramePr>
        <p:xfrm>
          <a:off x="696086" y="1730193"/>
          <a:ext cx="7751827" cy="3397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260">
                  <a:extLst>
                    <a:ext uri="{9D8B030D-6E8A-4147-A177-3AD203B41FA5}">
                      <a16:colId xmlns:a16="http://schemas.microsoft.com/office/drawing/2014/main" val="1595141425"/>
                    </a:ext>
                  </a:extLst>
                </a:gridCol>
                <a:gridCol w="5630567">
                  <a:extLst>
                    <a:ext uri="{9D8B030D-6E8A-4147-A177-3AD203B41FA5}">
                      <a16:colId xmlns:a16="http://schemas.microsoft.com/office/drawing/2014/main" val="1066118378"/>
                    </a:ext>
                  </a:extLst>
                </a:gridCol>
              </a:tblGrid>
              <a:tr h="505366"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002060"/>
                          </a:solidFill>
                        </a:rPr>
                        <a:t>TIPOS DE PROTÓTIPOS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002060"/>
                          </a:solidFill>
                        </a:rPr>
                        <a:t>DEFINIÇÕES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6586089"/>
                  </a:ext>
                </a:extLst>
              </a:tr>
              <a:tr h="723062"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002060"/>
                          </a:solidFill>
                        </a:rPr>
                        <a:t>PROTÓTIPOS FÍSICOS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002060"/>
                          </a:solidFill>
                        </a:rPr>
                        <a:t>Tangíveis. Protótipos de prova de conceito utilizados para testar rapidamente uma ideia e montagens experimentais par validar a funcionalidade do produto.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38868735"/>
                  </a:ext>
                </a:extLst>
              </a:tr>
              <a:tr h="723062"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002060"/>
                          </a:solidFill>
                        </a:rPr>
                        <a:t>PROTÓTIPOS ANÁLITICOS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002060"/>
                          </a:solidFill>
                        </a:rPr>
                        <a:t>Intangíveis, usualmente matemáticos. Análise computacional, sistemas de equações, modelos computacionais e geometrias tridimensionais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55012773"/>
                  </a:ext>
                </a:extLst>
              </a:tr>
              <a:tr h="723062"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002060"/>
                          </a:solidFill>
                        </a:rPr>
                        <a:t>PROTÓTIPOS COMPLETOS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002060"/>
                          </a:solidFill>
                        </a:rPr>
                        <a:t>Implementam a totalidade de atributo do produto (geralmente em escala real, em uma versão completamente operacional do produto). Para testes de falhas do produto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11423952"/>
                  </a:ext>
                </a:extLst>
              </a:tr>
              <a:tr h="723062"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002060"/>
                          </a:solidFill>
                        </a:rPr>
                        <a:t>PROTÓTIPOS FOCALIZADOS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rgbClr val="002060"/>
                          </a:solidFill>
                        </a:rPr>
                        <a:t>Implementam parcialmente os atributos do produto. Modelo de espuma ou outros materiais, uma placa de circuito fechada investigar o desempenho do produto.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2400971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C358340C-631B-680E-0E66-3869A0CEA5D5}"/>
              </a:ext>
            </a:extLst>
          </p:cNvPr>
          <p:cNvSpPr txBox="1"/>
          <p:nvPr/>
        </p:nvSpPr>
        <p:spPr>
          <a:xfrm>
            <a:off x="835705" y="5223341"/>
            <a:ext cx="462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/>
              <a:t>FONTE: ULRICH E EPPINGER (2006).</a:t>
            </a:r>
          </a:p>
        </p:txBody>
      </p:sp>
    </p:spTree>
    <p:extLst>
      <p:ext uri="{BB962C8B-B14F-4D97-AF65-F5344CB8AC3E}">
        <p14:creationId xmlns:p14="http://schemas.microsoft.com/office/powerpoint/2010/main" val="2026459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87A99-81A4-28DE-5063-31DFDF296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088AEEE-D649-FF82-7E84-230086499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79" y="-208078"/>
            <a:ext cx="7886700" cy="1325563"/>
          </a:xfrm>
        </p:spPr>
        <p:txBody>
          <a:bodyPr/>
          <a:lstStyle/>
          <a:p>
            <a:r>
              <a:rPr lang="pt-BR" sz="2800"/>
              <a:t>DENOMINAÇÃO DE PROTÓTIPOS 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0B4A36F-708F-3377-0ABE-CDF04F67E39F}"/>
              </a:ext>
            </a:extLst>
          </p:cNvPr>
          <p:cNvGraphicFramePr>
            <a:graphicFrameLocks noGrp="1"/>
          </p:cNvGraphicFramePr>
          <p:nvPr/>
        </p:nvGraphicFramePr>
        <p:xfrm>
          <a:off x="749285" y="1690691"/>
          <a:ext cx="7644088" cy="3926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1778">
                  <a:extLst>
                    <a:ext uri="{9D8B030D-6E8A-4147-A177-3AD203B41FA5}">
                      <a16:colId xmlns:a16="http://schemas.microsoft.com/office/drawing/2014/main" val="1595141425"/>
                    </a:ext>
                  </a:extLst>
                </a:gridCol>
                <a:gridCol w="5552310">
                  <a:extLst>
                    <a:ext uri="{9D8B030D-6E8A-4147-A177-3AD203B41FA5}">
                      <a16:colId xmlns:a16="http://schemas.microsoft.com/office/drawing/2014/main" val="1066118378"/>
                    </a:ext>
                  </a:extLst>
                </a:gridCol>
              </a:tblGrid>
              <a:tr h="451933">
                <a:tc>
                  <a:txBody>
                    <a:bodyPr/>
                    <a:lstStyle/>
                    <a:p>
                      <a:r>
                        <a:rPr lang="pt-BR" sz="1500">
                          <a:solidFill>
                            <a:srgbClr val="002060"/>
                          </a:solidFill>
                        </a:rPr>
                        <a:t>DENOMINAÇÕES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500">
                          <a:solidFill>
                            <a:srgbClr val="002060"/>
                          </a:solidFill>
                        </a:rPr>
                        <a:t>DEFINIÇÕES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6586089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lang="pt-BR" sz="1500" b="1">
                          <a:solidFill>
                            <a:srgbClr val="002060"/>
                          </a:solidFill>
                        </a:rPr>
                        <a:t>PROTÓTIPOS DE PROJETO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500">
                          <a:solidFill>
                            <a:srgbClr val="002060"/>
                          </a:solidFill>
                        </a:rPr>
                        <a:t>Revisão do projeto, envolvem requisitos estéticos, </a:t>
                      </a:r>
                      <a:r>
                        <a:rPr lang="pt-BR" sz="1500" err="1">
                          <a:solidFill>
                            <a:srgbClr val="002060"/>
                          </a:solidFill>
                        </a:rPr>
                        <a:t>opticoo</a:t>
                      </a:r>
                      <a:r>
                        <a:rPr lang="pt-BR" sz="1500">
                          <a:solidFill>
                            <a:srgbClr val="002060"/>
                          </a:solidFill>
                        </a:rPr>
                        <a:t> e ergonômico.</a:t>
                      </a:r>
                    </a:p>
                    <a:p>
                      <a:r>
                        <a:rPr lang="pt-BR" sz="1500">
                          <a:solidFill>
                            <a:srgbClr val="002060"/>
                          </a:solidFill>
                        </a:rPr>
                        <a:t>Verificação do conceito de projeto, configuração preliminar do produto.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38868735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lang="pt-BR" sz="1500" b="1">
                          <a:solidFill>
                            <a:srgbClr val="002060"/>
                          </a:solidFill>
                        </a:rPr>
                        <a:t>PROTÓTIPOS GEOMÉTRICOS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500">
                          <a:solidFill>
                            <a:srgbClr val="002060"/>
                          </a:solidFill>
                        </a:rPr>
                        <a:t>Empregados para testar a precisão, forma e encaixe, uma vez que vão focalizados na geometria e não nos aspectos de material.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55012773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lang="pt-BR" sz="1500" b="1">
                          <a:solidFill>
                            <a:srgbClr val="002060"/>
                          </a:solidFill>
                        </a:rPr>
                        <a:t>PROTÓTIPOS FUNCIONAIS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500">
                          <a:solidFill>
                            <a:srgbClr val="002060"/>
                          </a:solidFill>
                        </a:rPr>
                        <a:t>Verificação Funcional do produto e otimização, não é necessário o uso de materiais finais de produção. Representam um subsistema do produto que permitem o teste de algum aspecto funcional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1142395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lang="pt-BR" sz="1500" b="1">
                          <a:solidFill>
                            <a:srgbClr val="002060"/>
                          </a:solidFill>
                        </a:rPr>
                        <a:t>PROTÓTIPOS TÉCNICOS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pt-BR" sz="1500">
                          <a:solidFill>
                            <a:srgbClr val="002060"/>
                          </a:solidFill>
                        </a:rPr>
                        <a:t>Cobrem todos os aspectos funcionais do produto. Quando possível são fabricados utilizando os processos finais de produção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2400971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C957F114-E35A-1BDE-CC8D-608A09BA3899}"/>
              </a:ext>
            </a:extLst>
          </p:cNvPr>
          <p:cNvSpPr txBox="1"/>
          <p:nvPr/>
        </p:nvSpPr>
        <p:spPr>
          <a:xfrm>
            <a:off x="899409" y="5930044"/>
            <a:ext cx="647038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800">
                <a:latin typeface="Arial"/>
                <a:cs typeface="Arial"/>
              </a:rPr>
              <a:t>FONTE: Adaptado Wagner e </a:t>
            </a:r>
            <a:r>
              <a:rPr lang="pt-BR" sz="1800" err="1">
                <a:latin typeface="Arial"/>
                <a:cs typeface="Arial"/>
              </a:rPr>
              <a:t>Stager</a:t>
            </a:r>
            <a:r>
              <a:rPr lang="pt-BR" sz="1800">
                <a:latin typeface="Arial"/>
                <a:cs typeface="Arial"/>
              </a:rPr>
              <a:t> (34) Krause et al (37).</a:t>
            </a:r>
          </a:p>
        </p:txBody>
      </p:sp>
    </p:spTree>
    <p:extLst>
      <p:ext uri="{BB962C8B-B14F-4D97-AF65-F5344CB8AC3E}">
        <p14:creationId xmlns:p14="http://schemas.microsoft.com/office/powerpoint/2010/main" val="159293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:a16="http://schemas.microsoft.com/office/drawing/2014/main" id="{2DC21ED5-3E29-0E4B-89E2-2943DED9D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52" y="2814976"/>
            <a:ext cx="8014695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3200" b="1">
                <a:solidFill>
                  <a:srgbClr val="002060"/>
                </a:solidFill>
              </a:rPr>
              <a:t>TESTES DURANTE 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2400" b="1">
                <a:solidFill>
                  <a:srgbClr val="002060"/>
                </a:solidFill>
              </a:rPr>
              <a:t>A SELEÇÃO DE CONCEPÇÕES</a:t>
            </a:r>
          </a:p>
        </p:txBody>
      </p:sp>
    </p:spTree>
    <p:extLst>
      <p:ext uri="{BB962C8B-B14F-4D97-AF65-F5344CB8AC3E}">
        <p14:creationId xmlns:p14="http://schemas.microsoft.com/office/powerpoint/2010/main" val="2014165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A51FEC35-0B1C-D24F-80B1-9C2FAF204F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2000">
                <a:ea typeface="ＭＳ Ｐゴシック" panose="020B0600070205080204" pitchFamily="34" charset="-128"/>
              </a:rPr>
              <a:t>Grau de novidade e complexidade do produto influenciando a relação entre projeto conceitual e detalhado 1/2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AE89CAC4-B60E-F44D-A5E8-3D2E15D344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70209" y="2297113"/>
            <a:ext cx="4784048" cy="25638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pt-BR" altLang="pt-BR">
                <a:ea typeface="ＭＳ Ｐゴシック" panose="020B0600070205080204" pitchFamily="34" charset="-128"/>
              </a:rPr>
              <a:t>Recorde:</a:t>
            </a:r>
          </a:p>
          <a:p>
            <a:pPr eaLnBrk="1" hangingPunct="1"/>
            <a:r>
              <a:rPr lang="pt-BR" altLang="pt-BR">
                <a:ea typeface="ＭＳ Ｐゴシック" panose="020B0600070205080204" pitchFamily="34" charset="-128"/>
              </a:rPr>
              <a:t>Capítulo 5: planejamento do projeto</a:t>
            </a:r>
          </a:p>
          <a:p>
            <a:pPr eaLnBrk="1" hangingPunct="1"/>
            <a:r>
              <a:rPr lang="pt-BR" altLang="pt-BR">
                <a:ea typeface="ＭＳ Ｐゴシック" panose="020B0600070205080204" pitchFamily="34" charset="-128"/>
              </a:rPr>
              <a:t>Atividade: adaptação do modelo de referência</a:t>
            </a:r>
          </a:p>
        </p:txBody>
      </p:sp>
      <p:grpSp>
        <p:nvGrpSpPr>
          <p:cNvPr id="50179" name="Group 4">
            <a:extLst>
              <a:ext uri="{FF2B5EF4-FFF2-40B4-BE49-F238E27FC236}">
                <a16:creationId xmlns:a16="http://schemas.microsoft.com/office/drawing/2014/main" id="{157514BE-C1F5-3842-8061-FBE2A8136531}"/>
              </a:ext>
            </a:extLst>
          </p:cNvPr>
          <p:cNvGrpSpPr>
            <a:grpSpLocks/>
          </p:cNvGrpSpPr>
          <p:nvPr/>
        </p:nvGrpSpPr>
        <p:grpSpPr bwMode="auto">
          <a:xfrm>
            <a:off x="863471" y="2482850"/>
            <a:ext cx="1831180" cy="1900238"/>
            <a:chOff x="1968" y="2125"/>
            <a:chExt cx="1275" cy="1197"/>
          </a:xfrm>
        </p:grpSpPr>
        <p:grpSp>
          <p:nvGrpSpPr>
            <p:cNvPr id="50180" name="Group 5">
              <a:extLst>
                <a:ext uri="{FF2B5EF4-FFF2-40B4-BE49-F238E27FC236}">
                  <a16:creationId xmlns:a16="http://schemas.microsoft.com/office/drawing/2014/main" id="{252EC42F-38D0-7C42-A2D3-9B548B506B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5" y="2125"/>
              <a:ext cx="959" cy="943"/>
              <a:chOff x="965" y="2117"/>
              <a:chExt cx="959" cy="943"/>
            </a:xfrm>
          </p:grpSpPr>
          <p:sp>
            <p:nvSpPr>
              <p:cNvPr id="50185" name="Rectangle 6">
                <a:extLst>
                  <a:ext uri="{FF2B5EF4-FFF2-40B4-BE49-F238E27FC236}">
                    <a16:creationId xmlns:a16="http://schemas.microsoft.com/office/drawing/2014/main" id="{D0BFAF1F-FFAA-C248-BF6E-83DAD5F952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5" y="2117"/>
                <a:ext cx="239" cy="239"/>
              </a:xfrm>
              <a:prstGeom prst="rect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186" name="Rectangle 7">
                <a:extLst>
                  <a:ext uri="{FF2B5EF4-FFF2-40B4-BE49-F238E27FC236}">
                    <a16:creationId xmlns:a16="http://schemas.microsoft.com/office/drawing/2014/main" id="{313AF346-0D1B-2340-882E-958342ED1C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5" y="2117"/>
                <a:ext cx="239" cy="239"/>
              </a:xfrm>
              <a:prstGeom prst="rect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187" name="Rectangle 8">
                <a:extLst>
                  <a:ext uri="{FF2B5EF4-FFF2-40B4-BE49-F238E27FC236}">
                    <a16:creationId xmlns:a16="http://schemas.microsoft.com/office/drawing/2014/main" id="{7904FBA6-7971-9D48-8103-93EC51810C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5" y="2117"/>
                <a:ext cx="239" cy="239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188" name="Rectangle 9">
                <a:extLst>
                  <a:ext uri="{FF2B5EF4-FFF2-40B4-BE49-F238E27FC236}">
                    <a16:creationId xmlns:a16="http://schemas.microsoft.com/office/drawing/2014/main" id="{551ABF03-9C06-CB4E-9AFD-61115BDF8F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5" y="2117"/>
                <a:ext cx="239" cy="239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189" name="Rectangle 10">
                <a:extLst>
                  <a:ext uri="{FF2B5EF4-FFF2-40B4-BE49-F238E27FC236}">
                    <a16:creationId xmlns:a16="http://schemas.microsoft.com/office/drawing/2014/main" id="{8667AFC6-6C03-AF48-99F3-DB6C6E7F75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5" y="2353"/>
                <a:ext cx="239" cy="239"/>
              </a:xfrm>
              <a:prstGeom prst="rect">
                <a:avLst/>
              </a:prstGeom>
              <a:solidFill>
                <a:srgbClr val="66FF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190" name="Rectangle 11">
                <a:extLst>
                  <a:ext uri="{FF2B5EF4-FFF2-40B4-BE49-F238E27FC236}">
                    <a16:creationId xmlns:a16="http://schemas.microsoft.com/office/drawing/2014/main" id="{9FD4D6D9-961B-C24A-8392-95745AA84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5" y="2353"/>
                <a:ext cx="239" cy="239"/>
              </a:xfrm>
              <a:prstGeom prst="rect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191" name="Rectangle 12">
                <a:extLst>
                  <a:ext uri="{FF2B5EF4-FFF2-40B4-BE49-F238E27FC236}">
                    <a16:creationId xmlns:a16="http://schemas.microsoft.com/office/drawing/2014/main" id="{478D4EF4-1CAA-0D47-90D5-4AC7ECE0A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5" y="2353"/>
                <a:ext cx="239" cy="239"/>
              </a:xfrm>
              <a:prstGeom prst="rect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192" name="Rectangle 13">
                <a:extLst>
                  <a:ext uri="{FF2B5EF4-FFF2-40B4-BE49-F238E27FC236}">
                    <a16:creationId xmlns:a16="http://schemas.microsoft.com/office/drawing/2014/main" id="{01C2DD30-F931-E940-A09C-E7F4D4428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5" y="2353"/>
                <a:ext cx="239" cy="239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193" name="Rectangle 14">
                <a:extLst>
                  <a:ext uri="{FF2B5EF4-FFF2-40B4-BE49-F238E27FC236}">
                    <a16:creationId xmlns:a16="http://schemas.microsoft.com/office/drawing/2014/main" id="{5407A478-D406-D44C-A724-D3AC2AC0C1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5" y="2585"/>
                <a:ext cx="239" cy="239"/>
              </a:xfrm>
              <a:prstGeom prst="rect">
                <a:avLst/>
              </a:prstGeom>
              <a:solidFill>
                <a:srgbClr val="66FF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194" name="Rectangle 15">
                <a:extLst>
                  <a:ext uri="{FF2B5EF4-FFF2-40B4-BE49-F238E27FC236}">
                    <a16:creationId xmlns:a16="http://schemas.microsoft.com/office/drawing/2014/main" id="{6F75BE7E-6D19-CE40-A935-B15481B04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5" y="2585"/>
                <a:ext cx="239" cy="239"/>
              </a:xfrm>
              <a:prstGeom prst="rect">
                <a:avLst/>
              </a:prstGeom>
              <a:solidFill>
                <a:srgbClr val="66FF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195" name="Rectangle 16">
                <a:extLst>
                  <a:ext uri="{FF2B5EF4-FFF2-40B4-BE49-F238E27FC236}">
                    <a16:creationId xmlns:a16="http://schemas.microsoft.com/office/drawing/2014/main" id="{8AC23C68-FC90-BD4F-B6B4-113FD4C63B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5" y="2585"/>
                <a:ext cx="239" cy="239"/>
              </a:xfrm>
              <a:prstGeom prst="rect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196" name="Rectangle 17">
                <a:extLst>
                  <a:ext uri="{FF2B5EF4-FFF2-40B4-BE49-F238E27FC236}">
                    <a16:creationId xmlns:a16="http://schemas.microsoft.com/office/drawing/2014/main" id="{8F736CD5-51D3-4C4E-AA1E-72F19963A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5" y="2585"/>
                <a:ext cx="239" cy="239"/>
              </a:xfrm>
              <a:prstGeom prst="rect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197" name="Rectangle 18">
                <a:extLst>
                  <a:ext uri="{FF2B5EF4-FFF2-40B4-BE49-F238E27FC236}">
                    <a16:creationId xmlns:a16="http://schemas.microsoft.com/office/drawing/2014/main" id="{7CF905DE-5EE6-8A4A-B309-424589D78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5" y="2821"/>
                <a:ext cx="239" cy="23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198" name="Rectangle 19">
                <a:extLst>
                  <a:ext uri="{FF2B5EF4-FFF2-40B4-BE49-F238E27FC236}">
                    <a16:creationId xmlns:a16="http://schemas.microsoft.com/office/drawing/2014/main" id="{94C0E879-6112-894D-A473-37BD2CF58C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5" y="2821"/>
                <a:ext cx="239" cy="239"/>
              </a:xfrm>
              <a:prstGeom prst="rect">
                <a:avLst/>
              </a:prstGeom>
              <a:solidFill>
                <a:srgbClr val="66FF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199" name="Rectangle 20">
                <a:extLst>
                  <a:ext uri="{FF2B5EF4-FFF2-40B4-BE49-F238E27FC236}">
                    <a16:creationId xmlns:a16="http://schemas.microsoft.com/office/drawing/2014/main" id="{05903A2D-691B-734A-9DF6-245A36C15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5" y="2821"/>
                <a:ext cx="239" cy="239"/>
              </a:xfrm>
              <a:prstGeom prst="rect">
                <a:avLst/>
              </a:prstGeom>
              <a:solidFill>
                <a:srgbClr val="66FF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0200" name="Rectangle 21">
                <a:extLst>
                  <a:ext uri="{FF2B5EF4-FFF2-40B4-BE49-F238E27FC236}">
                    <a16:creationId xmlns:a16="http://schemas.microsoft.com/office/drawing/2014/main" id="{111BFF21-5084-CA41-9A0E-FA464505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5" y="2821"/>
                <a:ext cx="239" cy="239"/>
              </a:xfrm>
              <a:prstGeom prst="rect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</p:grpSp>
        <p:sp>
          <p:nvSpPr>
            <p:cNvPr id="50181" name="Line 22">
              <a:extLst>
                <a:ext uri="{FF2B5EF4-FFF2-40B4-BE49-F238E27FC236}">
                  <a16:creationId xmlns:a16="http://schemas.microsoft.com/office/drawing/2014/main" id="{5C2D95CD-FFFA-C846-871B-FCF2D340C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0" y="2132"/>
              <a:ext cx="0" cy="9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2000" tIns="0" rIns="72000" bIns="0" anchor="ctr">
              <a:spAutoFit/>
            </a:bodyPr>
            <a:lstStyle/>
            <a:p>
              <a:endParaRPr lang="pt-BR"/>
            </a:p>
          </p:txBody>
        </p:sp>
        <p:sp>
          <p:nvSpPr>
            <p:cNvPr id="50182" name="Line 23">
              <a:extLst>
                <a:ext uri="{FF2B5EF4-FFF2-40B4-BE49-F238E27FC236}">
                  <a16:creationId xmlns:a16="http://schemas.microsoft.com/office/drawing/2014/main" id="{A06F0B28-18B0-4146-BECA-E4527D3A7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1" y="3145"/>
              <a:ext cx="10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2000" tIns="0" rIns="72000" bIns="0" anchor="ctr">
              <a:spAutoFit/>
            </a:bodyPr>
            <a:lstStyle/>
            <a:p>
              <a:endParaRPr lang="pt-BR"/>
            </a:p>
          </p:txBody>
        </p:sp>
        <p:sp>
          <p:nvSpPr>
            <p:cNvPr id="50183" name="Text Box 24">
              <a:extLst>
                <a:ext uri="{FF2B5EF4-FFF2-40B4-BE49-F238E27FC236}">
                  <a16:creationId xmlns:a16="http://schemas.microsoft.com/office/drawing/2014/main" id="{C17238FF-3DFB-EE48-A92C-97AB847AB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719" y="2553"/>
              <a:ext cx="651" cy="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2000" tIns="0" rIns="7200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600" b="1">
                  <a:solidFill>
                    <a:srgbClr val="000000"/>
                  </a:solidFill>
                </a:rPr>
                <a:t>novidade</a:t>
              </a:r>
            </a:p>
          </p:txBody>
        </p:sp>
        <p:sp>
          <p:nvSpPr>
            <p:cNvPr id="50184" name="Text Box 25">
              <a:extLst>
                <a:ext uri="{FF2B5EF4-FFF2-40B4-BE49-F238E27FC236}">
                  <a16:creationId xmlns:a16="http://schemas.microsoft.com/office/drawing/2014/main" id="{44919C18-C4E2-834F-BF55-1C99CC06C1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168"/>
              <a:ext cx="943" cy="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2000" tIns="0" rIns="7200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600" b="1">
                  <a:solidFill>
                    <a:srgbClr val="000000"/>
                  </a:solidFill>
                </a:rPr>
                <a:t>complexidade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583D09E6-1C8C-0947-BF82-36D646617C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2000">
                <a:ea typeface="ＭＳ Ｐゴシック" panose="020B0600070205080204" pitchFamily="34" charset="-128"/>
              </a:rPr>
              <a:t>Grau de novidade e complexidade do produto influenciando a relação entre projeto conceitual e detalhado 1/2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79C684DE-F7D6-834F-AF86-32206D72A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40088" y="1090613"/>
            <a:ext cx="5751512" cy="214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pt-BR" altLang="pt-BR" sz="2400" u="sng">
                <a:ea typeface="ＭＳ Ｐゴシック" panose="020B0600070205080204" pitchFamily="34" charset="-128"/>
              </a:rPr>
              <a:t>Grau de novidade</a:t>
            </a:r>
            <a:r>
              <a:rPr lang="pt-BR" altLang="pt-BR" sz="2400"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buFontTx/>
              <a:buNone/>
            </a:pPr>
            <a:r>
              <a:rPr lang="pt-BR" altLang="pt-BR" sz="2400">
                <a:ea typeface="ＭＳ Ｐゴシック" panose="020B0600070205080204" pitchFamily="34" charset="-128"/>
              </a:rPr>
              <a:t>Se menor &gt; maior o nível de detalhamento no projeto conceitual</a:t>
            </a:r>
          </a:p>
          <a:p>
            <a:pPr eaLnBrk="1" hangingPunct="1">
              <a:buFontTx/>
              <a:buNone/>
            </a:pPr>
            <a:r>
              <a:rPr lang="pt-BR" altLang="pt-BR" sz="2400">
                <a:ea typeface="ＭＳ Ｐゴシック" panose="020B0600070205080204" pitchFamily="34" charset="-128"/>
              </a:rPr>
              <a:t>Se maior &gt; só conseguiremos identificar todos os SSCs no detalhado</a:t>
            </a:r>
          </a:p>
        </p:txBody>
      </p:sp>
      <p:grpSp>
        <p:nvGrpSpPr>
          <p:cNvPr id="52227" name="Group 4">
            <a:extLst>
              <a:ext uri="{FF2B5EF4-FFF2-40B4-BE49-F238E27FC236}">
                <a16:creationId xmlns:a16="http://schemas.microsoft.com/office/drawing/2014/main" id="{3AD5DDEE-BB63-AD4B-A0DE-67A337BBF011}"/>
              </a:ext>
            </a:extLst>
          </p:cNvPr>
          <p:cNvGrpSpPr>
            <a:grpSpLocks/>
          </p:cNvGrpSpPr>
          <p:nvPr/>
        </p:nvGrpSpPr>
        <p:grpSpPr bwMode="auto">
          <a:xfrm>
            <a:off x="188913" y="2482850"/>
            <a:ext cx="2024062" cy="1900238"/>
            <a:chOff x="1968" y="2125"/>
            <a:chExt cx="1275" cy="1197"/>
          </a:xfrm>
        </p:grpSpPr>
        <p:grpSp>
          <p:nvGrpSpPr>
            <p:cNvPr id="52230" name="Group 5">
              <a:extLst>
                <a:ext uri="{FF2B5EF4-FFF2-40B4-BE49-F238E27FC236}">
                  <a16:creationId xmlns:a16="http://schemas.microsoft.com/office/drawing/2014/main" id="{DA2D700E-AFC8-BE44-AFE8-EAB73A17C1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5" y="2125"/>
              <a:ext cx="959" cy="943"/>
              <a:chOff x="965" y="2117"/>
              <a:chExt cx="959" cy="943"/>
            </a:xfrm>
          </p:grpSpPr>
          <p:sp>
            <p:nvSpPr>
              <p:cNvPr id="52235" name="Rectangle 6">
                <a:extLst>
                  <a:ext uri="{FF2B5EF4-FFF2-40B4-BE49-F238E27FC236}">
                    <a16:creationId xmlns:a16="http://schemas.microsoft.com/office/drawing/2014/main" id="{FB182416-A284-F041-AC63-BD28795DF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5" y="2117"/>
                <a:ext cx="239" cy="239"/>
              </a:xfrm>
              <a:prstGeom prst="rect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36" name="Rectangle 7">
                <a:extLst>
                  <a:ext uri="{FF2B5EF4-FFF2-40B4-BE49-F238E27FC236}">
                    <a16:creationId xmlns:a16="http://schemas.microsoft.com/office/drawing/2014/main" id="{C6034021-B5E6-1749-AE63-D3A2B1C97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5" y="2117"/>
                <a:ext cx="239" cy="239"/>
              </a:xfrm>
              <a:prstGeom prst="rect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37" name="Rectangle 8">
                <a:extLst>
                  <a:ext uri="{FF2B5EF4-FFF2-40B4-BE49-F238E27FC236}">
                    <a16:creationId xmlns:a16="http://schemas.microsoft.com/office/drawing/2014/main" id="{715D3B0F-26B5-B840-A749-BDA1567E5C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5" y="2117"/>
                <a:ext cx="239" cy="239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38" name="Rectangle 9">
                <a:extLst>
                  <a:ext uri="{FF2B5EF4-FFF2-40B4-BE49-F238E27FC236}">
                    <a16:creationId xmlns:a16="http://schemas.microsoft.com/office/drawing/2014/main" id="{CC29C895-C853-2C4A-B170-BE16AA1443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5" y="2117"/>
                <a:ext cx="239" cy="239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39" name="Rectangle 10">
                <a:extLst>
                  <a:ext uri="{FF2B5EF4-FFF2-40B4-BE49-F238E27FC236}">
                    <a16:creationId xmlns:a16="http://schemas.microsoft.com/office/drawing/2014/main" id="{E11DF08E-6EBD-5942-BEED-5CE103DACE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5" y="2353"/>
                <a:ext cx="239" cy="239"/>
              </a:xfrm>
              <a:prstGeom prst="rect">
                <a:avLst/>
              </a:prstGeom>
              <a:solidFill>
                <a:srgbClr val="66FF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40" name="Rectangle 11">
                <a:extLst>
                  <a:ext uri="{FF2B5EF4-FFF2-40B4-BE49-F238E27FC236}">
                    <a16:creationId xmlns:a16="http://schemas.microsoft.com/office/drawing/2014/main" id="{DB80A966-54D3-DD40-9D36-BC65BFCCB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5" y="2353"/>
                <a:ext cx="239" cy="239"/>
              </a:xfrm>
              <a:prstGeom prst="rect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41" name="Rectangle 12">
                <a:extLst>
                  <a:ext uri="{FF2B5EF4-FFF2-40B4-BE49-F238E27FC236}">
                    <a16:creationId xmlns:a16="http://schemas.microsoft.com/office/drawing/2014/main" id="{81672757-6C9C-1B4D-8DAA-63A580C6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5" y="2353"/>
                <a:ext cx="239" cy="239"/>
              </a:xfrm>
              <a:prstGeom prst="rect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42" name="Rectangle 13">
                <a:extLst>
                  <a:ext uri="{FF2B5EF4-FFF2-40B4-BE49-F238E27FC236}">
                    <a16:creationId xmlns:a16="http://schemas.microsoft.com/office/drawing/2014/main" id="{5CAEA7D9-6F9C-894A-A2F7-B51E1DB14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5" y="2353"/>
                <a:ext cx="239" cy="239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43" name="Rectangle 14">
                <a:extLst>
                  <a:ext uri="{FF2B5EF4-FFF2-40B4-BE49-F238E27FC236}">
                    <a16:creationId xmlns:a16="http://schemas.microsoft.com/office/drawing/2014/main" id="{8FB3F6FA-8CA5-BF46-84E4-3BE133ACE2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5" y="2585"/>
                <a:ext cx="239" cy="239"/>
              </a:xfrm>
              <a:prstGeom prst="rect">
                <a:avLst/>
              </a:prstGeom>
              <a:solidFill>
                <a:srgbClr val="66FF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44" name="Rectangle 15">
                <a:extLst>
                  <a:ext uri="{FF2B5EF4-FFF2-40B4-BE49-F238E27FC236}">
                    <a16:creationId xmlns:a16="http://schemas.microsoft.com/office/drawing/2014/main" id="{1F517F72-EDAB-324E-89D0-13FA474486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5" y="2585"/>
                <a:ext cx="239" cy="239"/>
              </a:xfrm>
              <a:prstGeom prst="rect">
                <a:avLst/>
              </a:prstGeom>
              <a:solidFill>
                <a:srgbClr val="66FF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45" name="Rectangle 16">
                <a:extLst>
                  <a:ext uri="{FF2B5EF4-FFF2-40B4-BE49-F238E27FC236}">
                    <a16:creationId xmlns:a16="http://schemas.microsoft.com/office/drawing/2014/main" id="{2314764F-84F0-3449-A24A-F717FE3DA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5" y="2585"/>
                <a:ext cx="239" cy="239"/>
              </a:xfrm>
              <a:prstGeom prst="rect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46" name="Rectangle 17">
                <a:extLst>
                  <a:ext uri="{FF2B5EF4-FFF2-40B4-BE49-F238E27FC236}">
                    <a16:creationId xmlns:a16="http://schemas.microsoft.com/office/drawing/2014/main" id="{8AD68338-7BEA-074C-B8D3-973A3CCB0D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5" y="2585"/>
                <a:ext cx="239" cy="239"/>
              </a:xfrm>
              <a:prstGeom prst="rect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47" name="Rectangle 18">
                <a:extLst>
                  <a:ext uri="{FF2B5EF4-FFF2-40B4-BE49-F238E27FC236}">
                    <a16:creationId xmlns:a16="http://schemas.microsoft.com/office/drawing/2014/main" id="{C844EE2B-597D-734A-B269-0F51E71B1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5" y="2821"/>
                <a:ext cx="239" cy="23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48" name="Rectangle 19">
                <a:extLst>
                  <a:ext uri="{FF2B5EF4-FFF2-40B4-BE49-F238E27FC236}">
                    <a16:creationId xmlns:a16="http://schemas.microsoft.com/office/drawing/2014/main" id="{C7438A22-9537-2F47-80E3-DFE462DE5E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5" y="2821"/>
                <a:ext cx="239" cy="239"/>
              </a:xfrm>
              <a:prstGeom prst="rect">
                <a:avLst/>
              </a:prstGeom>
              <a:solidFill>
                <a:srgbClr val="66FF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49" name="Rectangle 20">
                <a:extLst>
                  <a:ext uri="{FF2B5EF4-FFF2-40B4-BE49-F238E27FC236}">
                    <a16:creationId xmlns:a16="http://schemas.microsoft.com/office/drawing/2014/main" id="{47BE604B-3D3E-B14A-8A33-B1C28CAF8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5" y="2821"/>
                <a:ext cx="239" cy="239"/>
              </a:xfrm>
              <a:prstGeom prst="rect">
                <a:avLst/>
              </a:prstGeom>
              <a:solidFill>
                <a:srgbClr val="66FF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52250" name="Rectangle 21">
                <a:extLst>
                  <a:ext uri="{FF2B5EF4-FFF2-40B4-BE49-F238E27FC236}">
                    <a16:creationId xmlns:a16="http://schemas.microsoft.com/office/drawing/2014/main" id="{E9D63500-E253-DB46-888A-1A7A218AE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5" y="2821"/>
                <a:ext cx="239" cy="239"/>
              </a:xfrm>
              <a:prstGeom prst="rect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72000" tIns="0" rIns="7200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altLang="pt-BR" sz="2000"/>
              </a:p>
            </p:txBody>
          </p:sp>
        </p:grpSp>
        <p:sp>
          <p:nvSpPr>
            <p:cNvPr id="52231" name="Line 22">
              <a:extLst>
                <a:ext uri="{FF2B5EF4-FFF2-40B4-BE49-F238E27FC236}">
                  <a16:creationId xmlns:a16="http://schemas.microsoft.com/office/drawing/2014/main" id="{94521500-D1C3-8243-8149-E6417BA01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0" y="2132"/>
              <a:ext cx="0" cy="9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2000" tIns="0" rIns="72000" bIns="0" anchor="ctr">
              <a:spAutoFit/>
            </a:bodyPr>
            <a:lstStyle/>
            <a:p>
              <a:endParaRPr lang="pt-BR"/>
            </a:p>
          </p:txBody>
        </p:sp>
        <p:sp>
          <p:nvSpPr>
            <p:cNvPr id="52232" name="Line 23">
              <a:extLst>
                <a:ext uri="{FF2B5EF4-FFF2-40B4-BE49-F238E27FC236}">
                  <a16:creationId xmlns:a16="http://schemas.microsoft.com/office/drawing/2014/main" id="{C8C99631-0BD2-2D43-87F8-BAFDD7380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1" y="3145"/>
              <a:ext cx="10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2000" tIns="0" rIns="72000" bIns="0" anchor="ctr">
              <a:spAutoFit/>
            </a:bodyPr>
            <a:lstStyle/>
            <a:p>
              <a:endParaRPr lang="pt-BR"/>
            </a:p>
          </p:txBody>
        </p:sp>
        <p:sp>
          <p:nvSpPr>
            <p:cNvPr id="52233" name="Text Box 24">
              <a:extLst>
                <a:ext uri="{FF2B5EF4-FFF2-40B4-BE49-F238E27FC236}">
                  <a16:creationId xmlns:a16="http://schemas.microsoft.com/office/drawing/2014/main" id="{FC5C0470-16C2-D24D-8A6C-DED75D94D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719" y="2553"/>
              <a:ext cx="651" cy="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2000" tIns="0" rIns="7200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600" b="1">
                  <a:solidFill>
                    <a:srgbClr val="000000"/>
                  </a:solidFill>
                </a:rPr>
                <a:t>novidade</a:t>
              </a:r>
            </a:p>
          </p:txBody>
        </p:sp>
        <p:sp>
          <p:nvSpPr>
            <p:cNvPr id="52234" name="Text Box 25">
              <a:extLst>
                <a:ext uri="{FF2B5EF4-FFF2-40B4-BE49-F238E27FC236}">
                  <a16:creationId xmlns:a16="http://schemas.microsoft.com/office/drawing/2014/main" id="{783AB727-8F00-1F48-8118-51072CABCC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168"/>
              <a:ext cx="943" cy="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2000" tIns="0" rIns="7200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pt-BR" altLang="pt-BR" sz="1600" b="1">
                  <a:solidFill>
                    <a:srgbClr val="000000"/>
                  </a:solidFill>
                </a:rPr>
                <a:t>complexidade</a:t>
              </a:r>
            </a:p>
          </p:txBody>
        </p:sp>
      </p:grpSp>
      <p:sp>
        <p:nvSpPr>
          <p:cNvPr id="52228" name="Rectangle 26">
            <a:extLst>
              <a:ext uri="{FF2B5EF4-FFF2-40B4-BE49-F238E27FC236}">
                <a16:creationId xmlns:a16="http://schemas.microsoft.com/office/drawing/2014/main" id="{535BA352-61F8-2840-8440-858D124F2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5" y="3403600"/>
            <a:ext cx="5729288" cy="197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FontTx/>
              <a:buNone/>
            </a:pPr>
            <a:r>
              <a:rPr lang="pt-BR" altLang="pt-BR" sz="2000" u="sng"/>
              <a:t>Grau de complexidade</a:t>
            </a:r>
            <a:r>
              <a:rPr lang="pt-BR" altLang="pt-BR" sz="2000"/>
              <a:t>:</a:t>
            </a:r>
          </a:p>
          <a:p>
            <a:pPr eaLnBrk="1" hangingPunct="1">
              <a:buFontTx/>
              <a:buNone/>
            </a:pPr>
            <a:r>
              <a:rPr lang="pt-BR" altLang="pt-BR" sz="2000"/>
              <a:t>Maior &gt; investir mais no conceitual para obter uma noção mais precisa do produto (algumas atividades do detalhado ocorrem no conceitual)</a:t>
            </a:r>
          </a:p>
        </p:txBody>
      </p:sp>
      <p:sp>
        <p:nvSpPr>
          <p:cNvPr id="52229" name="Text Box 27">
            <a:extLst>
              <a:ext uri="{FF2B5EF4-FFF2-40B4-BE49-F238E27FC236}">
                <a16:creationId xmlns:a16="http://schemas.microsoft.com/office/drawing/2014/main" id="{03CA0096-99B9-BA48-BFA0-6BD2265CE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5753100"/>
            <a:ext cx="86248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>
                <a:solidFill>
                  <a:srgbClr val="FF3300"/>
                </a:solidFill>
              </a:rPr>
              <a:t>Podem existir variações dessas práticas dependendo de especificidades do produto e cultura da empresa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F2D8518-43B3-284E-A971-08229EBAA9A0}"/>
              </a:ext>
            </a:extLst>
          </p:cNvPr>
          <p:cNvSpPr txBox="1">
            <a:spLocks noChangeArrowheads="1"/>
          </p:cNvSpPr>
          <p:nvPr/>
        </p:nvSpPr>
        <p:spPr>
          <a:xfrm>
            <a:off x="85725" y="57150"/>
            <a:ext cx="7388225" cy="706438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r>
              <a:rPr lang="pt-BR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Atividade: Selecionar a concepção do produto 4/4</a:t>
            </a:r>
          </a:p>
        </p:txBody>
      </p:sp>
      <p:sp>
        <p:nvSpPr>
          <p:cNvPr id="49154" name="Text Box 4">
            <a:extLst>
              <a:ext uri="{FF2B5EF4-FFF2-40B4-BE49-F238E27FC236}">
                <a16:creationId xmlns:a16="http://schemas.microsoft.com/office/drawing/2014/main" id="{302E76A1-0A52-E64F-9EC2-FA3D3702B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986176"/>
            <a:ext cx="80146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2400" b="1">
                <a:solidFill>
                  <a:srgbClr val="002060"/>
                </a:solidFill>
              </a:rPr>
              <a:t>TESTES DURANTE A SELEÇÃO DE CONCEPÇÕES</a:t>
            </a:r>
          </a:p>
        </p:txBody>
      </p:sp>
      <p:sp>
        <p:nvSpPr>
          <p:cNvPr id="49155" name="Rectangle 30">
            <a:extLst>
              <a:ext uri="{FF2B5EF4-FFF2-40B4-BE49-F238E27FC236}">
                <a16:creationId xmlns:a16="http://schemas.microsoft.com/office/drawing/2014/main" id="{1F6AE93E-1F31-484D-BE94-C470B06AF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22286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graphicFrame>
        <p:nvGraphicFramePr>
          <p:cNvPr id="49156" name="Object 2">
            <a:extLst>
              <a:ext uri="{FF2B5EF4-FFF2-40B4-BE49-F238E27FC236}">
                <a16:creationId xmlns:a16="http://schemas.microsoft.com/office/drawing/2014/main" id="{C351032E-FC38-7843-85B9-E60B1715A0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465898"/>
              </p:ext>
            </p:extLst>
          </p:nvPr>
        </p:nvGraphicFramePr>
        <p:xfrm>
          <a:off x="471488" y="2393611"/>
          <a:ext cx="8320087" cy="301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31178500" imgH="11303000" progId="Word.Picture.8">
                  <p:embed/>
                </p:oleObj>
              </mc:Choice>
              <mc:Fallback>
                <p:oleObj name="Figura" r:id="rId2" imgW="31178500" imgH="11303000" progId="Word.Picture.8">
                  <p:embed/>
                  <p:pic>
                    <p:nvPicPr>
                      <p:cNvPr id="49156" name="Object 2">
                        <a:extLst>
                          <a:ext uri="{FF2B5EF4-FFF2-40B4-BE49-F238E27FC236}">
                            <a16:creationId xmlns:a16="http://schemas.microsoft.com/office/drawing/2014/main" id="{C351032E-FC38-7843-85B9-E60B1715A0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8" y="2393611"/>
                        <a:ext cx="8320087" cy="301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 31">
            <a:extLst>
              <a:ext uri="{FF2B5EF4-FFF2-40B4-BE49-F238E27FC236}">
                <a16:creationId xmlns:a16="http://schemas.microsoft.com/office/drawing/2014/main" id="{6D915480-D67D-AC47-A2D3-46858CD6F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0" y="2098336"/>
            <a:ext cx="1552575" cy="3773488"/>
          </a:xfrm>
          <a:prstGeom prst="ellipse">
            <a:avLst/>
          </a:prstGeom>
          <a:noFill/>
          <a:ln w="222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AutoShape 2">
            <a:extLst>
              <a:ext uri="{FF2B5EF4-FFF2-40B4-BE49-F238E27FC236}">
                <a16:creationId xmlns:a16="http://schemas.microsoft.com/office/drawing/2014/main" id="{ADA4EA22-4742-D545-9639-CCF823D74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7663" y="1285875"/>
            <a:ext cx="6311900" cy="44831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F3EDD249-D75A-F24D-A98A-C4DCAFA4F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630863"/>
            <a:ext cx="2125663" cy="1125537"/>
          </a:xfrm>
          <a:prstGeom prst="ellipse">
            <a:avLst/>
          </a:prstGeom>
          <a:gradFill rotWithShape="0">
            <a:gsLst>
              <a:gs pos="0">
                <a:schemeClr val="accent2">
                  <a:gamma/>
                  <a:shade val="46275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 w="12700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US" b="1">
                <a:solidFill>
                  <a:schemeClr val="bg1"/>
                </a:solidFill>
              </a:rPr>
              <a:t>Desenho Manual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F55A26C-8F65-C346-95C6-7520C617B4D2}"/>
              </a:ext>
            </a:extLst>
          </p:cNvPr>
          <p:cNvGrpSpPr>
            <a:grpSpLocks/>
          </p:cNvGrpSpPr>
          <p:nvPr/>
        </p:nvGrpSpPr>
        <p:grpSpPr bwMode="auto">
          <a:xfrm>
            <a:off x="2176463" y="5626100"/>
            <a:ext cx="6854825" cy="1125538"/>
            <a:chOff x="1368" y="3150"/>
            <a:chExt cx="4318" cy="709"/>
          </a:xfrm>
        </p:grpSpPr>
        <p:sp>
          <p:nvSpPr>
            <p:cNvPr id="50188" name="AutoShape 5">
              <a:extLst>
                <a:ext uri="{FF2B5EF4-FFF2-40B4-BE49-F238E27FC236}">
                  <a16:creationId xmlns:a16="http://schemas.microsoft.com/office/drawing/2014/main" id="{D20DF8C4-F40A-284A-8463-F110CF487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" y="3336"/>
              <a:ext cx="2882" cy="408"/>
            </a:xfrm>
            <a:prstGeom prst="rightArrow">
              <a:avLst>
                <a:gd name="adj1" fmla="val 45102"/>
                <a:gd name="adj2" fmla="val 143106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rgbClr val="FF99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50189" name="Oval 6">
              <a:extLst>
                <a:ext uri="{FF2B5EF4-FFF2-40B4-BE49-F238E27FC236}">
                  <a16:creationId xmlns:a16="http://schemas.microsoft.com/office/drawing/2014/main" id="{02F4C9D1-FF35-C84A-BDF6-ED073C6FF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5" y="3150"/>
              <a:ext cx="1411" cy="709"/>
            </a:xfrm>
            <a:prstGeom prst="ellipse">
              <a:avLst/>
            </a:prstGeom>
            <a:gradFill rotWithShape="0">
              <a:gsLst>
                <a:gs pos="0">
                  <a:srgbClr val="FF9933"/>
                </a:gs>
                <a:gs pos="100000">
                  <a:srgbClr val="76471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pt-BR" sz="2400" b="1">
                  <a:solidFill>
                    <a:schemeClr val="bg1"/>
                  </a:solidFill>
                </a:rPr>
                <a:t>Protótipo Físico</a:t>
              </a:r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1DECE9F1-9FC4-2F41-A7A5-7633741508E9}"/>
              </a:ext>
            </a:extLst>
          </p:cNvPr>
          <p:cNvSpPr>
            <a:spLocks noChangeArrowheads="1"/>
          </p:cNvSpPr>
          <p:nvPr/>
        </p:nvSpPr>
        <p:spPr bwMode="auto">
          <a:xfrm rot="18381960" flipH="1">
            <a:off x="410369" y="3477419"/>
            <a:ext cx="3967162" cy="673100"/>
          </a:xfrm>
          <a:prstGeom prst="rightArrow">
            <a:avLst>
              <a:gd name="adj1" fmla="val 50000"/>
              <a:gd name="adj2" fmla="val 147347"/>
            </a:avLst>
          </a:prstGeom>
          <a:gradFill rotWithShape="0">
            <a:gsLst>
              <a:gs pos="0">
                <a:schemeClr val="accent2"/>
              </a:gs>
              <a:gs pos="100000">
                <a:srgbClr val="33CC33"/>
              </a:gs>
            </a:gsLst>
            <a:lin ang="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A7267B1B-4C6F-B24F-9EE8-D8E7A545CF56}"/>
              </a:ext>
            </a:extLst>
          </p:cNvPr>
          <p:cNvGrpSpPr>
            <a:grpSpLocks/>
          </p:cNvGrpSpPr>
          <p:nvPr/>
        </p:nvGrpSpPr>
        <p:grpSpPr bwMode="auto">
          <a:xfrm>
            <a:off x="3233738" y="1009650"/>
            <a:ext cx="4176712" cy="4779963"/>
            <a:chOff x="2037" y="393"/>
            <a:chExt cx="2631" cy="3011"/>
          </a:xfrm>
        </p:grpSpPr>
        <p:sp>
          <p:nvSpPr>
            <p:cNvPr id="50186" name="AutoShape 9">
              <a:extLst>
                <a:ext uri="{FF2B5EF4-FFF2-40B4-BE49-F238E27FC236}">
                  <a16:creationId xmlns:a16="http://schemas.microsoft.com/office/drawing/2014/main" id="{210D4D94-E337-F84E-BFF1-8DD0B8778B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252880" flipH="1">
              <a:off x="3186" y="1922"/>
              <a:ext cx="2540" cy="424"/>
            </a:xfrm>
            <a:prstGeom prst="rightArrow">
              <a:avLst>
                <a:gd name="adj1" fmla="val 50000"/>
                <a:gd name="adj2" fmla="val 149764"/>
              </a:avLst>
            </a:prstGeom>
            <a:gradFill rotWithShape="0">
              <a:gsLst>
                <a:gs pos="0">
                  <a:srgbClr val="33CC33"/>
                </a:gs>
                <a:gs pos="100000">
                  <a:srgbClr val="FF9933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50187" name="Oval 10">
              <a:extLst>
                <a:ext uri="{FF2B5EF4-FFF2-40B4-BE49-F238E27FC236}">
                  <a16:creationId xmlns:a16="http://schemas.microsoft.com/office/drawing/2014/main" id="{31A703A7-6103-CE4B-826A-753218B9C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7" y="393"/>
              <a:ext cx="1887" cy="709"/>
            </a:xfrm>
            <a:prstGeom prst="ellipse">
              <a:avLst/>
            </a:prstGeom>
            <a:gradFill rotWithShape="0">
              <a:gsLst>
                <a:gs pos="0">
                  <a:srgbClr val="33CC33"/>
                </a:gs>
                <a:gs pos="50000">
                  <a:srgbClr val="185E18"/>
                </a:gs>
                <a:gs pos="100000">
                  <a:srgbClr val="33CC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pt-BR" sz="2400" b="1">
                  <a:solidFill>
                    <a:schemeClr val="bg1"/>
                  </a:solidFill>
                </a:rPr>
                <a:t>Teste 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pt-BR" sz="2400" b="1">
                  <a:solidFill>
                    <a:schemeClr val="bg1"/>
                  </a:solidFill>
                </a:rPr>
                <a:t>Reprojeto</a:t>
              </a:r>
            </a:p>
          </p:txBody>
        </p:sp>
      </p:grpSp>
      <p:pic>
        <p:nvPicPr>
          <p:cNvPr id="11" name="Beetle Tests.AVI">
            <a:hlinkClick r:id="" action="ppaction://media"/>
            <a:extLst>
              <a:ext uri="{FF2B5EF4-FFF2-40B4-BE49-F238E27FC236}">
                <a16:creationId xmlns:a16="http://schemas.microsoft.com/office/drawing/2014/main" id="{CA686B85-D7DC-2E4D-8B34-D4D927D47662}"/>
              </a:ext>
            </a:extLst>
          </p:cNvPr>
          <p:cNvPicPr>
            <a:picLocks noRot="1" noChangeAspect="1" noChangeArrowheads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513" y="3509963"/>
            <a:ext cx="3367087" cy="223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0183" name="Object 2">
            <a:extLst>
              <a:ext uri="{FF2B5EF4-FFF2-40B4-BE49-F238E27FC236}">
                <a16:creationId xmlns:a16="http://schemas.microsoft.com/office/drawing/2014/main" id="{6F104063-8FD1-CC4B-8A96-18AC2E16BA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1582738"/>
          <a:ext cx="237648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5537200" imgH="1733550" progId="Photoshop.Image.5">
                  <p:embed/>
                </p:oleObj>
              </mc:Choice>
              <mc:Fallback>
                <p:oleObj name="Image" r:id="rId5" imgW="5537200" imgH="1733550" progId="Photoshop.Image.5">
                  <p:embed/>
                  <p:pic>
                    <p:nvPicPr>
                      <p:cNvPr id="50183" name="Object 2">
                        <a:extLst>
                          <a:ext uri="{FF2B5EF4-FFF2-40B4-BE49-F238E27FC236}">
                            <a16:creationId xmlns:a16="http://schemas.microsoft.com/office/drawing/2014/main" id="{6F104063-8FD1-CC4B-8A96-18AC2E16BA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1582738"/>
                        <a:ext cx="2376487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4" name="Rectangle 15">
            <a:extLst>
              <a:ext uri="{FF2B5EF4-FFF2-40B4-BE49-F238E27FC236}">
                <a16:creationId xmlns:a16="http://schemas.microsoft.com/office/drawing/2014/main" id="{A4E37CB0-F197-CB4B-8332-ACBFDE2FD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" y="5715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Evolução do Desenvolvimento de Produto (passado)</a:t>
            </a:r>
          </a:p>
        </p:txBody>
      </p:sp>
      <p:sp>
        <p:nvSpPr>
          <p:cNvPr id="50185" name="Text Box 12">
            <a:extLst>
              <a:ext uri="{FF2B5EF4-FFF2-40B4-BE49-F238E27FC236}">
                <a16:creationId xmlns:a16="http://schemas.microsoft.com/office/drawing/2014/main" id="{90FC6CA2-1A9C-2D4F-A575-CF9E6A49E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838" y="2513013"/>
            <a:ext cx="4719637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pt-BR" b="1"/>
              <a:t>Hardware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pt-BR" b="1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pt-BR" sz="2400" b="1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pt-BR" b="1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pt-BR" b="1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pt-BR" sz="2400" b="1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pt-BR" sz="2400" b="1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pt-BR" sz="2400" b="1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pt-BR" b="1"/>
              <a:t>Desenvolvimento do Produto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 nodeType="clickPar">
                      <p:stCondLst>
                        <p:cond delay="0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>
                <p:cTn id="2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video>
          </p:childTnLst>
        </p:cTn>
      </p:par>
    </p:tnLst>
    <p:bldLst>
      <p:bldP spid="3" grpId="0" animBg="1" autoUpdateAnimBg="0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AutoShape 2">
            <a:extLst>
              <a:ext uri="{FF2B5EF4-FFF2-40B4-BE49-F238E27FC236}">
                <a16:creationId xmlns:a16="http://schemas.microsoft.com/office/drawing/2014/main" id="{DB0FCAA8-E760-3149-B3C2-618DF4955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7663" y="1271588"/>
            <a:ext cx="6311900" cy="44831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63DD5F70-6BED-9F40-B81F-84EC47071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529263"/>
            <a:ext cx="1981200" cy="1301750"/>
          </a:xfrm>
          <a:prstGeom prst="ellipse">
            <a:avLst/>
          </a:prstGeom>
          <a:gradFill rotWithShape="0">
            <a:gsLst>
              <a:gs pos="0">
                <a:schemeClr val="accent2">
                  <a:gamma/>
                  <a:shade val="46275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 w="12700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US" sz="2800" b="1">
                <a:solidFill>
                  <a:schemeClr val="bg1"/>
                </a:solidFill>
              </a:rPr>
              <a:t>3D</a:t>
            </a:r>
          </a:p>
          <a:p>
            <a:pPr algn="ctr" eaLnBrk="1" hangingPunct="1">
              <a:defRPr/>
            </a:pPr>
            <a:r>
              <a:rPr lang="en-US" sz="2800" b="1">
                <a:solidFill>
                  <a:schemeClr val="bg1"/>
                </a:solidFill>
              </a:rPr>
              <a:t>CAD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042214E-82DB-DD42-896A-BB099B840F64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5567363"/>
            <a:ext cx="6821488" cy="1214437"/>
            <a:chOff x="1392" y="3273"/>
            <a:chExt cx="4297" cy="765"/>
          </a:xfrm>
        </p:grpSpPr>
        <p:sp>
          <p:nvSpPr>
            <p:cNvPr id="51215" name="AutoShape 5">
              <a:extLst>
                <a:ext uri="{FF2B5EF4-FFF2-40B4-BE49-F238E27FC236}">
                  <a16:creationId xmlns:a16="http://schemas.microsoft.com/office/drawing/2014/main" id="{E4AB1D98-D7DD-5D44-9813-5183933CC8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0793884">
              <a:off x="1392" y="3503"/>
              <a:ext cx="2856" cy="375"/>
            </a:xfrm>
            <a:prstGeom prst="leftRightArrow">
              <a:avLst>
                <a:gd name="adj1" fmla="val 50824"/>
                <a:gd name="adj2" fmla="val 131094"/>
              </a:avLst>
            </a:prstGeom>
            <a:gradFill rotWithShape="0">
              <a:gsLst>
                <a:gs pos="0">
                  <a:srgbClr val="003399"/>
                </a:gs>
                <a:gs pos="100000">
                  <a:srgbClr val="FF9900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51216" name="Oval 6">
              <a:extLst>
                <a:ext uri="{FF2B5EF4-FFF2-40B4-BE49-F238E27FC236}">
                  <a16:creationId xmlns:a16="http://schemas.microsoft.com/office/drawing/2014/main" id="{30449FAD-F888-BF46-914A-530CD4F08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" y="3273"/>
              <a:ext cx="1411" cy="765"/>
            </a:xfrm>
            <a:prstGeom prst="ellipse">
              <a:avLst/>
            </a:prstGeom>
            <a:gradFill rotWithShape="0">
              <a:gsLst>
                <a:gs pos="0">
                  <a:srgbClr val="FF9933"/>
                </a:gs>
                <a:gs pos="100000">
                  <a:srgbClr val="76471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pt-BR" sz="2600" b="1">
                  <a:solidFill>
                    <a:schemeClr val="bg1"/>
                  </a:solidFill>
                </a:rPr>
                <a:t>Mock-up Digital</a:t>
              </a:r>
            </a:p>
          </p:txBody>
        </p:sp>
      </p:grpSp>
      <p:grpSp>
        <p:nvGrpSpPr>
          <p:cNvPr id="4" name="Group 8">
            <a:extLst>
              <a:ext uri="{FF2B5EF4-FFF2-40B4-BE49-F238E27FC236}">
                <a16:creationId xmlns:a16="http://schemas.microsoft.com/office/drawing/2014/main" id="{DB234920-3C20-7646-9193-C5F65CB592CC}"/>
              </a:ext>
            </a:extLst>
          </p:cNvPr>
          <p:cNvGrpSpPr>
            <a:grpSpLocks/>
          </p:cNvGrpSpPr>
          <p:nvPr/>
        </p:nvGrpSpPr>
        <p:grpSpPr bwMode="auto">
          <a:xfrm>
            <a:off x="2033588" y="738188"/>
            <a:ext cx="5365750" cy="5132387"/>
            <a:chOff x="1281" y="231"/>
            <a:chExt cx="3380" cy="3233"/>
          </a:xfrm>
        </p:grpSpPr>
        <p:sp>
          <p:nvSpPr>
            <p:cNvPr id="51212" name="Oval 9">
              <a:extLst>
                <a:ext uri="{FF2B5EF4-FFF2-40B4-BE49-F238E27FC236}">
                  <a16:creationId xmlns:a16="http://schemas.microsoft.com/office/drawing/2014/main" id="{70FF575A-6F9C-6746-B46E-CBC506080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7" y="231"/>
              <a:ext cx="1887" cy="1034"/>
            </a:xfrm>
            <a:prstGeom prst="ellipse">
              <a:avLst/>
            </a:prstGeom>
            <a:gradFill rotWithShape="0">
              <a:gsLst>
                <a:gs pos="0">
                  <a:srgbClr val="33CC33"/>
                </a:gs>
                <a:gs pos="50000">
                  <a:srgbClr val="185E18"/>
                </a:gs>
                <a:gs pos="100000">
                  <a:srgbClr val="33CC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pt-BR" sz="2400" b="1">
                  <a:solidFill>
                    <a:schemeClr val="bg1"/>
                  </a:solidFill>
                </a:rPr>
                <a:t>Prototipagem Funcional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pt-BR" sz="2400" b="1">
                  <a:solidFill>
                    <a:schemeClr val="bg1"/>
                  </a:solidFill>
                </a:rPr>
                <a:t>Virtual</a:t>
              </a:r>
            </a:p>
          </p:txBody>
        </p:sp>
        <p:sp>
          <p:nvSpPr>
            <p:cNvPr id="51213" name="AutoShape 10">
              <a:extLst>
                <a:ext uri="{FF2B5EF4-FFF2-40B4-BE49-F238E27FC236}">
                  <a16:creationId xmlns:a16="http://schemas.microsoft.com/office/drawing/2014/main" id="{73F3A557-3FD9-884E-AAA6-C64E3B6B5CD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210631">
              <a:off x="213" y="2010"/>
              <a:ext cx="2520" cy="384"/>
            </a:xfrm>
            <a:prstGeom prst="leftRightArrow">
              <a:avLst>
                <a:gd name="adj1" fmla="val 50000"/>
                <a:gd name="adj2" fmla="val 131250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rgbClr val="33CC33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51214" name="AutoShape 11">
              <a:extLst>
                <a:ext uri="{FF2B5EF4-FFF2-40B4-BE49-F238E27FC236}">
                  <a16:creationId xmlns:a16="http://schemas.microsoft.com/office/drawing/2014/main" id="{697F505D-0396-944D-9440-D23103B1020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612799">
              <a:off x="3214" y="2016"/>
              <a:ext cx="2520" cy="375"/>
            </a:xfrm>
            <a:prstGeom prst="leftRightArrow">
              <a:avLst>
                <a:gd name="adj1" fmla="val 50000"/>
                <a:gd name="adj2" fmla="val 134400"/>
              </a:avLst>
            </a:prstGeom>
            <a:gradFill rotWithShape="0">
              <a:gsLst>
                <a:gs pos="0">
                  <a:srgbClr val="33CC33"/>
                </a:gs>
                <a:gs pos="100000">
                  <a:srgbClr val="FF9900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</p:grpSp>
      <p:sp>
        <p:nvSpPr>
          <p:cNvPr id="51205" name="Text Box 12">
            <a:extLst>
              <a:ext uri="{FF2B5EF4-FFF2-40B4-BE49-F238E27FC236}">
                <a16:creationId xmlns:a16="http://schemas.microsoft.com/office/drawing/2014/main" id="{B5813BE3-B0DE-BE43-B55C-321C9E4D9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2725" y="3608388"/>
            <a:ext cx="40687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pt-BR" b="1"/>
              <a:t>Desenvolvimento Virtual do Produto</a:t>
            </a:r>
          </a:p>
        </p:txBody>
      </p:sp>
      <p:pic>
        <p:nvPicPr>
          <p:cNvPr id="12" name="wheel_envelope.avi">
            <a:hlinkClick r:id="" action="ppaction://media"/>
            <a:extLst>
              <a:ext uri="{FF2B5EF4-FFF2-40B4-BE49-F238E27FC236}">
                <a16:creationId xmlns:a16="http://schemas.microsoft.com/office/drawing/2014/main" id="{380ECC26-FE73-904C-97BB-AA529B740462}"/>
              </a:ext>
            </a:extLst>
          </p:cNvPr>
          <p:cNvPicPr>
            <a:picLocks noRot="1" noChangeAspect="1" noChangeArrowheads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575" y="4641850"/>
            <a:ext cx="161925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Beetle1.avi">
            <a:hlinkClick r:id="" action="ppaction://media"/>
            <a:extLst>
              <a:ext uri="{FF2B5EF4-FFF2-40B4-BE49-F238E27FC236}">
                <a16:creationId xmlns:a16="http://schemas.microsoft.com/office/drawing/2014/main" id="{BA970FE8-F70F-2846-93BB-1F0FE9086537}"/>
              </a:ext>
            </a:extLst>
          </p:cNvPr>
          <p:cNvPicPr>
            <a:picLocks noRot="1" noChangeAspect="1" noChangeArrowheads="1"/>
          </p:cNvPicPr>
          <p:nvPr>
            <a:videoFile r:link="rId4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713" y="4649788"/>
            <a:ext cx="1601787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Golf_sled_test.avi">
            <a:hlinkClick r:id="" action="ppaction://media"/>
            <a:extLst>
              <a:ext uri="{FF2B5EF4-FFF2-40B4-BE49-F238E27FC236}">
                <a16:creationId xmlns:a16="http://schemas.microsoft.com/office/drawing/2014/main" id="{C151EDB8-31D9-964E-A68F-70ABD8B2D301}"/>
              </a:ext>
            </a:extLst>
          </p:cNvPr>
          <p:cNvPicPr>
            <a:picLocks noRot="1" noChangeAspect="1" noChangeArrowheads="1"/>
          </p:cNvPicPr>
          <p:nvPr>
            <a:videoFile r:link="rId6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275" y="4651375"/>
            <a:ext cx="1512888" cy="109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Beetle_MTS_testrig.avi">
            <a:hlinkClick r:id="" action="ppaction://media"/>
            <a:extLst>
              <a:ext uri="{FF2B5EF4-FFF2-40B4-BE49-F238E27FC236}">
                <a16:creationId xmlns:a16="http://schemas.microsoft.com/office/drawing/2014/main" id="{88EBE33D-977A-524A-9422-8C0B11BFB5E8}"/>
              </a:ext>
            </a:extLst>
          </p:cNvPr>
          <p:cNvPicPr>
            <a:picLocks noRot="1" noChangeAspect="1" noChangeArrowheads="1"/>
          </p:cNvPicPr>
          <p:nvPr>
            <a:videoFile r:link="rId8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438" y="2295525"/>
            <a:ext cx="1444625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210" name="Object 2">
            <a:extLst>
              <a:ext uri="{FF2B5EF4-FFF2-40B4-BE49-F238E27FC236}">
                <a16:creationId xmlns:a16="http://schemas.microsoft.com/office/drawing/2014/main" id="{68F5FEF2-1C89-DF42-9756-FF3D76F945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1568450"/>
          <a:ext cx="237648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4" imgW="5537200" imgH="1733550" progId="Photoshop.Image.5">
                  <p:embed/>
                </p:oleObj>
              </mc:Choice>
              <mc:Fallback>
                <p:oleObj name="Image" r:id="rId14" imgW="5537200" imgH="1733550" progId="Photoshop.Image.5">
                  <p:embed/>
                  <p:pic>
                    <p:nvPicPr>
                      <p:cNvPr id="51210" name="Object 2">
                        <a:extLst>
                          <a:ext uri="{FF2B5EF4-FFF2-40B4-BE49-F238E27FC236}">
                            <a16:creationId xmlns:a16="http://schemas.microsoft.com/office/drawing/2014/main" id="{68F5FEF2-1C89-DF42-9756-FF3D76F945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1568450"/>
                        <a:ext cx="2376487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1" name="Rectangle 18">
            <a:extLst>
              <a:ext uri="{FF2B5EF4-FFF2-40B4-BE49-F238E27FC236}">
                <a16:creationId xmlns:a16="http://schemas.microsoft.com/office/drawing/2014/main" id="{EB77031C-8391-A940-9938-6BC5BFD3B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" y="5715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Evolução do Desenvolvimento de Produto (futuro)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 nodeType="clickPar">
                      <p:stCondLst>
                        <p:cond delay="0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 nodeType="clickPar">
                      <p:stCondLst>
                        <p:cond delay="0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1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 nodeType="clickPar">
                      <p:stCondLst>
                        <p:cond delay="0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>
                <p:cTn id="4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video>
            <p:video>
              <p:cMediaNode>
                <p:cTn id="48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video>
            <p:video>
              <p:cMediaNode>
                <p:cTn id="49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video>
            <p:video>
              <p:cMediaNode>
                <p:cTn id="50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video>
          </p:childTnLst>
        </p:cTn>
      </p:par>
    </p:tnLst>
    <p:bldLst>
      <p:bldP spid="3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>
            <a:extLst>
              <a:ext uri="{FF2B5EF4-FFF2-40B4-BE49-F238E27FC236}">
                <a16:creationId xmlns:a16="http://schemas.microsoft.com/office/drawing/2014/main" id="{C0DB9C61-90E0-484F-8602-02F49EDC1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rgbClr val="344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F7ED563-E5DB-4937-BF78-7893C4DC9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260" y="1028278"/>
            <a:ext cx="8793480" cy="4783454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5E94913-FF28-DB49-B44E-C8E448A9E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30" y="1290792"/>
            <a:ext cx="5058520" cy="993680"/>
          </a:xfrm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defTabSz="685800"/>
            <a:r>
              <a:rPr lang="en-US" sz="2800" b="1" err="1">
                <a:solidFill>
                  <a:srgbClr val="FF0000"/>
                </a:solidFill>
              </a:rPr>
              <a:t>Diferença</a:t>
            </a:r>
            <a:r>
              <a:rPr lang="en-US" sz="2800" b="1">
                <a:solidFill>
                  <a:srgbClr val="FF0000"/>
                </a:solidFill>
              </a:rPr>
              <a:t> entre MVP e Protótipo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FC8E6A5-66EA-CB4C-BDB1-FDE0C3387B6D}"/>
              </a:ext>
            </a:extLst>
          </p:cNvPr>
          <p:cNvSpPr/>
          <p:nvPr/>
        </p:nvSpPr>
        <p:spPr>
          <a:xfrm>
            <a:off x="409575" y="2543868"/>
            <a:ext cx="4748484" cy="29461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275" b="1">
                <a:solidFill>
                  <a:srgbClr val="344F66"/>
                </a:solidFill>
              </a:rPr>
              <a:t>MVP - </a:t>
            </a:r>
            <a:r>
              <a:rPr lang="en-US" sz="1275" b="1" i="1">
                <a:solidFill>
                  <a:srgbClr val="344F66"/>
                </a:solidFill>
              </a:rPr>
              <a:t>Minimum Viable Product </a:t>
            </a:r>
            <a:r>
              <a:rPr lang="en-US" sz="1275" b="1">
                <a:solidFill>
                  <a:srgbClr val="344F66"/>
                </a:solidFill>
              </a:rPr>
              <a:t>(</a:t>
            </a:r>
            <a:r>
              <a:rPr lang="en-US" sz="1275" b="1" err="1">
                <a:solidFill>
                  <a:srgbClr val="344F66"/>
                </a:solidFill>
              </a:rPr>
              <a:t>ou</a:t>
            </a:r>
            <a:r>
              <a:rPr lang="en-US" sz="1275" b="1">
                <a:solidFill>
                  <a:srgbClr val="344F66"/>
                </a:solidFill>
              </a:rPr>
              <a:t>, </a:t>
            </a:r>
            <a:r>
              <a:rPr lang="en-US" sz="1275" b="1" err="1">
                <a:solidFill>
                  <a:srgbClr val="344F66"/>
                </a:solidFill>
              </a:rPr>
              <a:t>em</a:t>
            </a:r>
            <a:r>
              <a:rPr lang="en-US" sz="1275" b="1">
                <a:solidFill>
                  <a:srgbClr val="344F66"/>
                </a:solidFill>
              </a:rPr>
              <a:t> </a:t>
            </a:r>
            <a:r>
              <a:rPr lang="en-US" sz="1275" b="1" err="1">
                <a:solidFill>
                  <a:srgbClr val="344F66"/>
                </a:solidFill>
              </a:rPr>
              <a:t>português</a:t>
            </a:r>
            <a:r>
              <a:rPr lang="en-US" sz="1275" b="1">
                <a:solidFill>
                  <a:srgbClr val="344F66"/>
                </a:solidFill>
              </a:rPr>
              <a:t>, PMV - </a:t>
            </a:r>
            <a:r>
              <a:rPr lang="en-US" sz="1275" b="1" err="1">
                <a:solidFill>
                  <a:srgbClr val="344F66"/>
                </a:solidFill>
              </a:rPr>
              <a:t>Produto</a:t>
            </a:r>
            <a:r>
              <a:rPr lang="en-US" sz="1275" b="1">
                <a:solidFill>
                  <a:srgbClr val="344F66"/>
                </a:solidFill>
              </a:rPr>
              <a:t> </a:t>
            </a:r>
            <a:r>
              <a:rPr lang="en-US" sz="1275" b="1" err="1">
                <a:solidFill>
                  <a:srgbClr val="344F66"/>
                </a:solidFill>
              </a:rPr>
              <a:t>Mínimo</a:t>
            </a:r>
            <a:r>
              <a:rPr lang="en-US" sz="1275" b="1">
                <a:solidFill>
                  <a:srgbClr val="344F66"/>
                </a:solidFill>
              </a:rPr>
              <a:t> </a:t>
            </a:r>
            <a:r>
              <a:rPr lang="en-US" sz="1275" b="1" err="1">
                <a:solidFill>
                  <a:srgbClr val="344F66"/>
                </a:solidFill>
              </a:rPr>
              <a:t>Viável</a:t>
            </a:r>
            <a:r>
              <a:rPr lang="en-US" sz="1275" b="1">
                <a:solidFill>
                  <a:srgbClr val="344F66"/>
                </a:solidFill>
              </a:rPr>
              <a:t>)  (</a:t>
            </a:r>
            <a:r>
              <a:rPr lang="en-US" sz="1275" b="1" err="1">
                <a:solidFill>
                  <a:srgbClr val="344F66"/>
                </a:solidFill>
              </a:rPr>
              <a:t>Conceito</a:t>
            </a:r>
            <a:r>
              <a:rPr lang="en-US" sz="1275" b="1">
                <a:solidFill>
                  <a:srgbClr val="344F66"/>
                </a:solidFill>
              </a:rPr>
              <a:t> </a:t>
            </a:r>
            <a:r>
              <a:rPr lang="en-US" sz="1275" b="1" err="1">
                <a:solidFill>
                  <a:srgbClr val="344F66"/>
                </a:solidFill>
              </a:rPr>
              <a:t>surgiu</a:t>
            </a:r>
            <a:r>
              <a:rPr lang="en-US" sz="1275" b="1">
                <a:solidFill>
                  <a:srgbClr val="344F66"/>
                </a:solidFill>
              </a:rPr>
              <a:t> no </a:t>
            </a:r>
            <a:r>
              <a:rPr lang="en-US" sz="1275" b="1" err="1">
                <a:solidFill>
                  <a:srgbClr val="344F66"/>
                </a:solidFill>
              </a:rPr>
              <a:t>Livro</a:t>
            </a:r>
            <a:r>
              <a:rPr lang="en-US" sz="1275" b="1">
                <a:solidFill>
                  <a:srgbClr val="344F66"/>
                </a:solidFill>
              </a:rPr>
              <a:t> Startup </a:t>
            </a:r>
            <a:r>
              <a:rPr lang="en-US" sz="1275" b="1" err="1">
                <a:solidFill>
                  <a:srgbClr val="344F66"/>
                </a:solidFill>
              </a:rPr>
              <a:t>Enxutas</a:t>
            </a:r>
            <a:r>
              <a:rPr lang="en-US" sz="1275" b="1">
                <a:solidFill>
                  <a:srgbClr val="344F66"/>
                </a:solidFill>
              </a:rPr>
              <a:t>: </a:t>
            </a:r>
            <a:endParaRPr lang="en-US" sz="1275" b="1" i="1">
              <a:solidFill>
                <a:srgbClr val="344F66"/>
              </a:solidFill>
            </a:endParaRP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275" b="1">
                <a:solidFill>
                  <a:srgbClr val="344F66"/>
                </a:solidFill>
              </a:rPr>
              <a:t>MVP </a:t>
            </a:r>
            <a:r>
              <a:rPr lang="en-US" sz="1275" b="1" err="1">
                <a:solidFill>
                  <a:srgbClr val="344F66"/>
                </a:solidFill>
              </a:rPr>
              <a:t>está</a:t>
            </a:r>
            <a:r>
              <a:rPr lang="en-US" sz="1275" b="1">
                <a:solidFill>
                  <a:srgbClr val="344F66"/>
                </a:solidFill>
              </a:rPr>
              <a:t> </a:t>
            </a:r>
            <a:r>
              <a:rPr lang="en-US" sz="1275" b="1" err="1">
                <a:solidFill>
                  <a:srgbClr val="344F66"/>
                </a:solidFill>
              </a:rPr>
              <a:t>relacionado</a:t>
            </a:r>
            <a:r>
              <a:rPr lang="en-US" sz="1275" b="1">
                <a:solidFill>
                  <a:srgbClr val="344F66"/>
                </a:solidFill>
              </a:rPr>
              <a:t> </a:t>
            </a:r>
            <a:r>
              <a:rPr lang="en-US" sz="1275" b="1" err="1">
                <a:solidFill>
                  <a:srgbClr val="344F66"/>
                </a:solidFill>
              </a:rPr>
              <a:t>ao</a:t>
            </a:r>
            <a:r>
              <a:rPr lang="en-US" sz="1275" b="1">
                <a:solidFill>
                  <a:srgbClr val="344F66"/>
                </a:solidFill>
              </a:rPr>
              <a:t> </a:t>
            </a:r>
            <a:r>
              <a:rPr lang="en-US" sz="1275" b="1" err="1">
                <a:solidFill>
                  <a:srgbClr val="344F66"/>
                </a:solidFill>
              </a:rPr>
              <a:t>modelo</a:t>
            </a:r>
            <a:r>
              <a:rPr lang="en-US" sz="1275" b="1">
                <a:solidFill>
                  <a:srgbClr val="344F66"/>
                </a:solidFill>
              </a:rPr>
              <a:t> de </a:t>
            </a:r>
            <a:r>
              <a:rPr lang="en-US" sz="1275" b="1" err="1">
                <a:solidFill>
                  <a:srgbClr val="344F66"/>
                </a:solidFill>
              </a:rPr>
              <a:t>negócio</a:t>
            </a:r>
            <a:r>
              <a:rPr lang="en-US" sz="1275" b="1">
                <a:solidFill>
                  <a:srgbClr val="344F66"/>
                </a:solidFill>
              </a:rPr>
              <a:t>, </a:t>
            </a: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275" b="1">
                <a:solidFill>
                  <a:srgbClr val="344F66"/>
                </a:solidFill>
              </a:rPr>
              <a:t>MVP serve para </a:t>
            </a:r>
            <a:r>
              <a:rPr lang="en-US" sz="1275" b="1" err="1">
                <a:solidFill>
                  <a:srgbClr val="344F66"/>
                </a:solidFill>
              </a:rPr>
              <a:t>testar</a:t>
            </a:r>
            <a:r>
              <a:rPr lang="en-US" sz="1275" b="1">
                <a:solidFill>
                  <a:srgbClr val="344F66"/>
                </a:solidFill>
              </a:rPr>
              <a:t> a </a:t>
            </a:r>
            <a:r>
              <a:rPr lang="en-US" sz="1275" b="1" err="1">
                <a:solidFill>
                  <a:srgbClr val="344F66"/>
                </a:solidFill>
              </a:rPr>
              <a:t>viabilidade</a:t>
            </a:r>
            <a:r>
              <a:rPr lang="en-US" sz="1275" b="1">
                <a:solidFill>
                  <a:srgbClr val="344F66"/>
                </a:solidFill>
              </a:rPr>
              <a:t> do </a:t>
            </a:r>
            <a:r>
              <a:rPr lang="en-US" sz="1275" b="1" err="1">
                <a:solidFill>
                  <a:srgbClr val="344F66"/>
                </a:solidFill>
              </a:rPr>
              <a:t>negócio</a:t>
            </a:r>
            <a:r>
              <a:rPr lang="en-US" sz="1275" b="1">
                <a:solidFill>
                  <a:srgbClr val="344F66"/>
                </a:solidFill>
              </a:rPr>
              <a:t>. </a:t>
            </a: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275" b="1">
                <a:solidFill>
                  <a:srgbClr val="344F66"/>
                </a:solidFill>
              </a:rPr>
              <a:t> MVP </a:t>
            </a:r>
            <a:r>
              <a:rPr lang="en-US" sz="1275" b="1" err="1">
                <a:solidFill>
                  <a:srgbClr val="344F66"/>
                </a:solidFill>
              </a:rPr>
              <a:t>fornece</a:t>
            </a:r>
            <a:r>
              <a:rPr lang="en-US" sz="1275" b="1">
                <a:solidFill>
                  <a:srgbClr val="344F66"/>
                </a:solidFill>
              </a:rPr>
              <a:t> feedback para </a:t>
            </a:r>
            <a:r>
              <a:rPr lang="en-US" sz="1275" b="1" err="1">
                <a:solidFill>
                  <a:srgbClr val="344F66"/>
                </a:solidFill>
              </a:rPr>
              <a:t>orientar</a:t>
            </a:r>
            <a:r>
              <a:rPr lang="en-US" sz="1275" b="1">
                <a:solidFill>
                  <a:srgbClr val="344F66"/>
                </a:solidFill>
              </a:rPr>
              <a:t> o </a:t>
            </a:r>
            <a:r>
              <a:rPr lang="en-US" sz="1275" b="1" err="1">
                <a:solidFill>
                  <a:srgbClr val="344F66"/>
                </a:solidFill>
              </a:rPr>
              <a:t>desenvolvimento</a:t>
            </a:r>
            <a:r>
              <a:rPr lang="en-US" sz="1275" b="1">
                <a:solidFill>
                  <a:srgbClr val="344F66"/>
                </a:solidFill>
              </a:rPr>
              <a:t> do </a:t>
            </a:r>
            <a:r>
              <a:rPr lang="en-US" sz="1275" b="1" err="1">
                <a:solidFill>
                  <a:srgbClr val="344F66"/>
                </a:solidFill>
              </a:rPr>
              <a:t>negócio</a:t>
            </a:r>
            <a:r>
              <a:rPr lang="en-US" sz="1275" b="1">
                <a:solidFill>
                  <a:srgbClr val="344F66"/>
                </a:solidFill>
              </a:rPr>
              <a:t>.</a:t>
            </a: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sz="1275" b="1">
              <a:solidFill>
                <a:srgbClr val="344F66"/>
              </a:solidFill>
            </a:endParaRP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sz="1275" b="1">
              <a:solidFill>
                <a:srgbClr val="344F66"/>
              </a:solidFill>
            </a:endParaRPr>
          </a:p>
          <a:p>
            <a:pPr indent="-171450">
              <a:lnSpc>
                <a:spcPct val="9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275" b="1">
                <a:solidFill>
                  <a:srgbClr val="FF0000"/>
                </a:solidFill>
              </a:rPr>
              <a:t>Protótipo </a:t>
            </a:r>
            <a:r>
              <a:rPr lang="en-US" sz="1275" b="1" err="1">
                <a:solidFill>
                  <a:srgbClr val="FF0000"/>
                </a:solidFill>
              </a:rPr>
              <a:t>está</a:t>
            </a:r>
            <a:r>
              <a:rPr lang="en-US" sz="1275" b="1">
                <a:solidFill>
                  <a:srgbClr val="FF0000"/>
                </a:solidFill>
              </a:rPr>
              <a:t> </a:t>
            </a:r>
            <a:r>
              <a:rPr lang="en-US" sz="1275" b="1" err="1">
                <a:solidFill>
                  <a:srgbClr val="FF0000"/>
                </a:solidFill>
              </a:rPr>
              <a:t>relacionado</a:t>
            </a:r>
            <a:r>
              <a:rPr lang="en-US" sz="1275" b="1">
                <a:solidFill>
                  <a:srgbClr val="FF0000"/>
                </a:solidFill>
              </a:rPr>
              <a:t> </a:t>
            </a:r>
            <a:r>
              <a:rPr lang="en-US" sz="1275" b="1" err="1">
                <a:solidFill>
                  <a:srgbClr val="FF0000"/>
                </a:solidFill>
              </a:rPr>
              <a:t>ao</a:t>
            </a:r>
            <a:r>
              <a:rPr lang="en-US" sz="1275" b="1">
                <a:solidFill>
                  <a:srgbClr val="FF0000"/>
                </a:solidFill>
              </a:rPr>
              <a:t> </a:t>
            </a:r>
            <a:r>
              <a:rPr lang="en-US" sz="1275" b="1" err="1">
                <a:solidFill>
                  <a:srgbClr val="FF0000"/>
                </a:solidFill>
              </a:rPr>
              <a:t>produto</a:t>
            </a:r>
            <a:r>
              <a:rPr lang="en-US" sz="1275" b="1">
                <a:solidFill>
                  <a:srgbClr val="FF0000"/>
                </a:solidFill>
              </a:rPr>
              <a:t>/</a:t>
            </a:r>
            <a:r>
              <a:rPr lang="en-US" sz="1275" b="1" err="1">
                <a:solidFill>
                  <a:srgbClr val="FF0000"/>
                </a:solidFill>
              </a:rPr>
              <a:t>serviço</a:t>
            </a:r>
            <a:r>
              <a:rPr lang="en-US" sz="1275" b="1">
                <a:solidFill>
                  <a:srgbClr val="FF0000"/>
                </a:solidFill>
              </a:rPr>
              <a:t> </a:t>
            </a:r>
            <a:r>
              <a:rPr lang="en-US" sz="1275" b="1" err="1">
                <a:solidFill>
                  <a:srgbClr val="FF0000"/>
                </a:solidFill>
              </a:rPr>
              <a:t>comercializado</a:t>
            </a:r>
            <a:r>
              <a:rPr lang="en-US" sz="1275" b="1">
                <a:solidFill>
                  <a:srgbClr val="FF0000"/>
                </a:solidFill>
              </a:rPr>
              <a:t> </a:t>
            </a:r>
            <a:r>
              <a:rPr lang="en-US" sz="1275" b="1" err="1">
                <a:solidFill>
                  <a:srgbClr val="FF0000"/>
                </a:solidFill>
              </a:rPr>
              <a:t>pelo</a:t>
            </a:r>
            <a:r>
              <a:rPr lang="en-US" sz="1275" b="1">
                <a:solidFill>
                  <a:srgbClr val="FF0000"/>
                </a:solidFill>
              </a:rPr>
              <a:t> </a:t>
            </a:r>
            <a:r>
              <a:rPr lang="en-US" sz="1275" b="1" err="1">
                <a:solidFill>
                  <a:srgbClr val="FF0000"/>
                </a:solidFill>
              </a:rPr>
              <a:t>negócio</a:t>
            </a:r>
            <a:r>
              <a:rPr lang="en-US" sz="1275" b="1">
                <a:solidFill>
                  <a:srgbClr val="FF0000"/>
                </a:solidFill>
              </a:rPr>
              <a:t>, Protótipo </a:t>
            </a:r>
            <a:r>
              <a:rPr lang="en-US" sz="1275" b="1" err="1">
                <a:solidFill>
                  <a:srgbClr val="FF0000"/>
                </a:solidFill>
              </a:rPr>
              <a:t>fornece</a:t>
            </a:r>
            <a:r>
              <a:rPr lang="en-US" sz="1275" b="1">
                <a:solidFill>
                  <a:srgbClr val="FF0000"/>
                </a:solidFill>
              </a:rPr>
              <a:t> feedback para </a:t>
            </a:r>
            <a:r>
              <a:rPr lang="en-US" sz="1275" b="1" err="1">
                <a:solidFill>
                  <a:srgbClr val="FF0000"/>
                </a:solidFill>
              </a:rPr>
              <a:t>melhoria</a:t>
            </a:r>
            <a:r>
              <a:rPr lang="en-US" sz="1275" b="1">
                <a:solidFill>
                  <a:srgbClr val="FF0000"/>
                </a:solidFill>
              </a:rPr>
              <a:t> </a:t>
            </a:r>
            <a:r>
              <a:rPr lang="en-US" sz="1275" b="1" err="1">
                <a:solidFill>
                  <a:srgbClr val="FF0000"/>
                </a:solidFill>
              </a:rPr>
              <a:t>técnica</a:t>
            </a:r>
            <a:r>
              <a:rPr lang="en-US" sz="1275" b="1">
                <a:solidFill>
                  <a:srgbClr val="FF0000"/>
                </a:solidFill>
              </a:rPr>
              <a:t> do </a:t>
            </a:r>
            <a:r>
              <a:rPr lang="en-US" sz="1275" b="1" err="1">
                <a:solidFill>
                  <a:srgbClr val="FF0000"/>
                </a:solidFill>
              </a:rPr>
              <a:t>produto</a:t>
            </a:r>
            <a:r>
              <a:rPr lang="en-US" sz="1275" b="1">
                <a:solidFill>
                  <a:srgbClr val="FF0000"/>
                </a:solidFill>
              </a:rPr>
              <a:t>/</a:t>
            </a:r>
            <a:r>
              <a:rPr lang="en-US" sz="1275" b="1" err="1">
                <a:solidFill>
                  <a:srgbClr val="FF0000"/>
                </a:solidFill>
              </a:rPr>
              <a:t>serviço</a:t>
            </a:r>
            <a:r>
              <a:rPr lang="en-US" sz="1275" b="1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306B647-FE95-4550-8350-3D2180C62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20350" y="1382030"/>
            <a:ext cx="3086100" cy="4107942"/>
          </a:xfrm>
          <a:prstGeom prst="rect">
            <a:avLst/>
          </a:prstGeom>
          <a:solidFill>
            <a:srgbClr val="FFFFFF"/>
          </a:solidFill>
          <a:ln w="15875">
            <a:solidFill>
              <a:srgbClr val="344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26" name="Picture 2" descr="A startup enxuta por [Eric Ries]">
            <a:extLst>
              <a:ext uri="{FF2B5EF4-FFF2-40B4-BE49-F238E27FC236}">
                <a16:creationId xmlns:a16="http://schemas.microsoft.com/office/drawing/2014/main" id="{A4CEC483-098F-1340-B04A-FF16D110C5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2" b="2884"/>
          <a:stretch/>
        </p:blipFill>
        <p:spPr bwMode="auto">
          <a:xfrm>
            <a:off x="5642870" y="1504322"/>
            <a:ext cx="2841061" cy="386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88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32B82B4-95D4-4741-8A04-78CBE7CEC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98" y="861074"/>
            <a:ext cx="7886700" cy="994172"/>
          </a:xfrm>
        </p:spPr>
        <p:txBody>
          <a:bodyPr/>
          <a:lstStyle/>
          <a:p>
            <a:r>
              <a:rPr lang="pt-BR" sz="2700" b="1" dirty="0"/>
              <a:t>TRL (Nível de Prontidão da Tecnologia)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27B9692-625F-9D4D-9268-969C75D86389}"/>
              </a:ext>
            </a:extLst>
          </p:cNvPr>
          <p:cNvSpPr/>
          <p:nvPr/>
        </p:nvSpPr>
        <p:spPr>
          <a:xfrm>
            <a:off x="834558" y="1855246"/>
            <a:ext cx="76668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100">
                <a:solidFill>
                  <a:srgbClr val="3C3C3B"/>
                </a:solidFill>
              </a:rPr>
              <a:t>Foi em 1974 que a NASA, enfrentando este mesmo desafio, desenvolveu sua primeira escala de maturidade (ou prontidão, caso traduzido diretamente) tecnológica: o Technology </a:t>
            </a:r>
            <a:r>
              <a:rPr lang="pt-BR" sz="2100" err="1">
                <a:solidFill>
                  <a:srgbClr val="3C3C3B"/>
                </a:solidFill>
              </a:rPr>
              <a:t>Readiness</a:t>
            </a:r>
            <a:r>
              <a:rPr lang="pt-BR" sz="2100">
                <a:solidFill>
                  <a:srgbClr val="3C3C3B"/>
                </a:solidFill>
              </a:rPr>
              <a:t> </a:t>
            </a:r>
            <a:r>
              <a:rPr lang="pt-BR" sz="2100" err="1">
                <a:solidFill>
                  <a:srgbClr val="3C3C3B"/>
                </a:solidFill>
              </a:rPr>
              <a:t>Level</a:t>
            </a:r>
            <a:r>
              <a:rPr lang="pt-BR" sz="2100">
                <a:solidFill>
                  <a:srgbClr val="3C3C3B"/>
                </a:solidFill>
              </a:rPr>
              <a:t> (</a:t>
            </a:r>
            <a:r>
              <a:rPr lang="pt-BR" sz="2100" b="1">
                <a:solidFill>
                  <a:srgbClr val="3C3C3B"/>
                </a:solidFill>
              </a:rPr>
              <a:t>TRL</a:t>
            </a:r>
            <a:r>
              <a:rPr lang="pt-BR" sz="2100">
                <a:solidFill>
                  <a:srgbClr val="3C3C3B"/>
                </a:solidFill>
              </a:rPr>
              <a:t>). </a:t>
            </a:r>
          </a:p>
          <a:p>
            <a:endParaRPr lang="pt-BR" sz="2100">
              <a:solidFill>
                <a:srgbClr val="3C3C3B"/>
              </a:solidFill>
            </a:endParaRPr>
          </a:p>
          <a:p>
            <a:r>
              <a:rPr lang="pt-BR" sz="2100">
                <a:solidFill>
                  <a:srgbClr val="002060"/>
                </a:solidFill>
              </a:rPr>
              <a:t>O objetivo era desenvolver </a:t>
            </a:r>
            <a:r>
              <a:rPr lang="pt-BR" sz="2100">
                <a:solidFill>
                  <a:srgbClr val="FF0000"/>
                </a:solidFill>
              </a:rPr>
              <a:t>uma padronização de entregas </a:t>
            </a:r>
            <a:r>
              <a:rPr lang="pt-BR" sz="2100">
                <a:solidFill>
                  <a:srgbClr val="002060"/>
                </a:solidFill>
              </a:rPr>
              <a:t>que indicassem, com evidências objetivas, quão prontas suas tecnologias estavam para a aplicação final.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BC7D1CB-F1A4-2D42-8221-84538D56E20F}"/>
              </a:ext>
            </a:extLst>
          </p:cNvPr>
          <p:cNvSpPr/>
          <p:nvPr/>
        </p:nvSpPr>
        <p:spPr>
          <a:xfrm>
            <a:off x="834558" y="4788410"/>
            <a:ext cx="788669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>
                <a:solidFill>
                  <a:srgbClr val="000000"/>
                </a:solidFill>
                <a:latin typeface="open_sansregular"/>
              </a:rPr>
              <a:t>MANKINS, J. C. Technology </a:t>
            </a:r>
            <a:r>
              <a:rPr lang="pt-BR" sz="1800" err="1">
                <a:solidFill>
                  <a:srgbClr val="000000"/>
                </a:solidFill>
                <a:latin typeface="open_sansregular"/>
              </a:rPr>
              <a:t>Readiness</a:t>
            </a:r>
            <a:r>
              <a:rPr lang="pt-BR" sz="1800">
                <a:solidFill>
                  <a:srgbClr val="000000"/>
                </a:solidFill>
                <a:latin typeface="open_sansregular"/>
              </a:rPr>
              <a:t> </a:t>
            </a:r>
            <a:r>
              <a:rPr lang="pt-BR" sz="1800" err="1">
                <a:solidFill>
                  <a:srgbClr val="000000"/>
                </a:solidFill>
                <a:latin typeface="open_sansregular"/>
              </a:rPr>
              <a:t>Levels</a:t>
            </a:r>
            <a:r>
              <a:rPr lang="pt-BR" sz="1800">
                <a:solidFill>
                  <a:srgbClr val="000000"/>
                </a:solidFill>
                <a:latin typeface="open_sansregular"/>
              </a:rPr>
              <a:t>. A White </a:t>
            </a:r>
            <a:r>
              <a:rPr lang="pt-BR" sz="1800" err="1">
                <a:solidFill>
                  <a:srgbClr val="000000"/>
                </a:solidFill>
                <a:latin typeface="open_sansregular"/>
              </a:rPr>
              <a:t>Paper</a:t>
            </a:r>
            <a:r>
              <a:rPr lang="pt-BR" sz="1800">
                <a:solidFill>
                  <a:srgbClr val="000000"/>
                </a:solidFill>
                <a:latin typeface="open_sansregular"/>
              </a:rPr>
              <a:t>. </a:t>
            </a:r>
            <a:r>
              <a:rPr lang="pt-BR" sz="1800" err="1">
                <a:solidFill>
                  <a:srgbClr val="000000"/>
                </a:solidFill>
                <a:latin typeface="open_sansregular"/>
              </a:rPr>
              <a:t>April</a:t>
            </a:r>
            <a:r>
              <a:rPr lang="pt-BR" sz="1800">
                <a:solidFill>
                  <a:srgbClr val="000000"/>
                </a:solidFill>
                <a:latin typeface="open_sansregular"/>
              </a:rPr>
              <a:t> 6, 1995. </a:t>
            </a:r>
            <a:r>
              <a:rPr lang="pt-BR" sz="1800" err="1">
                <a:solidFill>
                  <a:srgbClr val="000000"/>
                </a:solidFill>
                <a:latin typeface="open_sansregular"/>
              </a:rPr>
              <a:t>Advanced</a:t>
            </a:r>
            <a:r>
              <a:rPr lang="pt-BR" sz="1800">
                <a:solidFill>
                  <a:srgbClr val="000000"/>
                </a:solidFill>
                <a:latin typeface="open_sansregular"/>
              </a:rPr>
              <a:t> </a:t>
            </a:r>
            <a:r>
              <a:rPr lang="pt-BR" sz="1800" err="1">
                <a:solidFill>
                  <a:srgbClr val="000000"/>
                </a:solidFill>
                <a:latin typeface="open_sansregular"/>
              </a:rPr>
              <a:t>Concepts</a:t>
            </a:r>
            <a:r>
              <a:rPr lang="pt-BR" sz="1800">
                <a:solidFill>
                  <a:srgbClr val="000000"/>
                </a:solidFill>
                <a:latin typeface="open_sansregular"/>
              </a:rPr>
              <a:t> Office. Office </a:t>
            </a:r>
            <a:r>
              <a:rPr lang="pt-BR" sz="1800" err="1">
                <a:solidFill>
                  <a:srgbClr val="000000"/>
                </a:solidFill>
                <a:latin typeface="open_sansregular"/>
              </a:rPr>
              <a:t>of</a:t>
            </a:r>
            <a:r>
              <a:rPr lang="pt-BR" sz="1800">
                <a:solidFill>
                  <a:srgbClr val="000000"/>
                </a:solidFill>
                <a:latin typeface="open_sansregular"/>
              </a:rPr>
              <a:t> Space Access </a:t>
            </a:r>
            <a:r>
              <a:rPr lang="pt-BR" sz="1800" err="1">
                <a:solidFill>
                  <a:srgbClr val="000000"/>
                </a:solidFill>
                <a:latin typeface="open_sansregular"/>
              </a:rPr>
              <a:t>and</a:t>
            </a:r>
            <a:r>
              <a:rPr lang="pt-BR" sz="1800">
                <a:solidFill>
                  <a:srgbClr val="000000"/>
                </a:solidFill>
                <a:latin typeface="open_sansregular"/>
              </a:rPr>
              <a:t> Technology. NASA. Disponível em: &lt; </a:t>
            </a:r>
            <a:r>
              <a:rPr lang="pt-BR" sz="1800">
                <a:solidFill>
                  <a:srgbClr val="2C67CD"/>
                </a:solidFill>
                <a:latin typeface="open_sansregular"/>
                <a:hlinkClick r:id="rId2"/>
              </a:rPr>
              <a:t>http://www.artemisinnovation.com/images/TRL_White_Paper_2004-Edited.pdf</a:t>
            </a:r>
            <a:r>
              <a:rPr lang="pt-BR" sz="1800">
                <a:solidFill>
                  <a:srgbClr val="000000"/>
                </a:solidFill>
                <a:latin typeface="open_sansregular"/>
              </a:rPr>
              <a:t>&gt;.</a:t>
            </a:r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882215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26C7E7A-8413-2743-927C-1FACD2AAF940}"/>
              </a:ext>
            </a:extLst>
          </p:cNvPr>
          <p:cNvSpPr/>
          <p:nvPr/>
        </p:nvSpPr>
        <p:spPr>
          <a:xfrm>
            <a:off x="733247" y="2256582"/>
            <a:ext cx="45277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>
                <a:solidFill>
                  <a:srgbClr val="3C3C3B"/>
                </a:solidFill>
                <a:latin typeface="Nunito Sans"/>
              </a:rPr>
              <a:t>A prática  do </a:t>
            </a:r>
            <a:r>
              <a:rPr lang="pt-BR" b="1">
                <a:solidFill>
                  <a:srgbClr val="3C3C3B"/>
                </a:solidFill>
                <a:latin typeface="Nunito Sans"/>
              </a:rPr>
              <a:t>TRL</a:t>
            </a:r>
            <a:r>
              <a:rPr lang="pt-BR">
                <a:solidFill>
                  <a:srgbClr val="3C3C3B"/>
                </a:solidFill>
                <a:latin typeface="Nunito Sans"/>
              </a:rPr>
              <a:t> como </a:t>
            </a:r>
            <a:r>
              <a:rPr lang="pt-BR">
                <a:solidFill>
                  <a:srgbClr val="FF0000"/>
                </a:solidFill>
                <a:latin typeface="Nunito Sans"/>
              </a:rPr>
              <a:t>padronização das entregas </a:t>
            </a:r>
            <a:r>
              <a:rPr lang="pt-BR">
                <a:solidFill>
                  <a:srgbClr val="3C3C3B"/>
                </a:solidFill>
                <a:latin typeface="Nunito Sans"/>
              </a:rPr>
              <a:t>foi muito bem recebida, sendo adotada mundialmente e expandida a uma variedade de setores, até que a norma </a:t>
            </a:r>
            <a:r>
              <a:rPr lang="pt-BR">
                <a:solidFill>
                  <a:srgbClr val="FF0000"/>
                </a:solidFill>
                <a:latin typeface="Nunito Sans"/>
              </a:rPr>
              <a:t>ISO 16290: 2013 </a:t>
            </a:r>
            <a:r>
              <a:rPr lang="pt-BR">
                <a:solidFill>
                  <a:srgbClr val="3C3C3B"/>
                </a:solidFill>
                <a:latin typeface="Nunito Sans"/>
              </a:rPr>
              <a:t>consolidou a aplicação em níveis formais. </a:t>
            </a:r>
          </a:p>
          <a:p>
            <a:endParaRPr lang="pt-BR">
              <a:solidFill>
                <a:srgbClr val="3C3C3B"/>
              </a:solidFill>
              <a:latin typeface="Nunito Sans"/>
            </a:endParaRPr>
          </a:p>
        </p:txBody>
      </p:sp>
      <p:pic>
        <p:nvPicPr>
          <p:cNvPr id="2050" name="Picture 2" descr="ABNT NBR ISO 16290 NBRISO16290 Sistemas espaciais - Definição dos">
            <a:extLst>
              <a:ext uri="{FF2B5EF4-FFF2-40B4-BE49-F238E27FC236}">
                <a16:creationId xmlns:a16="http://schemas.microsoft.com/office/drawing/2014/main" id="{33AC6065-A963-9F46-B9DD-8207262AB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554" y="2233824"/>
            <a:ext cx="3286845" cy="31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2">
            <a:extLst>
              <a:ext uri="{FF2B5EF4-FFF2-40B4-BE49-F238E27FC236}">
                <a16:creationId xmlns:a16="http://schemas.microsoft.com/office/drawing/2014/main" id="{2EA144DB-BCE9-9E48-A7DE-F35935E6E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238488"/>
            <a:ext cx="7886700" cy="994172"/>
          </a:xfrm>
        </p:spPr>
        <p:txBody>
          <a:bodyPr/>
          <a:lstStyle/>
          <a:p>
            <a:r>
              <a:rPr lang="pt-BR" sz="2700" b="1"/>
              <a:t>TRL </a:t>
            </a:r>
          </a:p>
        </p:txBody>
      </p:sp>
    </p:spTree>
    <p:extLst>
      <p:ext uri="{BB962C8B-B14F-4D97-AF65-F5344CB8AC3E}">
        <p14:creationId xmlns:p14="http://schemas.microsoft.com/office/powerpoint/2010/main" val="493854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5725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25905"/>
            <a:ext cx="541782" cy="3803333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EC77384-1C40-8642-B977-D42CFC697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7284" y="2022991"/>
            <a:ext cx="7753481" cy="2723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2">
            <a:extLst>
              <a:ext uri="{FF2B5EF4-FFF2-40B4-BE49-F238E27FC236}">
                <a16:creationId xmlns:a16="http://schemas.microsoft.com/office/drawing/2014/main" id="{4A8A2E3F-940C-D741-A7B2-9BD616A40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178" y="1028819"/>
            <a:ext cx="7886700" cy="994172"/>
          </a:xfrm>
        </p:spPr>
        <p:txBody>
          <a:bodyPr/>
          <a:lstStyle/>
          <a:p>
            <a:r>
              <a:rPr lang="pt-BR" sz="2700" b="1"/>
              <a:t>TRL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22C0D06-9B31-4647-9891-3A11A120A3AA}"/>
              </a:ext>
            </a:extLst>
          </p:cNvPr>
          <p:cNvSpPr/>
          <p:nvPr/>
        </p:nvSpPr>
        <p:spPr bwMode="auto">
          <a:xfrm>
            <a:off x="1160060" y="2445408"/>
            <a:ext cx="5227092" cy="409433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948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5C96854-7234-5B42-8CD8-6E3B3D1E2DE7}"/>
              </a:ext>
            </a:extLst>
          </p:cNvPr>
          <p:cNvSpPr/>
          <p:nvPr/>
        </p:nvSpPr>
        <p:spPr>
          <a:xfrm>
            <a:off x="615692" y="1917962"/>
            <a:ext cx="7914647" cy="175432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800">
                <a:solidFill>
                  <a:srgbClr val="3C3C3B"/>
                </a:solidFill>
                <a:latin typeface="Nunito Sans"/>
              </a:rPr>
              <a:t>Os níveis de </a:t>
            </a:r>
            <a:r>
              <a:rPr lang="pt-BR" sz="1800" b="1">
                <a:solidFill>
                  <a:srgbClr val="3C3C3B"/>
                </a:solidFill>
                <a:latin typeface="Nunito Sans"/>
              </a:rPr>
              <a:t>TRL</a:t>
            </a:r>
            <a:r>
              <a:rPr lang="pt-BR" sz="1800">
                <a:solidFill>
                  <a:srgbClr val="3C3C3B"/>
                </a:solidFill>
                <a:latin typeface="Nunito Sans"/>
              </a:rPr>
              <a:t> acima apresentados são usualmente agrupados, visando sua utilização e o melhor entendimento dos estágios e transição entre eles, as quais muitas vezes não estão bem definidas.</a:t>
            </a:r>
          </a:p>
          <a:p>
            <a:endParaRPr lang="pt-BR" sz="1800">
              <a:solidFill>
                <a:srgbClr val="3C3C3B"/>
              </a:solidFill>
              <a:latin typeface="Nunito Sans"/>
            </a:endParaRPr>
          </a:p>
          <a:p>
            <a:r>
              <a:rPr lang="pt-BR" sz="1800">
                <a:solidFill>
                  <a:srgbClr val="3C3C3B"/>
                </a:solidFill>
                <a:latin typeface="Nunito Sans"/>
              </a:rPr>
              <a:t>O</a:t>
            </a:r>
            <a:r>
              <a:rPr lang="pt-BR" sz="1800" b="1">
                <a:solidFill>
                  <a:srgbClr val="3C3C3B"/>
                </a:solidFill>
                <a:latin typeface="Nunito Sans"/>
              </a:rPr>
              <a:t> TRL</a:t>
            </a:r>
            <a:r>
              <a:rPr lang="pt-BR" sz="1800">
                <a:solidFill>
                  <a:srgbClr val="3C3C3B"/>
                </a:solidFill>
                <a:latin typeface="Nunito Sans"/>
              </a:rPr>
              <a:t> pode ser dividido em 5 grupos, diretamente relacionados ao ciclo de vida e ao custo de um projeto de inovação tecnológica:</a:t>
            </a:r>
            <a:endParaRPr lang="pt-BR" sz="1800"/>
          </a:p>
        </p:txBody>
      </p:sp>
      <p:sp>
        <p:nvSpPr>
          <p:cNvPr id="8" name="Título 2">
            <a:extLst>
              <a:ext uri="{FF2B5EF4-FFF2-40B4-BE49-F238E27FC236}">
                <a16:creationId xmlns:a16="http://schemas.microsoft.com/office/drawing/2014/main" id="{096C1D84-499C-6942-B5C4-A2170FB5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66" y="720860"/>
            <a:ext cx="7886700" cy="994172"/>
          </a:xfrm>
        </p:spPr>
        <p:txBody>
          <a:bodyPr/>
          <a:lstStyle/>
          <a:p>
            <a:r>
              <a:rPr lang="pt-BR" sz="2700" b="1"/>
              <a:t>TRL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7C4A309-56BA-8749-BB3B-2B7250BB2A44}"/>
              </a:ext>
            </a:extLst>
          </p:cNvPr>
          <p:cNvSpPr/>
          <p:nvPr/>
        </p:nvSpPr>
        <p:spPr>
          <a:xfrm>
            <a:off x="1114425" y="3993792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pt-BR" sz="1800">
                <a:solidFill>
                  <a:srgbClr val="3C3C3B"/>
                </a:solidFill>
                <a:latin typeface="Nunito Sans"/>
              </a:rPr>
              <a:t>Pesquisa básica;</a:t>
            </a:r>
          </a:p>
          <a:p>
            <a:pPr marL="342900" indent="-342900">
              <a:buFont typeface="+mj-lt"/>
              <a:buAutoNum type="alphaLcParenR"/>
            </a:pPr>
            <a:r>
              <a:rPr lang="pt-BR" sz="1800">
                <a:solidFill>
                  <a:srgbClr val="3C3C3B"/>
                </a:solidFill>
                <a:latin typeface="Nunito Sans"/>
              </a:rPr>
              <a:t>Pesquisa aplicada;</a:t>
            </a:r>
          </a:p>
          <a:p>
            <a:pPr marL="342900" indent="-342900">
              <a:buFont typeface="+mj-lt"/>
              <a:buAutoNum type="alphaLcParenR"/>
            </a:pPr>
            <a:r>
              <a:rPr lang="pt-BR" sz="1800">
                <a:solidFill>
                  <a:srgbClr val="3C3C3B"/>
                </a:solidFill>
                <a:latin typeface="Nunito Sans"/>
              </a:rPr>
              <a:t>Desenvolvimento experimental;</a:t>
            </a:r>
          </a:p>
          <a:p>
            <a:pPr marL="342900" indent="-342900">
              <a:buFont typeface="+mj-lt"/>
              <a:buAutoNum type="alphaLcParenR"/>
            </a:pPr>
            <a:r>
              <a:rPr lang="pt-BR" sz="1800">
                <a:solidFill>
                  <a:srgbClr val="3C3C3B"/>
                </a:solidFill>
                <a:latin typeface="Nunito Sans"/>
              </a:rPr>
              <a:t>Industrialização;</a:t>
            </a:r>
          </a:p>
          <a:p>
            <a:pPr marL="342900" indent="-342900">
              <a:buFont typeface="+mj-lt"/>
              <a:buAutoNum type="alphaLcParenR"/>
            </a:pPr>
            <a:r>
              <a:rPr lang="pt-BR" sz="1800">
                <a:solidFill>
                  <a:srgbClr val="3C3C3B"/>
                </a:solidFill>
                <a:latin typeface="Nunito Sans"/>
              </a:rPr>
              <a:t>Produção e comercialização.</a:t>
            </a:r>
          </a:p>
        </p:txBody>
      </p:sp>
    </p:spTree>
    <p:extLst>
      <p:ext uri="{BB962C8B-B14F-4D97-AF65-F5344CB8AC3E}">
        <p14:creationId xmlns:p14="http://schemas.microsoft.com/office/powerpoint/2010/main" val="6735450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666998"/>
            <a:ext cx="1370729" cy="1032742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1" y="1173860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2" y="134860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3" y="857250"/>
            <a:ext cx="2126518" cy="1110628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5443876"/>
            <a:ext cx="1120885" cy="556874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AA5FC3A-25C1-2540-9007-88247DAE9A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8403"/>
          <a:stretch/>
        </p:blipFill>
        <p:spPr bwMode="auto">
          <a:xfrm>
            <a:off x="189513" y="1026235"/>
            <a:ext cx="8952930" cy="4817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1" y="5697108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90703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680A0CCE-9E2B-4A41-89B5-CCFBFFACE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449" y="2493553"/>
            <a:ext cx="3958662" cy="261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507A9ED-8B26-E847-A334-9AA11C7BB3F7}"/>
              </a:ext>
            </a:extLst>
          </p:cNvPr>
          <p:cNvSpPr/>
          <p:nvPr/>
        </p:nvSpPr>
        <p:spPr>
          <a:xfrm>
            <a:off x="628650" y="2332362"/>
            <a:ext cx="4120192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500">
                <a:solidFill>
                  <a:srgbClr val="3C3C3B"/>
                </a:solidFill>
                <a:latin typeface="Nunito Sans"/>
              </a:rPr>
              <a:t>Ainda, em se tratando da importância do uso do </a:t>
            </a:r>
            <a:r>
              <a:rPr lang="pt-BR" sz="1500" b="1">
                <a:solidFill>
                  <a:srgbClr val="3C3C3B"/>
                </a:solidFill>
                <a:latin typeface="Nunito Sans"/>
              </a:rPr>
              <a:t>TRL</a:t>
            </a:r>
            <a:r>
              <a:rPr lang="pt-BR" sz="1500">
                <a:solidFill>
                  <a:srgbClr val="3C3C3B"/>
                </a:solidFill>
                <a:latin typeface="Nunito Sans"/>
              </a:rPr>
              <a:t>, os níveis de maturidade tecnológica vêm sendo amplamente utilizados para justificar a </a:t>
            </a:r>
            <a:r>
              <a:rPr lang="pt-BR" sz="1500">
                <a:solidFill>
                  <a:srgbClr val="0095EB"/>
                </a:solidFill>
                <a:latin typeface="Nunito Sans"/>
                <a:hlinkClick r:id="rId3"/>
              </a:rPr>
              <a:t>captação de recursos financeiros </a:t>
            </a:r>
            <a:r>
              <a:rPr lang="pt-BR" sz="1500">
                <a:solidFill>
                  <a:srgbClr val="3C3C3B"/>
                </a:solidFill>
                <a:latin typeface="Nunito Sans"/>
              </a:rPr>
              <a:t>públicos e privados pelas equipes de P&amp;D+I. </a:t>
            </a:r>
          </a:p>
          <a:p>
            <a:endParaRPr lang="pt-BR" sz="1500">
              <a:solidFill>
                <a:srgbClr val="3C3C3B"/>
              </a:solidFill>
              <a:latin typeface="Nunito Sans"/>
            </a:endParaRPr>
          </a:p>
          <a:p>
            <a:pPr algn="just"/>
            <a:r>
              <a:rPr lang="pt-BR" sz="1500">
                <a:solidFill>
                  <a:srgbClr val="3C3C3B"/>
                </a:solidFill>
                <a:latin typeface="Nunito Sans"/>
              </a:rPr>
              <a:t>Atualmente, há uma tendência das agências de fomento em utilizarem o TRL para avaliar a relevância de uma tecnologia, podendo-se estimar o potencial do projeto ou a curva de investimentos necessários.</a:t>
            </a:r>
          </a:p>
        </p:txBody>
      </p:sp>
      <p:sp>
        <p:nvSpPr>
          <p:cNvPr id="7" name="Título 2">
            <a:extLst>
              <a:ext uri="{FF2B5EF4-FFF2-40B4-BE49-F238E27FC236}">
                <a16:creationId xmlns:a16="http://schemas.microsoft.com/office/drawing/2014/main" id="{820B74DD-F331-9E40-B056-9D397A3A8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12534"/>
            <a:ext cx="7886700" cy="994172"/>
          </a:xfrm>
        </p:spPr>
        <p:txBody>
          <a:bodyPr/>
          <a:lstStyle/>
          <a:p>
            <a:r>
              <a:rPr lang="pt-BR" sz="2700" b="1"/>
              <a:t>TRL </a:t>
            </a:r>
          </a:p>
        </p:txBody>
      </p:sp>
    </p:spTree>
    <p:extLst>
      <p:ext uri="{BB962C8B-B14F-4D97-AF65-F5344CB8AC3E}">
        <p14:creationId xmlns:p14="http://schemas.microsoft.com/office/powerpoint/2010/main" val="2273798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4">
            <a:extLst>
              <a:ext uri="{FF2B5EF4-FFF2-40B4-BE49-F238E27FC236}">
                <a16:creationId xmlns:a16="http://schemas.microsoft.com/office/drawing/2014/main" id="{D98D9729-431F-1A49-A14B-9B4D8CA752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1775" y="236538"/>
            <a:ext cx="7388225" cy="706437"/>
          </a:xfrm>
        </p:spPr>
        <p:txBody>
          <a:bodyPr/>
          <a:lstStyle/>
          <a:p>
            <a:pPr eaLnBrk="1" hangingPunct="1"/>
            <a:r>
              <a:rPr lang="pt-BR" altLang="pt-BR"/>
              <a:t>Localização da fase de projeto conceitual</a:t>
            </a:r>
          </a:p>
        </p:txBody>
      </p:sp>
      <p:grpSp>
        <p:nvGrpSpPr>
          <p:cNvPr id="27650" name="Group 5">
            <a:extLst>
              <a:ext uri="{FF2B5EF4-FFF2-40B4-BE49-F238E27FC236}">
                <a16:creationId xmlns:a16="http://schemas.microsoft.com/office/drawing/2014/main" id="{FAD0E85B-011D-BA49-A90A-9EBDF25FD885}"/>
              </a:ext>
            </a:extLst>
          </p:cNvPr>
          <p:cNvGrpSpPr>
            <a:grpSpLocks/>
          </p:cNvGrpSpPr>
          <p:nvPr/>
        </p:nvGrpSpPr>
        <p:grpSpPr bwMode="auto">
          <a:xfrm>
            <a:off x="0" y="1455738"/>
            <a:ext cx="9067800" cy="4576762"/>
            <a:chOff x="0" y="573"/>
            <a:chExt cx="5712" cy="2883"/>
          </a:xfrm>
        </p:grpSpPr>
        <p:sp>
          <p:nvSpPr>
            <p:cNvPr id="27703" name="Rectangle 6">
              <a:extLst>
                <a:ext uri="{FF2B5EF4-FFF2-40B4-BE49-F238E27FC236}">
                  <a16:creationId xmlns:a16="http://schemas.microsoft.com/office/drawing/2014/main" id="{278F4B14-0EB9-1B47-97BF-B87CFC778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277"/>
              <a:ext cx="4968" cy="17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b="1" i="1">
                  <a:solidFill>
                    <a:srgbClr val="000000"/>
                  </a:solidFill>
                </a:rPr>
                <a:t>Melhoria do processo de desenvolvimento de produtos</a:t>
              </a:r>
            </a:p>
          </p:txBody>
        </p:sp>
        <p:sp>
          <p:nvSpPr>
            <p:cNvPr id="27704" name="Rectangle 7">
              <a:extLst>
                <a:ext uri="{FF2B5EF4-FFF2-40B4-BE49-F238E27FC236}">
                  <a16:creationId xmlns:a16="http://schemas.microsoft.com/office/drawing/2014/main" id="{53DF3EDE-B40E-2F43-8BBD-F1B96B172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3048"/>
              <a:ext cx="3838" cy="17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b="1" i="1">
                  <a:solidFill>
                    <a:srgbClr val="000000"/>
                  </a:solidFill>
                </a:rPr>
                <a:t>Gerenciamento de mudanças de engenharia</a:t>
              </a:r>
            </a:p>
          </p:txBody>
        </p:sp>
        <p:sp>
          <p:nvSpPr>
            <p:cNvPr id="53256" name="Rectangle 8">
              <a:extLst>
                <a:ext uri="{FF2B5EF4-FFF2-40B4-BE49-F238E27FC236}">
                  <a16:creationId xmlns:a16="http://schemas.microsoft.com/office/drawing/2014/main" id="{AE6805F1-C750-F649-974D-4864D3C35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014"/>
              <a:ext cx="768" cy="3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74997"/>
                </a:schemeClr>
              </a:outerShdw>
            </a:effectLst>
          </p:spPr>
          <p:txBody>
            <a:bodyPr wrap="none" lIns="72000" tIns="0" rIns="72000" bIns="0" anchor="ctr">
              <a:spAutoFit/>
            </a:bodyPr>
            <a:lstStyle/>
            <a:p>
              <a:pPr algn="ctr" eaLnBrk="1" hangingPunct="1">
                <a:defRPr/>
              </a:pPr>
              <a:r>
                <a:rPr lang="pt-BR" sz="1800">
                  <a:solidFill>
                    <a:schemeClr val="accent2"/>
                  </a:solidFill>
                  <a:latin typeface="Arial" charset="0"/>
                </a:rPr>
                <a:t>Processos</a:t>
              </a:r>
            </a:p>
            <a:p>
              <a:pPr algn="ctr" eaLnBrk="1" hangingPunct="1">
                <a:defRPr/>
              </a:pPr>
              <a:r>
                <a:rPr lang="pt-BR" sz="1800">
                  <a:solidFill>
                    <a:schemeClr val="accent2"/>
                  </a:solidFill>
                  <a:latin typeface="Arial" charset="0"/>
                </a:rPr>
                <a:t>de apoio</a:t>
              </a:r>
            </a:p>
          </p:txBody>
        </p:sp>
        <p:sp>
          <p:nvSpPr>
            <p:cNvPr id="27706" name="AutoShape 9">
              <a:extLst>
                <a:ext uri="{FF2B5EF4-FFF2-40B4-BE49-F238E27FC236}">
                  <a16:creationId xmlns:a16="http://schemas.microsoft.com/office/drawing/2014/main" id="{CEFC57BA-AA7D-9249-9BEF-1AD041BFC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27707" name="AutoShape 10">
              <a:extLst>
                <a:ext uri="{FF2B5EF4-FFF2-40B4-BE49-F238E27FC236}">
                  <a16:creationId xmlns:a16="http://schemas.microsoft.com/office/drawing/2014/main" id="{4ACD8779-2974-8C4E-BE45-2877C9272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27708" name="AutoShape 11">
              <a:extLst>
                <a:ext uri="{FF2B5EF4-FFF2-40B4-BE49-F238E27FC236}">
                  <a16:creationId xmlns:a16="http://schemas.microsoft.com/office/drawing/2014/main" id="{0AA7B439-E2B0-E44E-98C8-D3A35F5CA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27709" name="AutoShape 12">
              <a:extLst>
                <a:ext uri="{FF2B5EF4-FFF2-40B4-BE49-F238E27FC236}">
                  <a16:creationId xmlns:a16="http://schemas.microsoft.com/office/drawing/2014/main" id="{3BDE8023-3224-FF48-8C4F-4DAF5A7E7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grpSp>
          <p:nvGrpSpPr>
            <p:cNvPr id="27710" name="Group 13">
              <a:extLst>
                <a:ext uri="{FF2B5EF4-FFF2-40B4-BE49-F238E27FC236}">
                  <a16:creationId xmlns:a16="http://schemas.microsoft.com/office/drawing/2014/main" id="{EE8E4420-F52E-E842-977E-853A9BA58A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573"/>
              <a:ext cx="5664" cy="2262"/>
              <a:chOff x="48" y="573"/>
              <a:chExt cx="5664" cy="2262"/>
            </a:xfrm>
          </p:grpSpPr>
          <p:grpSp>
            <p:nvGrpSpPr>
              <p:cNvPr id="27711" name="Group 14">
                <a:extLst>
                  <a:ext uri="{FF2B5EF4-FFF2-40B4-BE49-F238E27FC236}">
                    <a16:creationId xmlns:a16="http://schemas.microsoft.com/office/drawing/2014/main" id="{FDFCDFC0-8592-F546-A248-59136388B4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" y="673"/>
                <a:ext cx="5664" cy="2162"/>
                <a:chOff x="48" y="673"/>
                <a:chExt cx="5664" cy="2162"/>
              </a:xfrm>
            </p:grpSpPr>
            <p:sp>
              <p:nvSpPr>
                <p:cNvPr id="27713" name="Rectangle 15">
                  <a:extLst>
                    <a:ext uri="{FF2B5EF4-FFF2-40B4-BE49-F238E27FC236}">
                      <a16:creationId xmlns:a16="http://schemas.microsoft.com/office/drawing/2014/main" id="{AD2DCCDE-9D1A-8643-A0F5-9E33D34A0F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" y="673"/>
                  <a:ext cx="5664" cy="2162"/>
                </a:xfrm>
                <a:prstGeom prst="rect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72000" tIns="0" rIns="72000" bIns="0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2400"/>
                </a:p>
              </p:txBody>
            </p:sp>
            <p:sp>
              <p:nvSpPr>
                <p:cNvPr id="27714" name="Freeform 16">
                  <a:extLst>
                    <a:ext uri="{FF2B5EF4-FFF2-40B4-BE49-F238E27FC236}">
                      <a16:creationId xmlns:a16="http://schemas.microsoft.com/office/drawing/2014/main" id="{EA053F25-84AD-0C40-A435-879039A98B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" y="1460"/>
                  <a:ext cx="4593" cy="1046"/>
                </a:xfrm>
                <a:custGeom>
                  <a:avLst/>
                  <a:gdLst>
                    <a:gd name="T0" fmla="*/ 771 w 4593"/>
                    <a:gd name="T1" fmla="*/ 20 h 1046"/>
                    <a:gd name="T2" fmla="*/ 0 w 4593"/>
                    <a:gd name="T3" fmla="*/ 1046 h 1046"/>
                    <a:gd name="T4" fmla="*/ 4593 w 4593"/>
                    <a:gd name="T5" fmla="*/ 1016 h 1046"/>
                    <a:gd name="T6" fmla="*/ 3302 w 4593"/>
                    <a:gd name="T7" fmla="*/ 0 h 10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93"/>
                    <a:gd name="T13" fmla="*/ 0 h 1046"/>
                    <a:gd name="T14" fmla="*/ 4593 w 4593"/>
                    <a:gd name="T15" fmla="*/ 1046 h 10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93" h="1046">
                      <a:moveTo>
                        <a:pt x="771" y="20"/>
                      </a:moveTo>
                      <a:lnTo>
                        <a:pt x="0" y="1046"/>
                      </a:lnTo>
                      <a:lnTo>
                        <a:pt x="4593" y="1016"/>
                      </a:lnTo>
                      <a:lnTo>
                        <a:pt x="330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99CCFF"/>
                    </a:gs>
                    <a:gs pos="100000">
                      <a:srgbClr val="FFCC99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72000" tIns="0" rIns="72000" bIns="0" anchor="ctr">
                  <a:spAutoFit/>
                </a:bodyPr>
                <a:lstStyle/>
                <a:p>
                  <a:endParaRPr lang="pt-BR"/>
                </a:p>
              </p:txBody>
            </p:sp>
            <p:grpSp>
              <p:nvGrpSpPr>
                <p:cNvPr id="27715" name="Group 17">
                  <a:extLst>
                    <a:ext uri="{FF2B5EF4-FFF2-40B4-BE49-F238E27FC236}">
                      <a16:creationId xmlns:a16="http://schemas.microsoft.com/office/drawing/2014/main" id="{541A0732-EF04-C140-AFF3-36ED8A4450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11" y="1058"/>
                  <a:ext cx="2612" cy="188"/>
                  <a:chOff x="1411" y="1058"/>
                  <a:chExt cx="2612" cy="188"/>
                </a:xfrm>
              </p:grpSpPr>
              <p:sp>
                <p:nvSpPr>
                  <p:cNvPr id="27801" name="AutoShape 18">
                    <a:extLst>
                      <a:ext uri="{FF2B5EF4-FFF2-40B4-BE49-F238E27FC236}">
                        <a16:creationId xmlns:a16="http://schemas.microsoft.com/office/drawing/2014/main" id="{DE235FA9-831B-7347-BA19-2CA24C56E7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11" y="1058"/>
                    <a:ext cx="2612" cy="188"/>
                  </a:xfrm>
                  <a:prstGeom prst="chevron">
                    <a:avLst>
                      <a:gd name="adj" fmla="val 43675"/>
                    </a:avLst>
                  </a:prstGeom>
                  <a:solidFill>
                    <a:srgbClr val="FFFF00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sp>
                <p:nvSpPr>
                  <p:cNvPr id="27802" name="Text Box 19">
                    <a:extLst>
                      <a:ext uri="{FF2B5EF4-FFF2-40B4-BE49-F238E27FC236}">
                        <a16:creationId xmlns:a16="http://schemas.microsoft.com/office/drawing/2014/main" id="{73CD0070-0F31-9E48-B349-FE5721E8354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4" y="1066"/>
                    <a:ext cx="1189" cy="173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Desenvolvimento</a:t>
                    </a:r>
                    <a:r>
                      <a:rPr lang="pt-BR" altLang="pt-BR" sz="1800" i="1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27716" name="Group 20">
                  <a:extLst>
                    <a:ext uri="{FF2B5EF4-FFF2-40B4-BE49-F238E27FC236}">
                      <a16:creationId xmlns:a16="http://schemas.microsoft.com/office/drawing/2014/main" id="{9D8CD9B7-14FB-184C-9833-9C45B67CBAA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86" y="2385"/>
                  <a:ext cx="4435" cy="342"/>
                  <a:chOff x="586" y="2385"/>
                  <a:chExt cx="4435" cy="342"/>
                </a:xfrm>
              </p:grpSpPr>
              <p:grpSp>
                <p:nvGrpSpPr>
                  <p:cNvPr id="27794" name="Group 21">
                    <a:extLst>
                      <a:ext uri="{FF2B5EF4-FFF2-40B4-BE49-F238E27FC236}">
                        <a16:creationId xmlns:a16="http://schemas.microsoft.com/office/drawing/2014/main" id="{4D340987-3E15-414B-9A98-7049C9A9A52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06" y="2394"/>
                    <a:ext cx="3615" cy="333"/>
                    <a:chOff x="1014" y="2394"/>
                    <a:chExt cx="3615" cy="333"/>
                  </a:xfrm>
                </p:grpSpPr>
                <p:sp>
                  <p:nvSpPr>
                    <p:cNvPr id="27796" name="AutoShape 22">
                      <a:extLst>
                        <a:ext uri="{FF2B5EF4-FFF2-40B4-BE49-F238E27FC236}">
                          <a16:creationId xmlns:a16="http://schemas.microsoft.com/office/drawing/2014/main" id="{83C0D6BB-83A4-3241-9235-49ADD9808EF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1" y="2394"/>
                      <a:ext cx="690" cy="333"/>
                    </a:xfrm>
                    <a:prstGeom prst="chevron">
                      <a:avLst>
                        <a:gd name="adj" fmla="val 1972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Detalhado </a:t>
                      </a:r>
                    </a:p>
                  </p:txBody>
                </p:sp>
                <p:sp>
                  <p:nvSpPr>
                    <p:cNvPr id="27797" name="AutoShape 23">
                      <a:extLst>
                        <a:ext uri="{FF2B5EF4-FFF2-40B4-BE49-F238E27FC236}">
                          <a16:creationId xmlns:a16="http://schemas.microsoft.com/office/drawing/2014/main" id="{BB7C884F-D1AC-FA47-8E9C-757C01C9D53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3" y="2394"/>
                      <a:ext cx="709" cy="333"/>
                    </a:xfrm>
                    <a:prstGeom prst="chevron">
                      <a:avLst>
                        <a:gd name="adj" fmla="val 1900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Conceitual </a:t>
                      </a:r>
                    </a:p>
                  </p:txBody>
                </p:sp>
                <p:sp>
                  <p:nvSpPr>
                    <p:cNvPr id="27798" name="AutoShape 24">
                      <a:extLst>
                        <a:ext uri="{FF2B5EF4-FFF2-40B4-BE49-F238E27FC236}">
                          <a16:creationId xmlns:a16="http://schemas.microsoft.com/office/drawing/2014/main" id="{2945FB3E-38C4-A245-BD00-4216BD90D86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4" y="2394"/>
                      <a:ext cx="856" cy="333"/>
                    </a:xfrm>
                    <a:prstGeom prst="chevron">
                      <a:avLst>
                        <a:gd name="adj" fmla="val 2206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Informacional </a:t>
                      </a:r>
                    </a:p>
                  </p:txBody>
                </p:sp>
                <p:sp>
                  <p:nvSpPr>
                    <p:cNvPr id="27799" name="AutoShape 25">
                      <a:extLst>
                        <a:ext uri="{FF2B5EF4-FFF2-40B4-BE49-F238E27FC236}">
                          <a16:creationId xmlns:a16="http://schemas.microsoft.com/office/drawing/2014/main" id="{8819855B-00C5-C04C-AFFE-E2153E18E68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64" y="2394"/>
                      <a:ext cx="765" cy="333"/>
                    </a:xfrm>
                    <a:prstGeom prst="chevron">
                      <a:avLst>
                        <a:gd name="adj" fmla="val 19782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Lançamento</a:t>
                      </a:r>
                    </a:p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do Produto</a:t>
                      </a:r>
                    </a:p>
                  </p:txBody>
                </p:sp>
                <p:sp>
                  <p:nvSpPr>
                    <p:cNvPr id="27800" name="AutoShape 26">
                      <a:extLst>
                        <a:ext uri="{FF2B5EF4-FFF2-40B4-BE49-F238E27FC236}">
                          <a16:creationId xmlns:a16="http://schemas.microsoft.com/office/drawing/2014/main" id="{8BB955E8-AD59-FD4F-9AD7-58A5DA14D54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0" y="2394"/>
                      <a:ext cx="723" cy="333"/>
                    </a:xfrm>
                    <a:prstGeom prst="chevron">
                      <a:avLst>
                        <a:gd name="adj" fmla="val 1621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Preparação</a:t>
                      </a:r>
                    </a:p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Produção</a:t>
                      </a:r>
                    </a:p>
                  </p:txBody>
                </p:sp>
              </p:grpSp>
              <p:sp>
                <p:nvSpPr>
                  <p:cNvPr id="27795" name="AutoShape 27">
                    <a:extLst>
                      <a:ext uri="{FF2B5EF4-FFF2-40B4-BE49-F238E27FC236}">
                        <a16:creationId xmlns:a16="http://schemas.microsoft.com/office/drawing/2014/main" id="{684B3A52-F93E-2B40-A43C-4F19CF859F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86" y="2385"/>
                    <a:ext cx="841" cy="333"/>
                  </a:xfrm>
                  <a:prstGeom prst="chevron">
                    <a:avLst>
                      <a:gd name="adj" fmla="val 24296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Planejamento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Projeto</a:t>
                    </a:r>
                  </a:p>
                </p:txBody>
              </p:sp>
            </p:grpSp>
            <p:grpSp>
              <p:nvGrpSpPr>
                <p:cNvPr id="27717" name="Group 28">
                  <a:extLst>
                    <a:ext uri="{FF2B5EF4-FFF2-40B4-BE49-F238E27FC236}">
                      <a16:creationId xmlns:a16="http://schemas.microsoft.com/office/drawing/2014/main" id="{3B6B9D06-29A5-F44E-824A-2EB6864503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09" y="1059"/>
                  <a:ext cx="1671" cy="188"/>
                  <a:chOff x="4009" y="1059"/>
                  <a:chExt cx="1671" cy="188"/>
                </a:xfrm>
              </p:grpSpPr>
              <p:sp>
                <p:nvSpPr>
                  <p:cNvPr id="27792" name="AutoShape 29">
                    <a:extLst>
                      <a:ext uri="{FF2B5EF4-FFF2-40B4-BE49-F238E27FC236}">
                        <a16:creationId xmlns:a16="http://schemas.microsoft.com/office/drawing/2014/main" id="{8E95C741-5640-3649-978D-EC3CAB2EC0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09" y="1059"/>
                    <a:ext cx="1671" cy="188"/>
                  </a:xfrm>
                  <a:prstGeom prst="chevron">
                    <a:avLst>
                      <a:gd name="adj" fmla="val 39421"/>
                    </a:avLst>
                  </a:prstGeom>
                  <a:solidFill>
                    <a:srgbClr val="FFCC99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sp>
                <p:nvSpPr>
                  <p:cNvPr id="27793" name="Text Box 30">
                    <a:extLst>
                      <a:ext uri="{FF2B5EF4-FFF2-40B4-BE49-F238E27FC236}">
                        <a16:creationId xmlns:a16="http://schemas.microsoft.com/office/drawing/2014/main" id="{F72D7B1C-176C-8A47-8A4F-C96E8311FBE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82" y="1082"/>
                    <a:ext cx="324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Pós</a:t>
                    </a:r>
                  </a:p>
                </p:txBody>
              </p:sp>
            </p:grpSp>
            <p:sp>
              <p:nvSpPr>
                <p:cNvPr id="27718" name="Rectangle 31">
                  <a:extLst>
                    <a:ext uri="{FF2B5EF4-FFF2-40B4-BE49-F238E27FC236}">
                      <a16:creationId xmlns:a16="http://schemas.microsoft.com/office/drawing/2014/main" id="{E0E75CF3-6431-8643-83B5-1BC91928F7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0" y="1112"/>
                  <a:ext cx="164" cy="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2000" tIns="0" rIns="72000" bIns="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2400"/>
                </a:p>
              </p:txBody>
            </p:sp>
            <p:cxnSp>
              <p:nvCxnSpPr>
                <p:cNvPr id="27719" name="AutoShape 32">
                  <a:extLst>
                    <a:ext uri="{FF2B5EF4-FFF2-40B4-BE49-F238E27FC236}">
                      <a16:creationId xmlns:a16="http://schemas.microsoft.com/office/drawing/2014/main" id="{A6AA59A9-75CB-A04B-AAAE-CBBE4B8E8909}"/>
                    </a:ext>
                  </a:extLst>
                </p:cNvPr>
                <p:cNvCxnSpPr>
                  <a:cxnSpLocks noChangeShapeType="1"/>
                  <a:stCxn id="27792" idx="0"/>
                  <a:endCxn id="27790" idx="0"/>
                </p:cNvCxnSpPr>
                <p:nvPr/>
              </p:nvCxnSpPr>
              <p:spPr bwMode="auto">
                <a:xfrm rot="-5400000" flipH="1" flipV="1">
                  <a:off x="2773" y="-973"/>
                  <a:ext cx="1" cy="4066"/>
                </a:xfrm>
                <a:prstGeom prst="bentConnector3">
                  <a:avLst>
                    <a:gd name="adj1" fmla="val -14400005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27720" name="Group 33">
                  <a:extLst>
                    <a:ext uri="{FF2B5EF4-FFF2-40B4-BE49-F238E27FC236}">
                      <a16:creationId xmlns:a16="http://schemas.microsoft.com/office/drawing/2014/main" id="{1493282E-796E-B341-A44C-743288213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8" y="1059"/>
                  <a:ext cx="1338" cy="187"/>
                  <a:chOff x="108" y="1059"/>
                  <a:chExt cx="1338" cy="187"/>
                </a:xfrm>
              </p:grpSpPr>
              <p:sp>
                <p:nvSpPr>
                  <p:cNvPr id="27790" name="AutoShape 34">
                    <a:extLst>
                      <a:ext uri="{FF2B5EF4-FFF2-40B4-BE49-F238E27FC236}">
                        <a16:creationId xmlns:a16="http://schemas.microsoft.com/office/drawing/2014/main" id="{A07B8A91-F1BF-3641-BEE5-8AAD1F2E8D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" y="1059"/>
                    <a:ext cx="1338" cy="187"/>
                  </a:xfrm>
                  <a:prstGeom prst="homePlate">
                    <a:avLst>
                      <a:gd name="adj" fmla="val 38194"/>
                    </a:avLst>
                  </a:prstGeom>
                  <a:solidFill>
                    <a:srgbClr val="99CCFF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72000" tIns="0" rIns="72000" b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sp>
                <p:nvSpPr>
                  <p:cNvPr id="27791" name="Text Box 35">
                    <a:extLst>
                      <a:ext uri="{FF2B5EF4-FFF2-40B4-BE49-F238E27FC236}">
                        <a16:creationId xmlns:a16="http://schemas.microsoft.com/office/drawing/2014/main" id="{9DE98194-7DA9-A64C-B79B-B88FB6E1F84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30" y="1082"/>
                    <a:ext cx="2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Pré</a:t>
                    </a:r>
                  </a:p>
                </p:txBody>
              </p:sp>
            </p:grpSp>
            <p:sp>
              <p:nvSpPr>
                <p:cNvPr id="27721" name="AutoShape 36">
                  <a:extLst>
                    <a:ext uri="{FF2B5EF4-FFF2-40B4-BE49-F238E27FC236}">
                      <a16:creationId xmlns:a16="http://schemas.microsoft.com/office/drawing/2014/main" id="{4C754F2E-210A-7743-870D-E5E7FAE374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" y="1292"/>
                  <a:ext cx="841" cy="496"/>
                </a:xfrm>
                <a:prstGeom prst="chevron">
                  <a:avLst>
                    <a:gd name="adj" fmla="val 16108"/>
                  </a:avLst>
                </a:prstGeom>
                <a:solidFill>
                  <a:srgbClr val="99CCFF"/>
                </a:solidFill>
                <a:ln w="1117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400"/>
                    <a:t>Planejamento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400"/>
                    <a:t>Estratégico dos Produtos</a:t>
                  </a:r>
                </a:p>
              </p:txBody>
            </p:sp>
            <p:grpSp>
              <p:nvGrpSpPr>
                <p:cNvPr id="27722" name="Group 37">
                  <a:extLst>
                    <a:ext uri="{FF2B5EF4-FFF2-40B4-BE49-F238E27FC236}">
                      <a16:creationId xmlns:a16="http://schemas.microsoft.com/office/drawing/2014/main" id="{EB99E29A-F1D8-3040-BCF0-B7B7DDAA95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83" y="1280"/>
                  <a:ext cx="1809" cy="588"/>
                  <a:chOff x="3883" y="1280"/>
                  <a:chExt cx="1809" cy="588"/>
                </a:xfrm>
              </p:grpSpPr>
              <p:sp>
                <p:nvSpPr>
                  <p:cNvPr id="27784" name="AutoShape 38">
                    <a:extLst>
                      <a:ext uri="{FF2B5EF4-FFF2-40B4-BE49-F238E27FC236}">
                        <a16:creationId xmlns:a16="http://schemas.microsoft.com/office/drawing/2014/main" id="{08D39CE9-0869-DC47-8A84-13C0563834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83" y="1280"/>
                    <a:ext cx="792" cy="523"/>
                  </a:xfrm>
                  <a:prstGeom prst="chevron">
                    <a:avLst>
                      <a:gd name="adj" fmla="val 18221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sp>
                <p:nvSpPr>
                  <p:cNvPr id="27785" name="AutoShape 39">
                    <a:extLst>
                      <a:ext uri="{FF2B5EF4-FFF2-40B4-BE49-F238E27FC236}">
                        <a16:creationId xmlns:a16="http://schemas.microsoft.com/office/drawing/2014/main" id="{6F283538-699B-4746-8ED2-8D52B6E797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75" y="128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sp>
                <p:nvSpPr>
                  <p:cNvPr id="27786" name="AutoShape 40">
                    <a:extLst>
                      <a:ext uri="{FF2B5EF4-FFF2-40B4-BE49-F238E27FC236}">
                        <a16:creationId xmlns:a16="http://schemas.microsoft.com/office/drawing/2014/main" id="{A5F9EA76-1A22-564F-A5E3-4C84D31E22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37" y="1320"/>
                    <a:ext cx="799" cy="523"/>
                  </a:xfrm>
                  <a:prstGeom prst="chevron">
                    <a:avLst>
                      <a:gd name="adj" fmla="val 18382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sp>
                <p:nvSpPr>
                  <p:cNvPr id="27787" name="AutoShape 41">
                    <a:extLst>
                      <a:ext uri="{FF2B5EF4-FFF2-40B4-BE49-F238E27FC236}">
                        <a16:creationId xmlns:a16="http://schemas.microsoft.com/office/drawing/2014/main" id="{987CF20A-5CEC-444A-832F-E27B2AAC4B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47" y="132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sp>
                <p:nvSpPr>
                  <p:cNvPr id="27788" name="AutoShape 42">
                    <a:extLst>
                      <a:ext uri="{FF2B5EF4-FFF2-40B4-BE49-F238E27FC236}">
                        <a16:creationId xmlns:a16="http://schemas.microsoft.com/office/drawing/2014/main" id="{5CEA2083-CB14-1143-AF6A-C2DDDE7819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7" y="1345"/>
                    <a:ext cx="845" cy="523"/>
                  </a:xfrm>
                  <a:prstGeom prst="chevron">
                    <a:avLst>
                      <a:gd name="adj" fmla="val 1494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144000" tIns="0" rIns="72000" bIns="0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Descontinuar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Produto</a:t>
                    </a:r>
                  </a:p>
                </p:txBody>
              </p:sp>
              <p:sp>
                <p:nvSpPr>
                  <p:cNvPr id="27789" name="AutoShape 43">
                    <a:extLst>
                      <a:ext uri="{FF2B5EF4-FFF2-40B4-BE49-F238E27FC236}">
                        <a16:creationId xmlns:a16="http://schemas.microsoft.com/office/drawing/2014/main" id="{85C180E7-0250-AC4E-91E8-B4BC14A60D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99" y="1345"/>
                    <a:ext cx="882" cy="523"/>
                  </a:xfrm>
                  <a:prstGeom prst="chevron">
                    <a:avLst>
                      <a:gd name="adj" fmla="val 14530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Acompanhar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Produto/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Processo</a:t>
                    </a:r>
                    <a:endParaRPr lang="pt-BR" altLang="pt-BR" sz="160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27723" name="Group 44">
                  <a:extLst>
                    <a:ext uri="{FF2B5EF4-FFF2-40B4-BE49-F238E27FC236}">
                      <a16:creationId xmlns:a16="http://schemas.microsoft.com/office/drawing/2014/main" id="{4FF855A0-FD2D-B241-BB5C-8A07A1E8E48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20" y="1272"/>
                  <a:ext cx="2268" cy="257"/>
                  <a:chOff x="1520" y="1272"/>
                  <a:chExt cx="2268" cy="257"/>
                </a:xfrm>
              </p:grpSpPr>
              <p:sp>
                <p:nvSpPr>
                  <p:cNvPr id="27779" name="AutoShape 45">
                    <a:extLst>
                      <a:ext uri="{FF2B5EF4-FFF2-40B4-BE49-F238E27FC236}">
                        <a16:creationId xmlns:a16="http://schemas.microsoft.com/office/drawing/2014/main" id="{92181E6C-DED7-664C-A9FC-C1CEAA64C4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520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27780" name="AutoShape 46">
                    <a:extLst>
                      <a:ext uri="{FF2B5EF4-FFF2-40B4-BE49-F238E27FC236}">
                        <a16:creationId xmlns:a16="http://schemas.microsoft.com/office/drawing/2014/main" id="{FDEB721D-27F7-1D4D-A657-E07E34047E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974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27781" name="AutoShape 47">
                    <a:extLst>
                      <a:ext uri="{FF2B5EF4-FFF2-40B4-BE49-F238E27FC236}">
                        <a16:creationId xmlns:a16="http://schemas.microsoft.com/office/drawing/2014/main" id="{EAAD13E4-695F-A342-ADA0-FBB1C489B7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429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27782" name="AutoShape 48">
                    <a:extLst>
                      <a:ext uri="{FF2B5EF4-FFF2-40B4-BE49-F238E27FC236}">
                        <a16:creationId xmlns:a16="http://schemas.microsoft.com/office/drawing/2014/main" id="{1468050D-AA10-684E-B26F-1E9182D294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883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27783" name="AutoShape 49">
                    <a:extLst>
                      <a:ext uri="{FF2B5EF4-FFF2-40B4-BE49-F238E27FC236}">
                        <a16:creationId xmlns:a16="http://schemas.microsoft.com/office/drawing/2014/main" id="{A54D3080-A7F4-5C4B-90B2-6859F25979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338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</p:grpSp>
            <p:grpSp>
              <p:nvGrpSpPr>
                <p:cNvPr id="27724" name="Group 50">
                  <a:extLst>
                    <a:ext uri="{FF2B5EF4-FFF2-40B4-BE49-F238E27FC236}">
                      <a16:creationId xmlns:a16="http://schemas.microsoft.com/office/drawing/2014/main" id="{1D7629D8-172B-E546-B1DF-D4D422A29E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16" y="1368"/>
                  <a:ext cx="2268" cy="257"/>
                  <a:chOff x="1616" y="1368"/>
                  <a:chExt cx="2268" cy="257"/>
                </a:xfrm>
              </p:grpSpPr>
              <p:sp>
                <p:nvSpPr>
                  <p:cNvPr id="27774" name="AutoShape 51">
                    <a:extLst>
                      <a:ext uri="{FF2B5EF4-FFF2-40B4-BE49-F238E27FC236}">
                        <a16:creationId xmlns:a16="http://schemas.microsoft.com/office/drawing/2014/main" id="{EFCCB741-941C-8C4C-BF68-671FF1AE8F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616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27775" name="AutoShape 52">
                    <a:extLst>
                      <a:ext uri="{FF2B5EF4-FFF2-40B4-BE49-F238E27FC236}">
                        <a16:creationId xmlns:a16="http://schemas.microsoft.com/office/drawing/2014/main" id="{798DBA43-E901-0441-B9B1-550C59699F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070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27776" name="AutoShape 53">
                    <a:extLst>
                      <a:ext uri="{FF2B5EF4-FFF2-40B4-BE49-F238E27FC236}">
                        <a16:creationId xmlns:a16="http://schemas.microsoft.com/office/drawing/2014/main" id="{78D0CE71-923E-3D4D-A885-C83254B834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525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27777" name="AutoShape 54">
                    <a:extLst>
                      <a:ext uri="{FF2B5EF4-FFF2-40B4-BE49-F238E27FC236}">
                        <a16:creationId xmlns:a16="http://schemas.microsoft.com/office/drawing/2014/main" id="{56B8BA66-C4BD-8C48-9A61-30363C5A30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979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27778" name="AutoShape 55">
                    <a:extLst>
                      <a:ext uri="{FF2B5EF4-FFF2-40B4-BE49-F238E27FC236}">
                        <a16:creationId xmlns:a16="http://schemas.microsoft.com/office/drawing/2014/main" id="{ECC8DC8E-72AE-DB4E-B794-0C0112B461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434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</p:grpSp>
            <p:grpSp>
              <p:nvGrpSpPr>
                <p:cNvPr id="27725" name="Group 56">
                  <a:extLst>
                    <a:ext uri="{FF2B5EF4-FFF2-40B4-BE49-F238E27FC236}">
                      <a16:creationId xmlns:a16="http://schemas.microsoft.com/office/drawing/2014/main" id="{732059AA-51AF-774B-A5F6-83BD32ADD1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12" y="1464"/>
                  <a:ext cx="2268" cy="257"/>
                  <a:chOff x="1712" y="1464"/>
                  <a:chExt cx="2268" cy="257"/>
                </a:xfrm>
              </p:grpSpPr>
              <p:sp>
                <p:nvSpPr>
                  <p:cNvPr id="27769" name="AutoShape 57">
                    <a:extLst>
                      <a:ext uri="{FF2B5EF4-FFF2-40B4-BE49-F238E27FC236}">
                        <a16:creationId xmlns:a16="http://schemas.microsoft.com/office/drawing/2014/main" id="{6FB35BD4-1384-944C-98ED-377729F7FB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712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27770" name="AutoShape 58">
                    <a:extLst>
                      <a:ext uri="{FF2B5EF4-FFF2-40B4-BE49-F238E27FC236}">
                        <a16:creationId xmlns:a16="http://schemas.microsoft.com/office/drawing/2014/main" id="{883415CA-400B-6F4A-B24C-6141F5A66B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66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27771" name="AutoShape 59">
                    <a:extLst>
                      <a:ext uri="{FF2B5EF4-FFF2-40B4-BE49-F238E27FC236}">
                        <a16:creationId xmlns:a16="http://schemas.microsoft.com/office/drawing/2014/main" id="{DC4463C7-36EA-A144-A85E-BCC561186B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621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27772" name="AutoShape 60">
                    <a:extLst>
                      <a:ext uri="{FF2B5EF4-FFF2-40B4-BE49-F238E27FC236}">
                        <a16:creationId xmlns:a16="http://schemas.microsoft.com/office/drawing/2014/main" id="{C3AB5E30-FFA6-C34C-BC0A-21A0E47B57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5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27773" name="AutoShape 61">
                    <a:extLst>
                      <a:ext uri="{FF2B5EF4-FFF2-40B4-BE49-F238E27FC236}">
                        <a16:creationId xmlns:a16="http://schemas.microsoft.com/office/drawing/2014/main" id="{1449661D-6530-1F43-9FB5-D9EC941057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530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</p:grpSp>
            <p:grpSp>
              <p:nvGrpSpPr>
                <p:cNvPr id="27726" name="Group 62">
                  <a:extLst>
                    <a:ext uri="{FF2B5EF4-FFF2-40B4-BE49-F238E27FC236}">
                      <a16:creationId xmlns:a16="http://schemas.microsoft.com/office/drawing/2014/main" id="{59F4DA2F-0514-6D4C-927D-28AED558967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86" y="1298"/>
                  <a:ext cx="599" cy="423"/>
                  <a:chOff x="986" y="1298"/>
                  <a:chExt cx="599" cy="423"/>
                </a:xfrm>
              </p:grpSpPr>
              <p:sp>
                <p:nvSpPr>
                  <p:cNvPr id="27766" name="AutoShape 63">
                    <a:extLst>
                      <a:ext uri="{FF2B5EF4-FFF2-40B4-BE49-F238E27FC236}">
                        <a16:creationId xmlns:a16="http://schemas.microsoft.com/office/drawing/2014/main" id="{E9ECBD2F-EDA9-0046-AA33-3AA23CBBF2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6" y="1298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27767" name="AutoShape 64">
                    <a:extLst>
                      <a:ext uri="{FF2B5EF4-FFF2-40B4-BE49-F238E27FC236}">
                        <a16:creationId xmlns:a16="http://schemas.microsoft.com/office/drawing/2014/main" id="{0B401E48-23BA-3D49-B8BA-E450CE27E5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2" y="1394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27768" name="AutoShape 65">
                    <a:extLst>
                      <a:ext uri="{FF2B5EF4-FFF2-40B4-BE49-F238E27FC236}">
                        <a16:creationId xmlns:a16="http://schemas.microsoft.com/office/drawing/2014/main" id="{0EA6AE0B-0B89-8C40-98F2-C4A3A4253C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8" y="1490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</p:grpSp>
            <p:grpSp>
              <p:nvGrpSpPr>
                <p:cNvPr id="27727" name="Group 66">
                  <a:extLst>
                    <a:ext uri="{FF2B5EF4-FFF2-40B4-BE49-F238E27FC236}">
                      <a16:creationId xmlns:a16="http://schemas.microsoft.com/office/drawing/2014/main" id="{AE608B06-6640-8342-AB40-53BB8504FCB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" y="1685"/>
                  <a:ext cx="3926" cy="489"/>
                  <a:chOff x="176" y="1685"/>
                  <a:chExt cx="3926" cy="489"/>
                </a:xfrm>
              </p:grpSpPr>
              <p:sp>
                <p:nvSpPr>
                  <p:cNvPr id="27728" name="Text Box 67">
                    <a:extLst>
                      <a:ext uri="{FF2B5EF4-FFF2-40B4-BE49-F238E27FC236}">
                        <a16:creationId xmlns:a16="http://schemas.microsoft.com/office/drawing/2014/main" id="{EC659647-3102-8B42-B16C-1857B6F26C2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6" y="1968"/>
                    <a:ext cx="618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u="sng">
                        <a:solidFill>
                          <a:srgbClr val="000000"/>
                        </a:solidFill>
                      </a:rPr>
                      <a:t>Gates &gt;&gt;</a:t>
                    </a:r>
                  </a:p>
                </p:txBody>
              </p:sp>
              <p:grpSp>
                <p:nvGrpSpPr>
                  <p:cNvPr id="27729" name="Group 68">
                    <a:extLst>
                      <a:ext uri="{FF2B5EF4-FFF2-40B4-BE49-F238E27FC236}">
                        <a16:creationId xmlns:a16="http://schemas.microsoft.com/office/drawing/2014/main" id="{C18F5E50-62AE-6B48-AA79-3CDFC17F6AC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27764" name="AutoShape 69">
                      <a:extLst>
                        <a:ext uri="{FF2B5EF4-FFF2-40B4-BE49-F238E27FC236}">
                          <a16:creationId xmlns:a16="http://schemas.microsoft.com/office/drawing/2014/main" id="{DD23C0BD-9D58-374B-A4C5-D1F2CAF2CD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  <p:sp>
                  <p:nvSpPr>
                    <p:cNvPr id="27765" name="Line 70">
                      <a:extLst>
                        <a:ext uri="{FF2B5EF4-FFF2-40B4-BE49-F238E27FC236}">
                          <a16:creationId xmlns:a16="http://schemas.microsoft.com/office/drawing/2014/main" id="{40D51768-DEFD-464B-85B6-F60C3448D7C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27730" name="AutoShape 71">
                    <a:extLst>
                      <a:ext uri="{FF2B5EF4-FFF2-40B4-BE49-F238E27FC236}">
                        <a16:creationId xmlns:a16="http://schemas.microsoft.com/office/drawing/2014/main" id="{7C74ED70-4D65-D74D-AD3C-EC44229E7C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1" y="1859"/>
                    <a:ext cx="3341" cy="315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72000" tIns="0" rIns="72000" b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400"/>
                  </a:p>
                </p:txBody>
              </p:sp>
              <p:grpSp>
                <p:nvGrpSpPr>
                  <p:cNvPr id="27731" name="Group 72">
                    <a:extLst>
                      <a:ext uri="{FF2B5EF4-FFF2-40B4-BE49-F238E27FC236}">
                        <a16:creationId xmlns:a16="http://schemas.microsoft.com/office/drawing/2014/main" id="{0AFF421B-0E43-4C42-A052-C2785A0AC94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918" y="1795"/>
                    <a:ext cx="117" cy="299"/>
                    <a:chOff x="2088" y="1486"/>
                    <a:chExt cx="117" cy="299"/>
                  </a:xfrm>
                </p:grpSpPr>
                <p:sp>
                  <p:nvSpPr>
                    <p:cNvPr id="27762" name="AutoShape 73">
                      <a:extLst>
                        <a:ext uri="{FF2B5EF4-FFF2-40B4-BE49-F238E27FC236}">
                          <a16:creationId xmlns:a16="http://schemas.microsoft.com/office/drawing/2014/main" id="{362CB99E-D12E-C24F-B9C8-A443939659F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88" y="1614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  <p:sp>
                  <p:nvSpPr>
                    <p:cNvPr id="27763" name="Line 74">
                      <a:extLst>
                        <a:ext uri="{FF2B5EF4-FFF2-40B4-BE49-F238E27FC236}">
                          <a16:creationId xmlns:a16="http://schemas.microsoft.com/office/drawing/2014/main" id="{84905A85-B569-B344-9169-F391AD140B4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46" y="1486"/>
                      <a:ext cx="0" cy="13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27732" name="Group 75">
                    <a:extLst>
                      <a:ext uri="{FF2B5EF4-FFF2-40B4-BE49-F238E27FC236}">
                        <a16:creationId xmlns:a16="http://schemas.microsoft.com/office/drawing/2014/main" id="{E8F9CD45-76CB-0047-B78C-6B7067203F3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27760" name="AutoShape 76">
                      <a:extLst>
                        <a:ext uri="{FF2B5EF4-FFF2-40B4-BE49-F238E27FC236}">
                          <a16:creationId xmlns:a16="http://schemas.microsoft.com/office/drawing/2014/main" id="{126EC138-7926-2F46-8337-D46BFC16254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  <p:sp>
                  <p:nvSpPr>
                    <p:cNvPr id="27761" name="Line 77">
                      <a:extLst>
                        <a:ext uri="{FF2B5EF4-FFF2-40B4-BE49-F238E27FC236}">
                          <a16:creationId xmlns:a16="http://schemas.microsoft.com/office/drawing/2014/main" id="{B9A71A56-C0E0-EB46-B341-4818A966269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27733" name="Group 78">
                    <a:extLst>
                      <a:ext uri="{FF2B5EF4-FFF2-40B4-BE49-F238E27FC236}">
                        <a16:creationId xmlns:a16="http://schemas.microsoft.com/office/drawing/2014/main" id="{E8491CA8-7038-ED43-85CB-999A222708B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42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27758" name="AutoShape 79">
                      <a:extLst>
                        <a:ext uri="{FF2B5EF4-FFF2-40B4-BE49-F238E27FC236}">
                          <a16:creationId xmlns:a16="http://schemas.microsoft.com/office/drawing/2014/main" id="{A66D97C5-1B5E-604D-8983-15F57B2C576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  <p:sp>
                  <p:nvSpPr>
                    <p:cNvPr id="27759" name="Line 80">
                      <a:extLst>
                        <a:ext uri="{FF2B5EF4-FFF2-40B4-BE49-F238E27FC236}">
                          <a16:creationId xmlns:a16="http://schemas.microsoft.com/office/drawing/2014/main" id="{CD1E06AC-A57A-9E4A-954D-2AD15199758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27734" name="Group 81">
                    <a:extLst>
                      <a:ext uri="{FF2B5EF4-FFF2-40B4-BE49-F238E27FC236}">
                        <a16:creationId xmlns:a16="http://schemas.microsoft.com/office/drawing/2014/main" id="{B6816EE0-E4D5-0949-86BB-B41ED7012EF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26" y="1705"/>
                    <a:ext cx="117" cy="369"/>
                    <a:chOff x="1526" y="1705"/>
                    <a:chExt cx="117" cy="369"/>
                  </a:xfrm>
                </p:grpSpPr>
                <p:sp>
                  <p:nvSpPr>
                    <p:cNvPr id="27756" name="Line 82">
                      <a:extLst>
                        <a:ext uri="{FF2B5EF4-FFF2-40B4-BE49-F238E27FC236}">
                          <a16:creationId xmlns:a16="http://schemas.microsoft.com/office/drawing/2014/main" id="{28126086-D98A-9A43-B087-6C3043E31C6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584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757" name="AutoShape 83">
                      <a:extLst>
                        <a:ext uri="{FF2B5EF4-FFF2-40B4-BE49-F238E27FC236}">
                          <a16:creationId xmlns:a16="http://schemas.microsoft.com/office/drawing/2014/main" id="{04F10D5B-72E8-5A4C-A808-B3DCAE8EE1D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26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  <p:grpSp>
                <p:nvGrpSpPr>
                  <p:cNvPr id="27735" name="Group 84">
                    <a:extLst>
                      <a:ext uri="{FF2B5EF4-FFF2-40B4-BE49-F238E27FC236}">
                        <a16:creationId xmlns:a16="http://schemas.microsoft.com/office/drawing/2014/main" id="{6BE7A3D3-9F5A-3B46-8F20-8EB5BD216DF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42" y="1705"/>
                    <a:ext cx="117" cy="369"/>
                    <a:chOff x="2542" y="1705"/>
                    <a:chExt cx="117" cy="369"/>
                  </a:xfrm>
                </p:grpSpPr>
                <p:sp>
                  <p:nvSpPr>
                    <p:cNvPr id="27754" name="Line 85">
                      <a:extLst>
                        <a:ext uri="{FF2B5EF4-FFF2-40B4-BE49-F238E27FC236}">
                          <a16:creationId xmlns:a16="http://schemas.microsoft.com/office/drawing/2014/main" id="{54A8323A-ED28-E448-B22C-3D68EA1A4E2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60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755" name="AutoShape 86">
                      <a:extLst>
                        <a:ext uri="{FF2B5EF4-FFF2-40B4-BE49-F238E27FC236}">
                          <a16:creationId xmlns:a16="http://schemas.microsoft.com/office/drawing/2014/main" id="{2CD0590B-5DE6-E64D-A9B7-143C96993E4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42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  <p:grpSp>
                <p:nvGrpSpPr>
                  <p:cNvPr id="27736" name="Group 87">
                    <a:extLst>
                      <a:ext uri="{FF2B5EF4-FFF2-40B4-BE49-F238E27FC236}">
                        <a16:creationId xmlns:a16="http://schemas.microsoft.com/office/drawing/2014/main" id="{AE2A1BE8-5F36-D946-A681-F2FFCC2066A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66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27752" name="Line 88">
                      <a:extLst>
                        <a:ext uri="{FF2B5EF4-FFF2-40B4-BE49-F238E27FC236}">
                          <a16:creationId xmlns:a16="http://schemas.microsoft.com/office/drawing/2014/main" id="{0CDFD6A5-3698-D642-9994-9D1CC699E01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753" name="AutoShape 89">
                      <a:extLst>
                        <a:ext uri="{FF2B5EF4-FFF2-40B4-BE49-F238E27FC236}">
                          <a16:creationId xmlns:a16="http://schemas.microsoft.com/office/drawing/2014/main" id="{0E5E5A96-FCD0-E34B-806F-E70FCBA30CA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  <p:grpSp>
                <p:nvGrpSpPr>
                  <p:cNvPr id="27737" name="Group 90">
                    <a:extLst>
                      <a:ext uri="{FF2B5EF4-FFF2-40B4-BE49-F238E27FC236}">
                        <a16:creationId xmlns:a16="http://schemas.microsoft.com/office/drawing/2014/main" id="{5A401BCA-C582-1D4B-8151-8F884DD10C2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38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27750" name="Line 91">
                      <a:extLst>
                        <a:ext uri="{FF2B5EF4-FFF2-40B4-BE49-F238E27FC236}">
                          <a16:creationId xmlns:a16="http://schemas.microsoft.com/office/drawing/2014/main" id="{FF5BEDCA-6D3E-BF42-B1E3-CE98D61F886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751" name="AutoShape 92">
                      <a:extLst>
                        <a:ext uri="{FF2B5EF4-FFF2-40B4-BE49-F238E27FC236}">
                          <a16:creationId xmlns:a16="http://schemas.microsoft.com/office/drawing/2014/main" id="{1C933081-D3D6-AA4F-83ED-364F9588CFC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  <p:grpSp>
                <p:nvGrpSpPr>
                  <p:cNvPr id="27738" name="Group 93">
                    <a:extLst>
                      <a:ext uri="{FF2B5EF4-FFF2-40B4-BE49-F238E27FC236}">
                        <a16:creationId xmlns:a16="http://schemas.microsoft.com/office/drawing/2014/main" id="{69496950-0EDE-9B4E-B062-9ED0D781076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99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27748" name="Line 94">
                      <a:extLst>
                        <a:ext uri="{FF2B5EF4-FFF2-40B4-BE49-F238E27FC236}">
                          <a16:creationId xmlns:a16="http://schemas.microsoft.com/office/drawing/2014/main" id="{522FD6EF-74E2-DC49-8325-410F6B89A85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749" name="AutoShape 95">
                      <a:extLst>
                        <a:ext uri="{FF2B5EF4-FFF2-40B4-BE49-F238E27FC236}">
                          <a16:creationId xmlns:a16="http://schemas.microsoft.com/office/drawing/2014/main" id="{10CE1124-96F5-D046-BFC3-19089F5C773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  <p:grpSp>
                <p:nvGrpSpPr>
                  <p:cNvPr id="27739" name="Group 96">
                    <a:extLst>
                      <a:ext uri="{FF2B5EF4-FFF2-40B4-BE49-F238E27FC236}">
                        <a16:creationId xmlns:a16="http://schemas.microsoft.com/office/drawing/2014/main" id="{0C958E97-75B4-DF43-AB91-FE89E647E89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3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27746" name="Line 97">
                      <a:extLst>
                        <a:ext uri="{FF2B5EF4-FFF2-40B4-BE49-F238E27FC236}">
                          <a16:creationId xmlns:a16="http://schemas.microsoft.com/office/drawing/2014/main" id="{BA6C5D67-18D5-4948-B99B-901959D7B9F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747" name="AutoShape 98">
                      <a:extLst>
                        <a:ext uri="{FF2B5EF4-FFF2-40B4-BE49-F238E27FC236}">
                          <a16:creationId xmlns:a16="http://schemas.microsoft.com/office/drawing/2014/main" id="{C0C40A6F-CA55-8641-A918-D5A8269030B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  <p:grpSp>
                <p:nvGrpSpPr>
                  <p:cNvPr id="27740" name="Group 99">
                    <a:extLst>
                      <a:ext uri="{FF2B5EF4-FFF2-40B4-BE49-F238E27FC236}">
                        <a16:creationId xmlns:a16="http://schemas.microsoft.com/office/drawing/2014/main" id="{0157D07C-D51A-9240-8376-2AC730D9E1F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22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27744" name="Line 100">
                      <a:extLst>
                        <a:ext uri="{FF2B5EF4-FFF2-40B4-BE49-F238E27FC236}">
                          <a16:creationId xmlns:a16="http://schemas.microsoft.com/office/drawing/2014/main" id="{ACB5C8B3-A5B5-D445-8033-4BB198B02FB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745" name="AutoShape 101">
                      <a:extLst>
                        <a:ext uri="{FF2B5EF4-FFF2-40B4-BE49-F238E27FC236}">
                          <a16:creationId xmlns:a16="http://schemas.microsoft.com/office/drawing/2014/main" id="{FAC3E737-60BB-6843-BFAA-242052E4CA8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  <p:grpSp>
                <p:nvGrpSpPr>
                  <p:cNvPr id="27741" name="Group 102">
                    <a:extLst>
                      <a:ext uri="{FF2B5EF4-FFF2-40B4-BE49-F238E27FC236}">
                        <a16:creationId xmlns:a16="http://schemas.microsoft.com/office/drawing/2014/main" id="{B54B0A13-AA0E-464A-BE71-CF323E740B0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53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27742" name="Line 103">
                      <a:extLst>
                        <a:ext uri="{FF2B5EF4-FFF2-40B4-BE49-F238E27FC236}">
                          <a16:creationId xmlns:a16="http://schemas.microsoft.com/office/drawing/2014/main" id="{2104AF60-4AD0-654D-9895-08E2A937F62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743" name="AutoShape 104">
                      <a:extLst>
                        <a:ext uri="{FF2B5EF4-FFF2-40B4-BE49-F238E27FC236}">
                          <a16:creationId xmlns:a16="http://schemas.microsoft.com/office/drawing/2014/main" id="{034B1992-E061-6048-AD76-E5BFE30506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400"/>
                    </a:p>
                  </p:txBody>
                </p:sp>
              </p:grpSp>
            </p:grpSp>
          </p:grpSp>
          <p:sp>
            <p:nvSpPr>
              <p:cNvPr id="27712" name="Rectangle 105">
                <a:extLst>
                  <a:ext uri="{FF2B5EF4-FFF2-40B4-BE49-F238E27FC236}">
                    <a16:creationId xmlns:a16="http://schemas.microsoft.com/office/drawing/2014/main" id="{FBE96868-0E6A-CA46-B8B7-16B9BCDF9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573"/>
                <a:ext cx="3912" cy="202"/>
              </a:xfrm>
              <a:prstGeom prst="rect">
                <a:avLst/>
              </a:prstGeom>
              <a:solidFill>
                <a:srgbClr val="CCFFCC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277800" prstMaterial="legacyMatte">
                <a:bevelT w="13500" h="13500" prst="angle"/>
                <a:bevelB w="13500" h="13500" prst="angle"/>
                <a:extrusionClr>
                  <a:srgbClr val="CCFFCC"/>
                </a:extrusionClr>
                <a:contourClr>
                  <a:srgbClr val="CCFFCC"/>
                </a:contourClr>
              </a:sp3d>
            </p:spPr>
            <p:txBody>
              <a:bodyPr lIns="72000" tIns="0" rIns="72000" bIns="0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 b="1" i="1">
                    <a:solidFill>
                      <a:srgbClr val="000000"/>
                    </a:solidFill>
                  </a:rPr>
                  <a:t>Processo de Desenvolvimento de Produto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28" name="Group 106">
            <a:extLst>
              <a:ext uri="{FF2B5EF4-FFF2-40B4-BE49-F238E27FC236}">
                <a16:creationId xmlns:a16="http://schemas.microsoft.com/office/drawing/2014/main" id="{B13CD645-C875-5A47-969B-57FF69F43D26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3889375" y="2933700"/>
            <a:ext cx="1554163" cy="2862263"/>
            <a:chOff x="2181" y="1183"/>
            <a:chExt cx="1419" cy="1966"/>
          </a:xfrm>
        </p:grpSpPr>
        <p:grpSp>
          <p:nvGrpSpPr>
            <p:cNvPr id="27652" name="Group 107">
              <a:extLst>
                <a:ext uri="{FF2B5EF4-FFF2-40B4-BE49-F238E27FC236}">
                  <a16:creationId xmlns:a16="http://schemas.microsoft.com/office/drawing/2014/main" id="{7B8F5EF2-8BE4-D542-B7BB-0BA16C3CFB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27689" name="Group 108">
                <a:extLst>
                  <a:ext uri="{FF2B5EF4-FFF2-40B4-BE49-F238E27FC236}">
                    <a16:creationId xmlns:a16="http://schemas.microsoft.com/office/drawing/2014/main" id="{4B5FF48B-1EE2-2B4A-8E26-B11CF7E0A8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27695" name="Group 109">
                  <a:extLst>
                    <a:ext uri="{FF2B5EF4-FFF2-40B4-BE49-F238E27FC236}">
                      <a16:creationId xmlns:a16="http://schemas.microsoft.com/office/drawing/2014/main" id="{922FB3E9-7D46-CE47-B7E7-12A4C655E1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27701" name="Freeform 110">
                    <a:extLst>
                      <a:ext uri="{FF2B5EF4-FFF2-40B4-BE49-F238E27FC236}">
                        <a16:creationId xmlns:a16="http://schemas.microsoft.com/office/drawing/2014/main" id="{D827BB6B-6223-3E49-98BF-2348B647ED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702" name="Freeform 111">
                    <a:extLst>
                      <a:ext uri="{FF2B5EF4-FFF2-40B4-BE49-F238E27FC236}">
                        <a16:creationId xmlns:a16="http://schemas.microsoft.com/office/drawing/2014/main" id="{314ADED6-9150-3C42-8888-C8EE529183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27696" name="Group 112">
                  <a:extLst>
                    <a:ext uri="{FF2B5EF4-FFF2-40B4-BE49-F238E27FC236}">
                      <a16:creationId xmlns:a16="http://schemas.microsoft.com/office/drawing/2014/main" id="{FA9B04E4-AE9E-9346-88D6-BCCEA24474B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27697" name="Freeform 113">
                    <a:extLst>
                      <a:ext uri="{FF2B5EF4-FFF2-40B4-BE49-F238E27FC236}">
                        <a16:creationId xmlns:a16="http://schemas.microsoft.com/office/drawing/2014/main" id="{21DD1E8C-1FB5-8B41-B0D5-131E4FD22B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98" name="Freeform 114">
                    <a:extLst>
                      <a:ext uri="{FF2B5EF4-FFF2-40B4-BE49-F238E27FC236}">
                        <a16:creationId xmlns:a16="http://schemas.microsoft.com/office/drawing/2014/main" id="{C02F3EEE-85AE-DE40-A38E-980A029B91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99" name="Freeform 115">
                    <a:extLst>
                      <a:ext uri="{FF2B5EF4-FFF2-40B4-BE49-F238E27FC236}">
                        <a16:creationId xmlns:a16="http://schemas.microsoft.com/office/drawing/2014/main" id="{B230AD54-689D-1346-98C0-66D6F41F6F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700" name="Freeform 116">
                    <a:extLst>
                      <a:ext uri="{FF2B5EF4-FFF2-40B4-BE49-F238E27FC236}">
                        <a16:creationId xmlns:a16="http://schemas.microsoft.com/office/drawing/2014/main" id="{DCEF3A75-548E-5D46-A9EB-8F02675F54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27690" name="Oval 117">
                <a:extLst>
                  <a:ext uri="{FF2B5EF4-FFF2-40B4-BE49-F238E27FC236}">
                    <a16:creationId xmlns:a16="http://schemas.microsoft.com/office/drawing/2014/main" id="{940A38D7-4B63-1C48-B771-7A587AE64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2400"/>
              </a:p>
            </p:txBody>
          </p:sp>
          <p:grpSp>
            <p:nvGrpSpPr>
              <p:cNvPr id="27691" name="Group 118">
                <a:extLst>
                  <a:ext uri="{FF2B5EF4-FFF2-40B4-BE49-F238E27FC236}">
                    <a16:creationId xmlns:a16="http://schemas.microsoft.com/office/drawing/2014/main" id="{09333FA9-57CD-CA4A-A80D-3B4C06ADC6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27692" name="Oval 119">
                  <a:extLst>
                    <a:ext uri="{FF2B5EF4-FFF2-40B4-BE49-F238E27FC236}">
                      <a16:creationId xmlns:a16="http://schemas.microsoft.com/office/drawing/2014/main" id="{F18428FD-AEDA-7B46-B0B6-DB5EE7F79F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2400"/>
                </a:p>
              </p:txBody>
            </p:sp>
            <p:sp>
              <p:nvSpPr>
                <p:cNvPr id="27693" name="Oval 120">
                  <a:extLst>
                    <a:ext uri="{FF2B5EF4-FFF2-40B4-BE49-F238E27FC236}">
                      <a16:creationId xmlns:a16="http://schemas.microsoft.com/office/drawing/2014/main" id="{380183BC-860E-C541-95BB-F68131446A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2400"/>
                </a:p>
              </p:txBody>
            </p:sp>
            <p:sp>
              <p:nvSpPr>
                <p:cNvPr id="27694" name="Oval 121">
                  <a:extLst>
                    <a:ext uri="{FF2B5EF4-FFF2-40B4-BE49-F238E27FC236}">
                      <a16:creationId xmlns:a16="http://schemas.microsoft.com/office/drawing/2014/main" id="{2C1E7D67-391C-CA48-9BE0-182123FDA1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2400"/>
                </a:p>
              </p:txBody>
            </p:sp>
          </p:grpSp>
        </p:grpSp>
        <p:grpSp>
          <p:nvGrpSpPr>
            <p:cNvPr id="27653" name="Group 122">
              <a:extLst>
                <a:ext uri="{FF2B5EF4-FFF2-40B4-BE49-F238E27FC236}">
                  <a16:creationId xmlns:a16="http://schemas.microsoft.com/office/drawing/2014/main" id="{E461927D-C8BC-6F46-9458-179345DFE8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27654" name="Freeform 123">
                <a:extLst>
                  <a:ext uri="{FF2B5EF4-FFF2-40B4-BE49-F238E27FC236}">
                    <a16:creationId xmlns:a16="http://schemas.microsoft.com/office/drawing/2014/main" id="{91FD93B8-C10B-784C-B47B-1D33282BB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5" name="Arc 124">
                <a:extLst>
                  <a:ext uri="{FF2B5EF4-FFF2-40B4-BE49-F238E27FC236}">
                    <a16:creationId xmlns:a16="http://schemas.microsoft.com/office/drawing/2014/main" id="{8EC8459F-9DB7-9447-B04B-8819E2D3D4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lnTo>
                      <a:pt x="877" y="27692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6" name="Arc 125">
                <a:extLst>
                  <a:ext uri="{FF2B5EF4-FFF2-40B4-BE49-F238E27FC236}">
                    <a16:creationId xmlns:a16="http://schemas.microsoft.com/office/drawing/2014/main" id="{406520FA-4B8B-DD4B-8E48-1D75CC740C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lnTo>
                      <a:pt x="138" y="24038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7" name="Freeform 126">
                <a:extLst>
                  <a:ext uri="{FF2B5EF4-FFF2-40B4-BE49-F238E27FC236}">
                    <a16:creationId xmlns:a16="http://schemas.microsoft.com/office/drawing/2014/main" id="{DE6A1BE6-2475-D447-AD35-E7F3D504A2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8" name="Arc 127">
                <a:extLst>
                  <a:ext uri="{FF2B5EF4-FFF2-40B4-BE49-F238E27FC236}">
                    <a16:creationId xmlns:a16="http://schemas.microsoft.com/office/drawing/2014/main" id="{448770CC-423B-2543-B920-C57F183BC1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lnTo>
                      <a:pt x="806" y="2609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9" name="Arc 128">
                <a:extLst>
                  <a:ext uri="{FF2B5EF4-FFF2-40B4-BE49-F238E27FC236}">
                    <a16:creationId xmlns:a16="http://schemas.microsoft.com/office/drawing/2014/main" id="{E73A1288-6959-0E4A-95D7-9CED22BD9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lnTo>
                      <a:pt x="729" y="27167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7660" name="Group 129">
                <a:extLst>
                  <a:ext uri="{FF2B5EF4-FFF2-40B4-BE49-F238E27FC236}">
                    <a16:creationId xmlns:a16="http://schemas.microsoft.com/office/drawing/2014/main" id="{87935E0B-908E-7742-BC3A-C6A075932E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27684" name="Group 130">
                  <a:extLst>
                    <a:ext uri="{FF2B5EF4-FFF2-40B4-BE49-F238E27FC236}">
                      <a16:creationId xmlns:a16="http://schemas.microsoft.com/office/drawing/2014/main" id="{4C7CC213-80E3-F04A-B645-60B0DABBB90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27686" name="Arc 131">
                    <a:extLst>
                      <a:ext uri="{FF2B5EF4-FFF2-40B4-BE49-F238E27FC236}">
                        <a16:creationId xmlns:a16="http://schemas.microsoft.com/office/drawing/2014/main" id="{A8427073-28B5-9C4E-9F67-3C79F22290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87" name="Arc 132">
                    <a:extLst>
                      <a:ext uri="{FF2B5EF4-FFF2-40B4-BE49-F238E27FC236}">
                        <a16:creationId xmlns:a16="http://schemas.microsoft.com/office/drawing/2014/main" id="{C8329B7B-885C-9C43-808B-C5669C6A91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531" y="2365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88" name="Arc 133">
                    <a:extLst>
                      <a:ext uri="{FF2B5EF4-FFF2-40B4-BE49-F238E27FC236}">
                        <a16:creationId xmlns:a16="http://schemas.microsoft.com/office/drawing/2014/main" id="{B841D0B0-7DE4-014D-A226-8555C0523A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lnTo>
                          <a:pt x="602" y="26668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7685" name="Arc 134">
                  <a:extLst>
                    <a:ext uri="{FF2B5EF4-FFF2-40B4-BE49-F238E27FC236}">
                      <a16:creationId xmlns:a16="http://schemas.microsoft.com/office/drawing/2014/main" id="{33621D1E-E5DF-E94C-B5F7-0A2EF16633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1" name="Group 135">
                <a:extLst>
                  <a:ext uri="{FF2B5EF4-FFF2-40B4-BE49-F238E27FC236}">
                    <a16:creationId xmlns:a16="http://schemas.microsoft.com/office/drawing/2014/main" id="{316CA659-48B1-5944-BD6A-0E63F806AE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27679" name="Group 136">
                  <a:extLst>
                    <a:ext uri="{FF2B5EF4-FFF2-40B4-BE49-F238E27FC236}">
                      <a16:creationId xmlns:a16="http://schemas.microsoft.com/office/drawing/2014/main" id="{10BA5B4A-D735-C843-A92D-1C22A642DD8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27681" name="Arc 137">
                    <a:extLst>
                      <a:ext uri="{FF2B5EF4-FFF2-40B4-BE49-F238E27FC236}">
                        <a16:creationId xmlns:a16="http://schemas.microsoft.com/office/drawing/2014/main" id="{954BF6D3-A2C3-F749-A3C2-9C926C70E9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lnTo>
                          <a:pt x="475" y="26108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82" name="Arc 138">
                    <a:extLst>
                      <a:ext uri="{FF2B5EF4-FFF2-40B4-BE49-F238E27FC236}">
                        <a16:creationId xmlns:a16="http://schemas.microsoft.com/office/drawing/2014/main" id="{8F865694-DA92-EB41-A1C9-401BC612D4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475" y="23399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83" name="Arc 139">
                    <a:extLst>
                      <a:ext uri="{FF2B5EF4-FFF2-40B4-BE49-F238E27FC236}">
                        <a16:creationId xmlns:a16="http://schemas.microsoft.com/office/drawing/2014/main" id="{8CF63926-2DB7-B346-82ED-43E545F410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7680" name="Arc 140">
                  <a:extLst>
                    <a:ext uri="{FF2B5EF4-FFF2-40B4-BE49-F238E27FC236}">
                      <a16:creationId xmlns:a16="http://schemas.microsoft.com/office/drawing/2014/main" id="{4C00C561-0F6F-AA45-B8C0-FA002E9CAD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lnTo>
                        <a:pt x="531" y="2636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2" name="Group 141">
                <a:extLst>
                  <a:ext uri="{FF2B5EF4-FFF2-40B4-BE49-F238E27FC236}">
                    <a16:creationId xmlns:a16="http://schemas.microsoft.com/office/drawing/2014/main" id="{BAD2FD7D-147A-844A-A5D4-A157781D6B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27677" name="Arc 142">
                  <a:extLst>
                    <a:ext uri="{FF2B5EF4-FFF2-40B4-BE49-F238E27FC236}">
                      <a16:creationId xmlns:a16="http://schemas.microsoft.com/office/drawing/2014/main" id="{48113CAC-180D-B34B-8DDF-CC533240B0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7678" name="Arc 143">
                  <a:extLst>
                    <a:ext uri="{FF2B5EF4-FFF2-40B4-BE49-F238E27FC236}">
                      <a16:creationId xmlns:a16="http://schemas.microsoft.com/office/drawing/2014/main" id="{19B04289-0EBF-994B-9AD0-21DE35391D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lnTo>
                        <a:pt x="423" y="23144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3" name="Group 144">
                <a:extLst>
                  <a:ext uri="{FF2B5EF4-FFF2-40B4-BE49-F238E27FC236}">
                    <a16:creationId xmlns:a16="http://schemas.microsoft.com/office/drawing/2014/main" id="{69EFACBA-8FC0-D847-95C8-675150623B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27675" name="Arc 145">
                  <a:extLst>
                    <a:ext uri="{FF2B5EF4-FFF2-40B4-BE49-F238E27FC236}">
                      <a16:creationId xmlns:a16="http://schemas.microsoft.com/office/drawing/2014/main" id="{FDEC4E98-8EB2-FA47-B0D7-EDAC32C466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7676" name="Arc 146">
                  <a:extLst>
                    <a:ext uri="{FF2B5EF4-FFF2-40B4-BE49-F238E27FC236}">
                      <a16:creationId xmlns:a16="http://schemas.microsoft.com/office/drawing/2014/main" id="{C096FE6D-A619-F14D-B01F-8235E42562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4" name="Group 147">
                <a:extLst>
                  <a:ext uri="{FF2B5EF4-FFF2-40B4-BE49-F238E27FC236}">
                    <a16:creationId xmlns:a16="http://schemas.microsoft.com/office/drawing/2014/main" id="{AB9330C9-E9B0-064B-B4C3-4DD7C2BF98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27673" name="Line 148">
                  <a:extLst>
                    <a:ext uri="{FF2B5EF4-FFF2-40B4-BE49-F238E27FC236}">
                      <a16:creationId xmlns:a16="http://schemas.microsoft.com/office/drawing/2014/main" id="{47B6AB78-6DB4-0F47-AF9A-1B1722B58D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7674" name="Line 149">
                  <a:extLst>
                    <a:ext uri="{FF2B5EF4-FFF2-40B4-BE49-F238E27FC236}">
                      <a16:creationId xmlns:a16="http://schemas.microsoft.com/office/drawing/2014/main" id="{F6CF6AA1-692E-4641-B2A1-3350E957F4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5" name="Group 150">
                <a:extLst>
                  <a:ext uri="{FF2B5EF4-FFF2-40B4-BE49-F238E27FC236}">
                    <a16:creationId xmlns:a16="http://schemas.microsoft.com/office/drawing/2014/main" id="{D0BB90EF-4B11-9144-B428-B79574CC9B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27668" name="Group 151">
                  <a:extLst>
                    <a:ext uri="{FF2B5EF4-FFF2-40B4-BE49-F238E27FC236}">
                      <a16:creationId xmlns:a16="http://schemas.microsoft.com/office/drawing/2014/main" id="{0B04C3DE-1160-0242-8C10-E8558E210E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27671" name="Arc 152">
                    <a:extLst>
                      <a:ext uri="{FF2B5EF4-FFF2-40B4-BE49-F238E27FC236}">
                        <a16:creationId xmlns:a16="http://schemas.microsoft.com/office/drawing/2014/main" id="{C621DB4F-857F-C740-85C8-947C8CF0919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lnTo>
                          <a:pt x="373" y="25596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72" name="Arc 153">
                    <a:extLst>
                      <a:ext uri="{FF2B5EF4-FFF2-40B4-BE49-F238E27FC236}">
                        <a16:creationId xmlns:a16="http://schemas.microsoft.com/office/drawing/2014/main" id="{E466BAEA-0FC7-314B-B35B-8D8D08F49BE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373" y="22887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7669" name="Arc 154">
                  <a:extLst>
                    <a:ext uri="{FF2B5EF4-FFF2-40B4-BE49-F238E27FC236}">
                      <a16:creationId xmlns:a16="http://schemas.microsoft.com/office/drawing/2014/main" id="{5536ED21-3679-CE40-9A11-C632C3D025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7670" name="Arc 155">
                  <a:extLst>
                    <a:ext uri="{FF2B5EF4-FFF2-40B4-BE49-F238E27FC236}">
                      <a16:creationId xmlns:a16="http://schemas.microsoft.com/office/drawing/2014/main" id="{8515681A-EE90-D94E-BDE5-D2E616BDBB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7666" name="Freeform 156">
                <a:extLst>
                  <a:ext uri="{FF2B5EF4-FFF2-40B4-BE49-F238E27FC236}">
                    <a16:creationId xmlns:a16="http://schemas.microsoft.com/office/drawing/2014/main" id="{E790E751-8C17-B046-89B5-FBE84F0FA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67" name="Oval 157">
                <a:extLst>
                  <a:ext uri="{FF2B5EF4-FFF2-40B4-BE49-F238E27FC236}">
                    <a16:creationId xmlns:a16="http://schemas.microsoft.com/office/drawing/2014/main" id="{C21324B8-9F88-4243-ACAF-05DF1EF5C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233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F4CC014-46F8-FA41-93F2-04941A7F018A}"/>
              </a:ext>
            </a:extLst>
          </p:cNvPr>
          <p:cNvSpPr txBox="1"/>
          <p:nvPr/>
        </p:nvSpPr>
        <p:spPr>
          <a:xfrm>
            <a:off x="4572000" y="1077913"/>
            <a:ext cx="2590800" cy="923925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800"/>
              <a:t>Necessidades de mercado </a:t>
            </a:r>
          </a:p>
          <a:p>
            <a:pPr algn="ctr">
              <a:defRPr/>
            </a:pPr>
            <a:r>
              <a:rPr lang="pt-BR" sz="1800"/>
              <a:t>Requisitos funcionais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80093E-7666-344A-83EC-AB6B1C4B7561}"/>
              </a:ext>
            </a:extLst>
          </p:cNvPr>
          <p:cNvSpPr txBox="1"/>
          <p:nvPr/>
        </p:nvSpPr>
        <p:spPr>
          <a:xfrm>
            <a:off x="4572000" y="2309813"/>
            <a:ext cx="2590800" cy="368300"/>
          </a:xfrm>
          <a:prstGeom prst="rect">
            <a:avLst/>
          </a:prstGeom>
          <a:noFill/>
          <a:ln w="19050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800"/>
              <a:t>Projeto conceitual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6BBC8EC-C456-4141-9897-C8C0ED41825B}"/>
              </a:ext>
            </a:extLst>
          </p:cNvPr>
          <p:cNvSpPr txBox="1"/>
          <p:nvPr/>
        </p:nvSpPr>
        <p:spPr>
          <a:xfrm>
            <a:off x="4572000" y="3165475"/>
            <a:ext cx="2590800" cy="368300"/>
          </a:xfrm>
          <a:prstGeom prst="rect">
            <a:avLst/>
          </a:prstGeom>
          <a:noFill/>
          <a:ln w="19050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800"/>
              <a:t>Projeto preliminar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7F39D43-2C16-E44E-952B-91AA4FC129C9}"/>
              </a:ext>
            </a:extLst>
          </p:cNvPr>
          <p:cNvSpPr txBox="1"/>
          <p:nvPr/>
        </p:nvSpPr>
        <p:spPr>
          <a:xfrm>
            <a:off x="4572000" y="3860800"/>
            <a:ext cx="2590800" cy="368300"/>
          </a:xfrm>
          <a:prstGeom prst="rect">
            <a:avLst/>
          </a:prstGeom>
          <a:noFill/>
          <a:ln w="19050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800"/>
              <a:t>Projeto detalhado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ACB14B-A751-A04C-9647-FCACF0652E38}"/>
              </a:ext>
            </a:extLst>
          </p:cNvPr>
          <p:cNvSpPr txBox="1"/>
          <p:nvPr/>
        </p:nvSpPr>
        <p:spPr>
          <a:xfrm>
            <a:off x="4572000" y="4883150"/>
            <a:ext cx="2590800" cy="646113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800"/>
              <a:t>Produto e suas especificações</a:t>
            </a:r>
          </a:p>
        </p:txBody>
      </p:sp>
      <p:cxnSp>
        <p:nvCxnSpPr>
          <p:cNvPr id="64518" name="Conector Reto 7">
            <a:extLst>
              <a:ext uri="{FF2B5EF4-FFF2-40B4-BE49-F238E27FC236}">
                <a16:creationId xmlns:a16="http://schemas.microsoft.com/office/drawing/2014/main" id="{28BF734E-52E8-6241-85EB-5B5C9F5637D6}"/>
              </a:ext>
            </a:extLst>
          </p:cNvPr>
          <p:cNvCxnSpPr>
            <a:cxnSpLocks/>
          </p:cNvCxnSpPr>
          <p:nvPr/>
        </p:nvCxnSpPr>
        <p:spPr bwMode="auto">
          <a:xfrm>
            <a:off x="7162800" y="2490788"/>
            <a:ext cx="603250" cy="0"/>
          </a:xfrm>
          <a:prstGeom prst="line">
            <a:avLst/>
          </a:prstGeom>
          <a:noFill/>
          <a:ln w="19050" algn="ctr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19" name="Conector Reto 9">
            <a:extLst>
              <a:ext uri="{FF2B5EF4-FFF2-40B4-BE49-F238E27FC236}">
                <a16:creationId xmlns:a16="http://schemas.microsoft.com/office/drawing/2014/main" id="{7E78A7DB-BD37-7A49-B9A8-56B2677DCB48}"/>
              </a:ext>
            </a:extLst>
          </p:cNvPr>
          <p:cNvCxnSpPr>
            <a:cxnSpLocks/>
          </p:cNvCxnSpPr>
          <p:nvPr/>
        </p:nvCxnSpPr>
        <p:spPr bwMode="auto">
          <a:xfrm>
            <a:off x="7162800" y="3349625"/>
            <a:ext cx="603250" cy="0"/>
          </a:xfrm>
          <a:prstGeom prst="line">
            <a:avLst/>
          </a:prstGeom>
          <a:noFill/>
          <a:ln w="19050" algn="ctr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0" name="Conector Reto 10">
            <a:extLst>
              <a:ext uri="{FF2B5EF4-FFF2-40B4-BE49-F238E27FC236}">
                <a16:creationId xmlns:a16="http://schemas.microsoft.com/office/drawing/2014/main" id="{0B0F911A-B19D-BF40-981E-34FF5870A796}"/>
              </a:ext>
            </a:extLst>
          </p:cNvPr>
          <p:cNvCxnSpPr>
            <a:cxnSpLocks/>
          </p:cNvCxnSpPr>
          <p:nvPr/>
        </p:nvCxnSpPr>
        <p:spPr bwMode="auto">
          <a:xfrm>
            <a:off x="7162800" y="4030663"/>
            <a:ext cx="603250" cy="0"/>
          </a:xfrm>
          <a:prstGeom prst="line">
            <a:avLst/>
          </a:prstGeom>
          <a:noFill/>
          <a:ln w="19050" algn="ctr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1" name="Conector Reto 11">
            <a:extLst>
              <a:ext uri="{FF2B5EF4-FFF2-40B4-BE49-F238E27FC236}">
                <a16:creationId xmlns:a16="http://schemas.microsoft.com/office/drawing/2014/main" id="{0C062248-6164-0F4E-BF38-B118DAF8B69D}"/>
              </a:ext>
            </a:extLst>
          </p:cNvPr>
          <p:cNvCxnSpPr>
            <a:cxnSpLocks/>
          </p:cNvCxnSpPr>
          <p:nvPr/>
        </p:nvCxnSpPr>
        <p:spPr bwMode="auto">
          <a:xfrm>
            <a:off x="7162800" y="5178425"/>
            <a:ext cx="603250" cy="0"/>
          </a:xfrm>
          <a:prstGeom prst="line">
            <a:avLst/>
          </a:prstGeom>
          <a:noFill/>
          <a:ln w="19050" algn="ctr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2" name="Conector Reto 13">
            <a:extLst>
              <a:ext uri="{FF2B5EF4-FFF2-40B4-BE49-F238E27FC236}">
                <a16:creationId xmlns:a16="http://schemas.microsoft.com/office/drawing/2014/main" id="{7E0EF82D-C385-8744-983B-7A398768C53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66050" y="2490788"/>
            <a:ext cx="0" cy="27146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3" name="CaixaDeTexto 14">
            <a:extLst>
              <a:ext uri="{FF2B5EF4-FFF2-40B4-BE49-F238E27FC236}">
                <a16:creationId xmlns:a16="http://schemas.microsoft.com/office/drawing/2014/main" id="{8032F68A-BC32-6946-B179-24BD86622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12" y="1712988"/>
            <a:ext cx="34115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pt-BR" altLang="pt-BR" sz="1600"/>
              <a:t>Determinar estrutura funcional</a:t>
            </a:r>
          </a:p>
          <a:p>
            <a:pPr>
              <a:buFont typeface="Wingdings" pitchFamily="2" charset="2"/>
              <a:buChar char="Ø"/>
            </a:pPr>
            <a:r>
              <a:rPr lang="pt-BR" altLang="pt-BR" sz="1600"/>
              <a:t>Princípios funcionais</a:t>
            </a:r>
          </a:p>
          <a:p>
            <a:pPr>
              <a:buFont typeface="Wingdings" pitchFamily="2" charset="2"/>
              <a:buChar char="Ø"/>
            </a:pPr>
            <a:r>
              <a:rPr lang="pt-BR" altLang="pt-BR" sz="1600"/>
              <a:t>Avaliar e selecionar o conceito</a:t>
            </a:r>
          </a:p>
        </p:txBody>
      </p:sp>
      <p:sp>
        <p:nvSpPr>
          <p:cNvPr id="64524" name="CaixaDeTexto 15">
            <a:extLst>
              <a:ext uri="{FF2B5EF4-FFF2-40B4-BE49-F238E27FC236}">
                <a16:creationId xmlns:a16="http://schemas.microsoft.com/office/drawing/2014/main" id="{177EFDBE-441A-3F43-AA28-C39DB63CC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12" y="2907996"/>
            <a:ext cx="34115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pt-BR" altLang="pt-BR" sz="1600"/>
              <a:t>Desenvolver arquitetura</a:t>
            </a:r>
          </a:p>
          <a:p>
            <a:pPr>
              <a:buFont typeface="Wingdings" pitchFamily="2" charset="2"/>
              <a:buChar char="Ø"/>
            </a:pPr>
            <a:r>
              <a:rPr lang="pt-BR" altLang="pt-BR" sz="1600"/>
              <a:t>Modelo e analises montagem</a:t>
            </a:r>
          </a:p>
          <a:p>
            <a:pPr>
              <a:buFont typeface="Wingdings" pitchFamily="2" charset="2"/>
              <a:buChar char="Ø"/>
            </a:pPr>
            <a:r>
              <a:rPr lang="pt-BR" altLang="pt-BR" sz="1600"/>
              <a:t>Avaliar e selecionar</a:t>
            </a:r>
          </a:p>
        </p:txBody>
      </p:sp>
      <p:sp>
        <p:nvSpPr>
          <p:cNvPr id="64525" name="CaixaDeTexto 16">
            <a:extLst>
              <a:ext uri="{FF2B5EF4-FFF2-40B4-BE49-F238E27FC236}">
                <a16:creationId xmlns:a16="http://schemas.microsoft.com/office/drawing/2014/main" id="{E05A2F43-DD5C-3F40-A557-1820DE83F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12" y="4037860"/>
            <a:ext cx="388532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pt-BR" altLang="pt-BR" sz="1600"/>
              <a:t>Analisar e selecionar o projeto detalhado</a:t>
            </a:r>
          </a:p>
          <a:p>
            <a:pPr>
              <a:buFont typeface="Wingdings" pitchFamily="2" charset="2"/>
              <a:buChar char="Ø"/>
            </a:pPr>
            <a:r>
              <a:rPr lang="pt-BR" altLang="pt-BR" sz="1600"/>
              <a:t>Otimizar desempenho e custos</a:t>
            </a:r>
          </a:p>
          <a:p>
            <a:pPr>
              <a:buFont typeface="Wingdings" pitchFamily="2" charset="2"/>
              <a:buChar char="Ø"/>
            </a:pPr>
            <a:r>
              <a:rPr lang="pt-BR" altLang="pt-BR" sz="1600"/>
              <a:t>Escolha final do material e Processo de fabricação</a:t>
            </a:r>
          </a:p>
        </p:txBody>
      </p:sp>
    </p:spTree>
    <p:extLst>
      <p:ext uri="{BB962C8B-B14F-4D97-AF65-F5344CB8AC3E}">
        <p14:creationId xmlns:p14="http://schemas.microsoft.com/office/powerpoint/2010/main" val="1505889186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77B2FB-4FCF-41BB-9F08-E9CB0964E4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CDDD91-3A0B-4B5F-BA7B-875AE0286A56}">
  <ds:schemaRefs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elements/1.1/"/>
    <ds:schemaRef ds:uri="0616edac-8b85-431d-b1bb-a5cc9cdccc91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AD6A977-8614-4AA9-B3D8-FB08D1620A48}">
  <ds:schemaRefs>
    <ds:schemaRef ds:uri="0616edac-8b85-431d-b1bb-a5cc9cdccc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1385</Words>
  <Application>Microsoft Macintosh PowerPoint</Application>
  <PresentationFormat>Apresentação na tela (4:3)</PresentationFormat>
  <Paragraphs>370</Paragraphs>
  <Slides>28</Slides>
  <Notes>7</Notes>
  <HiddenSlides>0</HiddenSlides>
  <MMClips>5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28</vt:i4>
      </vt:variant>
    </vt:vector>
  </HeadingPairs>
  <TitlesOfParts>
    <vt:vector size="40" baseType="lpstr">
      <vt:lpstr>ＭＳ Ｐゴシック</vt:lpstr>
      <vt:lpstr>Arial</vt:lpstr>
      <vt:lpstr>Calibri</vt:lpstr>
      <vt:lpstr>Lato</vt:lpstr>
      <vt:lpstr>Nunito Sans</vt:lpstr>
      <vt:lpstr>Open Sans</vt:lpstr>
      <vt:lpstr>open_sansregular</vt:lpstr>
      <vt:lpstr>Wingdings</vt:lpstr>
      <vt:lpstr>Design padrão</vt:lpstr>
      <vt:lpstr>Picture</vt:lpstr>
      <vt:lpstr>Figura</vt:lpstr>
      <vt:lpstr>Image</vt:lpstr>
      <vt:lpstr>Apresentação do PowerPoint</vt:lpstr>
      <vt:lpstr>Localização da fase de projeto conceitual</vt:lpstr>
      <vt:lpstr>PROJETO CONCEITUAL</vt:lpstr>
      <vt:lpstr>Informações principais e dependências entre as atividades da fase de Projeto Conceitual</vt:lpstr>
      <vt:lpstr>Informações principais e dependências entre as atividades da fase de Projeto Conceitual</vt:lpstr>
      <vt:lpstr>Apresentação do PowerPoint</vt:lpstr>
      <vt:lpstr>Apresentação do PowerPoint</vt:lpstr>
      <vt:lpstr>Apresentação do PowerPoint</vt:lpstr>
      <vt:lpstr>PROJETOCONCEITUAL:CONCEPÇÕES  1. ESBOÇOS INICIAS 2. PROTÓTIPOS 3. TESTES 4. TRL </vt:lpstr>
      <vt:lpstr>ESBOÇO DO PRODUTO</vt:lpstr>
      <vt:lpstr>Protótipos</vt:lpstr>
      <vt:lpstr>TIPOS DE PROTÓTIPOS </vt:lpstr>
      <vt:lpstr>DENOMINAÇÃO DE PROTÓTIPOS </vt:lpstr>
      <vt:lpstr>Apresentação do PowerPoint</vt:lpstr>
      <vt:lpstr>Grau de novidade e complexidade do produto influenciando a relação entre projeto conceitual e detalhado 1/2</vt:lpstr>
      <vt:lpstr>Grau de novidade e complexidade do produto influenciando a relação entre projeto conceitual e detalhado 1/2</vt:lpstr>
      <vt:lpstr>Apresentação do PowerPoint</vt:lpstr>
      <vt:lpstr>Apresentação do PowerPoint</vt:lpstr>
      <vt:lpstr>Apresentação do PowerPoint</vt:lpstr>
      <vt:lpstr>Diferença entre MVP e Protótipo</vt:lpstr>
      <vt:lpstr>TRL (Nível de Prontidão da Tecnologia)</vt:lpstr>
      <vt:lpstr>TRL </vt:lpstr>
      <vt:lpstr>TRL </vt:lpstr>
      <vt:lpstr>TRL </vt:lpstr>
      <vt:lpstr>Apresentação do PowerPoint</vt:lpstr>
      <vt:lpstr>TRL </vt:lpstr>
      <vt:lpstr>Localização da fase de projeto conceitual</vt:lpstr>
      <vt:lpstr>Apresentação do PowerPoint</vt:lpstr>
    </vt:vector>
  </TitlesOfParts>
  <Company>UFSC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Forcellini</dc:creator>
  <cp:lastModifiedBy>Andrea Cristina Dos Santos</cp:lastModifiedBy>
  <cp:revision>173</cp:revision>
  <dcterms:created xsi:type="dcterms:W3CDTF">2005-02-20T23:18:54Z</dcterms:created>
  <dcterms:modified xsi:type="dcterms:W3CDTF">2025-06-11T20:16:48Z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