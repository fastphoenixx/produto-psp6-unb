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como o problema foi refinado e quais evidências ainda precisam ser confirmadas. Não apresentar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professora pediu separar exatamente onde, quando e por que ocorre a quebra. A cadeia completa é o mapa; ainda não é correto afirmar uma causa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transparente: temos contexto e um relato logístico, mas ainda não temos base para apresentar quatro entrevistas detalhadas ou taxa de avaria como fato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extrapolar uma taxa de quebra. O número serve apenas para demonstrar a escala do fluxo de produtos frágeis.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patentes comprovam que proteção no transporte é um problema técnico reconhecido. Não afirmar ausência absoluta de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como pergunta de investigação, não como problema fechado. O recorte de recebimento/abertura ainda precisa ser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pedindo validação da professora sobre o recorte e mostrando que o grupo entendeu as pendências metodológicas.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4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F3832"/>
          </a:solidFill>
          <a:ln w="12700">
            <a:solidFill>
              <a:srgbClr val="0F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7848" y="54132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Contexto registrado: louças armazenadas em canteiro na fase de acabamento</a:t>
            </a:r>
            <a:endParaRPr lang="en-US" sz="1300" dirty="0"/>
          </a:p>
        </p:txBody>
      </p:sp>
      <p:pic>
        <p:nvPicPr>
          <p:cNvPr id="4" name="Image 0" descr="/tmp/psp6-media/IMG-20260817-WA0136.jp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699248" y="384048"/>
            <a:ext cx="3977640" cy="6080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99248" y="5138928"/>
            <a:ext cx="3977640" cy="1325880"/>
          </a:xfrm>
          <a:prstGeom prst="rect">
            <a:avLst/>
          </a:prstGeom>
          <a:solidFill>
            <a:srgbClr val="18201D">
              <a:alpha val="90000"/>
            </a:srgbClr>
          </a:solidFill>
          <a:ln w="12700">
            <a:solidFill>
              <a:srgbClr val="18201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9DC8B5"/>
                </a:solidFill>
              </a:rPr>
              <a:t>ENGENHARIA DE PRODUTO + PSP6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1353312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Louças sanitárias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em trânsito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090672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EAE3"/>
                </a:solidFill>
              </a:rPr>
              <a:t>Levantamento das informações e sustentação do problema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40965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07A"/>
                </a:solidFill>
              </a:rPr>
              <a:t>Onde quebra? Quando quebra? Por que quebra?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60533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8B5"/>
                </a:solidFill>
              </a:rPr>
              <a:t>Equipe 2 · Andréaticos · 24 ago.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Universidade de Brasília · Fase Discover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C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25B3F"/>
                </a:solidFill>
              </a:rPr>
              <a:t>RECORTE DO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01D"/>
                </a:solidFill>
              </a:rPr>
              <a:t>Uma cadeia, quatro momentos possíveis de falha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07592" y="2368296"/>
            <a:ext cx="9098280" cy="0"/>
          </a:xfrm>
          <a:prstGeom prst="line">
            <a:avLst/>
          </a:prstGeom>
          <a:noFill/>
          <a:ln w="27940">
            <a:solidFill>
              <a:srgbClr val="A9B7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438912" cy="43891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9748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Fabricação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distribuição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C"/>
                </a:solidFill>
              </a:rPr>
              <a:t>origem ainda não demonstrada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2148840"/>
            <a:ext cx="438912" cy="438912"/>
          </a:xfrm>
          <a:prstGeom prst="ellipse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269748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Transporte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externo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C"/>
                </a:solidFill>
              </a:rPr>
              <a:t>relato do distribuidor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438912" cy="438912"/>
          </a:xfrm>
          <a:prstGeom prst="ellipse">
            <a:avLst/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69748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Recebimento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abertura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C"/>
                </a:solidFill>
              </a:rPr>
              <a:t>interação crítica em hipótese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438912" cy="43891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269748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Movimentação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01D"/>
                </a:solidFill>
              </a:rPr>
              <a:t>instalação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C"/>
                </a:solidFill>
              </a:rPr>
              <a:t>contexto fotografado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4069080"/>
            <a:ext cx="10972800" cy="1417320"/>
          </a:xfrm>
          <a:prstGeom prst="rect">
            <a:avLst/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DC8B5"/>
                </a:solidFill>
              </a:rPr>
              <a:t>Pergunta de campo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46908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Em qual etapa a avaria surge — e em qual etapa ela se transforma em risco para o trabalhador?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de investigação definida a partir do feedback da Profa. Andréa, 17 ago. 2026.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4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25B3F"/>
                </a:solidFill>
              </a:rPr>
              <a:t>EVIDÊNCIAS COLETADAS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01D"/>
                </a:solidFill>
              </a:rPr>
              <a:t>O que observamos, o que foi relatado e o que falta provar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353312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pic>
        <p:nvPicPr>
          <p:cNvPr id="5" name="Image 0" descr="/tmp/psp6-media/IMG-20260822-WA0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17904"/>
            <a:ext cx="319125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" y="363931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368503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OBSERVADO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3232" y="408736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Operação de distribuição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3232" y="4700016"/>
            <a:ext cx="30906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651"/>
                </a:solidFill>
              </a:rPr>
              <a:t>Rodrigo registrou o ambiente e relatou avarias no transporte. Faltam processo, entrevistado e frequência documentados.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15968" y="1353312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pic>
        <p:nvPicPr>
          <p:cNvPr id="11" name="Image 1" descr="/tmp/psp6-media/IMG-20260817-WA014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17904"/>
            <a:ext cx="3191256" cy="1965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98848" y="363931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0" y="368503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98848" y="408736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Canteiro em acabamento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498848" y="4700016"/>
            <a:ext cx="30906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651"/>
                </a:solidFill>
              </a:rPr>
              <a:t>As fotos mostram estoque e ambiente da obra. Vieram por outro contato e não comprovam o momento da quebra.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01584" y="1353312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pic>
        <p:nvPicPr>
          <p:cNvPr id="17" name="Image 2" descr="/tmp/psp6-media/IMG-20260817-WA013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517904"/>
            <a:ext cx="3191256" cy="19659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84464" y="363931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5B3F"/>
          </a:solidFill>
          <a:ln w="12700">
            <a:solidFill>
              <a:srgbClr val="C25B3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57616" y="368503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 VALIDAR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84464" y="408736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Interação com o operador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84464" y="4700016"/>
            <a:ext cx="30906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651"/>
                </a:solidFill>
              </a:rPr>
              <a:t>Falta relato primário sobre manuseio, abertura, quase-acidente, lesão e barreiras existentes.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da equipe e materiais compartilhados no grupo, 17–22 ago. 2026.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4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4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DC8B5"/>
                </a:solidFill>
              </a:rPr>
              <a:t>ESCALA DE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Um grande fluxo logístico para um produto frágil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0" b="1" dirty="0">
                <a:solidFill>
                  <a:srgbClr val="F2C07A"/>
                </a:solidFill>
              </a:rPr>
              <a:t>22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3822192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MILHÕES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3840480" y="224942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8E0"/>
                </a:solidFill>
              </a:rPr>
              <a:t>de peças produzidas por ano no Brasil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2487168" cy="1234440"/>
          </a:xfrm>
          <a:prstGeom prst="rect">
            <a:avLst/>
          </a:prstGeom>
          <a:solidFill>
            <a:srgbClr val="245E53"/>
          </a:solidFill>
          <a:ln w="12700">
            <a:solidFill>
              <a:srgbClr val="3C7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105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9072" y="4069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unidades fabris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de médio e grande porte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6432" y="3886200"/>
            <a:ext cx="2487168" cy="1234440"/>
          </a:xfrm>
          <a:prstGeom prst="rect">
            <a:avLst/>
          </a:prstGeom>
          <a:solidFill>
            <a:srgbClr val="245E53"/>
          </a:solidFill>
          <a:ln w="12700">
            <a:solidFill>
              <a:srgbClr val="3C7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105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9704" y="4069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estados 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produção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7064" y="3886200"/>
            <a:ext cx="2487168" cy="1234440"/>
          </a:xfrm>
          <a:prstGeom prst="rect">
            <a:avLst/>
          </a:prstGeom>
          <a:solidFill>
            <a:srgbClr val="245E53"/>
          </a:solidFill>
          <a:ln w="12700">
            <a:solidFill>
              <a:srgbClr val="3C7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4105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TOP 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0336" y="4069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entre os maiores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produtores mundiais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3886200"/>
            <a:ext cx="2487168" cy="1234440"/>
          </a:xfrm>
          <a:prstGeom prst="rect">
            <a:avLst/>
          </a:prstGeom>
          <a:solidFill>
            <a:srgbClr val="245E53"/>
          </a:solidFill>
          <a:ln w="12700">
            <a:solidFill>
              <a:srgbClr val="3C7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4105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≈7 mil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30968" y="4069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empregos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0"/>
                </a:solidFill>
              </a:rPr>
              <a:t>diretos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55595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C8B5"/>
                </a:solidFill>
              </a:rPr>
              <a:t>O dado comprova escala — não taxa de quebra.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8E0"/>
                </a:solidFill>
              </a:rPr>
              <a:t>Não estimamos peças avariadas sem denominador confiável.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ANFACER, “Números do setor — Louças sanitárias”, acesso em 23 ago. 2026.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C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25B3F"/>
                </a:solidFill>
              </a:rPr>
              <a:t>ANTERIORIDADE TECNOLÓGICA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01D"/>
                </a:solidFill>
              </a:rPr>
              <a:t>Patentes mostram esforços para proteger louças no transporte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21808" cy="1719072"/>
          </a:xfrm>
          <a:prstGeom prst="rect">
            <a:avLst/>
          </a:prstGeom>
          <a:solidFill>
            <a:srgbClr val="F4F0E6"/>
          </a:solidFill>
          <a:ln w="12700">
            <a:solidFill>
              <a:srgbClr val="D5D9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72768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18488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64208" y="1591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B3F"/>
                </a:solidFill>
              </a:rPr>
              <a:t>US20150014208A1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Encaixes de papelão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54096" y="202996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6C"/>
                </a:solidFill>
              </a:rPr>
              <a:t>Proteção + redução declarada de 27% no volume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1389888"/>
            <a:ext cx="5321808" cy="1719072"/>
          </a:xfrm>
          <a:prstGeom prst="rect">
            <a:avLst/>
          </a:prstGeom>
          <a:solidFill>
            <a:srgbClr val="F4F0E6"/>
          </a:solidFill>
          <a:ln w="12700">
            <a:solidFill>
              <a:srgbClr val="D5D9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572768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18488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JAPÃO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87768" y="1591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B3F"/>
                </a:solidFill>
              </a:rPr>
              <a:t>JP2007186235A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91656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Amortecedores moldados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77656" y="202996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6C"/>
                </a:solidFill>
              </a:rPr>
              <a:t>Proteção interna e aberturas de conferência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5321808" cy="1719072"/>
          </a:xfrm>
          <a:prstGeom prst="rect">
            <a:avLst/>
          </a:prstGeom>
          <a:solidFill>
            <a:srgbClr val="F4F0E6"/>
          </a:solidFill>
          <a:ln w="12700">
            <a:solidFill>
              <a:srgbClr val="D5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566160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3584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B3F"/>
                </a:solidFill>
              </a:rPr>
              <a:t>CN114194553A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" y="40416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Estrutura dobrável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54096" y="402336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6C"/>
                </a:solidFill>
              </a:rPr>
              <a:t>Resistência a pressão, vibração e queda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0488" y="3383280"/>
            <a:ext cx="5321808" cy="1719072"/>
          </a:xfrm>
          <a:prstGeom prst="rect">
            <a:avLst/>
          </a:prstGeom>
          <a:solidFill>
            <a:srgbClr val="F4F0E6"/>
          </a:solidFill>
          <a:ln w="12700">
            <a:solidFill>
              <a:srgbClr val="D5D9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3566160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61188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87768" y="3584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B3F"/>
                </a:solidFill>
              </a:rPr>
              <a:t>US10301097B2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40416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Contêiner para frágeis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77656" y="402336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6C"/>
                </a:solidFill>
              </a:rPr>
              <a:t>Estrutura corrugada para louças, cubas e banheiras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11082528" cy="576072"/>
          </a:xfrm>
          <a:prstGeom prst="rect">
            <a:avLst/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70585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Padrão encontrado: amortecer · imobilizar · resistir a impacto · ganhar eficiência logística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preliminar em Google Patents. Não constitui parecer de patenteabilidade ou liberdade de operação.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4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25B3F"/>
                </a:solidFill>
              </a:rPr>
              <a:t>LEITURA PRELIMINAR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01D"/>
                </a:solidFill>
              </a:rPr>
              <a:t>A busca desloca a pergunta para o momento da abertura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3200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6716C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Território ocupado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2697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Amortecer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Imobilizar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Reduzir impacto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Otimizar volume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87368" y="1353312"/>
            <a:ext cx="3200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5727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56048" y="1572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O que ainda não sabemos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2331720"/>
            <a:ext cx="2697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Quando surge a trinca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Como ela fica oculta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Quem primeiro detecta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Como ocorre o contato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0376" y="1353312"/>
            <a:ext cx="3200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63256" y="157276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B3F"/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49056" y="1572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01D"/>
                </a:solidFill>
              </a:rPr>
              <a:t>Interação a investigar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2697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Embalagem aparentemente intacta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Peça possivelmente avariada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16C"/>
                </a:solidFill>
              </a:rPr>
              <a:t>Abertura e conferência manual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892040"/>
            <a:ext cx="10186416" cy="1078992"/>
          </a:xfrm>
          <a:prstGeom prst="rect">
            <a:avLst/>
          </a:prstGeom>
          <a:solidFill>
            <a:srgbClr val="164A41"/>
          </a:solidFill>
          <a:ln w="12700">
            <a:solidFill>
              <a:srgbClr val="164A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48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9DC8B5"/>
                </a:solidFill>
              </a:rPr>
              <a:t>PERGUNTA DE INVESTIGAÇÃO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510235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que acontece quando a avaria permanece oculta até a abertura da embalagem?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Inferência preliminar da busca de patentes; depende de validação primária com operadores e dados de avaria.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4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4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DC8B5"/>
                </a:solidFill>
              </a:rPr>
              <a:t>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que falta para fechar o problema com rigor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01D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72768" y="14081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Escolher o cenário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17720" y="1426464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E8E0"/>
                </a:solidFill>
              </a:rPr>
              <a:t>Definir porte, tipo de obra e cadeia de decisão.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542032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7919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01D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72768" y="2532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Localizar a falha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551176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E8E0"/>
                </a:solidFill>
              </a:rPr>
              <a:t>Separar fabricação, transporte, descarga, abertura, movimentação e instalação.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666744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0390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01D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Ouvir o operador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67588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E8E0"/>
                </a:solidFill>
              </a:rPr>
              <a:t>Registrar entrevista atribuível e observar a atividade real.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4791456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928616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01D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72768" y="4782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Medir a ocorrência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80060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E8E0"/>
                </a:solidFill>
              </a:rPr>
              <a:t>Avarias / total recebido, por lote, período e etapa logística.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5806440"/>
            <a:ext cx="10927080" cy="457200"/>
          </a:xfrm>
          <a:prstGeom prst="rect">
            <a:avLst/>
          </a:prstGeom>
          <a:solidFill>
            <a:srgbClr val="245E53"/>
          </a:solidFill>
          <a:ln w="12700">
            <a:solidFill>
              <a:srgbClr val="245E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93445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Saída esperada: um enunciado causal, delimitado e sustentado — ainda sem escolher a solução.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2 · Engenharia de Produto + PSP6 · UnB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C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Universidade de Brasília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Louças sanitárias em trânsito</dc:title>
  <dc:subject>PSP6 — Levantamento das informações e sustentação do problema</dc:subject>
  <dc:creator>Equipe 2 — Andréaticos</dc:creator>
  <cp:lastModifiedBy>Equipe 2 — Andréaticos</cp:lastModifiedBy>
  <cp:revision>1</cp:revision>
  <dcterms:created xsi:type="dcterms:W3CDTF">2026-08-23T22:18:43Z</dcterms:created>
  <dcterms:modified xsi:type="dcterms:W3CDTF">2026-08-23T22:18:43Z</dcterms:modified>
</cp:coreProperties>
</file>