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Montserra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SiLsOdJKw0IIuG5d/lkno6Bs/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124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124"/>
                </a:solidFill>
                <a:latin typeface="Calibri"/>
              </a:rPr>
              <a:t>Tipos de lesão mais frequentes na construção civil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das notificações</c:v>
                </c:pt>
              </c:strCache>
            </c:strRef>
          </c:tx>
          <c:spPr>
            <a:solidFill>
              <a:srgbClr val="F4F3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F3F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F3F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F3F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F3F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Fraturas</c:v>
                  </c:pt>
                  <c:pt idx="1">
                    <c:v>Cortes e
lacerações</c:v>
                  </c:pt>
                  <c:pt idx="2">
                    <c:v>Lesões
imediatas</c:v>
                  </c:pt>
                  <c:pt idx="3">
                    <c:v>Escoriações,
abrasões</c:v>
                  </c:pt>
                  <c:pt idx="4">
                    <c:v>Contusões,
esmagamentos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25.4</c:v>
                </c:pt>
                <c:pt idx="1">
                  <c:v>18.9</c:v>
                </c:pt>
                <c:pt idx="2">
                  <c:v>11.5</c:v>
                </c:pt>
                <c:pt idx="3">
                  <c:v>9.45</c:v>
                </c:pt>
                <c:pt idx="4">
                  <c:v>8.26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1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12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3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73675b374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f73675b374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f73675b374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12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961120" y="3291840"/>
            <a:ext cx="5486400" cy="5486400"/>
          </a:xfrm>
          <a:prstGeom prst="ellipse">
            <a:avLst/>
          </a:prstGeom>
          <a:solidFill>
            <a:srgbClr val="2A2E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189720" y="1051560"/>
            <a:ext cx="1828800" cy="1828800"/>
          </a:xfrm>
          <a:prstGeom prst="ellipse">
            <a:avLst/>
          </a:prstGeom>
          <a:solidFill>
            <a:srgbClr val="2A2E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entrega1/icons/hardhat_amber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5492" y="1371595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640075" y="2468875"/>
            <a:ext cx="92184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5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Segurança no manuseio de</a:t>
            </a:r>
            <a:endParaRPr i="0" sz="3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05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louças sanitárias em canteiros de obra</a:t>
            </a:r>
            <a:endParaRPr i="0" sz="3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42519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FC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FCFCF"/>
                </a:solidFill>
                <a:latin typeface="Calibri"/>
                <a:ea typeface="Calibri"/>
                <a:cs typeface="Calibri"/>
                <a:sym typeface="Calibri"/>
              </a:rPr>
              <a:t>Construção do problema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124"/>
                </a:solidFill>
                <a:latin typeface="Cambria"/>
                <a:ea typeface="Cambria"/>
                <a:cs typeface="Cambria"/>
                <a:sym typeface="Cambria"/>
              </a:rPr>
              <a:t>Contexto do projeto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F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7F00"/>
                </a:solidFill>
                <a:latin typeface="Calibri"/>
                <a:ea typeface="Calibri"/>
                <a:cs typeface="Calibri"/>
                <a:sym typeface="Calibri"/>
              </a:rPr>
              <a:t>ESG · Social  —  Construção civil e saúde e segurança ocupacional (SSO)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1600200"/>
            <a:ext cx="5760720" cy="4480560"/>
          </a:xfrm>
          <a:prstGeom prst="rect">
            <a:avLst/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868680" y="18288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O que orienta esta entrega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68680" y="2423160"/>
            <a:ext cx="51206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450"/>
              <a:buFont typeface="Calibri"/>
              <a:buChar char="▪"/>
            </a:pPr>
            <a:r>
              <a:rPr b="0" i="0" lang="en-US" sz="14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Modelo do Diamante Duplo (Design Innovation Methodology Handbook) — Fase de Descoberta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4827"/>
              </a:lnSpc>
              <a:spcBef>
                <a:spcPts val="1600"/>
              </a:spcBef>
              <a:spcAft>
                <a:spcPts val="0"/>
              </a:spcAft>
              <a:buClr>
                <a:srgbClr val="1E2124"/>
              </a:buClr>
              <a:buSzPts val="1450"/>
              <a:buFont typeface="Calibri"/>
              <a:buChar char="▪"/>
            </a:pPr>
            <a:r>
              <a:rPr lang="en-US" sz="1450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b="0" i="0" lang="en-US" sz="14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: entender o problema e as partes envolvidas</a:t>
            </a:r>
            <a:r>
              <a:rPr lang="en-US" sz="1450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583680" y="16002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Métodos empregados pela equipe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583680" y="2148840"/>
            <a:ext cx="566928" cy="566928"/>
          </a:xfrm>
          <a:prstGeom prst="ellipse">
            <a:avLst/>
          </a:prstGeom>
          <a:solidFill>
            <a:srgbClr val="1E2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entrega1/icons/sitemap_white.png" id="34" name="Google Shape;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239" y="2276399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7333488" y="213055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Fase de Descoberta do Diamante Duplo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333488" y="240487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estrutura geral da etapa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583680" y="3172968"/>
            <a:ext cx="566928" cy="566928"/>
          </a:xfrm>
          <a:prstGeom prst="ellipse">
            <a:avLst/>
          </a:prstGeom>
          <a:solidFill>
            <a:srgbClr val="1E2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entrega1/icons/users_white.png" id="38" name="Google Shape;3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1239" y="3300527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7333488" y="315468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Stakeholder Mapping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333488" y="34290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identificação e priorização de partes interessadas - principal instrumento da </a:t>
            </a:r>
            <a:r>
              <a:rPr i="1" lang="en-US" sz="1150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fase de descoberta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583680" y="4197096"/>
            <a:ext cx="566928" cy="566928"/>
          </a:xfrm>
          <a:prstGeom prst="ellipse">
            <a:avLst/>
          </a:prstGeom>
          <a:solidFill>
            <a:srgbClr val="1E2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entrega1/icons/file_white.png" id="42" name="Google Shape;4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11239" y="4324655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7333488" y="417880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Pesquisa documental e dados secundários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333488" y="445312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MTE, CBIC, AEAT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583680" y="5221224"/>
            <a:ext cx="566928" cy="566928"/>
          </a:xfrm>
          <a:prstGeom prst="ellipse">
            <a:avLst/>
          </a:prstGeom>
          <a:solidFill>
            <a:srgbClr val="1E2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entrega1/icons/camera_white.png" id="46" name="Google Shape;4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1239" y="5348783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7333488" y="5202936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Planejamento de visita de campo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333488" y="547725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próxima etapa, ainda não realizada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124"/>
                </a:solidFill>
                <a:latin typeface="Cambria"/>
                <a:ea typeface="Cambria"/>
                <a:cs typeface="Cambria"/>
                <a:sym typeface="Cambria"/>
              </a:rPr>
              <a:t>O problema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Quebra de louças sanitárias no canteiro de obra gera </a:t>
            </a:r>
            <a:r>
              <a:rPr b="1" i="0" lang="en-US" sz="1800" u="none" cap="none" strike="noStrike">
                <a:solidFill>
                  <a:srgbClr val="C1440E"/>
                </a:solidFill>
                <a:latin typeface="Calibri"/>
                <a:ea typeface="Calibri"/>
                <a:cs typeface="Calibri"/>
                <a:sym typeface="Calibri"/>
              </a:rPr>
              <a:t>fragmentos cortantes</a:t>
            </a:r>
            <a:r>
              <a:rPr b="0" i="0" lang="en-US" sz="18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 que causam </a:t>
            </a:r>
            <a:r>
              <a:rPr b="1" i="0" lang="en-US" sz="1800" u="none" cap="none" strike="noStrike">
                <a:solidFill>
                  <a:srgbClr val="C1440E"/>
                </a:solidFill>
                <a:latin typeface="Calibri"/>
                <a:ea typeface="Calibri"/>
                <a:cs typeface="Calibri"/>
                <a:sym typeface="Calibri"/>
              </a:rPr>
              <a:t>cortes e lacerações</a:t>
            </a:r>
            <a:r>
              <a:rPr b="0" i="0" lang="en-US" sz="18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 em trabalhadores da construção civil.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22960" y="2377440"/>
            <a:ext cx="1371600" cy="1371600"/>
          </a:xfrm>
          <a:prstGeom prst="ellipse">
            <a:avLst/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entrega1/icons/toilet_dark.png" id="58" name="Google Shape;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5860" y="272034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320040" y="38862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Manuseio, transporte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e instalação de louças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entrega1/icons/arrow_dark.png"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8205" y="2834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4937760" y="2377440"/>
            <a:ext cx="1371600" cy="137160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entrega1/icons/triangle_white.png" id="62" name="Google Shape;6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80660" y="272034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4434840" y="38862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Quebra 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componente cerâmico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entrega1/icons/arrow_dark.png" id="64" name="Google Shape;6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2355" y="2834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9052560" y="2377440"/>
            <a:ext cx="1371600" cy="1371600"/>
          </a:xfrm>
          <a:prstGeom prst="ellipse">
            <a:avLst/>
          </a:prstGeom>
          <a:solidFill>
            <a:srgbClr val="C144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entrega1/icons/bandaid_white.png" id="66" name="Google Shape;6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5460" y="272034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8549640" y="38862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Cortes e lacerações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no trabalhador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48640" y="4663440"/>
            <a:ext cx="11064240" cy="1417320"/>
          </a:xfrm>
          <a:prstGeom prst="rect">
            <a:avLst/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68680" y="482803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Dupla natureza do problema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68680" y="5193792"/>
            <a:ext cx="10424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C97F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7F00"/>
                </a:solidFill>
                <a:latin typeface="Calibri"/>
                <a:ea typeface="Calibri"/>
                <a:cs typeface="Calibri"/>
                <a:sym typeface="Calibri"/>
              </a:rPr>
              <a:t>Perdas e desperdício  </a:t>
            </a:r>
            <a:r>
              <a:rPr b="0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— custo de material, tempo e reposição</a:t>
            </a:r>
            <a:br>
              <a:rPr b="0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C1440E"/>
                </a:solidFill>
                <a:latin typeface="Calibri"/>
                <a:ea typeface="Calibri"/>
                <a:cs typeface="Calibri"/>
                <a:sym typeface="Calibri"/>
              </a:rPr>
              <a:t>Saúde e segurança ocupacional  </a:t>
            </a:r>
            <a:r>
              <a:rPr b="0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— risco físico não sistematicamente controlado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124"/>
                </a:solidFill>
                <a:latin typeface="Cambria"/>
                <a:ea typeface="Cambria"/>
                <a:cs typeface="Cambria"/>
                <a:sym typeface="Cambria"/>
              </a:rPr>
              <a:t>Por que importa: acidentes na construção civil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" name="Google Shape;78;p4"/>
          <p:cNvGraphicFramePr/>
          <p:nvPr/>
        </p:nvGraphicFramePr>
        <p:xfrm>
          <a:off x="548640" y="1234440"/>
          <a:ext cx="6766560" cy="42062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79" name="Google Shape;79;p4"/>
          <p:cNvSpPr/>
          <p:nvPr/>
        </p:nvSpPr>
        <p:spPr>
          <a:xfrm>
            <a:off x="548640" y="5532120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Fonte: AEAT/INSS, dados por tipo de lesão (base 2022), reproduzidos por Migalhas, 2024.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635240" y="1234440"/>
            <a:ext cx="4023360" cy="1965960"/>
          </a:xfrm>
          <a:prstGeom prst="rect">
            <a:avLst/>
          </a:prstGeom>
          <a:solidFill>
            <a:srgbClr val="1E2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7909560" y="1371600"/>
            <a:ext cx="3474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2A900"/>
                </a:solidFill>
                <a:latin typeface="Cambria"/>
                <a:ea typeface="Cambria"/>
                <a:cs typeface="Cambria"/>
                <a:sym typeface="Cambria"/>
              </a:rPr>
              <a:t>6ª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909560" y="219456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posição da construção civil no ranking geral de acidentes típicos no Brasil (CBIC/SESI, 2025) — mesmo após redução recorde em 2023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635240" y="3383280"/>
            <a:ext cx="4023360" cy="1965960"/>
          </a:xfrm>
          <a:prstGeom prst="rect">
            <a:avLst/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7909560" y="3520440"/>
            <a:ext cx="3474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440E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C1440E"/>
                </a:solidFill>
                <a:latin typeface="Cambria"/>
                <a:ea typeface="Cambria"/>
                <a:cs typeface="Cambria"/>
                <a:sym typeface="Cambria"/>
              </a:rPr>
              <a:t>51s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909560" y="425196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é a frequência estimada de um acidente de trabalho no Brasil, segundo o Ministério Público do Trabalho (MPT)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124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b="1" i="0" lang="en-US" sz="2800" u="none" cap="none" strike="noStrike">
                <a:solidFill>
                  <a:srgbClr val="1E2124"/>
                </a:solidFill>
                <a:latin typeface="Montserrat"/>
                <a:ea typeface="Montserrat"/>
                <a:cs typeface="Montserrat"/>
                <a:sym typeface="Montserrat"/>
              </a:rPr>
              <a:t>ustos: perdas de material em obra</a:t>
            </a:r>
            <a:endParaRPr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1350"/>
              <a:buFont typeface="Calibri"/>
              <a:buNone/>
            </a:pPr>
            <a:r>
              <a:rPr i="1" lang="en-US" sz="1350" u="none" cap="none" strike="noStrike">
                <a:solidFill>
                  <a:srgbClr val="6B6F72"/>
                </a:solidFill>
                <a:latin typeface="Montserrat"/>
                <a:ea typeface="Montserrat"/>
                <a:cs typeface="Montserrat"/>
                <a:sym typeface="Montserrat"/>
              </a:rPr>
              <a:t>Componentes frágeis e de acabamento</a:t>
            </a:r>
            <a:r>
              <a:rPr i="1" lang="en-US" sz="1350">
                <a:solidFill>
                  <a:srgbClr val="6B6F72"/>
                </a:solidFill>
                <a:latin typeface="Montserrat"/>
                <a:ea typeface="Montserrat"/>
                <a:cs typeface="Montserrat"/>
                <a:sym typeface="Montserrat"/>
              </a:rPr>
              <a:t>, co</a:t>
            </a:r>
            <a:r>
              <a:rPr i="1" lang="en-US" sz="1350" u="none" cap="none" strike="noStrike">
                <a:solidFill>
                  <a:srgbClr val="6B6F72"/>
                </a:solidFill>
                <a:latin typeface="Montserrat"/>
                <a:ea typeface="Montserrat"/>
                <a:cs typeface="Montserrat"/>
                <a:sym typeface="Montserrat"/>
              </a:rPr>
              <a:t>mo louças sanitárias</a:t>
            </a:r>
            <a:r>
              <a:rPr i="1" lang="en-US" sz="1350">
                <a:solidFill>
                  <a:srgbClr val="6B6F72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i="1" lang="en-US" sz="1350" u="none" cap="none" strike="noStrike">
                <a:solidFill>
                  <a:srgbClr val="6B6F72"/>
                </a:solidFill>
                <a:latin typeface="Montserrat"/>
                <a:ea typeface="Montserrat"/>
                <a:cs typeface="Montserrat"/>
                <a:sym typeface="Montserrat"/>
              </a:rPr>
              <a:t>seguem um ponto crítico de gestão</a:t>
            </a:r>
            <a:endParaRPr i="0" sz="13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48640" y="1874520"/>
            <a:ext cx="3566160" cy="3931920"/>
          </a:xfrm>
          <a:prstGeom prst="rect">
            <a:avLst/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822960" y="219456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E2124"/>
                </a:solidFill>
                <a:latin typeface="Cambria"/>
                <a:ea typeface="Cambria"/>
                <a:cs typeface="Cambria"/>
                <a:sym typeface="Cambria"/>
              </a:rPr>
              <a:t>10–30%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822960" y="3291840"/>
            <a:ext cx="3017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de todo material adquirido para uma obra é descartado como resíduo, mesmo em canteiros com boas práticas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822960" y="53035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Revista Digital Acadêmico Mundo, 2026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434840" y="1874520"/>
            <a:ext cx="3566160" cy="393192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4709160" y="219456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E2124"/>
                </a:solidFill>
                <a:latin typeface="Cambria"/>
                <a:ea typeface="Cambria"/>
                <a:cs typeface="Cambria"/>
                <a:sym typeface="Cambria"/>
              </a:rPr>
              <a:t>73,2%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709160" y="3291840"/>
            <a:ext cx="3017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das empresas do setor apontam o desperdício de materiais como o principal problema de gestão em obra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709160" y="53035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30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A4300"/>
                </a:solidFill>
                <a:latin typeface="Calibri"/>
                <a:ea typeface="Calibri"/>
                <a:cs typeface="Calibri"/>
                <a:sym typeface="Calibri"/>
              </a:rPr>
              <a:t>CBIC, apud Sienge, 2025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321040" y="1874520"/>
            <a:ext cx="3566160" cy="3931920"/>
          </a:xfrm>
          <a:prstGeom prst="rect">
            <a:avLst/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8595360" y="219456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E2124"/>
                </a:solidFill>
                <a:latin typeface="Cambria"/>
                <a:ea typeface="Cambria"/>
                <a:cs typeface="Cambria"/>
                <a:sym typeface="Cambria"/>
              </a:rPr>
              <a:t>45 mi 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595360" y="3291840"/>
            <a:ext cx="3017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de Resíduos de Construção e Demolição (RCC) gerados no Brasil em 2022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8595360" y="53035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ABREMA, 2023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73675b374_0_5"/>
          <p:cNvSpPr/>
          <p:nvPr/>
        </p:nvSpPr>
        <p:spPr>
          <a:xfrm>
            <a:off x="548640" y="54973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124"/>
                </a:solidFill>
                <a:latin typeface="Montserrat"/>
                <a:ea typeface="Montserrat"/>
                <a:cs typeface="Montserrat"/>
                <a:sym typeface="Montserrat"/>
              </a:rPr>
              <a:t>Stakeholder mapping</a:t>
            </a:r>
            <a:endParaRPr i="0" sz="3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g3f73675b374_0_5"/>
          <p:cNvSpPr/>
          <p:nvPr/>
        </p:nvSpPr>
        <p:spPr>
          <a:xfrm>
            <a:off x="868675" y="1737300"/>
            <a:ext cx="10082100" cy="43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44827"/>
              </a:lnSpc>
              <a:spcBef>
                <a:spcPts val="1600"/>
              </a:spcBef>
              <a:spcAft>
                <a:spcPts val="0"/>
              </a:spcAft>
              <a:buClr>
                <a:srgbClr val="1E2124"/>
              </a:buClr>
              <a:buSzPts val="1450"/>
              <a:buFont typeface="Calibri"/>
              <a:buChar char="▪"/>
            </a:pPr>
            <a:r>
              <a:rPr lang="en-US" sz="1450">
                <a:solidFill>
                  <a:srgbClr val="1E2124"/>
                </a:solidFill>
                <a:latin typeface="Montserrat"/>
                <a:ea typeface="Montserrat"/>
                <a:cs typeface="Montserrat"/>
                <a:sym typeface="Montserrat"/>
              </a:rPr>
              <a:t>A equipe </a:t>
            </a:r>
            <a:r>
              <a:rPr b="1" lang="en-US" sz="1450">
                <a:solidFill>
                  <a:srgbClr val="1E2124"/>
                </a:solidFill>
                <a:latin typeface="Montserrat"/>
                <a:ea typeface="Montserrat"/>
                <a:cs typeface="Montserrat"/>
                <a:sym typeface="Montserrat"/>
              </a:rPr>
              <a:t>identificou e priorizou as partes interessadas envolvidas no problema</a:t>
            </a:r>
            <a:r>
              <a:rPr lang="en-US" sz="1450">
                <a:solidFill>
                  <a:srgbClr val="1E2124"/>
                </a:solidFill>
                <a:latin typeface="Montserrat"/>
                <a:ea typeface="Montserrat"/>
                <a:cs typeface="Montserrat"/>
                <a:sym typeface="Montserrat"/>
              </a:rPr>
              <a:t>: o trabalhador da construção civil, o mestre de obras/gestor do canteiro, o técnico de segurança do trabalho (SESMT) e o empregador/construtora.</a:t>
            </a:r>
            <a:endParaRPr sz="1450">
              <a:solidFill>
                <a:srgbClr val="1E21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lnSpc>
                <a:spcPct val="144827"/>
              </a:lnSpc>
              <a:spcBef>
                <a:spcPts val="1600"/>
              </a:spcBef>
              <a:spcAft>
                <a:spcPts val="0"/>
              </a:spcAft>
              <a:buClr>
                <a:srgbClr val="1E2124"/>
              </a:buClr>
              <a:buSzPts val="1450"/>
              <a:buFont typeface="Montserrat"/>
              <a:buChar char="▪"/>
            </a:pPr>
            <a:r>
              <a:rPr b="1" lang="en-US" sz="1450">
                <a:solidFill>
                  <a:srgbClr val="1E2124"/>
                </a:solidFill>
                <a:latin typeface="Montserrat"/>
                <a:ea typeface="Montserrat"/>
                <a:cs typeface="Montserrat"/>
                <a:sym typeface="Montserrat"/>
              </a:rPr>
              <a:t>As 8 perguntas:</a:t>
            </a:r>
            <a:endParaRPr b="1" sz="1450">
              <a:solidFill>
                <a:srgbClr val="1E21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Interesse financeiro/emocional no resultado do trabalho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O que mais motiva este stakeholder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Que informação ele quer da equipe e qual é o melhor canal de comunicação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Opinião atual sobre o trabalho que executa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Quem influencia sua opinião (em geral e sobre o projeto)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O que o conquistaria a favor do projeto (se não for favorável)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Como administrar a oposição (se não for possível conquistá-lo)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Quem mais pode ser influenciado pela opinião dele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O preenchimento inicial foi feito através da metodologia de Benchmarking e deverá ser validado por meio da metodologia User Interview.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g3f73675b374_0_5"/>
          <p:cNvSpPr/>
          <p:nvPr/>
        </p:nvSpPr>
        <p:spPr>
          <a:xfrm>
            <a:off x="11521440" y="6519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6099060" y="3863280"/>
            <a:ext cx="3758100" cy="2203800"/>
          </a:xfrm>
          <a:prstGeom prst="rect">
            <a:avLst/>
          </a:prstGeom>
          <a:solidFill>
            <a:srgbClr val="F4F3F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124"/>
                </a:solidFill>
                <a:latin typeface="Cambria"/>
                <a:ea typeface="Cambria"/>
                <a:cs typeface="Cambria"/>
                <a:sym typeface="Cambria"/>
              </a:rPr>
              <a:t>Quem está envolvido: mapeamento de stakeholders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Fase de Descoberta — método Stakeholder Mapping (Design Innovation Methodology Handbook)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2286000" y="1600200"/>
            <a:ext cx="3758184" cy="2203704"/>
          </a:xfrm>
          <a:prstGeom prst="rect">
            <a:avLst/>
          </a:prstGeom>
          <a:solidFill>
            <a:srgbClr val="FBEFD2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2514600" y="2514600"/>
            <a:ext cx="33375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080760" y="1600200"/>
            <a:ext cx="3758184" cy="2203704"/>
          </a:xfrm>
          <a:prstGeom prst="rect">
            <a:avLst/>
          </a:prstGeom>
          <a:solidFill>
            <a:srgbClr val="F4F3F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181285" y="3931980"/>
            <a:ext cx="333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MANTER SATISFEITO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173224" y="2080288"/>
            <a:ext cx="3632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1625" lvl="0" marL="45720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●"/>
            </a:pP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Trabalhador da construção (pedreiro/servente);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●"/>
            </a:pP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Mestre de obras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286000" y="3840480"/>
            <a:ext cx="3758184" cy="2203704"/>
          </a:xfrm>
          <a:prstGeom prst="rect">
            <a:avLst/>
          </a:prstGeom>
          <a:solidFill>
            <a:srgbClr val="FDF6E3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2403975" y="1783060"/>
            <a:ext cx="333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MANTER INFORMADO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403963" y="2057525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Baixa influência · Alto interesse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2459238" y="4313005"/>
            <a:ext cx="333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1625" lvl="0" marL="45720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●"/>
            </a:pP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Sindicato dos trabalhadores;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●"/>
            </a:pP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Órgãos fiscalizadores (MTE)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403985" y="4046198"/>
            <a:ext cx="333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MONITORAR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2455235" y="4352550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Baixa influência · Baixo interesse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309360" y="4754880"/>
            <a:ext cx="33375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240288" y="6272760"/>
            <a:ext cx="758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7F0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97F00"/>
                </a:solidFill>
                <a:latin typeface="Calibri"/>
                <a:ea typeface="Calibri"/>
                <a:cs typeface="Calibri"/>
                <a:sym typeface="Calibri"/>
              </a:rPr>
              <a:t>INFLUÊNCIA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914400" y="2668300"/>
            <a:ext cx="1234500" cy="22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97F0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97F00"/>
                </a:solidFill>
                <a:latin typeface="Calibri"/>
                <a:ea typeface="Calibri"/>
                <a:cs typeface="Calibri"/>
                <a:sym typeface="Calibri"/>
              </a:rPr>
              <a:t>INTERESSE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221967" y="2034733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Alta influência · Alto interesse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181275" y="1737480"/>
            <a:ext cx="333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GERENCIAR DE PERTO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181285" y="4252070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Alta influência · Baixo interesse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6"/>
          <p:cNvCxnSpPr/>
          <p:nvPr/>
        </p:nvCxnSpPr>
        <p:spPr>
          <a:xfrm rot="10800000">
            <a:off x="2148850" y="1737425"/>
            <a:ext cx="8100" cy="424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6"/>
          <p:cNvCxnSpPr/>
          <p:nvPr/>
        </p:nvCxnSpPr>
        <p:spPr>
          <a:xfrm flipH="1" rot="10800000">
            <a:off x="2309350" y="6111425"/>
            <a:ext cx="7535100" cy="2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6"/>
          <p:cNvSpPr/>
          <p:nvPr/>
        </p:nvSpPr>
        <p:spPr>
          <a:xfrm>
            <a:off x="2450088" y="2468938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Char char="●"/>
            </a:pPr>
            <a:r>
              <a:rPr i="1"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Empregador/Construtora; </a:t>
            </a:r>
            <a:endParaRPr i="1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Char char="●"/>
            </a:pPr>
            <a:r>
              <a:rPr i="1"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Técnico de Segurança do Trabalho (SESMT)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291088" y="4626738"/>
            <a:ext cx="333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Char char="●"/>
            </a:pPr>
            <a:r>
              <a:rPr i="1"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Fornecedor de louças sanitárias; </a:t>
            </a:r>
            <a:endParaRPr i="1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Char char="●"/>
            </a:pPr>
            <a:r>
              <a:rPr i="1"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Sindicato patronal (Sinduscon)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124"/>
                </a:solidFill>
                <a:latin typeface="Cambria"/>
                <a:ea typeface="Cambria"/>
                <a:cs typeface="Cambria"/>
                <a:sym typeface="Cambria"/>
              </a:rPr>
              <a:t>O que cada stakeholder espera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48640" y="1417320"/>
            <a:ext cx="777240" cy="777240"/>
          </a:xfrm>
          <a:prstGeom prst="ellipse">
            <a:avLst/>
          </a:prstGeom>
          <a:solidFill>
            <a:srgbClr val="1E21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entrega1/icons/hardhat_white.png"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519" y="1592199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1508760" y="141732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Trabalhador da construção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480560" y="1417320"/>
            <a:ext cx="7132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Definir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48640" y="2587752"/>
            <a:ext cx="777240" cy="777240"/>
          </a:xfrm>
          <a:prstGeom prst="ellipse">
            <a:avLst/>
          </a:prstGeom>
          <a:solidFill>
            <a:srgbClr val="C97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entrega1/icons/usertie_white.png" id="156" name="Google Shape;15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519" y="2762631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1508760" y="2587752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Mestre de obras / gestor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480560" y="2587752"/>
            <a:ext cx="7132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Definir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48640" y="3758184"/>
            <a:ext cx="777240" cy="777240"/>
          </a:xfrm>
          <a:prstGeom prst="ellipse">
            <a:avLst/>
          </a:prstGeom>
          <a:solidFill>
            <a:srgbClr val="C144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entrega1/icons/shield_white.png" id="160" name="Google Shape;1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519" y="3933063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1508760" y="3758184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Técnico de segurança (SESMT)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480560" y="3758184"/>
            <a:ext cx="7132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Definir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48640" y="4928616"/>
            <a:ext cx="777240" cy="777240"/>
          </a:xfrm>
          <a:prstGeom prst="ellipse">
            <a:avLst/>
          </a:prstGeom>
          <a:solidFill>
            <a:srgbClr val="5A4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entrega1/icons/building_white.png" id="164" name="Google Shape;16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519" y="5103495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/>
          <p:cNvSpPr/>
          <p:nvPr/>
        </p:nvSpPr>
        <p:spPr>
          <a:xfrm>
            <a:off x="1508760" y="4928616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Empregador / Construtora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480560" y="4928616"/>
            <a:ext cx="7132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E2124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E2124"/>
                </a:solidFill>
                <a:latin typeface="Calibri"/>
                <a:ea typeface="Calibri"/>
                <a:cs typeface="Calibri"/>
                <a:sym typeface="Calibri"/>
              </a:rPr>
              <a:t>Definir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124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A2E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9692640" y="4846320"/>
            <a:ext cx="1554480" cy="1554480"/>
          </a:xfrm>
          <a:prstGeom prst="ellipse">
            <a:avLst/>
          </a:prstGeom>
          <a:solidFill>
            <a:srgbClr val="2A2E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entrega1/icons/flag_amber.png" id="175" name="Google Shape;1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42398" y="5196078"/>
            <a:ext cx="854964" cy="85496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/>
          <p:nvPr/>
        </p:nvSpPr>
        <p:spPr>
          <a:xfrm>
            <a:off x="822960" y="1965960"/>
            <a:ext cx="9144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Problema definido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822960" y="36118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FC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FCFCF"/>
                </a:solidFill>
                <a:latin typeface="Calibri"/>
                <a:ea typeface="Calibri"/>
                <a:cs typeface="Calibri"/>
                <a:sym typeface="Calibri"/>
              </a:rPr>
              <a:t>Próxima etapa: consolidar as evidências de campo e avançar para a fase de Definição do problema. Metodologias: User Interviews e Contextual Observation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22960" y="52120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2A900"/>
                </a:solidFill>
                <a:latin typeface="Calibri"/>
                <a:ea typeface="Calibri"/>
                <a:cs typeface="Calibri"/>
                <a:sym typeface="Calibri"/>
              </a:rPr>
              <a:t>Obrigado.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F7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2026-08-16T23:07:54Z</dcterms:created>
  <dc:creator>PptxGenJS</dc:creator>
</cp:coreProperties>
</file>